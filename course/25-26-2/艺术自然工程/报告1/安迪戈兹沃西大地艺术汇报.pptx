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大家好，我今天汇报的主题是安迪·戈兹沃西的大地艺术。
我选择这个艺术家，是因为他的作品和我们这门课的主题非常贴合。课程强调艺术、自然和工程之间的结合，而安迪·戈兹沃西的作品并不是简单地画自然、拍自然，或者把自然当作背景，而是直接使用自然本身作为材料。
他会用落叶、石头、树枝、冰块、雪、水流这些非常普通的自然物，创作出有形状、有秩序、有美感的作品。而且很多作品并不会长期保存，它们可能被风吹散，被水冲走，被阳光融化，或者随着季节变化慢慢消失。
所以我今天想围绕一个核心观点展开：安迪·戈兹沃西的大地艺术让我们看到，自然不只是艺术表现的对象，也可以成为艺术创作的材料、过程和合作者。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在正式进入作品之前，我先把今天的核心判断放在这里：自然不是背景，而是作品的一部分。
我们看很多传统艺术时，自然经常是画面里的对象，比如一座山、一片森林、一条河。但戈兹沃西这里不同，自然材料直接构成作品本身。
我会按三条线索展开。第一，自然是材料，落叶、石头、冰、水不是装饰，而是作品主体。第二，自然是过程，风、水、阳光和温度会不断改变作品。第三，自然是合作者，艺术家不是完全控制自然，而是在现场条件中发现、排列和引导。
这三个点也会帮助我们把他的作品和课程里的自然、艺术、工程联系起来。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大地艺术，也可以叫环境艺术或地景艺术，它通常不是放在美术馆里的传统绘画或雕塑，而是发生在自然环境中。艺术家会利用土地、岩石、树叶、树枝、水、冰雪等材料，在自然空间里进行创作。
这种艺术和传统艺术有一个很大的不同：它不一定追求永久保存。比如一幅油画可以挂在博物馆里几十年甚至几百年，但是大地艺术经常是短暂的。它可能只存在几个小时、几天，甚至只有拍照记录下来的一瞬间。
所以，大地艺术的重点不只是最后的成品，还包括它和环境之间的关系。它在哪里发生、使用什么材料、受到什么天气影响、最后怎样消失，这些都是作品的一部分。
这也正是安迪·戈兹沃西作品特别有意思的地方：他让我们重新注意到身边最普通的自然物，比如一片树叶、一块石头、一段冰、一条小溪。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安迪·戈兹沃西是英国当代艺术家，他最有代表性的创作方式，就是在户外直接使用自然材料进行创作。
他的工作方式很特别。他经常不是先在室内画好草图，再购买材料制作作品，而是来到一个具体的自然场地，根据现场已有的材料进行创作。比如那里有什么颜色的叶子，有什么形状的石头，水流方向怎样，天气冷不冷，阳光从哪个角度照过来，这些都会影响作品最终的样子。
也就是说，他的作品不是完全由艺术家单方面控制的。自然环境本身也在参与创作。风可能改变树叶的位置，温度可能让冰融化，水流可能把作品带走。
我觉得这正是他的作品最有价值的地方。它不是用人工材料去模仿自然，而是承认自然本身有材料、有形态、有规律，也有自己的力量。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第一个自然元素是落叶。
落叶是非常普通的自然材料。秋天的时候，树叶会变成黄色、红色、橙色、棕色，然后掉落在地上。我们平时可能只是把它看成自然现象，甚至觉得它需要被清扫掉。
但是安迪·戈兹沃西会把落叶看成一种天然的色彩材料。他常常把不同颜色、不同形状的叶子排列成圆形、线条或者渐变图案。比如从深红到橙色，再到黄色，形成一种非常自然的色彩过渡。
这里的美感不是来自昂贵的颜料，而是来自树叶本身。每一片叶子都有细微差别：颜色不同、边缘不同、纹理不同，甚至卷曲程度也不同。艺术家只是通过排列，把这种自然本来就有的美显现出来。
落叶作品还有一个重要特点，就是它带有很强的季节感。落叶意味着秋天，也意味着植物生命过程中的一个阶段。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第二个自然元素是石头。
如果说落叶给人的感觉是轻盈、柔软、短暂，那么石头给人的感觉就是坚硬、稳定和古老。安迪·戈兹沃西经常使用石头搭建圆形、拱形、石墙或者石堆。
这些作品看起来很简单，但其实对结构和平衡要求很高。因为他很多时候不会使用水泥、胶水或者金属固定，而是依靠石头自身的重量、形状和相互支撑来完成。
从这个角度看，石头作品里其实包含一种工程感。比如一个石拱为什么不会塌？石头之间怎样互相咬合？重心怎样分布？这些问题都和结构有关。
但它又不是纯粹的工程结构，因为它的目标不是建造房屋或桥梁，而是让自然材料呈现出一种安静、有秩序的美。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第三个元素是冰。
冰是安迪·戈兹沃西作品里非常有代表性的材料。冰很美，因为它透明、干净、能反射光线。但它也非常不稳定，因为只要温度升高，它就会融化。
他有一些作品会用冰块连接成线条、圆环，或者把冰放在树枝、石头、水边。阳光照射时，冰会发亮，看起来非常纯净。但这种美是有时间限制的。随着气温变化，作品会慢慢融化，最后完全消失。
这类作品最打动我的地方，是它把时间变成了作品的一部分。传统艺术常常希望保存下来，但冰的作品从一开始就注定会消失。它不是失败，而是作品本身的意义。
冰的融化也让我们看到自然规律的不可逆。艺术家不能命令冰永远保持原状，只能在它融化之前完成创作和记录。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讲到这里，我们会发现一个问题：如果这些作品会消失，那它们还算完整的艺术作品吗？
我认为答案是算的，而且这种短暂性正是安迪·戈兹沃西艺术的重要特点。
他的作品并不追求像建筑或纪念碑那样永久保存。相反，他接受作品会变化、会破坏、会消失。风把叶子吹散，太阳让冰融化，水流把材料带走，这些并不是外部干扰，而是作品生命过程的一部分。
这和自然本身的规律是一致的。自然界中的很多美都是短暂的，比如花开、落日、雪景、秋叶、潮汐。它们不会永远停留，但这并不影响它们具有美感。
安迪·戈兹沃西通常会用摄影记录作品。摄影并不是取代作品本身，而是记录作品在某一个时刻的状态。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我认为安迪·戈兹沃西作品里最核心的一点，是他把自然当成了合作者。
在很多传统艺术里，自然是被表现的对象。比如画家画一座山、一片森林、一条河流，自然是画面内容。但在安迪·戈兹沃西这里，自然不只是画面内容，而是直接参与了作品的生成。
自然提供材料：树叶、石头、冰、树枝、水。自然提供环境：森林、河流、海岸、雪地。自然也决定作品的变化：风、水、阳光、温度都会改变作品。
艺术家的作用不是完全控制这一切，而是在自然已有条件中进行发现、选择和组织。他把散落的树叶排列起来，把石头搭成结构，把冰连接成形态，让我们看到自然材料中隐藏的秩序和美。
这种态度和现代环境保护理念也有联系。它提醒我们，人和自然的关系不一定是单向改造，也可以是理解、合作和共生。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除了落叶、石头和冰，树木也是戈兹沃西经常使用的自然元素。
树和木材的特点在于它们有明显的生命痕迹。树干的纹理、断面的年轮、枝干的方向感，都能让人意识到这些材料并不是抽象的工业材料，而是来自某个具体的自然过程。
像这一类作品，往往有很强的垂直感和纪念碑感。但它和一般纪念碑不同，不是用金属或混凝土强调人类力量，而是让树木本身的形态成为视觉中心。
这也说明戈兹沃西不是把自然材料加工到完全看不出原貌，而是尽量保留它原本的性格。木材仍然像木材，石头仍然像石头，叶子仍然像叶子。
这种保留材料原貌的方式，会让作品更容易和周围环境联系在一起。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虽然安迪·戈兹沃西是艺术家，不是工程师，但他的作品里其实有很多和工程思维相通的地方。
首先是材料意识。不同材料有不同特性。树叶轻薄，容易被风吹动；石头沉重，可以堆叠支撑；冰透明但会融化；水是流动的，难以固定。艺术家必须理解这些材料特点，才能完成作品。
其次是结构和平衡。尤其是石头作品，如果没有合理的重心和支撑关系，就很容易倒塌。这和工程结构中的稳定性问题有相似之处。
第三是环境适应。他的作品不是在封闭空间里完成的，而是在真实自然环境中完成的。风、水、温度、阳光都会影响作品。因此他必须根据现场条件调整创作方式。
对工程设计来说，这类作品也有启发意义。一个好的工程不应该只追求功能，也要考虑它和自然环境的关系。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回到我们这门课的主题，课程希望我们理解艺术、自然和工程之间的联系。
安迪·戈兹沃西的大地艺术正好可以从这三个方面理解。
第一是自然。他的作品几乎完全来自自然材料，而且常常发生在自然环境中。树叶、石头、冰、水都不是装饰，而是作品的主体。
第二是艺术。他通过排列、组合、对比和结构，让普通自然物产生视觉美感。比如落叶的颜色渐变，石头的圆形结构，冰在阳光下的透明感，这些都体现了艺术家的审美选择。
第三是工程。虽然作品不是工程项目，但其中包含材料特性、结构稳定、环境适应等问题。尤其是石头和冰的作品，都需要对材料和环境有非常细致的判断。
更重要的是，这些作品让我们重新关注自然。它不通过说教来宣传环保，而是让人看到自然本身的美。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最后总结一下。
安迪·戈兹沃西的大地艺术让我印象最深的地方，是它非常简单，却又非常有力量。
他说的不是复杂的理论，而是用最普通的自然材料告诉我们：自然本身就有美。落叶有颜色，石头有结构，冰有光感，水有流动，时间会改变一切。
他的作品不是把自然固定下来，而是接受自然的变化。作品会出现，也会消失；会被创造，也会回到自然之中。
所以我今天的核心观点可以概括为三句话：第一，自然是材料。第二，自然是过程。第三，自然是合作者。
因此，安迪·戈兹沃西的大地艺术不仅让我们看到自然之美，也提醒我们：在未来的艺术和工程设计中，人类应该更多地尊重自然、理解自然，并尝试与自然共同创造。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我的汇报到这里结束，谢谢大家。
如果最后老师提问，可以围绕一个点回答：我选择戈兹沃西，是因为他的作品把自然元素从“被观看的对象”变成“参与创作的材料”。这和课程中自然、艺术、工程结合的主题最贴合。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weile/Obsidian/Knowledge/Course/outputs/manual-20260515/presentations/andy-goldsworthy/assets/bg_row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82219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以自然为材料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94944" y="444398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EE7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安迪·戈兹沃西大地艺术中的自然之美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713232" y="5074920"/>
            <a:ext cx="1051560" cy="310896"/>
          </a:xfrm>
          <a:prstGeom prst="roundRect">
            <a:avLst>
              <a:gd name="adj" fmla="val 11765"/>
            </a:avLst>
          </a:prstGeom>
          <a:solidFill>
            <a:srgbClr val="F4EFE6">
              <a:alpha val="92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148072"/>
            <a:ext cx="8321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2D33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自然材料</a:t>
            </a:r>
            <a:endParaRPr lang="en-US" sz="790" dirty="0"/>
          </a:p>
        </p:txBody>
      </p:sp>
      <p:sp>
        <p:nvSpPr>
          <p:cNvPr id="8" name="Shape 5"/>
          <p:cNvSpPr/>
          <p:nvPr/>
        </p:nvSpPr>
        <p:spPr>
          <a:xfrm>
            <a:off x="1865376" y="5074920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F4EFE6">
              <a:alpha val="92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75104" y="5148072"/>
            <a:ext cx="694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2D33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短暂性</a:t>
            </a:r>
            <a:endParaRPr lang="en-US" sz="790" dirty="0"/>
          </a:p>
        </p:txBody>
      </p:sp>
      <p:sp>
        <p:nvSpPr>
          <p:cNvPr id="10" name="Shape 7"/>
          <p:cNvSpPr/>
          <p:nvPr/>
        </p:nvSpPr>
        <p:spPr>
          <a:xfrm>
            <a:off x="2880360" y="5074920"/>
            <a:ext cx="1143000" cy="310896"/>
          </a:xfrm>
          <a:prstGeom prst="roundRect">
            <a:avLst>
              <a:gd name="adj" fmla="val 11765"/>
            </a:avLst>
          </a:prstGeom>
          <a:solidFill>
            <a:srgbClr val="F4EFE6">
              <a:alpha val="92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90088" y="5148072"/>
            <a:ext cx="923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2D33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环境共生</a:t>
            </a:r>
            <a:endParaRPr lang="en-US" sz="790" dirty="0"/>
          </a:p>
        </p:txBody>
      </p:sp>
      <p:sp>
        <p:nvSpPr>
          <p:cNvPr id="12" name="Shape 9"/>
          <p:cNvSpPr/>
          <p:nvPr/>
        </p:nvSpPr>
        <p:spPr>
          <a:xfrm>
            <a:off x="8195767" y="6108192"/>
            <a:ext cx="3337560" cy="384048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05495" y="6190488"/>
            <a:ext cx="31181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EFE8D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Rowan Leaves Laid Around a Hole, 1987</a:t>
            </a:r>
            <a:endParaRPr lang="en-US" sz="76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D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C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今天只讲一个核心判断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1078992"/>
            <a:ext cx="507492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D21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自然不是背景，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D21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而是作品的一部分。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4297680" cy="0"/>
          </a:xfrm>
          <a:prstGeom prst="line">
            <a:avLst/>
          </a:prstGeom>
          <a:noFill/>
          <a:ln w="25400">
            <a:solidFill>
              <a:srgbClr val="B75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324612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D21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三条线索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76656" y="3721608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4B4E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自然是材料：落叶、石头、冰、水不是装饰，而是作品主体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4B4E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自然是过程：作品会被风、水、温度和时间继续改变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4B4E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自然是合作者：艺术家在现场条件中发现、排列和引导</a:t>
            </a:r>
            <a:endParaRPr lang="en-US" sz="1090" dirty="0"/>
          </a:p>
        </p:txBody>
      </p:sp>
      <p:pic>
        <p:nvPicPr>
          <p:cNvPr id="7" name="Image 0" descr="/Users/moweile/Obsidian/Knowledge/Course/outputs/manual-20260515/presentations/andy-goldsworthy/assets/panel_stone_ri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0"/>
            <a:ext cx="6199632" cy="685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97880" y="0"/>
            <a:ext cx="201168" cy="6858000"/>
          </a:xfrm>
          <a:prstGeom prst="rect">
            <a:avLst/>
          </a:prstGeom>
          <a:solidFill>
            <a:srgbClr val="F4EF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38160" y="6181344"/>
            <a:ext cx="3291840" cy="384048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47888" y="6263640"/>
            <a:ext cx="3072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EFE8D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Stone River, Stanford University, 2001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D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weile/Obsidian/Knowledge/Course/outputs/manual-20260515/presentations/andy-goldsworthy/assets/bg_treef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8D1C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什么是大地艺术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D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85800" y="4069080"/>
            <a:ext cx="84124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它通常不在美术馆里开始，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而是在真实自然现场发生。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4782312"/>
            <a:ext cx="84124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8E0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大地艺术的重点不只是最后的成品，还包括地点、材料、天气和作品消失的过程。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195767" y="6108192"/>
            <a:ext cx="3337560" cy="384048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05495" y="6190488"/>
            <a:ext cx="31181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EFE8D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Tree Fall, Presidio of San Francisco, 2013</a:t>
            </a:r>
            <a:endParaRPr lang="en-US" sz="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weile/Obsidian/Knowledge/Course/outputs/manual-20260515/presentations/andy-goldsworthy/assets/bg_spi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166360" cy="6858000"/>
          </a:xfrm>
          <a:prstGeom prst="rect">
            <a:avLst/>
          </a:prstGeom>
          <a:solidFill>
            <a:srgbClr val="000000">
              <a:alpha val="6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8D1C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艺术家与方法</a:t>
            </a:r>
            <a:endParaRPr lang="en-US" sz="880" dirty="0"/>
          </a:p>
        </p:txBody>
      </p:sp>
      <p:sp>
        <p:nvSpPr>
          <p:cNvPr id="5" name="Text 2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D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58368" y="11704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7DF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Andy Goldsworthy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1920240"/>
            <a:ext cx="4343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在现场工作，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让材料自己说话。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94944" y="36576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7DF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创作方式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94944" y="4133088"/>
            <a:ext cx="4160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EEE7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他常常先来到一个具体场地，再根据现场已有材料创作。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EE7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树叶的颜色、石头的形状、水流方向、阳光角度都会影响作品。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EE7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因此作品不是艺术家单方面控制，而是自然环境也在参与。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8195767" y="6108192"/>
            <a:ext cx="3337560" cy="384048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05495" y="6190488"/>
            <a:ext cx="31181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EFE8D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Spire, Presidio of San Francisco, 2008</a:t>
            </a:r>
            <a:endParaRPr lang="en-US" sz="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weile/Obsidian/Knowledge/Course/outputs/manual-20260515/presentations/andy-goldsworthy/assets/bg_row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8D1C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自然元素一：落叶</a:t>
            </a:r>
            <a:endParaRPr lang="en-US" sz="880" dirty="0"/>
          </a:p>
        </p:txBody>
      </p:sp>
      <p:sp>
        <p:nvSpPr>
          <p:cNvPr id="5" name="Text 2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D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85800" y="3840480"/>
            <a:ext cx="85039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落叶不是废弃物，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而是天然的色彩材料。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85800" y="4553712"/>
            <a:ext cx="85039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8E0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每片叶子的颜色、边缘和纹理都不同；通过排列，普通落叶被转化成有秩序的视觉作品。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195767" y="6108192"/>
            <a:ext cx="3337560" cy="384048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05495" y="6190488"/>
            <a:ext cx="31181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EFE8D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Rowan Leaves Laid Around a Hole, 1987</a:t>
            </a:r>
            <a:endParaRPr lang="en-US" sz="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weile/Obsidian/Knowledge/Course/outputs/manual-20260515/presentations/andy-goldsworthy/assets/panel_stone_ri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30352"/>
            <a:ext cx="6629400" cy="5806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79792" y="676656"/>
            <a:ext cx="3931920" cy="5166360"/>
          </a:xfrm>
          <a:prstGeom prst="rect">
            <a:avLst/>
          </a:prstGeom>
          <a:solidFill>
            <a:srgbClr val="EFE8D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516368" y="9144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21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石头：自然的结构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534656" y="166420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A5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坚硬、沉重、稳定，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4A5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也需要重心与支撑。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71232" y="29718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D21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作品看起来简单，但背后有结构判断</a:t>
            </a:r>
            <a:endParaRPr lang="en-US" sz="1240" dirty="0"/>
          </a:p>
        </p:txBody>
      </p:sp>
      <p:sp>
        <p:nvSpPr>
          <p:cNvPr id="7" name="Text 4"/>
          <p:cNvSpPr/>
          <p:nvPr/>
        </p:nvSpPr>
        <p:spPr>
          <a:xfrm>
            <a:off x="7571232" y="3447288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B4E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戈兹沃西常不使用胶水或金属固定，而是依靠石头自身的重量、形状和相互支撑。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4B4E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石头仍保留天然纹理和不规则性，因此结构有秩序，却不显得机械。</a:t>
            </a:r>
            <a:endParaRPr lang="en-US" sz="970" dirty="0"/>
          </a:p>
        </p:txBody>
      </p:sp>
      <p:sp>
        <p:nvSpPr>
          <p:cNvPr id="8" name="Shape 5"/>
          <p:cNvSpPr/>
          <p:nvPr/>
        </p:nvSpPr>
        <p:spPr>
          <a:xfrm>
            <a:off x="3429000" y="5989320"/>
            <a:ext cx="3383280" cy="384048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38728" y="6071616"/>
            <a:ext cx="3163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EFE8D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Stone River, Stanford University, 2001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D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weile/Obsidian/Knowledge/Course/outputs/manual-20260515/presentations/andy-goldsworthy/assets/bg_i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DEC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自然元素二：冰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D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85800" y="4069080"/>
            <a:ext cx="78638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冰的美，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从一开始就带着消失。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85800" y="4782312"/>
            <a:ext cx="78638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1F3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冰有透明、反光和脆弱的质感；温度升高后，它会慢慢融化，时间也就成了作品的一部分。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195767" y="6108192"/>
            <a:ext cx="3337560" cy="384048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05495" y="6190488"/>
            <a:ext cx="31181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EFE8D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Icicle Star, Dumfriesshire, 1987</a:t>
            </a:r>
            <a:endParaRPr lang="en-US" sz="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weile/Obsidian/Knowledge/Course/outputs/manual-20260515/presentations/andy-goldsworthy/assets/bg_chal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8D1C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短暂性不是缺点</a:t>
            </a:r>
            <a:endParaRPr lang="en-US" sz="880" dirty="0"/>
          </a:p>
        </p:txBody>
      </p:sp>
      <p:sp>
        <p:nvSpPr>
          <p:cNvPr id="5" name="Text 2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D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76656" y="1261872"/>
            <a:ext cx="6080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作品会被风吹散、</a:t>
            </a:r>
            <a:endParaRPr lang="en-US" sz="2550" dirty="0"/>
          </a:p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被水带走、被阳光改变。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713232" y="2743200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0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这些变化不是外部干扰，而是作品生命的一部分。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3232" y="3730752"/>
            <a:ext cx="749808" cy="310896"/>
          </a:xfrm>
          <a:prstGeom prst="roundRect">
            <a:avLst>
              <a:gd name="adj" fmla="val 11765"/>
            </a:avLst>
          </a:prstGeom>
          <a:solidFill>
            <a:srgbClr val="F4EFE6">
              <a:alpha val="92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803904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2D33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过程</a:t>
            </a:r>
            <a:endParaRPr lang="en-US" sz="790" dirty="0"/>
          </a:p>
        </p:txBody>
      </p:sp>
      <p:sp>
        <p:nvSpPr>
          <p:cNvPr id="10" name="Shape 7"/>
          <p:cNvSpPr/>
          <p:nvPr/>
        </p:nvSpPr>
        <p:spPr>
          <a:xfrm>
            <a:off x="1609344" y="3730752"/>
            <a:ext cx="749808" cy="310896"/>
          </a:xfrm>
          <a:prstGeom prst="roundRect">
            <a:avLst>
              <a:gd name="adj" fmla="val 11765"/>
            </a:avLst>
          </a:prstGeom>
          <a:solidFill>
            <a:srgbClr val="F4EFE6">
              <a:alpha val="92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19072" y="3803904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2D33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</a:t>
            </a:r>
            <a:endParaRPr lang="en-US" sz="790" dirty="0"/>
          </a:p>
        </p:txBody>
      </p:sp>
      <p:sp>
        <p:nvSpPr>
          <p:cNvPr id="12" name="Shape 9"/>
          <p:cNvSpPr/>
          <p:nvPr/>
        </p:nvSpPr>
        <p:spPr>
          <a:xfrm>
            <a:off x="2505456" y="3730752"/>
            <a:ext cx="1078992" cy="310896"/>
          </a:xfrm>
          <a:prstGeom prst="roundRect">
            <a:avLst>
              <a:gd name="adj" fmla="val 11765"/>
            </a:avLst>
          </a:prstGeom>
          <a:solidFill>
            <a:srgbClr val="F4EFE6">
              <a:alpha val="92000"/>
            </a:srgbClr>
          </a:solidFill>
          <a:ln w="12700">
            <a:solidFill>
              <a:srgbClr val="F4EFE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15184" y="3803904"/>
            <a:ext cx="8595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2D33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不可重复</a:t>
            </a:r>
            <a:endParaRPr lang="en-US" sz="790" dirty="0"/>
          </a:p>
        </p:txBody>
      </p:sp>
      <p:sp>
        <p:nvSpPr>
          <p:cNvPr id="14" name="Text 11"/>
          <p:cNvSpPr/>
          <p:nvPr/>
        </p:nvSpPr>
        <p:spPr>
          <a:xfrm>
            <a:off x="749808" y="4315968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E8E0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短暂性不是失败。摄影记录下来的，是作品与自然环境相遇的某一个瞬间。</a:t>
            </a:r>
            <a:endParaRPr lang="en-US" sz="1070" dirty="0"/>
          </a:p>
        </p:txBody>
      </p:sp>
      <p:sp>
        <p:nvSpPr>
          <p:cNvPr id="15" name="Shape 12"/>
          <p:cNvSpPr/>
          <p:nvPr/>
        </p:nvSpPr>
        <p:spPr>
          <a:xfrm>
            <a:off x="8195767" y="6108192"/>
            <a:ext cx="3337560" cy="384048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05495" y="6190488"/>
            <a:ext cx="31181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EFE8D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Midsummer Snowballs, London, 2000</a:t>
            </a:r>
            <a:endParaRPr lang="en-US" sz="7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weile/Obsidian/Knowledge/Course/outputs/manual-20260515/presentations/andy-goldsworthy/assets/bg_w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8D1C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自然不是背景，而是合作者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D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594360" y="987552"/>
            <a:ext cx="3977640" cy="4389120"/>
          </a:xfrm>
          <a:prstGeom prst="rect">
            <a:avLst/>
          </a:prstGeom>
          <a:solidFill>
            <a:srgbClr val="11140F">
              <a:alpha val="82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3533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自然参与了什么？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1828800"/>
            <a:ext cx="3429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9E1D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自然提供材料：树叶、石头、冰、木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9E1D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自然规定条件：地点、光线、温度、水流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9E1D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自然继续改变作品：风化、融化、漂移、消失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9E1D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艺术家的作用更像引导者：发现材料中的秩序，再让环境继续完成作品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8195767" y="6108192"/>
            <a:ext cx="3337560" cy="384048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05495" y="6190488"/>
            <a:ext cx="31181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EFE8D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Andy Goldsworthy Wall, 2016 photograph</a:t>
            </a:r>
            <a:endParaRPr lang="en-US" sz="7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weile/Obsidian/Knowledge/Course/outputs/manual-20260515/presentations/andy-goldsworthy/assets/bg_spi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8D1C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自然元素三：木与树</a:t>
            </a:r>
            <a:endParaRPr lang="en-US" sz="880" dirty="0"/>
          </a:p>
        </p:txBody>
      </p:sp>
      <p:sp>
        <p:nvSpPr>
          <p:cNvPr id="5" name="Text 2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D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85800" y="4069080"/>
            <a:ext cx="86410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树木让作品拥有方向感，</a:t>
            </a:r>
            <a:endParaRPr lang="en-US" sz="2450" dirty="0"/>
          </a:p>
          <a:p>
            <a:pPr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也拥有场地记忆。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685800" y="4782312"/>
            <a:ext cx="86410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8E0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树干、年轮和树皮保留了生命痕迹；作品不是把木材伪装成雕塑，而是让木材继续显露它来自森林的身份。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195767" y="6108192"/>
            <a:ext cx="3337560" cy="384048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05495" y="6190488"/>
            <a:ext cx="31181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EFE8D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Spire, Presidio of San Francisco, 2008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weile/Obsidian/Knowledge/Course/outputs/manual-20260515/presentations/andy-goldsworthy/assets/bg_ar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37960" y="0"/>
            <a:ext cx="5650992" cy="6858000"/>
          </a:xfrm>
          <a:prstGeom prst="rect">
            <a:avLst/>
          </a:prstGeom>
          <a:solidFill>
            <a:srgbClr val="F4EFE6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38404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8D1C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与工程思维的联系</a:t>
            </a:r>
            <a:endParaRPr lang="en-US" sz="880" dirty="0"/>
          </a:p>
        </p:txBody>
      </p:sp>
      <p:sp>
        <p:nvSpPr>
          <p:cNvPr id="5" name="Text 2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D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903720" y="1051560"/>
            <a:ext cx="4389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D21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艺术不是工程，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D21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但这里有工程判断。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931152" y="276148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D21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三个相通点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931152" y="3236976"/>
            <a:ext cx="4251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B4E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材料特性：理解轻重、硬度、透明度和可变性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B4E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结构关系：判断重心、支撑、咬合与平衡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B4E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环境适应：作品必须面对风、水、温度和光照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B4E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启发：好的工程也可以顺应自然规律，而不是只靠人工控制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822960" y="6126480"/>
            <a:ext cx="3566160" cy="384048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6208776"/>
            <a:ext cx="3346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EFE8D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Striding Arch, Dumfries and Galloway, 2008</a:t>
            </a:r>
            <a:endParaRPr lang="en-US" sz="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A3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把课程的三个关键词放回来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960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D21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自然、艺术、工程在同一个作品里相遇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76656" y="146304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5D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戈兹沃西的作品不只是在“表现自然”，而是把自然材料、审美秩序和结构判断放在同一个创作过程中。</a:t>
            </a:r>
            <a:endParaRPr lang="en-US" sz="1050" dirty="0"/>
          </a:p>
        </p:txBody>
      </p:sp>
      <p:pic>
        <p:nvPicPr>
          <p:cNvPr id="5" name="Image 0" descr="/Users/moweile/Obsidian/Knowledge/Course/outputs/manual-20260515/presentations/andy-goldsworthy/assets/bg_row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38528"/>
            <a:ext cx="3429000" cy="2212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442569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1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8368" y="48188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5D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材料来自自然，也回到自然</a:t>
            </a:r>
            <a:endParaRPr lang="en-US" sz="1080" dirty="0"/>
          </a:p>
        </p:txBody>
      </p:sp>
      <p:pic>
        <p:nvPicPr>
          <p:cNvPr id="8" name="Image 1" descr="/Users/moweile/Obsidian/Knowledge/Course/outputs/manual-20260515/presentations/andy-goldsworthy/assets/panel_slat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938528"/>
            <a:ext cx="3429000" cy="22128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53128" y="442569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1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艺术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453128" y="48188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5D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通过排列、色彩和形状创造美</a:t>
            </a:r>
            <a:endParaRPr lang="en-US" sz="1080" dirty="0"/>
          </a:p>
        </p:txBody>
      </p:sp>
      <p:pic>
        <p:nvPicPr>
          <p:cNvPr id="11" name="Image 2" descr="/Users/moweile/Obsidian/Knowledge/Course/outputs/manual-20260515/presentations/andy-goldsworthy/assets/panel_cair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938528"/>
            <a:ext cx="3429000" cy="22128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47888" y="442569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1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8247888" y="48188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5D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通过结构、平衡和环境适应完成作品</a:t>
            </a:r>
            <a:endParaRPr lang="en-US" sz="1080" dirty="0"/>
          </a:p>
        </p:txBody>
      </p:sp>
      <p:sp>
        <p:nvSpPr>
          <p:cNvPr id="14" name="Text 9"/>
          <p:cNvSpPr/>
          <p:nvPr/>
        </p:nvSpPr>
        <p:spPr>
          <a:xfrm>
            <a:off x="658368" y="4005072"/>
            <a:ext cx="3429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A84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Rowan Leaves, 1987</a:t>
            </a:r>
            <a:endParaRPr lang="en-US" sz="660" dirty="0"/>
          </a:p>
        </p:txBody>
      </p:sp>
      <p:sp>
        <p:nvSpPr>
          <p:cNvPr id="15" name="Text 10"/>
          <p:cNvSpPr/>
          <p:nvPr/>
        </p:nvSpPr>
        <p:spPr>
          <a:xfrm>
            <a:off x="4453128" y="4005072"/>
            <a:ext cx="3429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A84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Slate Patterns, 2007 photo</a:t>
            </a:r>
            <a:endParaRPr lang="en-US" sz="660" dirty="0"/>
          </a:p>
        </p:txBody>
      </p:sp>
      <p:sp>
        <p:nvSpPr>
          <p:cNvPr id="16" name="Text 11"/>
          <p:cNvSpPr/>
          <p:nvPr/>
        </p:nvSpPr>
        <p:spPr>
          <a:xfrm>
            <a:off x="8247888" y="4005072"/>
            <a:ext cx="3429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8A84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Cairn, 1997</a:t>
            </a:r>
            <a:endParaRPr lang="en-US" sz="660" dirty="0"/>
          </a:p>
        </p:txBody>
      </p:sp>
      <p:sp>
        <p:nvSpPr>
          <p:cNvPr id="17" name="Text 12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D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120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A1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 汇报时可以这样收束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自然不是被复制的对象，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而是共同创作的伙伴。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13232" y="297180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5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28895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5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自然是材料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13232" y="37033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5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36210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5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自然是过程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13232" y="44348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5A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43525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E5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自然是合作者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13232" y="521208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D8D1C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落叶有颜色，石头有结构，冰有光感，水有流动。戈兹沃西把这些自然特性组织起来，让我们重新看到自然本身的美。</a:t>
            </a:r>
            <a:endParaRPr lang="en-US" sz="980" dirty="0"/>
          </a:p>
        </p:txBody>
      </p:sp>
      <p:pic>
        <p:nvPicPr>
          <p:cNvPr id="11" name="Image 0" descr="/Users/moweile/Obsidian/Knowledge/Course/outputs/manual-20260515/presentations/andy-goldsworthy/assets/panel_co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0"/>
            <a:ext cx="5696712" cy="6858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17920" y="0"/>
            <a:ext cx="502920" cy="6858000"/>
          </a:xfrm>
          <a:prstGeom prst="rect">
            <a:avLst/>
          </a:prstGeom>
          <a:solidFill>
            <a:srgbClr val="11140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46720" y="6172200"/>
            <a:ext cx="3429000" cy="384048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56448" y="6254496"/>
            <a:ext cx="3209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EFE8D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Cone, Royal Botanic Garden Edinburgh, 1990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D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weile/Obsidian/Knowledge/Course/outputs/manual-20260515/presentations/andy-goldsworthy/assets/bg_over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245059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谢谢大家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13232" y="320040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0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自然本身拥有色彩、结构、时间和生命力。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195767" y="6108192"/>
            <a:ext cx="3337560" cy="384048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05495" y="6190488"/>
            <a:ext cx="31181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EFE8D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Stone River, Stanford University, 2001</a:t>
            </a:r>
            <a:endParaRPr lang="en-US" sz="760" dirty="0"/>
          </a:p>
        </p:txBody>
      </p:sp>
      <p:sp>
        <p:nvSpPr>
          <p:cNvPr id="8" name="Text 5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DB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以自然为材料：安迪·戈兹沃西大地艺术中的自然之美</dc:title>
  <dc:subject>Andy Goldsworthy land art presentation</dc:subject>
  <dc:creator>moweile</dc:creator>
  <cp:lastModifiedBy>moweile</cp:lastModifiedBy>
  <cp:revision>1</cp:revision>
  <dcterms:created xsi:type="dcterms:W3CDTF">2026-05-15T01:31:48Z</dcterms:created>
  <dcterms:modified xsi:type="dcterms:W3CDTF">2026-05-15T01:31:48Z</dcterms:modified>
</cp:coreProperties>
</file>