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499" r:id="rId2"/>
    <p:sldId id="500" r:id="rId3"/>
    <p:sldId id="501" r:id="rId4"/>
    <p:sldId id="503" r:id="rId5"/>
    <p:sldId id="504" r:id="rId6"/>
    <p:sldId id="502" r:id="rId7"/>
    <p:sldId id="3702" r:id="rId8"/>
    <p:sldId id="3703" r:id="rId9"/>
    <p:sldId id="3704" r:id="rId10"/>
    <p:sldId id="3705" r:id="rId11"/>
    <p:sldId id="2877" r:id="rId12"/>
    <p:sldId id="3621" r:id="rId13"/>
    <p:sldId id="2878" r:id="rId14"/>
    <p:sldId id="2879" r:id="rId15"/>
    <p:sldId id="3684" r:id="rId16"/>
    <p:sldId id="3710" r:id="rId17"/>
    <p:sldId id="3711" r:id="rId18"/>
    <p:sldId id="3709" r:id="rId19"/>
    <p:sldId id="2880" r:id="rId20"/>
    <p:sldId id="3685" r:id="rId21"/>
    <p:sldId id="3682" r:id="rId22"/>
    <p:sldId id="3683" r:id="rId23"/>
    <p:sldId id="388" r:id="rId24"/>
    <p:sldId id="260" r:id="rId25"/>
    <p:sldId id="3687" r:id="rId26"/>
    <p:sldId id="268" r:id="rId27"/>
    <p:sldId id="3707" r:id="rId28"/>
    <p:sldId id="3706" r:id="rId29"/>
    <p:sldId id="269" r:id="rId30"/>
    <p:sldId id="270" r:id="rId31"/>
    <p:sldId id="397" r:id="rId32"/>
    <p:sldId id="3686" r:id="rId33"/>
    <p:sldId id="272" r:id="rId34"/>
    <p:sldId id="3688" r:id="rId35"/>
    <p:sldId id="273" r:id="rId36"/>
    <p:sldId id="274" r:id="rId37"/>
    <p:sldId id="275" r:id="rId38"/>
    <p:sldId id="276" r:id="rId39"/>
    <p:sldId id="3708" r:id="rId40"/>
    <p:sldId id="277" r:id="rId41"/>
    <p:sldId id="278" r:id="rId42"/>
    <p:sldId id="279" r:id="rId43"/>
    <p:sldId id="280" r:id="rId44"/>
    <p:sldId id="3689" r:id="rId45"/>
    <p:sldId id="282" r:id="rId46"/>
    <p:sldId id="283" r:id="rId47"/>
    <p:sldId id="3690" r:id="rId48"/>
    <p:sldId id="412" r:id="rId49"/>
    <p:sldId id="285" r:id="rId50"/>
    <p:sldId id="379" r:id="rId51"/>
    <p:sldId id="3694" r:id="rId52"/>
    <p:sldId id="286" r:id="rId53"/>
    <p:sldId id="380" r:id="rId54"/>
    <p:sldId id="288" r:id="rId55"/>
    <p:sldId id="289" r:id="rId56"/>
    <p:sldId id="398" r:id="rId57"/>
    <p:sldId id="3691" r:id="rId58"/>
    <p:sldId id="3695" r:id="rId59"/>
    <p:sldId id="3692" r:id="rId60"/>
    <p:sldId id="3693" r:id="rId61"/>
    <p:sldId id="3696" r:id="rId62"/>
    <p:sldId id="287" r:id="rId63"/>
    <p:sldId id="290" r:id="rId64"/>
    <p:sldId id="291" r:id="rId65"/>
    <p:sldId id="3699" r:id="rId66"/>
    <p:sldId id="3700" r:id="rId67"/>
    <p:sldId id="3698" r:id="rId68"/>
    <p:sldId id="3697" r:id="rId69"/>
    <p:sldId id="293" r:id="rId70"/>
    <p:sldId id="3701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640E"/>
    <a:srgbClr val="FF640D"/>
    <a:srgbClr val="058F4F"/>
    <a:srgbClr val="945200"/>
    <a:srgbClr val="F8BBC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05"/>
    <p:restoredTop sz="88027"/>
  </p:normalViewPr>
  <p:slideViewPr>
    <p:cSldViewPr snapToGrid="0" snapToObjects="1">
      <p:cViewPr>
        <p:scale>
          <a:sx n="93" d="100"/>
          <a:sy n="93" d="100"/>
        </p:scale>
        <p:origin x="106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3" d="100"/>
        <a:sy n="1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226E-AD39-3947-8BB9-3215E793832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6DFAF-A6C2-8443-9535-BFC12BD50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8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6DFAF-A6C2-8443-9535-BFC12BD508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35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120000"/>
              </a:lnSpc>
            </a:pPr>
            <a:r>
              <a:rPr lang="zh-CN" altLang="en-US" sz="1200" dirty="0"/>
              <a:t>数据成员是私有的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1200" dirty="0"/>
              <a:t>化简函数是内部调用的函数，与用户无关，是私有的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1200" dirty="0"/>
              <a:t>其他函数都是公有的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6DFAF-A6C2-8443-9535-BFC12BD5080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88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6DFAF-A6C2-8443-9535-BFC12BD5080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1A99-168B-3949-B100-E24F52FCD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5EB88-EB20-F74F-80E2-E806E0C3B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Heiti SC Medium" pitchFamily="2" charset="-128"/>
                <a:ea typeface="Heiti SC Medium" pitchFamily="2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3394B-3EA5-3346-996B-4C4853A6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B423-80AC-A54C-82C4-F65C10E2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A4ED5-33DA-E34B-A6C0-7434414D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4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AC23-BFE1-EC4E-A842-4E7C6778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9E2C-7BA1-5748-B0AB-E3E7FA57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Heiti SC Medium" pitchFamily="2" charset="-128"/>
                <a:ea typeface="Heiti SC Medium" pitchFamily="2" charset="-128"/>
              </a:defRPr>
            </a:lvl1pPr>
            <a:lvl2pPr>
              <a:defRPr sz="2000">
                <a:latin typeface="Heiti SC Medium" pitchFamily="2" charset="-128"/>
                <a:ea typeface="Heiti SC Medium" pitchFamily="2" charset="-128"/>
              </a:defRPr>
            </a:lvl2pPr>
            <a:lvl3pPr>
              <a:defRPr sz="1800">
                <a:latin typeface="Heiti SC Medium" pitchFamily="2" charset="-128"/>
                <a:ea typeface="Heiti SC Medium" pitchFamily="2" charset="-128"/>
              </a:defRPr>
            </a:lvl3pPr>
            <a:lvl4pPr>
              <a:defRPr sz="1600">
                <a:latin typeface="Heiti SC Medium" pitchFamily="2" charset="-128"/>
                <a:ea typeface="Heiti SC Medium" pitchFamily="2" charset="-128"/>
              </a:defRPr>
            </a:lvl4pPr>
            <a:lvl5pPr>
              <a:defRPr sz="1600">
                <a:latin typeface="Heiti SC Medium" pitchFamily="2" charset="-128"/>
                <a:ea typeface="Heiti SC Medium" pitchFamily="2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D0E83-42E8-724E-A6B3-6B8BF3B7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latin typeface="Heiti SC Medium" pitchFamily="2" charset="-128"/>
                <a:ea typeface="Heiti SC Medium" pitchFamily="2" charset="-128"/>
              </a:defRPr>
            </a:lvl1pPr>
          </a:lstStyle>
          <a:p>
            <a:fld id="{5C59CF67-151F-A14C-ABAD-F70F05EF6E3A}" type="datetimeFigureOut">
              <a:rPr lang="en-US" smtClean="0"/>
              <a:pPr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4D82C-2B3B-C541-8527-3D1BF004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latin typeface="Heiti SC Medium" pitchFamily="2" charset="-128"/>
                <a:ea typeface="Heiti SC Medium" pitchFamily="2" charset="-12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10EED-B7CB-994F-A432-A483EF83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Heiti SC Medium" pitchFamily="2" charset="-128"/>
                <a:ea typeface="Heiti SC Medium" pitchFamily="2" charset="-128"/>
              </a:defRPr>
            </a:lvl1pPr>
          </a:lstStyle>
          <a:p>
            <a:fld id="{C07E92B8-4FE3-8448-A791-D3EF71032C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CBA28-128C-F207-FAAF-A85B0B2222B4}"/>
              </a:ext>
            </a:extLst>
          </p:cNvPr>
          <p:cNvSpPr/>
          <p:nvPr userDrawn="1"/>
        </p:nvSpPr>
        <p:spPr>
          <a:xfrm>
            <a:off x="0" y="0"/>
            <a:ext cx="750277" cy="6858000"/>
          </a:xfrm>
          <a:prstGeom prst="rect">
            <a:avLst/>
          </a:prstGeom>
          <a:solidFill>
            <a:srgbClr val="FE64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Luoyi Fu">
            <a:extLst>
              <a:ext uri="{FF2B5EF4-FFF2-40B4-BE49-F238E27FC236}">
                <a16:creationId xmlns:a16="http://schemas.microsoft.com/office/drawing/2014/main" id="{A1BD39A5-23EC-E107-6F54-42E7955A0B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2" y="365125"/>
            <a:ext cx="621631" cy="6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20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E9DF-A917-6340-8E91-1C38BA65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C0E68-97F9-8246-ADD6-1072B8BA4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68660-2B8A-7E48-88B0-143D04F1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5BF28-053F-6B4A-B1DD-6C73F08E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F037-FBF9-E140-B049-F590DECA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4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D75E-D5C3-8248-8F29-3FB44C0EB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40EC6-0331-D84B-ABCC-41EBDE763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87595-4E74-214D-8336-3D72B8603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4C85C-1932-E24C-A8A1-D8510C44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43FED-8F41-104F-A765-9461520A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D8BBD-BD3E-B244-963D-5D02F287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94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A613-52E3-6249-AD1E-747D43FB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1A9A-21F0-114D-AA3C-05881DB45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12191-71DF-4D42-9627-86FBF0BE2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CF4A3-5316-0745-A8D7-7A753B904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E2C66-9E6A-7540-92DA-142F70B3C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8820D1-E677-0947-985C-5E55E8E2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BD0C4-5704-0F47-82E8-8341D0BF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F8835-CC78-414F-AFB5-FE5B36B6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1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334E-9A13-5048-A58A-90172F32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E027E-E99E-9B44-930B-A8375712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D1478C-F41F-C847-8C84-3B65AD93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D63E6-E5AB-BC48-9399-3C41D096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7A935-1B27-B54C-86DF-E3767A45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E29A2-4C02-7849-AAEC-E66A3310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1310C-E5D3-5848-AB67-60AB78A2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8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3A97-A733-7D47-90EC-8C621DAC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6F4B-5FA6-2B40-AC01-599C85B22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E02FD-23BC-504D-BDE0-2BB3EED40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68C94-7F8B-7043-9CB9-D6464EE3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2C32B-612C-0A4E-9ED7-91D31181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D07B6-1C00-8641-9030-B6156F7C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4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51B6-573C-7E41-8F03-47EC6177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66B643-3200-3048-A34D-027823F41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65DED-6D15-BA46-8520-54887A964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696C8-B369-9945-8C83-CD993802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EA139-E4A9-1341-8467-778B56E8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883FA-F1F2-4E4F-BA54-CA3AAA17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1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C144-8FED-0F44-8A96-CB4B8FA6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62CC5-6934-2F40-99E6-8C922E629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F604-0E4F-C247-8D23-EC44BC79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CF2F3-648E-B647-8DBD-D706BEAD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C02B-1319-C54C-BCCD-14C7D133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6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ABB26-C608-FC4E-8F1E-8AB7D40FF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59BB2-50B7-6043-BCA6-11FBC01E1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C9457-7D1F-1240-A62B-F9F3F03D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35953-D920-BD4D-8659-66AE27EE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6F01-C8C2-C84A-B661-FC7EF8DE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5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BF400-C8C6-654F-8036-2E06A423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21C9-94AC-1140-B251-6BD371CC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6D821-039D-604A-A82A-817DDC08F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CF67-151F-A14C-ABAD-F70F05EF6E3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8C6AB-9ADF-7F4E-8430-EE757431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40E38-666C-A646-8C77-43057341B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E92B8-4FE3-8448-A791-D3EF7103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1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893DE3-E1B7-9344-8051-7BE63507ED60}"/>
              </a:ext>
            </a:extLst>
          </p:cNvPr>
          <p:cNvSpPr/>
          <p:nvPr/>
        </p:nvSpPr>
        <p:spPr>
          <a:xfrm>
            <a:off x="0" y="780585"/>
            <a:ext cx="12192000" cy="2821454"/>
          </a:xfrm>
          <a:prstGeom prst="rect">
            <a:avLst/>
          </a:prstGeom>
          <a:solidFill>
            <a:srgbClr val="FE64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286B8-A5A6-5647-941F-C5871EE54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9223" y="1122363"/>
            <a:ext cx="9986036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</a:rPr>
              <a:t>CS 15</a:t>
            </a:r>
            <a:r>
              <a:rPr lang="en-US" altLang="zh-CN" sz="4400" b="1" dirty="0">
                <a:solidFill>
                  <a:schemeClr val="bg1"/>
                </a:solidFill>
              </a:rPr>
              <a:t>02H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程序设计思想与方法</a:t>
            </a:r>
            <a:r>
              <a:rPr lang="zh-CN" altLang="en-US" sz="4400" b="1" dirty="0">
                <a:solidFill>
                  <a:schemeClr val="bg1"/>
                </a:solidFill>
              </a:rPr>
              <a:t> </a:t>
            </a:r>
            <a:r>
              <a:rPr lang="en-US" altLang="zh-CN" sz="4400" b="1" dirty="0">
                <a:solidFill>
                  <a:schemeClr val="bg1"/>
                </a:solidFill>
              </a:rPr>
              <a:t>(C++)</a:t>
            </a:r>
            <a:br>
              <a:rPr lang="en-US" altLang="zh-CN" sz="4400" b="1" dirty="0">
                <a:solidFill>
                  <a:schemeClr val="bg1"/>
                </a:solidFill>
              </a:rPr>
            </a:br>
            <a:r>
              <a:rPr lang="en-US" altLang="zh-CN" sz="4400" dirty="0">
                <a:solidFill>
                  <a:schemeClr val="bg1"/>
                </a:solidFill>
              </a:rPr>
              <a:t>Chapter 10.</a:t>
            </a:r>
            <a:r>
              <a:rPr lang="zh-CN" altLang="en-US" sz="4400" dirty="0">
                <a:solidFill>
                  <a:schemeClr val="bg1"/>
                </a:solidFill>
              </a:rPr>
              <a:t> 创建新的类型</a:t>
            </a:r>
            <a:r>
              <a:rPr lang="en-US" altLang="zh-CN" sz="4400" dirty="0">
                <a:solidFill>
                  <a:schemeClr val="bg1"/>
                </a:solidFill>
              </a:rPr>
              <a:t> (1)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BFD7A-C79A-EC43-A2B3-7BE5D3A6E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9083"/>
            <a:ext cx="8343090" cy="1655762"/>
          </a:xfrm>
        </p:spPr>
        <p:txBody>
          <a:bodyPr anchor="ctr">
            <a:normAutofit/>
          </a:bodyPr>
          <a:lstStyle/>
          <a:p>
            <a:pPr algn="l"/>
            <a:r>
              <a:rPr lang="en-US" sz="2400" dirty="0" err="1">
                <a:latin typeface="Adobe Heiti Std R" panose="020B0400000000000000" pitchFamily="34" charset="-128"/>
                <a:ea typeface="Adobe Heiti Std R" panose="020B0400000000000000" pitchFamily="34" charset="-128"/>
              </a:rPr>
              <a:t>陈东尧</a:t>
            </a:r>
            <a:endParaRPr lang="en-US" sz="24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pPr algn="l"/>
            <a:r>
              <a:rPr lang="zh-CN" altLang="en-US" sz="24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上海交通大学</a:t>
            </a:r>
            <a:endParaRPr lang="en-US" altLang="zh-CN" sz="24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pPr algn="l"/>
            <a:r>
              <a:rPr lang="en-US" altLang="zh-CN" sz="24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2025</a:t>
            </a:r>
            <a:r>
              <a:rPr lang="zh-CN" altLang="en-US" sz="24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年秋季</a:t>
            </a:r>
            <a:endParaRPr lang="en-US" sz="24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73636-0BF9-A647-A289-2E68256713AF}"/>
              </a:ext>
            </a:extLst>
          </p:cNvPr>
          <p:cNvSpPr/>
          <p:nvPr/>
        </p:nvSpPr>
        <p:spPr>
          <a:xfrm>
            <a:off x="1524000" y="1149705"/>
            <a:ext cx="223736" cy="2332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Luoyi Fu">
            <a:extLst>
              <a:ext uri="{FF2B5EF4-FFF2-40B4-BE49-F238E27FC236}">
                <a16:creationId xmlns:a16="http://schemas.microsoft.com/office/drawing/2014/main" id="{B889589C-424D-EF31-7ED5-28FE666EB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8398"/>
          <a:stretch/>
        </p:blipFill>
        <p:spPr bwMode="auto">
          <a:xfrm>
            <a:off x="8578618" y="4270724"/>
            <a:ext cx="3613382" cy="258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21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8F76-B3A1-4445-AFDF-E861E47B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面向对象的程序设计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DA6E1-FC9E-7A11-F278-23031A57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从过程化到面向对象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9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8CD0-6B8B-30CC-2F00-730EF414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抽象过程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CB06-003C-C73A-6A0A-BF75E16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计算机的工作是建立在抽象</a:t>
            </a:r>
            <a:r>
              <a:rPr lang="zh-CN" altLang="en-US" dirty="0"/>
              <a:t>（</a:t>
            </a:r>
            <a:r>
              <a:rPr lang="en-US" altLang="zh-CN" dirty="0"/>
              <a:t>abstraction</a:t>
            </a:r>
            <a:r>
              <a:rPr lang="zh-CN" altLang="en-US" dirty="0"/>
              <a:t>）</a:t>
            </a:r>
            <a:r>
              <a:rPr lang="en-US" dirty="0" err="1"/>
              <a:t>的基础之上</a:t>
            </a:r>
            <a:endParaRPr lang="en-US" dirty="0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7C51547-3B3B-C386-B7E6-5A0122D2ACAF}"/>
              </a:ext>
            </a:extLst>
          </p:cNvPr>
          <p:cNvSpPr/>
          <p:nvPr/>
        </p:nvSpPr>
        <p:spPr bwMode="auto">
          <a:xfrm>
            <a:off x="1471049" y="2541792"/>
            <a:ext cx="3657600" cy="2824681"/>
          </a:xfrm>
          <a:prstGeom prst="triangle">
            <a:avLst/>
          </a:prstGeom>
          <a:solidFill>
            <a:srgbClr val="FE640E"/>
          </a:solidFill>
          <a:ln w="19050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0050" algn="l"/>
                <a:tab pos="533400" algn="l"/>
                <a:tab pos="666750" algn="l"/>
                <a:tab pos="800100" algn="l"/>
                <a:tab pos="933450" algn="l"/>
              </a:tabLst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251E6-8A31-45E3-ADBD-7E51D1A55B32}"/>
              </a:ext>
            </a:extLst>
          </p:cNvPr>
          <p:cNvSpPr txBox="1"/>
          <p:nvPr/>
        </p:nvSpPr>
        <p:spPr>
          <a:xfrm>
            <a:off x="2494090" y="4805158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计算机硬件</a:t>
            </a:r>
          </a:p>
        </p:txBody>
      </p:sp>
    </p:spTree>
    <p:extLst>
      <p:ext uri="{BB962C8B-B14F-4D97-AF65-F5344CB8AC3E}">
        <p14:creationId xmlns:p14="http://schemas.microsoft.com/office/powerpoint/2010/main" val="284298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8CD0-6B8B-30CC-2F00-730EF414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抽象过程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CB06-003C-C73A-6A0A-BF75E16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计算机的工作是建立在抽象的基础之上</a:t>
            </a:r>
            <a:endParaRPr lang="en-US" dirty="0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7C51547-3B3B-C386-B7E6-5A0122D2ACAF}"/>
              </a:ext>
            </a:extLst>
          </p:cNvPr>
          <p:cNvSpPr/>
          <p:nvPr/>
        </p:nvSpPr>
        <p:spPr bwMode="auto">
          <a:xfrm>
            <a:off x="1471049" y="2541792"/>
            <a:ext cx="3657600" cy="2824681"/>
          </a:xfrm>
          <a:prstGeom prst="triangle">
            <a:avLst/>
          </a:prstGeom>
          <a:solidFill>
            <a:srgbClr val="FE640E"/>
          </a:solidFill>
          <a:ln w="19050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0050" algn="l"/>
                <a:tab pos="533400" algn="l"/>
                <a:tab pos="666750" algn="l"/>
                <a:tab pos="800100" algn="l"/>
                <a:tab pos="933450" algn="l"/>
              </a:tabLst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251E6-8A31-45E3-ADBD-7E51D1A55B32}"/>
              </a:ext>
            </a:extLst>
          </p:cNvPr>
          <p:cNvSpPr txBox="1"/>
          <p:nvPr/>
        </p:nvSpPr>
        <p:spPr>
          <a:xfrm>
            <a:off x="2494090" y="4805158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计算机硬件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DB241-0C8C-00EB-53B4-C5D6F8D002B5}"/>
              </a:ext>
            </a:extLst>
          </p:cNvPr>
          <p:cNvSpPr txBox="1"/>
          <p:nvPr/>
        </p:nvSpPr>
        <p:spPr>
          <a:xfrm>
            <a:off x="2492581" y="4188014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机器语言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0FAAEC0-0055-81BC-33F1-4CD597BE2EBD}"/>
              </a:ext>
            </a:extLst>
          </p:cNvPr>
          <p:cNvCxnSpPr/>
          <p:nvPr/>
        </p:nvCxnSpPr>
        <p:spPr>
          <a:xfrm flipV="1">
            <a:off x="1813571" y="4759891"/>
            <a:ext cx="2880512" cy="16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7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8CD0-6B8B-30CC-2F00-730EF414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抽象过程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CB06-003C-C73A-6A0A-BF75E16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计算机的工作是建立在抽象的基础之上</a:t>
            </a:r>
            <a:endParaRPr lang="en-US" dirty="0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7C51547-3B3B-C386-B7E6-5A0122D2ACAF}"/>
              </a:ext>
            </a:extLst>
          </p:cNvPr>
          <p:cNvSpPr/>
          <p:nvPr/>
        </p:nvSpPr>
        <p:spPr bwMode="auto">
          <a:xfrm>
            <a:off x="1471049" y="2541792"/>
            <a:ext cx="3657600" cy="2824681"/>
          </a:xfrm>
          <a:prstGeom prst="triangle">
            <a:avLst/>
          </a:prstGeom>
          <a:solidFill>
            <a:srgbClr val="FE640E"/>
          </a:solidFill>
          <a:ln w="19050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0050" algn="l"/>
                <a:tab pos="533400" algn="l"/>
                <a:tab pos="666750" algn="l"/>
                <a:tab pos="800100" algn="l"/>
                <a:tab pos="933450" algn="l"/>
              </a:tabLst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251E6-8A31-45E3-ADBD-7E51D1A55B32}"/>
              </a:ext>
            </a:extLst>
          </p:cNvPr>
          <p:cNvSpPr txBox="1"/>
          <p:nvPr/>
        </p:nvSpPr>
        <p:spPr>
          <a:xfrm>
            <a:off x="2494090" y="4805158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计算机硬件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DB241-0C8C-00EB-53B4-C5D6F8D002B5}"/>
              </a:ext>
            </a:extLst>
          </p:cNvPr>
          <p:cNvSpPr txBox="1"/>
          <p:nvPr/>
        </p:nvSpPr>
        <p:spPr>
          <a:xfrm>
            <a:off x="2492581" y="4188014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机器语言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7DF77-16C3-ED97-2A19-481849D20406}"/>
              </a:ext>
            </a:extLst>
          </p:cNvPr>
          <p:cNvSpPr txBox="1"/>
          <p:nvPr/>
        </p:nvSpPr>
        <p:spPr>
          <a:xfrm>
            <a:off x="2629893" y="3463736"/>
            <a:ext cx="1367074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高级语言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EA287AC-056F-7CB0-6D95-28C231460799}"/>
              </a:ext>
            </a:extLst>
          </p:cNvPr>
          <p:cNvCxnSpPr/>
          <p:nvPr/>
        </p:nvCxnSpPr>
        <p:spPr>
          <a:xfrm>
            <a:off x="2331128" y="4044668"/>
            <a:ext cx="1901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0FAAEC0-0055-81BC-33F1-4CD597BE2EBD}"/>
              </a:ext>
            </a:extLst>
          </p:cNvPr>
          <p:cNvCxnSpPr/>
          <p:nvPr/>
        </p:nvCxnSpPr>
        <p:spPr>
          <a:xfrm flipV="1">
            <a:off x="1813571" y="4759891"/>
            <a:ext cx="2880512" cy="16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877DF2-630E-64E0-E6DB-4B011D4A1C65}"/>
              </a:ext>
            </a:extLst>
          </p:cNvPr>
          <p:cNvSpPr txBox="1"/>
          <p:nvPr/>
        </p:nvSpPr>
        <p:spPr>
          <a:xfrm>
            <a:off x="4502727" y="26813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在程序设计中，抽象提供了访问权限，同时隐藏了可能使访问更具挑战性的细节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0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8CD0-6B8B-30CC-2F00-730EF414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抽象过程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CB06-003C-C73A-6A0A-BF75E16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计算机的工作是建立在抽象的基础之上</a:t>
            </a:r>
            <a:endParaRPr lang="en-US" dirty="0"/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32954305-72A8-8B4F-BB36-635E21852143}"/>
              </a:ext>
            </a:extLst>
          </p:cNvPr>
          <p:cNvSpPr/>
          <p:nvPr/>
        </p:nvSpPr>
        <p:spPr>
          <a:xfrm>
            <a:off x="5391200" y="2960562"/>
            <a:ext cx="6094557" cy="2351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现有的问题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当程序员要解决一个问题时，必须要在机器模型和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实际要解决的问题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模型之间建立联系。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而计算机的结构本质上还是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为了支持计算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，当要解决一些非计算问题时，这个联系的建立是很困难的 </a:t>
            </a: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7C51547-3B3B-C386-B7E6-5A0122D2ACAF}"/>
              </a:ext>
            </a:extLst>
          </p:cNvPr>
          <p:cNvSpPr/>
          <p:nvPr/>
        </p:nvSpPr>
        <p:spPr bwMode="auto">
          <a:xfrm>
            <a:off x="1471049" y="2541792"/>
            <a:ext cx="3657600" cy="2824681"/>
          </a:xfrm>
          <a:prstGeom prst="triangle">
            <a:avLst/>
          </a:prstGeom>
          <a:solidFill>
            <a:srgbClr val="FE640E"/>
          </a:solidFill>
          <a:ln w="19050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0050" algn="l"/>
                <a:tab pos="533400" algn="l"/>
                <a:tab pos="666750" algn="l"/>
                <a:tab pos="800100" algn="l"/>
                <a:tab pos="933450" algn="l"/>
              </a:tabLst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251E6-8A31-45E3-ADBD-7E51D1A55B32}"/>
              </a:ext>
            </a:extLst>
          </p:cNvPr>
          <p:cNvSpPr txBox="1"/>
          <p:nvPr/>
        </p:nvSpPr>
        <p:spPr>
          <a:xfrm>
            <a:off x="2494090" y="4805158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计算机硬件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DB241-0C8C-00EB-53B4-C5D6F8D002B5}"/>
              </a:ext>
            </a:extLst>
          </p:cNvPr>
          <p:cNvSpPr txBox="1"/>
          <p:nvPr/>
        </p:nvSpPr>
        <p:spPr>
          <a:xfrm>
            <a:off x="2492581" y="4188014"/>
            <a:ext cx="1584357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机器语言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7DF77-16C3-ED97-2A19-481849D20406}"/>
              </a:ext>
            </a:extLst>
          </p:cNvPr>
          <p:cNvSpPr txBox="1"/>
          <p:nvPr/>
        </p:nvSpPr>
        <p:spPr>
          <a:xfrm>
            <a:off x="2629893" y="3463736"/>
            <a:ext cx="1367074" cy="506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高级语言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EA287AC-056F-7CB0-6D95-28C231460799}"/>
              </a:ext>
            </a:extLst>
          </p:cNvPr>
          <p:cNvCxnSpPr/>
          <p:nvPr/>
        </p:nvCxnSpPr>
        <p:spPr>
          <a:xfrm>
            <a:off x="2331128" y="4044668"/>
            <a:ext cx="19012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0FAAEC0-0055-81BC-33F1-4CD597BE2EBD}"/>
              </a:ext>
            </a:extLst>
          </p:cNvPr>
          <p:cNvCxnSpPr/>
          <p:nvPr/>
        </p:nvCxnSpPr>
        <p:spPr>
          <a:xfrm flipV="1">
            <a:off x="1813571" y="4759891"/>
            <a:ext cx="2880512" cy="16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6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77DD-34EB-40B1-0E84-693A0D9E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面向对象的程序设计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BD1-B6DE-C3F3-E626-21AE5580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000" dirty="0">
                <a:latin typeface="DIN Alternate" panose="020B0500000000000000" pitchFamily="34" charset="77"/>
              </a:rPr>
              <a:t>Object-oriented Programming</a:t>
            </a:r>
            <a:endParaRPr lang="en-US" sz="6000" dirty="0">
              <a:latin typeface="DIN Alternate" panose="020B0500000000000000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2622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BD1-B6DE-C3F3-E626-21AE5580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000" dirty="0">
                <a:solidFill>
                  <a:srgbClr val="00B0F0"/>
                </a:solidFill>
                <a:latin typeface="DIN Alternate" panose="020B0500000000000000" pitchFamily="34" charset="77"/>
              </a:rPr>
              <a:t>Object</a:t>
            </a:r>
            <a:r>
              <a:rPr lang="en-US" altLang="zh-CN" sz="6000" dirty="0">
                <a:latin typeface="DIN Alternate" panose="020B0500000000000000" pitchFamily="34" charset="77"/>
              </a:rPr>
              <a:t>-</a:t>
            </a:r>
            <a:r>
              <a:rPr lang="en-US" altLang="zh-CN" sz="6000" dirty="0">
                <a:solidFill>
                  <a:srgbClr val="7030A0"/>
                </a:solidFill>
                <a:latin typeface="DIN Alternate" panose="020B0500000000000000" pitchFamily="34" charset="77"/>
              </a:rPr>
              <a:t>oriented</a:t>
            </a:r>
            <a:r>
              <a:rPr lang="en-US" altLang="zh-CN" sz="6000" dirty="0">
                <a:latin typeface="DIN Alternate" panose="020B0500000000000000" pitchFamily="34" charset="77"/>
              </a:rPr>
              <a:t> </a:t>
            </a:r>
            <a:r>
              <a:rPr lang="en-US" altLang="zh-CN" sz="6000" dirty="0">
                <a:solidFill>
                  <a:schemeClr val="accent1">
                    <a:lumMod val="75000"/>
                  </a:schemeClr>
                </a:solidFill>
                <a:latin typeface="DIN Alternate" panose="020B0500000000000000" pitchFamily="34" charset="77"/>
              </a:rPr>
              <a:t>Programming</a:t>
            </a:r>
            <a:endParaRPr lang="en-US" sz="6000" dirty="0">
              <a:solidFill>
                <a:schemeClr val="accent1">
                  <a:lumMod val="75000"/>
                </a:schemeClr>
              </a:solidFill>
              <a:latin typeface="DIN Alternate" panose="020B0500000000000000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34503-2508-3173-847E-4361D9A10C06}"/>
              </a:ext>
            </a:extLst>
          </p:cNvPr>
          <p:cNvSpPr txBox="1"/>
          <p:nvPr/>
        </p:nvSpPr>
        <p:spPr>
          <a:xfrm>
            <a:off x="1176454" y="3611651"/>
            <a:ext cx="2458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B0F0"/>
                </a:solidFill>
              </a:rPr>
              <a:t>物体</a:t>
            </a:r>
            <a:r>
              <a:rPr lang="en-US" altLang="zh-CN" sz="3200" dirty="0">
                <a:solidFill>
                  <a:srgbClr val="00B0F0"/>
                </a:solidFill>
              </a:rPr>
              <a:t>/</a:t>
            </a:r>
            <a:r>
              <a:rPr lang="zh-CN" altLang="en-US" sz="3200" dirty="0">
                <a:solidFill>
                  <a:srgbClr val="00B0F0"/>
                </a:solidFill>
              </a:rPr>
              <a:t>对象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E68E3-6C0B-1582-5CF5-AFE26C80923E}"/>
              </a:ext>
            </a:extLst>
          </p:cNvPr>
          <p:cNvSpPr txBox="1"/>
          <p:nvPr/>
        </p:nvSpPr>
        <p:spPr>
          <a:xfrm>
            <a:off x="4486507" y="3612324"/>
            <a:ext cx="2458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7030A0"/>
                </a:solidFill>
                <a:latin typeface="DIN Alternate" panose="020B0500000000000000" pitchFamily="34" charset="77"/>
              </a:rPr>
              <a:t>导向的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E4A86-53FA-2348-A773-2A82BD686B56}"/>
              </a:ext>
            </a:extLst>
          </p:cNvPr>
          <p:cNvSpPr txBox="1"/>
          <p:nvPr/>
        </p:nvSpPr>
        <p:spPr>
          <a:xfrm>
            <a:off x="8300227" y="3612323"/>
            <a:ext cx="2458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DIN Alternate" panose="020B0500000000000000" pitchFamily="34" charset="77"/>
              </a:rPr>
              <a:t>程序设计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99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BD1-B6DE-C3F3-E626-21AE5580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000" dirty="0">
                <a:latin typeface="DIN Alternate" panose="020B0500000000000000" pitchFamily="34" charset="77"/>
              </a:rPr>
              <a:t>Object-oriented Programming</a:t>
            </a:r>
            <a:endParaRPr lang="en-US" sz="6000" dirty="0">
              <a:latin typeface="DIN Alternate" panose="020B0500000000000000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E68E3-6C0B-1582-5CF5-AFE26C80923E}"/>
              </a:ext>
            </a:extLst>
          </p:cNvPr>
          <p:cNvSpPr txBox="1"/>
          <p:nvPr/>
        </p:nvSpPr>
        <p:spPr>
          <a:xfrm>
            <a:off x="3499624" y="3416519"/>
            <a:ext cx="5192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DIN Alternate" panose="020B0500000000000000" pitchFamily="34" charset="77"/>
              </a:rPr>
              <a:t>以对象为导向的程序设计</a:t>
            </a:r>
            <a:endParaRPr lang="en-US" sz="32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1A38EF-B697-9837-7154-63A912E1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9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BD1-B6DE-C3F3-E626-21AE5580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000" dirty="0">
                <a:latin typeface="DIN Alternate" panose="020B0500000000000000" pitchFamily="34" charset="77"/>
              </a:rPr>
              <a:t>Object-oriented Programming</a:t>
            </a:r>
            <a:endParaRPr lang="en-US" sz="6000" dirty="0">
              <a:latin typeface="DIN Alternate" panose="020B0500000000000000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E68E3-6C0B-1582-5CF5-AFE26C80923E}"/>
              </a:ext>
            </a:extLst>
          </p:cNvPr>
          <p:cNvSpPr txBox="1"/>
          <p:nvPr/>
        </p:nvSpPr>
        <p:spPr>
          <a:xfrm>
            <a:off x="3499624" y="3416519"/>
            <a:ext cx="5192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DIN Alternate" panose="020B0500000000000000" pitchFamily="34" charset="77"/>
              </a:rPr>
              <a:t>以对象为导向的程序设计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B1D87D-9247-518B-5236-E7E3D8D3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75" y="4001294"/>
            <a:ext cx="4657578" cy="26052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E93B45-C234-30A3-BE3D-D8DB6E6D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48" y="4001294"/>
            <a:ext cx="4690075" cy="26052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367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1" y="115358"/>
            <a:ext cx="5001683" cy="836084"/>
          </a:xfrm>
        </p:spPr>
        <p:txBody>
          <a:bodyPr>
            <a:noAutofit/>
          </a:bodyPr>
          <a:lstStyle/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b="1" dirty="0"/>
              <a:t>从过程化到面向对象</a:t>
            </a:r>
            <a:endParaRPr lang="en-US" altLang="zh-CN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104437" y="1321421"/>
            <a:ext cx="4847630" cy="3451301"/>
          </a:xfrm>
          <a:ln w="38100">
            <a:noFill/>
          </a:ln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b="1" dirty="0">
                <a:latin typeface="HEITI SC MEDIUM" pitchFamily="2" charset="-128"/>
                <a:ea typeface="HEITI SC MEDIUM" pitchFamily="2" charset="-128"/>
              </a:rPr>
              <a:t>过程化程序设计</a:t>
            </a:r>
            <a:endParaRPr lang="en-US" altLang="zh-CN" b="1" dirty="0"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Heiti SC Medium" pitchFamily="2" charset="-128"/>
                <a:ea typeface="Heiti SC Medium" pitchFamily="2" charset="-128"/>
              </a:rPr>
              <a:t>将解决问题的过程分解成一个个程序设计语言能提供的功能，把</a:t>
            </a:r>
            <a:r>
              <a:rPr lang="zh-CN" altLang="en-US" sz="2100" b="1" dirty="0">
                <a:latin typeface="Heiti SC Medium" pitchFamily="2" charset="-128"/>
                <a:ea typeface="Heiti SC Medium" pitchFamily="2" charset="-128"/>
              </a:rPr>
              <a:t>每个步骤用一个语句代替</a:t>
            </a:r>
            <a:endParaRPr lang="en-US" altLang="zh-CN" sz="2100" b="1" dirty="0"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Heiti SC Medium" pitchFamily="2" charset="-128"/>
                <a:ea typeface="Heiti SC Medium" pitchFamily="2" charset="-128"/>
              </a:rPr>
              <a:t>设计时必须考虑到每一个细节</a:t>
            </a:r>
            <a:endParaRPr lang="en-US" altLang="zh-CN" sz="2100" dirty="0"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Heiti SC Medium" pitchFamily="2" charset="-128"/>
                <a:ea typeface="Heiti SC Medium" pitchFamily="2" charset="-128"/>
              </a:rPr>
              <a:t>让人去适应程序设计语言</a:t>
            </a:r>
            <a:endParaRPr lang="en-US" altLang="zh-CN" sz="2100" dirty="0">
              <a:latin typeface="Heiti SC Medium" pitchFamily="2" charset="-128"/>
              <a:ea typeface="Heiti SC Medium" pitchFamily="2" charset="-128"/>
            </a:endParaRP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Heiti SC Medium" pitchFamily="2" charset="-128"/>
                <a:ea typeface="Heiti SC Medium" pitchFamily="2" charset="-128"/>
              </a:rPr>
              <a:t>适合解决小问题</a:t>
            </a:r>
            <a:endParaRPr lang="en-US" altLang="zh-CN" sz="2100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8F08EC-9462-3E23-0CE3-E17EB04D162A}"/>
              </a:ext>
            </a:extLst>
          </p:cNvPr>
          <p:cNvSpPr txBox="1">
            <a:spLocks noChangeArrowheads="1"/>
          </p:cNvSpPr>
          <p:nvPr/>
        </p:nvSpPr>
        <p:spPr>
          <a:xfrm>
            <a:off x="6462958" y="1321421"/>
            <a:ext cx="5335032" cy="3451301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HEITI SC MEDIUM" pitchFamily="2" charset="-128"/>
                <a:ea typeface="HEITI SC MEDIUM" pitchFamily="2" charset="-128"/>
              </a:rPr>
              <a:t>面向对象程序设计</a:t>
            </a:r>
            <a:endParaRPr lang="en-US" altLang="zh-CN" b="1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面向对象编程的主要目标是将数据及其相关的函数绑定在一起。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让工具适应问题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大程序的解决方案</a:t>
            </a:r>
            <a:endParaRPr lang="en-US" altLang="zh-CN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855404-77E3-FFDE-5E52-D11E97B4F8D1}"/>
              </a:ext>
            </a:extLst>
          </p:cNvPr>
          <p:cNvGrpSpPr/>
          <p:nvPr/>
        </p:nvGrpSpPr>
        <p:grpSpPr>
          <a:xfrm>
            <a:off x="3084139" y="1469173"/>
            <a:ext cx="6534614" cy="3155795"/>
            <a:chOff x="3209808" y="2196790"/>
            <a:chExt cx="6534614" cy="315579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120462-C0F0-1D9D-466E-51D8EFF77151}"/>
                </a:ext>
              </a:extLst>
            </p:cNvPr>
            <p:cNvCxnSpPr>
              <a:cxnSpLocks/>
            </p:cNvCxnSpPr>
            <p:nvPr/>
          </p:nvCxnSpPr>
          <p:spPr>
            <a:xfrm>
              <a:off x="6419383" y="2196790"/>
              <a:ext cx="0" cy="31557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722A493-B98C-4C64-8785-4C6446C43C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3336" y="3251336"/>
              <a:ext cx="914400" cy="914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58824E-43CC-1735-5CF3-96606648092F}"/>
                </a:ext>
              </a:extLst>
            </p:cNvPr>
            <p:cNvSpPr txBox="1"/>
            <p:nvPr/>
          </p:nvSpPr>
          <p:spPr>
            <a:xfrm>
              <a:off x="3209808" y="3329615"/>
              <a:ext cx="653461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latin typeface="DIN Alternate" panose="020B0500000000000000" pitchFamily="34" charset="77"/>
                </a:rPr>
                <a:t>vs.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6717" y="169334"/>
            <a:ext cx="3107267" cy="916517"/>
          </a:xfrm>
        </p:spPr>
        <p:txBody>
          <a:bodyPr/>
          <a:lstStyle/>
          <a:p>
            <a:pPr algn="l">
              <a:defRPr/>
            </a:pPr>
            <a:r>
              <a:rPr lang="zh-CN" altLang="en-US" sz="3733" b="1" dirty="0"/>
              <a:t>对象与变量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912538" y="1371600"/>
            <a:ext cx="8434917" cy="4114800"/>
          </a:xfrm>
        </p:spPr>
        <p:txBody>
          <a:bodyPr>
            <a:normAutofit/>
          </a:bodyPr>
          <a:lstStyle/>
          <a:p>
            <a:pPr marL="334425" indent="-334425">
              <a:lnSpc>
                <a:spcPct val="150000"/>
              </a:lnSpc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对象与变量都是程序中处理某一类问题的工具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91625" lvl="1" indent="-334425">
              <a:lnSpc>
                <a:spcPct val="150000"/>
              </a:lnSpc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变量是程序设计语言做好的工具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91625" lvl="1" indent="-334425">
              <a:lnSpc>
                <a:spcPct val="150000"/>
              </a:lnSpc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对象是程序员</a:t>
            </a:r>
            <a:r>
              <a:rPr lang="zh-CN" alt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自己创建的工具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1" y="120651"/>
            <a:ext cx="7505700" cy="101176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733" dirty="0"/>
              <a:t>面向对象的程序设计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26634"/>
            <a:ext cx="10363200" cy="4635500"/>
          </a:xfrm>
        </p:spPr>
        <p:txBody>
          <a:bodyPr>
            <a:normAutofit/>
          </a:bodyPr>
          <a:lstStyle/>
          <a:p>
            <a:pPr marL="334425" indent="-334425">
              <a:spcBef>
                <a:spcPts val="1600"/>
              </a:spcBef>
            </a:pPr>
            <a:r>
              <a:rPr lang="zh-CN" altLang="en-US" sz="2800" b="1" dirty="0"/>
              <a:t>为程序员提供了创建工具的功能 </a:t>
            </a:r>
          </a:p>
          <a:p>
            <a:pPr marL="334425" indent="-334425">
              <a:spcBef>
                <a:spcPts val="1600"/>
              </a:spcBef>
            </a:pPr>
            <a:r>
              <a:rPr lang="zh-CN" altLang="en-US" sz="2800" b="1" dirty="0"/>
              <a:t>解决问题过程</a:t>
            </a:r>
          </a:p>
          <a:p>
            <a:pPr marL="774523" lvl="1" indent="-239178">
              <a:spcBef>
                <a:spcPts val="8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首先考虑的是需要哪些工具</a:t>
            </a:r>
          </a:p>
          <a:p>
            <a:pPr marL="774523" lvl="1" indent="-239178">
              <a:spcBef>
                <a:spcPts val="8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创建或收集这些工具</a:t>
            </a:r>
          </a:p>
          <a:p>
            <a:pPr marL="774523" lvl="1" indent="-239178">
              <a:spcBef>
                <a:spcPts val="8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设计用这些工具解决问题的过程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5984" y="141818"/>
            <a:ext cx="5266267" cy="78316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733" dirty="0"/>
              <a:t>过程化</a:t>
            </a:r>
            <a:r>
              <a:rPr lang="en-US" altLang="zh-CN" sz="3733" dirty="0" err="1"/>
              <a:t>vs</a:t>
            </a:r>
            <a:r>
              <a:rPr lang="zh-CN" altLang="en-US" sz="3733" dirty="0"/>
              <a:t>面向对象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138456" y="1795066"/>
            <a:ext cx="4801314" cy="3501764"/>
          </a:xfrm>
          <a:ln w="28575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zh-CN" altLang="en-US" b="1" dirty="0"/>
              <a:t>过程化的设计方法：从功能和过程着手</a:t>
            </a:r>
            <a:endParaRPr lang="en-US" altLang="zh-CN" b="1" dirty="0"/>
          </a:p>
          <a:p>
            <a:pPr marL="334425" indent="-334425">
              <a:spcBef>
                <a:spcPts val="800"/>
              </a:spcBef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输入圆的半径或直径</a:t>
            </a:r>
            <a:endParaRPr lang="en-US" altLang="zh-CN" sz="1867" dirty="0">
              <a:latin typeface="微软雅黑" pitchFamily="34" charset="-122"/>
              <a:ea typeface="微软雅黑" pitchFamily="34" charset="-122"/>
            </a:endParaRPr>
          </a:p>
          <a:p>
            <a:pPr marL="334425" indent="-334425">
              <a:spcBef>
                <a:spcPts val="800"/>
              </a:spcBef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en-US" altLang="zh-CN" sz="1867" dirty="0">
                <a:latin typeface="微软雅黑" pitchFamily="34" charset="-122"/>
                <a:ea typeface="微软雅黑" pitchFamily="34" charset="-122"/>
              </a:rPr>
              <a:t>S  =  πr</a:t>
            </a:r>
            <a:r>
              <a:rPr lang="en-US" altLang="zh-CN" sz="1867" baseline="30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867" dirty="0">
                <a:latin typeface="微软雅黑" pitchFamily="34" charset="-122"/>
                <a:ea typeface="微软雅黑" pitchFamily="34" charset="-122"/>
              </a:rPr>
              <a:t>C =  2πr</a:t>
            </a: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计算面积和周长</a:t>
            </a:r>
            <a:endParaRPr lang="en-US" altLang="zh-CN" sz="1867" dirty="0">
              <a:latin typeface="微软雅黑" pitchFamily="34" charset="-122"/>
              <a:ea typeface="微软雅黑" pitchFamily="34" charset="-122"/>
            </a:endParaRPr>
          </a:p>
          <a:p>
            <a:pPr marL="334425" indent="-334425">
              <a:spcBef>
                <a:spcPts val="800"/>
              </a:spcBef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输出计算结果 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43339" y="1268711"/>
            <a:ext cx="4801314" cy="461665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ea typeface="幼圆" pitchFamily="49" charset="-122"/>
              </a:rPr>
              <a:t>以计算圆的面积和周长的问题为例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9A070C-DA6F-F6DC-A8D4-BDAE29FA8C22}"/>
              </a:ext>
            </a:extLst>
          </p:cNvPr>
          <p:cNvSpPr txBox="1">
            <a:spLocks noChangeArrowheads="1"/>
          </p:cNvSpPr>
          <p:nvPr/>
        </p:nvSpPr>
        <p:spPr>
          <a:xfrm>
            <a:off x="7025268" y="1795066"/>
            <a:ext cx="4597166" cy="35017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None/>
            </a:pPr>
            <a:r>
              <a:rPr lang="zh-CN" altLang="en-US" b="1" dirty="0"/>
              <a:t>面向对象的程序设计方法：</a:t>
            </a:r>
          </a:p>
          <a:p>
            <a:pPr>
              <a:spcBef>
                <a:spcPts val="800"/>
              </a:spcBef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需要什么工具。如果计算机能提供给我们一个称为圆的工具，它可以以某种方式保存一个圆，告诉我们有关这个圆的一些特性，如它的半径、直径、面积和周长</a:t>
            </a:r>
          </a:p>
          <a:p>
            <a:pPr>
              <a:spcBef>
                <a:spcPts val="800"/>
              </a:spcBef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定义一个圆类型的变量，以他提供的方式将一个圆保存在该变量中，然后让这个变量告诉我们这个圆的面积和周长是多少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面向对象的程序设计的三个特点 </a:t>
            </a:r>
          </a:p>
        </p:txBody>
      </p:sp>
      <p:pic>
        <p:nvPicPr>
          <p:cNvPr id="5" name="Picture 2" descr="Wrench PNG transparent image download, size: 2399x1196px">
            <a:extLst>
              <a:ext uri="{FF2B5EF4-FFF2-40B4-BE49-F238E27FC236}">
                <a16:creationId xmlns:a16="http://schemas.microsoft.com/office/drawing/2014/main" id="{63CA6AAB-FDF6-2D5E-DCBC-7739AB114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3317"/>
            <a:ext cx="12192000" cy="607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78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18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82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25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Wrench PNG transparent image download, size: 2399x1196px">
            <a:extLst>
              <a:ext uri="{FF2B5EF4-FFF2-40B4-BE49-F238E27FC236}">
                <a16:creationId xmlns:a16="http://schemas.microsoft.com/office/drawing/2014/main" id="{737FDC39-1BC6-6655-24EF-87E462BE2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3317"/>
            <a:ext cx="12192000" cy="607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413E8C-5B03-3DB8-944F-A241B55C22FE}"/>
              </a:ext>
            </a:extLst>
          </p:cNvPr>
          <p:cNvSpPr txBox="1"/>
          <p:nvPr/>
        </p:nvSpPr>
        <p:spPr>
          <a:xfrm>
            <a:off x="3910240" y="4189884"/>
            <a:ext cx="494688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为了使用工具，你是否需要制作这个工具？</a:t>
            </a:r>
            <a:endParaRPr lang="en-US" altLang="zh-CN" sz="2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如果有其他人找你借工具？</a:t>
            </a:r>
            <a:endParaRPr lang="en-US" altLang="zh-CN" sz="2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如果需要有更棒的工具，我们应该怎么设计？</a:t>
            </a:r>
            <a:endParaRPr lang="en-US" altLang="zh-CN" sz="2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endParaRPr lang="zh-CN" altLang="en-US" sz="2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14D3B3-E64F-B7F6-BC0D-C87881CC9701}"/>
              </a:ext>
            </a:extLst>
          </p:cNvPr>
          <p:cNvSpPr txBox="1"/>
          <p:nvPr/>
        </p:nvSpPr>
        <p:spPr>
          <a:xfrm>
            <a:off x="6880412" y="4619544"/>
            <a:ext cx="5531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隐藏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abstraction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：在程序设计中，抽象提供了访问权限，同时隐藏了可能使访问更具挑战性的细节）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EB0C3-A171-BF7B-8D97-14B4C58CEE34}"/>
              </a:ext>
            </a:extLst>
          </p:cNvPr>
          <p:cNvSpPr txBox="1"/>
          <p:nvPr/>
        </p:nvSpPr>
        <p:spPr>
          <a:xfrm>
            <a:off x="8462680" y="5231706"/>
            <a:ext cx="315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重用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355F3-A815-A0A4-C891-0C928AF33D35}"/>
              </a:ext>
            </a:extLst>
          </p:cNvPr>
          <p:cNvSpPr txBox="1"/>
          <p:nvPr/>
        </p:nvSpPr>
        <p:spPr>
          <a:xfrm>
            <a:off x="7082116" y="6213200"/>
            <a:ext cx="315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继承</a:t>
            </a:r>
            <a:endParaRPr lang="en-US" dirty="0"/>
          </a:p>
        </p:txBody>
      </p:sp>
      <p:pic>
        <p:nvPicPr>
          <p:cNvPr id="15" name="Picture 2" descr="Wrench | PNG All">
            <a:extLst>
              <a:ext uri="{FF2B5EF4-FFF2-40B4-BE49-F238E27FC236}">
                <a16:creationId xmlns:a16="http://schemas.microsoft.com/office/drawing/2014/main" id="{6EE25505-8F78-DDC0-94CA-863986186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11174">
            <a:off x="-40555" y="-501170"/>
            <a:ext cx="11947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5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-0.1078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E9937-0FD1-C42D-419E-284F2FDA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rench | PNG All">
            <a:extLst>
              <a:ext uri="{FF2B5EF4-FFF2-40B4-BE49-F238E27FC236}">
                <a16:creationId xmlns:a16="http://schemas.microsoft.com/office/drawing/2014/main" id="{29EEF00D-DAF2-3F97-B8ED-2DD39C7F3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50412">
            <a:off x="-1031073" y="-15796"/>
            <a:ext cx="11947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0EBE88-D809-B769-1EFD-DD24A0440D66}"/>
              </a:ext>
            </a:extLst>
          </p:cNvPr>
          <p:cNvSpPr txBox="1"/>
          <p:nvPr/>
        </p:nvSpPr>
        <p:spPr>
          <a:xfrm>
            <a:off x="4501912" y="713317"/>
            <a:ext cx="59851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为了使用工具，你是否需要制作这个工具？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如果有同学找你借工具？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如果需要有更棒的工具，我们应该怎么设计？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Bef>
                <a:spcPts val="800"/>
              </a:spcBef>
              <a:buAutoNum type="arabicPeriod"/>
            </a:pP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C50FC-57FB-BAB0-FAA7-BB1B80AC1D06}"/>
              </a:ext>
            </a:extLst>
          </p:cNvPr>
          <p:cNvSpPr txBox="1"/>
          <p:nvPr/>
        </p:nvSpPr>
        <p:spPr>
          <a:xfrm>
            <a:off x="4997824" y="2367154"/>
            <a:ext cx="63021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zh-CN" altLang="en-US" b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程序设计</a:t>
            </a:r>
            <a:r>
              <a:rPr lang="zh-CN" altLang="en-US" b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中，抽象提供了访问权限，同时隐藏了可能使访问更具挑战性的细节</a:t>
            </a:r>
          </a:p>
          <a:p>
            <a:br>
              <a:rPr lang="zh-CN" altLang="en-US" dirty="0">
                <a:effectLst/>
              </a:rPr>
            </a:br>
            <a:endParaRPr lang="zh-CN" altLang="en-US" dirty="0">
              <a:effectLst/>
            </a:endParaRPr>
          </a:p>
        </p:txBody>
      </p:sp>
      <p:pic>
        <p:nvPicPr>
          <p:cNvPr id="5122" name="Picture 2" descr="Wrench PNG transparent image download, size: 2399x1196px">
            <a:extLst>
              <a:ext uri="{FF2B5EF4-FFF2-40B4-BE49-F238E27FC236}">
                <a16:creationId xmlns:a16="http://schemas.microsoft.com/office/drawing/2014/main" id="{4175D2FE-082B-4B5C-28F9-EE8056569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89246">
            <a:off x="0" y="388938"/>
            <a:ext cx="12192000" cy="607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583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F34E-494A-8647-898D-ED52EC54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>
            <a:extLst>
              <a:ext uri="{FF2B5EF4-FFF2-40B4-BE49-F238E27FC236}">
                <a16:creationId xmlns:a16="http://schemas.microsoft.com/office/drawing/2014/main" id="{C7897242-98AA-EADF-18C1-F936C10E7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面向对象的程序设计的三个特点 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459C8CA-1C87-6B3C-989E-B0068285EF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6757" y="1259650"/>
            <a:ext cx="6882341" cy="5394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代码重用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实现隐藏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继承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621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面向对象的程序设计的特点：代码重用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86757" y="1259650"/>
            <a:ext cx="7017127" cy="5394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代码重用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圆类型也可以被那些也需要处理圆的其他程序员使用 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endParaRPr lang="zh-CN" altLang="en-US" sz="1867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面向对象的程序设计的特点：实现隐藏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86757" y="1259650"/>
            <a:ext cx="7017127" cy="53942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600"/>
              </a:spcBef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实现隐藏</a:t>
            </a:r>
          </a:p>
          <a:p>
            <a:pPr>
              <a:lnSpc>
                <a:spcPct val="110000"/>
              </a:lnSpc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类的创建者创造新的工具</a:t>
            </a:r>
          </a:p>
          <a:p>
            <a:pPr>
              <a:lnSpc>
                <a:spcPct val="110000"/>
              </a:lnSpc>
            </a:pPr>
            <a:r>
              <a:rPr lang="zh-CN" altLang="en-US" sz="1867" dirty="0">
                <a:latin typeface="微软雅黑" pitchFamily="34" charset="-122"/>
                <a:ea typeface="微软雅黑" pitchFamily="34" charset="-122"/>
              </a:rPr>
              <a:t>类的使用者则收集已有的工具快速解决所需解决的问题：这些工具是如何实现的，类的使用者不需要知道</a:t>
            </a:r>
            <a:endParaRPr lang="en-US" altLang="zh-CN" sz="1867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2601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面向对象的程序设计的特点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86757" y="1259650"/>
            <a:ext cx="6882341" cy="5394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继承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6" name="Picture 2" descr="inheritance">
            <a:extLst>
              <a:ext uri="{FF2B5EF4-FFF2-40B4-BE49-F238E27FC236}">
                <a16:creationId xmlns:a16="http://schemas.microsoft.com/office/drawing/2014/main" id="{219E0314-A942-20F9-D804-BE486F506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27" y="2034699"/>
            <a:ext cx="5082076" cy="154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C9EB940-A10D-6217-03CF-6152810481F8}"/>
              </a:ext>
            </a:extLst>
          </p:cNvPr>
          <p:cNvSpPr txBox="1"/>
          <p:nvPr/>
        </p:nvSpPr>
        <p:spPr>
          <a:xfrm>
            <a:off x="1389998" y="2460136"/>
            <a:ext cx="2406722" cy="41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kern="0" dirty="0"/>
              <a:t>为车辆设计一个类</a:t>
            </a:r>
          </a:p>
        </p:txBody>
      </p:sp>
    </p:spTree>
    <p:extLst>
      <p:ext uri="{BB962C8B-B14F-4D97-AF65-F5344CB8AC3E}">
        <p14:creationId xmlns:p14="http://schemas.microsoft.com/office/powerpoint/2010/main" val="186067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3875" y="350309"/>
            <a:ext cx="9991725" cy="7260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面向对象的程序设计的特点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86757" y="1259650"/>
            <a:ext cx="6882341" cy="5394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继承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6" name="Picture 2" descr="inheritance">
            <a:extLst>
              <a:ext uri="{FF2B5EF4-FFF2-40B4-BE49-F238E27FC236}">
                <a16:creationId xmlns:a16="http://schemas.microsoft.com/office/drawing/2014/main" id="{219E0314-A942-20F9-D804-BE486F506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27" y="2034699"/>
            <a:ext cx="5082076" cy="154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C9EB940-A10D-6217-03CF-6152810481F8}"/>
              </a:ext>
            </a:extLst>
          </p:cNvPr>
          <p:cNvSpPr txBox="1"/>
          <p:nvPr/>
        </p:nvSpPr>
        <p:spPr>
          <a:xfrm>
            <a:off x="1389998" y="2460136"/>
            <a:ext cx="2406722" cy="41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为车辆设计一个类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EFEE01-9E75-7E44-C8A4-5CB1CF5D123F}"/>
              </a:ext>
            </a:extLst>
          </p:cNvPr>
          <p:cNvSpPr txBox="1"/>
          <p:nvPr/>
        </p:nvSpPr>
        <p:spPr>
          <a:xfrm>
            <a:off x="1389998" y="4012577"/>
            <a:ext cx="2406722" cy="41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一个明显的更优方案</a:t>
            </a:r>
          </a:p>
        </p:txBody>
      </p:sp>
      <p:pic>
        <p:nvPicPr>
          <p:cNvPr id="39" name="Picture 4" descr="inheritance2">
            <a:extLst>
              <a:ext uri="{FF2B5EF4-FFF2-40B4-BE49-F238E27FC236}">
                <a16:creationId xmlns:a16="http://schemas.microsoft.com/office/drawing/2014/main" id="{C15964B6-81A0-B7DB-1403-89A569C3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28" y="3885275"/>
            <a:ext cx="5363903" cy="23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7E0174-7622-00F2-9C57-EB1D7E858D83}"/>
              </a:ext>
            </a:extLst>
          </p:cNvPr>
          <p:cNvSpPr/>
          <p:nvPr/>
        </p:nvSpPr>
        <p:spPr>
          <a:xfrm>
            <a:off x="4527926" y="3069786"/>
            <a:ext cx="1196217" cy="24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78E662-30F3-D481-05C6-8EE621D0C581}"/>
              </a:ext>
            </a:extLst>
          </p:cNvPr>
          <p:cNvSpPr/>
          <p:nvPr/>
        </p:nvSpPr>
        <p:spPr>
          <a:xfrm>
            <a:off x="6272970" y="3069786"/>
            <a:ext cx="1196217" cy="24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AE71F7-7D2C-B43C-72D3-128026E091A2}"/>
              </a:ext>
            </a:extLst>
          </p:cNvPr>
          <p:cNvSpPr/>
          <p:nvPr/>
        </p:nvSpPr>
        <p:spPr>
          <a:xfrm>
            <a:off x="7969098" y="3069786"/>
            <a:ext cx="1196217" cy="24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BBFEE-7E74-D693-FCA8-3E810FC38035}"/>
              </a:ext>
            </a:extLst>
          </p:cNvPr>
          <p:cNvSpPr/>
          <p:nvPr/>
        </p:nvSpPr>
        <p:spPr>
          <a:xfrm>
            <a:off x="6338418" y="4906700"/>
            <a:ext cx="1196217" cy="24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5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/>
          </p:cNvSpPr>
          <p:nvPr>
            <p:ph type="title"/>
          </p:nvPr>
        </p:nvSpPr>
        <p:spPr>
          <a:xfrm>
            <a:off x="3503613" y="333375"/>
            <a:ext cx="5472112" cy="1143000"/>
          </a:xfrm>
        </p:spPr>
        <p:txBody>
          <a:bodyPr vert="horz" wrap="square" lIns="91440" tIns="45720" rIns="91440" bIns="45720" anchor="ctr"/>
          <a:lstStyle/>
          <a:p>
            <a:pPr marL="838200" indent="-838200" algn="ctr" eaLnBrk="1" hangingPunct="1"/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章 创建新的类型</a:t>
            </a:r>
          </a:p>
        </p:txBody>
      </p:sp>
      <p:sp>
        <p:nvSpPr>
          <p:cNvPr id="2051" name="Rectangle 3"/>
          <p:cNvSpPr>
            <a:spLocks noGrp="1"/>
          </p:cNvSpPr>
          <p:nvPr>
            <p:ph idx="1" hasCustomPrompt="1"/>
          </p:nvPr>
        </p:nvSpPr>
        <p:spPr>
          <a:xfrm>
            <a:off x="1406322" y="1335594"/>
            <a:ext cx="4535488" cy="4831742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新的数据类型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类（类型）的定义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对象的使用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对象的构造与析构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常量对象与</a:t>
            </a:r>
            <a:r>
              <a:rPr lang="en-US" altLang="zh-CN" dirty="0"/>
              <a:t>const</a:t>
            </a:r>
            <a:r>
              <a:rPr lang="zh-CN" altLang="en-US" dirty="0"/>
              <a:t>成员函数 </a:t>
            </a: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en-US" dirty="0"/>
              <a:t>常量数据成员 </a:t>
            </a:r>
          </a:p>
          <a:p>
            <a:pPr lvl="0">
              <a:lnSpc>
                <a:spcPct val="120000"/>
              </a:lnSpc>
            </a:pPr>
            <a:r>
              <a:rPr lang="zh-CN" altLang="en-US" dirty="0"/>
              <a:t>静态数据成员与静态成员函数 </a:t>
            </a:r>
          </a:p>
          <a:p>
            <a:pPr lvl="0">
              <a:lnSpc>
                <a:spcPct val="120000"/>
              </a:lnSpc>
            </a:pPr>
            <a:r>
              <a:rPr lang="zh-CN" altLang="en-US" dirty="0"/>
              <a:t>友元 </a:t>
            </a: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en-US" dirty="0"/>
              <a:t>面向对象程序设计</a:t>
            </a: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/>
          </p:cNvSpPr>
          <p:nvPr>
            <p:ph type="title"/>
          </p:nvPr>
        </p:nvSpPr>
        <p:spPr>
          <a:xfrm>
            <a:off x="695325" y="41275"/>
            <a:ext cx="42799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新的数据类型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839788" y="1093788"/>
            <a:ext cx="9793288" cy="52149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固有数据类型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基本数据类型：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double, char, bool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复杂数据类型：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a[10], char s[10],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*p,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&amp;b=a;</a:t>
            </a:r>
          </a:p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如何扩展新的数据类型？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通过结构数据类型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自定义数据类型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{year, month, day};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日期类型及其变量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Rational{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den };     Rational r;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有理数类型及其变量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Circle{double radius};               Circle c;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圆类型及其变量？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单值！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/>
          </p:cNvSpPr>
          <p:nvPr>
            <p:ph type="title"/>
          </p:nvPr>
        </p:nvSpPr>
        <p:spPr>
          <a:xfrm>
            <a:off x="695325" y="41275"/>
            <a:ext cx="42799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新的数据类型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839788" y="1093788"/>
            <a:ext cx="9793288" cy="52149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固有数据类型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基本数据类型：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double, char, bool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复杂数据类型：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a[10], char s[10],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*p,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&amp;b=a;</a:t>
            </a:r>
          </a:p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通过结构体扩展新的数据类型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自定义数据类型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{year, month, day};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日期类型及其变量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Rational{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den };     Rational r;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有理数类型及其变量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511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1200150" y="409575"/>
            <a:ext cx="9577387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如何定义及处理新型数据？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613DE-10DE-E272-90AA-155179C98B8E}"/>
              </a:ext>
            </a:extLst>
          </p:cNvPr>
          <p:cNvSpPr txBox="1"/>
          <p:nvPr/>
        </p:nvSpPr>
        <p:spPr>
          <a:xfrm>
            <a:off x="1200150" y="1635882"/>
            <a:ext cx="8568318" cy="57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通过结构体扩展新的数据类型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6773E-C939-6784-E302-D408C716CE7E}"/>
              </a:ext>
            </a:extLst>
          </p:cNvPr>
          <p:cNvSpPr txBox="1"/>
          <p:nvPr/>
        </p:nvSpPr>
        <p:spPr>
          <a:xfrm>
            <a:off x="1400872" y="2659566"/>
            <a:ext cx="8568318" cy="1304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7200" dirty="0">
                <a:latin typeface="DIN Alternate" panose="020B0500000000000000" pitchFamily="34" charset="77"/>
              </a:rPr>
              <a:t>a</a:t>
            </a: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IN Alternate" panose="020B0500000000000000" pitchFamily="34" charset="77"/>
              </a:rPr>
              <a:t>[0], a[1], …, a[n]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DIN Alternate" panose="020B0500000000000000" pitchFamily="34" charset="7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1200150" y="409575"/>
            <a:ext cx="9577387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如何定义及处理新型数据？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613DE-10DE-E272-90AA-155179C98B8E}"/>
              </a:ext>
            </a:extLst>
          </p:cNvPr>
          <p:cNvSpPr txBox="1"/>
          <p:nvPr/>
        </p:nvSpPr>
        <p:spPr>
          <a:xfrm>
            <a:off x="1200150" y="1635882"/>
            <a:ext cx="8568318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通过结构体扩展新的数据类型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6773E-C939-6784-E302-D408C716CE7E}"/>
              </a:ext>
            </a:extLst>
          </p:cNvPr>
          <p:cNvSpPr txBox="1"/>
          <p:nvPr/>
        </p:nvSpPr>
        <p:spPr>
          <a:xfrm>
            <a:off x="1400872" y="2659566"/>
            <a:ext cx="8568318" cy="1304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7200" dirty="0">
                <a:latin typeface="DIN Alternate" panose="020B0500000000000000" pitchFamily="34" charset="77"/>
              </a:rPr>
              <a:t>a</a:t>
            </a: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IN Alternate" panose="020B0500000000000000" pitchFamily="34" charset="77"/>
              </a:rPr>
              <a:t>[0], a[1], …, a[n]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DIN Alternate" panose="020B0500000000000000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C4317-86FF-63DD-5620-0949A4C783DF}"/>
              </a:ext>
            </a:extLst>
          </p:cNvPr>
          <p:cNvSpPr txBox="1"/>
          <p:nvPr/>
        </p:nvSpPr>
        <p:spPr>
          <a:xfrm>
            <a:off x="1400872" y="4529254"/>
            <a:ext cx="6282318" cy="91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能否让我来确定下标的范围？而且在使用时确定？它能不能自动帮我检查下标越界？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9376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1200150" y="409575"/>
            <a:ext cx="9577387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如何定义及处理新型数据？</a:t>
            </a:r>
          </a:p>
        </p:txBody>
      </p:sp>
      <p:sp>
        <p:nvSpPr>
          <p:cNvPr id="4099" name="Rectangle 3"/>
          <p:cNvSpPr>
            <a:spLocks noGrp="1"/>
          </p:cNvSpPr>
          <p:nvPr>
            <p:ph idx="1" hasCustomPrompt="1"/>
          </p:nvPr>
        </p:nvSpPr>
        <p:spPr>
          <a:xfrm>
            <a:off x="1200150" y="2847975"/>
            <a:ext cx="9504363" cy="360045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设计一个动态实型数组类型，该数组满足三个要求：</a:t>
            </a:r>
          </a:p>
          <a:p>
            <a:pPr marL="971550" lvl="1" indent="-514350" eaLnBrk="1" hangingPunct="1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可以任意指定下标范围；</a:t>
            </a:r>
          </a:p>
          <a:p>
            <a:pPr marL="971550" lvl="1" indent="-514350" eaLnBrk="1" hangingPunct="1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下标范围可在运行时确定；</a:t>
            </a:r>
          </a:p>
          <a:p>
            <a:pPr marL="971550" lvl="1" indent="-514350" eaLnBrk="1" hangingPunct="1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使用下标变量时会检查下标的越界。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613DE-10DE-E272-90AA-155179C98B8E}"/>
              </a:ext>
            </a:extLst>
          </p:cNvPr>
          <p:cNvSpPr txBox="1"/>
          <p:nvPr/>
        </p:nvSpPr>
        <p:spPr>
          <a:xfrm>
            <a:off x="1200150" y="1635882"/>
            <a:ext cx="8568318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通过结构体扩展新的数据类型</a:t>
            </a:r>
          </a:p>
        </p:txBody>
      </p:sp>
    </p:spTree>
    <p:extLst>
      <p:ext uri="{BB962C8B-B14F-4D97-AF65-F5344CB8AC3E}">
        <p14:creationId xmlns:p14="http://schemas.microsoft.com/office/powerpoint/2010/main" val="210612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/>
          </p:cNvSpPr>
          <p:nvPr>
            <p:ph type="title"/>
          </p:nvPr>
        </p:nvSpPr>
        <p:spPr>
          <a:xfrm>
            <a:off x="1128132" y="16510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数组的处理要求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042481" y="1308100"/>
            <a:ext cx="8855075" cy="530860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数组的保存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数组需要空间。执行时动态分配。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数组的下标由用户指定，需要保存下标的上下界。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用结构体把它们封装在一起。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数组操作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给数组分配空间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给数组元素赋值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读取某数组元素的值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释放动态空间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/>
          <p:nvPr/>
        </p:nvSpPr>
        <p:spPr>
          <a:xfrm>
            <a:off x="1355969" y="2057975"/>
            <a:ext cx="6794500" cy="1479444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一、类型定义及函数声明 （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2" charset="-122"/>
              </a:rPr>
              <a:t>array.h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二、函数定义（实现）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2" charset="-122"/>
              </a:rPr>
              <a:t>array.cpp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)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三、类型的使用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(main.cpp)</a:t>
            </a:r>
          </a:p>
        </p:txBody>
      </p:sp>
      <p:sp>
        <p:nvSpPr>
          <p:cNvPr id="614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55969" y="337905"/>
            <a:ext cx="5439019" cy="11430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个关键组成部分：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/>
          <p:nvPr/>
        </p:nvSpPr>
        <p:spPr>
          <a:xfrm>
            <a:off x="1392982" y="1161847"/>
            <a:ext cx="6794500" cy="509270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#ifndef _array_h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#define _array_h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可指定下标范围的数组的存储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struct DoubleArray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{ 	int low;  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	int high;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	double *storage;</a:t>
            </a: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92982" y="205880"/>
            <a:ext cx="8569325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iti SC Medium" pitchFamily="2" charset="-128"/>
                <a:ea typeface="Heiti SC Medium" pitchFamily="2" charset="-128"/>
              </a:rPr>
              <a:t>类型定义放头文件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iti SC Medium" pitchFamily="2" charset="-128"/>
                <a:ea typeface="Heiti SC Medium" pitchFamily="2" charset="-128"/>
              </a:rPr>
              <a:t>Array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iti SC Medium" pitchFamily="2" charset="-128"/>
                <a:ea typeface="Heiti SC Medium" pitchFamily="2" charset="-128"/>
              </a:rPr>
              <a:t>中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iti SC Medium" pitchFamily="2" charset="-128"/>
                <a:ea typeface="Heiti SC Medium" pitchFamily="2" charset="-128"/>
              </a:rPr>
              <a:t>---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iti SC Medium" pitchFamily="2" charset="-128"/>
                <a:ea typeface="Heiti SC Medium" pitchFamily="2" charset="-128"/>
              </a:rPr>
              <a:t>作为库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9CA83A-B717-1247-816E-5B3B436DE1F1}"/>
              </a:ext>
            </a:extLst>
          </p:cNvPr>
          <p:cNvGrpSpPr/>
          <p:nvPr/>
        </p:nvGrpSpPr>
        <p:grpSpPr>
          <a:xfrm>
            <a:off x="8065518" y="3210369"/>
            <a:ext cx="1462644" cy="1805894"/>
            <a:chOff x="9070769" y="3429000"/>
            <a:chExt cx="1462644" cy="1805894"/>
          </a:xfrm>
        </p:grpSpPr>
        <p:pic>
          <p:nvPicPr>
            <p:cNvPr id="5" name="Graphic 4" descr="Programmer">
              <a:extLst>
                <a:ext uri="{FF2B5EF4-FFF2-40B4-BE49-F238E27FC236}">
                  <a16:creationId xmlns:a16="http://schemas.microsoft.com/office/drawing/2014/main" id="{FF61D5AB-C074-8E4D-B0E8-4D5F7258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70769" y="3429000"/>
              <a:ext cx="1462644" cy="146264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AEECA4-FE60-D04A-856B-AF68D512DF90}"/>
                </a:ext>
              </a:extLst>
            </p:cNvPr>
            <p:cNvSpPr/>
            <p:nvPr/>
          </p:nvSpPr>
          <p:spPr>
            <a:xfrm>
              <a:off x="9070769" y="4818268"/>
              <a:ext cx="1462643" cy="416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代码演示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6A7F989-3A9F-4D45-BD3A-77250E09EBC3}"/>
              </a:ext>
            </a:extLst>
          </p:cNvPr>
          <p:cNvSpPr/>
          <p:nvPr/>
        </p:nvSpPr>
        <p:spPr>
          <a:xfrm>
            <a:off x="7203464" y="4884826"/>
            <a:ext cx="31867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array.h</a:t>
            </a:r>
            <a:endParaRPr lang="en-US" dirty="0"/>
          </a:p>
          <a:p>
            <a:pPr algn="ctr"/>
            <a:r>
              <a:rPr lang="en-US" dirty="0" err="1"/>
              <a:t>array.cpp</a:t>
            </a:r>
            <a:endParaRPr lang="en-US" dirty="0"/>
          </a:p>
          <a:p>
            <a:pPr algn="ctr"/>
            <a:r>
              <a:rPr lang="en-US" dirty="0" err="1"/>
              <a:t>main.cpp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2F17-F388-3869-EF0D-A02BCE6A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168"/>
            <a:ext cx="10515600" cy="1325563"/>
          </a:xfrm>
        </p:spPr>
        <p:txBody>
          <a:bodyPr/>
          <a:lstStyle/>
          <a:p>
            <a:r>
              <a:rPr lang="zh-CN" altLang="en-US" dirty="0"/>
              <a:t>以普通（外部）函数实现数据的处理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26DEAC-8A24-758E-2469-0A52BBFDBE08}"/>
              </a:ext>
            </a:extLst>
          </p:cNvPr>
          <p:cNvSpPr/>
          <p:nvPr/>
        </p:nvSpPr>
        <p:spPr>
          <a:xfrm>
            <a:off x="838200" y="1230993"/>
            <a:ext cx="10656887" cy="57435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函数声明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根据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low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high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为数组分配空间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bool initialize(DoubleArray &amp;arr, int low, int high);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设置数组元素的值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bool insert(const DoubleArray &amp;arr, int index, double value);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取数组元素的值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bool fetch(const DoubleArray &amp;arr, int index, double &amp;value);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void cleanup(const DoubleArray &amp;arr);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回收数组空间</a:t>
            </a:r>
          </a:p>
          <a:p>
            <a:pPr marL="0" lvl="0" indent="0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#endif </a:t>
            </a:r>
          </a:p>
        </p:txBody>
      </p:sp>
    </p:spTree>
    <p:extLst>
      <p:ext uri="{BB962C8B-B14F-4D97-AF65-F5344CB8AC3E}">
        <p14:creationId xmlns:p14="http://schemas.microsoft.com/office/powerpoint/2010/main" val="1332223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/>
          </p:cNvSpPr>
          <p:nvPr>
            <p:ph type="title"/>
          </p:nvPr>
        </p:nvSpPr>
        <p:spPr>
          <a:xfrm>
            <a:off x="1905000" y="188913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dirty="0"/>
              <a:t>Array</a:t>
            </a:r>
            <a:r>
              <a:rPr lang="zh-CN" altLang="en-US" dirty="0"/>
              <a:t>库的实现文件</a:t>
            </a:r>
            <a:r>
              <a:rPr lang="en-US" altLang="zh-CN" dirty="0"/>
              <a:t>---</a:t>
            </a:r>
            <a:r>
              <a:rPr lang="zh-CN" altLang="en-US" dirty="0"/>
              <a:t>函数定义</a:t>
            </a:r>
          </a:p>
        </p:txBody>
      </p:sp>
      <p:sp>
        <p:nvSpPr>
          <p:cNvPr id="9219" name="Rectangle 3"/>
          <p:cNvSpPr/>
          <p:nvPr/>
        </p:nvSpPr>
        <p:spPr>
          <a:xfrm>
            <a:off x="1892300" y="1151986"/>
            <a:ext cx="8407400" cy="5067669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"array.h"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&lt;iostream&gt;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using namespace std;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bool initialize(DoubleArray &amp;arr, int low, int high)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{  arr.low = low;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arr.high = high;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arr.storage = new double [high - low + 1];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if (arr.storage ==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2" charset="-122"/>
              </a:rPr>
              <a:t>nullptr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) return false;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else return true;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/>
          </p:cNvSpPr>
          <p:nvPr>
            <p:ph type="title"/>
          </p:nvPr>
        </p:nvSpPr>
        <p:spPr>
          <a:xfrm>
            <a:off x="1905000" y="188913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dirty="0"/>
              <a:t>Array</a:t>
            </a:r>
            <a:r>
              <a:rPr lang="zh-CN" altLang="en-US" dirty="0"/>
              <a:t>库的实现文件</a:t>
            </a:r>
            <a:r>
              <a:rPr lang="en-US" altLang="zh-CN" dirty="0"/>
              <a:t>---</a:t>
            </a:r>
            <a:r>
              <a:rPr lang="zh-CN" altLang="en-US" dirty="0"/>
              <a:t>函数定义</a:t>
            </a:r>
          </a:p>
        </p:txBody>
      </p:sp>
      <p:sp>
        <p:nvSpPr>
          <p:cNvPr id="9219" name="Rectangle 3"/>
          <p:cNvSpPr/>
          <p:nvPr/>
        </p:nvSpPr>
        <p:spPr>
          <a:xfrm>
            <a:off x="1892300" y="1151986"/>
            <a:ext cx="8407400" cy="5067669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"array.h"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&lt;iostream&gt;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using namespace std;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bool initialize(DoubleArray &amp;arr, int low, int high)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{  arr.low = low;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arr.high = high;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arr.storage = new double [high - low + 1];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if (arr.storage ==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nullptr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) return false; //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内存申请失败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else return true;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7283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/>
          <p:nvPr/>
        </p:nvSpPr>
        <p:spPr>
          <a:xfrm>
            <a:off x="982663" y="476250"/>
            <a:ext cx="10369550" cy="57800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bool insert(const DoubleArray &amp;arr, int index, double value)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{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if (index &lt; arr.low || index &gt; arr.high) return false;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arr.storage[index - arr.low] = value;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return true;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bool fetch(const DoubleArray &amp;arr, int index, double &amp;value)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{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if (index &lt; arr.low || index &gt; arr.high) return false;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value = arr.storage[index - arr.low] 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return true;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void cleanup(const DoubleArray &amp;arr)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{    delete [] arr.storage; 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/>
          </p:cNvSpPr>
          <p:nvPr>
            <p:ph type="title"/>
          </p:nvPr>
        </p:nvSpPr>
        <p:spPr>
          <a:xfrm>
            <a:off x="1200150" y="227013"/>
            <a:ext cx="7772400" cy="758825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buNone/>
            </a:pPr>
            <a:r>
              <a:rPr lang="zh-CN" altLang="en-US" dirty="0"/>
              <a:t>新型数据类型的使用</a:t>
            </a:r>
          </a:p>
        </p:txBody>
      </p:sp>
      <p:sp>
        <p:nvSpPr>
          <p:cNvPr id="11267" name="Rectangle 3"/>
          <p:cNvSpPr/>
          <p:nvPr/>
        </p:nvSpPr>
        <p:spPr>
          <a:xfrm>
            <a:off x="982663" y="1343845"/>
            <a:ext cx="10375900" cy="4656083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&lt;iostream&gt;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using namespace std;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"array.h" 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int main() 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{   DoubleArray array; 	double value;    int low, high, i;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请输入数组的下标范围：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";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cin &gt;&gt; low &gt;&gt; high;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if (!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initialize(array, low, high)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) </a:t>
            </a:r>
          </a:p>
          <a:p>
            <a:pPr marL="0" lvl="0" indent="13335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 { 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空间分配失败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" ; return 1; } 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>
          <a:xfrm>
            <a:off x="839788" y="260350"/>
            <a:ext cx="10125075" cy="6691191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for (i = low; i &lt;= high; ++i) { 			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cout &lt;&lt; "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请输入第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" &lt;&lt; i &lt;&lt; "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个元素：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";     cin &gt;&gt; value;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insert(array, i, value); 	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	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while (true) { 					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  cout &lt;&lt; "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请输入要查找的元素序号（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表示结束）：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";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  cin &gt;&gt; i;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  if (i == 0) break;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  if 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fetch(array, i, value)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) cout &lt;&lt; value &lt;&lt; endl;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    else cout &lt;&lt; "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下标越界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\n";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cleanup(array);	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 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return 0;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}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/>
          </p:cNvSpPr>
          <p:nvPr>
            <p:ph type="title"/>
          </p:nvPr>
        </p:nvSpPr>
        <p:spPr>
          <a:xfrm>
            <a:off x="766763" y="26035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Array</a:t>
            </a:r>
            <a:r>
              <a:rPr lang="zh-CN" altLang="en-US" b="1" dirty="0"/>
              <a:t>库的问题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 hasCustomPrompt="1"/>
          </p:nvPr>
        </p:nvSpPr>
        <p:spPr>
          <a:xfrm>
            <a:off x="766763" y="1557338"/>
            <a:ext cx="10355262" cy="39084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调用函数时，要传一个结构体，开销较大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许多库都有初始化和清除工作。</a:t>
            </a:r>
            <a:r>
              <a:rPr lang="en-US" altLang="zh-CN" dirty="0"/>
              <a:t>initialize</a:t>
            </a:r>
            <a:r>
              <a:rPr lang="zh-CN" altLang="en-US" dirty="0"/>
              <a:t>和</a:t>
            </a:r>
            <a:r>
              <a:rPr lang="en-US" altLang="zh-CN" dirty="0"/>
              <a:t>cleanup</a:t>
            </a:r>
            <a:r>
              <a:rPr lang="zh-CN" altLang="en-US" b="1" dirty="0">
                <a:solidFill>
                  <a:srgbClr val="FF0000"/>
                </a:solidFill>
              </a:rPr>
              <a:t>函数名易冲突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使用结束后，用户需要</a:t>
            </a:r>
            <a:r>
              <a:rPr lang="zh-CN" altLang="en-US" b="1" dirty="0">
                <a:solidFill>
                  <a:srgbClr val="FF0000"/>
                </a:solidFill>
              </a:rPr>
              <a:t>显式释放空间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数组元素不能用</a:t>
            </a:r>
            <a:r>
              <a:rPr lang="zh-CN" altLang="en-US" b="1" dirty="0">
                <a:solidFill>
                  <a:srgbClr val="FF0000"/>
                </a:solidFill>
              </a:rPr>
              <a:t>下标变量形式表示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/>
          </p:cNvSpPr>
          <p:nvPr>
            <p:ph type="title"/>
          </p:nvPr>
        </p:nvSpPr>
        <p:spPr>
          <a:xfrm>
            <a:off x="766763" y="260350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Array</a:t>
            </a:r>
            <a:r>
              <a:rPr lang="zh-CN" altLang="en-US" b="1" dirty="0"/>
              <a:t>库的问题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 hasCustomPrompt="1"/>
          </p:nvPr>
        </p:nvSpPr>
        <p:spPr>
          <a:xfrm>
            <a:off x="766763" y="1557338"/>
            <a:ext cx="10355262" cy="39084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调用函数时，要传一个结构体，开销较大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许多库都有初始化和清除工作。</a:t>
            </a:r>
            <a:r>
              <a:rPr lang="en-US" altLang="zh-CN" dirty="0"/>
              <a:t>initialize</a:t>
            </a:r>
            <a:r>
              <a:rPr lang="zh-CN" altLang="en-US" dirty="0"/>
              <a:t>和</a:t>
            </a:r>
            <a:r>
              <a:rPr lang="en-US" altLang="zh-CN" dirty="0"/>
              <a:t>cleanup</a:t>
            </a:r>
            <a:r>
              <a:rPr lang="zh-CN" altLang="en-US" dirty="0"/>
              <a:t>函数名易冲突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成员函数、组合与继承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使用结束后，用户需要显式释放空间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构造与析构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数组元素不能用下标变量形式表示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运算符重载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45178-AF8B-DE8D-105E-3E87388584C4}"/>
              </a:ext>
            </a:extLst>
          </p:cNvPr>
          <p:cNvSpPr txBox="1"/>
          <p:nvPr/>
        </p:nvSpPr>
        <p:spPr>
          <a:xfrm>
            <a:off x="2394724" y="5115378"/>
            <a:ext cx="7402551" cy="700769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发现了问题，我们就</a:t>
            </a:r>
            <a:r>
              <a:rPr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提出解决方案</a:t>
            </a:r>
            <a:endParaRPr lang="zh-CN" altLang="en-US" sz="3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9B01F-72D0-06FF-841A-F1CC3890618F}"/>
              </a:ext>
            </a:extLst>
          </p:cNvPr>
          <p:cNvSpPr txBox="1"/>
          <p:nvPr/>
        </p:nvSpPr>
        <p:spPr>
          <a:xfrm>
            <a:off x="9467417" y="5300662"/>
            <a:ext cx="16546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0" dirty="0">
                <a:solidFill>
                  <a:srgbClr val="FF0000"/>
                </a:solidFill>
              </a:rPr>
              <a:t>😎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09793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Array</a:t>
            </a:r>
            <a:r>
              <a:rPr lang="zh-CN" altLang="en-US" b="1" dirty="0"/>
              <a:t>库的改进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 hasCustomPrompt="1"/>
          </p:nvPr>
        </p:nvSpPr>
        <p:spPr>
          <a:xfrm>
            <a:off x="838200" y="1698625"/>
            <a:ext cx="9647238" cy="2593975"/>
          </a:xfrm>
        </p:spPr>
        <p:txBody>
          <a:bodyPr vert="horz" wrap="square" lIns="91440" tIns="45720" rIns="91440" bIns="45720" anchor="t"/>
          <a:lstStyle/>
          <a:p>
            <a:pPr marL="0" indent="0" algn="ctr" eaLnBrk="1" hangingPunct="1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C00000"/>
                </a:solidFill>
              </a:rPr>
              <a:t>函数放入结构体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/>
              <a:t>好处：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/>
              <a:t>函数原型中的第一个参数不再需要。编译器来安排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/>
              <a:t>函数从属某一结构体，函数名冲突问题解决。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/>
          </p:cNvSpPr>
          <p:nvPr>
            <p:ph type="title"/>
          </p:nvPr>
        </p:nvSpPr>
        <p:spPr>
          <a:xfrm>
            <a:off x="1125662" y="1359652"/>
            <a:ext cx="4249624" cy="1943100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 eaLnBrk="1" hangingPunct="1">
              <a:buNone/>
            </a:pPr>
            <a:r>
              <a:rPr lang="zh-CN" altLang="en-US" b="1" dirty="0"/>
              <a:t>改进后的</a:t>
            </a:r>
            <a:r>
              <a:rPr lang="en-US" altLang="zh-CN" b="1" dirty="0"/>
              <a:t>Array</a:t>
            </a:r>
            <a:r>
              <a:rPr lang="zh-CN" altLang="en-US" b="1" dirty="0"/>
              <a:t>库的头文件</a:t>
            </a:r>
          </a:p>
        </p:txBody>
      </p:sp>
      <p:sp>
        <p:nvSpPr>
          <p:cNvPr id="15363" name="Rectangle 3"/>
          <p:cNvSpPr/>
          <p:nvPr/>
        </p:nvSpPr>
        <p:spPr>
          <a:xfrm>
            <a:off x="6096454" y="152400"/>
            <a:ext cx="8320087" cy="5927725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#ifndef _array_h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#define _array_h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struct DoubleArray{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int low; 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int high;  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double *storage;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bool initialize(int lh, int rh);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bool insert(int index, double value);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bool fetch(int index, double &amp;value);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void cleanup();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#endif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/>
          </p:cNvSpPr>
          <p:nvPr>
            <p:ph type="title"/>
          </p:nvPr>
        </p:nvSpPr>
        <p:spPr>
          <a:xfrm>
            <a:off x="839788" y="260350"/>
            <a:ext cx="10515600" cy="760413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buNone/>
            </a:pPr>
            <a:r>
              <a:rPr lang="zh-CN" altLang="en-US" b="1" dirty="0"/>
              <a:t>改进后的</a:t>
            </a:r>
            <a:r>
              <a:rPr lang="en-US" altLang="zh-CN" b="1" dirty="0"/>
              <a:t>Array</a:t>
            </a:r>
            <a:r>
              <a:rPr lang="zh-CN" altLang="en-US" b="1" dirty="0"/>
              <a:t>库的实现文件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 hasCustomPrompt="1"/>
          </p:nvPr>
        </p:nvSpPr>
        <p:spPr>
          <a:xfrm>
            <a:off x="982663" y="1341438"/>
            <a:ext cx="8661400" cy="503237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/>
            <a:r>
              <a:rPr lang="zh-CN" altLang="en-US" sz="3200" dirty="0"/>
              <a:t>与原来的实现有一个变化：函数名前要加限定</a:t>
            </a:r>
          </a:p>
        </p:txBody>
      </p:sp>
      <p:sp>
        <p:nvSpPr>
          <p:cNvPr id="16388" name="Rectangle 4"/>
          <p:cNvSpPr/>
          <p:nvPr/>
        </p:nvSpPr>
        <p:spPr>
          <a:xfrm>
            <a:off x="717605" y="2427424"/>
            <a:ext cx="5378395" cy="2643672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bool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DoubleArray::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initialize(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int lh, int rh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)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{	low = lh;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	high = rh;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	storage = new double [high - low + 1];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	if (storage == NULL) return false;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        else return true;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}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97D641-55CD-112C-CF0D-352E2A40B221}"/>
              </a:ext>
            </a:extLst>
          </p:cNvPr>
          <p:cNvSpPr/>
          <p:nvPr/>
        </p:nvSpPr>
        <p:spPr>
          <a:xfrm>
            <a:off x="6687018" y="2058092"/>
            <a:ext cx="6322706" cy="3013004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bool initialize(DoubleArray &amp;arr, int low, int high)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{  arr.low = low;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  arr.high = high;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  arr.storage = new double [high - low + 1];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  if (arr.storage == NULL) return false;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       else return true;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83F7E3-20E5-CDA6-3406-DF0A00889B07}"/>
              </a:ext>
            </a:extLst>
          </p:cNvPr>
          <p:cNvGrpSpPr/>
          <p:nvPr/>
        </p:nvGrpSpPr>
        <p:grpSpPr>
          <a:xfrm>
            <a:off x="3209808" y="2196790"/>
            <a:ext cx="6534614" cy="3155795"/>
            <a:chOff x="3209808" y="2196790"/>
            <a:chExt cx="6534614" cy="315579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566C4C5-447A-3C8C-082E-9E4B2E249ED3}"/>
                </a:ext>
              </a:extLst>
            </p:cNvPr>
            <p:cNvCxnSpPr>
              <a:cxnSpLocks/>
            </p:cNvCxnSpPr>
            <p:nvPr/>
          </p:nvCxnSpPr>
          <p:spPr>
            <a:xfrm>
              <a:off x="6419383" y="2196790"/>
              <a:ext cx="0" cy="31557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9A65411-6F73-BDEA-3016-787264D856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3336" y="3251336"/>
              <a:ext cx="914400" cy="914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569501-8286-B134-F47E-2D02E4676869}"/>
                </a:ext>
              </a:extLst>
            </p:cNvPr>
            <p:cNvSpPr txBox="1"/>
            <p:nvPr/>
          </p:nvSpPr>
          <p:spPr>
            <a:xfrm>
              <a:off x="3209808" y="3329615"/>
              <a:ext cx="653461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latin typeface="DIN Alternate" panose="020B0500000000000000" pitchFamily="34" charset="77"/>
                </a:rPr>
                <a:t>vs.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/>
          </p:cNvSpPr>
          <p:nvPr>
            <p:ph type="title"/>
          </p:nvPr>
        </p:nvSpPr>
        <p:spPr>
          <a:xfrm>
            <a:off x="838200" y="365125"/>
            <a:ext cx="10515600" cy="976313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buNone/>
            </a:pPr>
            <a:r>
              <a:rPr lang="zh-CN" altLang="en-US" b="1" dirty="0"/>
              <a:t>改进后的</a:t>
            </a:r>
            <a:r>
              <a:rPr lang="en-US" altLang="zh-CN" b="1" dirty="0"/>
              <a:t>Array</a:t>
            </a:r>
            <a:r>
              <a:rPr lang="zh-CN" altLang="en-US" b="1" dirty="0"/>
              <a:t>库的应用</a:t>
            </a:r>
            <a:r>
              <a:rPr lang="en-US" altLang="zh-CN" b="1" dirty="0"/>
              <a:t> --- </a:t>
            </a:r>
            <a:r>
              <a:rPr lang="zh-CN" altLang="en-US" b="1" dirty="0"/>
              <a:t>变化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函数的调用方法不同。就如引用结构体的成员一样，要用</a:t>
            </a:r>
            <a:r>
              <a:rPr lang="zh-CN" altLang="en-US" sz="28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点运算符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引用这些函数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9A444AD-2E14-4D7D-CBFB-0AAA9CA35D23}"/>
              </a:ext>
            </a:extLst>
          </p:cNvPr>
          <p:cNvSpPr/>
          <p:nvPr/>
        </p:nvSpPr>
        <p:spPr>
          <a:xfrm>
            <a:off x="1883568" y="80871"/>
            <a:ext cx="8424863" cy="6696257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&lt;iostream&gt;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"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2" charset="-122"/>
              </a:rPr>
              <a:t>array.h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“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using namespace std;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int main()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{ 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DoubleArray array;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double value;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int low, high, i;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请输入数组的下标范围：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";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cin &gt;&gt; low &gt;&gt; high;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if (!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array.initialize(low, high)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) 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   {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空间分配失败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" ; return 1;}   </a:t>
            </a:r>
          </a:p>
        </p:txBody>
      </p:sp>
    </p:spTree>
    <p:extLst>
      <p:ext uri="{BB962C8B-B14F-4D97-AF65-F5344CB8AC3E}">
        <p14:creationId xmlns:p14="http://schemas.microsoft.com/office/powerpoint/2010/main" val="36205354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idx="1" hasCustomPrompt="1"/>
          </p:nvPr>
        </p:nvSpPr>
        <p:spPr>
          <a:xfrm>
            <a:off x="1127125" y="333375"/>
            <a:ext cx="9721850" cy="6091238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for (i = low; i &lt;= high; ++i) { 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请输入第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" &lt;&lt; i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个元素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:";    cin &gt;&gt; value;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array.insert(i, value);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}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while (true) {         //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数组元素的查找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请输入要查找的元素序号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(0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表示结束）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:";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cin &gt;&gt; i;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if (i == 0) break;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if (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array.fetch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(i, value))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cout &lt;&lt; value &lt;&lt; endl;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   else cout &lt;&lt; "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</a:rPr>
              <a:t>下标越界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\n";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}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array.cleanup();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return 0;</a:t>
            </a:r>
          </a:p>
          <a:p>
            <a:pPr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/>
          </p:cNvSpPr>
          <p:nvPr>
            <p:ph type="title"/>
          </p:nvPr>
        </p:nvSpPr>
        <p:spPr>
          <a:xfrm>
            <a:off x="1338146" y="215745"/>
            <a:ext cx="7772400" cy="822325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将函数放入结构体的意义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338146" y="1432330"/>
            <a:ext cx="10601846" cy="457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中，结构体将一组相关的数据捆绑起来，程序逻辑更加清晰。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函数加入结构体，它既描述属性，也描述对属性的操作。和内置类型一样的新的数据类型。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用类（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class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）这个概念表示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/>
          </p:cNvSpPr>
          <p:nvPr>
            <p:ph type="title"/>
          </p:nvPr>
        </p:nvSpPr>
        <p:spPr>
          <a:xfrm>
            <a:off x="1338146" y="215745"/>
            <a:ext cx="7772400" cy="822325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将函数放入结构体的意义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338146" y="1432330"/>
            <a:ext cx="10601846" cy="457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中，结构体将一组相关的数据捆绑起来，程序逻辑更加清晰。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函数加入结构体，它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既描述属性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，也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描述对属性的操作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。和内置类型一样的新的数据类型。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用类（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class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）这个概念表示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到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的根本改变之一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8279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/>
          </p:cNvSpPr>
          <p:nvPr>
            <p:ph type="title"/>
          </p:nvPr>
        </p:nvSpPr>
        <p:spPr>
          <a:xfrm>
            <a:off x="3503613" y="333375"/>
            <a:ext cx="5472112" cy="1143000"/>
          </a:xfrm>
        </p:spPr>
        <p:txBody>
          <a:bodyPr vert="horz" wrap="square" lIns="91440" tIns="45720" rIns="91440" bIns="45720" anchor="ctr"/>
          <a:lstStyle/>
          <a:p>
            <a:pPr marL="838200" indent="-838200" algn="ctr" eaLnBrk="1" hangingPunct="1"/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章 创建新的类型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3B16BDC-FFBE-4446-BE3F-B610F175B8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06322" y="1335594"/>
            <a:ext cx="4535488" cy="4831742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新的数据类型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类（类型）的定义</a:t>
            </a:r>
            <a:endParaRPr lang="en-US" altLang="zh-CN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对象的使用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对象的构造与析构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常量对象与</a:t>
            </a:r>
            <a:r>
              <a:rPr lang="en-US" altLang="zh-CN" dirty="0"/>
              <a:t>const</a:t>
            </a:r>
            <a:r>
              <a:rPr lang="zh-CN" altLang="en-US" dirty="0"/>
              <a:t>成员函数 </a:t>
            </a: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en-US" dirty="0"/>
              <a:t>常量数据成员 </a:t>
            </a:r>
          </a:p>
          <a:p>
            <a:pPr lvl="0">
              <a:lnSpc>
                <a:spcPct val="120000"/>
              </a:lnSpc>
            </a:pPr>
            <a:r>
              <a:rPr lang="zh-CN" altLang="en-US" dirty="0"/>
              <a:t>静态数据成员与静态成员函数 </a:t>
            </a:r>
          </a:p>
          <a:p>
            <a:pPr lvl="0">
              <a:lnSpc>
                <a:spcPct val="120000"/>
              </a:lnSpc>
            </a:pPr>
            <a:r>
              <a:rPr lang="zh-CN" altLang="en-US" dirty="0"/>
              <a:t>友元 </a:t>
            </a:r>
            <a:endParaRPr lang="en-US" altLang="zh-CN" dirty="0"/>
          </a:p>
          <a:p>
            <a:pPr lvl="0">
              <a:lnSpc>
                <a:spcPct val="120000"/>
              </a:lnSpc>
            </a:pPr>
            <a:r>
              <a:rPr lang="zh-CN" altLang="en-US" dirty="0"/>
              <a:t>面向对象程序设计</a:t>
            </a: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/>
          </p:cNvSpPr>
          <p:nvPr>
            <p:ph type="title"/>
          </p:nvPr>
        </p:nvSpPr>
        <p:spPr>
          <a:xfrm>
            <a:off x="866775" y="333375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类型（类）定义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 hasCustomPrompt="1"/>
          </p:nvPr>
        </p:nvSpPr>
        <p:spPr>
          <a:xfrm>
            <a:off x="839788" y="1773238"/>
            <a:ext cx="10152062" cy="360045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struct  </a:t>
            </a:r>
            <a:r>
              <a:rPr lang="zh-CN" altLang="en-US" dirty="0"/>
              <a:t>类型名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{    </a:t>
            </a:r>
            <a:r>
              <a:rPr lang="zh-CN" altLang="en-US" dirty="0"/>
              <a:t>属性（数据成员、数据）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</a:t>
            </a:r>
            <a:r>
              <a:rPr lang="zh-CN" altLang="en-US" dirty="0"/>
              <a:t>成员函数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/>
            <a:r>
              <a:rPr lang="zh-CN" altLang="en-US" dirty="0"/>
              <a:t>成员函数是对属性的各种基本处理，属性通过函数和外界打交道。</a:t>
            </a: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/>
          </p:cNvSpPr>
          <p:nvPr>
            <p:ph type="title"/>
          </p:nvPr>
        </p:nvSpPr>
        <p:spPr>
          <a:xfrm>
            <a:off x="911225" y="260350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类型（类）定义的一般格式</a:t>
            </a:r>
          </a:p>
        </p:txBody>
      </p:sp>
      <p:sp>
        <p:nvSpPr>
          <p:cNvPr id="24580" name="Rectangle 3"/>
          <p:cNvSpPr txBox="1"/>
          <p:nvPr/>
        </p:nvSpPr>
        <p:spPr>
          <a:xfrm>
            <a:off x="2998500" y="1973346"/>
            <a:ext cx="5483225" cy="33131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eaLnBrk="1" hangingPunct="1"/>
            <a:r>
              <a:rPr lang="en-US" altLang="zh-CN" dirty="0">
                <a:solidFill>
                  <a:srgbClr val="FF0000"/>
                </a:solidFill>
              </a:rPr>
              <a:t>class </a:t>
            </a:r>
            <a:r>
              <a:rPr lang="en-US" altLang="zh-CN" dirty="0"/>
              <a:t> </a:t>
            </a:r>
            <a:r>
              <a:rPr lang="zh-CN" altLang="en-US" dirty="0"/>
              <a:t>类名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{ private: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私有数据成员和成员函数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public: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公有数据成员和成员函数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endParaRPr lang="en-US" altLang="zh-CN" dirty="0"/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FF00"/>
                </a:solidFill>
              </a:rPr>
              <a:t>    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/>
          </p:cNvSpPr>
          <p:nvPr>
            <p:ph type="title"/>
          </p:nvPr>
        </p:nvSpPr>
        <p:spPr>
          <a:xfrm>
            <a:off x="911225" y="260350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类型（类）定义的一般格式</a:t>
            </a:r>
          </a:p>
        </p:txBody>
      </p:sp>
      <p:sp>
        <p:nvSpPr>
          <p:cNvPr id="24580" name="Rectangle 3"/>
          <p:cNvSpPr txBox="1"/>
          <p:nvPr/>
        </p:nvSpPr>
        <p:spPr>
          <a:xfrm>
            <a:off x="2998500" y="1973346"/>
            <a:ext cx="5483225" cy="33131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eaLnBrk="1" hangingPunct="1"/>
            <a:r>
              <a:rPr lang="en-US" altLang="zh-CN" dirty="0">
                <a:solidFill>
                  <a:srgbClr val="FF0000"/>
                </a:solidFill>
              </a:rPr>
              <a:t>class </a:t>
            </a:r>
            <a:r>
              <a:rPr lang="en-US" altLang="zh-CN" dirty="0"/>
              <a:t> </a:t>
            </a:r>
            <a:r>
              <a:rPr lang="zh-CN" altLang="en-US" dirty="0"/>
              <a:t>类名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{ </a:t>
            </a:r>
            <a:r>
              <a:rPr lang="en-US" altLang="zh-CN" dirty="0">
                <a:solidFill>
                  <a:srgbClr val="FF0000"/>
                </a:solidFill>
              </a:rPr>
              <a:t>private</a:t>
            </a:r>
            <a:r>
              <a:rPr lang="en-US" altLang="zh-CN" dirty="0"/>
              <a:t>: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私有数据成员和成员函数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public: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公有数据成员和成员函数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endParaRPr lang="en-US" altLang="zh-CN" dirty="0"/>
          </a:p>
          <a:p>
            <a:pPr marL="228600" lvl="0" indent="-22860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FF00"/>
                </a:solidFill>
              </a:rPr>
              <a:t>    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4A468-4020-68BF-3773-A81D69598CDA}"/>
              </a:ext>
            </a:extLst>
          </p:cNvPr>
          <p:cNvSpPr txBox="1"/>
          <p:nvPr/>
        </p:nvSpPr>
        <p:spPr>
          <a:xfrm>
            <a:off x="5922818" y="2107272"/>
            <a:ext cx="4218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private </a:t>
            </a:r>
            <a:r>
              <a:rPr lang="zh-CN" altLang="en-US" dirty="0">
                <a:solidFill>
                  <a:srgbClr val="FF0000"/>
                </a:solidFill>
              </a:rPr>
              <a:t>关键词可以缺省，则默认是私有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2828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公有和私有成员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 hasCustomPrompt="1"/>
          </p:nvPr>
        </p:nvSpPr>
        <p:spPr>
          <a:xfrm>
            <a:off x="982663" y="1668464"/>
            <a:ext cx="9990137" cy="1906010"/>
          </a:xfr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私有成员</a:t>
            </a:r>
            <a:r>
              <a:rPr lang="en-US" altLang="zh-CN" dirty="0"/>
              <a:t>(private)</a:t>
            </a:r>
            <a:r>
              <a:rPr lang="zh-CN" altLang="en-US" dirty="0"/>
              <a:t>：只能由类的成员函数调用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公有成员</a:t>
            </a:r>
            <a:r>
              <a:rPr lang="en-US" altLang="zh-CN" dirty="0"/>
              <a:t>(public)</a:t>
            </a:r>
            <a:r>
              <a:rPr lang="zh-CN" altLang="en-US" dirty="0"/>
              <a:t>：外部函数可以调用，类对外的接口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私有成员被封装在一个类中，类的用户是看不见的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/>
          </p:cNvSpPr>
          <p:nvPr>
            <p:ph type="title"/>
          </p:nvPr>
        </p:nvSpPr>
        <p:spPr>
          <a:xfrm>
            <a:off x="969121" y="269681"/>
            <a:ext cx="8229600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用</a:t>
            </a:r>
            <a:r>
              <a:rPr lang="en-US" altLang="zh-CN" dirty="0"/>
              <a:t>struct</a:t>
            </a:r>
            <a:r>
              <a:rPr lang="zh-CN" altLang="en-US" dirty="0"/>
              <a:t>和</a:t>
            </a:r>
            <a:r>
              <a:rPr lang="en-US" altLang="zh-CN" dirty="0"/>
              <a:t>class</a:t>
            </a:r>
            <a:r>
              <a:rPr lang="zh-CN" altLang="en-US" dirty="0"/>
              <a:t>的区别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819830" y="1709544"/>
            <a:ext cx="10225088" cy="410527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如不加访问权限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</a:rPr>
              <a:t>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lass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默认私有</a:t>
            </a:r>
            <a:endParaRPr lang="en-US" altLang="zh-CN" sz="2400" dirty="0">
              <a:solidFill>
                <a:srgbClr val="C00000"/>
              </a:solidFill>
              <a:latin typeface="+mn-lt"/>
              <a:ea typeface="+mn-ea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truct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，默认公有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/>
          </p:cNvSpPr>
          <p:nvPr>
            <p:ph type="title"/>
          </p:nvPr>
        </p:nvSpPr>
        <p:spPr>
          <a:xfrm>
            <a:off x="982663" y="549275"/>
            <a:ext cx="3097212" cy="1143000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buNone/>
            </a:pPr>
            <a:r>
              <a:rPr lang="zh-CN" altLang="en-US" sz="4000" dirty="0"/>
              <a:t>类定义说明</a:t>
            </a:r>
          </a:p>
        </p:txBody>
      </p:sp>
      <p:sp>
        <p:nvSpPr>
          <p:cNvPr id="34819" name="Rectangle 3"/>
          <p:cNvSpPr>
            <a:spLocks noGrp="1"/>
          </p:cNvSpPr>
          <p:nvPr>
            <p:ph idx="1" hasCustomPrompt="1"/>
          </p:nvPr>
        </p:nvSpPr>
        <p:spPr>
          <a:xfrm>
            <a:off x="974725" y="1773238"/>
            <a:ext cx="9658350" cy="1079500"/>
          </a:xfrm>
        </p:spPr>
        <p:txBody>
          <a:bodyPr vert="horz" wrap="square" lIns="91440" tIns="45720" rIns="91440" bIns="45720" anchor="t"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private </a:t>
            </a:r>
            <a:r>
              <a:rPr lang="zh-CN" altLang="en-US" sz="3200" dirty="0"/>
              <a:t>和</a:t>
            </a:r>
            <a:r>
              <a:rPr lang="en-US" altLang="zh-CN" sz="3200" dirty="0"/>
              <a:t>public</a:t>
            </a:r>
            <a:r>
              <a:rPr lang="zh-CN" altLang="en-US" sz="3200" dirty="0"/>
              <a:t>出现次序可任意，出现次数可任意。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3200" dirty="0"/>
              <a:t>数据成员一般为</a:t>
            </a:r>
            <a:r>
              <a:rPr lang="en-US" altLang="zh-CN" sz="3200" dirty="0"/>
              <a:t>private</a:t>
            </a:r>
            <a:r>
              <a:rPr lang="zh-CN" altLang="en-US" sz="3200" dirty="0"/>
              <a:t>，函数一般为</a:t>
            </a:r>
            <a:r>
              <a:rPr lang="en-US" altLang="zh-CN" sz="3200" dirty="0"/>
              <a:t>public</a:t>
            </a:r>
            <a:r>
              <a:rPr lang="zh-CN" altLang="en-US" sz="3200" dirty="0"/>
              <a:t>的。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在模块化设计中，接口和实现分开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 hasCustomPrompt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与库设计一样，类定义在头文件中，成员函数实现在实现文件中。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简单的成员函数的定义可写在类定义中。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71588" y="979488"/>
            <a:ext cx="4464050" cy="48990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private: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get(){return x;};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7651" name="文本框 2"/>
          <p:cNvSpPr txBox="1">
            <a:spLocks noChangeArrowheads="1"/>
          </p:cNvSpPr>
          <p:nvPr/>
        </p:nvSpPr>
        <p:spPr bwMode="auto">
          <a:xfrm>
            <a:off x="6096000" y="966399"/>
            <a:ext cx="5400675" cy="491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f()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10;//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591175" y="171450"/>
            <a:ext cx="0" cy="662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71588" y="979488"/>
            <a:ext cx="4464050" cy="48990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private: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get(){return x;};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7651" name="文本框 2"/>
          <p:cNvSpPr txBox="1">
            <a:spLocks noChangeArrowheads="1"/>
          </p:cNvSpPr>
          <p:nvPr/>
        </p:nvSpPr>
        <p:spPr bwMode="auto">
          <a:xfrm>
            <a:off x="5856350" y="796513"/>
            <a:ext cx="5400675" cy="426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f()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591175" y="171450"/>
            <a:ext cx="0" cy="662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Close">
            <a:extLst>
              <a:ext uri="{FF2B5EF4-FFF2-40B4-BE49-F238E27FC236}">
                <a16:creationId xmlns:a16="http://schemas.microsoft.com/office/drawing/2014/main" id="{A3E9D12B-03AD-9E98-E4E7-EB25F6088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6735" y="187452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599723-11F5-1987-B281-098915B47D7D}"/>
              </a:ext>
            </a:extLst>
          </p:cNvPr>
          <p:cNvSpPr txBox="1"/>
          <p:nvPr/>
        </p:nvSpPr>
        <p:spPr>
          <a:xfrm>
            <a:off x="9069001" y="2119436"/>
            <a:ext cx="2188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那么，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如何在外部访问私有成员？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662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71588" y="979488"/>
            <a:ext cx="4464050" cy="4899025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private: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int get(){return x;}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void set(int y){x=y;}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7651" name="文本框 2"/>
          <p:cNvSpPr txBox="1">
            <a:spLocks noChangeArrowheads="1"/>
          </p:cNvSpPr>
          <p:nvPr/>
        </p:nvSpPr>
        <p:spPr bwMode="auto">
          <a:xfrm>
            <a:off x="5856350" y="796513"/>
            <a:ext cx="5400675" cy="491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f()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a.set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(10); 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591175" y="171450"/>
            <a:ext cx="0" cy="662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Close">
            <a:extLst>
              <a:ext uri="{FF2B5EF4-FFF2-40B4-BE49-F238E27FC236}">
                <a16:creationId xmlns:a16="http://schemas.microsoft.com/office/drawing/2014/main" id="{A3E9D12B-03AD-9E98-E4E7-EB25F6088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6735" y="1874520"/>
            <a:ext cx="914400" cy="914400"/>
          </a:xfrm>
          <a:prstGeom prst="rect">
            <a:avLst/>
          </a:prstGeom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DC983B44-1364-D677-0B40-CDFD882C3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487" y="2570162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625C84-869F-7F84-B194-F04A529A461A}"/>
              </a:ext>
            </a:extLst>
          </p:cNvPr>
          <p:cNvSpPr txBox="1"/>
          <p:nvPr/>
        </p:nvSpPr>
        <p:spPr>
          <a:xfrm>
            <a:off x="9069001" y="2119436"/>
            <a:ext cx="21880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解释：操作私有成员需要通过开放的成员函数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6351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71588" y="979488"/>
            <a:ext cx="4464050" cy="4899025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private: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int get(){return x;}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void set(int y){x=y</a:t>
            </a:r>
            <a:r>
              <a:rPr lang="en-US" altLang="zh-CN" sz="2800" dirty="0">
                <a:latin typeface="+mn-lt"/>
                <a:ea typeface="+mn-ea"/>
              </a:rPr>
              <a:t>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7651" name="文本框 2"/>
          <p:cNvSpPr txBox="1">
            <a:spLocks noChangeArrowheads="1"/>
          </p:cNvSpPr>
          <p:nvPr/>
        </p:nvSpPr>
        <p:spPr bwMode="auto">
          <a:xfrm>
            <a:off x="5880100" y="333375"/>
            <a:ext cx="5400675" cy="491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f()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a.set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(10); 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//?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591175" y="171450"/>
            <a:ext cx="0" cy="662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extLst>
              <a:ext uri="{FF2B5EF4-FFF2-40B4-BE49-F238E27FC236}">
                <a16:creationId xmlns:a16="http://schemas.microsoft.com/office/drawing/2014/main" id="{E498F409-FDE1-8BF2-EBCE-8137C9689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4230" y="1470010"/>
            <a:ext cx="914400" cy="914400"/>
          </a:xfrm>
          <a:prstGeom prst="rect">
            <a:avLst/>
          </a:prstGeom>
        </p:spPr>
      </p:pic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1E13C4DD-CBE7-4E7E-358A-93244C60B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6982" y="21656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194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71588" y="979488"/>
            <a:ext cx="4464050" cy="4899025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private: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int get(){return x;}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void set(int y){x=y;}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7651" name="文本框 2"/>
          <p:cNvSpPr txBox="1">
            <a:spLocks noChangeArrowheads="1"/>
          </p:cNvSpPr>
          <p:nvPr/>
        </p:nvSpPr>
        <p:spPr bwMode="auto">
          <a:xfrm>
            <a:off x="5880100" y="333375"/>
            <a:ext cx="5400675" cy="491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等线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f()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a.set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(10); 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a.get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()&lt;&lt;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;//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591175" y="171450"/>
            <a:ext cx="0" cy="6626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extLst>
              <a:ext uri="{FF2B5EF4-FFF2-40B4-BE49-F238E27FC236}">
                <a16:creationId xmlns:a16="http://schemas.microsoft.com/office/drawing/2014/main" id="{57073699-E9BE-AC68-7487-B9F3FFBA6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4230" y="1470010"/>
            <a:ext cx="914400" cy="914400"/>
          </a:xfrm>
          <a:prstGeom prst="rect">
            <a:avLst/>
          </a:prstGeom>
        </p:spPr>
      </p:pic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3203CED-F4A2-13AC-1022-26DA7A6F2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6982" y="2165652"/>
            <a:ext cx="914400" cy="914400"/>
          </a:xfrm>
          <a:prstGeom prst="rect">
            <a:avLst/>
          </a:prstGeom>
        </p:spPr>
      </p:pic>
      <p:pic>
        <p:nvPicPr>
          <p:cNvPr id="8" name="Graphic 7" descr="Close">
            <a:extLst>
              <a:ext uri="{FF2B5EF4-FFF2-40B4-BE49-F238E27FC236}">
                <a16:creationId xmlns:a16="http://schemas.microsoft.com/office/drawing/2014/main" id="{D092011E-6408-BDC5-3F20-DA9625627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4750" y="2733358"/>
            <a:ext cx="914400" cy="914400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FC2B6866-EE16-FCE6-F292-2C258DECD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7502" y="3429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267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03D6-8C8B-5A6E-D10F-2D8CAC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 err="1"/>
              <a:t>通过这些学习</a:t>
            </a:r>
            <a:r>
              <a:rPr lang="zh-CN" altLang="en-US" dirty="0"/>
              <a:t>，如何提升我们目前的程序设计？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581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/>
          </p:cNvSpPr>
          <p:nvPr>
            <p:ph type="title"/>
          </p:nvPr>
        </p:nvSpPr>
        <p:spPr>
          <a:xfrm>
            <a:off x="766763" y="260350"/>
            <a:ext cx="10741296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3600" dirty="0"/>
              <a:t>DoubleArray</a:t>
            </a:r>
            <a:r>
              <a:rPr lang="zh-CN" altLang="en-US" sz="3600" dirty="0"/>
              <a:t>类的定义改进 </a:t>
            </a:r>
            <a:r>
              <a:rPr lang="en-US" altLang="zh-CN" sz="3600" dirty="0"/>
              <a:t>1</a:t>
            </a:r>
            <a:r>
              <a:rPr lang="zh-CN" altLang="en-US" sz="3600" dirty="0"/>
              <a:t>：加访问权限控制</a:t>
            </a:r>
          </a:p>
        </p:txBody>
      </p:sp>
      <p:sp>
        <p:nvSpPr>
          <p:cNvPr id="28675" name="Rectangle 3"/>
          <p:cNvSpPr/>
          <p:nvPr/>
        </p:nvSpPr>
        <p:spPr>
          <a:xfrm>
            <a:off x="766763" y="1268413"/>
            <a:ext cx="7924800" cy="5260975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class DoubleArray {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int low;  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int high;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double *storage;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bool initialize(int lh, int rh);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bool insert(int index, double value);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bool fetch(int index, double &amp;value);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void cleanup();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类定义又一个实例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674813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dirty="0"/>
              <a:t>   试定义一个有理数类，该类能提供有理数的加和乘运算。</a:t>
            </a:r>
            <a:endParaRPr lang="en-US" altLang="zh-CN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要求保存的有理数是最简形式。如</a:t>
            </a:r>
            <a:r>
              <a:rPr lang="en-US" altLang="zh-CN" dirty="0"/>
              <a:t>2/6</a:t>
            </a:r>
            <a:r>
              <a:rPr lang="zh-CN" altLang="en-US" dirty="0"/>
              <a:t>应记录为</a:t>
            </a:r>
            <a:r>
              <a:rPr lang="en-US" altLang="zh-CN" dirty="0"/>
              <a:t>1/3</a:t>
            </a:r>
            <a:r>
              <a:rPr lang="zh-CN" altLang="en-US" dirty="0"/>
              <a:t>。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/>
          </p:cNvSpPr>
          <p:nvPr>
            <p:ph type="title"/>
          </p:nvPr>
        </p:nvSpPr>
        <p:spPr>
          <a:xfrm>
            <a:off x="982663" y="266700"/>
            <a:ext cx="2809875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设计考虑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 hasCustomPrompt="1"/>
          </p:nvPr>
        </p:nvSpPr>
        <p:spPr>
          <a:xfrm>
            <a:off x="2227201" y="1181100"/>
            <a:ext cx="9074150" cy="56769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保存有理数：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有理数类的操作：</a:t>
            </a:r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访问权限设计：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/>
          </p:cNvSpPr>
          <p:nvPr>
            <p:ph type="title"/>
          </p:nvPr>
        </p:nvSpPr>
        <p:spPr>
          <a:xfrm>
            <a:off x="982663" y="266700"/>
            <a:ext cx="2809875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设计考虑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 hasCustomPrompt="1"/>
          </p:nvPr>
        </p:nvSpPr>
        <p:spPr>
          <a:xfrm>
            <a:off x="2227201" y="1181100"/>
            <a:ext cx="9074150" cy="56769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保存有理数：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保存一个有理数就是保存两个整数。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有理数类的操作：</a:t>
            </a:r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访问权限设计：</a:t>
            </a:r>
          </a:p>
        </p:txBody>
      </p:sp>
    </p:spTree>
    <p:extLst>
      <p:ext uri="{BB962C8B-B14F-4D97-AF65-F5344CB8AC3E}">
        <p14:creationId xmlns:p14="http://schemas.microsoft.com/office/powerpoint/2010/main" val="10920838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/>
          </p:cNvSpPr>
          <p:nvPr>
            <p:ph type="title"/>
          </p:nvPr>
        </p:nvSpPr>
        <p:spPr>
          <a:xfrm>
            <a:off x="982663" y="266700"/>
            <a:ext cx="2809875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设计考虑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 hasCustomPrompt="1"/>
          </p:nvPr>
        </p:nvSpPr>
        <p:spPr>
          <a:xfrm>
            <a:off x="2227201" y="1181100"/>
            <a:ext cx="9074150" cy="56769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保存有理数：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保存一个有理数就是保存两个整数。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有理数类的操作：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运算函数：</a:t>
            </a:r>
            <a:r>
              <a:rPr lang="zh-CN" altLang="en-US" sz="2000" dirty="0"/>
              <a:t>加函数，乘函数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创建有理数的函数：用以设置有理数的分子和分母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输出有理数函数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化简函数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访问权限设计（</a:t>
            </a:r>
            <a:r>
              <a:rPr lang="zh-CN" altLang="en-US" sz="2400" b="1" dirty="0">
                <a:solidFill>
                  <a:srgbClr val="FF0000"/>
                </a:solidFill>
              </a:rPr>
              <a:t>哪些应该是私有的？</a:t>
            </a:r>
            <a:r>
              <a:rPr lang="zh-CN" altLang="en-US" sz="2400" dirty="0"/>
              <a:t>）：</a:t>
            </a:r>
          </a:p>
        </p:txBody>
      </p:sp>
    </p:spTree>
    <p:extLst>
      <p:ext uri="{BB962C8B-B14F-4D97-AF65-F5344CB8AC3E}">
        <p14:creationId xmlns:p14="http://schemas.microsoft.com/office/powerpoint/2010/main" val="34959297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/>
          </p:cNvSpPr>
          <p:nvPr>
            <p:ph type="title"/>
          </p:nvPr>
        </p:nvSpPr>
        <p:spPr>
          <a:xfrm>
            <a:off x="982663" y="266700"/>
            <a:ext cx="2809875" cy="11430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设计考虑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 hasCustomPrompt="1"/>
          </p:nvPr>
        </p:nvSpPr>
        <p:spPr>
          <a:xfrm>
            <a:off x="2227201" y="1181100"/>
            <a:ext cx="9074150" cy="56769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保存有理数：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保存一个有理数就是保存两个整数。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有理数类的操作：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运算函数：</a:t>
            </a:r>
            <a:r>
              <a:rPr lang="zh-CN" altLang="en-US" sz="2000" dirty="0"/>
              <a:t>加函数，乘函数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创建有理数的函数：用以设置有理数的分子和分母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输出有理数函数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化简函数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访问权限设计：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数据成员是私有的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化简函数是内部调用的函数，与用户无关，是私有的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其他函数都是公有的</a:t>
            </a:r>
          </a:p>
        </p:txBody>
      </p:sp>
    </p:spTree>
    <p:extLst>
      <p:ext uri="{BB962C8B-B14F-4D97-AF65-F5344CB8AC3E}">
        <p14:creationId xmlns:p14="http://schemas.microsoft.com/office/powerpoint/2010/main" val="42113036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6530-92BA-9B7C-C19E-43B9F699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327" y="-98012"/>
            <a:ext cx="10515600" cy="1325563"/>
          </a:xfrm>
        </p:spPr>
        <p:txBody>
          <a:bodyPr/>
          <a:lstStyle/>
          <a:p>
            <a:r>
              <a:rPr lang="en-US" dirty="0" err="1"/>
              <a:t>有理数类的定义</a:t>
            </a:r>
            <a:r>
              <a:rPr lang="zh-CN" altLang="en-US" dirty="0"/>
              <a:t>： </a:t>
            </a:r>
            <a:r>
              <a:rPr lang="en-US" altLang="zh-CN" dirty="0" err="1"/>
              <a:t>Rational.h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1EF5ED-12D2-0232-9DDB-8E3FB8AC6309}"/>
              </a:ext>
            </a:extLst>
          </p:cNvPr>
          <p:cNvSpPr/>
          <p:nvPr/>
        </p:nvSpPr>
        <p:spPr>
          <a:xfrm>
            <a:off x="1882775" y="890588"/>
            <a:ext cx="7913688" cy="60007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#ifndef  _rational_h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#define  _rational_h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&lt;iostream&gt;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using namespace std;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class Rational {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	int num;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	</a:t>
            </a:r>
            <a:r>
              <a:rPr lang="fr-F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int den;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	void ReductFraction(); //</a:t>
            </a:r>
            <a:r>
              <a:rPr lang="zh-CN" altLang="fr-FR" sz="2400" dirty="0">
                <a:latin typeface="Arial" panose="020B0604020202020204" pitchFamily="34" charset="0"/>
                <a:ea typeface="黑体" panose="02010609060101010101" pitchFamily="2" charset="-122"/>
              </a:rPr>
              <a:t>将有理数化简成最简形式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	</a:t>
            </a: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void create(int n, int d) { num = n; den = d;}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  void add(const Rational &amp;r1, const Rational &amp;r2); 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          void multi(const Rational &amp;r1, const Rational &amp;r2);</a:t>
            </a:r>
            <a:endParaRPr lang="zh-CN" altLang="pt-BR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pt-BR" sz="2400" dirty="0">
                <a:latin typeface="Arial" panose="020B0604020202020204" pitchFamily="34" charset="0"/>
                <a:ea typeface="黑体" panose="02010609060101010101" pitchFamily="2" charset="-122"/>
              </a:rPr>
              <a:t>	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void display() { cout &lt;&lt; num &lt;&lt; '/' &lt;&lt; den;}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#endif </a:t>
            </a:r>
          </a:p>
        </p:txBody>
      </p:sp>
    </p:spTree>
    <p:extLst>
      <p:ext uri="{BB962C8B-B14F-4D97-AF65-F5344CB8AC3E}">
        <p14:creationId xmlns:p14="http://schemas.microsoft.com/office/powerpoint/2010/main" val="23535868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/>
          </p:cNvSpPr>
          <p:nvPr>
            <p:ph type="title"/>
          </p:nvPr>
        </p:nvSpPr>
        <p:spPr>
          <a:xfrm>
            <a:off x="766763" y="250825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zh-CN" altLang="en-US" dirty="0"/>
              <a:t>有理数类的实现</a:t>
            </a:r>
            <a:r>
              <a:rPr lang="en-US" altLang="zh-CN" dirty="0"/>
              <a:t>---Rational.cpp</a:t>
            </a:r>
            <a:endParaRPr lang="zh-CN" altLang="en-US" dirty="0"/>
          </a:p>
        </p:txBody>
      </p:sp>
      <p:sp>
        <p:nvSpPr>
          <p:cNvPr id="34819" name="Rectangle 3"/>
          <p:cNvSpPr/>
          <p:nvPr/>
        </p:nvSpPr>
        <p:spPr>
          <a:xfrm>
            <a:off x="1932503" y="1549792"/>
            <a:ext cx="8059738" cy="47450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#include "Rational.h“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pt-BR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//add</a:t>
            </a:r>
            <a:r>
              <a:rPr lang="zh-CN" altLang="pt-BR" sz="2400" dirty="0">
                <a:latin typeface="Arial" panose="020B0604020202020204" pitchFamily="34" charset="0"/>
                <a:ea typeface="黑体" panose="02010609060101010101" pitchFamily="2" charset="-122"/>
              </a:rPr>
              <a:t>函数将</a:t>
            </a: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r1</a:t>
            </a:r>
            <a:r>
              <a:rPr lang="zh-CN" altLang="pt-BR" sz="2400" dirty="0">
                <a:latin typeface="Arial" panose="020B0604020202020204" pitchFamily="34" charset="0"/>
                <a:ea typeface="黑体" panose="02010609060101010101" pitchFamily="2" charset="-122"/>
              </a:rPr>
              <a:t>和</a:t>
            </a: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r2</a:t>
            </a:r>
            <a:r>
              <a:rPr lang="zh-CN" altLang="pt-BR" sz="2400" dirty="0">
                <a:latin typeface="Arial" panose="020B0604020202020204" pitchFamily="34" charset="0"/>
                <a:ea typeface="黑体" panose="02010609060101010101" pitchFamily="2" charset="-122"/>
              </a:rPr>
              <a:t>相加，结果存于当前对象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void Rational::add(const Rational &amp;r1, const Rational &amp;r2)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注意函数头部顺序结构</a:t>
            </a:r>
            <a:endParaRPr lang="pt-BR" altLang="zh-CN" sz="24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num = r1.num * r2.den + r2.num * r1.den;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de-DE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den = r1.den * r2.den;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de-DE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ReductFraction();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pt-BR" altLang="zh-CN" sz="24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/>
          </p:cNvSpPr>
          <p:nvPr>
            <p:ph type="title"/>
          </p:nvPr>
        </p:nvSpPr>
        <p:spPr>
          <a:xfrm>
            <a:off x="766763" y="250825"/>
            <a:ext cx="7772400" cy="1143000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None/>
            </a:pPr>
            <a:r>
              <a:rPr lang="zh-CN" altLang="en-US" dirty="0"/>
              <a:t>有理数类的实现</a:t>
            </a:r>
            <a:r>
              <a:rPr lang="en-US" altLang="zh-CN" dirty="0"/>
              <a:t>---Rational.cpp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0468C9-2990-A4BB-7599-22F0A4F0E59F}"/>
              </a:ext>
            </a:extLst>
          </p:cNvPr>
          <p:cNvSpPr/>
          <p:nvPr/>
        </p:nvSpPr>
        <p:spPr>
          <a:xfrm>
            <a:off x="2023105" y="1077913"/>
            <a:ext cx="9104074" cy="590212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pt-BR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void Rational::multi(const Rational &amp;r1, const Rational &amp;r2)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pt-BR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pt-BR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 	num = r1.num * r2.num;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pt-BR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 	</a:t>
            </a:r>
            <a:r>
              <a:rPr lang="de-DE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den = r1.den * r2.den;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de-DE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 	</a:t>
            </a: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ReductFraction();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3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 ReductFraction</a:t>
            </a:r>
            <a:r>
              <a:rPr lang="zh-CN" altLang="en-US" sz="23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实现有理数的化简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void Rational::ReductFraction()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{	int tmp = (num &gt; den) ? den : num;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 	for  (; tmp &gt; 1; --tmp) {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		if (num % tmp == 0 &amp;&amp; den % tmp ==0) 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                   		{num /= tmp; den /= tmp; break;}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	}</a:t>
            </a: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4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-绪论" id="{74C0FDF6-AD1D-774F-A270-08F9BF90212C}" vid="{96338822-13C8-A848-92C2-2AB1A30A40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18820</TotalTime>
  <Words>3874</Words>
  <Application>Microsoft Macintosh PowerPoint</Application>
  <PresentationFormat>Widescreen</PresentationFormat>
  <Paragraphs>555</Paragraphs>
  <Slides>70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Adobe Heiti Std R</vt:lpstr>
      <vt:lpstr>HEITI SC MEDIUM</vt:lpstr>
      <vt:lpstr>HEITI SC MEDIUM</vt:lpstr>
      <vt:lpstr>Microsoft YaHei</vt:lpstr>
      <vt:lpstr>Microsoft YaHei</vt:lpstr>
      <vt:lpstr>Microsoft YaHei</vt:lpstr>
      <vt:lpstr>Microsoft YaHei UI</vt:lpstr>
      <vt:lpstr>幼圆</vt:lpstr>
      <vt:lpstr>Arial</vt:lpstr>
      <vt:lpstr>Calibri</vt:lpstr>
      <vt:lpstr>Calibri Light</vt:lpstr>
      <vt:lpstr>DIN Alternate</vt:lpstr>
      <vt:lpstr>Garamond</vt:lpstr>
      <vt:lpstr>Wingdings</vt:lpstr>
      <vt:lpstr>Office Theme</vt:lpstr>
      <vt:lpstr>CS 1502H 程序设计思想与方法 (C++) Chapter 10. 创建新的类型 (1)</vt:lpstr>
      <vt:lpstr>面向对象的程序设计</vt:lpstr>
      <vt:lpstr>抽象过程</vt:lpstr>
      <vt:lpstr>抽象过程</vt:lpstr>
      <vt:lpstr>抽象过程</vt:lpstr>
      <vt:lpstr>抽象过程</vt:lpstr>
      <vt:lpstr>面向对象的程序设计 </vt:lpstr>
      <vt:lpstr>PowerPoint Presentation</vt:lpstr>
      <vt:lpstr>PowerPoint Presentation</vt:lpstr>
      <vt:lpstr>PowerPoint Presentation</vt:lpstr>
      <vt:lpstr>从过程化到面向对象</vt:lpstr>
      <vt:lpstr>对象与变量</vt:lpstr>
      <vt:lpstr>面向对象的程序设计 </vt:lpstr>
      <vt:lpstr>过程化vs面向对象</vt:lpstr>
      <vt:lpstr>面向对象的程序设计的三个特点 </vt:lpstr>
      <vt:lpstr>PowerPoint Presentation</vt:lpstr>
      <vt:lpstr>PowerPoint Presentation</vt:lpstr>
      <vt:lpstr>面向对象的程序设计的三个特点 </vt:lpstr>
      <vt:lpstr>面向对象的程序设计的特点：代码重用 </vt:lpstr>
      <vt:lpstr>面向对象的程序设计的特点：实现隐藏</vt:lpstr>
      <vt:lpstr>面向对象的程序设计的特点 </vt:lpstr>
      <vt:lpstr>面向对象的程序设计的特点 </vt:lpstr>
      <vt:lpstr>第10章 创建新的类型</vt:lpstr>
      <vt:lpstr>新的数据类型</vt:lpstr>
      <vt:lpstr>新的数据类型</vt:lpstr>
      <vt:lpstr>如何定义及处理新型数据？</vt:lpstr>
      <vt:lpstr>如何定义及处理新型数据？</vt:lpstr>
      <vt:lpstr>如何定义及处理新型数据？</vt:lpstr>
      <vt:lpstr>数组的处理要求</vt:lpstr>
      <vt:lpstr>3个关键组成部分：</vt:lpstr>
      <vt:lpstr>类型定义放头文件Array中---作为库</vt:lpstr>
      <vt:lpstr>以普通（外部）函数实现数据的处理</vt:lpstr>
      <vt:lpstr>Array库的实现文件---函数定义</vt:lpstr>
      <vt:lpstr>Array库的实现文件---函数定义</vt:lpstr>
      <vt:lpstr>PowerPoint Presentation</vt:lpstr>
      <vt:lpstr>新型数据类型的使用</vt:lpstr>
      <vt:lpstr>PowerPoint Presentation</vt:lpstr>
      <vt:lpstr>Array库的问题</vt:lpstr>
      <vt:lpstr>Array库的问题</vt:lpstr>
      <vt:lpstr>Array库的改进</vt:lpstr>
      <vt:lpstr>改进后的Array库的头文件</vt:lpstr>
      <vt:lpstr>改进后的Array库的实现文件</vt:lpstr>
      <vt:lpstr>改进后的Array库的应用 --- 变化</vt:lpstr>
      <vt:lpstr>PowerPoint Presentation</vt:lpstr>
      <vt:lpstr>PowerPoint Presentation</vt:lpstr>
      <vt:lpstr>将函数放入结构体的意义</vt:lpstr>
      <vt:lpstr>将函数放入结构体的意义</vt:lpstr>
      <vt:lpstr>第10章 创建新的类型</vt:lpstr>
      <vt:lpstr>类型（类）定义</vt:lpstr>
      <vt:lpstr>类型（类）定义的一般格式</vt:lpstr>
      <vt:lpstr>类型（类）定义的一般格式</vt:lpstr>
      <vt:lpstr>公有和私有成员</vt:lpstr>
      <vt:lpstr>用struct和class的区别</vt:lpstr>
      <vt:lpstr>类定义说明</vt:lpstr>
      <vt:lpstr>在模块化设计中，接口和实现分开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通过这些学习，如何提升我们目前的程序设计？</vt:lpstr>
      <vt:lpstr>DoubleArray类的定义改进 1：加访问权限控制</vt:lpstr>
      <vt:lpstr>类定义又一个实例</vt:lpstr>
      <vt:lpstr>设计考虑</vt:lpstr>
      <vt:lpstr>设计考虑</vt:lpstr>
      <vt:lpstr>设计考虑</vt:lpstr>
      <vt:lpstr>设计考虑</vt:lpstr>
      <vt:lpstr>有理数类的定义： Rational.h</vt:lpstr>
      <vt:lpstr>有理数类的实现---Rational.cpp</vt:lpstr>
      <vt:lpstr>有理数类的实现---Rational.cpp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105 程序设计思想与方法 (C++)</dc:title>
  <dc:creator>Dongyao Chen</dc:creator>
  <cp:lastModifiedBy>Dongyao Chen</cp:lastModifiedBy>
  <cp:revision>677</cp:revision>
  <dcterms:created xsi:type="dcterms:W3CDTF">2021-09-25T04:50:25Z</dcterms:created>
  <dcterms:modified xsi:type="dcterms:W3CDTF">2025-12-02T05:17:43Z</dcterms:modified>
</cp:coreProperties>
</file>