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3" r:id="rId1"/>
  </p:sldMasterIdLst>
  <p:notesMasterIdLst>
    <p:notesMasterId r:id="rId123"/>
  </p:notesMasterIdLst>
  <p:handoutMasterIdLst>
    <p:handoutMasterId r:id="rId124"/>
  </p:handoutMasterIdLst>
  <p:sldIdLst>
    <p:sldId id="257" r:id="rId2"/>
    <p:sldId id="379" r:id="rId3"/>
    <p:sldId id="259" r:id="rId4"/>
    <p:sldId id="265" r:id="rId5"/>
    <p:sldId id="260" r:id="rId6"/>
    <p:sldId id="261" r:id="rId7"/>
    <p:sldId id="263" r:id="rId8"/>
    <p:sldId id="264" r:id="rId9"/>
    <p:sldId id="281" r:id="rId10"/>
    <p:sldId id="336" r:id="rId11"/>
    <p:sldId id="337" r:id="rId12"/>
    <p:sldId id="273" r:id="rId13"/>
    <p:sldId id="338" r:id="rId14"/>
    <p:sldId id="371" r:id="rId15"/>
    <p:sldId id="266" r:id="rId16"/>
    <p:sldId id="272" r:id="rId17"/>
    <p:sldId id="258" r:id="rId18"/>
    <p:sldId id="370" r:id="rId19"/>
    <p:sldId id="280" r:id="rId20"/>
    <p:sldId id="282" r:id="rId21"/>
    <p:sldId id="378" r:id="rId22"/>
    <p:sldId id="274" r:id="rId23"/>
    <p:sldId id="275" r:id="rId24"/>
    <p:sldId id="277" r:id="rId25"/>
    <p:sldId id="278" r:id="rId26"/>
    <p:sldId id="279" r:id="rId27"/>
    <p:sldId id="380" r:id="rId28"/>
    <p:sldId id="276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372" r:id="rId37"/>
    <p:sldId id="267" r:id="rId38"/>
    <p:sldId id="268" r:id="rId39"/>
    <p:sldId id="290" r:id="rId40"/>
    <p:sldId id="291" r:id="rId41"/>
    <p:sldId id="292" r:id="rId42"/>
    <p:sldId id="293" r:id="rId43"/>
    <p:sldId id="295" r:id="rId44"/>
    <p:sldId id="294" r:id="rId45"/>
    <p:sldId id="341" r:id="rId46"/>
    <p:sldId id="339" r:id="rId47"/>
    <p:sldId id="340" r:id="rId48"/>
    <p:sldId id="296" r:id="rId49"/>
    <p:sldId id="297" r:id="rId50"/>
    <p:sldId id="298" r:id="rId51"/>
    <p:sldId id="299" r:id="rId52"/>
    <p:sldId id="367" r:id="rId53"/>
    <p:sldId id="369" r:id="rId54"/>
    <p:sldId id="300" r:id="rId55"/>
    <p:sldId id="342" r:id="rId56"/>
    <p:sldId id="316" r:id="rId57"/>
    <p:sldId id="343" r:id="rId58"/>
    <p:sldId id="344" r:id="rId59"/>
    <p:sldId id="373" r:id="rId60"/>
    <p:sldId id="269" r:id="rId61"/>
    <p:sldId id="301" r:id="rId62"/>
    <p:sldId id="312" r:id="rId63"/>
    <p:sldId id="313" r:id="rId64"/>
    <p:sldId id="366" r:id="rId65"/>
    <p:sldId id="347" r:id="rId66"/>
    <p:sldId id="348" r:id="rId67"/>
    <p:sldId id="349" r:id="rId68"/>
    <p:sldId id="355" r:id="rId69"/>
    <p:sldId id="303" r:id="rId70"/>
    <p:sldId id="351" r:id="rId71"/>
    <p:sldId id="350" r:id="rId72"/>
    <p:sldId id="352" r:id="rId73"/>
    <p:sldId id="304" r:id="rId74"/>
    <p:sldId id="332" r:id="rId75"/>
    <p:sldId id="333" r:id="rId76"/>
    <p:sldId id="334" r:id="rId77"/>
    <p:sldId id="335" r:id="rId78"/>
    <p:sldId id="374" r:id="rId79"/>
    <p:sldId id="363" r:id="rId80"/>
    <p:sldId id="356" r:id="rId81"/>
    <p:sldId id="357" r:id="rId82"/>
    <p:sldId id="358" r:id="rId83"/>
    <p:sldId id="359" r:id="rId84"/>
    <p:sldId id="360" r:id="rId85"/>
    <p:sldId id="375" r:id="rId86"/>
    <p:sldId id="331" r:id="rId87"/>
    <p:sldId id="317" r:id="rId88"/>
    <p:sldId id="318" r:id="rId89"/>
    <p:sldId id="319" r:id="rId90"/>
    <p:sldId id="320" r:id="rId91"/>
    <p:sldId id="321" r:id="rId92"/>
    <p:sldId id="322" r:id="rId93"/>
    <p:sldId id="323" r:id="rId94"/>
    <p:sldId id="324" r:id="rId95"/>
    <p:sldId id="382" r:id="rId96"/>
    <p:sldId id="327" r:id="rId97"/>
    <p:sldId id="325" r:id="rId98"/>
    <p:sldId id="328" r:id="rId99"/>
    <p:sldId id="326" r:id="rId100"/>
    <p:sldId id="329" r:id="rId101"/>
    <p:sldId id="330" r:id="rId102"/>
    <p:sldId id="376" r:id="rId103"/>
    <p:sldId id="270" r:id="rId104"/>
    <p:sldId id="305" r:id="rId105"/>
    <p:sldId id="315" r:id="rId106"/>
    <p:sldId id="353" r:id="rId107"/>
    <p:sldId id="306" r:id="rId108"/>
    <p:sldId id="377" r:id="rId109"/>
    <p:sldId id="271" r:id="rId110"/>
    <p:sldId id="311" r:id="rId111"/>
    <p:sldId id="307" r:id="rId112"/>
    <p:sldId id="308" r:id="rId113"/>
    <p:sldId id="309" r:id="rId114"/>
    <p:sldId id="310" r:id="rId115"/>
    <p:sldId id="361" r:id="rId116"/>
    <p:sldId id="345" r:id="rId117"/>
    <p:sldId id="362" r:id="rId118"/>
    <p:sldId id="354" r:id="rId119"/>
    <p:sldId id="381" r:id="rId120"/>
    <p:sldId id="364" r:id="rId121"/>
    <p:sldId id="365" r:id="rId1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05BE43E1-2CBB-F241-87DA-B951F11DD743}">
          <p14:sldIdLst>
            <p14:sldId id="257"/>
            <p14:sldId id="379"/>
            <p14:sldId id="259"/>
            <p14:sldId id="265"/>
            <p14:sldId id="260"/>
            <p14:sldId id="261"/>
            <p14:sldId id="263"/>
            <p14:sldId id="264"/>
            <p14:sldId id="281"/>
            <p14:sldId id="336"/>
            <p14:sldId id="337"/>
            <p14:sldId id="273"/>
            <p14:sldId id="338"/>
            <p14:sldId id="371"/>
            <p14:sldId id="266"/>
            <p14:sldId id="272"/>
            <p14:sldId id="258"/>
            <p14:sldId id="370"/>
            <p14:sldId id="280"/>
            <p14:sldId id="282"/>
            <p14:sldId id="378"/>
            <p14:sldId id="274"/>
            <p14:sldId id="275"/>
            <p14:sldId id="277"/>
            <p14:sldId id="278"/>
            <p14:sldId id="279"/>
            <p14:sldId id="380"/>
            <p14:sldId id="276"/>
            <p14:sldId id="283"/>
            <p14:sldId id="284"/>
            <p14:sldId id="285"/>
            <p14:sldId id="286"/>
            <p14:sldId id="287"/>
            <p14:sldId id="288"/>
            <p14:sldId id="289"/>
            <p14:sldId id="372"/>
            <p14:sldId id="267"/>
            <p14:sldId id="268"/>
            <p14:sldId id="290"/>
            <p14:sldId id="291"/>
            <p14:sldId id="292"/>
            <p14:sldId id="293"/>
            <p14:sldId id="295"/>
            <p14:sldId id="294"/>
            <p14:sldId id="341"/>
            <p14:sldId id="339"/>
            <p14:sldId id="340"/>
            <p14:sldId id="296"/>
            <p14:sldId id="297"/>
            <p14:sldId id="298"/>
            <p14:sldId id="299"/>
            <p14:sldId id="367"/>
            <p14:sldId id="369"/>
            <p14:sldId id="300"/>
            <p14:sldId id="342"/>
            <p14:sldId id="316"/>
            <p14:sldId id="343"/>
            <p14:sldId id="344"/>
            <p14:sldId id="373"/>
            <p14:sldId id="269"/>
            <p14:sldId id="301"/>
            <p14:sldId id="312"/>
            <p14:sldId id="313"/>
            <p14:sldId id="366"/>
            <p14:sldId id="347"/>
            <p14:sldId id="348"/>
            <p14:sldId id="349"/>
            <p14:sldId id="355"/>
            <p14:sldId id="303"/>
            <p14:sldId id="351"/>
            <p14:sldId id="350"/>
            <p14:sldId id="352"/>
            <p14:sldId id="304"/>
            <p14:sldId id="332"/>
            <p14:sldId id="333"/>
            <p14:sldId id="334"/>
            <p14:sldId id="335"/>
            <p14:sldId id="374"/>
            <p14:sldId id="363"/>
            <p14:sldId id="356"/>
            <p14:sldId id="357"/>
            <p14:sldId id="358"/>
            <p14:sldId id="359"/>
            <p14:sldId id="360"/>
            <p14:sldId id="375"/>
            <p14:sldId id="331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  <p14:sldId id="382"/>
            <p14:sldId id="327"/>
            <p14:sldId id="325"/>
            <p14:sldId id="328"/>
            <p14:sldId id="326"/>
            <p14:sldId id="329"/>
            <p14:sldId id="330"/>
            <p14:sldId id="376"/>
            <p14:sldId id="270"/>
            <p14:sldId id="305"/>
            <p14:sldId id="315"/>
            <p14:sldId id="353"/>
            <p14:sldId id="306"/>
            <p14:sldId id="377"/>
            <p14:sldId id="271"/>
            <p14:sldId id="311"/>
            <p14:sldId id="307"/>
            <p14:sldId id="308"/>
            <p14:sldId id="309"/>
            <p14:sldId id="310"/>
            <p14:sldId id="361"/>
            <p14:sldId id="345"/>
            <p14:sldId id="362"/>
            <p14:sldId id="354"/>
            <p14:sldId id="381"/>
            <p14:sldId id="364"/>
            <p14:sldId id="36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B20FF"/>
    <a:srgbClr val="701988"/>
    <a:srgbClr val="6F1787"/>
    <a:srgbClr val="BDD8EE"/>
    <a:srgbClr val="E9F6FD"/>
    <a:srgbClr val="0432FF"/>
    <a:srgbClr val="FF7E79"/>
    <a:srgbClr val="FF8682"/>
    <a:srgbClr val="E8F6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038" autoAdjust="0"/>
    <p:restoredTop sz="94759"/>
  </p:normalViewPr>
  <p:slideViewPr>
    <p:cSldViewPr snapToGrid="0" snapToObjects="1">
      <p:cViewPr varScale="1">
        <p:scale>
          <a:sx n="119" d="100"/>
          <a:sy n="119" d="100"/>
        </p:scale>
        <p:origin x="1136" y="192"/>
      </p:cViewPr>
      <p:guideLst>
        <p:guide orient="horz" pos="2160"/>
        <p:guide pos="3840"/>
      </p:guideLst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napToGrid="0" snapToObjects="1">
      <p:cViewPr varScale="1">
        <p:scale>
          <a:sx n="54" d="100"/>
          <a:sy n="54" d="100"/>
        </p:scale>
        <p:origin x="5264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notesMaster" Target="notesMasters/notesMaster1.xml"/><Relationship Id="rId128" Type="http://schemas.openxmlformats.org/officeDocument/2006/relationships/tableStyles" Target="tableStyle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handoutMaster" Target="handoutMasters/handoutMaster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0116589F-D427-F04A-91D2-2AD451DC087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01085BB-6BB3-2147-AD5B-1A56B9C9B11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87AFB1-FC2E-A841-AABB-8627E0910947}" type="datetimeFigureOut">
              <a:rPr kumimoji="1" lang="zh-CN" altLang="en-US" smtClean="0"/>
              <a:t>2025/4/2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64C79B2-FF71-F345-830D-9C5BA8B64E0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FF34E76-BC21-0A45-A642-1AA614B3E17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C95495-7EA9-3D41-A717-E01872EB96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701215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9A5006-524B-774E-9EF8-7C98BABD4FCD}" type="datetimeFigureOut">
              <a:t>4/2/25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4FA5C0-9868-CE46-A0FF-56EEF184B354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348770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4FA5C0-9868-CE46-A0FF-56EEF184B354}" type="slidenum">
              <a:rPr lang="en-US" altLang="zh-CN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018301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4FA5C0-9868-CE46-A0FF-56EEF184B354}" type="slidenum">
              <a:rPr lang="en-US" altLang="zh-CN" smtClean="0"/>
              <a:t>15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366773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4FA5C0-9868-CE46-A0FF-56EEF184B354}" type="slidenum">
              <a:rPr lang="en-US" altLang="zh-CN" smtClean="0"/>
              <a:t>16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776036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4FA5C0-9868-CE46-A0FF-56EEF184B354}" type="slidenum">
              <a:rPr lang="en-US" altLang="zh-CN" smtClean="0"/>
              <a:t>17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266579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4FA5C0-9868-CE46-A0FF-56EEF184B354}" type="slidenum">
              <a:rPr lang="en-US" altLang="zh-CN" smtClean="0"/>
              <a:t>18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079051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4FA5C0-9868-CE46-A0FF-56EEF184B354}" type="slidenum">
              <a:rPr lang="en-US" altLang="zh-CN" smtClean="0"/>
              <a:t>21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445543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4FA5C0-9868-CE46-A0FF-56EEF184B354}" type="slidenum">
              <a:rPr lang="en-US" altLang="zh-CN" smtClean="0"/>
              <a:t>27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550285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4FA5C0-9868-CE46-A0FF-56EEF184B354}" type="slidenum">
              <a:rPr lang="en-US" altLang="zh-CN" smtClean="0"/>
              <a:t>38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842136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4FA5C0-9868-CE46-A0FF-56EEF184B354}" type="slidenum">
              <a:rPr lang="en-US" altLang="zh-CN" smtClean="0"/>
              <a:t>39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007970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4FA5C0-9868-CE46-A0FF-56EEF184B354}" type="slidenum">
              <a:rPr lang="en-US" altLang="zh-CN" smtClean="0"/>
              <a:t>40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631519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4FA5C0-9868-CE46-A0FF-56EEF184B354}" type="slidenum">
              <a:rPr lang="en-US" altLang="zh-CN" smtClean="0"/>
              <a:t>41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521582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4FA5C0-9868-CE46-A0FF-56EEF184B354}" type="slidenum">
              <a:rPr lang="en-US" altLang="zh-CN" smtClean="0"/>
              <a:t>42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734794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4FA5C0-9868-CE46-A0FF-56EEF184B354}" type="slidenum">
              <a:rPr lang="en-US" altLang="zh-CN" smtClean="0"/>
              <a:t>43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106765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4FA5C0-9868-CE46-A0FF-56EEF184B354}" type="slidenum">
              <a:rPr lang="en-US" altLang="zh-CN" smtClean="0"/>
              <a:t>44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342554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4FA5C0-9868-CE46-A0FF-56EEF184B354}" type="slidenum">
              <a:rPr lang="en-US" altLang="zh-CN" smtClean="0"/>
              <a:t>64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589511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4800" y="1201270"/>
            <a:ext cx="11456894" cy="4876801"/>
          </a:xfrm>
        </p:spPr>
        <p:txBody>
          <a:bodyPr/>
          <a:lstStyle>
            <a:lvl1pPr>
              <a:defRPr>
                <a:latin typeface="SimHei" panose="02010609060101010101" pitchFamily="49" charset="-122"/>
                <a:ea typeface="SimHei" panose="02010609060101010101" pitchFamily="49" charset="-122"/>
              </a:defRPr>
            </a:lvl1pPr>
            <a:lvl2pPr>
              <a:defRPr>
                <a:latin typeface="SimHei" panose="02010609060101010101" pitchFamily="49" charset="-122"/>
                <a:ea typeface="SimHei" panose="02010609060101010101" pitchFamily="49" charset="-122"/>
              </a:defRPr>
            </a:lvl2pPr>
            <a:lvl3pPr>
              <a:defRPr>
                <a:latin typeface="SimHei" panose="02010609060101010101" pitchFamily="49" charset="-122"/>
                <a:ea typeface="SimHei" panose="02010609060101010101" pitchFamily="49" charset="-122"/>
              </a:defRPr>
            </a:lvl3pPr>
            <a:lvl4pPr>
              <a:defRPr>
                <a:latin typeface="SimHei" panose="02010609060101010101" pitchFamily="49" charset="-122"/>
                <a:ea typeface="SimHei" panose="02010609060101010101" pitchFamily="49" charset="-122"/>
              </a:defRPr>
            </a:lvl4pPr>
            <a:lvl5pPr>
              <a:defRPr>
                <a:latin typeface="SimHei" panose="02010609060101010101" pitchFamily="49" charset="-122"/>
                <a:ea typeface="SimHei" panose="02010609060101010101" pitchFamily="49" charset="-122"/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5016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SimHei" panose="02010609060101010101" pitchFamily="49" charset="-122"/>
                <a:ea typeface="SimHei" panose="02010609060101010101" pitchFamily="49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/>
              <a:t>数据库系统</a:t>
            </a:r>
            <a:r>
              <a:rPr kumimoji="1" lang="en-US" altLang="zh-CN"/>
              <a:t>—</a:t>
            </a:r>
            <a:r>
              <a:rPr kumimoji="1" lang="zh-CN" altLang="en-US"/>
              <a:t>索引</a:t>
            </a:r>
            <a:endParaRPr kumimoji="1" lang="zh-CN" altLang="en-US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D34C0-35A8-654C-9FBA-7B4E017BD630}" type="slidenum">
              <a:r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29396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43A6EF-72EA-BF49-9572-4A36487CB9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A0DC9526-AEAB-C547-9BBC-659D55C0F6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50551" y="109584"/>
            <a:ext cx="10090897" cy="6784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E17AFDEE-BBF8-634D-A3D6-F4ABC9CB619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125538"/>
            <a:ext cx="10874188" cy="5005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SimHei" panose="02010609060101010101" pitchFamily="49" charset="-122"/>
                <a:ea typeface="SimHei" panose="02010609060101010101" pitchFamily="49" charset="-122"/>
              </a:defRPr>
            </a:lvl1pPr>
            <a:lvl2pPr>
              <a:defRPr>
                <a:latin typeface="SimHei" panose="02010609060101010101" pitchFamily="49" charset="-122"/>
                <a:ea typeface="SimHei" panose="02010609060101010101" pitchFamily="49" charset="-122"/>
              </a:defRPr>
            </a:lvl2pPr>
            <a:lvl3pPr>
              <a:defRPr>
                <a:latin typeface="SimHei" panose="02010609060101010101" pitchFamily="49" charset="-122"/>
                <a:ea typeface="SimHei" panose="02010609060101010101" pitchFamily="49" charset="-122"/>
              </a:defRPr>
            </a:lvl3pPr>
            <a:lvl4pPr>
              <a:defRPr>
                <a:latin typeface="SimHei" panose="02010609060101010101" pitchFamily="49" charset="-122"/>
                <a:ea typeface="SimHei" panose="02010609060101010101" pitchFamily="49" charset="-122"/>
              </a:defRPr>
            </a:lvl4pPr>
            <a:lvl5pPr>
              <a:defRPr>
                <a:latin typeface="SimHei" panose="02010609060101010101" pitchFamily="49" charset="-122"/>
                <a:ea typeface="SimHei" panose="02010609060101010101" pitchFamily="49" charset="-122"/>
              </a:defRPr>
            </a:lvl5pPr>
          </a:lstStyle>
          <a:p>
            <a:pPr lvl="0"/>
            <a:r>
              <a:rPr lang="en-US" altLang="zh-CN" dirty="0" err="1"/>
              <a:t>单击此处编辑母版文本样式</a:t>
            </a:r>
            <a:endParaRPr lang="en-US" altLang="zh-CN" dirty="0"/>
          </a:p>
          <a:p>
            <a:pPr lvl="1"/>
            <a:r>
              <a:rPr lang="en-US" altLang="zh-CN" dirty="0" err="1"/>
              <a:t>第二级</a:t>
            </a:r>
            <a:endParaRPr lang="en-US" altLang="zh-CN" dirty="0"/>
          </a:p>
          <a:p>
            <a:pPr lvl="2"/>
            <a:r>
              <a:rPr lang="en-US" altLang="zh-CN" dirty="0" err="1"/>
              <a:t>第三级</a:t>
            </a:r>
            <a:endParaRPr lang="en-US" altLang="zh-CN" dirty="0"/>
          </a:p>
          <a:p>
            <a:pPr lvl="3"/>
            <a:r>
              <a:rPr lang="en-US" altLang="zh-CN" dirty="0" err="1"/>
              <a:t>第四级</a:t>
            </a:r>
            <a:endParaRPr lang="en-US" altLang="zh-CN" dirty="0"/>
          </a:p>
          <a:p>
            <a:pPr lvl="4"/>
            <a:r>
              <a:rPr lang="en-US" altLang="zh-CN" dirty="0" err="1"/>
              <a:t>第五级</a:t>
            </a:r>
            <a:endParaRPr lang="en-US" altLang="zh-CN" dirty="0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E0A0153D-2D6F-DA49-B92D-436E519A825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90567" y="6548437"/>
            <a:ext cx="3852862" cy="309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latin typeface="SimHei" panose="02010609060101010101" pitchFamily="49" charset="-122"/>
                <a:ea typeface="SimHei" panose="02010609060101010101" pitchFamily="49" charset="-122"/>
                <a:cs typeface="+mn-cs"/>
              </a:defRPr>
            </a:lvl1pPr>
          </a:lstStyle>
          <a:p>
            <a:pPr>
              <a:defRPr/>
            </a:pPr>
            <a:r>
              <a:rPr lang="zh-CN" altLang="en-US"/>
              <a:t>数据库系统</a:t>
            </a:r>
            <a:r>
              <a:rPr lang="en-US" altLang="zh-CN"/>
              <a:t>—</a:t>
            </a:r>
            <a:r>
              <a:rPr lang="zh-CN" altLang="en-US"/>
              <a:t>索引</a:t>
            </a:r>
            <a:endParaRPr lang="en-US" altLang="zh-CN" sz="1200" dirty="0"/>
          </a:p>
        </p:txBody>
      </p:sp>
    </p:spTree>
    <p:extLst>
      <p:ext uri="{BB962C8B-B14F-4D97-AF65-F5344CB8AC3E}">
        <p14:creationId xmlns:p14="http://schemas.microsoft.com/office/powerpoint/2010/main" val="1490974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3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971550" y="53752"/>
            <a:ext cx="10090897" cy="6784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4104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201270"/>
            <a:ext cx="11456894" cy="55400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4"/>
          </p:nvPr>
        </p:nvSpPr>
        <p:spPr>
          <a:xfrm>
            <a:off x="11571088" y="6517146"/>
            <a:ext cx="765605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87BBDC00-B9E2-4EFD-9306-2934E87247C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7947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4" r:id="rId2"/>
  </p:sldLayoutIdLst>
  <p:hf hdr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800" b="1" i="0">
          <a:solidFill>
            <a:schemeClr val="tx2"/>
          </a:solidFill>
          <a:effectLst/>
          <a:latin typeface="Arial"/>
          <a:ea typeface="黑体"/>
          <a:cs typeface="Arial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4062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华文楷体" pitchFamily="2" charset="-122"/>
          <a:ea typeface="华文楷体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4062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华文楷体" pitchFamily="2" charset="-122"/>
          <a:ea typeface="华文楷体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4062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华文楷体" pitchFamily="2" charset="-122"/>
          <a:ea typeface="华文楷体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4062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华文楷体" pitchFamily="2" charset="-122"/>
          <a:ea typeface="华文楷体" pitchFamily="2" charset="-122"/>
        </a:defRPr>
      </a:lvl5pPr>
      <a:lvl6pPr marL="422041" algn="l" rtl="0" eaLnBrk="1" fontAlgn="base" hangingPunct="1">
        <a:spcBef>
          <a:spcPct val="0"/>
        </a:spcBef>
        <a:spcAft>
          <a:spcPct val="0"/>
        </a:spcAft>
        <a:defRPr kumimoji="1" sz="4062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华文楷体" pitchFamily="2" charset="-122"/>
          <a:ea typeface="华文楷体" pitchFamily="2" charset="-122"/>
        </a:defRPr>
      </a:lvl6pPr>
      <a:lvl7pPr marL="844083" algn="l" rtl="0" eaLnBrk="1" fontAlgn="base" hangingPunct="1">
        <a:spcBef>
          <a:spcPct val="0"/>
        </a:spcBef>
        <a:spcAft>
          <a:spcPct val="0"/>
        </a:spcAft>
        <a:defRPr kumimoji="1" sz="4062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华文楷体" pitchFamily="2" charset="-122"/>
          <a:ea typeface="华文楷体" pitchFamily="2" charset="-122"/>
        </a:defRPr>
      </a:lvl7pPr>
      <a:lvl8pPr marL="1266124" algn="l" rtl="0" eaLnBrk="1" fontAlgn="base" hangingPunct="1">
        <a:spcBef>
          <a:spcPct val="0"/>
        </a:spcBef>
        <a:spcAft>
          <a:spcPct val="0"/>
        </a:spcAft>
        <a:defRPr kumimoji="1" sz="4062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华文楷体" pitchFamily="2" charset="-122"/>
          <a:ea typeface="华文楷体" pitchFamily="2" charset="-122"/>
        </a:defRPr>
      </a:lvl8pPr>
      <a:lvl9pPr marL="1688165" algn="l" rtl="0" eaLnBrk="1" fontAlgn="base" hangingPunct="1">
        <a:spcBef>
          <a:spcPct val="0"/>
        </a:spcBef>
        <a:spcAft>
          <a:spcPct val="0"/>
        </a:spcAft>
        <a:defRPr kumimoji="1" sz="4062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华文楷体" pitchFamily="2" charset="-122"/>
          <a:ea typeface="华文楷体" pitchFamily="2" charset="-122"/>
        </a:defRPr>
      </a:lvl9pPr>
    </p:titleStyle>
    <p:bodyStyle>
      <a:lvl1pPr marL="316531" indent="-316531" algn="l" rtl="0" eaLnBrk="1" fontAlgn="base" hangingPunct="1">
        <a:spcBef>
          <a:spcPct val="20000"/>
        </a:spcBef>
        <a:spcAft>
          <a:spcPct val="0"/>
        </a:spcAft>
        <a:buFont typeface="Wingdings" charset="2"/>
        <a:buChar char="p"/>
        <a:defRPr kumimoji="1" sz="3200" b="0">
          <a:solidFill>
            <a:schemeClr val="tx1"/>
          </a:solidFill>
          <a:effectLst/>
          <a:latin typeface="Arial"/>
          <a:ea typeface="黑体"/>
          <a:cs typeface="Arial"/>
        </a:defRPr>
      </a:lvl1pPr>
      <a:lvl2pPr marL="685817" indent="-263776" algn="l" rtl="0" eaLnBrk="1" fontAlgn="base" hangingPunct="1">
        <a:spcBef>
          <a:spcPct val="20000"/>
        </a:spcBef>
        <a:spcAft>
          <a:spcPct val="0"/>
        </a:spcAft>
        <a:buChar char="–"/>
        <a:defRPr kumimoji="1" sz="2800" b="0">
          <a:solidFill>
            <a:schemeClr val="tx1"/>
          </a:solidFill>
          <a:effectLst/>
          <a:latin typeface="Arial"/>
          <a:ea typeface="黑体"/>
          <a:cs typeface="Arial"/>
        </a:defRPr>
      </a:lvl2pPr>
      <a:lvl3pPr marL="1055103" indent="-211021" algn="l" rtl="0" eaLnBrk="1" fontAlgn="base" hangingPunct="1">
        <a:spcBef>
          <a:spcPct val="20000"/>
        </a:spcBef>
        <a:spcAft>
          <a:spcPct val="0"/>
        </a:spcAft>
        <a:buChar char="•"/>
        <a:defRPr kumimoji="1" sz="2400" b="0">
          <a:solidFill>
            <a:schemeClr val="tx1"/>
          </a:solidFill>
          <a:effectLst/>
          <a:latin typeface="Arial"/>
          <a:ea typeface="黑体"/>
          <a:cs typeface="Arial"/>
        </a:defRPr>
      </a:lvl3pPr>
      <a:lvl4pPr marL="1477145" indent="-211021" algn="l" rtl="0" eaLnBrk="1" fontAlgn="base" hangingPunct="1">
        <a:spcBef>
          <a:spcPct val="20000"/>
        </a:spcBef>
        <a:spcAft>
          <a:spcPct val="0"/>
        </a:spcAft>
        <a:buChar char="–"/>
        <a:defRPr kumimoji="1" sz="1846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4pPr>
      <a:lvl5pPr marL="1899186" indent="-211021" algn="l" rtl="0" eaLnBrk="1" fontAlgn="base" hangingPunct="1">
        <a:spcBef>
          <a:spcPct val="20000"/>
        </a:spcBef>
        <a:spcAft>
          <a:spcPct val="0"/>
        </a:spcAft>
        <a:buChar char="»"/>
        <a:defRPr kumimoji="1" sz="1846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5pPr>
      <a:lvl6pPr marL="2321227" indent="-211021" algn="l" rtl="0" eaLnBrk="1" fontAlgn="base" hangingPunct="1">
        <a:spcBef>
          <a:spcPct val="20000"/>
        </a:spcBef>
        <a:spcAft>
          <a:spcPct val="0"/>
        </a:spcAft>
        <a:buChar char="»"/>
        <a:defRPr kumimoji="1" sz="1846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6pPr>
      <a:lvl7pPr marL="2743269" indent="-211021" algn="l" rtl="0" eaLnBrk="1" fontAlgn="base" hangingPunct="1">
        <a:spcBef>
          <a:spcPct val="20000"/>
        </a:spcBef>
        <a:spcAft>
          <a:spcPct val="0"/>
        </a:spcAft>
        <a:buChar char="»"/>
        <a:defRPr kumimoji="1" sz="1846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7pPr>
      <a:lvl8pPr marL="3165310" indent="-211021" algn="l" rtl="0" eaLnBrk="1" fontAlgn="base" hangingPunct="1">
        <a:spcBef>
          <a:spcPct val="20000"/>
        </a:spcBef>
        <a:spcAft>
          <a:spcPct val="0"/>
        </a:spcAft>
        <a:buChar char="»"/>
        <a:defRPr kumimoji="1" sz="1846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8pPr>
      <a:lvl9pPr marL="3587351" indent="-211021" algn="l" rtl="0" eaLnBrk="1" fontAlgn="base" hangingPunct="1">
        <a:spcBef>
          <a:spcPct val="20000"/>
        </a:spcBef>
        <a:spcAft>
          <a:spcPct val="0"/>
        </a:spcAft>
        <a:buChar char="»"/>
        <a:defRPr kumimoji="1" sz="1846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41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83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124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165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207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248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289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331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1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emf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em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0.png"/><Relationship Id="rId4" Type="http://schemas.openxmlformats.org/officeDocument/2006/relationships/image" Target="../media/image18.emf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emf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e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emf"/><Relationship Id="rId4" Type="http://schemas.openxmlformats.org/officeDocument/2006/relationships/image" Target="../media/image44.emf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emf"/><Relationship Id="rId2" Type="http://schemas.openxmlformats.org/officeDocument/2006/relationships/image" Target="../media/image48.emf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emf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emf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emf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emf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emf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emf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emf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emf"/><Relationship Id="rId2" Type="http://schemas.openxmlformats.org/officeDocument/2006/relationships/image" Target="../media/image54.emf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emf"/><Relationship Id="rId2" Type="http://schemas.openxmlformats.org/officeDocument/2006/relationships/image" Target="../media/image52.emf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emf"/><Relationship Id="rId2" Type="http://schemas.openxmlformats.org/officeDocument/2006/relationships/image" Target="../media/image53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emf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emf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emf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emf"/><Relationship Id="rId7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emf"/><Relationship Id="rId5" Type="http://schemas.openxmlformats.org/officeDocument/2006/relationships/image" Target="../media/image63.png"/><Relationship Id="rId4" Type="http://schemas.openxmlformats.org/officeDocument/2006/relationships/image" Target="../media/image57.emf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tiff"/><Relationship Id="rId2" Type="http://schemas.openxmlformats.org/officeDocument/2006/relationships/image" Target="../media/image59.tiff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emf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emf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emf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emf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emf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emf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emf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emf"/><Relationship Id="rId2" Type="http://schemas.openxmlformats.org/officeDocument/2006/relationships/image" Target="../media/image76.emf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emf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emf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emf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emf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emf"/><Relationship Id="rId2" Type="http://schemas.openxmlformats.org/officeDocument/2006/relationships/image" Target="../media/image81.emf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emf"/><Relationship Id="rId2" Type="http://schemas.openxmlformats.org/officeDocument/2006/relationships/image" Target="../media/image8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.emf"/><Relationship Id="rId5" Type="http://schemas.openxmlformats.org/officeDocument/2006/relationships/image" Target="../media/image86.emf"/><Relationship Id="rId4" Type="http://schemas.openxmlformats.org/officeDocument/2006/relationships/image" Target="../media/image85.emf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0.pn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>
            <a:extLst>
              <a:ext uri="{FF2B5EF4-FFF2-40B4-BE49-F238E27FC236}">
                <a16:creationId xmlns:a16="http://schemas.microsoft.com/office/drawing/2014/main" id="{1A13B999-E893-C76A-17F7-DFFE2F206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zh-CN" altLang="en-US"/>
              <a:t>数据库系统</a:t>
            </a:r>
            <a:r>
              <a:rPr kumimoji="1" lang="en-US" altLang="zh-CN"/>
              <a:t>—</a:t>
            </a:r>
            <a:r>
              <a:rPr kumimoji="1" lang="zh-CN" altLang="en-US"/>
              <a:t>索引</a:t>
            </a:r>
            <a:endParaRPr kumimoji="1" lang="zh-CN" altLang="en-US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EDBA00A-6DD0-48A1-5709-01C141726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D34C0-35A8-654C-9FBA-7B4E017BD630}" type="slidenum">
              <a:rPr lang="en-US" altLang="zh-CN" smtClean="0"/>
              <a:t>1</a:t>
            </a:fld>
            <a:endParaRPr kumimoji="1" lang="zh-CN" altLang="en-US"/>
          </a:p>
        </p:txBody>
      </p:sp>
      <p:sp>
        <p:nvSpPr>
          <p:cNvPr id="15" name="Shape1">
            <a:extLst>
              <a:ext uri="{FF2B5EF4-FFF2-40B4-BE49-F238E27FC236}">
                <a16:creationId xmlns:a16="http://schemas.microsoft.com/office/drawing/2014/main" id="{850AC532-A8F0-4DE8-948E-83E68CA66793}"/>
              </a:ext>
            </a:extLst>
          </p:cNvPr>
          <p:cNvSpPr/>
          <p:nvPr/>
        </p:nvSpPr>
        <p:spPr>
          <a:xfrm flipH="1">
            <a:off x="2311055" y="1436523"/>
            <a:ext cx="4950343" cy="121841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6F1787"/>
              </a:gs>
              <a:gs pos="100000">
                <a:schemeClr val="bg1">
                  <a:alpha val="0"/>
                </a:scheme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600" dirty="0">
              <a:latin typeface="微软雅黑" panose="020B0503020204020204" pitchFamily="82" charset="2"/>
              <a:ea typeface="微软雅黑" panose="020B0503020204020204" pitchFamily="82" charset="2"/>
              <a:cs typeface="思源黑体 CN Light" panose="020B0300000000000000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690CB05-D799-4340-82CA-B7304F382E3C}"/>
              </a:ext>
            </a:extLst>
          </p:cNvPr>
          <p:cNvSpPr txBox="1"/>
          <p:nvPr/>
        </p:nvSpPr>
        <p:spPr>
          <a:xfrm>
            <a:off x="2880198" y="1537901"/>
            <a:ext cx="667337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zh-CN" altLang="en-US" sz="6000" b="1" dirty="0">
                <a:solidFill>
                  <a:srgbClr val="3A006A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第</a:t>
            </a:r>
            <a:r>
              <a:rPr kumimoji="1" lang="en-US" altLang="zh-CN" sz="6000" b="1" dirty="0">
                <a:solidFill>
                  <a:srgbClr val="3A006A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9</a:t>
            </a:r>
            <a:r>
              <a:rPr kumimoji="1" lang="zh-CN" altLang="en-US" sz="6000" b="1" dirty="0">
                <a:solidFill>
                  <a:srgbClr val="3A006A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章 </a:t>
            </a:r>
            <a:r>
              <a:rPr kumimoji="1" lang="zh-CN" altLang="en-US" sz="6000" b="1" dirty="0">
                <a:latin typeface="微软雅黑" panose="020B0503020204020204" pitchFamily="82" charset="2"/>
                <a:ea typeface="微软雅黑" panose="020B0503020204020204" pitchFamily="82" charset="2"/>
              </a:rPr>
              <a:t>数据库索引</a:t>
            </a:r>
          </a:p>
        </p:txBody>
      </p:sp>
    </p:spTree>
    <p:extLst>
      <p:ext uri="{BB962C8B-B14F-4D97-AF65-F5344CB8AC3E}">
        <p14:creationId xmlns:p14="http://schemas.microsoft.com/office/powerpoint/2010/main" val="3654085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A1893F1-F60D-7F81-4228-B3D356269F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/>
              <a:pPr/>
              <a:t>2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5D820DFF-A4DB-65C3-46B5-15533C5E9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索引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B646C0-81DB-2A2C-080A-C9C5ED00B6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数据库系统</a:t>
            </a:r>
            <a:r>
              <a:rPr lang="en-US" altLang="zh-CN"/>
              <a:t>—</a:t>
            </a:r>
            <a:r>
              <a:rPr lang="zh-CN" altLang="en-US"/>
              <a:t>索引</a:t>
            </a:r>
            <a:endParaRPr lang="en-US" altLang="zh-CN" sz="12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E300217-94DE-CCFC-D6DD-2DA13EBDBF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5223" y="808253"/>
            <a:ext cx="9243549" cy="5740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759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18">
            <a:extLst>
              <a:ext uri="{FF2B5EF4-FFF2-40B4-BE49-F238E27FC236}">
                <a16:creationId xmlns:a16="http://schemas.microsoft.com/office/drawing/2014/main" id="{5EE32D71-8EA8-4F51-9A4D-483CE4767E95}"/>
              </a:ext>
            </a:extLst>
          </p:cNvPr>
          <p:cNvSpPr/>
          <p:nvPr/>
        </p:nvSpPr>
        <p:spPr>
          <a:xfrm>
            <a:off x="3015427" y="1172238"/>
            <a:ext cx="6286222" cy="4566412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dirty="0">
              <a:latin typeface="OPPOSans M" panose="00020600040101010101" pitchFamily="18" charset="-122"/>
              <a:ea typeface="OPPOSans M" panose="00020600040101010101" pitchFamily="18" charset="-122"/>
              <a:sym typeface="+mn-ea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3C35F35-0D0B-BDBC-478B-23D7223FD1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3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C01FBE5-2997-DA5A-E679-2665D9279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目录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6F1E561-F548-2140-CB4E-A81D3F2686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12400" y="1447238"/>
            <a:ext cx="5807946" cy="419169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索引概述</a:t>
            </a:r>
            <a:endParaRPr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B+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树索引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B+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树并发控制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哈希索引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SkipList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跳表索引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LSM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树索引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位图索引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多维索引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0" indent="0">
              <a:buNone/>
            </a:pP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     ——R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树、</a:t>
            </a: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KD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树、</a:t>
            </a: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Quadtree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、</a:t>
            </a: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Z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曲线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F725F9-5EC3-90CE-2C91-413426E802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5326983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18">
            <a:extLst>
              <a:ext uri="{FF2B5EF4-FFF2-40B4-BE49-F238E27FC236}">
                <a16:creationId xmlns:a16="http://schemas.microsoft.com/office/drawing/2014/main" id="{80AEF5BD-67A6-48F8-81AA-71011215F14A}"/>
              </a:ext>
            </a:extLst>
          </p:cNvPr>
          <p:cNvSpPr/>
          <p:nvPr/>
        </p:nvSpPr>
        <p:spPr>
          <a:xfrm>
            <a:off x="1655408" y="1322052"/>
            <a:ext cx="9486040" cy="4885801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dirty="0">
              <a:latin typeface="OPPOSans M" panose="00020600040101010101" pitchFamily="18" charset="-122"/>
              <a:ea typeface="OPPOSans M" panose="00020600040101010101" pitchFamily="18" charset="-122"/>
              <a:sym typeface="+mn-ea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3C35F35-0D0B-BDBC-478B-23D7223FD1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4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C01FBE5-2997-DA5A-E679-2665D9279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目录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6F1E561-F548-2140-CB4E-A81D3F2686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2385" y="1677233"/>
            <a:ext cx="9032086" cy="3288706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kumimoji="1" lang="zh-CN" altLang="en-US" sz="2800" b="1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索引概述</a:t>
            </a:r>
            <a:endParaRPr kumimoji="1" lang="en-US" altLang="zh-CN" sz="2800" b="1" dirty="0">
              <a:solidFill>
                <a:srgbClr val="6F1787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712186" lvl="2" indent="-342900">
              <a:lnSpc>
                <a:spcPct val="150000"/>
              </a:lnSpc>
              <a:buClr>
                <a:srgbClr val="6F1787"/>
              </a:buClr>
              <a:buFont typeface="Wingdings" pitchFamily="2" charset="2"/>
              <a:buChar char="l"/>
            </a:pPr>
            <a:r>
              <a:rPr lang="zh-CN" altLang="en-US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索引的目的：加速数据获取速度</a:t>
            </a:r>
            <a:endParaRPr lang="en-US" altLang="zh-CN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712186" lvl="2" indent="-342900">
              <a:lnSpc>
                <a:spcPct val="150000"/>
              </a:lnSpc>
              <a:buFont typeface="Wingdings" pitchFamily="2" charset="2"/>
              <a:buChar char="l"/>
            </a:pP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</a:rPr>
              <a:t>聚集索引与非聚集索引：数据是否按照索引列排序存储</a:t>
            </a:r>
            <a:endParaRPr lang="en-US" altLang="zh-CN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712186" lvl="2" indent="-342900">
              <a:lnSpc>
                <a:spcPct val="150000"/>
              </a:lnSpc>
              <a:buFont typeface="Wingdings" pitchFamily="2" charset="2"/>
              <a:buChar char="l"/>
            </a:pP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</a:rPr>
              <a:t>稠密索引与稀疏索引：是否包含所有索引项</a:t>
            </a:r>
            <a:endParaRPr lang="en-US" altLang="zh-CN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712186" lvl="2" indent="-342900">
              <a:lnSpc>
                <a:spcPct val="150000"/>
              </a:lnSpc>
              <a:buFont typeface="Wingdings" pitchFamily="2" charset="2"/>
              <a:buChar char="l"/>
            </a:pP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</a:rPr>
              <a:t>单列索引与多列索引：索引列包含列的数目</a:t>
            </a:r>
            <a:endParaRPr lang="en-US" altLang="zh-CN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712186" lvl="2" indent="-342900">
              <a:lnSpc>
                <a:spcPct val="150000"/>
              </a:lnSpc>
              <a:buFont typeface="Wingdings" pitchFamily="2" charset="2"/>
              <a:buChar char="l"/>
            </a:pP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</a:rPr>
              <a:t>单级索引与多级索引：索引的层数</a:t>
            </a:r>
            <a:endParaRPr lang="en-US" altLang="zh-CN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A983F2-1F07-FCE2-367C-809742BA31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459364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18">
            <a:extLst>
              <a:ext uri="{FF2B5EF4-FFF2-40B4-BE49-F238E27FC236}">
                <a16:creationId xmlns:a16="http://schemas.microsoft.com/office/drawing/2014/main" id="{5C85EF6F-1991-45CE-9CCD-CC2694817232}"/>
              </a:ext>
            </a:extLst>
          </p:cNvPr>
          <p:cNvSpPr/>
          <p:nvPr/>
        </p:nvSpPr>
        <p:spPr>
          <a:xfrm>
            <a:off x="6534156" y="2376390"/>
            <a:ext cx="4518855" cy="3910878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dirty="0">
              <a:latin typeface="OPPOSans M" panose="00020600040101010101" pitchFamily="18" charset="-122"/>
              <a:ea typeface="OPPOSans M" panose="00020600040101010101" pitchFamily="18" charset="-122"/>
              <a:sym typeface="+mn-ea"/>
            </a:endParaRPr>
          </a:p>
        </p:txBody>
      </p:sp>
      <p:sp>
        <p:nvSpPr>
          <p:cNvPr id="12" name="Shape18">
            <a:extLst>
              <a:ext uri="{FF2B5EF4-FFF2-40B4-BE49-F238E27FC236}">
                <a16:creationId xmlns:a16="http://schemas.microsoft.com/office/drawing/2014/main" id="{5C85EF6F-1991-45CE-9CCD-CC2694817232}"/>
              </a:ext>
            </a:extLst>
          </p:cNvPr>
          <p:cNvSpPr/>
          <p:nvPr/>
        </p:nvSpPr>
        <p:spPr>
          <a:xfrm>
            <a:off x="1261331" y="2364593"/>
            <a:ext cx="5075302" cy="3910878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dirty="0">
              <a:latin typeface="OPPOSans M" panose="00020600040101010101" pitchFamily="18" charset="-122"/>
              <a:ea typeface="OPPOSans M" panose="00020600040101010101" pitchFamily="18" charset="-122"/>
              <a:sym typeface="+mn-ea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EB59626-3089-42E3-0B78-E232841242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5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6DCE23F3-A3C3-590D-A553-F80BCB1A7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索引概述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4685C7B-A3A4-24F4-12A0-B655F2101A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3646" y="1503302"/>
            <a:ext cx="9414102" cy="75017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用于从数据库中高效获取</a:t>
            </a:r>
            <a:r>
              <a:rPr lang="zh-CN" altLang="en-US" sz="2000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满足条件的记录</a:t>
            </a:r>
            <a:endParaRPr lang="en-US" altLang="zh-CN" sz="2000" dirty="0">
              <a:solidFill>
                <a:srgbClr val="6F1787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  <a:cs typeface="Courier New" panose="02070309020205020404" pitchFamily="49" charset="0"/>
              </a:rPr>
              <a:t>SELECT * FROM library WHERE </a:t>
            </a:r>
            <a:r>
              <a:rPr lang="en-US" altLang="zh-CN" sz="2000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  <a:cs typeface="Courier New" panose="02070309020205020404" pitchFamily="49" charset="0"/>
              </a:rPr>
              <a:t>title = ‘Database System’;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3EAA8F1-7FD5-060D-9CEE-AC9B0A0EA6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8545" y="3043572"/>
            <a:ext cx="3970489" cy="2982527"/>
          </a:xfrm>
          <a:prstGeom prst="rect">
            <a:avLst/>
          </a:prstGeom>
          <a:ln w="25400" cmpd="sng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6F1787"/>
                </a:gs>
              </a:gsLst>
              <a:lin ang="5400000" scaled="1"/>
            </a:gradFill>
          </a:ln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5BC3BA2-A8A2-B0F5-BCFF-D55D1E17129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322" t="38274" r="51878" b="6340"/>
          <a:stretch/>
        </p:blipFill>
        <p:spPr>
          <a:xfrm>
            <a:off x="7648400" y="3043572"/>
            <a:ext cx="2279637" cy="2982527"/>
          </a:xfrm>
          <a:prstGeom prst="rect">
            <a:avLst/>
          </a:prstGeom>
          <a:solidFill>
            <a:schemeClr val="bg1">
              <a:alpha val="0"/>
            </a:schemeClr>
          </a:solidFill>
          <a:ln w="25400" cap="rnd" cmpd="sng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6F1787"/>
                </a:gs>
              </a:gsLst>
              <a:lin ang="5400000" scaled="1"/>
            </a:gradFill>
          </a:ln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CA72ECFD-992A-8A58-2C54-3FA04F7DDB49}"/>
              </a:ext>
            </a:extLst>
          </p:cNvPr>
          <p:cNvSpPr txBox="1"/>
          <p:nvPr/>
        </p:nvSpPr>
        <p:spPr>
          <a:xfrm>
            <a:off x="6801073" y="2502844"/>
            <a:ext cx="4126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微软雅黑" panose="020B0503020204020204" pitchFamily="82" charset="2"/>
                <a:ea typeface="微软雅黑" panose="020B0503020204020204" pitchFamily="82" charset="2"/>
              </a:rPr>
              <a:t>文献卡片在卡片柜中以书名笔画数排序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FBC0D98-6213-E209-7FA3-A0FC6A465EAA}"/>
              </a:ext>
            </a:extLst>
          </p:cNvPr>
          <p:cNvSpPr txBox="1"/>
          <p:nvPr/>
        </p:nvSpPr>
        <p:spPr>
          <a:xfrm>
            <a:off x="1403136" y="2502844"/>
            <a:ext cx="5045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微软雅黑" panose="020B0503020204020204" pitchFamily="82" charset="2"/>
                <a:ea typeface="微软雅黑" panose="020B0503020204020204" pitchFamily="82" charset="2"/>
              </a:rPr>
              <a:t>文献卡片记录了书的基本信息与所在书架位置</a:t>
            </a:r>
          </a:p>
        </p:txBody>
      </p:sp>
      <p:sp>
        <p:nvSpPr>
          <p:cNvPr id="9" name="页脚占位符 8">
            <a:extLst>
              <a:ext uri="{FF2B5EF4-FFF2-40B4-BE49-F238E27FC236}">
                <a16:creationId xmlns:a16="http://schemas.microsoft.com/office/drawing/2014/main" id="{B134C99A-656C-24F8-40F6-4174E30D8A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131491" y="895841"/>
            <a:ext cx="2042867" cy="5810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16531" lvl="1" indent="-316531">
              <a:lnSpc>
                <a:spcPct val="150000"/>
              </a:lnSpc>
              <a:buClr>
                <a:srgbClr val="6F1787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索引的目的</a:t>
            </a:r>
            <a:endParaRPr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763131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18">
            <a:extLst>
              <a:ext uri="{FF2B5EF4-FFF2-40B4-BE49-F238E27FC236}">
                <a16:creationId xmlns:a16="http://schemas.microsoft.com/office/drawing/2014/main" id="{597C662D-91E3-46CE-AEC6-0E5338E5C6AF}"/>
              </a:ext>
            </a:extLst>
          </p:cNvPr>
          <p:cNvSpPr/>
          <p:nvPr/>
        </p:nvSpPr>
        <p:spPr>
          <a:xfrm>
            <a:off x="1283681" y="1698794"/>
            <a:ext cx="9558490" cy="4618879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dirty="0">
              <a:latin typeface="OPPOSans M" panose="00020600040101010101" pitchFamily="18" charset="-122"/>
              <a:ea typeface="OPPOSans M" panose="00020600040101010101" pitchFamily="18" charset="-122"/>
              <a:sym typeface="+mn-ea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EB59626-3089-42E3-0B78-E232841242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6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6DCE23F3-A3C3-590D-A553-F80BCB1A7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索引概述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4685C7B-A3A4-24F4-12A0-B655F2101A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6834" y="1869578"/>
            <a:ext cx="8954491" cy="3028339"/>
          </a:xfrm>
        </p:spPr>
        <p:txBody>
          <a:bodyPr/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索引通过存储</a:t>
            </a:r>
            <a:r>
              <a:rPr lang="zh-CN" altLang="en-US" sz="2400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（查找键</a:t>
            </a:r>
            <a:r>
              <a:rPr lang="en-US" altLang="zh-CN" sz="2400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,</a:t>
            </a:r>
            <a:r>
              <a:rPr lang="zh-CN" altLang="en-US" sz="2400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 数据位置）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来快速定位记录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SzPct val="50000"/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稠密索引：数据位置</a:t>
            </a: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  <a:sym typeface="Wingdings" pitchFamily="2" charset="2"/>
              </a:rPr>
              <a:t>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记录的位置（页面，槽位）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SzPct val="50000"/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稀疏索引：数据位置</a:t>
            </a: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  <a:sym typeface="Wingdings" pitchFamily="2" charset="2"/>
              </a:rPr>
              <a:t>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页面的位置（页面）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索引一般存储以页面为单位组织（内存索引除外）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索引也需要支持并发控制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插入记录时，</a:t>
            </a:r>
            <a:r>
              <a:rPr lang="zh-CN" altLang="en-US" sz="2400" dirty="0">
                <a:solidFill>
                  <a:srgbClr val="3B20FF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先插入数据页面，然后插入索引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，而且两者要保持事务一致性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0" indent="0">
              <a:buNone/>
            </a:pPr>
            <a:endParaRPr lang="en-US" altLang="zh-CN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79BDCD7-C7EC-30B4-18A7-2495C292EA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131491" y="980558"/>
            <a:ext cx="2299347" cy="66248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16531" lvl="1" indent="-316531">
              <a:lnSpc>
                <a:spcPct val="150000"/>
              </a:lnSpc>
              <a:buClr>
                <a:srgbClr val="6F1787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索引的目的</a:t>
            </a:r>
            <a:endParaRPr lang="en-US" altLang="zh-CN" sz="28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2245820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18">
            <a:extLst>
              <a:ext uri="{FF2B5EF4-FFF2-40B4-BE49-F238E27FC236}">
                <a16:creationId xmlns:a16="http://schemas.microsoft.com/office/drawing/2014/main" id="{91A400E1-724F-4E8B-872D-FB9C5A112BDF}"/>
              </a:ext>
            </a:extLst>
          </p:cNvPr>
          <p:cNvSpPr/>
          <p:nvPr/>
        </p:nvSpPr>
        <p:spPr>
          <a:xfrm>
            <a:off x="1588829" y="3976665"/>
            <a:ext cx="9183946" cy="2424136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dirty="0">
              <a:latin typeface="OPPOSans M" panose="00020600040101010101" pitchFamily="18" charset="-122"/>
              <a:ea typeface="OPPOSans M" panose="00020600040101010101" pitchFamily="18" charset="-122"/>
              <a:sym typeface="+mn-ea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FC31B8F-D1C6-9248-5000-64D9DA2EAE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7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4BDCEE0-47DC-5017-D0BB-E20BA1FCA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r>
              <a:rPr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按照物理存储类型分类</a:t>
            </a:r>
            <a:endParaRPr kumimoji="1" lang="zh-CN" altLang="en-US" sz="36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57EE1F3-11C6-24E3-88C7-23D4F1BFA4E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241"/>
          <a:stretch/>
        </p:blipFill>
        <p:spPr>
          <a:xfrm>
            <a:off x="2306046" y="4116811"/>
            <a:ext cx="7728713" cy="207029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097A8974-F913-5723-D8F9-728CFA6CA3F0}"/>
              </a:ext>
            </a:extLst>
          </p:cNvPr>
          <p:cNvSpPr txBox="1"/>
          <p:nvPr/>
        </p:nvSpPr>
        <p:spPr>
          <a:xfrm>
            <a:off x="2414276" y="5939748"/>
            <a:ext cx="15085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</a:rPr>
              <a:t>聚集索引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F7DA462-1249-C9B1-4A6B-35E228B399E7}"/>
              </a:ext>
            </a:extLst>
          </p:cNvPr>
          <p:cNvSpPr txBox="1"/>
          <p:nvPr/>
        </p:nvSpPr>
        <p:spPr>
          <a:xfrm>
            <a:off x="8748208" y="5939748"/>
            <a:ext cx="15085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</a:rPr>
              <a:t>非聚集索引</a:t>
            </a:r>
          </a:p>
        </p:txBody>
      </p:sp>
      <p:sp>
        <p:nvSpPr>
          <p:cNvPr id="9" name="页脚占位符 8">
            <a:extLst>
              <a:ext uri="{FF2B5EF4-FFF2-40B4-BE49-F238E27FC236}">
                <a16:creationId xmlns:a16="http://schemas.microsoft.com/office/drawing/2014/main" id="{DD5084C0-6AE0-1134-1DD6-68C86DC62F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EF7CE37-5881-22B4-4362-C8E4732686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551" y="928200"/>
            <a:ext cx="11309614" cy="4555720"/>
          </a:xfrm>
        </p:spPr>
        <p:txBody>
          <a:bodyPr/>
          <a:lstStyle/>
          <a:p>
            <a:pPr>
              <a:buClr>
                <a:srgbClr val="6F1787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按照物理存储分为：</a:t>
            </a:r>
            <a:r>
              <a:rPr kumimoji="1"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聚集索引 </a:t>
            </a:r>
            <a:r>
              <a:rPr kumimoji="1" lang="en-US" altLang="zh-CN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vs </a:t>
            </a:r>
            <a:r>
              <a:rPr kumimoji="1"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非聚集索引</a:t>
            </a:r>
            <a:endParaRPr kumimoji="1"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聚集索引：数据按照查找键排序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2">
              <a:lnSpc>
                <a:spcPct val="150000"/>
              </a:lnSpc>
              <a:buSzPct val="50000"/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按照查找键连续存储，聚集索引上范围查询效率更高，一张表只能有一个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2">
              <a:lnSpc>
                <a:spcPct val="150000"/>
              </a:lnSpc>
              <a:buSzPct val="50000"/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维护增删时需要移动数据文件中的记录，开销稍大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非聚集索引：辅助索引、二级索引</a:t>
            </a:r>
            <a:endParaRPr kumimoji="1"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2">
              <a:lnSpc>
                <a:spcPct val="150000"/>
              </a:lnSpc>
              <a:buClr>
                <a:schemeClr val="tx1"/>
              </a:buClr>
              <a:buSzPct val="50000"/>
              <a:buFont typeface="Wingdings" panose="05000000000000000000" pitchFamily="2" charset="2"/>
              <a:buChar char="p"/>
            </a:pPr>
            <a:r>
              <a:rPr lang="zh-CN" altLang="en-US" sz="2000" b="1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一张表可以有多个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，数据不一定按照索引列顺序存储</a:t>
            </a:r>
            <a:endParaRPr kumimoji="1" lang="zh-CN" altLang="en-US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622956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18">
            <a:extLst>
              <a:ext uri="{FF2B5EF4-FFF2-40B4-BE49-F238E27FC236}">
                <a16:creationId xmlns:a16="http://schemas.microsoft.com/office/drawing/2014/main" id="{09CA1915-EF32-485B-B478-023FAB3DFC71}"/>
              </a:ext>
            </a:extLst>
          </p:cNvPr>
          <p:cNvSpPr/>
          <p:nvPr/>
        </p:nvSpPr>
        <p:spPr>
          <a:xfrm>
            <a:off x="1471011" y="2565686"/>
            <a:ext cx="9091974" cy="3706777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dirty="0">
              <a:latin typeface="OPPOSans M" panose="00020600040101010101" pitchFamily="18" charset="-122"/>
              <a:ea typeface="OPPOSans M" panose="00020600040101010101" pitchFamily="18" charset="-122"/>
              <a:sym typeface="+mn-ea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FC31B8F-D1C6-9248-5000-64D9DA2EAE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8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4BDCEE0-47DC-5017-D0BB-E20BA1FCA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索引按照指针记录的粒度分类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EF7CE37-5881-22B4-4362-C8E4732686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812" y="907304"/>
            <a:ext cx="9403177" cy="1693788"/>
          </a:xfrm>
        </p:spPr>
        <p:txBody>
          <a:bodyPr/>
          <a:lstStyle/>
          <a:p>
            <a:pPr>
              <a:lnSpc>
                <a:spcPct val="150000"/>
              </a:lnSpc>
              <a:buClr>
                <a:srgbClr val="6F1787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按照索引粒度分为：稠密索引 </a:t>
            </a:r>
            <a:r>
              <a:rPr lang="en-US" altLang="zh-CN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vs</a:t>
            </a: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 稀疏索引</a:t>
            </a:r>
            <a:endParaRPr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SzPct val="50000"/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稠密索引：索引到数据记录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SzPct val="50000"/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稀疏索引：索引到文件页面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203D3B4-FD7D-C693-1F50-089C119BE0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422" y="2684936"/>
            <a:ext cx="3902798" cy="342828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E2331E1-0AD9-9DFF-06D9-9A6B6982B3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3175" y="2684936"/>
            <a:ext cx="4000919" cy="3428280"/>
          </a:xfrm>
          <a:prstGeom prst="rect">
            <a:avLst/>
          </a:prstGeom>
        </p:spPr>
      </p:pic>
      <p:sp>
        <p:nvSpPr>
          <p:cNvPr id="7" name="页脚占位符 6">
            <a:extLst>
              <a:ext uri="{FF2B5EF4-FFF2-40B4-BE49-F238E27FC236}">
                <a16:creationId xmlns:a16="http://schemas.microsoft.com/office/drawing/2014/main" id="{5FA47055-AD84-0E45-3BC4-600266DCC5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412053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99435161-AA11-4B39-84E1-311467248A94}"/>
              </a:ext>
            </a:extLst>
          </p:cNvPr>
          <p:cNvSpPr/>
          <p:nvPr/>
        </p:nvSpPr>
        <p:spPr bwMode="auto">
          <a:xfrm>
            <a:off x="712225" y="1186405"/>
            <a:ext cx="10767551" cy="4854799"/>
          </a:xfrm>
          <a:custGeom>
            <a:avLst/>
            <a:gdLst>
              <a:gd name="connsiteX0" fmla="*/ 0 w 6810034"/>
              <a:gd name="connsiteY0" fmla="*/ 0 h 678471"/>
              <a:gd name="connsiteX1" fmla="*/ 6810034 w 6810034"/>
              <a:gd name="connsiteY1" fmla="*/ 0 h 678471"/>
              <a:gd name="connsiteX2" fmla="*/ 6810034 w 6810034"/>
              <a:gd name="connsiteY2" fmla="*/ 678471 h 678471"/>
              <a:gd name="connsiteX3" fmla="*/ 0 w 6810034"/>
              <a:gd name="connsiteY3" fmla="*/ 678471 h 678471"/>
              <a:gd name="connsiteX4" fmla="*/ 0 w 6810034"/>
              <a:gd name="connsiteY4" fmla="*/ 0 h 678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10034" h="678471">
                <a:moveTo>
                  <a:pt x="0" y="0"/>
                </a:moveTo>
                <a:lnTo>
                  <a:pt x="6810034" y="0"/>
                </a:lnTo>
                <a:lnTo>
                  <a:pt x="6810034" y="678471"/>
                </a:lnTo>
                <a:lnTo>
                  <a:pt x="0" y="678471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6F1787">
                  <a:alpha val="20000"/>
                </a:srgbClr>
              </a:gs>
              <a:gs pos="100000">
                <a:srgbClr val="6F1787">
                  <a:alpha val="20000"/>
                </a:srgbClr>
              </a:gs>
              <a:gs pos="48000">
                <a:schemeClr val="bg1">
                  <a:alpha val="0"/>
                </a:schemeClr>
              </a:gs>
            </a:gsLst>
            <a:lin ang="13500000" scaled="0"/>
          </a:gra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华文楷体" pitchFamily="2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FC31B8F-D1C6-9248-5000-64D9DA2EAE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9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4BDCEE0-47DC-5017-D0BB-E20BA1FCA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索引按照层数分类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EF7CE37-5881-22B4-4362-C8E4732686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0201" y="1186405"/>
            <a:ext cx="4711366" cy="5005387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单级索引</a:t>
            </a:r>
            <a:endParaRPr lang="en-US" altLang="zh-CN" sz="2400" b="1" dirty="0">
              <a:solidFill>
                <a:srgbClr val="6F1787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一层索引：如哈希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多级索引</a:t>
            </a:r>
            <a:endParaRPr lang="en-US" altLang="zh-CN" sz="2400" b="1" dirty="0">
              <a:solidFill>
                <a:srgbClr val="6F1787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kumimoji="1"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索引文件上再建索引</a:t>
            </a:r>
            <a:endParaRPr kumimoji="1"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如：</a:t>
            </a:r>
            <a:r>
              <a:rPr lang="en-US" altLang="zh-CN" sz="2000" dirty="0" err="1">
                <a:latin typeface="微软雅黑" panose="020B0503020204020204" pitchFamily="82" charset="2"/>
                <a:ea typeface="微软雅黑" panose="020B0503020204020204" pitchFamily="82" charset="2"/>
              </a:rPr>
              <a:t>B+tree</a:t>
            </a:r>
            <a:endParaRPr kumimoji="1"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多级索引目的</a:t>
            </a:r>
            <a:endParaRPr lang="en-US" altLang="zh-CN" sz="2400" b="1" dirty="0">
              <a:solidFill>
                <a:srgbClr val="6F1787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SzPct val="100000"/>
              <a:buFont typeface="微软雅黑" panose="020B0503020204020204" pitchFamily="34" charset="-122"/>
              <a:buChar char="•"/>
            </a:pPr>
            <a:r>
              <a:rPr kumimoji="1"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多层过滤</a:t>
            </a:r>
            <a:endParaRPr kumimoji="1"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SzPct val="100000"/>
              <a:buFont typeface="微软雅黑" panose="020B0503020204020204" pitchFamily="34" charset="-122"/>
              <a:buChar char="•"/>
            </a:pPr>
            <a:r>
              <a:rPr kumimoji="1"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进一步降低</a:t>
            </a:r>
            <a:r>
              <a:rPr kumimoji="1"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I/O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次数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SzPct val="100000"/>
              <a:buFont typeface="微软雅黑" panose="020B0503020204020204" pitchFamily="34" charset="-122"/>
              <a:buChar char="•"/>
            </a:pPr>
            <a:r>
              <a:rPr kumimoji="1"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提升查找速度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39DD2D3-BEAB-B9BE-1B53-EF40C3FEB7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6308" y="1368032"/>
            <a:ext cx="4961483" cy="4646752"/>
          </a:xfrm>
          <a:prstGeom prst="rect">
            <a:avLst/>
          </a:prstGeom>
        </p:spPr>
      </p:pic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7271D4-C3B9-3C27-E1F0-D783C98979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9677640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: 形状 8">
            <a:extLst>
              <a:ext uri="{FF2B5EF4-FFF2-40B4-BE49-F238E27FC236}">
                <a16:creationId xmlns:a16="http://schemas.microsoft.com/office/drawing/2014/main" id="{99435161-AA11-4B39-84E1-311467248A94}"/>
              </a:ext>
            </a:extLst>
          </p:cNvPr>
          <p:cNvSpPr/>
          <p:nvPr/>
        </p:nvSpPr>
        <p:spPr bwMode="auto">
          <a:xfrm>
            <a:off x="712225" y="1186405"/>
            <a:ext cx="10767551" cy="4854799"/>
          </a:xfrm>
          <a:custGeom>
            <a:avLst/>
            <a:gdLst>
              <a:gd name="connsiteX0" fmla="*/ 0 w 6810034"/>
              <a:gd name="connsiteY0" fmla="*/ 0 h 678471"/>
              <a:gd name="connsiteX1" fmla="*/ 6810034 w 6810034"/>
              <a:gd name="connsiteY1" fmla="*/ 0 h 678471"/>
              <a:gd name="connsiteX2" fmla="*/ 6810034 w 6810034"/>
              <a:gd name="connsiteY2" fmla="*/ 678471 h 678471"/>
              <a:gd name="connsiteX3" fmla="*/ 0 w 6810034"/>
              <a:gd name="connsiteY3" fmla="*/ 678471 h 678471"/>
              <a:gd name="connsiteX4" fmla="*/ 0 w 6810034"/>
              <a:gd name="connsiteY4" fmla="*/ 0 h 678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10034" h="678471">
                <a:moveTo>
                  <a:pt x="0" y="0"/>
                </a:moveTo>
                <a:lnTo>
                  <a:pt x="6810034" y="0"/>
                </a:lnTo>
                <a:lnTo>
                  <a:pt x="6810034" y="678471"/>
                </a:lnTo>
                <a:lnTo>
                  <a:pt x="0" y="678471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6F1787">
                  <a:alpha val="20000"/>
                </a:srgbClr>
              </a:gs>
              <a:gs pos="100000">
                <a:srgbClr val="6F1787">
                  <a:alpha val="20000"/>
                </a:srgbClr>
              </a:gs>
              <a:gs pos="48000">
                <a:schemeClr val="bg1">
                  <a:alpha val="0"/>
                </a:schemeClr>
              </a:gs>
            </a:gsLst>
            <a:lin ang="13500000" scaled="0"/>
          </a:gra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华文楷体" pitchFamily="2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D9FEF3C-2D57-FB88-885B-1579042417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10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FFB4C9F-937F-9465-FCF2-108DBADBC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索引按照字段特性分类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738CCF9-B4AA-7153-2740-E51F196584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885" y="1125499"/>
            <a:ext cx="7954665" cy="5005387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按照字段特性分为：主键索引、唯一索引和普通索引</a:t>
            </a:r>
            <a:endParaRPr lang="en-US" altLang="zh-CN" sz="2400" b="1" dirty="0">
              <a:solidFill>
                <a:srgbClr val="6F1787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主键索引</a:t>
            </a:r>
            <a:endParaRPr lang="en-US" altLang="zh-CN" sz="2400" b="1" dirty="0">
              <a:solidFill>
                <a:srgbClr val="6F1787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建立在主键字段上的索引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一张表最多只有一个主键索引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索引列的值不允许有空值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1" lang="zh-CN" altLang="en-US" sz="2400" b="1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唯一索引</a:t>
            </a:r>
            <a:endParaRPr kumimoji="1" lang="en-US" altLang="zh-CN" sz="2400" b="1" dirty="0">
              <a:solidFill>
                <a:srgbClr val="6F1787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建立在 </a:t>
            </a:r>
            <a:r>
              <a:rPr kumimoji="1"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UNIQUE </a:t>
            </a:r>
            <a:r>
              <a:rPr kumimoji="1"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字段上的索引</a:t>
            </a:r>
            <a:endParaRPr kumimoji="1"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一张表可以有多个唯一索引</a:t>
            </a:r>
            <a:endParaRPr kumimoji="1"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索引列的值必须唯一，但是允许有空值</a:t>
            </a:r>
            <a:endParaRPr kumimoji="1"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/>
            <a:endParaRPr kumimoji="1" lang="en-US" altLang="zh-CN" sz="3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endParaRPr kumimoji="1" lang="zh-CN" altLang="en-US" sz="36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FFA6FF-5844-F410-37F2-C2AF28E36D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9ADDA9F-7A6C-437C-4D72-B916E24CAE1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799" b="10241"/>
          <a:stretch/>
        </p:blipFill>
        <p:spPr>
          <a:xfrm>
            <a:off x="5513672" y="2170207"/>
            <a:ext cx="5908443" cy="2192067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1BB43FC9-37D7-7284-F48A-A460E48C0AF5}"/>
              </a:ext>
            </a:extLst>
          </p:cNvPr>
          <p:cNvSpPr txBox="1"/>
          <p:nvPr/>
        </p:nvSpPr>
        <p:spPr>
          <a:xfrm>
            <a:off x="8279940" y="4627229"/>
            <a:ext cx="15046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主键索引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2209105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99435161-AA11-4B39-84E1-311467248A94}"/>
              </a:ext>
            </a:extLst>
          </p:cNvPr>
          <p:cNvSpPr/>
          <p:nvPr/>
        </p:nvSpPr>
        <p:spPr bwMode="auto">
          <a:xfrm>
            <a:off x="712223" y="956580"/>
            <a:ext cx="10767551" cy="2647666"/>
          </a:xfrm>
          <a:custGeom>
            <a:avLst/>
            <a:gdLst>
              <a:gd name="connsiteX0" fmla="*/ 0 w 6810034"/>
              <a:gd name="connsiteY0" fmla="*/ 0 h 678471"/>
              <a:gd name="connsiteX1" fmla="*/ 6810034 w 6810034"/>
              <a:gd name="connsiteY1" fmla="*/ 0 h 678471"/>
              <a:gd name="connsiteX2" fmla="*/ 6810034 w 6810034"/>
              <a:gd name="connsiteY2" fmla="*/ 678471 h 678471"/>
              <a:gd name="connsiteX3" fmla="*/ 0 w 6810034"/>
              <a:gd name="connsiteY3" fmla="*/ 678471 h 678471"/>
              <a:gd name="connsiteX4" fmla="*/ 0 w 6810034"/>
              <a:gd name="connsiteY4" fmla="*/ 0 h 678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10034" h="678471">
                <a:moveTo>
                  <a:pt x="0" y="0"/>
                </a:moveTo>
                <a:lnTo>
                  <a:pt x="6810034" y="0"/>
                </a:lnTo>
                <a:lnTo>
                  <a:pt x="6810034" y="678471"/>
                </a:lnTo>
                <a:lnTo>
                  <a:pt x="0" y="678471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6F1787">
                  <a:alpha val="20000"/>
                </a:srgbClr>
              </a:gs>
              <a:gs pos="100000">
                <a:srgbClr val="6F1787">
                  <a:alpha val="20000"/>
                </a:srgbClr>
              </a:gs>
              <a:gs pos="48000">
                <a:schemeClr val="bg1">
                  <a:alpha val="0"/>
                </a:schemeClr>
              </a:gs>
            </a:gsLst>
            <a:lin ang="13500000" scaled="0"/>
          </a:gra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华文楷体" pitchFamily="2" charset="-122"/>
            </a:endParaRPr>
          </a:p>
        </p:txBody>
      </p:sp>
      <p:sp>
        <p:nvSpPr>
          <p:cNvPr id="8" name="Shape18">
            <a:extLst>
              <a:ext uri="{FF2B5EF4-FFF2-40B4-BE49-F238E27FC236}">
                <a16:creationId xmlns:a16="http://schemas.microsoft.com/office/drawing/2014/main" id="{9098E358-00AF-44EE-9378-B021F49A408A}"/>
              </a:ext>
            </a:extLst>
          </p:cNvPr>
          <p:cNvSpPr/>
          <p:nvPr/>
        </p:nvSpPr>
        <p:spPr>
          <a:xfrm>
            <a:off x="712224" y="3710529"/>
            <a:ext cx="10767551" cy="2501585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dirty="0">
              <a:latin typeface="OPPOSans M" panose="00020600040101010101" pitchFamily="18" charset="-122"/>
              <a:ea typeface="OPPOSans M" panose="00020600040101010101" pitchFamily="18" charset="-122"/>
              <a:sym typeface="+mn-ea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D9FEF3C-2D57-FB88-885B-1579042417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11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FFB4C9F-937F-9465-FCF2-108DBADBC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索引按照字段个数分类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738CCF9-B4AA-7153-2740-E51F196584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1751" y="956580"/>
            <a:ext cx="10874188" cy="5005387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按照字段个数分为：单列索引和多列索引</a:t>
            </a:r>
            <a:endParaRPr lang="en-US" altLang="zh-CN" sz="2400" b="1" dirty="0">
              <a:solidFill>
                <a:srgbClr val="6F1787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单列索引</a:t>
            </a:r>
            <a:endParaRPr lang="en-US" altLang="zh-CN" sz="2400" b="1" dirty="0">
              <a:solidFill>
                <a:srgbClr val="6F1787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建立在单个字段上的索引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kumimoji="1" lang="zh-CN" altLang="en-US" sz="2400" b="1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多列索引</a:t>
            </a:r>
            <a:endParaRPr kumimoji="1" lang="en-US" altLang="zh-CN" sz="2400" b="1" dirty="0">
              <a:solidFill>
                <a:srgbClr val="6F1787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kumimoji="1"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建立在多个字段上的索引</a:t>
            </a:r>
            <a:endParaRPr kumimoji="1"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endParaRPr kumimoji="1" lang="zh-CN" altLang="en-US" sz="28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FFA6FF-5844-F410-37F2-C2AF28E36D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4552A215-01EB-8AE8-899E-CF4B846B0D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726" y="3966703"/>
            <a:ext cx="4816814" cy="198433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2806691E-246F-1BDB-F2E0-179216E9D3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1009" y="3961536"/>
            <a:ext cx="5094088" cy="1989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3587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18">
            <a:extLst>
              <a:ext uri="{FF2B5EF4-FFF2-40B4-BE49-F238E27FC236}">
                <a16:creationId xmlns:a16="http://schemas.microsoft.com/office/drawing/2014/main" id="{AFE09175-8308-4B85-8441-3BA7477D322A}"/>
              </a:ext>
            </a:extLst>
          </p:cNvPr>
          <p:cNvSpPr/>
          <p:nvPr/>
        </p:nvSpPr>
        <p:spPr>
          <a:xfrm>
            <a:off x="1426128" y="4328720"/>
            <a:ext cx="9152389" cy="2040554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dirty="0">
              <a:latin typeface="OPPOSans M" panose="00020600040101010101" pitchFamily="18" charset="-122"/>
              <a:ea typeface="OPPOSans M" panose="00020600040101010101" pitchFamily="18" charset="-122"/>
              <a:sym typeface="+mn-ea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23B5A93-2810-69AF-DAF5-217CDED16B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12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FB04CA3-C830-A288-2ECA-EA99D7B0B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索引组织表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58D6254-5B20-748B-B2FC-6B3B346687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907" y="946928"/>
            <a:ext cx="10874188" cy="3696033"/>
          </a:xfrm>
        </p:spPr>
        <p:txBody>
          <a:bodyPr/>
          <a:lstStyle/>
          <a:p>
            <a:pPr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kumimoji="1" lang="zh-CN" altLang="en-US" sz="2400" b="1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用</a:t>
            </a:r>
            <a:r>
              <a:rPr kumimoji="1" lang="en-US" altLang="zh-CN" sz="2400" b="1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B+</a:t>
            </a:r>
            <a:r>
              <a:rPr kumimoji="1" lang="zh-CN" altLang="en-US" sz="2400" b="1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树索引组织数据页面，数据页面使用顺序组织方式</a:t>
            </a:r>
            <a:endParaRPr kumimoji="1" lang="en-US" altLang="zh-CN" sz="2400" b="1" dirty="0">
              <a:solidFill>
                <a:srgbClr val="6F1787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kumimoji="1" lang="zh-CN" altLang="en-US" sz="2400" b="1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叶子节点为数据页面</a:t>
            </a:r>
            <a:endParaRPr kumimoji="1" lang="en-US" altLang="zh-CN" sz="2400" b="1" dirty="0">
              <a:solidFill>
                <a:srgbClr val="6F1787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主键上的</a:t>
            </a:r>
            <a:r>
              <a:rPr lang="en-US" altLang="zh-CN" sz="2400" b="1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B+</a:t>
            </a:r>
            <a:r>
              <a:rPr lang="zh-CN" altLang="en-US" sz="2400" b="1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树聚集索引</a:t>
            </a:r>
            <a:endParaRPr lang="en-US" altLang="zh-CN" sz="2400" b="1" dirty="0">
              <a:solidFill>
                <a:srgbClr val="6F1787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主键上范围查询时更多连续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I/O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插入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/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删除数据时要维护主索引，开销增大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342900" lvl="1" indent="-34290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索引是否回表：回表指的是通过索引找到页面记录才返回结果</a:t>
            </a:r>
            <a:endParaRPr lang="en-US" altLang="zh-CN" sz="2400" b="1" dirty="0">
              <a:solidFill>
                <a:srgbClr val="6F1787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Index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only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scan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不回表：仅查找索引列，根据索引就可以返回结果，如学号是否存在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Index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scan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回表：根据索引列查找其他列的内容，如根据学号查找姓名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20000"/>
              </a:lnSpc>
            </a:pPr>
            <a:endParaRPr lang="en-US" altLang="zh-CN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FF790F9B-B858-5578-3F1D-729FA808D2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659342"/>
              </p:ext>
            </p:extLst>
          </p:nvPr>
        </p:nvGraphicFramePr>
        <p:xfrm>
          <a:off x="2022373" y="4911757"/>
          <a:ext cx="7804692" cy="11887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01564">
                  <a:extLst>
                    <a:ext uri="{9D8B030D-6E8A-4147-A177-3AD203B41FA5}">
                      <a16:colId xmlns:a16="http://schemas.microsoft.com/office/drawing/2014/main" val="1379324871"/>
                    </a:ext>
                  </a:extLst>
                </a:gridCol>
                <a:gridCol w="2601564">
                  <a:extLst>
                    <a:ext uri="{9D8B030D-6E8A-4147-A177-3AD203B41FA5}">
                      <a16:colId xmlns:a16="http://schemas.microsoft.com/office/drawing/2014/main" val="3975072278"/>
                    </a:ext>
                  </a:extLst>
                </a:gridCol>
                <a:gridCol w="2601564">
                  <a:extLst>
                    <a:ext uri="{9D8B030D-6E8A-4147-A177-3AD203B41FA5}">
                      <a16:colId xmlns:a16="http://schemas.microsoft.com/office/drawing/2014/main" val="6681450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数据文件</a:t>
                      </a:r>
                    </a:p>
                  </a:txBody>
                  <a:tcPr>
                    <a:solidFill>
                      <a:srgbClr val="7019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数据记录指针</a:t>
                      </a:r>
                    </a:p>
                  </a:txBody>
                  <a:tcPr>
                    <a:solidFill>
                      <a:srgbClr val="7019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代表</a:t>
                      </a:r>
                    </a:p>
                  </a:txBody>
                  <a:tcPr>
                    <a:solidFill>
                      <a:srgbClr val="7019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7821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索引组织表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主键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MySQL</a:t>
                      </a:r>
                      <a:r>
                        <a:rPr lang="zh-CN" altLang="en-US" sz="2000" dirty="0"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、</a:t>
                      </a:r>
                      <a:r>
                        <a:rPr lang="en-US" altLang="zh-CN" sz="2000" dirty="0"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SQLite</a:t>
                      </a:r>
                      <a:endParaRPr lang="zh-CN" altLang="en-US" sz="2000" dirty="0">
                        <a:latin typeface="微软雅黑" panose="020B0503020204020204" pitchFamily="82" charset="2"/>
                        <a:ea typeface="微软雅黑" panose="020B0503020204020204" pitchFamily="82" charset="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36265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堆表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（页面号</a:t>
                      </a:r>
                      <a:r>
                        <a:rPr lang="en-US" altLang="zh-CN" sz="2000" dirty="0"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,</a:t>
                      </a:r>
                      <a:r>
                        <a:rPr lang="zh-CN" altLang="en-US" sz="2000" dirty="0"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 槽号）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PostgreSQL</a:t>
                      </a:r>
                      <a:r>
                        <a:rPr lang="zh-CN" altLang="en-US" sz="2000" dirty="0"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、</a:t>
                      </a:r>
                      <a:r>
                        <a:rPr lang="en-US" altLang="zh-CN" sz="2000" dirty="0"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DB2</a:t>
                      </a:r>
                      <a:endParaRPr lang="zh-CN" altLang="en-US" sz="2000" dirty="0">
                        <a:latin typeface="微软雅黑" panose="020B0503020204020204" pitchFamily="82" charset="2"/>
                        <a:ea typeface="微软雅黑" panose="020B0503020204020204" pitchFamily="82" charset="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0799724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35532443-C247-9235-9B29-9B59E28275D8}"/>
              </a:ext>
            </a:extLst>
          </p:cNvPr>
          <p:cNvSpPr txBox="1"/>
          <p:nvPr/>
        </p:nvSpPr>
        <p:spPr>
          <a:xfrm>
            <a:off x="1915598" y="4442906"/>
            <a:ext cx="83608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索引组织表中，按照主键组织数据，数据记录会经常移动，物理位置改变</a:t>
            </a:r>
            <a:endParaRPr kumimoji="1"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B62090-95EC-C473-8EAD-472DE71DA4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4512195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EB59626-3089-42E3-0B78-E232841242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13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6DCE23F3-A3C3-590D-A553-F80BCB1A7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索引类型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4685C7B-A3A4-24F4-12A0-B655F2101A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6087" y="1238760"/>
            <a:ext cx="11067803" cy="4830762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不同类型索引支持不同的数据类型、条件类型</a:t>
            </a:r>
            <a:endParaRPr lang="en-US" altLang="zh-CN" sz="2400" b="1" dirty="0">
              <a:solidFill>
                <a:srgbClr val="6F1787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endParaRPr lang="en-US" altLang="zh-CN" sz="2800" b="1" dirty="0">
              <a:solidFill>
                <a:srgbClr val="6F1787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endParaRPr lang="en-US" altLang="zh-CN" sz="2800" b="1" dirty="0">
              <a:solidFill>
                <a:srgbClr val="6F1787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endParaRPr lang="en-US" altLang="zh-CN" sz="2800" b="1" dirty="0">
              <a:solidFill>
                <a:srgbClr val="6F1787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endParaRPr lang="en-US" altLang="zh-CN" sz="2800" b="1" dirty="0">
              <a:solidFill>
                <a:srgbClr val="6F1787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endParaRPr lang="en-US" altLang="zh-CN" sz="2800" b="1" dirty="0">
              <a:solidFill>
                <a:srgbClr val="6F1787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sz="2800" b="1" dirty="0">
              <a:solidFill>
                <a:srgbClr val="6F1787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是否支持持久化、可以否快速恢复</a:t>
            </a:r>
            <a:endParaRPr lang="en-US" altLang="zh-CN" sz="2400" b="1" dirty="0">
              <a:solidFill>
                <a:srgbClr val="6F1787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内存索引、磁盘索引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8ADD94F5-5198-D2BE-9BA8-D35D83BA4E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4514540"/>
              </p:ext>
            </p:extLst>
          </p:nvPr>
        </p:nvGraphicFramePr>
        <p:xfrm>
          <a:off x="948072" y="1879906"/>
          <a:ext cx="10264897" cy="294052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839659">
                  <a:extLst>
                    <a:ext uri="{9D8B030D-6E8A-4147-A177-3AD203B41FA5}">
                      <a16:colId xmlns:a16="http://schemas.microsoft.com/office/drawing/2014/main" val="166201937"/>
                    </a:ext>
                  </a:extLst>
                </a:gridCol>
                <a:gridCol w="3425238">
                  <a:extLst>
                    <a:ext uri="{9D8B030D-6E8A-4147-A177-3AD203B41FA5}">
                      <a16:colId xmlns:a16="http://schemas.microsoft.com/office/drawing/2014/main" val="1543611241"/>
                    </a:ext>
                  </a:extLst>
                </a:gridCol>
              </a:tblGrid>
              <a:tr h="559872"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查询类型</a:t>
                      </a:r>
                    </a:p>
                  </a:txBody>
                  <a:tcPr anchor="ctr">
                    <a:solidFill>
                      <a:srgbClr val="7019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索引类型</a:t>
                      </a:r>
                    </a:p>
                  </a:txBody>
                  <a:tcPr anchor="ctr">
                    <a:solidFill>
                      <a:srgbClr val="7019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4958183"/>
                  </a:ext>
                </a:extLst>
              </a:tr>
              <a:tr h="559872"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点查询（</a:t>
                      </a:r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score=90</a:t>
                      </a: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哈希索引、</a:t>
                      </a:r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B+</a:t>
                      </a: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树索引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9723161"/>
                  </a:ext>
                </a:extLst>
              </a:tr>
              <a:tr h="559872"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范围查询（</a:t>
                      </a:r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score&gt;60</a:t>
                      </a: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B+</a:t>
                      </a: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树索引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5827662"/>
                  </a:ext>
                </a:extLst>
              </a:tr>
              <a:tr h="559872"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多列条件查询</a:t>
                      </a:r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(gender=male</a:t>
                      </a: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&amp;</a:t>
                      </a: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rating=5)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位图索引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4179348"/>
                  </a:ext>
                </a:extLst>
              </a:tr>
              <a:tr h="559872"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空间范围查询</a:t>
                      </a:r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(115.7°&lt;lag&lt;117.4°&amp;</a:t>
                      </a: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39.4°&lt;long&lt;41.6°)</a:t>
                      </a:r>
                    </a:p>
                    <a:p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最近邻查询</a:t>
                      </a:r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(KNN)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多维索引</a:t>
                      </a:r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(R</a:t>
                      </a: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树、</a:t>
                      </a:r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Quadtree</a:t>
                      </a: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KD</a:t>
                      </a: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树</a:t>
                      </a:r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5473372"/>
                  </a:ext>
                </a:extLst>
              </a:tr>
            </a:tbl>
          </a:graphicData>
        </a:graphic>
      </p:graphicFrame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79BDCD7-C7EC-30B4-18A7-2495C292EA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7465560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18">
            <a:extLst>
              <a:ext uri="{FF2B5EF4-FFF2-40B4-BE49-F238E27FC236}">
                <a16:creationId xmlns:a16="http://schemas.microsoft.com/office/drawing/2014/main" id="{5EE32D71-8EA8-4F51-9A4D-483CE4767E95}"/>
              </a:ext>
            </a:extLst>
          </p:cNvPr>
          <p:cNvSpPr/>
          <p:nvPr/>
        </p:nvSpPr>
        <p:spPr>
          <a:xfrm>
            <a:off x="3015427" y="1172238"/>
            <a:ext cx="6286222" cy="4566412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dirty="0">
              <a:latin typeface="OPPOSans M" panose="00020600040101010101" pitchFamily="18" charset="-122"/>
              <a:ea typeface="OPPOSans M" panose="00020600040101010101" pitchFamily="18" charset="-122"/>
              <a:sym typeface="+mn-ea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3C35F35-0D0B-BDBC-478B-23D7223FD1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14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C01FBE5-2997-DA5A-E679-2665D9279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目录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6F1E561-F548-2140-CB4E-A81D3F2686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12400" y="1447238"/>
            <a:ext cx="5807946" cy="419169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索引概述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zh-CN" sz="2400" b="1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B+</a:t>
            </a:r>
            <a:r>
              <a:rPr lang="zh-CN" altLang="en-US" sz="2400" b="1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树索引</a:t>
            </a:r>
            <a:endParaRPr lang="en-US" altLang="zh-CN" sz="2400" b="1" dirty="0">
              <a:solidFill>
                <a:srgbClr val="6F1787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B+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树并发控制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哈希索引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SkipList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跳表索引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LSM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树索引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位图索引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多维索引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0" indent="0">
              <a:buNone/>
            </a:pP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     ——R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树、</a:t>
            </a: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KD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树、</a:t>
            </a: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Quadtree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、</a:t>
            </a: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Z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曲线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F725F9-5EC3-90CE-2C91-413426E802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0890254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18">
            <a:extLst>
              <a:ext uri="{FF2B5EF4-FFF2-40B4-BE49-F238E27FC236}">
                <a16:creationId xmlns:a16="http://schemas.microsoft.com/office/drawing/2014/main" id="{F672820C-ED26-401A-810B-2E95445B963F}"/>
              </a:ext>
            </a:extLst>
          </p:cNvPr>
          <p:cNvSpPr/>
          <p:nvPr/>
        </p:nvSpPr>
        <p:spPr>
          <a:xfrm>
            <a:off x="3607626" y="1528706"/>
            <a:ext cx="4818743" cy="3314298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dirty="0">
              <a:latin typeface="OPPOSans M" panose="00020600040101010101" pitchFamily="18" charset="-122"/>
              <a:ea typeface="OPPOSans M" panose="00020600040101010101" pitchFamily="18" charset="-122"/>
              <a:sym typeface="+mn-ea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3C35F35-0D0B-BDBC-478B-23D7223FD1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15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C01FBE5-2997-DA5A-E679-2665D9279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目录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6F1E561-F548-2140-CB4E-A81D3F2686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90567" y="1894677"/>
            <a:ext cx="10874188" cy="2813681"/>
          </a:xfrm>
        </p:spPr>
        <p:txBody>
          <a:bodyPr/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2"/>
            </a:pPr>
            <a:r>
              <a:rPr lang="en-US" altLang="zh-CN" sz="28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B+</a:t>
            </a:r>
            <a:r>
              <a:rPr lang="zh-CN" altLang="en-US" sz="28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树索引</a:t>
            </a:r>
            <a:endParaRPr lang="en-US" altLang="zh-CN" sz="28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索引结构</a:t>
            </a:r>
            <a:endParaRPr lang="en-US" altLang="zh-CN" sz="2000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查找算法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插入算法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删除算法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48A41E-6DDE-655A-47EA-634E67CBF6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9576741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99435161-AA11-4B39-84E1-311467248A94}"/>
              </a:ext>
            </a:extLst>
          </p:cNvPr>
          <p:cNvSpPr/>
          <p:nvPr/>
        </p:nvSpPr>
        <p:spPr bwMode="auto">
          <a:xfrm>
            <a:off x="712225" y="823639"/>
            <a:ext cx="10767551" cy="3212334"/>
          </a:xfrm>
          <a:custGeom>
            <a:avLst/>
            <a:gdLst>
              <a:gd name="connsiteX0" fmla="*/ 0 w 6810034"/>
              <a:gd name="connsiteY0" fmla="*/ 0 h 678471"/>
              <a:gd name="connsiteX1" fmla="*/ 6810034 w 6810034"/>
              <a:gd name="connsiteY1" fmla="*/ 0 h 678471"/>
              <a:gd name="connsiteX2" fmla="*/ 6810034 w 6810034"/>
              <a:gd name="connsiteY2" fmla="*/ 678471 h 678471"/>
              <a:gd name="connsiteX3" fmla="*/ 0 w 6810034"/>
              <a:gd name="connsiteY3" fmla="*/ 678471 h 678471"/>
              <a:gd name="connsiteX4" fmla="*/ 0 w 6810034"/>
              <a:gd name="connsiteY4" fmla="*/ 0 h 678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10034" h="678471">
                <a:moveTo>
                  <a:pt x="0" y="0"/>
                </a:moveTo>
                <a:lnTo>
                  <a:pt x="6810034" y="0"/>
                </a:lnTo>
                <a:lnTo>
                  <a:pt x="6810034" y="678471"/>
                </a:lnTo>
                <a:lnTo>
                  <a:pt x="0" y="678471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6F1787">
                  <a:alpha val="20000"/>
                </a:srgbClr>
              </a:gs>
              <a:gs pos="100000">
                <a:srgbClr val="6F1787">
                  <a:alpha val="20000"/>
                </a:srgbClr>
              </a:gs>
              <a:gs pos="48000">
                <a:schemeClr val="bg1">
                  <a:alpha val="0"/>
                </a:schemeClr>
              </a:gs>
            </a:gsLst>
            <a:lin ang="13500000" scaled="0"/>
          </a:gra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华文楷体" pitchFamily="2" charset="-122"/>
            </a:endParaRPr>
          </a:p>
        </p:txBody>
      </p:sp>
      <p:sp>
        <p:nvSpPr>
          <p:cNvPr id="7" name="Shape18">
            <a:extLst>
              <a:ext uri="{FF2B5EF4-FFF2-40B4-BE49-F238E27FC236}">
                <a16:creationId xmlns:a16="http://schemas.microsoft.com/office/drawing/2014/main" id="{965EE32E-5810-4C99-93AD-EB43AA75AD36}"/>
              </a:ext>
            </a:extLst>
          </p:cNvPr>
          <p:cNvSpPr/>
          <p:nvPr/>
        </p:nvSpPr>
        <p:spPr>
          <a:xfrm>
            <a:off x="712224" y="4179494"/>
            <a:ext cx="10767551" cy="2016354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dirty="0">
              <a:latin typeface="OPPOSans M" panose="00020600040101010101" pitchFamily="18" charset="-122"/>
              <a:ea typeface="OPPOSans M" panose="00020600040101010101" pitchFamily="18" charset="-122"/>
              <a:sym typeface="+mn-ea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3BC543B-9566-4B60-52E5-B7BB349416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16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2B1DA71-7FA3-FADF-F025-58997BA0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B+</a:t>
            </a:r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树索引结构</a:t>
            </a:r>
          </a:p>
        </p:txBody>
      </p:sp>
      <p:pic>
        <p:nvPicPr>
          <p:cNvPr id="6" name="图形 15">
            <a:extLst>
              <a:ext uri="{FF2B5EF4-FFF2-40B4-BE49-F238E27FC236}">
                <a16:creationId xmlns:a16="http://schemas.microsoft.com/office/drawing/2014/main" id="{E4667003-EBFC-3239-0EB5-54137EB8FF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31116" y="4215078"/>
            <a:ext cx="7840578" cy="191939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3">
                <a:extLst>
                  <a:ext uri="{FF2B5EF4-FFF2-40B4-BE49-F238E27FC236}">
                    <a16:creationId xmlns:a16="http://schemas.microsoft.com/office/drawing/2014/main" id="{306245E1-808F-5980-313B-B989959B1C6A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394362" y="733844"/>
                <a:ext cx="8278144" cy="31253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16531" indent="-316531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Wingdings" charset="2"/>
                  <a:buChar char="p"/>
                  <a:defRPr kumimoji="1" sz="3200" b="0">
                    <a:solidFill>
                      <a:schemeClr val="tx1"/>
                    </a:solidFill>
                    <a:effectLst/>
                    <a:latin typeface="SimHei" panose="02010609060101010101" pitchFamily="49" charset="-122"/>
                    <a:ea typeface="SimHei" panose="02010609060101010101" pitchFamily="49" charset="-122"/>
                    <a:cs typeface="Arial"/>
                  </a:defRPr>
                </a:lvl1pPr>
                <a:lvl2pPr marL="685817" indent="-263776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b="0">
                    <a:solidFill>
                      <a:schemeClr val="tx1"/>
                    </a:solidFill>
                    <a:effectLst/>
                    <a:latin typeface="SimHei" panose="02010609060101010101" pitchFamily="49" charset="-122"/>
                    <a:ea typeface="SimHei" panose="02010609060101010101" pitchFamily="49" charset="-122"/>
                    <a:cs typeface="Arial"/>
                  </a:defRPr>
                </a:lvl2pPr>
                <a:lvl3pPr marL="1055103" indent="-211021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b="0">
                    <a:solidFill>
                      <a:schemeClr val="tx1"/>
                    </a:solidFill>
                    <a:effectLst/>
                    <a:latin typeface="SimHei" panose="02010609060101010101" pitchFamily="49" charset="-122"/>
                    <a:ea typeface="SimHei" panose="02010609060101010101" pitchFamily="49" charset="-122"/>
                    <a:cs typeface="Arial"/>
                  </a:defRPr>
                </a:lvl3pPr>
                <a:lvl4pPr marL="1477145" indent="-211021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1846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SimHei" panose="02010609060101010101" pitchFamily="49" charset="-122"/>
                    <a:ea typeface="SimHei" panose="02010609060101010101" pitchFamily="49" charset="-122"/>
                  </a:defRPr>
                </a:lvl4pPr>
                <a:lvl5pPr marL="1899186" indent="-211021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1846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SimHei" panose="02010609060101010101" pitchFamily="49" charset="-122"/>
                    <a:ea typeface="SimHei" panose="02010609060101010101" pitchFamily="49" charset="-122"/>
                  </a:defRPr>
                </a:lvl5pPr>
                <a:lvl6pPr marL="2321227" indent="-211021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1846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</a:defRPr>
                </a:lvl6pPr>
                <a:lvl7pPr marL="2743269" indent="-211021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1846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</a:defRPr>
                </a:lvl7pPr>
                <a:lvl8pPr marL="3165310" indent="-211021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1846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</a:defRPr>
                </a:lvl8pPr>
                <a:lvl9pPr marL="3587351" indent="-211021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1846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</a:defRPr>
                </a:lvl9pPr>
              </a:lstStyle>
              <a:p>
                <a:pPr>
                  <a:lnSpc>
                    <a:spcPct val="150000"/>
                  </a:lnSpc>
                  <a:spcBef>
                    <a:spcPts val="0"/>
                  </a:spcBef>
                  <a:buFont typeface="Wingdings" panose="05000000000000000000" pitchFamily="2" charset="2"/>
                  <a:buChar char="Ø"/>
                </a:pPr>
                <a:r>
                  <a:rPr lang="zh-CN" altLang="en-US" sz="2400" b="1" kern="0" dirty="0">
                    <a:solidFill>
                      <a:srgbClr val="701988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结构：平衡多叉查找树</a:t>
                </a:r>
                <a:endParaRPr lang="en-US" altLang="zh-CN" sz="2400" b="1" kern="0" dirty="0">
                  <a:solidFill>
                    <a:srgbClr val="70198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>
                  <a:lnSpc>
                    <a:spcPct val="15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2400" kern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根到所有叶子节点路径长度相同</a:t>
                </a:r>
                <a:endParaRPr lang="en-US" altLang="zh-CN" sz="2400" kern="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  <a:buFont typeface="Wingdings" panose="05000000000000000000" pitchFamily="2" charset="2"/>
                  <a:buChar char="Ø"/>
                </a:pPr>
                <a:r>
                  <a:rPr lang="zh-CN" altLang="en-US" sz="2400" b="1" kern="0" dirty="0">
                    <a:solidFill>
                      <a:srgbClr val="701988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扇出</a:t>
                </a:r>
                <a14:m>
                  <m:oMath xmlns:m="http://schemas.openxmlformats.org/officeDocument/2006/math">
                    <m:r>
                      <a:rPr lang="en-US" altLang="zh-CN" sz="2400" b="1" i="1" kern="0" smtClean="0">
                        <a:solidFill>
                          <a:srgbClr val="701988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zh-CN" altLang="en-US" sz="2400" b="1" i="0" kern="0" smtClean="0">
                        <a:solidFill>
                          <a:srgbClr val="701988"/>
                        </a:solidFill>
                        <a:latin typeface="Cambria Math" panose="02040503050406030204" pitchFamily="18" charset="0"/>
                      </a:rPr>
                      <m:t>：</m:t>
                    </m:r>
                  </m:oMath>
                </a14:m>
                <a:r>
                  <a:rPr lang="zh-CN" altLang="en-US" sz="2400" b="1" kern="0" dirty="0">
                    <a:solidFill>
                      <a:srgbClr val="701988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每个节点最多分叉数</a:t>
                </a:r>
                <a:endParaRPr lang="en-US" altLang="zh-CN" sz="2400" b="1" kern="0" dirty="0">
                  <a:solidFill>
                    <a:srgbClr val="70198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>
                  <a:lnSpc>
                    <a:spcPct val="15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2400" kern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子节点数目范围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2400" i="1" kern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⌈"/>
                            <m:endChr m:val="⌉"/>
                            <m:ctrlPr>
                              <a:rPr lang="zh-CN" altLang="en-US" sz="2400" i="1" ker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2400" i="1" ker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i="1" ker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num>
                              <m:den>
                                <m:r>
                                  <a:rPr lang="en-US" altLang="zh-CN" sz="2400" i="1" ker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r>
                          <a:rPr lang="en-US" altLang="zh-CN" sz="2400" ker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400" i="1" kern="0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endParaRPr lang="en-US" altLang="zh-CN" sz="2400" kern="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>
                  <a:lnSpc>
                    <a:spcPct val="15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2400" kern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查找键数目范围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2400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⌈"/>
                            <m:endChr m:val="⌉"/>
                            <m:ctrlPr>
                              <a:rPr lang="zh-CN" altLang="en-US" sz="2400" i="1" ker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2400" i="1" ker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i="1" ker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num>
                              <m:den>
                                <m:r>
                                  <a:rPr lang="en-US" altLang="zh-CN" sz="2400" i="1" ker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r>
                          <a:rPr lang="en-US" altLang="zh-CN" sz="2400" b="0" i="1" kern="0" smtClean="0">
                            <a:latin typeface="Cambria Math" panose="02040503050406030204" pitchFamily="18" charset="0"/>
                          </a:rPr>
                          <m:t>−1</m:t>
                        </m:r>
                        <m:r>
                          <a:rPr lang="en-US" altLang="zh-CN" sz="2400" ker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400" i="1" kern="0" dirty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sz="2400" b="0" i="1" kern="0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endParaRPr lang="en-US" altLang="zh-CN" sz="2400" kern="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内容占位符 3">
                <a:extLst>
                  <a:ext uri="{FF2B5EF4-FFF2-40B4-BE49-F238E27FC236}">
                    <a16:creationId xmlns:a16="http://schemas.microsoft.com/office/drawing/2014/main" id="{306245E1-808F-5980-313B-B989959B1C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94362" y="733844"/>
                <a:ext cx="8278144" cy="3125382"/>
              </a:xfrm>
              <a:prstGeom prst="rect">
                <a:avLst/>
              </a:prstGeom>
              <a:blipFill>
                <a:blip r:embed="rId5"/>
                <a:stretch>
                  <a:fillRect l="-919" b="-769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AAA3716-B5A6-DF7F-20E1-AF501EE876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9863070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9">
            <a:extLst>
              <a:ext uri="{FF2B5EF4-FFF2-40B4-BE49-F238E27FC236}">
                <a16:creationId xmlns:a16="http://schemas.microsoft.com/office/drawing/2014/main" id="{6B93B6BF-E4F5-4167-8781-2A377BCBAF94}"/>
              </a:ext>
            </a:extLst>
          </p:cNvPr>
          <p:cNvSpPr/>
          <p:nvPr/>
        </p:nvSpPr>
        <p:spPr>
          <a:xfrm>
            <a:off x="268448" y="1009376"/>
            <a:ext cx="5736214" cy="5240422"/>
          </a:xfrm>
          <a:custGeom>
            <a:avLst/>
            <a:gdLst>
              <a:gd name="connsiteX0" fmla="*/ 0 w 2866328"/>
              <a:gd name="connsiteY0" fmla="*/ 0 h 542478"/>
              <a:gd name="connsiteX1" fmla="*/ 2866328 w 2866328"/>
              <a:gd name="connsiteY1" fmla="*/ 0 h 542478"/>
              <a:gd name="connsiteX2" fmla="*/ 2730709 w 2866328"/>
              <a:gd name="connsiteY2" fmla="*/ 542478 h 542478"/>
              <a:gd name="connsiteX3" fmla="*/ 0 w 2866328"/>
              <a:gd name="connsiteY3" fmla="*/ 542478 h 542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66328" h="542478">
                <a:moveTo>
                  <a:pt x="0" y="0"/>
                </a:moveTo>
                <a:lnTo>
                  <a:pt x="2866328" y="0"/>
                </a:lnTo>
                <a:lnTo>
                  <a:pt x="2730709" y="542478"/>
                </a:lnTo>
                <a:lnTo>
                  <a:pt x="0" y="542478"/>
                </a:lnTo>
                <a:close/>
              </a:path>
            </a:pathLst>
          </a:custGeom>
          <a:gradFill>
            <a:gsLst>
              <a:gs pos="99000">
                <a:srgbClr val="6F1787">
                  <a:alpha val="20000"/>
                </a:srgbClr>
              </a:gs>
              <a:gs pos="0">
                <a:schemeClr val="bg1">
                  <a:alpha val="0"/>
                </a:schemeClr>
              </a:gs>
            </a:gsLst>
            <a:lin ang="135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000" b="1" dirty="0">
              <a:latin typeface="OPPOSans M" panose="00020600040101010101" pitchFamily="18" charset="-122"/>
              <a:ea typeface="OPPOSans M" panose="00020600040101010101" pitchFamily="18" charset="-122"/>
            </a:endParaRPr>
          </a:p>
        </p:txBody>
      </p:sp>
      <p:sp>
        <p:nvSpPr>
          <p:cNvPr id="9" name="Shape18">
            <a:extLst>
              <a:ext uri="{FF2B5EF4-FFF2-40B4-BE49-F238E27FC236}">
                <a16:creationId xmlns:a16="http://schemas.microsoft.com/office/drawing/2014/main" id="{63BF8373-0D74-49C7-8EC5-4D1B8E06A26B}"/>
              </a:ext>
            </a:extLst>
          </p:cNvPr>
          <p:cNvSpPr/>
          <p:nvPr/>
        </p:nvSpPr>
        <p:spPr>
          <a:xfrm>
            <a:off x="5975131" y="1338047"/>
            <a:ext cx="6012900" cy="4644965"/>
          </a:xfrm>
          <a:prstGeom prst="roundRect">
            <a:avLst>
              <a:gd name="adj" fmla="val 3208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dirty="0">
              <a:latin typeface="OPPOSans M" panose="00020600040101010101" pitchFamily="18" charset="-122"/>
              <a:ea typeface="OPPOSans M" panose="00020600040101010101" pitchFamily="18" charset="-122"/>
              <a:sym typeface="+mn-ea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3BC543B-9566-4B60-52E5-B7BB349416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17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2B1DA71-7FA3-FADF-F025-58997BA0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B+</a:t>
            </a:r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树索引结构</a:t>
            </a:r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D17B7EE2-321D-B728-5866-1EDCE32A33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1563" y="4600899"/>
            <a:ext cx="5176952" cy="84949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3">
                <a:extLst>
                  <a:ext uri="{FF2B5EF4-FFF2-40B4-BE49-F238E27FC236}">
                    <a16:creationId xmlns:a16="http://schemas.microsoft.com/office/drawing/2014/main" id="{306245E1-808F-5980-313B-B989959B1C6A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03969" y="1142768"/>
                <a:ext cx="5891835" cy="497363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16531" indent="-316531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Wingdings" charset="2"/>
                  <a:buChar char="p"/>
                  <a:defRPr kumimoji="1" sz="3200" b="0">
                    <a:solidFill>
                      <a:schemeClr val="tx1"/>
                    </a:solidFill>
                    <a:effectLst/>
                    <a:latin typeface="SimHei" panose="02010609060101010101" pitchFamily="49" charset="-122"/>
                    <a:ea typeface="SimHei" panose="02010609060101010101" pitchFamily="49" charset="-122"/>
                    <a:cs typeface="Arial"/>
                  </a:defRPr>
                </a:lvl1pPr>
                <a:lvl2pPr marL="685817" indent="-263776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b="0">
                    <a:solidFill>
                      <a:schemeClr val="tx1"/>
                    </a:solidFill>
                    <a:effectLst/>
                    <a:latin typeface="SimHei" panose="02010609060101010101" pitchFamily="49" charset="-122"/>
                    <a:ea typeface="SimHei" panose="02010609060101010101" pitchFamily="49" charset="-122"/>
                    <a:cs typeface="Arial"/>
                  </a:defRPr>
                </a:lvl2pPr>
                <a:lvl3pPr marL="1055103" indent="-211021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b="0">
                    <a:solidFill>
                      <a:schemeClr val="tx1"/>
                    </a:solidFill>
                    <a:effectLst/>
                    <a:latin typeface="SimHei" panose="02010609060101010101" pitchFamily="49" charset="-122"/>
                    <a:ea typeface="SimHei" panose="02010609060101010101" pitchFamily="49" charset="-122"/>
                    <a:cs typeface="Arial"/>
                  </a:defRPr>
                </a:lvl3pPr>
                <a:lvl4pPr marL="1477145" indent="-211021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1846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SimHei" panose="02010609060101010101" pitchFamily="49" charset="-122"/>
                    <a:ea typeface="SimHei" panose="02010609060101010101" pitchFamily="49" charset="-122"/>
                  </a:defRPr>
                </a:lvl4pPr>
                <a:lvl5pPr marL="1899186" indent="-211021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1846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SimHei" panose="02010609060101010101" pitchFamily="49" charset="-122"/>
                    <a:ea typeface="SimHei" panose="02010609060101010101" pitchFamily="49" charset="-122"/>
                  </a:defRPr>
                </a:lvl5pPr>
                <a:lvl6pPr marL="2321227" indent="-211021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1846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</a:defRPr>
                </a:lvl6pPr>
                <a:lvl7pPr marL="2743269" indent="-211021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1846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</a:defRPr>
                </a:lvl7pPr>
                <a:lvl8pPr marL="3165310" indent="-211021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1846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</a:defRPr>
                </a:lvl8pPr>
                <a:lvl9pPr marL="3587351" indent="-211021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1846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</a:defRPr>
                </a:lvl9pPr>
              </a:lstStyle>
              <a:p>
                <a:pPr>
                  <a:lnSpc>
                    <a:spcPct val="150000"/>
                  </a:lnSpc>
                  <a:spcBef>
                    <a:spcPts val="0"/>
                  </a:spcBef>
                  <a:buFont typeface="Wingdings" panose="05000000000000000000" pitchFamily="2" charset="2"/>
                  <a:buChar char="Ø"/>
                </a:pPr>
                <a:r>
                  <a:rPr lang="zh-CN" altLang="en-US" sz="2400" b="1" kern="0" dirty="0">
                    <a:solidFill>
                      <a:srgbClr val="701988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节点：页面（磁盘索引）</a:t>
                </a:r>
                <a:endParaRPr lang="en-US" altLang="zh-CN" sz="2400" b="1" kern="0" dirty="0">
                  <a:solidFill>
                    <a:srgbClr val="70198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>
                  <a:lnSpc>
                    <a:spcPct val="15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2000" i="0" kern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页面缓冲管理器</a:t>
                </a:r>
                <a:endParaRPr lang="en-US" altLang="zh-CN" sz="2000" kern="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  <a:buFont typeface="Wingdings" panose="05000000000000000000" pitchFamily="2" charset="2"/>
                  <a:buChar char="Ø"/>
                </a:pPr>
                <a:r>
                  <a:rPr lang="zh-CN" altLang="en-US" sz="2400" b="1" i="0" kern="0" dirty="0">
                    <a:solidFill>
                      <a:srgbClr val="701988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节点内指针</a:t>
                </a:r>
                <a:endParaRPr lang="en-US" altLang="zh-CN" sz="2400" b="1" i="0" kern="0" dirty="0">
                  <a:solidFill>
                    <a:srgbClr val="70198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>
                  <a:lnSpc>
                    <a:spcPct val="15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2000" kern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内部节点：索引页面号</a:t>
                </a:r>
                <a:endParaRPr lang="en-US" altLang="zh-CN" sz="2000" kern="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>
                  <a:lnSpc>
                    <a:spcPct val="15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2000" i="0" kern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叶子节点</a:t>
                </a:r>
                <a:r>
                  <a:rPr lang="zh-CN" altLang="en-US" sz="2000" kern="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Wingdings" pitchFamily="2" charset="2"/>
                  </a:rPr>
                  <a:t>：</a:t>
                </a:r>
                <a:r>
                  <a:rPr lang="en-US" altLang="zh-CN" sz="2000" kern="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Wingdings" pitchFamily="2" charset="2"/>
                  </a:rPr>
                  <a:t>(</a:t>
                </a:r>
                <a:r>
                  <a:rPr lang="zh-CN" altLang="en-US" sz="2000" kern="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Wingdings" pitchFamily="2" charset="2"/>
                  </a:rPr>
                  <a:t>数据记录页面号，数据记录槽号</a:t>
                </a:r>
                <a:r>
                  <a:rPr lang="en-US" altLang="zh-CN" sz="2000" kern="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Wingdings" pitchFamily="2" charset="2"/>
                  </a:rPr>
                  <a:t>)</a:t>
                </a:r>
                <a:endParaRPr lang="en-US" altLang="zh-CN" sz="2000" i="0" kern="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zh-CN" sz="2400" b="1" i="0" kern="0" dirty="0" smtClean="0">
                        <a:solidFill>
                          <a:srgbClr val="701988"/>
                        </a:solidFill>
                        <a:latin typeface="Cambria Math" panose="02040503050406030204" pitchFamily="18" charset="0"/>
                      </a:rPr>
                      <m:t>𝐓𝐫𝐞𝐞</m:t>
                    </m:r>
                    <m:d>
                      <m:dPr>
                        <m:ctrlPr>
                          <a:rPr lang="en-US" altLang="zh-CN" sz="2400" b="1" i="1" kern="0" dirty="0" smtClean="0">
                            <a:solidFill>
                              <a:srgbClr val="70198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b="1" i="1" kern="0" dirty="0" smtClean="0">
                                <a:solidFill>
                                  <a:srgbClr val="701988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kern="0" dirty="0" smtClean="0">
                                <a:solidFill>
                                  <a:srgbClr val="701988"/>
                                </a:solidFill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en-US" altLang="zh-CN" sz="2400" b="1" i="1" kern="0" dirty="0" smtClean="0">
                                <a:solidFill>
                                  <a:srgbClr val="701988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en-US" altLang="zh-CN" sz="2400" b="1" i="1" kern="0" dirty="0" smtClean="0">
                        <a:solidFill>
                          <a:srgbClr val="701988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CN" sz="2400" b="1" i="1" kern="0" dirty="0" smtClean="0">
                            <a:solidFill>
                              <a:srgbClr val="70198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0" dirty="0" smtClean="0">
                            <a:solidFill>
                              <a:srgbClr val="701988"/>
                            </a:solidFill>
                            <a:latin typeface="Cambria Math" panose="02040503050406030204" pitchFamily="18" charset="0"/>
                          </a:rPr>
                          <m:t>𝑲</m:t>
                        </m:r>
                      </m:e>
                      <m:sub>
                        <m:r>
                          <a:rPr lang="en-US" altLang="zh-CN" sz="2400" b="1" i="1" kern="0" dirty="0" smtClean="0">
                            <a:solidFill>
                              <a:srgbClr val="701988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zh-CN" sz="2400" b="1" i="1" kern="0" dirty="0" smtClean="0">
                        <a:solidFill>
                          <a:srgbClr val="701988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sz="2400" b="1" i="0" kern="0" dirty="0" smtClean="0">
                        <a:solidFill>
                          <a:srgbClr val="701988"/>
                        </a:solidFill>
                        <a:latin typeface="Cambria Math" panose="02040503050406030204" pitchFamily="18" charset="0"/>
                      </a:rPr>
                      <m:t>𝐓𝐫𝐞𝐞</m:t>
                    </m:r>
                    <m:r>
                      <a:rPr lang="en-US" altLang="zh-CN" sz="2400" b="1" i="1" kern="0" dirty="0" smtClean="0">
                        <a:solidFill>
                          <a:srgbClr val="701988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2400" b="1" i="1" kern="0" dirty="0" smtClean="0">
                            <a:solidFill>
                              <a:srgbClr val="70198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0" dirty="0" smtClean="0">
                            <a:solidFill>
                              <a:srgbClr val="701988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zh-CN" sz="2400" b="1" i="1" kern="0" dirty="0" smtClean="0">
                            <a:solidFill>
                              <a:srgbClr val="701988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zh-CN" sz="2400" b="1" i="1" kern="0" dirty="0" smtClean="0">
                            <a:solidFill>
                              <a:srgbClr val="701988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b="1" i="1" kern="0" dirty="0" smtClean="0">
                            <a:solidFill>
                              <a:srgbClr val="701988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400" b="1" i="1" kern="0" dirty="0" smtClean="0">
                        <a:solidFill>
                          <a:srgbClr val="701988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400" b="1" kern="0" dirty="0">
                  <a:solidFill>
                    <a:srgbClr val="70198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  <a:buFont typeface="Wingdings" panose="05000000000000000000" pitchFamily="2" charset="2"/>
                  <a:buChar char="Ø"/>
                </a:pPr>
                <a:r>
                  <a:rPr lang="zh-CN" altLang="en-US" sz="2400" b="1" kern="0" dirty="0">
                    <a:solidFill>
                      <a:srgbClr val="701988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扇出</a:t>
                </a:r>
                <a14:m>
                  <m:oMath xmlns:m="http://schemas.openxmlformats.org/officeDocument/2006/math">
                    <m:r>
                      <a:rPr lang="en-US" altLang="zh-CN" sz="2400" b="1" i="1" kern="0" smtClean="0">
                        <a:solidFill>
                          <a:srgbClr val="701988"/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zh-CN" altLang="en-US" sz="2400" b="1" kern="0" dirty="0">
                    <a:solidFill>
                      <a:srgbClr val="701988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由页面大小和键值大小决定</a:t>
                </a:r>
                <a:endParaRPr lang="en-US" altLang="zh-CN" sz="2400" b="1" kern="0" dirty="0">
                  <a:solidFill>
                    <a:srgbClr val="70198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>
                  <a:lnSpc>
                    <a:spcPct val="15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2000" kern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</a:t>
                </a:r>
                <a:r>
                  <a:rPr lang="zh-CN" altLang="en-US" sz="2000" kern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通常</a:t>
                </a:r>
                <a:r>
                  <a:rPr lang="en-US" altLang="zh-CN" sz="2000" kern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200</a:t>
                </a:r>
                <a:r>
                  <a:rPr lang="zh-CN" altLang="en-US" sz="2000" kern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～</a:t>
                </a:r>
                <a:r>
                  <a:rPr lang="en-US" altLang="zh-CN" sz="2000" kern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300</a:t>
                </a:r>
              </a:p>
              <a:p>
                <a:pPr lvl="1">
                  <a:lnSpc>
                    <a:spcPct val="15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2000" kern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10</a:t>
                </a:r>
                <a:r>
                  <a:rPr lang="zh-CN" altLang="en-US" sz="2000" kern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亿条记录仅需要</a:t>
                </a:r>
                <a:r>
                  <a:rPr lang="en-US" altLang="zh-CN" sz="2000" kern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</a:t>
                </a:r>
                <a:r>
                  <a:rPr lang="zh-CN" altLang="en-US" sz="2000" kern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～</a:t>
                </a:r>
                <a:r>
                  <a:rPr lang="en-US" altLang="zh-CN" sz="2000" kern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</a:t>
                </a:r>
                <a:r>
                  <a:rPr lang="zh-CN" altLang="en-US" sz="2000" kern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层</a:t>
                </a:r>
                <a:endParaRPr lang="en-US" altLang="zh-CN" sz="2000" kern="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>
                  <a:lnSpc>
                    <a:spcPct val="15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2000" kern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I/O</a:t>
                </a:r>
                <a:r>
                  <a:rPr lang="zh-CN" altLang="en-US" sz="2000" kern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次数少</a:t>
                </a:r>
              </a:p>
            </p:txBody>
          </p:sp>
        </mc:Choice>
        <mc:Fallback xmlns="">
          <p:sp>
            <p:nvSpPr>
              <p:cNvPr id="8" name="内容占位符 3">
                <a:extLst>
                  <a:ext uri="{FF2B5EF4-FFF2-40B4-BE49-F238E27FC236}">
                    <a16:creationId xmlns:a16="http://schemas.microsoft.com/office/drawing/2014/main" id="{306245E1-808F-5980-313B-B989959B1C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3969" y="1142768"/>
                <a:ext cx="5891835" cy="4973637"/>
              </a:xfrm>
              <a:prstGeom prst="rect">
                <a:avLst/>
              </a:prstGeom>
              <a:blipFill>
                <a:blip r:embed="rId4"/>
                <a:stretch>
                  <a:fillRect l="-1288" r="-429" b="-254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967ABC8-D5AA-CB21-8364-06707AA9D5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66A83CD-4D78-8FBD-C518-DEF5D8FA99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7143" y="1740000"/>
            <a:ext cx="5569638" cy="2219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1464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18">
            <a:extLst>
              <a:ext uri="{FF2B5EF4-FFF2-40B4-BE49-F238E27FC236}">
                <a16:creationId xmlns:a16="http://schemas.microsoft.com/office/drawing/2014/main" id="{F672820C-ED26-401A-810B-2E95445B963F}"/>
              </a:ext>
            </a:extLst>
          </p:cNvPr>
          <p:cNvSpPr/>
          <p:nvPr/>
        </p:nvSpPr>
        <p:spPr>
          <a:xfrm>
            <a:off x="3607626" y="1528706"/>
            <a:ext cx="4818743" cy="3314298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dirty="0">
              <a:latin typeface="OPPOSans M" panose="00020600040101010101" pitchFamily="18" charset="-122"/>
              <a:ea typeface="OPPOSans M" panose="00020600040101010101" pitchFamily="18" charset="-122"/>
              <a:sym typeface="+mn-ea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3C35F35-0D0B-BDBC-478B-23D7223FD1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18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C01FBE5-2997-DA5A-E679-2665D9279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目录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6F1E561-F548-2140-CB4E-A81D3F2686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90567" y="1894677"/>
            <a:ext cx="10874188" cy="2813681"/>
          </a:xfrm>
        </p:spPr>
        <p:txBody>
          <a:bodyPr/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2"/>
            </a:pPr>
            <a:r>
              <a:rPr lang="en-US" altLang="zh-CN" sz="28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B+</a:t>
            </a:r>
            <a:r>
              <a:rPr lang="zh-CN" altLang="en-US" sz="28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树索引</a:t>
            </a:r>
            <a:endParaRPr lang="en-US" altLang="zh-CN" sz="28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索引结构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查找算法</a:t>
            </a:r>
            <a:endParaRPr lang="en-US" altLang="zh-CN" sz="20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插入算法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删除算法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endParaRPr kumimoji="1" lang="zh-CN" altLang="en-US" dirty="0">
              <a:solidFill>
                <a:schemeClr val="bg1">
                  <a:lumMod val="65000"/>
                </a:schemeClr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48A41E-6DDE-655A-47EA-634E67CBF6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523420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任意多边形: 形状 39">
            <a:extLst>
              <a:ext uri="{FF2B5EF4-FFF2-40B4-BE49-F238E27FC236}">
                <a16:creationId xmlns:a16="http://schemas.microsoft.com/office/drawing/2014/main" id="{168FC396-71A5-4E9A-91B4-9C546BA07118}"/>
              </a:ext>
            </a:extLst>
          </p:cNvPr>
          <p:cNvSpPr/>
          <p:nvPr/>
        </p:nvSpPr>
        <p:spPr bwMode="auto">
          <a:xfrm>
            <a:off x="712225" y="1039986"/>
            <a:ext cx="10767551" cy="2010780"/>
          </a:xfrm>
          <a:custGeom>
            <a:avLst/>
            <a:gdLst>
              <a:gd name="connsiteX0" fmla="*/ 0 w 6810034"/>
              <a:gd name="connsiteY0" fmla="*/ 0 h 678471"/>
              <a:gd name="connsiteX1" fmla="*/ 6810034 w 6810034"/>
              <a:gd name="connsiteY1" fmla="*/ 0 h 678471"/>
              <a:gd name="connsiteX2" fmla="*/ 6810034 w 6810034"/>
              <a:gd name="connsiteY2" fmla="*/ 678471 h 678471"/>
              <a:gd name="connsiteX3" fmla="*/ 0 w 6810034"/>
              <a:gd name="connsiteY3" fmla="*/ 678471 h 678471"/>
              <a:gd name="connsiteX4" fmla="*/ 0 w 6810034"/>
              <a:gd name="connsiteY4" fmla="*/ 0 h 678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10034" h="678471">
                <a:moveTo>
                  <a:pt x="0" y="0"/>
                </a:moveTo>
                <a:lnTo>
                  <a:pt x="6810034" y="0"/>
                </a:lnTo>
                <a:lnTo>
                  <a:pt x="6810034" y="678471"/>
                </a:lnTo>
                <a:lnTo>
                  <a:pt x="0" y="678471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6F1787">
                  <a:alpha val="20000"/>
                </a:srgbClr>
              </a:gs>
              <a:gs pos="100000">
                <a:srgbClr val="6F1787">
                  <a:alpha val="20000"/>
                </a:srgbClr>
              </a:gs>
              <a:gs pos="48000">
                <a:schemeClr val="bg1">
                  <a:alpha val="0"/>
                </a:schemeClr>
              </a:gs>
            </a:gsLst>
            <a:lin ang="13500000" scaled="0"/>
          </a:gra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华文楷体" pitchFamily="2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27319FB-03E4-9966-D26C-F7B77EF09F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19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DD435213-A1B7-5A26-75F8-4F1DFC2E7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查找算法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E863684-2B75-8214-AA68-39EEB80A79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269" y="966598"/>
            <a:ext cx="10832841" cy="2210134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kumimoji="1"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点查询</a:t>
            </a:r>
            <a:endParaRPr kumimoji="1"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从根节点逐层加载索引页面到缓冲区，直到叶子节点</a:t>
            </a:r>
            <a:endParaRPr kumimoji="1"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注意只</a:t>
            </a:r>
            <a:r>
              <a:rPr kumimoji="1"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判断存在性时，也要访问到叶子节点</a:t>
            </a:r>
            <a:endParaRPr kumimoji="1"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kumimoji="1"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内部节点存在的键，叶子节点中不一定存在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911BC441-36BB-4C17-BBB8-97A571F60157}"/>
              </a:ext>
            </a:extLst>
          </p:cNvPr>
          <p:cNvGrpSpPr/>
          <p:nvPr/>
        </p:nvGrpSpPr>
        <p:grpSpPr>
          <a:xfrm>
            <a:off x="1269530" y="3050765"/>
            <a:ext cx="9494936" cy="3077411"/>
            <a:chOff x="679578" y="3135963"/>
            <a:chExt cx="10832842" cy="3511044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0CB7E0BE-243B-98F2-5728-071664C9048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9578" y="3135963"/>
              <a:ext cx="10832842" cy="3045653"/>
            </a:xfrm>
            <a:prstGeom prst="rect">
              <a:avLst/>
            </a:prstGeom>
          </p:spPr>
        </p:pic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77E4DA84-B0DC-85EF-7F0C-E92326733F64}"/>
                </a:ext>
              </a:extLst>
            </p:cNvPr>
            <p:cNvSpPr txBox="1"/>
            <p:nvPr/>
          </p:nvSpPr>
          <p:spPr>
            <a:xfrm>
              <a:off x="4667398" y="4069733"/>
              <a:ext cx="10390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>
                  <a:solidFill>
                    <a:srgbClr val="FF0000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59</a:t>
              </a:r>
              <a:r>
                <a:rPr kumimoji="1" lang="zh-CN" altLang="en-US" dirty="0">
                  <a:solidFill>
                    <a:srgbClr val="FF0000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 </a:t>
              </a:r>
              <a:r>
                <a:rPr kumimoji="1" lang="en-US" altLang="zh-CN" dirty="0">
                  <a:solidFill>
                    <a:srgbClr val="FF0000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&lt; 61</a:t>
              </a:r>
              <a:endParaRPr kumimoji="1" lang="zh-CN" altLang="en-US" dirty="0">
                <a:solidFill>
                  <a:srgbClr val="FF0000"/>
                </a:solidFill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994CDD03-2A8E-EC5A-3D0E-D13CDF289573}"/>
                </a:ext>
              </a:extLst>
            </p:cNvPr>
            <p:cNvSpPr txBox="1"/>
            <p:nvPr/>
          </p:nvSpPr>
          <p:spPr>
            <a:xfrm>
              <a:off x="2188567" y="4803408"/>
              <a:ext cx="12105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>
                  <a:solidFill>
                    <a:srgbClr val="FF0000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59 &gt;= 43</a:t>
              </a:r>
              <a:endParaRPr kumimoji="1" lang="zh-CN" altLang="en-US" dirty="0">
                <a:solidFill>
                  <a:srgbClr val="FF0000"/>
                </a:solidFill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AA36C99F-164F-519E-A0FC-BEB53E28824B}"/>
                </a:ext>
              </a:extLst>
            </p:cNvPr>
            <p:cNvSpPr txBox="1"/>
            <p:nvPr/>
          </p:nvSpPr>
          <p:spPr>
            <a:xfrm>
              <a:off x="4618671" y="6225633"/>
              <a:ext cx="3414881" cy="421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dirty="0">
                  <a:solidFill>
                    <a:srgbClr val="701988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找到</a:t>
              </a:r>
              <a:r>
                <a:rPr kumimoji="1" lang="en-US" altLang="zh-CN" dirty="0">
                  <a:solidFill>
                    <a:srgbClr val="701988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59</a:t>
              </a:r>
              <a:r>
                <a:rPr kumimoji="1" lang="zh-CN" altLang="en-US" dirty="0">
                  <a:solidFill>
                    <a:srgbClr val="701988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，获得数据记录位置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919792E2-C73F-4C41-06CF-286EB58CDB71}"/>
                </a:ext>
              </a:extLst>
            </p:cNvPr>
            <p:cNvSpPr txBox="1"/>
            <p:nvPr/>
          </p:nvSpPr>
          <p:spPr>
            <a:xfrm>
              <a:off x="6944568" y="3423394"/>
              <a:ext cx="1044655" cy="421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dirty="0">
                  <a:solidFill>
                    <a:srgbClr val="701988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查找</a:t>
              </a:r>
              <a:r>
                <a:rPr kumimoji="1" lang="en-US" altLang="zh-CN" dirty="0">
                  <a:solidFill>
                    <a:srgbClr val="701988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59</a:t>
              </a:r>
              <a:endParaRPr kumimoji="1" lang="zh-CN" altLang="en-US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</p:grp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FF28CD-9F72-D641-3DC0-218CE16EE3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2936292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9">
            <a:extLst>
              <a:ext uri="{FF2B5EF4-FFF2-40B4-BE49-F238E27FC236}">
                <a16:creationId xmlns:a16="http://schemas.microsoft.com/office/drawing/2014/main" id="{6B93B6BF-E4F5-4167-8781-2A377BCBAF94}"/>
              </a:ext>
            </a:extLst>
          </p:cNvPr>
          <p:cNvSpPr/>
          <p:nvPr/>
        </p:nvSpPr>
        <p:spPr>
          <a:xfrm>
            <a:off x="830097" y="992624"/>
            <a:ext cx="10565218" cy="1933389"/>
          </a:xfrm>
          <a:custGeom>
            <a:avLst/>
            <a:gdLst>
              <a:gd name="connsiteX0" fmla="*/ 0 w 2866328"/>
              <a:gd name="connsiteY0" fmla="*/ 0 h 542478"/>
              <a:gd name="connsiteX1" fmla="*/ 2866328 w 2866328"/>
              <a:gd name="connsiteY1" fmla="*/ 0 h 542478"/>
              <a:gd name="connsiteX2" fmla="*/ 2730709 w 2866328"/>
              <a:gd name="connsiteY2" fmla="*/ 542478 h 542478"/>
              <a:gd name="connsiteX3" fmla="*/ 0 w 2866328"/>
              <a:gd name="connsiteY3" fmla="*/ 542478 h 542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66328" h="542478">
                <a:moveTo>
                  <a:pt x="0" y="0"/>
                </a:moveTo>
                <a:lnTo>
                  <a:pt x="2866328" y="0"/>
                </a:lnTo>
                <a:lnTo>
                  <a:pt x="2730709" y="542478"/>
                </a:lnTo>
                <a:lnTo>
                  <a:pt x="0" y="542478"/>
                </a:lnTo>
                <a:close/>
              </a:path>
            </a:pathLst>
          </a:custGeom>
          <a:gradFill>
            <a:gsLst>
              <a:gs pos="99000">
                <a:srgbClr val="6F1787">
                  <a:alpha val="20000"/>
                </a:srgbClr>
              </a:gs>
              <a:gs pos="0">
                <a:schemeClr val="bg1">
                  <a:alpha val="0"/>
                </a:schemeClr>
              </a:gs>
            </a:gsLst>
            <a:lin ang="135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000" b="1" dirty="0">
              <a:latin typeface="OPPOSans M" panose="00020600040101010101" pitchFamily="18" charset="-122"/>
              <a:ea typeface="OPPOSans M" panose="00020600040101010101" pitchFamily="18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27319FB-03E4-9966-D26C-F7B77EF09F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20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DD435213-A1B7-5A26-75F8-4F1DFC2E7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查找算法</a:t>
            </a:r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95D39467-1DEE-CB5C-2195-CB2173EE1B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E863684-2B75-8214-AA68-39EEB80A79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551" y="857074"/>
            <a:ext cx="10832841" cy="2303461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区间查询（范围查询）</a:t>
            </a:r>
            <a:endParaRPr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叶节点兄弟之间有指针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首先根据查找键查找左端点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然后按照节点指针向右线性扫描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A9E27A5A-A01A-4EE9-A16B-6376D207D6E7}"/>
              </a:ext>
            </a:extLst>
          </p:cNvPr>
          <p:cNvGrpSpPr/>
          <p:nvPr/>
        </p:nvGrpSpPr>
        <p:grpSpPr>
          <a:xfrm>
            <a:off x="793879" y="2825972"/>
            <a:ext cx="10148441" cy="3275277"/>
            <a:chOff x="679579" y="2654282"/>
            <a:chExt cx="10832842" cy="3496159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0CB7E0BE-243B-98F2-5728-071664C9048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9579" y="2654282"/>
              <a:ext cx="10832842" cy="3045655"/>
            </a:xfrm>
            <a:prstGeom prst="rect">
              <a:avLst/>
            </a:prstGeom>
          </p:spPr>
        </p:pic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77E4DA84-B0DC-85EF-7F0C-E92326733F64}"/>
                </a:ext>
              </a:extLst>
            </p:cNvPr>
            <p:cNvSpPr txBox="1"/>
            <p:nvPr/>
          </p:nvSpPr>
          <p:spPr>
            <a:xfrm>
              <a:off x="4982029" y="4069733"/>
              <a:ext cx="10390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>
                  <a:solidFill>
                    <a:srgbClr val="FF0000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21</a:t>
              </a:r>
              <a:r>
                <a:rPr kumimoji="1" lang="zh-CN" altLang="en-US" dirty="0">
                  <a:solidFill>
                    <a:srgbClr val="FF0000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 </a:t>
              </a:r>
              <a:r>
                <a:rPr kumimoji="1" lang="en-US" altLang="zh-CN" dirty="0">
                  <a:solidFill>
                    <a:srgbClr val="FF0000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&lt; 61</a:t>
              </a:r>
              <a:endParaRPr kumimoji="1" lang="zh-CN" altLang="en-US" dirty="0">
                <a:solidFill>
                  <a:srgbClr val="FF0000"/>
                </a:solidFill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994CDD03-2A8E-EC5A-3D0E-D13CDF289573}"/>
                </a:ext>
              </a:extLst>
            </p:cNvPr>
            <p:cNvSpPr txBox="1"/>
            <p:nvPr/>
          </p:nvSpPr>
          <p:spPr>
            <a:xfrm>
              <a:off x="2503197" y="4803408"/>
              <a:ext cx="10390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>
                  <a:solidFill>
                    <a:srgbClr val="FF0000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21 &lt; 27</a:t>
              </a:r>
              <a:endParaRPr kumimoji="1" lang="zh-CN" altLang="en-US" dirty="0">
                <a:solidFill>
                  <a:srgbClr val="FF0000"/>
                </a:solidFill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919792E2-C73F-4C41-06CF-286EB58CDB71}"/>
                </a:ext>
              </a:extLst>
            </p:cNvPr>
            <p:cNvSpPr txBox="1"/>
            <p:nvPr/>
          </p:nvSpPr>
          <p:spPr>
            <a:xfrm>
              <a:off x="6944569" y="2959700"/>
              <a:ext cx="18229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dirty="0">
                  <a:solidFill>
                    <a:srgbClr val="701988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查找</a:t>
              </a:r>
              <a:r>
                <a:rPr kumimoji="1" lang="en-US" altLang="zh-CN" dirty="0">
                  <a:solidFill>
                    <a:srgbClr val="701988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21&lt;=x&lt;61</a:t>
              </a:r>
              <a:endParaRPr kumimoji="1" lang="zh-CN" altLang="en-US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3A2F88AD-9999-43C6-B448-178428BD02DD}"/>
                </a:ext>
              </a:extLst>
            </p:cNvPr>
            <p:cNvSpPr/>
            <p:nvPr/>
          </p:nvSpPr>
          <p:spPr bwMode="auto">
            <a:xfrm>
              <a:off x="1418253" y="5704862"/>
              <a:ext cx="354563" cy="305418"/>
            </a:xfrm>
            <a:prstGeom prst="ellipse">
              <a:avLst/>
            </a:prstGeom>
            <a:noFill/>
            <a:ln w="381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楷体" pitchFamily="2" charset="-122"/>
              </a:endParaRPr>
            </a:p>
          </p:txBody>
        </p:sp>
        <p:sp>
          <p:nvSpPr>
            <p:cNvPr id="15" name="左中括号 14">
              <a:extLst>
                <a:ext uri="{FF2B5EF4-FFF2-40B4-BE49-F238E27FC236}">
                  <a16:creationId xmlns:a16="http://schemas.microsoft.com/office/drawing/2014/main" id="{AA802B26-E818-4EB3-A63F-77117368BC87}"/>
                </a:ext>
              </a:extLst>
            </p:cNvPr>
            <p:cNvSpPr/>
            <p:nvPr/>
          </p:nvSpPr>
          <p:spPr bwMode="auto">
            <a:xfrm rot="16200000">
              <a:off x="4595793" y="3097674"/>
              <a:ext cx="45719" cy="6046236"/>
            </a:xfrm>
            <a:prstGeom prst="leftBracket">
              <a:avLst/>
            </a:prstGeom>
            <a:noFill/>
            <a:ln w="381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楷体" pitchFamily="2" charset="-122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6E52894B-A506-4FDB-936C-4A77F168CB93}"/>
                </a:ext>
              </a:extLst>
            </p:cNvPr>
            <p:cNvSpPr txBox="1"/>
            <p:nvPr/>
          </p:nvSpPr>
          <p:spPr>
            <a:xfrm>
              <a:off x="3427446" y="5781109"/>
              <a:ext cx="2492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dirty="0">
                  <a:solidFill>
                    <a:srgbClr val="701988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沿叶节点指针线性扫描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05849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18">
            <a:extLst>
              <a:ext uri="{FF2B5EF4-FFF2-40B4-BE49-F238E27FC236}">
                <a16:creationId xmlns:a16="http://schemas.microsoft.com/office/drawing/2014/main" id="{F672820C-ED26-401A-810B-2E95445B963F}"/>
              </a:ext>
            </a:extLst>
          </p:cNvPr>
          <p:cNvSpPr/>
          <p:nvPr/>
        </p:nvSpPr>
        <p:spPr>
          <a:xfrm>
            <a:off x="3607626" y="1528706"/>
            <a:ext cx="4818743" cy="3314298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dirty="0">
              <a:latin typeface="OPPOSans M" panose="00020600040101010101" pitchFamily="18" charset="-122"/>
              <a:ea typeface="OPPOSans M" panose="00020600040101010101" pitchFamily="18" charset="-122"/>
              <a:sym typeface="+mn-ea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3C35F35-0D0B-BDBC-478B-23D7223FD1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21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C01FBE5-2997-DA5A-E679-2665D9279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目录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6F1E561-F548-2140-CB4E-A81D3F2686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90567" y="1894677"/>
            <a:ext cx="10874188" cy="2813681"/>
          </a:xfrm>
        </p:spPr>
        <p:txBody>
          <a:bodyPr/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2"/>
            </a:pPr>
            <a:r>
              <a:rPr lang="en-US" altLang="zh-CN" sz="28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B+</a:t>
            </a:r>
            <a:r>
              <a:rPr lang="zh-CN" altLang="en-US" sz="28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树索引</a:t>
            </a:r>
            <a:endParaRPr lang="en-US" altLang="zh-CN" sz="28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索引结构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查找算法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插入算法</a:t>
            </a:r>
            <a:endParaRPr lang="en-US" altLang="zh-CN" sz="20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删除算法</a:t>
            </a:r>
            <a:endParaRPr kumimoji="1" lang="zh-CN" altLang="en-US" dirty="0">
              <a:solidFill>
                <a:schemeClr val="bg1">
                  <a:lumMod val="65000"/>
                </a:schemeClr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48A41E-6DDE-655A-47EA-634E67CBF6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0434685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9">
            <a:extLst>
              <a:ext uri="{FF2B5EF4-FFF2-40B4-BE49-F238E27FC236}">
                <a16:creationId xmlns:a16="http://schemas.microsoft.com/office/drawing/2014/main" id="{6B93B6BF-E4F5-4167-8781-2A377BCBAF94}"/>
              </a:ext>
            </a:extLst>
          </p:cNvPr>
          <p:cNvSpPr/>
          <p:nvPr/>
        </p:nvSpPr>
        <p:spPr>
          <a:xfrm>
            <a:off x="813390" y="992307"/>
            <a:ext cx="10565218" cy="5366046"/>
          </a:xfrm>
          <a:custGeom>
            <a:avLst/>
            <a:gdLst>
              <a:gd name="connsiteX0" fmla="*/ 0 w 2866328"/>
              <a:gd name="connsiteY0" fmla="*/ 0 h 542478"/>
              <a:gd name="connsiteX1" fmla="*/ 2866328 w 2866328"/>
              <a:gd name="connsiteY1" fmla="*/ 0 h 542478"/>
              <a:gd name="connsiteX2" fmla="*/ 2730709 w 2866328"/>
              <a:gd name="connsiteY2" fmla="*/ 542478 h 542478"/>
              <a:gd name="connsiteX3" fmla="*/ 0 w 2866328"/>
              <a:gd name="connsiteY3" fmla="*/ 542478 h 542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66328" h="542478">
                <a:moveTo>
                  <a:pt x="0" y="0"/>
                </a:moveTo>
                <a:lnTo>
                  <a:pt x="2866328" y="0"/>
                </a:lnTo>
                <a:lnTo>
                  <a:pt x="2730709" y="542478"/>
                </a:lnTo>
                <a:lnTo>
                  <a:pt x="0" y="542478"/>
                </a:lnTo>
                <a:close/>
              </a:path>
            </a:pathLst>
          </a:custGeom>
          <a:gradFill>
            <a:gsLst>
              <a:gs pos="99000">
                <a:srgbClr val="6F1787">
                  <a:alpha val="20000"/>
                </a:srgbClr>
              </a:gs>
              <a:gs pos="0">
                <a:schemeClr val="bg1">
                  <a:alpha val="0"/>
                </a:schemeClr>
              </a:gs>
            </a:gsLst>
            <a:lin ang="135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000" b="1" dirty="0">
              <a:latin typeface="OPPOSans M" panose="00020600040101010101" pitchFamily="18" charset="-122"/>
              <a:ea typeface="OPPOSans M" panose="00020600040101010101" pitchFamily="18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910C09C-576E-1FB9-CA8F-730027F531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22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24ACCD1-3EC4-2F69-06C6-D0CEAD655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插入算法</a:t>
            </a:r>
            <a:endParaRPr kumimoji="1" lang="zh-CN" altLang="en-US" sz="36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992E26DB-4AF4-9C4D-C8E8-99705439029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50811" y="890242"/>
                <a:ext cx="9310927" cy="4288233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  <a:spcBef>
                    <a:spcPts val="0"/>
                  </a:spcBef>
                  <a:buFont typeface="Wingdings" panose="05000000000000000000" pitchFamily="2" charset="2"/>
                  <a:buChar char="Ø"/>
                </a:pPr>
                <a:r>
                  <a:rPr kumimoji="1" lang="zh-CN" altLang="en-US" sz="2400" b="1" dirty="0">
                    <a:solidFill>
                      <a:srgbClr val="701988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找到</a:t>
                </a:r>
                <a:r>
                  <a:rPr lang="zh-CN" altLang="en-US" sz="2400" b="1" dirty="0">
                    <a:solidFill>
                      <a:srgbClr val="701988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应插入的</a:t>
                </a:r>
                <a:r>
                  <a:rPr kumimoji="1" lang="zh-CN" altLang="en-US" sz="2400" b="1" dirty="0">
                    <a:solidFill>
                      <a:srgbClr val="701988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叶子节点</a:t>
                </a:r>
                <a14:m>
                  <m:oMath xmlns:m="http://schemas.openxmlformats.org/officeDocument/2006/math">
                    <m:r>
                      <a:rPr kumimoji="1" lang="en-US" altLang="zh-CN" sz="2400" b="1" i="1" smtClean="0">
                        <a:solidFill>
                          <a:srgbClr val="701988"/>
                        </a:solidFill>
                        <a:latin typeface="Cambria Math" panose="02040503050406030204" pitchFamily="18" charset="0"/>
                      </a:rPr>
                      <m:t>𝑳</m:t>
                    </m:r>
                  </m:oMath>
                </a14:m>
                <a:endParaRPr kumimoji="1" lang="en-US" altLang="zh-CN" sz="2400" b="1" dirty="0">
                  <a:solidFill>
                    <a:srgbClr val="70198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  <a:buFont typeface="Wingdings" panose="05000000000000000000" pitchFamily="2" charset="2"/>
                  <a:buChar char="Ø"/>
                </a:pPr>
                <a:r>
                  <a:rPr lang="zh-CN" altLang="en-US" sz="2400" b="1" dirty="0">
                    <a:solidFill>
                      <a:srgbClr val="701988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将索引记录插入到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701988"/>
                        </a:solidFill>
                        <a:latin typeface="Cambria Math" panose="02040503050406030204" pitchFamily="18" charset="0"/>
                      </a:rPr>
                      <m:t>𝑳</m:t>
                    </m:r>
                    <m:r>
                      <a:rPr lang="zh-CN" altLang="en-US" sz="2400" b="1" i="1" smtClean="0">
                        <a:solidFill>
                          <a:srgbClr val="701988"/>
                        </a:solidFill>
                        <a:latin typeface="Cambria Math" panose="02040503050406030204" pitchFamily="18" charset="0"/>
                      </a:rPr>
                      <m:t>中</m:t>
                    </m:r>
                  </m:oMath>
                </a14:m>
                <a:endParaRPr lang="en-US" altLang="zh-CN" sz="2400" b="1" dirty="0">
                  <a:solidFill>
                    <a:srgbClr val="70198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  <a:buFont typeface="Wingdings" panose="05000000000000000000" pitchFamily="2" charset="2"/>
                  <a:buChar char="Ø"/>
                </a:pPr>
                <a:r>
                  <a:rPr lang="zh-CN" altLang="en-US" sz="2400" b="1" dirty="0">
                    <a:solidFill>
                      <a:srgbClr val="701988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如果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701988"/>
                        </a:solidFill>
                        <a:latin typeface="Cambria Math" panose="02040503050406030204" pitchFamily="18" charset="0"/>
                      </a:rPr>
                      <m:t>𝑳</m:t>
                    </m:r>
                  </m:oMath>
                </a14:m>
                <a:r>
                  <a:rPr lang="zh-CN" altLang="en-US" sz="2400" b="1" dirty="0">
                    <a:solidFill>
                      <a:srgbClr val="701988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有多余空间，结束</a:t>
                </a:r>
                <a:endParaRPr lang="en-US" altLang="zh-CN" sz="2400" b="1" dirty="0">
                  <a:solidFill>
                    <a:srgbClr val="70198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  <a:buFont typeface="Wingdings" panose="05000000000000000000" pitchFamily="2" charset="2"/>
                  <a:buChar char="Ø"/>
                </a:pPr>
                <a:r>
                  <a:rPr lang="zh-CN" altLang="en-US" sz="2400" b="1" dirty="0">
                    <a:solidFill>
                      <a:srgbClr val="701988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否则，需要分裂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701988"/>
                        </a:solidFill>
                        <a:latin typeface="Cambria Math" panose="02040503050406030204" pitchFamily="18" charset="0"/>
                      </a:rPr>
                      <m:t>𝑳</m:t>
                    </m:r>
                  </m:oMath>
                </a14:m>
                <a:endParaRPr lang="en-US" altLang="zh-CN" sz="2400" b="1" dirty="0">
                  <a:solidFill>
                    <a:srgbClr val="70198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>
                  <a:lnSpc>
                    <a:spcPct val="15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将节点内容均分为两部分，假设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3B20FF"/>
                        </a:solidFill>
                        <a:latin typeface="Cambria Math" panose="02040503050406030204" pitchFamily="18" charset="0"/>
                      </a:rPr>
                      <m:t>𝑳</m:t>
                    </m:r>
                  </m:oMath>
                </a14:m>
                <a:r>
                  <a:rPr lang="zh-CN" altLang="en-US" sz="2000" b="1" dirty="0">
                    <a:solidFill>
                      <a:srgbClr val="3B2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中间键为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K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′</m:t>
                    </m:r>
                  </m:oMath>
                </a14:m>
                <a:endParaRPr lang="en-US" altLang="zh-CN" sz="2000" b="1" dirty="0">
                  <a:solidFill>
                    <a:srgbClr val="3B2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>
                  <a:lnSpc>
                    <a:spcPct val="15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中小于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K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′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的保存在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；大于等于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K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′</m:t>
                    </m:r>
                    <m:r>
                      <a:rPr lang="zh-CN" altLang="en-US" sz="2000" i="1" smtClean="0">
                        <a:latin typeface="Cambria Math" panose="02040503050406030204" pitchFamily="18" charset="0"/>
                      </a:rPr>
                      <m:t>的</m:t>
                    </m:r>
                    <m:r>
                      <a:rPr lang="zh-CN" altLang="en-US" sz="2000" i="1">
                        <a:latin typeface="Cambria Math" panose="02040503050406030204" pitchFamily="18" charset="0"/>
                      </a:rPr>
                      <m:t>移动到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𝑛𝑒𝑤</m:t>
                        </m:r>
                      </m:sub>
                    </m:sSub>
                  </m:oMath>
                </a14:m>
                <a:r>
                  <a:rPr lang="zh-CN" altLang="en-US" sz="2000" b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endParaRPr lang="en-US" altLang="zh-CN" sz="2000" b="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>
                  <a:lnSpc>
                    <a:spcPct val="15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将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K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′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插入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父节点</a:t>
                </a:r>
                <a14:m>
                  <m:oMath xmlns:m="http://schemas.openxmlformats.org/officeDocument/2006/math">
                    <m:r>
                      <a:rPr lang="zh-CN" altLang="en-US" sz="2000" b="0" i="0" dirty="0" smtClea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zh-CN" altLang="en-US" sz="2000" i="1" dirty="0">
                        <a:latin typeface="Cambria Math" panose="02040503050406030204" pitchFamily="18" charset="0"/>
                      </a:rPr>
                      <m:t>并更新</m:t>
                    </m:r>
                    <m:r>
                      <a:rPr lang="zh-CN" altLang="en-US" sz="2000" i="1" dirty="0" smtClean="0">
                        <a:latin typeface="Cambria Math" panose="02040503050406030204" pitchFamily="18" charset="0"/>
                      </a:rPr>
                      <m:t>指向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′</m:t>
                    </m:r>
                    <m:r>
                      <a:rPr lang="zh-CN" altLang="en-US" sz="2000" i="1" dirty="0" smtClean="0">
                        <a:latin typeface="Cambria Math" panose="02040503050406030204" pitchFamily="18" charset="0"/>
                      </a:rPr>
                      <m:t>和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𝑛𝑒𝑤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的指针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>
                  <a:lnSpc>
                    <a:spcPct val="15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如果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L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父节点溢出，继续分裂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992E26DB-4AF4-9C4D-C8E8-9970543902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50811" y="890242"/>
                <a:ext cx="9310927" cy="4288233"/>
              </a:xfrm>
              <a:blipFill>
                <a:blip r:embed="rId2"/>
                <a:stretch>
                  <a:fillRect l="-8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3">
                <a:extLst>
                  <a:ext uri="{FF2B5EF4-FFF2-40B4-BE49-F238E27FC236}">
                    <a16:creationId xmlns:a16="http://schemas.microsoft.com/office/drawing/2014/main" id="{5FE36A15-7DBA-96E1-D1E0-FDD596FBC4D5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284811" y="5034526"/>
                <a:ext cx="10172700" cy="125068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16531" indent="-316531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Wingdings" charset="2"/>
                  <a:buChar char="p"/>
                  <a:defRPr kumimoji="1" sz="3200" b="0">
                    <a:solidFill>
                      <a:schemeClr val="tx1"/>
                    </a:solidFill>
                    <a:effectLst/>
                    <a:latin typeface="SimHei" panose="02010609060101010101" pitchFamily="49" charset="-122"/>
                    <a:ea typeface="SimHei" panose="02010609060101010101" pitchFamily="49" charset="-122"/>
                    <a:cs typeface="Arial"/>
                  </a:defRPr>
                </a:lvl1pPr>
                <a:lvl2pPr marL="685817" indent="-263776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b="0">
                    <a:solidFill>
                      <a:schemeClr val="tx1"/>
                    </a:solidFill>
                    <a:effectLst/>
                    <a:latin typeface="SimHei" panose="02010609060101010101" pitchFamily="49" charset="-122"/>
                    <a:ea typeface="SimHei" panose="02010609060101010101" pitchFamily="49" charset="-122"/>
                    <a:cs typeface="Arial"/>
                  </a:defRPr>
                </a:lvl2pPr>
                <a:lvl3pPr marL="1055103" indent="-211021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b="0">
                    <a:solidFill>
                      <a:schemeClr val="tx1"/>
                    </a:solidFill>
                    <a:effectLst/>
                    <a:latin typeface="SimHei" panose="02010609060101010101" pitchFamily="49" charset="-122"/>
                    <a:ea typeface="SimHei" panose="02010609060101010101" pitchFamily="49" charset="-122"/>
                    <a:cs typeface="Arial"/>
                  </a:defRPr>
                </a:lvl3pPr>
                <a:lvl4pPr marL="1477145" indent="-211021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1846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SimHei" panose="02010609060101010101" pitchFamily="49" charset="-122"/>
                    <a:ea typeface="SimHei" panose="02010609060101010101" pitchFamily="49" charset="-122"/>
                  </a:defRPr>
                </a:lvl4pPr>
                <a:lvl5pPr marL="1899186" indent="-211021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1846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SimHei" panose="02010609060101010101" pitchFamily="49" charset="-122"/>
                    <a:ea typeface="SimHei" panose="02010609060101010101" pitchFamily="49" charset="-122"/>
                  </a:defRPr>
                </a:lvl5pPr>
                <a:lvl6pPr marL="2321227" indent="-211021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1846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</a:defRPr>
                </a:lvl6pPr>
                <a:lvl7pPr marL="2743269" indent="-211021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1846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</a:defRPr>
                </a:lvl7pPr>
                <a:lvl8pPr marL="3165310" indent="-211021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1846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</a:defRPr>
                </a:lvl8pPr>
                <a:lvl9pPr marL="3587351" indent="-211021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1846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</a:defRPr>
                </a:lvl9pPr>
              </a:lstStyle>
              <a:p>
                <a:pPr>
                  <a:buFont typeface="Wingdings" panose="05000000000000000000" pitchFamily="2" charset="2"/>
                  <a:buChar char="Ø"/>
                </a:pPr>
                <a:r>
                  <a:rPr lang="zh-CN" altLang="en-US" sz="2400" b="1" kern="0" dirty="0">
                    <a:solidFill>
                      <a:srgbClr val="701988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内部节点（非叶结点）分裂：</a:t>
                </a:r>
                <a:endParaRPr lang="en-US" altLang="zh-CN" sz="2400" b="1" kern="0" dirty="0">
                  <a:solidFill>
                    <a:srgbClr val="70198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zh-CN" altLang="en-US" sz="2000" kern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中间键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K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′</m:t>
                    </m:r>
                    <m:r>
                      <a:rPr lang="zh-CN" altLang="en-US" sz="2000" i="1" dirty="0" smtClean="0">
                        <a:latin typeface="Cambria Math" panose="02040503050406030204" pitchFamily="18" charset="0"/>
                      </a:rPr>
                      <m:t>不</m:t>
                    </m:r>
                    <m:r>
                      <a:rPr lang="zh-CN" altLang="en-US" sz="2000" i="1" dirty="0">
                        <a:latin typeface="Cambria Math" panose="02040503050406030204" pitchFamily="18" charset="0"/>
                      </a:rPr>
                      <m:t>放在</m:t>
                    </m:r>
                    <m:r>
                      <a:rPr lang="zh-CN" altLang="en-US" sz="2000" i="1" dirty="0" smtClean="0">
                        <a:latin typeface="Cambria Math" panose="02040503050406030204" pitchFamily="18" charset="0"/>
                      </a:rPr>
                      <m:t>新</m:t>
                    </m:r>
                    <m:r>
                      <a:rPr lang="zh-CN" altLang="en-US" sz="2000" i="1" dirty="0">
                        <a:latin typeface="Cambria Math" panose="02040503050406030204" pitchFamily="18" charset="0"/>
                      </a:rPr>
                      <m:t>节点中</m:t>
                    </m:r>
                    <m:d>
                      <m:dPr>
                        <m:begChr m:val="（"/>
                        <m:endChr m:val="）"/>
                        <m:ctrlPr>
                          <a:rPr lang="zh-CN" altLang="en-US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zh-CN" altLang="en-US" sz="2000" i="1" dirty="0">
                            <a:latin typeface="Cambria Math" panose="02040503050406030204" pitchFamily="18" charset="0"/>
                          </a:rPr>
                          <m:t>和</m:t>
                        </m:r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𝑛𝑒𝑤</m:t>
                            </m:r>
                          </m:sub>
                        </m:sSub>
                      </m:e>
                    </m:d>
                    <m:r>
                      <a:rPr lang="zh-CN" altLang="en-US" sz="2000" b="0" i="1" dirty="0" smtClea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zh-CN" altLang="en-US" sz="2000" i="1" dirty="0">
                        <a:latin typeface="Cambria Math" panose="02040503050406030204" pitchFamily="18" charset="0"/>
                      </a:rPr>
                      <m:t>仅</m:t>
                    </m:r>
                    <m:r>
                      <a:rPr lang="zh-CN" altLang="en-US" sz="2000" i="1" dirty="0" smtClean="0">
                        <a:latin typeface="Cambria Math" panose="02040503050406030204" pitchFamily="18" charset="0"/>
                      </a:rPr>
                      <m:t>插入</m:t>
                    </m:r>
                  </m:oMath>
                </a14:m>
                <a:r>
                  <a:rPr lang="zh-CN" altLang="en-US" sz="2000" kern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父节点</a:t>
                </a:r>
                <a:endParaRPr lang="en-US" altLang="zh-CN" sz="2000" kern="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内容占位符 3">
                <a:extLst>
                  <a:ext uri="{FF2B5EF4-FFF2-40B4-BE49-F238E27FC236}">
                    <a16:creationId xmlns:a16="http://schemas.microsoft.com/office/drawing/2014/main" id="{5FE36A15-7DBA-96E1-D1E0-FDD596FBC4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84811" y="5034526"/>
                <a:ext cx="10172700" cy="1250683"/>
              </a:xfrm>
              <a:prstGeom prst="rect">
                <a:avLst/>
              </a:prstGeom>
              <a:blipFill>
                <a:blip r:embed="rId3"/>
                <a:stretch>
                  <a:fillRect l="-873" t="-404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0DD14B-6B9D-B7C7-D5AC-BD91B55994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AFC288C-88AC-1DB2-41A6-418060082F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5784" y="1492126"/>
            <a:ext cx="6050630" cy="1402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7861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9">
            <a:extLst>
              <a:ext uri="{FF2B5EF4-FFF2-40B4-BE49-F238E27FC236}">
                <a16:creationId xmlns:a16="http://schemas.microsoft.com/office/drawing/2014/main" id="{6B93B6BF-E4F5-4167-8781-2A377BCBAF94}"/>
              </a:ext>
            </a:extLst>
          </p:cNvPr>
          <p:cNvSpPr/>
          <p:nvPr/>
        </p:nvSpPr>
        <p:spPr>
          <a:xfrm>
            <a:off x="813390" y="1178704"/>
            <a:ext cx="10757697" cy="4852980"/>
          </a:xfrm>
          <a:custGeom>
            <a:avLst/>
            <a:gdLst>
              <a:gd name="connsiteX0" fmla="*/ 0 w 2866328"/>
              <a:gd name="connsiteY0" fmla="*/ 0 h 542478"/>
              <a:gd name="connsiteX1" fmla="*/ 2866328 w 2866328"/>
              <a:gd name="connsiteY1" fmla="*/ 0 h 542478"/>
              <a:gd name="connsiteX2" fmla="*/ 2730709 w 2866328"/>
              <a:gd name="connsiteY2" fmla="*/ 542478 h 542478"/>
              <a:gd name="connsiteX3" fmla="*/ 0 w 2866328"/>
              <a:gd name="connsiteY3" fmla="*/ 542478 h 542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66328" h="542478">
                <a:moveTo>
                  <a:pt x="0" y="0"/>
                </a:moveTo>
                <a:lnTo>
                  <a:pt x="2866328" y="0"/>
                </a:lnTo>
                <a:lnTo>
                  <a:pt x="2730709" y="542478"/>
                </a:lnTo>
                <a:lnTo>
                  <a:pt x="0" y="542478"/>
                </a:lnTo>
                <a:close/>
              </a:path>
            </a:pathLst>
          </a:custGeom>
          <a:gradFill>
            <a:gsLst>
              <a:gs pos="99000">
                <a:srgbClr val="6F1787">
                  <a:alpha val="20000"/>
                </a:srgbClr>
              </a:gs>
              <a:gs pos="0">
                <a:schemeClr val="bg1">
                  <a:alpha val="0"/>
                </a:schemeClr>
              </a:gs>
            </a:gsLst>
            <a:lin ang="135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000" b="1" dirty="0">
              <a:latin typeface="OPPOSans M" panose="00020600040101010101" pitchFamily="18" charset="-122"/>
              <a:ea typeface="OPPOSans M" panose="00020600040101010101" pitchFamily="18" charset="-122"/>
            </a:endParaRPr>
          </a:p>
        </p:txBody>
      </p:sp>
      <p:sp>
        <p:nvSpPr>
          <p:cNvPr id="10" name="Shape18">
            <a:extLst>
              <a:ext uri="{FF2B5EF4-FFF2-40B4-BE49-F238E27FC236}">
                <a16:creationId xmlns:a16="http://schemas.microsoft.com/office/drawing/2014/main" id="{A4932A9C-F497-4127-A5E5-DF39BF7178B7}"/>
              </a:ext>
            </a:extLst>
          </p:cNvPr>
          <p:cNvSpPr/>
          <p:nvPr/>
        </p:nvSpPr>
        <p:spPr>
          <a:xfrm>
            <a:off x="1095695" y="2507144"/>
            <a:ext cx="10073364" cy="2719124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dirty="0">
              <a:latin typeface="OPPOSans M" panose="00020600040101010101" pitchFamily="18" charset="-122"/>
              <a:ea typeface="OPPOSans M" panose="00020600040101010101" pitchFamily="18" charset="-122"/>
              <a:sym typeface="+mn-ea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1CAF19E-325F-941D-0F24-8E18141CD1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23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4682776A-6F42-4D40-D091-13201CEBC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插入算法</a:t>
            </a:r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5AEDB4A2-D4C0-0B38-E5D0-963F45C3F9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7269" y="3156074"/>
            <a:ext cx="9096696" cy="1393848"/>
          </a:xfrm>
        </p:spPr>
      </p:pic>
      <p:sp>
        <p:nvSpPr>
          <p:cNvPr id="5" name="内容占位符 3">
            <a:extLst>
              <a:ext uri="{FF2B5EF4-FFF2-40B4-BE49-F238E27FC236}">
                <a16:creationId xmlns:a16="http://schemas.microsoft.com/office/drawing/2014/main" id="{CB50C393-B7DE-DF2F-683F-F1F60761CA0B}"/>
              </a:ext>
            </a:extLst>
          </p:cNvPr>
          <p:cNvSpPr txBox="1">
            <a:spLocks/>
          </p:cNvSpPr>
          <p:nvPr/>
        </p:nvSpPr>
        <p:spPr bwMode="auto">
          <a:xfrm>
            <a:off x="954660" y="1060701"/>
            <a:ext cx="6696099" cy="12820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16531" indent="-31653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charset="2"/>
              <a:buChar char="p"/>
              <a:defRPr kumimoji="1" sz="3200" b="0">
                <a:solidFill>
                  <a:schemeClr val="tx1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  <a:cs typeface="Arial"/>
              </a:defRPr>
            </a:lvl1pPr>
            <a:lvl2pPr marL="685817" indent="-263776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800" b="0">
                <a:solidFill>
                  <a:schemeClr val="tx1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  <a:cs typeface="Arial"/>
              </a:defRPr>
            </a:lvl2pPr>
            <a:lvl3pPr marL="1055103" indent="-211021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400" b="0">
                <a:solidFill>
                  <a:schemeClr val="tx1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  <a:cs typeface="Arial"/>
              </a:defRPr>
            </a:lvl3pPr>
            <a:lvl4pPr marL="1477145" indent="-211021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846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imHei" panose="02010609060101010101" pitchFamily="49" charset="-122"/>
                <a:ea typeface="SimHei" panose="02010609060101010101" pitchFamily="49" charset="-122"/>
              </a:defRPr>
            </a:lvl4pPr>
            <a:lvl5pPr marL="1899186" indent="-21102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46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imHei" panose="02010609060101010101" pitchFamily="49" charset="-122"/>
                <a:ea typeface="SimHei" panose="02010609060101010101" pitchFamily="49" charset="-122"/>
              </a:defRPr>
            </a:lvl5pPr>
            <a:lvl6pPr marL="2321227" indent="-21102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46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6pPr>
            <a:lvl7pPr marL="2743269" indent="-21102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46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7pPr>
            <a:lvl8pPr marL="3165310" indent="-21102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46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8pPr>
            <a:lvl9pPr marL="3587351" indent="-21102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46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kern="0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寻找应插入的节点</a:t>
            </a:r>
            <a:endParaRPr lang="en-US" altLang="zh-CN" sz="2400" b="1" kern="0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若叶节点有空余空间，则直接插入</a:t>
            </a:r>
            <a:endParaRPr lang="en-US" altLang="zh-CN" sz="2400" kern="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AE741E1-B426-2C68-8A8A-0B16FC456B31}"/>
              </a:ext>
            </a:extLst>
          </p:cNvPr>
          <p:cNvSpPr txBox="1"/>
          <p:nvPr/>
        </p:nvSpPr>
        <p:spPr>
          <a:xfrm>
            <a:off x="4189459" y="3156074"/>
            <a:ext cx="1039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35 &lt; 43</a:t>
            </a:r>
            <a:endParaRPr kumimoji="1" lang="zh-CN" altLang="en-US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DDB42BF-6DD4-4AB6-EF55-AEA64342C9EC}"/>
              </a:ext>
            </a:extLst>
          </p:cNvPr>
          <p:cNvSpPr txBox="1"/>
          <p:nvPr/>
        </p:nvSpPr>
        <p:spPr>
          <a:xfrm>
            <a:off x="1704811" y="4602319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应插入节点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9F2F78F-C9CB-DBAE-3189-422470A2672C}"/>
              </a:ext>
            </a:extLst>
          </p:cNvPr>
          <p:cNvSpPr txBox="1"/>
          <p:nvPr/>
        </p:nvSpPr>
        <p:spPr>
          <a:xfrm>
            <a:off x="5786213" y="2703029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插入</a:t>
            </a:r>
            <a:r>
              <a:rPr kumimoji="1" lang="en-US" altLang="zh-CN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35</a:t>
            </a:r>
            <a:endParaRPr kumimoji="1" lang="zh-CN" altLang="en-US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8C3CCD1-1212-27B6-A5A5-E569DD613D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1429971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9">
            <a:extLst>
              <a:ext uri="{FF2B5EF4-FFF2-40B4-BE49-F238E27FC236}">
                <a16:creationId xmlns:a16="http://schemas.microsoft.com/office/drawing/2014/main" id="{6B93B6BF-E4F5-4167-8781-2A377BCBAF94}"/>
              </a:ext>
            </a:extLst>
          </p:cNvPr>
          <p:cNvSpPr/>
          <p:nvPr/>
        </p:nvSpPr>
        <p:spPr>
          <a:xfrm>
            <a:off x="813391" y="1178704"/>
            <a:ext cx="10914418" cy="4970426"/>
          </a:xfrm>
          <a:custGeom>
            <a:avLst/>
            <a:gdLst>
              <a:gd name="connsiteX0" fmla="*/ 0 w 2866328"/>
              <a:gd name="connsiteY0" fmla="*/ 0 h 542478"/>
              <a:gd name="connsiteX1" fmla="*/ 2866328 w 2866328"/>
              <a:gd name="connsiteY1" fmla="*/ 0 h 542478"/>
              <a:gd name="connsiteX2" fmla="*/ 2730709 w 2866328"/>
              <a:gd name="connsiteY2" fmla="*/ 542478 h 542478"/>
              <a:gd name="connsiteX3" fmla="*/ 0 w 2866328"/>
              <a:gd name="connsiteY3" fmla="*/ 542478 h 542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66328" h="542478">
                <a:moveTo>
                  <a:pt x="0" y="0"/>
                </a:moveTo>
                <a:lnTo>
                  <a:pt x="2866328" y="0"/>
                </a:lnTo>
                <a:lnTo>
                  <a:pt x="2730709" y="542478"/>
                </a:lnTo>
                <a:lnTo>
                  <a:pt x="0" y="542478"/>
                </a:lnTo>
                <a:close/>
              </a:path>
            </a:pathLst>
          </a:custGeom>
          <a:gradFill>
            <a:gsLst>
              <a:gs pos="99000">
                <a:srgbClr val="6F1787">
                  <a:alpha val="20000"/>
                </a:srgbClr>
              </a:gs>
              <a:gs pos="0">
                <a:schemeClr val="bg1">
                  <a:alpha val="0"/>
                </a:schemeClr>
              </a:gs>
            </a:gsLst>
            <a:lin ang="135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000" b="1" dirty="0">
              <a:latin typeface="OPPOSans M" panose="00020600040101010101" pitchFamily="18" charset="-122"/>
              <a:ea typeface="OPPOSans M" panose="00020600040101010101" pitchFamily="18" charset="-122"/>
            </a:endParaRPr>
          </a:p>
        </p:txBody>
      </p:sp>
      <p:sp>
        <p:nvSpPr>
          <p:cNvPr id="7" name="Shape18">
            <a:extLst>
              <a:ext uri="{FF2B5EF4-FFF2-40B4-BE49-F238E27FC236}">
                <a16:creationId xmlns:a16="http://schemas.microsoft.com/office/drawing/2014/main" id="{023E24EF-82A6-46C3-B56C-8DB19F4AB69B}"/>
              </a:ext>
            </a:extLst>
          </p:cNvPr>
          <p:cNvSpPr/>
          <p:nvPr/>
        </p:nvSpPr>
        <p:spPr>
          <a:xfrm>
            <a:off x="1538257" y="2072844"/>
            <a:ext cx="9292653" cy="3060710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dirty="0">
              <a:latin typeface="OPPOSans M" panose="00020600040101010101" pitchFamily="18" charset="-122"/>
              <a:ea typeface="OPPOSans M" panose="00020600040101010101" pitchFamily="18" charset="-122"/>
              <a:sym typeface="+mn-ea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1CAF19E-325F-941D-0F24-8E18141CD1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24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4682776A-6F42-4D40-D091-13201CEBC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插入算法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1A68F22D-A783-5BF5-6B99-C60D2B9840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47046" y="2760506"/>
            <a:ext cx="8702561" cy="1532371"/>
          </a:xfrm>
        </p:spPr>
      </p:pic>
      <p:sp>
        <p:nvSpPr>
          <p:cNvPr id="5" name="内容占位符 3">
            <a:extLst>
              <a:ext uri="{FF2B5EF4-FFF2-40B4-BE49-F238E27FC236}">
                <a16:creationId xmlns:a16="http://schemas.microsoft.com/office/drawing/2014/main" id="{53896650-1E0A-9546-5A12-FE03636D499B}"/>
              </a:ext>
            </a:extLst>
          </p:cNvPr>
          <p:cNvSpPr txBox="1">
            <a:spLocks/>
          </p:cNvSpPr>
          <p:nvPr/>
        </p:nvSpPr>
        <p:spPr bwMode="auto">
          <a:xfrm>
            <a:off x="1231498" y="1322402"/>
            <a:ext cx="11462084" cy="2140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16531" indent="-31653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charset="2"/>
              <a:buChar char="p"/>
              <a:defRPr kumimoji="1" sz="3200" b="0">
                <a:solidFill>
                  <a:schemeClr val="tx1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  <a:cs typeface="Arial"/>
              </a:defRPr>
            </a:lvl1pPr>
            <a:lvl2pPr marL="685817" indent="-263776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800" b="0">
                <a:solidFill>
                  <a:schemeClr val="tx1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  <a:cs typeface="Arial"/>
              </a:defRPr>
            </a:lvl2pPr>
            <a:lvl3pPr marL="1055103" indent="-211021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400" b="0">
                <a:solidFill>
                  <a:schemeClr val="tx1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  <a:cs typeface="Arial"/>
              </a:defRPr>
            </a:lvl3pPr>
            <a:lvl4pPr marL="1477145" indent="-211021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846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imHei" panose="02010609060101010101" pitchFamily="49" charset="-122"/>
                <a:ea typeface="SimHei" panose="02010609060101010101" pitchFamily="49" charset="-122"/>
              </a:defRPr>
            </a:lvl4pPr>
            <a:lvl5pPr marL="1899186" indent="-21102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46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imHei" panose="02010609060101010101" pitchFamily="49" charset="-122"/>
                <a:ea typeface="SimHei" panose="02010609060101010101" pitchFamily="49" charset="-122"/>
              </a:defRPr>
            </a:lvl5pPr>
            <a:lvl6pPr marL="2321227" indent="-21102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46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6pPr>
            <a:lvl7pPr marL="2743269" indent="-21102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46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7pPr>
            <a:lvl8pPr marL="3165310" indent="-21102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46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8pPr>
            <a:lvl9pPr marL="3587351" indent="-21102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46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zh-CN" altLang="en-US" sz="2400" b="1" kern="0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叶节点溢出，则分裂节点</a:t>
            </a:r>
            <a:endParaRPr lang="en-US" altLang="zh-CN" sz="2400" b="1" kern="0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D60051E-531B-650C-0F73-A5602AF335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9726630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9">
            <a:extLst>
              <a:ext uri="{FF2B5EF4-FFF2-40B4-BE49-F238E27FC236}">
                <a16:creationId xmlns:a16="http://schemas.microsoft.com/office/drawing/2014/main" id="{6B93B6BF-E4F5-4167-8781-2A377BCBAF94}"/>
              </a:ext>
            </a:extLst>
          </p:cNvPr>
          <p:cNvSpPr/>
          <p:nvPr/>
        </p:nvSpPr>
        <p:spPr>
          <a:xfrm>
            <a:off x="813390" y="1057013"/>
            <a:ext cx="10757697" cy="5304373"/>
          </a:xfrm>
          <a:custGeom>
            <a:avLst/>
            <a:gdLst>
              <a:gd name="connsiteX0" fmla="*/ 0 w 2866328"/>
              <a:gd name="connsiteY0" fmla="*/ 0 h 542478"/>
              <a:gd name="connsiteX1" fmla="*/ 2866328 w 2866328"/>
              <a:gd name="connsiteY1" fmla="*/ 0 h 542478"/>
              <a:gd name="connsiteX2" fmla="*/ 2730709 w 2866328"/>
              <a:gd name="connsiteY2" fmla="*/ 542478 h 542478"/>
              <a:gd name="connsiteX3" fmla="*/ 0 w 2866328"/>
              <a:gd name="connsiteY3" fmla="*/ 542478 h 542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66328" h="542478">
                <a:moveTo>
                  <a:pt x="0" y="0"/>
                </a:moveTo>
                <a:lnTo>
                  <a:pt x="2866328" y="0"/>
                </a:lnTo>
                <a:lnTo>
                  <a:pt x="2730709" y="542478"/>
                </a:lnTo>
                <a:lnTo>
                  <a:pt x="0" y="542478"/>
                </a:lnTo>
                <a:close/>
              </a:path>
            </a:pathLst>
          </a:custGeom>
          <a:gradFill>
            <a:gsLst>
              <a:gs pos="99000">
                <a:srgbClr val="6F1787">
                  <a:alpha val="20000"/>
                </a:srgbClr>
              </a:gs>
              <a:gs pos="0">
                <a:schemeClr val="bg1">
                  <a:alpha val="0"/>
                </a:schemeClr>
              </a:gs>
            </a:gsLst>
            <a:lin ang="135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000" b="1" dirty="0">
              <a:latin typeface="OPPOSans M" panose="00020600040101010101" pitchFamily="18" charset="-122"/>
              <a:ea typeface="OPPOSans M" panose="00020600040101010101" pitchFamily="18" charset="-122"/>
            </a:endParaRPr>
          </a:p>
        </p:txBody>
      </p:sp>
      <p:sp>
        <p:nvSpPr>
          <p:cNvPr id="9" name="Shape18">
            <a:extLst>
              <a:ext uri="{FF2B5EF4-FFF2-40B4-BE49-F238E27FC236}">
                <a16:creationId xmlns:a16="http://schemas.microsoft.com/office/drawing/2014/main" id="{2E5E83D3-EDD1-4EFA-A3E5-49B2A5CA563F}"/>
              </a:ext>
            </a:extLst>
          </p:cNvPr>
          <p:cNvSpPr/>
          <p:nvPr/>
        </p:nvSpPr>
        <p:spPr>
          <a:xfrm>
            <a:off x="1538654" y="2872666"/>
            <a:ext cx="9258300" cy="3325911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dirty="0">
              <a:latin typeface="OPPOSans M" panose="00020600040101010101" pitchFamily="18" charset="-122"/>
              <a:ea typeface="OPPOSans M" panose="00020600040101010101" pitchFamily="18" charset="-122"/>
              <a:sym typeface="+mn-ea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1CAF19E-325F-941D-0F24-8E18141CD1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25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4682776A-6F42-4D40-D091-13201CEBC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插入算法</a:t>
            </a:r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590FEC93-289D-AED5-62AC-47143106CA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3549" y="4561428"/>
            <a:ext cx="8932621" cy="1452515"/>
          </a:xfrm>
        </p:spPr>
      </p:pic>
      <p:pic>
        <p:nvPicPr>
          <p:cNvPr id="5" name="内容占位符 5">
            <a:extLst>
              <a:ext uri="{FF2B5EF4-FFF2-40B4-BE49-F238E27FC236}">
                <a16:creationId xmlns:a16="http://schemas.microsoft.com/office/drawing/2014/main" id="{767C41C7-311C-891D-1400-B5151BAD78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114612" y="3040358"/>
            <a:ext cx="8339441" cy="1468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3">
                <a:extLst>
                  <a:ext uri="{FF2B5EF4-FFF2-40B4-BE49-F238E27FC236}">
                    <a16:creationId xmlns:a16="http://schemas.microsoft.com/office/drawing/2014/main" id="{F8FBB0D4-7106-4033-D749-2E94E87EE375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538654" y="899576"/>
                <a:ext cx="11462084" cy="14096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16531" indent="-316531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Wingdings" charset="2"/>
                  <a:buChar char="p"/>
                  <a:defRPr kumimoji="1" sz="3200" b="0">
                    <a:solidFill>
                      <a:schemeClr val="tx1"/>
                    </a:solidFill>
                    <a:effectLst/>
                    <a:latin typeface="SimHei" panose="02010609060101010101" pitchFamily="49" charset="-122"/>
                    <a:ea typeface="SimHei" panose="02010609060101010101" pitchFamily="49" charset="-122"/>
                    <a:cs typeface="Arial"/>
                  </a:defRPr>
                </a:lvl1pPr>
                <a:lvl2pPr marL="685817" indent="-263776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b="0">
                    <a:solidFill>
                      <a:schemeClr val="tx1"/>
                    </a:solidFill>
                    <a:effectLst/>
                    <a:latin typeface="SimHei" panose="02010609060101010101" pitchFamily="49" charset="-122"/>
                    <a:ea typeface="SimHei" panose="02010609060101010101" pitchFamily="49" charset="-122"/>
                    <a:cs typeface="Arial"/>
                  </a:defRPr>
                </a:lvl2pPr>
                <a:lvl3pPr marL="1055103" indent="-211021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b="0">
                    <a:solidFill>
                      <a:schemeClr val="tx1"/>
                    </a:solidFill>
                    <a:effectLst/>
                    <a:latin typeface="SimHei" panose="02010609060101010101" pitchFamily="49" charset="-122"/>
                    <a:ea typeface="SimHei" panose="02010609060101010101" pitchFamily="49" charset="-122"/>
                    <a:cs typeface="Arial"/>
                  </a:defRPr>
                </a:lvl3pPr>
                <a:lvl4pPr marL="1477145" indent="-211021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1846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SimHei" panose="02010609060101010101" pitchFamily="49" charset="-122"/>
                    <a:ea typeface="SimHei" panose="02010609060101010101" pitchFamily="49" charset="-122"/>
                  </a:defRPr>
                </a:lvl4pPr>
                <a:lvl5pPr marL="1899186" indent="-211021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1846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SimHei" panose="02010609060101010101" pitchFamily="49" charset="-122"/>
                    <a:ea typeface="SimHei" panose="02010609060101010101" pitchFamily="49" charset="-122"/>
                  </a:defRPr>
                </a:lvl5pPr>
                <a:lvl6pPr marL="2321227" indent="-211021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1846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</a:defRPr>
                </a:lvl6pPr>
                <a:lvl7pPr marL="2743269" indent="-211021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1846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</a:defRPr>
                </a:lvl7pPr>
                <a:lvl8pPr marL="3165310" indent="-211021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1846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</a:defRPr>
                </a:lvl8pPr>
                <a:lvl9pPr marL="3587351" indent="-211021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1846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</a:defRPr>
                </a:lvl9pPr>
              </a:lstStyle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2400" b="1" kern="0" dirty="0">
                    <a:solidFill>
                      <a:srgbClr val="701988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叶节点从中间分裂</a:t>
                </a:r>
                <a:endParaRPr lang="en-US" altLang="zh-CN" sz="2400" b="1" kern="0" dirty="0">
                  <a:solidFill>
                    <a:srgbClr val="701988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K</m:t>
                    </m:r>
                    <m:r>
                      <a:rPr lang="en-US" altLang="zh-CN" sz="240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′ </m:t>
                    </m:r>
                  </m:oMath>
                </a14:m>
                <a:r>
                  <a:rPr lang="en-US" altLang="zh-CN" sz="2400" b="1" kern="0" dirty="0">
                    <a:solidFill>
                      <a:srgbClr val="7030A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=27</a:t>
                </a:r>
                <a14:m>
                  <m:oMath xmlns:m="http://schemas.openxmlformats.org/officeDocument/2006/math">
                    <m:r>
                      <a:rPr lang="en-US" altLang="zh-CN" sz="2400" b="1" i="1" kern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400" b="1" kern="0" dirty="0">
                    <a:solidFill>
                      <a:srgbClr val="7030A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向上插入父节点</a:t>
                </a:r>
                <a:endParaRPr lang="en-US" altLang="zh-CN" sz="2400" b="1" kern="0" dirty="0">
                  <a:solidFill>
                    <a:srgbClr val="7030A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2400" b="1" kern="0" dirty="0">
                    <a:solidFill>
                      <a:srgbClr val="701988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若父节点不溢出，则结束</a:t>
                </a:r>
                <a:endParaRPr lang="en-US" altLang="zh-CN" sz="2400" b="1" kern="0" dirty="0">
                  <a:solidFill>
                    <a:srgbClr val="701988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内容占位符 3">
                <a:extLst>
                  <a:ext uri="{FF2B5EF4-FFF2-40B4-BE49-F238E27FC236}">
                    <a16:creationId xmlns:a16="http://schemas.microsoft.com/office/drawing/2014/main" id="{F8FBB0D4-7106-4033-D749-2E94E87EE3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38654" y="899576"/>
                <a:ext cx="11462084" cy="1409642"/>
              </a:xfrm>
              <a:prstGeom prst="rect">
                <a:avLst/>
              </a:prstGeom>
              <a:blipFill>
                <a:blip r:embed="rId4"/>
                <a:stretch>
                  <a:fillRect l="-664" b="-3964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EBF7EA31-B7F3-ABD2-BCD5-77FEAA45685F}"/>
                  </a:ext>
                </a:extLst>
              </p:cNvPr>
              <p:cNvSpPr txBox="1"/>
              <p:nvPr/>
            </p:nvSpPr>
            <p:spPr>
              <a:xfrm>
                <a:off x="5301223" y="5112849"/>
                <a:ext cx="7032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kern="0" smtClean="0">
                              <a:solidFill>
                                <a:srgbClr val="3B2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kern="0">
                              <a:solidFill>
                                <a:srgbClr val="3B20FF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i="1" kern="0">
                              <a:solidFill>
                                <a:srgbClr val="3B20FF"/>
                              </a:solidFill>
                              <a:latin typeface="Cambria Math" panose="02040503050406030204" pitchFamily="18" charset="0"/>
                            </a:rPr>
                            <m:t>𝑛𝑒𝑤</m:t>
                          </m:r>
                        </m:sub>
                      </m:sSub>
                    </m:oMath>
                  </m:oMathPara>
                </a14:m>
                <a:endParaRPr kumimoji="1" lang="zh-CN" altLang="en-US" dirty="0">
                  <a:solidFill>
                    <a:srgbClr val="3B20FF"/>
                  </a:solidFill>
                  <a:latin typeface="微软雅黑" panose="020B0503020204020204" pitchFamily="82" charset="2"/>
                  <a:ea typeface="微软雅黑" panose="020B0503020204020204" pitchFamily="82" charset="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BF7EA31-B7F3-ABD2-BCD5-77FEAA4568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1223" y="5112849"/>
                <a:ext cx="703269" cy="36933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12B8656-CF1B-8B5B-D96C-389D3194F1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8043327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9">
            <a:extLst>
              <a:ext uri="{FF2B5EF4-FFF2-40B4-BE49-F238E27FC236}">
                <a16:creationId xmlns:a16="http://schemas.microsoft.com/office/drawing/2014/main" id="{6B93B6BF-E4F5-4167-8781-2A377BCBAF94}"/>
              </a:ext>
            </a:extLst>
          </p:cNvPr>
          <p:cNvSpPr/>
          <p:nvPr/>
        </p:nvSpPr>
        <p:spPr>
          <a:xfrm>
            <a:off x="813390" y="998576"/>
            <a:ext cx="10757697" cy="5362120"/>
          </a:xfrm>
          <a:custGeom>
            <a:avLst/>
            <a:gdLst>
              <a:gd name="connsiteX0" fmla="*/ 0 w 2866328"/>
              <a:gd name="connsiteY0" fmla="*/ 0 h 542478"/>
              <a:gd name="connsiteX1" fmla="*/ 2866328 w 2866328"/>
              <a:gd name="connsiteY1" fmla="*/ 0 h 542478"/>
              <a:gd name="connsiteX2" fmla="*/ 2730709 w 2866328"/>
              <a:gd name="connsiteY2" fmla="*/ 542478 h 542478"/>
              <a:gd name="connsiteX3" fmla="*/ 0 w 2866328"/>
              <a:gd name="connsiteY3" fmla="*/ 542478 h 542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66328" h="542478">
                <a:moveTo>
                  <a:pt x="0" y="0"/>
                </a:moveTo>
                <a:lnTo>
                  <a:pt x="2866328" y="0"/>
                </a:lnTo>
                <a:lnTo>
                  <a:pt x="2730709" y="542478"/>
                </a:lnTo>
                <a:lnTo>
                  <a:pt x="0" y="542478"/>
                </a:lnTo>
                <a:close/>
              </a:path>
            </a:pathLst>
          </a:custGeom>
          <a:gradFill>
            <a:gsLst>
              <a:gs pos="99000">
                <a:srgbClr val="6F1787">
                  <a:alpha val="20000"/>
                </a:srgbClr>
              </a:gs>
              <a:gs pos="0">
                <a:schemeClr val="bg1">
                  <a:alpha val="0"/>
                </a:schemeClr>
              </a:gs>
            </a:gsLst>
            <a:lin ang="135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000" b="1" dirty="0">
              <a:latin typeface="OPPOSans M" panose="00020600040101010101" pitchFamily="18" charset="-122"/>
              <a:ea typeface="OPPOSans M" panose="00020600040101010101" pitchFamily="18" charset="-122"/>
            </a:endParaRPr>
          </a:p>
        </p:txBody>
      </p:sp>
      <p:sp>
        <p:nvSpPr>
          <p:cNvPr id="9" name="Shape18">
            <a:extLst>
              <a:ext uri="{FF2B5EF4-FFF2-40B4-BE49-F238E27FC236}">
                <a16:creationId xmlns:a16="http://schemas.microsoft.com/office/drawing/2014/main" id="{ACF96CA5-1901-4F7C-A84F-CC5ABB1E2F4A}"/>
              </a:ext>
            </a:extLst>
          </p:cNvPr>
          <p:cNvSpPr/>
          <p:nvPr/>
        </p:nvSpPr>
        <p:spPr>
          <a:xfrm>
            <a:off x="1547445" y="2338754"/>
            <a:ext cx="9522070" cy="3771900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dirty="0">
              <a:latin typeface="OPPOSans M" panose="00020600040101010101" pitchFamily="18" charset="-122"/>
              <a:ea typeface="OPPOSans M" panose="00020600040101010101" pitchFamily="18" charset="-122"/>
              <a:sym typeface="+mn-ea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1CAF19E-325F-941D-0F24-8E18141CD1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26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4682776A-6F42-4D40-D091-13201CEBC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插入算法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B788E546-D89C-6B60-B0D5-BB3B22ACBC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7239" y="4124543"/>
            <a:ext cx="8758362" cy="1734882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3">
                <a:extLst>
                  <a:ext uri="{FF2B5EF4-FFF2-40B4-BE49-F238E27FC236}">
                    <a16:creationId xmlns:a16="http://schemas.microsoft.com/office/drawing/2014/main" id="{777EBD7B-8CE7-FF23-294B-F377B8D2B1C1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050551" y="950721"/>
                <a:ext cx="11734800" cy="14096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16531" indent="-316531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Wingdings" charset="2"/>
                  <a:buChar char="p"/>
                  <a:defRPr kumimoji="1" sz="3200" b="0">
                    <a:solidFill>
                      <a:schemeClr val="tx1"/>
                    </a:solidFill>
                    <a:effectLst/>
                    <a:latin typeface="SimHei" panose="02010609060101010101" pitchFamily="49" charset="-122"/>
                    <a:ea typeface="SimHei" panose="02010609060101010101" pitchFamily="49" charset="-122"/>
                    <a:cs typeface="Arial"/>
                  </a:defRPr>
                </a:lvl1pPr>
                <a:lvl2pPr marL="685817" indent="-263776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 b="0">
                    <a:solidFill>
                      <a:schemeClr val="tx1"/>
                    </a:solidFill>
                    <a:effectLst/>
                    <a:latin typeface="SimHei" panose="02010609060101010101" pitchFamily="49" charset="-122"/>
                    <a:ea typeface="SimHei" panose="02010609060101010101" pitchFamily="49" charset="-122"/>
                    <a:cs typeface="Arial"/>
                  </a:defRPr>
                </a:lvl2pPr>
                <a:lvl3pPr marL="1055103" indent="-211021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b="0">
                    <a:solidFill>
                      <a:schemeClr val="tx1"/>
                    </a:solidFill>
                    <a:effectLst/>
                    <a:latin typeface="SimHei" panose="02010609060101010101" pitchFamily="49" charset="-122"/>
                    <a:ea typeface="SimHei" panose="02010609060101010101" pitchFamily="49" charset="-122"/>
                    <a:cs typeface="Arial"/>
                  </a:defRPr>
                </a:lvl3pPr>
                <a:lvl4pPr marL="1477145" indent="-211021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1846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SimHei" panose="02010609060101010101" pitchFamily="49" charset="-122"/>
                    <a:ea typeface="SimHei" panose="02010609060101010101" pitchFamily="49" charset="-122"/>
                  </a:defRPr>
                </a:lvl4pPr>
                <a:lvl5pPr marL="1899186" indent="-211021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1846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SimHei" panose="02010609060101010101" pitchFamily="49" charset="-122"/>
                    <a:ea typeface="SimHei" panose="02010609060101010101" pitchFamily="49" charset="-122"/>
                  </a:defRPr>
                </a:lvl5pPr>
                <a:lvl6pPr marL="2321227" indent="-211021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1846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</a:defRPr>
                </a:lvl6pPr>
                <a:lvl7pPr marL="2743269" indent="-211021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1846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</a:defRPr>
                </a:lvl7pPr>
                <a:lvl8pPr marL="3165310" indent="-211021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1846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</a:defRPr>
                </a:lvl8pPr>
                <a:lvl9pPr marL="3587351" indent="-211021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1846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</a:defRPr>
                </a:lvl9pPr>
              </a:lstStyle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2400" b="1" kern="0" dirty="0">
                    <a:solidFill>
                      <a:srgbClr val="701988"/>
                    </a:solidFill>
                    <a:latin typeface="微软雅黑" panose="020B0503020204020204" pitchFamily="82" charset="2"/>
                    <a:ea typeface="微软雅黑" panose="020B0503020204020204" pitchFamily="82" charset="2"/>
                  </a:rPr>
                  <a:t>内部节点溢出，从中间分裂，</a:t>
                </a:r>
                <a:r>
                  <a:rPr lang="en-US" altLang="zh-CN" sz="2400" b="1" kern="0" dirty="0">
                    <a:solidFill>
                      <a:srgbClr val="701988"/>
                    </a:solidFill>
                    <a:latin typeface="微软雅黑" panose="020B0503020204020204" pitchFamily="82" charset="2"/>
                    <a:ea typeface="微软雅黑" panose="020B0503020204020204" pitchFamily="82" charset="2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K</m:t>
                    </m:r>
                    <m:r>
                      <a:rPr lang="en-US" altLang="zh-CN" sz="24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′</m:t>
                    </m:r>
                  </m:oMath>
                </a14:m>
                <a:r>
                  <a:rPr lang="zh-CN" altLang="en-US" sz="2400" b="1" kern="0" dirty="0">
                    <a:solidFill>
                      <a:srgbClr val="701988"/>
                    </a:solidFill>
                    <a:latin typeface="微软雅黑" panose="020B0503020204020204" pitchFamily="82" charset="2"/>
                    <a:ea typeface="微软雅黑" panose="020B0503020204020204" pitchFamily="82" charset="2"/>
                  </a:rPr>
                  <a:t>不保留在分裂后的</a:t>
                </a:r>
                <a:r>
                  <a:rPr lang="zh-CN" altLang="en-US" sz="2400" b="1" u="sng" kern="0" dirty="0">
                    <a:solidFill>
                      <a:srgbClr val="701988"/>
                    </a:solidFill>
                    <a:latin typeface="微软雅黑" panose="020B0503020204020204" pitchFamily="82" charset="2"/>
                    <a:ea typeface="微软雅黑" panose="020B0503020204020204" pitchFamily="82" charset="2"/>
                  </a:rPr>
                  <a:t>非</a:t>
                </a:r>
                <a:r>
                  <a:rPr lang="zh-CN" altLang="en-US" sz="2400" b="1" kern="0" dirty="0">
                    <a:solidFill>
                      <a:srgbClr val="701988"/>
                    </a:solidFill>
                    <a:latin typeface="微软雅黑" panose="020B0503020204020204" pitchFamily="82" charset="2"/>
                    <a:ea typeface="微软雅黑" panose="020B0503020204020204" pitchFamily="82" charset="2"/>
                  </a:rPr>
                  <a:t>页节点中</a:t>
                </a:r>
                <a:endParaRPr lang="en-US" altLang="zh-CN" sz="2400" b="1" kern="0" dirty="0">
                  <a:solidFill>
                    <a:srgbClr val="701988"/>
                  </a:solidFill>
                  <a:latin typeface="微软雅黑" panose="020B0503020204020204" pitchFamily="82" charset="2"/>
                  <a:ea typeface="微软雅黑" panose="020B0503020204020204" pitchFamily="82" charset="2"/>
                </a:endParaRP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K</m:t>
                    </m:r>
                    <m:r>
                      <a:rPr lang="en-US" altLang="zh-CN" sz="240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′ </m:t>
                    </m:r>
                  </m:oMath>
                </a14:m>
                <a:r>
                  <a:rPr lang="en-US" altLang="zh-CN" sz="2400" b="1" kern="0" dirty="0">
                    <a:solidFill>
                      <a:srgbClr val="701988"/>
                    </a:solidFill>
                    <a:latin typeface="微软雅黑" panose="020B0503020204020204" pitchFamily="82" charset="2"/>
                    <a:ea typeface="微软雅黑" panose="020B0503020204020204" pitchFamily="82" charset="2"/>
                  </a:rPr>
                  <a:t>=61</a:t>
                </a:r>
                <a14:m>
                  <m:oMath xmlns:m="http://schemas.openxmlformats.org/officeDocument/2006/math">
                    <m:r>
                      <a:rPr lang="en-US" altLang="zh-CN" sz="2400" b="1" i="1" kern="0" smtClean="0">
                        <a:solidFill>
                          <a:srgbClr val="701988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400" b="1" kern="0" dirty="0">
                    <a:solidFill>
                      <a:srgbClr val="701988"/>
                    </a:solidFill>
                    <a:latin typeface="微软雅黑" panose="020B0503020204020204" pitchFamily="82" charset="2"/>
                    <a:ea typeface="微软雅黑" panose="020B0503020204020204" pitchFamily="82" charset="2"/>
                  </a:rPr>
                  <a:t>向上插入父节点（无父节点则分配新根节点）</a:t>
                </a:r>
                <a:endParaRPr lang="en-US" altLang="zh-CN" sz="2400" b="1" kern="0" dirty="0">
                  <a:solidFill>
                    <a:srgbClr val="701988"/>
                  </a:solidFill>
                  <a:latin typeface="微软雅黑" panose="020B0503020204020204" pitchFamily="82" charset="2"/>
                  <a:ea typeface="微软雅黑" panose="020B0503020204020204" pitchFamily="82" charset="2"/>
                </a:endParaRPr>
              </a:p>
            </p:txBody>
          </p:sp>
        </mc:Choice>
        <mc:Fallback xmlns="">
          <p:sp>
            <p:nvSpPr>
              <p:cNvPr id="5" name="内容占位符 3">
                <a:extLst>
                  <a:ext uri="{FF2B5EF4-FFF2-40B4-BE49-F238E27FC236}">
                    <a16:creationId xmlns:a16="http://schemas.microsoft.com/office/drawing/2014/main" id="{777EBD7B-8CE7-FF23-294B-F377B8D2B1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50551" y="950721"/>
                <a:ext cx="11734800" cy="1409642"/>
              </a:xfrm>
              <a:prstGeom prst="rect">
                <a:avLst/>
              </a:prstGeom>
              <a:blipFill>
                <a:blip r:embed="rId3"/>
                <a:stretch>
                  <a:fillRect l="-64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5821CB8F-596D-463A-8DE3-6648CCFD5A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1958850" y="2405176"/>
            <a:ext cx="8758362" cy="14241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0191673E-7373-3A15-997C-19544E99EABC}"/>
                  </a:ext>
                </a:extLst>
              </p:cNvPr>
              <p:cNvSpPr txBox="1"/>
              <p:nvPr/>
            </p:nvSpPr>
            <p:spPr>
              <a:xfrm>
                <a:off x="6805099" y="4514288"/>
                <a:ext cx="61095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kern="0" smtClean="0">
                              <a:solidFill>
                                <a:srgbClr val="3B2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kern="0">
                              <a:solidFill>
                                <a:srgbClr val="3B20FF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i="1" kern="0">
                              <a:solidFill>
                                <a:srgbClr val="3B20FF"/>
                              </a:solidFill>
                              <a:latin typeface="Cambria Math" panose="02040503050406030204" pitchFamily="18" charset="0"/>
                            </a:rPr>
                            <m:t>𝑛𝑒𝑤</m:t>
                          </m:r>
                        </m:sub>
                      </m:sSub>
                    </m:oMath>
                  </m:oMathPara>
                </a14:m>
                <a:endParaRPr kumimoji="1" lang="zh-CN" altLang="en-US" dirty="0">
                  <a:solidFill>
                    <a:srgbClr val="3B20FF"/>
                  </a:solidFill>
                  <a:latin typeface="微软雅黑" panose="020B0503020204020204" pitchFamily="82" charset="2"/>
                  <a:ea typeface="微软雅黑" panose="020B0503020204020204" pitchFamily="82" charset="2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191673E-7373-3A15-997C-19544E99EA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5099" y="4514288"/>
                <a:ext cx="610953" cy="36933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FDD2FAD-4BFA-CED6-DADA-1974D8CD0A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3445998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18">
            <a:extLst>
              <a:ext uri="{FF2B5EF4-FFF2-40B4-BE49-F238E27FC236}">
                <a16:creationId xmlns:a16="http://schemas.microsoft.com/office/drawing/2014/main" id="{F672820C-ED26-401A-810B-2E95445B963F}"/>
              </a:ext>
            </a:extLst>
          </p:cNvPr>
          <p:cNvSpPr/>
          <p:nvPr/>
        </p:nvSpPr>
        <p:spPr>
          <a:xfrm>
            <a:off x="3607626" y="1528706"/>
            <a:ext cx="4818743" cy="3314298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dirty="0">
              <a:latin typeface="OPPOSans M" panose="00020600040101010101" pitchFamily="18" charset="-122"/>
              <a:ea typeface="OPPOSans M" panose="00020600040101010101" pitchFamily="18" charset="-122"/>
              <a:sym typeface="+mn-ea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3C35F35-0D0B-BDBC-478B-23D7223FD1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27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C01FBE5-2997-DA5A-E679-2665D9279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目录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6F1E561-F548-2140-CB4E-A81D3F2686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90567" y="1894677"/>
            <a:ext cx="10874188" cy="2813681"/>
          </a:xfrm>
        </p:spPr>
        <p:txBody>
          <a:bodyPr/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2"/>
            </a:pPr>
            <a:r>
              <a:rPr lang="en-US" altLang="zh-CN" sz="28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B+</a:t>
            </a:r>
            <a:r>
              <a:rPr lang="zh-CN" altLang="en-US" sz="28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树索引</a:t>
            </a:r>
            <a:endParaRPr lang="en-US" altLang="zh-CN" sz="28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索引结构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查找算法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插入算法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删除算法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48A41E-6DDE-655A-47EA-634E67CBF6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290792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9">
            <a:extLst>
              <a:ext uri="{FF2B5EF4-FFF2-40B4-BE49-F238E27FC236}">
                <a16:creationId xmlns:a16="http://schemas.microsoft.com/office/drawing/2014/main" id="{6B93B6BF-E4F5-4167-8781-2A377BCBAF94}"/>
              </a:ext>
            </a:extLst>
          </p:cNvPr>
          <p:cNvSpPr/>
          <p:nvPr/>
        </p:nvSpPr>
        <p:spPr>
          <a:xfrm>
            <a:off x="813391" y="894392"/>
            <a:ext cx="10565218" cy="5237796"/>
          </a:xfrm>
          <a:custGeom>
            <a:avLst/>
            <a:gdLst>
              <a:gd name="connsiteX0" fmla="*/ 0 w 2866328"/>
              <a:gd name="connsiteY0" fmla="*/ 0 h 542478"/>
              <a:gd name="connsiteX1" fmla="*/ 2866328 w 2866328"/>
              <a:gd name="connsiteY1" fmla="*/ 0 h 542478"/>
              <a:gd name="connsiteX2" fmla="*/ 2730709 w 2866328"/>
              <a:gd name="connsiteY2" fmla="*/ 542478 h 542478"/>
              <a:gd name="connsiteX3" fmla="*/ 0 w 2866328"/>
              <a:gd name="connsiteY3" fmla="*/ 542478 h 542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66328" h="542478">
                <a:moveTo>
                  <a:pt x="0" y="0"/>
                </a:moveTo>
                <a:lnTo>
                  <a:pt x="2866328" y="0"/>
                </a:lnTo>
                <a:lnTo>
                  <a:pt x="2730709" y="542478"/>
                </a:lnTo>
                <a:lnTo>
                  <a:pt x="0" y="542478"/>
                </a:lnTo>
                <a:close/>
              </a:path>
            </a:pathLst>
          </a:custGeom>
          <a:gradFill>
            <a:gsLst>
              <a:gs pos="99000">
                <a:srgbClr val="6F1787">
                  <a:alpha val="20000"/>
                </a:srgbClr>
              </a:gs>
              <a:gs pos="0">
                <a:schemeClr val="bg1">
                  <a:alpha val="0"/>
                </a:schemeClr>
              </a:gs>
            </a:gsLst>
            <a:lin ang="135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000" b="1" dirty="0">
              <a:latin typeface="OPPOSans M" panose="00020600040101010101" pitchFamily="18" charset="-122"/>
              <a:ea typeface="OPPOSans M" panose="00020600040101010101" pitchFamily="18" charset="-122"/>
            </a:endParaRPr>
          </a:p>
        </p:txBody>
      </p:sp>
      <p:sp>
        <p:nvSpPr>
          <p:cNvPr id="8" name="Shape18">
            <a:extLst>
              <a:ext uri="{FF2B5EF4-FFF2-40B4-BE49-F238E27FC236}">
                <a16:creationId xmlns:a16="http://schemas.microsoft.com/office/drawing/2014/main" id="{66EABC5A-1A36-4CA5-894A-A88875D411EA}"/>
              </a:ext>
            </a:extLst>
          </p:cNvPr>
          <p:cNvSpPr/>
          <p:nvPr/>
        </p:nvSpPr>
        <p:spPr>
          <a:xfrm>
            <a:off x="1050550" y="4591123"/>
            <a:ext cx="10090897" cy="1407826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dirty="0">
              <a:latin typeface="OPPOSans M" panose="00020600040101010101" pitchFamily="18" charset="-122"/>
              <a:ea typeface="OPPOSans M" panose="00020600040101010101" pitchFamily="18" charset="-122"/>
              <a:sym typeface="+mn-ea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D4C9E82-38CA-CBA9-57F1-72DA77D68D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28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20E0ED70-CBB2-4975-DC5B-B9C82408F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删除算法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73469A57-4554-6541-36B2-E514ABE537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37883" y="860322"/>
                <a:ext cx="11661981" cy="5005387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  <a:spcBef>
                    <a:spcPts val="0"/>
                  </a:spcBef>
                  <a:buFont typeface="Wingdings" panose="05000000000000000000" pitchFamily="2" charset="2"/>
                  <a:buChar char="Ø"/>
                </a:pPr>
                <a:r>
                  <a:rPr kumimoji="1" lang="zh-CN" altLang="en-US" sz="2400" b="1" dirty="0">
                    <a:solidFill>
                      <a:srgbClr val="701988"/>
                    </a:solidFill>
                    <a:latin typeface="微软雅黑" panose="020B0503020204020204" pitchFamily="82" charset="2"/>
                    <a:ea typeface="微软雅黑" panose="020B0503020204020204" pitchFamily="82" charset="2"/>
                  </a:rPr>
                  <a:t>找到待删除索引记录所在叶子节点</a:t>
                </a:r>
                <a:endParaRPr kumimoji="1" lang="en-US" altLang="zh-CN" sz="2400" b="1" dirty="0">
                  <a:solidFill>
                    <a:srgbClr val="701988"/>
                  </a:solidFill>
                  <a:latin typeface="微软雅黑" panose="020B0503020204020204" pitchFamily="82" charset="2"/>
                  <a:ea typeface="微软雅黑" panose="020B0503020204020204" pitchFamily="82" charset="2"/>
                </a:endParaRP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  <a:buFont typeface="Wingdings" panose="05000000000000000000" pitchFamily="2" charset="2"/>
                  <a:buChar char="Ø"/>
                </a:pPr>
                <a:r>
                  <a:rPr lang="zh-CN" altLang="en-US" sz="2400" b="1" dirty="0">
                    <a:solidFill>
                      <a:srgbClr val="701988"/>
                    </a:solidFill>
                    <a:latin typeface="微软雅黑" panose="020B0503020204020204" pitchFamily="82" charset="2"/>
                    <a:ea typeface="微软雅黑" panose="020B0503020204020204" pitchFamily="82" charset="2"/>
                  </a:rPr>
                  <a:t>从叶子节点中删除索引记录</a:t>
                </a:r>
                <a:endParaRPr lang="en-US" altLang="zh-CN" sz="2400" b="1" dirty="0">
                  <a:solidFill>
                    <a:srgbClr val="701988"/>
                  </a:solidFill>
                  <a:latin typeface="微软雅黑" panose="020B0503020204020204" pitchFamily="82" charset="2"/>
                  <a:ea typeface="微软雅黑" panose="020B0503020204020204" pitchFamily="82" charset="2"/>
                </a:endParaRP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  <a:buFont typeface="Wingdings" panose="05000000000000000000" pitchFamily="2" charset="2"/>
                  <a:buChar char="Ø"/>
                </a:pPr>
                <a:r>
                  <a:rPr kumimoji="1" lang="zh-CN" altLang="en-US" sz="2400" b="1" dirty="0">
                    <a:solidFill>
                      <a:srgbClr val="701988"/>
                    </a:solidFill>
                    <a:latin typeface="微软雅黑" panose="020B0503020204020204" pitchFamily="82" charset="2"/>
                    <a:ea typeface="微软雅黑" panose="020B0503020204020204" pitchFamily="82" charset="2"/>
                  </a:rPr>
                  <a:t>如果节点中键数目大于等于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zh-CN" altLang="zh-CN" sz="2400" b="1" i="1">
                            <a:solidFill>
                              <a:srgbClr val="70198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sz="2400" b="1" i="1">
                                <a:solidFill>
                                  <a:srgbClr val="701988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1" i="1" smtClean="0">
                                <a:solidFill>
                                  <a:srgbClr val="701988"/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</m:num>
                          <m:den>
                            <m:r>
                              <a:rPr lang="en-US" altLang="zh-CN" sz="2400" b="1" i="1" smtClean="0">
                                <a:solidFill>
                                  <a:srgbClr val="701988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</m:e>
                    </m:d>
                    <m:r>
                      <a:rPr lang="en-US" altLang="zh-CN" sz="2400" b="1" i="1" smtClean="0">
                        <a:solidFill>
                          <a:srgbClr val="701988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400" b="1" i="1" smtClean="0">
                        <a:solidFill>
                          <a:srgbClr val="701988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kumimoji="1" lang="en-US" altLang="zh-CN" sz="2400" b="1" dirty="0">
                    <a:solidFill>
                      <a:srgbClr val="701988"/>
                    </a:solidFill>
                    <a:latin typeface="微软雅黑" panose="020B0503020204020204" pitchFamily="82" charset="2"/>
                    <a:ea typeface="微软雅黑" panose="020B0503020204020204" pitchFamily="82" charset="2"/>
                  </a:rPr>
                  <a:t>,</a:t>
                </a:r>
                <a:r>
                  <a:rPr kumimoji="1" lang="zh-CN" altLang="en-US" sz="2400" b="1" dirty="0">
                    <a:solidFill>
                      <a:srgbClr val="701988"/>
                    </a:solidFill>
                    <a:latin typeface="微软雅黑" panose="020B0503020204020204" pitchFamily="82" charset="2"/>
                    <a:ea typeface="微软雅黑" panose="020B0503020204020204" pitchFamily="82" charset="2"/>
                  </a:rPr>
                  <a:t>则结束</a:t>
                </a:r>
                <a:endParaRPr kumimoji="1" lang="en-US" altLang="zh-CN" sz="2400" b="1" dirty="0">
                  <a:solidFill>
                    <a:srgbClr val="701988"/>
                  </a:solidFill>
                  <a:latin typeface="微软雅黑" panose="020B0503020204020204" pitchFamily="82" charset="2"/>
                  <a:ea typeface="微软雅黑" panose="020B0503020204020204" pitchFamily="82" charset="2"/>
                </a:endParaRP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  <a:buFont typeface="Wingdings" panose="05000000000000000000" pitchFamily="2" charset="2"/>
                  <a:buChar char="Ø"/>
                </a:pPr>
                <a:r>
                  <a:rPr kumimoji="1" lang="zh-CN" altLang="en-US" sz="2400" b="1" dirty="0">
                    <a:solidFill>
                      <a:srgbClr val="701988"/>
                    </a:solidFill>
                    <a:latin typeface="微软雅黑" panose="020B0503020204020204" pitchFamily="82" charset="2"/>
                    <a:ea typeface="微软雅黑" panose="020B0503020204020204" pitchFamily="82" charset="2"/>
                  </a:rPr>
                  <a:t>如果节点中键数目小于等于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zh-CN" altLang="zh-CN" sz="2400" b="1" i="1">
                            <a:solidFill>
                              <a:srgbClr val="70198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sz="2400" b="1" i="1">
                                <a:solidFill>
                                  <a:srgbClr val="701988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1" i="1" smtClean="0">
                                <a:solidFill>
                                  <a:srgbClr val="701988"/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</m:num>
                          <m:den>
                            <m:r>
                              <a:rPr lang="en-US" altLang="zh-CN" sz="2400" b="1" i="1" smtClean="0">
                                <a:solidFill>
                                  <a:srgbClr val="701988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</m:e>
                    </m:d>
                    <m:r>
                      <a:rPr lang="en-US" altLang="zh-CN" sz="2400" b="1" i="1" smtClean="0">
                        <a:solidFill>
                          <a:srgbClr val="701988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400" b="1" i="1" smtClean="0">
                        <a:solidFill>
                          <a:srgbClr val="701988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kumimoji="1" lang="zh-CN" altLang="en-US" sz="2400" b="1" dirty="0">
                    <a:solidFill>
                      <a:srgbClr val="701988"/>
                    </a:solidFill>
                    <a:latin typeface="微软雅黑" panose="020B0503020204020204" pitchFamily="82" charset="2"/>
                    <a:ea typeface="微软雅黑" panose="020B0503020204020204" pitchFamily="82" charset="2"/>
                  </a:rPr>
                  <a:t>，发生下溢</a:t>
                </a:r>
              </a:p>
              <a:p>
                <a:pPr lvl="1">
                  <a:lnSpc>
                    <a:spcPct val="15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kumimoji="1" lang="zh-CN" altLang="en-US" sz="2000" dirty="0">
                    <a:latin typeface="微软雅黑" panose="020B0503020204020204" pitchFamily="82" charset="2"/>
                    <a:ea typeface="微软雅黑" panose="020B0503020204020204" pitchFamily="82" charset="2"/>
                  </a:rPr>
                  <a:t>尝试从兄弟节点借入索引记录</a:t>
                </a:r>
                <a:r>
                  <a:rPr kumimoji="1" lang="en-US" altLang="zh-CN" sz="2000" dirty="0">
                    <a:latin typeface="微软雅黑" panose="020B0503020204020204" pitchFamily="82" charset="2"/>
                    <a:ea typeface="微软雅黑" panose="020B0503020204020204" pitchFamily="82" charset="2"/>
                  </a:rPr>
                  <a:t>,</a:t>
                </a:r>
                <a:r>
                  <a:rPr kumimoji="1" lang="zh-CN" altLang="en-US" sz="2000" dirty="0">
                    <a:latin typeface="微软雅黑" panose="020B0503020204020204" pitchFamily="82" charset="2"/>
                    <a:ea typeface="微软雅黑" panose="020B0503020204020204" pitchFamily="82" charset="2"/>
                  </a:rPr>
                  <a:t>并更新父节点的键值</a:t>
                </a:r>
                <a:endParaRPr kumimoji="1" lang="en-US" altLang="zh-CN" sz="2000" dirty="0">
                  <a:latin typeface="微软雅黑" panose="020B0503020204020204" pitchFamily="82" charset="2"/>
                  <a:ea typeface="微软雅黑" panose="020B0503020204020204" pitchFamily="82" charset="2"/>
                </a:endParaRPr>
              </a:p>
              <a:p>
                <a:pPr lvl="1">
                  <a:lnSpc>
                    <a:spcPct val="15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2000" dirty="0">
                    <a:latin typeface="微软雅黑" panose="020B0503020204020204" pitchFamily="82" charset="2"/>
                    <a:ea typeface="微软雅黑" panose="020B0503020204020204" pitchFamily="82" charset="2"/>
                  </a:rPr>
                  <a:t>若兄弟节点无法借入节点，则与兄弟节点合并，并从父节点删除兄弟节点的键值和指针</a:t>
                </a:r>
                <a:endParaRPr kumimoji="1" lang="en-US" altLang="zh-CN" sz="2000" dirty="0">
                  <a:latin typeface="微软雅黑" panose="020B0503020204020204" pitchFamily="82" charset="2"/>
                  <a:ea typeface="微软雅黑" panose="020B0503020204020204" pitchFamily="82" charset="2"/>
                </a:endParaRPr>
              </a:p>
            </p:txBody>
          </p:sp>
        </mc:Choice>
        <mc:Fallback xmlns="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73469A57-4554-6541-36B2-E514ABE537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37883" y="860322"/>
                <a:ext cx="11661981" cy="5005387"/>
              </a:xfrm>
              <a:blipFill>
                <a:blip r:embed="rId2"/>
                <a:stretch>
                  <a:fillRect l="-6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A757E0-8B22-86D9-115F-0E85915D28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D2CA391-BFA8-F508-C3AC-19E3DDFA67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8181" y="4806295"/>
            <a:ext cx="4939182" cy="97275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62E356F-615F-3263-DD1C-AF59C3B66A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801" y="4785074"/>
            <a:ext cx="4611070" cy="965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5653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9">
            <a:extLst>
              <a:ext uri="{FF2B5EF4-FFF2-40B4-BE49-F238E27FC236}">
                <a16:creationId xmlns:a16="http://schemas.microsoft.com/office/drawing/2014/main" id="{6B93B6BF-E4F5-4167-8781-2A377BCBAF94}"/>
              </a:ext>
            </a:extLst>
          </p:cNvPr>
          <p:cNvSpPr/>
          <p:nvPr/>
        </p:nvSpPr>
        <p:spPr>
          <a:xfrm>
            <a:off x="578840" y="1047366"/>
            <a:ext cx="11073468" cy="5336656"/>
          </a:xfrm>
          <a:custGeom>
            <a:avLst/>
            <a:gdLst>
              <a:gd name="connsiteX0" fmla="*/ 0 w 2866328"/>
              <a:gd name="connsiteY0" fmla="*/ 0 h 542478"/>
              <a:gd name="connsiteX1" fmla="*/ 2866328 w 2866328"/>
              <a:gd name="connsiteY1" fmla="*/ 0 h 542478"/>
              <a:gd name="connsiteX2" fmla="*/ 2730709 w 2866328"/>
              <a:gd name="connsiteY2" fmla="*/ 542478 h 542478"/>
              <a:gd name="connsiteX3" fmla="*/ 0 w 2866328"/>
              <a:gd name="connsiteY3" fmla="*/ 542478 h 542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66328" h="542478">
                <a:moveTo>
                  <a:pt x="0" y="0"/>
                </a:moveTo>
                <a:lnTo>
                  <a:pt x="2866328" y="0"/>
                </a:lnTo>
                <a:lnTo>
                  <a:pt x="2730709" y="542478"/>
                </a:lnTo>
                <a:lnTo>
                  <a:pt x="0" y="542478"/>
                </a:lnTo>
                <a:close/>
              </a:path>
            </a:pathLst>
          </a:custGeom>
          <a:gradFill>
            <a:gsLst>
              <a:gs pos="99000">
                <a:srgbClr val="6F1787">
                  <a:alpha val="20000"/>
                </a:srgbClr>
              </a:gs>
              <a:gs pos="0">
                <a:schemeClr val="bg1">
                  <a:alpha val="0"/>
                </a:schemeClr>
              </a:gs>
            </a:gsLst>
            <a:lin ang="135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000" b="1" dirty="0">
              <a:latin typeface="OPPOSans M" panose="00020600040101010101" pitchFamily="18" charset="-122"/>
              <a:ea typeface="OPPOSans M" panose="00020600040101010101" pitchFamily="18" charset="-122"/>
            </a:endParaRPr>
          </a:p>
        </p:txBody>
      </p:sp>
      <p:sp>
        <p:nvSpPr>
          <p:cNvPr id="15" name="Shape18">
            <a:extLst>
              <a:ext uri="{FF2B5EF4-FFF2-40B4-BE49-F238E27FC236}">
                <a16:creationId xmlns:a16="http://schemas.microsoft.com/office/drawing/2014/main" id="{2CA34FB9-87DC-41D9-9B12-5AD1B60A1863}"/>
              </a:ext>
            </a:extLst>
          </p:cNvPr>
          <p:cNvSpPr/>
          <p:nvPr/>
        </p:nvSpPr>
        <p:spPr>
          <a:xfrm>
            <a:off x="1573822" y="2917371"/>
            <a:ext cx="9567625" cy="3097940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dirty="0">
              <a:latin typeface="OPPOSans M" panose="00020600040101010101" pitchFamily="18" charset="-122"/>
              <a:ea typeface="OPPOSans M" panose="00020600040101010101" pitchFamily="18" charset="-122"/>
              <a:sym typeface="+mn-ea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1CAF19E-325F-941D-0F24-8E18141CD1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29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4682776A-6F42-4D40-D091-13201CEBC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删除</a:t>
            </a:r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算法</a:t>
            </a:r>
          </a:p>
        </p:txBody>
      </p:sp>
      <p:sp>
        <p:nvSpPr>
          <p:cNvPr id="5" name="内容占位符 3">
            <a:extLst>
              <a:ext uri="{FF2B5EF4-FFF2-40B4-BE49-F238E27FC236}">
                <a16:creationId xmlns:a16="http://schemas.microsoft.com/office/drawing/2014/main" id="{CB50C393-B7DE-DF2F-683F-F1F60761CA0B}"/>
              </a:ext>
            </a:extLst>
          </p:cNvPr>
          <p:cNvSpPr txBox="1">
            <a:spLocks/>
          </p:cNvSpPr>
          <p:nvPr/>
        </p:nvSpPr>
        <p:spPr bwMode="auto">
          <a:xfrm>
            <a:off x="729916" y="1033485"/>
            <a:ext cx="11462084" cy="2140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16531" indent="-31653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charset="2"/>
              <a:buChar char="p"/>
              <a:defRPr kumimoji="1" sz="3200" b="0">
                <a:solidFill>
                  <a:schemeClr val="tx1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  <a:cs typeface="Arial"/>
              </a:defRPr>
            </a:lvl1pPr>
            <a:lvl2pPr marL="685817" indent="-263776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800" b="0">
                <a:solidFill>
                  <a:schemeClr val="tx1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  <a:cs typeface="Arial"/>
              </a:defRPr>
            </a:lvl2pPr>
            <a:lvl3pPr marL="1055103" indent="-211021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400" b="0">
                <a:solidFill>
                  <a:schemeClr val="tx1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  <a:cs typeface="Arial"/>
              </a:defRPr>
            </a:lvl3pPr>
            <a:lvl4pPr marL="1477145" indent="-211021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846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imHei" panose="02010609060101010101" pitchFamily="49" charset="-122"/>
                <a:ea typeface="SimHei" panose="02010609060101010101" pitchFamily="49" charset="-122"/>
              </a:defRPr>
            </a:lvl4pPr>
            <a:lvl5pPr marL="1899186" indent="-21102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46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imHei" panose="02010609060101010101" pitchFamily="49" charset="-122"/>
                <a:ea typeface="SimHei" panose="02010609060101010101" pitchFamily="49" charset="-122"/>
              </a:defRPr>
            </a:lvl5pPr>
            <a:lvl6pPr marL="2321227" indent="-21102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46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6pPr>
            <a:lvl7pPr marL="2743269" indent="-21102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46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7pPr>
            <a:lvl8pPr marL="3165310" indent="-21102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46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8pPr>
            <a:lvl9pPr marL="3587351" indent="-21102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46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kern="0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寻找删除操作发生的叶节点</a:t>
            </a:r>
            <a:endParaRPr lang="en-US" altLang="zh-CN" sz="2400" b="1" kern="0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如果不存在该查找键，直接结束</a:t>
            </a:r>
            <a:endParaRPr lang="en-US" altLang="zh-CN" sz="2000" kern="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如果删除操作不会发生下溢，删除索引记录后结束</a:t>
            </a:r>
            <a:endParaRPr lang="en-US" altLang="zh-CN" sz="2000" kern="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551E152A-9D76-1284-6E9A-C24CC97861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0411" y="3587051"/>
            <a:ext cx="8849587" cy="1752953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5E6913BE-85E9-7E84-FEA2-3C7BD5E202D1}"/>
              </a:ext>
            </a:extLst>
          </p:cNvPr>
          <p:cNvSpPr txBox="1"/>
          <p:nvPr/>
        </p:nvSpPr>
        <p:spPr>
          <a:xfrm>
            <a:off x="5307346" y="3561070"/>
            <a:ext cx="1039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43</a:t>
            </a:r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&lt; 61</a:t>
            </a:r>
            <a:endParaRPr kumimoji="1" lang="zh-CN" altLang="en-US" dirty="0">
              <a:solidFill>
                <a:srgbClr val="FF0000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CD3716D-1328-7251-F4DE-B8CF57B9B582}"/>
              </a:ext>
            </a:extLst>
          </p:cNvPr>
          <p:cNvSpPr txBox="1"/>
          <p:nvPr/>
        </p:nvSpPr>
        <p:spPr>
          <a:xfrm>
            <a:off x="6910741" y="3119502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3B20FF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删除</a:t>
            </a:r>
            <a:r>
              <a:rPr kumimoji="1" lang="en-US" altLang="zh-CN" dirty="0">
                <a:solidFill>
                  <a:srgbClr val="3B20FF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43</a:t>
            </a:r>
            <a:endParaRPr kumimoji="1" lang="zh-CN" altLang="en-US" dirty="0">
              <a:solidFill>
                <a:srgbClr val="3B20FF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6424B6C-D101-F587-85B5-3ABD838FDCD3}"/>
              </a:ext>
            </a:extLst>
          </p:cNvPr>
          <p:cNvSpPr txBox="1"/>
          <p:nvPr/>
        </p:nvSpPr>
        <p:spPr>
          <a:xfrm>
            <a:off x="3002296" y="4294398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43</a:t>
            </a:r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&lt;= 43</a:t>
            </a:r>
            <a:endParaRPr kumimoji="1" lang="zh-CN" altLang="en-US" dirty="0">
              <a:solidFill>
                <a:srgbClr val="FF0000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2CD2017-CFB2-4FDC-3F85-B2B6E8934997}"/>
              </a:ext>
            </a:extLst>
          </p:cNvPr>
          <p:cNvSpPr txBox="1"/>
          <p:nvPr/>
        </p:nvSpPr>
        <p:spPr>
          <a:xfrm>
            <a:off x="5802745" y="544130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3B20FF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执行删除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ED5B498-5DC3-F9F0-88F2-292BF3C133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8153585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9">
            <a:extLst>
              <a:ext uri="{FF2B5EF4-FFF2-40B4-BE49-F238E27FC236}">
                <a16:creationId xmlns:a16="http://schemas.microsoft.com/office/drawing/2014/main" id="{6B93B6BF-E4F5-4167-8781-2A377BCBAF94}"/>
              </a:ext>
            </a:extLst>
          </p:cNvPr>
          <p:cNvSpPr/>
          <p:nvPr/>
        </p:nvSpPr>
        <p:spPr>
          <a:xfrm>
            <a:off x="813391" y="1178704"/>
            <a:ext cx="10565218" cy="4733001"/>
          </a:xfrm>
          <a:custGeom>
            <a:avLst/>
            <a:gdLst>
              <a:gd name="connsiteX0" fmla="*/ 0 w 2866328"/>
              <a:gd name="connsiteY0" fmla="*/ 0 h 542478"/>
              <a:gd name="connsiteX1" fmla="*/ 2866328 w 2866328"/>
              <a:gd name="connsiteY1" fmla="*/ 0 h 542478"/>
              <a:gd name="connsiteX2" fmla="*/ 2730709 w 2866328"/>
              <a:gd name="connsiteY2" fmla="*/ 542478 h 542478"/>
              <a:gd name="connsiteX3" fmla="*/ 0 w 2866328"/>
              <a:gd name="connsiteY3" fmla="*/ 542478 h 542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66328" h="542478">
                <a:moveTo>
                  <a:pt x="0" y="0"/>
                </a:moveTo>
                <a:lnTo>
                  <a:pt x="2866328" y="0"/>
                </a:lnTo>
                <a:lnTo>
                  <a:pt x="2730709" y="542478"/>
                </a:lnTo>
                <a:lnTo>
                  <a:pt x="0" y="542478"/>
                </a:lnTo>
                <a:close/>
              </a:path>
            </a:pathLst>
          </a:custGeom>
          <a:gradFill>
            <a:gsLst>
              <a:gs pos="99000">
                <a:srgbClr val="6F1787">
                  <a:alpha val="20000"/>
                </a:srgbClr>
              </a:gs>
              <a:gs pos="0">
                <a:schemeClr val="bg1">
                  <a:alpha val="0"/>
                </a:schemeClr>
              </a:gs>
            </a:gsLst>
            <a:lin ang="135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000" b="1" dirty="0">
              <a:latin typeface="OPPOSans M" panose="00020600040101010101" pitchFamily="18" charset="-122"/>
              <a:ea typeface="OPPOSans M" panose="00020600040101010101" pitchFamily="18" charset="-122"/>
            </a:endParaRPr>
          </a:p>
        </p:txBody>
      </p:sp>
      <p:sp>
        <p:nvSpPr>
          <p:cNvPr id="7" name="Shape18">
            <a:extLst>
              <a:ext uri="{FF2B5EF4-FFF2-40B4-BE49-F238E27FC236}">
                <a16:creationId xmlns:a16="http://schemas.microsoft.com/office/drawing/2014/main" id="{7BACF77D-0CB1-4CAB-B2EE-D282B1776F74}"/>
              </a:ext>
            </a:extLst>
          </p:cNvPr>
          <p:cNvSpPr/>
          <p:nvPr/>
        </p:nvSpPr>
        <p:spPr>
          <a:xfrm>
            <a:off x="1553192" y="2896955"/>
            <a:ext cx="9358062" cy="2529271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dirty="0">
              <a:latin typeface="OPPOSans M" panose="00020600040101010101" pitchFamily="18" charset="-122"/>
              <a:ea typeface="OPPOSans M" panose="00020600040101010101" pitchFamily="18" charset="-122"/>
              <a:sym typeface="+mn-ea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1CAF19E-325F-941D-0F24-8E18141CD1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30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4682776A-6F42-4D40-D091-13201CEBC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删除</a:t>
            </a:r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算法</a:t>
            </a:r>
          </a:p>
        </p:txBody>
      </p:sp>
      <p:sp>
        <p:nvSpPr>
          <p:cNvPr id="5" name="内容占位符 3">
            <a:extLst>
              <a:ext uri="{FF2B5EF4-FFF2-40B4-BE49-F238E27FC236}">
                <a16:creationId xmlns:a16="http://schemas.microsoft.com/office/drawing/2014/main" id="{CB50C393-B7DE-DF2F-683F-F1F60761CA0B}"/>
              </a:ext>
            </a:extLst>
          </p:cNvPr>
          <p:cNvSpPr txBox="1">
            <a:spLocks/>
          </p:cNvSpPr>
          <p:nvPr/>
        </p:nvSpPr>
        <p:spPr bwMode="auto">
          <a:xfrm>
            <a:off x="937882" y="1178704"/>
            <a:ext cx="11462084" cy="16176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16531" indent="-31653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charset="2"/>
              <a:buChar char="p"/>
              <a:defRPr kumimoji="1" sz="3200" b="0">
                <a:solidFill>
                  <a:schemeClr val="tx1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  <a:cs typeface="Arial"/>
              </a:defRPr>
            </a:lvl1pPr>
            <a:lvl2pPr marL="685817" indent="-263776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800" b="0">
                <a:solidFill>
                  <a:schemeClr val="tx1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  <a:cs typeface="Arial"/>
              </a:defRPr>
            </a:lvl2pPr>
            <a:lvl3pPr marL="1055103" indent="-211021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400" b="0">
                <a:solidFill>
                  <a:schemeClr val="tx1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  <a:cs typeface="Arial"/>
              </a:defRPr>
            </a:lvl3pPr>
            <a:lvl4pPr marL="1477145" indent="-211021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846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imHei" panose="02010609060101010101" pitchFamily="49" charset="-122"/>
                <a:ea typeface="SimHei" panose="02010609060101010101" pitchFamily="49" charset="-122"/>
              </a:defRPr>
            </a:lvl4pPr>
            <a:lvl5pPr marL="1899186" indent="-21102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46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imHei" panose="02010609060101010101" pitchFamily="49" charset="-122"/>
                <a:ea typeface="SimHei" panose="02010609060101010101" pitchFamily="49" charset="-122"/>
              </a:defRPr>
            </a:lvl5pPr>
            <a:lvl6pPr marL="2321227" indent="-21102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46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6pPr>
            <a:lvl7pPr marL="2743269" indent="-21102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46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7pPr>
            <a:lvl8pPr marL="3165310" indent="-21102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46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8pPr>
            <a:lvl9pPr marL="3587351" indent="-21102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46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kern="0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如果发生下溢</a:t>
            </a:r>
            <a:endParaRPr lang="en-US" altLang="zh-CN" sz="2400" b="1" kern="0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尝试从兄弟节点借入索引记录</a:t>
            </a:r>
            <a:endParaRPr lang="en-US" altLang="zh-CN" sz="2400" kern="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E0F11BC-2469-D59A-0BCC-5B9128B842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7180" y="3206758"/>
            <a:ext cx="8615311" cy="2057491"/>
          </a:xfrm>
          <a:prstGeom prst="rect">
            <a:avLst/>
          </a:prstGeom>
        </p:spPr>
      </p:pic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56D6B52-58EF-AFA9-05B2-95463D4CD0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2512802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9">
            <a:extLst>
              <a:ext uri="{FF2B5EF4-FFF2-40B4-BE49-F238E27FC236}">
                <a16:creationId xmlns:a16="http://schemas.microsoft.com/office/drawing/2014/main" id="{6B93B6BF-E4F5-4167-8781-2A377BCBAF94}"/>
              </a:ext>
            </a:extLst>
          </p:cNvPr>
          <p:cNvSpPr/>
          <p:nvPr/>
        </p:nvSpPr>
        <p:spPr>
          <a:xfrm>
            <a:off x="813391" y="1178704"/>
            <a:ext cx="10565218" cy="4733001"/>
          </a:xfrm>
          <a:custGeom>
            <a:avLst/>
            <a:gdLst>
              <a:gd name="connsiteX0" fmla="*/ 0 w 2866328"/>
              <a:gd name="connsiteY0" fmla="*/ 0 h 542478"/>
              <a:gd name="connsiteX1" fmla="*/ 2866328 w 2866328"/>
              <a:gd name="connsiteY1" fmla="*/ 0 h 542478"/>
              <a:gd name="connsiteX2" fmla="*/ 2730709 w 2866328"/>
              <a:gd name="connsiteY2" fmla="*/ 542478 h 542478"/>
              <a:gd name="connsiteX3" fmla="*/ 0 w 2866328"/>
              <a:gd name="connsiteY3" fmla="*/ 542478 h 542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66328" h="542478">
                <a:moveTo>
                  <a:pt x="0" y="0"/>
                </a:moveTo>
                <a:lnTo>
                  <a:pt x="2866328" y="0"/>
                </a:lnTo>
                <a:lnTo>
                  <a:pt x="2730709" y="542478"/>
                </a:lnTo>
                <a:lnTo>
                  <a:pt x="0" y="542478"/>
                </a:lnTo>
                <a:close/>
              </a:path>
            </a:pathLst>
          </a:custGeom>
          <a:gradFill>
            <a:gsLst>
              <a:gs pos="99000">
                <a:srgbClr val="6F1787">
                  <a:alpha val="20000"/>
                </a:srgbClr>
              </a:gs>
              <a:gs pos="0">
                <a:schemeClr val="bg1">
                  <a:alpha val="0"/>
                </a:schemeClr>
              </a:gs>
            </a:gsLst>
            <a:lin ang="135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000" b="1" dirty="0">
              <a:latin typeface="OPPOSans M" panose="00020600040101010101" pitchFamily="18" charset="-122"/>
              <a:ea typeface="OPPOSans M" panose="00020600040101010101" pitchFamily="18" charset="-122"/>
            </a:endParaRPr>
          </a:p>
        </p:txBody>
      </p:sp>
      <p:sp>
        <p:nvSpPr>
          <p:cNvPr id="8" name="Shape18">
            <a:extLst>
              <a:ext uri="{FF2B5EF4-FFF2-40B4-BE49-F238E27FC236}">
                <a16:creationId xmlns:a16="http://schemas.microsoft.com/office/drawing/2014/main" id="{8D3653FC-D6C7-4032-8185-82F50E9ABE54}"/>
              </a:ext>
            </a:extLst>
          </p:cNvPr>
          <p:cNvSpPr/>
          <p:nvPr/>
        </p:nvSpPr>
        <p:spPr>
          <a:xfrm>
            <a:off x="1586767" y="2963008"/>
            <a:ext cx="9195630" cy="2485369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dirty="0">
              <a:latin typeface="OPPOSans M" panose="00020600040101010101" pitchFamily="18" charset="-122"/>
              <a:ea typeface="OPPOSans M" panose="00020600040101010101" pitchFamily="18" charset="-122"/>
              <a:sym typeface="+mn-ea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1CAF19E-325F-941D-0F24-8E18141CD1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31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4682776A-6F42-4D40-D091-13201CEBC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删除</a:t>
            </a:r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算法</a:t>
            </a:r>
          </a:p>
        </p:txBody>
      </p:sp>
      <p:sp>
        <p:nvSpPr>
          <p:cNvPr id="5" name="内容占位符 3">
            <a:extLst>
              <a:ext uri="{FF2B5EF4-FFF2-40B4-BE49-F238E27FC236}">
                <a16:creationId xmlns:a16="http://schemas.microsoft.com/office/drawing/2014/main" id="{CB50C393-B7DE-DF2F-683F-F1F60761CA0B}"/>
              </a:ext>
            </a:extLst>
          </p:cNvPr>
          <p:cNvSpPr txBox="1">
            <a:spLocks/>
          </p:cNvSpPr>
          <p:nvPr/>
        </p:nvSpPr>
        <p:spPr bwMode="auto">
          <a:xfrm>
            <a:off x="1050551" y="1150022"/>
            <a:ext cx="11462084" cy="161766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16531" indent="-31653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charset="2"/>
              <a:buChar char="p"/>
              <a:defRPr kumimoji="1" sz="3200" b="0">
                <a:solidFill>
                  <a:schemeClr val="tx1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  <a:cs typeface="Arial"/>
              </a:defRPr>
            </a:lvl1pPr>
            <a:lvl2pPr marL="685817" indent="-263776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800" b="0">
                <a:solidFill>
                  <a:schemeClr val="tx1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  <a:cs typeface="Arial"/>
              </a:defRPr>
            </a:lvl2pPr>
            <a:lvl3pPr marL="1055103" indent="-211021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400" b="0">
                <a:solidFill>
                  <a:schemeClr val="tx1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  <a:cs typeface="Arial"/>
              </a:defRPr>
            </a:lvl3pPr>
            <a:lvl4pPr marL="1477145" indent="-211021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846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imHei" panose="02010609060101010101" pitchFamily="49" charset="-122"/>
                <a:ea typeface="SimHei" panose="02010609060101010101" pitchFamily="49" charset="-122"/>
              </a:defRPr>
            </a:lvl4pPr>
            <a:lvl5pPr marL="1899186" indent="-21102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46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imHei" panose="02010609060101010101" pitchFamily="49" charset="-122"/>
                <a:ea typeface="SimHei" panose="02010609060101010101" pitchFamily="49" charset="-122"/>
              </a:defRPr>
            </a:lvl5pPr>
            <a:lvl6pPr marL="2321227" indent="-21102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46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6pPr>
            <a:lvl7pPr marL="2743269" indent="-21102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46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7pPr>
            <a:lvl8pPr marL="3165310" indent="-21102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46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8pPr>
            <a:lvl9pPr marL="3587351" indent="-21102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46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kern="0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如果发生下溢</a:t>
            </a:r>
            <a:endParaRPr lang="en-US" altLang="zh-CN" sz="2400" b="1" kern="0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尝试从兄弟节点借入索引记录</a:t>
            </a:r>
            <a:endParaRPr lang="en-US" altLang="zh-CN" sz="2400" kern="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05082AA-3204-A735-A319-75B140766D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0007" y="3242892"/>
            <a:ext cx="8418834" cy="1795390"/>
          </a:xfrm>
          <a:prstGeom prst="rect">
            <a:avLst/>
          </a:prstGeom>
        </p:spPr>
      </p:pic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D72597A-8E80-8559-EEE4-F781B15C50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385024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9">
            <a:extLst>
              <a:ext uri="{FF2B5EF4-FFF2-40B4-BE49-F238E27FC236}">
                <a16:creationId xmlns:a16="http://schemas.microsoft.com/office/drawing/2014/main" id="{6B93B6BF-E4F5-4167-8781-2A377BCBAF94}"/>
              </a:ext>
            </a:extLst>
          </p:cNvPr>
          <p:cNvSpPr/>
          <p:nvPr/>
        </p:nvSpPr>
        <p:spPr>
          <a:xfrm>
            <a:off x="813391" y="1178704"/>
            <a:ext cx="10565218" cy="4733001"/>
          </a:xfrm>
          <a:custGeom>
            <a:avLst/>
            <a:gdLst>
              <a:gd name="connsiteX0" fmla="*/ 0 w 2866328"/>
              <a:gd name="connsiteY0" fmla="*/ 0 h 542478"/>
              <a:gd name="connsiteX1" fmla="*/ 2866328 w 2866328"/>
              <a:gd name="connsiteY1" fmla="*/ 0 h 542478"/>
              <a:gd name="connsiteX2" fmla="*/ 2730709 w 2866328"/>
              <a:gd name="connsiteY2" fmla="*/ 542478 h 542478"/>
              <a:gd name="connsiteX3" fmla="*/ 0 w 2866328"/>
              <a:gd name="connsiteY3" fmla="*/ 542478 h 542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66328" h="542478">
                <a:moveTo>
                  <a:pt x="0" y="0"/>
                </a:moveTo>
                <a:lnTo>
                  <a:pt x="2866328" y="0"/>
                </a:lnTo>
                <a:lnTo>
                  <a:pt x="2730709" y="542478"/>
                </a:lnTo>
                <a:lnTo>
                  <a:pt x="0" y="542478"/>
                </a:lnTo>
                <a:close/>
              </a:path>
            </a:pathLst>
          </a:custGeom>
          <a:gradFill>
            <a:gsLst>
              <a:gs pos="99000">
                <a:srgbClr val="6F1787">
                  <a:alpha val="20000"/>
                </a:srgbClr>
              </a:gs>
              <a:gs pos="0">
                <a:schemeClr val="bg1">
                  <a:alpha val="0"/>
                </a:schemeClr>
              </a:gs>
            </a:gsLst>
            <a:lin ang="135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000" b="1" dirty="0">
              <a:latin typeface="OPPOSans M" panose="00020600040101010101" pitchFamily="18" charset="-122"/>
              <a:ea typeface="OPPOSans M" panose="00020600040101010101" pitchFamily="18" charset="-122"/>
            </a:endParaRPr>
          </a:p>
        </p:txBody>
      </p:sp>
      <p:sp>
        <p:nvSpPr>
          <p:cNvPr id="7" name="Shape18">
            <a:extLst>
              <a:ext uri="{FF2B5EF4-FFF2-40B4-BE49-F238E27FC236}">
                <a16:creationId xmlns:a16="http://schemas.microsoft.com/office/drawing/2014/main" id="{1EAC3769-80F3-4930-9CF1-AFEFC590BDEF}"/>
              </a:ext>
            </a:extLst>
          </p:cNvPr>
          <p:cNvSpPr/>
          <p:nvPr/>
        </p:nvSpPr>
        <p:spPr>
          <a:xfrm>
            <a:off x="1588362" y="3305908"/>
            <a:ext cx="9129522" cy="2467502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dirty="0">
              <a:latin typeface="OPPOSans M" panose="00020600040101010101" pitchFamily="18" charset="-122"/>
              <a:ea typeface="OPPOSans M" panose="00020600040101010101" pitchFamily="18" charset="-122"/>
              <a:sym typeface="+mn-ea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1CAF19E-325F-941D-0F24-8E18141CD1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32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4682776A-6F42-4D40-D091-13201CEBC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删除</a:t>
            </a:r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算法</a:t>
            </a:r>
          </a:p>
        </p:txBody>
      </p:sp>
      <p:sp>
        <p:nvSpPr>
          <p:cNvPr id="5" name="内容占位符 3">
            <a:extLst>
              <a:ext uri="{FF2B5EF4-FFF2-40B4-BE49-F238E27FC236}">
                <a16:creationId xmlns:a16="http://schemas.microsoft.com/office/drawing/2014/main" id="{CB50C393-B7DE-DF2F-683F-F1F60761CA0B}"/>
              </a:ext>
            </a:extLst>
          </p:cNvPr>
          <p:cNvSpPr txBox="1">
            <a:spLocks/>
          </p:cNvSpPr>
          <p:nvPr/>
        </p:nvSpPr>
        <p:spPr bwMode="auto">
          <a:xfrm>
            <a:off x="874609" y="1078611"/>
            <a:ext cx="11462084" cy="16176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16531" indent="-31653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charset="2"/>
              <a:buChar char="p"/>
              <a:defRPr kumimoji="1" sz="3200" b="0">
                <a:solidFill>
                  <a:schemeClr val="tx1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  <a:cs typeface="Arial"/>
              </a:defRPr>
            </a:lvl1pPr>
            <a:lvl2pPr marL="685817" indent="-263776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800" b="0">
                <a:solidFill>
                  <a:schemeClr val="tx1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  <a:cs typeface="Arial"/>
              </a:defRPr>
            </a:lvl2pPr>
            <a:lvl3pPr marL="1055103" indent="-211021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400" b="0">
                <a:solidFill>
                  <a:schemeClr val="tx1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  <a:cs typeface="Arial"/>
              </a:defRPr>
            </a:lvl3pPr>
            <a:lvl4pPr marL="1477145" indent="-211021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846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imHei" panose="02010609060101010101" pitchFamily="49" charset="-122"/>
                <a:ea typeface="SimHei" panose="02010609060101010101" pitchFamily="49" charset="-122"/>
              </a:defRPr>
            </a:lvl4pPr>
            <a:lvl5pPr marL="1899186" indent="-21102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46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imHei" panose="02010609060101010101" pitchFamily="49" charset="-122"/>
                <a:ea typeface="SimHei" panose="02010609060101010101" pitchFamily="49" charset="-122"/>
              </a:defRPr>
            </a:lvl5pPr>
            <a:lvl6pPr marL="2321227" indent="-21102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46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6pPr>
            <a:lvl7pPr marL="2743269" indent="-21102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46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7pPr>
            <a:lvl8pPr marL="3165310" indent="-21102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46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8pPr>
            <a:lvl9pPr marL="3587351" indent="-21102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46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kern="0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如果发生下溢</a:t>
            </a:r>
            <a:endParaRPr lang="en-US" altLang="zh-CN" sz="2400" b="1" kern="0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尝试从兄弟节点借入索引记录</a:t>
            </a:r>
            <a:endParaRPr lang="en-US" altLang="zh-CN" sz="2400" kern="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如果兄弟节点无法借入（删除</a:t>
            </a:r>
            <a:r>
              <a:rPr lang="en-US" altLang="zh-CN" sz="24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61</a:t>
            </a:r>
            <a:r>
              <a:rPr lang="zh-CN" altLang="en-US" sz="24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后），则与兄弟节点合并</a:t>
            </a:r>
            <a:endParaRPr lang="en-US" altLang="zh-CN" sz="2400" kern="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54ED8CD-5492-C7A4-F925-0CA3710F0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7792" y="3604280"/>
            <a:ext cx="8874137" cy="1850498"/>
          </a:xfrm>
          <a:prstGeom prst="rect">
            <a:avLst/>
          </a:prstGeom>
        </p:spPr>
      </p:pic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76FC22B-819C-8873-5D1B-A6FF1ACF21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386025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9">
            <a:extLst>
              <a:ext uri="{FF2B5EF4-FFF2-40B4-BE49-F238E27FC236}">
                <a16:creationId xmlns:a16="http://schemas.microsoft.com/office/drawing/2014/main" id="{6B93B6BF-E4F5-4167-8781-2A377BCBAF94}"/>
              </a:ext>
            </a:extLst>
          </p:cNvPr>
          <p:cNvSpPr/>
          <p:nvPr/>
        </p:nvSpPr>
        <p:spPr>
          <a:xfrm>
            <a:off x="813391" y="1178704"/>
            <a:ext cx="10565218" cy="4938317"/>
          </a:xfrm>
          <a:custGeom>
            <a:avLst/>
            <a:gdLst>
              <a:gd name="connsiteX0" fmla="*/ 0 w 2866328"/>
              <a:gd name="connsiteY0" fmla="*/ 0 h 542478"/>
              <a:gd name="connsiteX1" fmla="*/ 2866328 w 2866328"/>
              <a:gd name="connsiteY1" fmla="*/ 0 h 542478"/>
              <a:gd name="connsiteX2" fmla="*/ 2730709 w 2866328"/>
              <a:gd name="connsiteY2" fmla="*/ 542478 h 542478"/>
              <a:gd name="connsiteX3" fmla="*/ 0 w 2866328"/>
              <a:gd name="connsiteY3" fmla="*/ 542478 h 542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66328" h="542478">
                <a:moveTo>
                  <a:pt x="0" y="0"/>
                </a:moveTo>
                <a:lnTo>
                  <a:pt x="2866328" y="0"/>
                </a:lnTo>
                <a:lnTo>
                  <a:pt x="2730709" y="542478"/>
                </a:lnTo>
                <a:lnTo>
                  <a:pt x="0" y="542478"/>
                </a:lnTo>
                <a:close/>
              </a:path>
            </a:pathLst>
          </a:custGeom>
          <a:gradFill>
            <a:gsLst>
              <a:gs pos="99000">
                <a:srgbClr val="6F1787">
                  <a:alpha val="20000"/>
                </a:srgbClr>
              </a:gs>
              <a:gs pos="0">
                <a:schemeClr val="bg1">
                  <a:alpha val="0"/>
                </a:schemeClr>
              </a:gs>
            </a:gsLst>
            <a:lin ang="135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000" b="1" dirty="0">
              <a:latin typeface="OPPOSans M" panose="00020600040101010101" pitchFamily="18" charset="-122"/>
              <a:ea typeface="OPPOSans M" panose="00020600040101010101" pitchFamily="18" charset="-122"/>
            </a:endParaRPr>
          </a:p>
        </p:txBody>
      </p:sp>
      <p:sp>
        <p:nvSpPr>
          <p:cNvPr id="7" name="Shape18">
            <a:extLst>
              <a:ext uri="{FF2B5EF4-FFF2-40B4-BE49-F238E27FC236}">
                <a16:creationId xmlns:a16="http://schemas.microsoft.com/office/drawing/2014/main" id="{910764E5-5FDD-4A1A-B4D9-C2ED4ED6F8CA}"/>
              </a:ext>
            </a:extLst>
          </p:cNvPr>
          <p:cNvSpPr/>
          <p:nvPr/>
        </p:nvSpPr>
        <p:spPr>
          <a:xfrm>
            <a:off x="1367040" y="3325030"/>
            <a:ext cx="9236564" cy="2496433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dirty="0">
              <a:latin typeface="OPPOSans M" panose="00020600040101010101" pitchFamily="18" charset="-122"/>
              <a:ea typeface="OPPOSans M" panose="00020600040101010101" pitchFamily="18" charset="-122"/>
              <a:sym typeface="+mn-ea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1CAF19E-325F-941D-0F24-8E18141CD1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/>
              <a:pPr/>
              <a:t>33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4682776A-6F42-4D40-D091-13201CEBC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删除</a:t>
            </a:r>
            <a:r>
              <a:rPr kumimoji="1"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</a:p>
        </p:txBody>
      </p:sp>
      <p:sp>
        <p:nvSpPr>
          <p:cNvPr id="5" name="内容占位符 3">
            <a:extLst>
              <a:ext uri="{FF2B5EF4-FFF2-40B4-BE49-F238E27FC236}">
                <a16:creationId xmlns:a16="http://schemas.microsoft.com/office/drawing/2014/main" id="{CB50C393-B7DE-DF2F-683F-F1F60761CA0B}"/>
              </a:ext>
            </a:extLst>
          </p:cNvPr>
          <p:cNvSpPr txBox="1">
            <a:spLocks/>
          </p:cNvSpPr>
          <p:nvPr/>
        </p:nvSpPr>
        <p:spPr bwMode="auto">
          <a:xfrm>
            <a:off x="937883" y="1135515"/>
            <a:ext cx="11462084" cy="2039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16531" indent="-31653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charset="2"/>
              <a:buChar char="p"/>
              <a:defRPr kumimoji="1" sz="3200" b="0">
                <a:solidFill>
                  <a:schemeClr val="tx1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  <a:cs typeface="Arial"/>
              </a:defRPr>
            </a:lvl1pPr>
            <a:lvl2pPr marL="685817" indent="-263776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800" b="0">
                <a:solidFill>
                  <a:schemeClr val="tx1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  <a:cs typeface="Arial"/>
              </a:defRPr>
            </a:lvl2pPr>
            <a:lvl3pPr marL="1055103" indent="-211021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400" b="0">
                <a:solidFill>
                  <a:schemeClr val="tx1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  <a:cs typeface="Arial"/>
              </a:defRPr>
            </a:lvl3pPr>
            <a:lvl4pPr marL="1477145" indent="-211021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846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imHei" panose="02010609060101010101" pitchFamily="49" charset="-122"/>
                <a:ea typeface="SimHei" panose="02010609060101010101" pitchFamily="49" charset="-122"/>
              </a:defRPr>
            </a:lvl4pPr>
            <a:lvl5pPr marL="1899186" indent="-21102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46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imHei" panose="02010609060101010101" pitchFamily="49" charset="-122"/>
                <a:ea typeface="SimHei" panose="02010609060101010101" pitchFamily="49" charset="-122"/>
              </a:defRPr>
            </a:lvl5pPr>
            <a:lvl6pPr marL="2321227" indent="-21102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46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6pPr>
            <a:lvl7pPr marL="2743269" indent="-21102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46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7pPr>
            <a:lvl8pPr marL="3165310" indent="-21102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46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8pPr>
            <a:lvl9pPr marL="3587351" indent="-21102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46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kern="0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如果发生下溢</a:t>
            </a:r>
            <a:endParaRPr lang="en-US" altLang="zh-CN" sz="2400" b="1" kern="0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尝试从兄弟节点借入索引记录</a:t>
            </a:r>
            <a:endParaRPr lang="en-US" altLang="zh-CN" sz="2000" kern="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如果兄弟节点无法借入（删除</a:t>
            </a: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61</a:t>
            </a: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后），则与兄弟节点合并</a:t>
            </a:r>
            <a:endParaRPr lang="en-US" altLang="zh-CN" sz="2000" kern="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2">
              <a:lnSpc>
                <a:spcPct val="150000"/>
              </a:lnSpc>
              <a:spcBef>
                <a:spcPts val="0"/>
              </a:spcBef>
              <a:buSzPct val="50000"/>
              <a:buFont typeface="Wingdings" panose="05000000000000000000" pitchFamily="2" charset="2"/>
              <a:buChar char="p"/>
            </a:pP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从父节点拉取下溢节点与兄弟节点之间的查找键</a:t>
            </a:r>
            <a:endParaRPr lang="en-US" altLang="zh-CN" sz="2000" kern="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54ED8CD-5492-C7A4-F925-0CA3710F0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024" y="3649982"/>
            <a:ext cx="8690232" cy="1812149"/>
          </a:xfrm>
          <a:prstGeom prst="rect">
            <a:avLst/>
          </a:prstGeom>
        </p:spPr>
      </p:pic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FBDA0DB-5D6E-3816-9543-DB2FFC9339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数据库系统</a:t>
            </a:r>
            <a:r>
              <a:rPr lang="en-US" altLang="zh-CN"/>
              <a:t>—</a:t>
            </a:r>
            <a:r>
              <a:rPr lang="zh-CN" altLang="en-US"/>
              <a:t>索引</a:t>
            </a:r>
            <a:endParaRPr lang="en-US" altLang="zh-CN" sz="1200" dirty="0"/>
          </a:p>
        </p:txBody>
      </p:sp>
    </p:spTree>
    <p:extLst>
      <p:ext uri="{BB962C8B-B14F-4D97-AF65-F5344CB8AC3E}">
        <p14:creationId xmlns:p14="http://schemas.microsoft.com/office/powerpoint/2010/main" val="40423252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9">
            <a:extLst>
              <a:ext uri="{FF2B5EF4-FFF2-40B4-BE49-F238E27FC236}">
                <a16:creationId xmlns:a16="http://schemas.microsoft.com/office/drawing/2014/main" id="{6B93B6BF-E4F5-4167-8781-2A377BCBAF94}"/>
              </a:ext>
            </a:extLst>
          </p:cNvPr>
          <p:cNvSpPr/>
          <p:nvPr/>
        </p:nvSpPr>
        <p:spPr>
          <a:xfrm>
            <a:off x="813391" y="1178704"/>
            <a:ext cx="10565218" cy="4875255"/>
          </a:xfrm>
          <a:custGeom>
            <a:avLst/>
            <a:gdLst>
              <a:gd name="connsiteX0" fmla="*/ 0 w 2866328"/>
              <a:gd name="connsiteY0" fmla="*/ 0 h 542478"/>
              <a:gd name="connsiteX1" fmla="*/ 2866328 w 2866328"/>
              <a:gd name="connsiteY1" fmla="*/ 0 h 542478"/>
              <a:gd name="connsiteX2" fmla="*/ 2730709 w 2866328"/>
              <a:gd name="connsiteY2" fmla="*/ 542478 h 542478"/>
              <a:gd name="connsiteX3" fmla="*/ 0 w 2866328"/>
              <a:gd name="connsiteY3" fmla="*/ 542478 h 542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66328" h="542478">
                <a:moveTo>
                  <a:pt x="0" y="0"/>
                </a:moveTo>
                <a:lnTo>
                  <a:pt x="2866328" y="0"/>
                </a:lnTo>
                <a:lnTo>
                  <a:pt x="2730709" y="542478"/>
                </a:lnTo>
                <a:lnTo>
                  <a:pt x="0" y="542478"/>
                </a:lnTo>
                <a:close/>
              </a:path>
            </a:pathLst>
          </a:custGeom>
          <a:gradFill>
            <a:gsLst>
              <a:gs pos="99000">
                <a:srgbClr val="6F1787">
                  <a:alpha val="20000"/>
                </a:srgbClr>
              </a:gs>
              <a:gs pos="0">
                <a:schemeClr val="bg1">
                  <a:alpha val="0"/>
                </a:schemeClr>
              </a:gs>
            </a:gsLst>
            <a:lin ang="135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000" b="1" dirty="0">
              <a:latin typeface="OPPOSans M" panose="00020600040101010101" pitchFamily="18" charset="-122"/>
              <a:ea typeface="OPPOSans M" panose="00020600040101010101" pitchFamily="18" charset="-122"/>
            </a:endParaRPr>
          </a:p>
        </p:txBody>
      </p:sp>
      <p:sp>
        <p:nvSpPr>
          <p:cNvPr id="7" name="Shape18">
            <a:extLst>
              <a:ext uri="{FF2B5EF4-FFF2-40B4-BE49-F238E27FC236}">
                <a16:creationId xmlns:a16="http://schemas.microsoft.com/office/drawing/2014/main" id="{F0BEE455-E457-46EF-AC84-58800F54A6F2}"/>
              </a:ext>
            </a:extLst>
          </p:cNvPr>
          <p:cNvSpPr/>
          <p:nvPr/>
        </p:nvSpPr>
        <p:spPr>
          <a:xfrm>
            <a:off x="1507721" y="3156925"/>
            <a:ext cx="9633727" cy="2719899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dirty="0">
              <a:latin typeface="OPPOSans M" panose="00020600040101010101" pitchFamily="18" charset="-122"/>
              <a:ea typeface="OPPOSans M" panose="00020600040101010101" pitchFamily="18" charset="-122"/>
              <a:sym typeface="+mn-ea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1CAF19E-325F-941D-0F24-8E18141CD1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34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4682776A-6F42-4D40-D091-13201CEBC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删除</a:t>
            </a:r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算法</a:t>
            </a:r>
          </a:p>
        </p:txBody>
      </p:sp>
      <p:sp>
        <p:nvSpPr>
          <p:cNvPr id="5" name="内容占位符 3">
            <a:extLst>
              <a:ext uri="{FF2B5EF4-FFF2-40B4-BE49-F238E27FC236}">
                <a16:creationId xmlns:a16="http://schemas.microsoft.com/office/drawing/2014/main" id="{CB50C393-B7DE-DF2F-683F-F1F60761CA0B}"/>
              </a:ext>
            </a:extLst>
          </p:cNvPr>
          <p:cNvSpPr txBox="1">
            <a:spLocks/>
          </p:cNvSpPr>
          <p:nvPr/>
        </p:nvSpPr>
        <p:spPr bwMode="auto">
          <a:xfrm>
            <a:off x="874609" y="1147233"/>
            <a:ext cx="11462084" cy="2039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16531" indent="-31653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charset="2"/>
              <a:buChar char="p"/>
              <a:defRPr kumimoji="1" sz="3200" b="0">
                <a:solidFill>
                  <a:schemeClr val="tx1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  <a:cs typeface="Arial"/>
              </a:defRPr>
            </a:lvl1pPr>
            <a:lvl2pPr marL="685817" indent="-263776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800" b="0">
                <a:solidFill>
                  <a:schemeClr val="tx1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  <a:cs typeface="Arial"/>
              </a:defRPr>
            </a:lvl2pPr>
            <a:lvl3pPr marL="1055103" indent="-211021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400" b="0">
                <a:solidFill>
                  <a:schemeClr val="tx1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  <a:cs typeface="Arial"/>
              </a:defRPr>
            </a:lvl3pPr>
            <a:lvl4pPr marL="1477145" indent="-211021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846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imHei" panose="02010609060101010101" pitchFamily="49" charset="-122"/>
                <a:ea typeface="SimHei" panose="02010609060101010101" pitchFamily="49" charset="-122"/>
              </a:defRPr>
            </a:lvl4pPr>
            <a:lvl5pPr marL="1899186" indent="-21102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46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imHei" panose="02010609060101010101" pitchFamily="49" charset="-122"/>
                <a:ea typeface="SimHei" panose="02010609060101010101" pitchFamily="49" charset="-122"/>
              </a:defRPr>
            </a:lvl5pPr>
            <a:lvl6pPr marL="2321227" indent="-21102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46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6pPr>
            <a:lvl7pPr marL="2743269" indent="-21102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46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7pPr>
            <a:lvl8pPr marL="3165310" indent="-21102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46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8pPr>
            <a:lvl9pPr marL="3587351" indent="-21102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46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kern="0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如果发生下溢</a:t>
            </a:r>
            <a:endParaRPr lang="en-US" altLang="zh-CN" sz="2400" b="1" kern="0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尝试从兄弟节点借入索引记录</a:t>
            </a:r>
            <a:endParaRPr lang="en-US" altLang="zh-CN" sz="2000" kern="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如果兄弟节点无法借入（删除</a:t>
            </a: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61</a:t>
            </a: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后），则与兄弟节点合并</a:t>
            </a:r>
            <a:endParaRPr lang="en-US" altLang="zh-CN" sz="2000" kern="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2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从父节点拉取下溢节点与兄弟节点之间的查找键</a:t>
            </a:r>
            <a:endParaRPr lang="en-US" altLang="zh-CN" sz="2000" kern="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E2CC963-B643-39D0-BB3B-8774E0D80C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078" y="3364126"/>
            <a:ext cx="9175040" cy="2252881"/>
          </a:xfrm>
          <a:prstGeom prst="rect">
            <a:avLst/>
          </a:prstGeom>
        </p:spPr>
      </p:pic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C561BBF-E628-73AE-6698-EFD971A6CF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6168026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9">
            <a:extLst>
              <a:ext uri="{FF2B5EF4-FFF2-40B4-BE49-F238E27FC236}">
                <a16:creationId xmlns:a16="http://schemas.microsoft.com/office/drawing/2014/main" id="{6B93B6BF-E4F5-4167-8781-2A377BCBAF94}"/>
              </a:ext>
            </a:extLst>
          </p:cNvPr>
          <p:cNvSpPr/>
          <p:nvPr/>
        </p:nvSpPr>
        <p:spPr>
          <a:xfrm>
            <a:off x="813391" y="1057014"/>
            <a:ext cx="10662748" cy="5014924"/>
          </a:xfrm>
          <a:custGeom>
            <a:avLst/>
            <a:gdLst>
              <a:gd name="connsiteX0" fmla="*/ 0 w 2866328"/>
              <a:gd name="connsiteY0" fmla="*/ 0 h 542478"/>
              <a:gd name="connsiteX1" fmla="*/ 2866328 w 2866328"/>
              <a:gd name="connsiteY1" fmla="*/ 0 h 542478"/>
              <a:gd name="connsiteX2" fmla="*/ 2730709 w 2866328"/>
              <a:gd name="connsiteY2" fmla="*/ 542478 h 542478"/>
              <a:gd name="connsiteX3" fmla="*/ 0 w 2866328"/>
              <a:gd name="connsiteY3" fmla="*/ 542478 h 542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66328" h="542478">
                <a:moveTo>
                  <a:pt x="0" y="0"/>
                </a:moveTo>
                <a:lnTo>
                  <a:pt x="2866328" y="0"/>
                </a:lnTo>
                <a:lnTo>
                  <a:pt x="2730709" y="542478"/>
                </a:lnTo>
                <a:lnTo>
                  <a:pt x="0" y="542478"/>
                </a:lnTo>
                <a:close/>
              </a:path>
            </a:pathLst>
          </a:custGeom>
          <a:gradFill>
            <a:gsLst>
              <a:gs pos="99000">
                <a:srgbClr val="6F1787">
                  <a:alpha val="20000"/>
                </a:srgbClr>
              </a:gs>
              <a:gs pos="0">
                <a:schemeClr val="bg1">
                  <a:alpha val="0"/>
                </a:schemeClr>
              </a:gs>
            </a:gsLst>
            <a:lin ang="135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000" b="1" dirty="0">
              <a:latin typeface="OPPOSans M" panose="00020600040101010101" pitchFamily="18" charset="-122"/>
              <a:ea typeface="OPPOSans M" panose="00020600040101010101" pitchFamily="18" charset="-122"/>
            </a:endParaRPr>
          </a:p>
        </p:txBody>
      </p:sp>
      <p:sp>
        <p:nvSpPr>
          <p:cNvPr id="8" name="Shape18">
            <a:extLst>
              <a:ext uri="{FF2B5EF4-FFF2-40B4-BE49-F238E27FC236}">
                <a16:creationId xmlns:a16="http://schemas.microsoft.com/office/drawing/2014/main" id="{6D1BC6DE-4A17-4FE1-922F-2D21AEAB3929}"/>
              </a:ext>
            </a:extLst>
          </p:cNvPr>
          <p:cNvSpPr/>
          <p:nvPr/>
        </p:nvSpPr>
        <p:spPr>
          <a:xfrm>
            <a:off x="1050551" y="2893185"/>
            <a:ext cx="9954334" cy="3018520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dirty="0">
              <a:latin typeface="OPPOSans M" panose="00020600040101010101" pitchFamily="18" charset="-122"/>
              <a:ea typeface="OPPOSans M" panose="00020600040101010101" pitchFamily="18" charset="-122"/>
              <a:sym typeface="+mn-ea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1CAF19E-325F-941D-0F24-8E18141CD1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/>
              <a:pPr/>
              <a:t>35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4682776A-6F42-4D40-D091-13201CEBC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删除</a:t>
            </a:r>
            <a:r>
              <a:rPr kumimoji="1"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</a:p>
        </p:txBody>
      </p:sp>
      <p:sp>
        <p:nvSpPr>
          <p:cNvPr id="5" name="内容占位符 3">
            <a:extLst>
              <a:ext uri="{FF2B5EF4-FFF2-40B4-BE49-F238E27FC236}">
                <a16:creationId xmlns:a16="http://schemas.microsoft.com/office/drawing/2014/main" id="{CB50C393-B7DE-DF2F-683F-F1F60761CA0B}"/>
              </a:ext>
            </a:extLst>
          </p:cNvPr>
          <p:cNvSpPr txBox="1">
            <a:spLocks/>
          </p:cNvSpPr>
          <p:nvPr/>
        </p:nvSpPr>
        <p:spPr bwMode="auto">
          <a:xfrm>
            <a:off x="1050551" y="989483"/>
            <a:ext cx="11734800" cy="1554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16531" indent="-31653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charset="2"/>
              <a:buChar char="p"/>
              <a:defRPr kumimoji="1" sz="3200" b="0">
                <a:solidFill>
                  <a:schemeClr val="tx1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  <a:cs typeface="Arial"/>
              </a:defRPr>
            </a:lvl1pPr>
            <a:lvl2pPr marL="685817" indent="-263776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800" b="0">
                <a:solidFill>
                  <a:schemeClr val="tx1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  <a:cs typeface="Arial"/>
              </a:defRPr>
            </a:lvl2pPr>
            <a:lvl3pPr marL="1055103" indent="-211021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400" b="0">
                <a:solidFill>
                  <a:schemeClr val="tx1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  <a:cs typeface="Arial"/>
              </a:defRPr>
            </a:lvl3pPr>
            <a:lvl4pPr marL="1477145" indent="-211021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846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imHei" panose="02010609060101010101" pitchFamily="49" charset="-122"/>
                <a:ea typeface="SimHei" panose="02010609060101010101" pitchFamily="49" charset="-122"/>
              </a:defRPr>
            </a:lvl4pPr>
            <a:lvl5pPr marL="1899186" indent="-21102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46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imHei" panose="02010609060101010101" pitchFamily="49" charset="-122"/>
                <a:ea typeface="SimHei" panose="02010609060101010101" pitchFamily="49" charset="-122"/>
              </a:defRPr>
            </a:lvl5pPr>
            <a:lvl6pPr marL="2321227" indent="-21102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46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6pPr>
            <a:lvl7pPr marL="2743269" indent="-21102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46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7pPr>
            <a:lvl8pPr marL="3165310" indent="-21102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46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8pPr>
            <a:lvl9pPr marL="3587351" indent="-21102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46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kern="0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父节点发生下溢出，同样方法进行解决</a:t>
            </a:r>
            <a:endParaRPr lang="en-US" altLang="zh-CN" sz="2400" b="1" kern="0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此处为从兄弟节点借入节点</a:t>
            </a:r>
            <a:endParaRPr lang="en-US" altLang="zh-CN" sz="2000" kern="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728D1E3-1F25-DD03-8EF4-15E83B633B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8755" y="3165297"/>
            <a:ext cx="9256486" cy="2474507"/>
          </a:xfrm>
          <a:prstGeom prst="rect">
            <a:avLst/>
          </a:prstGeom>
        </p:spPr>
      </p:pic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C8B6304-8318-8D3C-1EC0-E2E19E6BF6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数据库系统</a:t>
            </a:r>
            <a:r>
              <a:rPr lang="en-US" altLang="zh-CN"/>
              <a:t>—</a:t>
            </a:r>
            <a:r>
              <a:rPr lang="zh-CN" altLang="en-US"/>
              <a:t>索引</a:t>
            </a:r>
            <a:endParaRPr lang="en-US" altLang="zh-CN" sz="1200" dirty="0"/>
          </a:p>
        </p:txBody>
      </p:sp>
    </p:spTree>
    <p:extLst>
      <p:ext uri="{BB962C8B-B14F-4D97-AF65-F5344CB8AC3E}">
        <p14:creationId xmlns:p14="http://schemas.microsoft.com/office/powerpoint/2010/main" val="16214284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18">
            <a:extLst>
              <a:ext uri="{FF2B5EF4-FFF2-40B4-BE49-F238E27FC236}">
                <a16:creationId xmlns:a16="http://schemas.microsoft.com/office/drawing/2014/main" id="{5EE32D71-8EA8-4F51-9A4D-483CE4767E95}"/>
              </a:ext>
            </a:extLst>
          </p:cNvPr>
          <p:cNvSpPr/>
          <p:nvPr/>
        </p:nvSpPr>
        <p:spPr>
          <a:xfrm>
            <a:off x="3015427" y="1172238"/>
            <a:ext cx="6286222" cy="4566412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dirty="0">
              <a:latin typeface="OPPOSans M" panose="00020600040101010101" pitchFamily="18" charset="-122"/>
              <a:ea typeface="OPPOSans M" panose="00020600040101010101" pitchFamily="18" charset="-122"/>
              <a:sym typeface="+mn-ea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3C35F35-0D0B-BDBC-478B-23D7223FD1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36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C01FBE5-2997-DA5A-E679-2665D9279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目录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6F1E561-F548-2140-CB4E-A81D3F2686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12400" y="1447238"/>
            <a:ext cx="5807946" cy="419169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索引概述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B+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树索引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zh-CN" sz="2400" b="1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B+</a:t>
            </a:r>
            <a:r>
              <a:rPr lang="zh-CN" altLang="en-US" sz="2400" b="1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树并发控制</a:t>
            </a:r>
            <a:endParaRPr lang="en-US" altLang="zh-CN" sz="2400" b="1" dirty="0">
              <a:solidFill>
                <a:srgbClr val="6F1787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哈希索引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SkipList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跳表索引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LSM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树索引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位图索引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多维索引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0" indent="0">
              <a:buNone/>
            </a:pP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     ——R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树、</a:t>
            </a: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KD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树、</a:t>
            </a: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Quadtree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、</a:t>
            </a: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Z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曲线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F725F9-5EC3-90CE-2C91-413426E802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8388149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18">
            <a:extLst>
              <a:ext uri="{FF2B5EF4-FFF2-40B4-BE49-F238E27FC236}">
                <a16:creationId xmlns:a16="http://schemas.microsoft.com/office/drawing/2014/main" id="{5357BDE3-35E1-4107-A962-3E6CC86DD839}"/>
              </a:ext>
            </a:extLst>
          </p:cNvPr>
          <p:cNvSpPr/>
          <p:nvPr/>
        </p:nvSpPr>
        <p:spPr>
          <a:xfrm>
            <a:off x="3357377" y="1250082"/>
            <a:ext cx="5319242" cy="4420955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dirty="0">
              <a:latin typeface="OPPOSans M" panose="00020600040101010101" pitchFamily="18" charset="-122"/>
              <a:ea typeface="OPPOSans M" panose="00020600040101010101" pitchFamily="18" charset="-122"/>
              <a:sym typeface="+mn-ea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3C35F35-0D0B-BDBC-478B-23D7223FD1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37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C01FBE5-2997-DA5A-E679-2665D9279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目录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6F1E561-F548-2140-CB4E-A81D3F2686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0" y="1350214"/>
            <a:ext cx="5319242" cy="5226533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 startAt="3"/>
            </a:pPr>
            <a:r>
              <a:rPr lang="en-US" altLang="zh-CN" sz="28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B+</a:t>
            </a:r>
            <a:r>
              <a:rPr lang="zh-CN" altLang="en-US" sz="28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树并发控制</a:t>
            </a:r>
            <a:endParaRPr lang="en-US" altLang="zh-CN" sz="28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闩锁耦合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zh-CN" altLang="en-US" sz="1800" dirty="0">
                <a:latin typeface="微软雅黑" panose="020B0503020204020204" pitchFamily="82" charset="2"/>
                <a:ea typeface="微软雅黑" panose="020B0503020204020204" pitchFamily="82" charset="2"/>
              </a:rPr>
              <a:t>自上而下：孩子安全后释放祖先锁</a:t>
            </a:r>
            <a:endParaRPr lang="en-US" altLang="zh-CN" sz="18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zh-CN" altLang="en-US" sz="1800" dirty="0">
                <a:latin typeface="微软雅黑" panose="020B0503020204020204" pitchFamily="82" charset="2"/>
                <a:ea typeface="微软雅黑" panose="020B0503020204020204" pitchFamily="82" charset="2"/>
              </a:rPr>
              <a:t>乐观自下而上</a:t>
            </a:r>
            <a:endParaRPr lang="en-US" altLang="zh-CN" sz="18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B-link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树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zh-CN" altLang="en-US" sz="1800" dirty="0">
                <a:latin typeface="微软雅黑" panose="020B0503020204020204" pitchFamily="82" charset="2"/>
                <a:ea typeface="微软雅黑" panose="020B0503020204020204" pitchFamily="82" charset="2"/>
              </a:rPr>
              <a:t>最多锁三个节点</a:t>
            </a:r>
            <a:endParaRPr lang="en-US" altLang="zh-CN" sz="18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Bw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树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zh-CN" altLang="en-US" sz="1800" dirty="0">
                <a:latin typeface="微软雅黑" panose="020B0503020204020204" pitchFamily="82" charset="2"/>
                <a:ea typeface="微软雅黑" panose="020B0503020204020204" pitchFamily="82" charset="2"/>
              </a:rPr>
              <a:t>无锁结构</a:t>
            </a:r>
            <a:endParaRPr lang="en-US" altLang="zh-CN" sz="18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zh-CN" altLang="en-US" sz="1800" dirty="0">
                <a:latin typeface="微软雅黑" panose="020B0503020204020204" pitchFamily="82" charset="2"/>
                <a:ea typeface="微软雅黑" panose="020B0503020204020204" pitchFamily="82" charset="2"/>
              </a:rPr>
              <a:t>原位更新</a:t>
            </a:r>
            <a:r>
              <a:rPr lang="en-US" altLang="zh-CN" sz="1800" dirty="0">
                <a:latin typeface="微软雅黑" panose="020B0503020204020204" pitchFamily="82" charset="2"/>
                <a:ea typeface="微软雅黑" panose="020B0503020204020204" pitchFamily="82" charset="2"/>
                <a:sym typeface="Wingdings" pitchFamily="2" charset="2"/>
              </a:rPr>
              <a:t></a:t>
            </a:r>
            <a:r>
              <a:rPr lang="zh-CN" altLang="en-US" sz="1800" dirty="0">
                <a:latin typeface="微软雅黑" panose="020B0503020204020204" pitchFamily="82" charset="2"/>
                <a:ea typeface="微软雅黑" panose="020B0503020204020204" pitchFamily="82" charset="2"/>
                <a:sym typeface="Wingdings" pitchFamily="2" charset="2"/>
              </a:rPr>
              <a:t>异步合并更新</a:t>
            </a:r>
            <a:endParaRPr lang="en-US" altLang="zh-CN" sz="18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A179B2-34D5-9E02-793B-4011A6E0C8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76440089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18">
            <a:extLst>
              <a:ext uri="{FF2B5EF4-FFF2-40B4-BE49-F238E27FC236}">
                <a16:creationId xmlns:a16="http://schemas.microsoft.com/office/drawing/2014/main" id="{44746027-1D5F-47AD-BBE7-B3B7766FE3B1}"/>
              </a:ext>
            </a:extLst>
          </p:cNvPr>
          <p:cNvSpPr/>
          <p:nvPr/>
        </p:nvSpPr>
        <p:spPr>
          <a:xfrm>
            <a:off x="1464959" y="2815770"/>
            <a:ext cx="9850742" cy="3585029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dirty="0">
              <a:latin typeface="OPPOSans M" panose="00020600040101010101" pitchFamily="18" charset="-122"/>
              <a:ea typeface="OPPOSans M" panose="00020600040101010101" pitchFamily="18" charset="-122"/>
              <a:sym typeface="+mn-ea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3BC543B-9566-4B60-52E5-B7BB349416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38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2B1DA71-7FA3-FADF-F025-58997BA0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B+</a:t>
            </a:r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树并发操作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CE2E51F-F541-A428-4A4D-EF1C63125C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900" y="961128"/>
            <a:ext cx="10874188" cy="2303461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kumimoji="1" lang="zh-CN" altLang="en-US" sz="28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若</a:t>
            </a:r>
            <a:r>
              <a:rPr kumimoji="1" lang="en-US" altLang="zh-CN" sz="28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B+</a:t>
            </a:r>
            <a:r>
              <a:rPr lang="zh-CN" altLang="en-US" sz="28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树结构不发生变化</a:t>
            </a:r>
            <a:endParaRPr lang="en-US" altLang="zh-CN" sz="28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查找操作（读操作）可以并行进行</a:t>
            </a:r>
            <a:endParaRPr kumimoji="1"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若</a:t>
            </a:r>
            <a:r>
              <a:rPr lang="en-US" altLang="zh-CN" sz="28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B+</a:t>
            </a:r>
            <a:r>
              <a:rPr lang="zh-CN" altLang="en-US" sz="28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树结构发生变化</a:t>
            </a:r>
            <a:endParaRPr lang="en-US" altLang="zh-CN" sz="28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读（查找）写（插入）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同时进行，则可能发生错误：读写不一致、节点分裂找不到数据</a:t>
            </a:r>
            <a:endParaRPr kumimoji="1" lang="zh-CN" altLang="en-US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352A3FE-0154-CD3C-4BE7-1CBB78A684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2779" y="2953056"/>
            <a:ext cx="8490857" cy="3268844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42B17AAB-A4C8-9EA4-67C0-96117A9D91F3}"/>
              </a:ext>
            </a:extLst>
          </p:cNvPr>
          <p:cNvSpPr txBox="1"/>
          <p:nvPr/>
        </p:nvSpPr>
        <p:spPr>
          <a:xfrm>
            <a:off x="4910014" y="3086080"/>
            <a:ext cx="1220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进程</a:t>
            </a:r>
            <a:r>
              <a:rPr kumimoji="1" lang="en-US" altLang="zh-CN" sz="1400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1</a:t>
            </a:r>
            <a:r>
              <a:rPr kumimoji="1" lang="zh-CN" altLang="en-US" sz="1400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查找</a:t>
            </a:r>
            <a:r>
              <a:rPr kumimoji="1" lang="en-US" altLang="zh-CN" sz="1400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27</a:t>
            </a:r>
            <a:endParaRPr kumimoji="1" lang="zh-CN" altLang="en-US" sz="1400" dirty="0">
              <a:solidFill>
                <a:srgbClr val="6F1787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E46BF0D-1FA5-0817-7B63-3902219A1629}"/>
              </a:ext>
            </a:extLst>
          </p:cNvPr>
          <p:cNvSpPr txBox="1"/>
          <p:nvPr/>
        </p:nvSpPr>
        <p:spPr>
          <a:xfrm>
            <a:off x="3601914" y="3554378"/>
            <a:ext cx="17107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进程</a:t>
            </a:r>
            <a:r>
              <a:rPr kumimoji="1" lang="en-US" altLang="zh-CN" sz="1400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1</a:t>
            </a:r>
            <a:r>
              <a:rPr kumimoji="1" lang="zh-CN" altLang="en-US" sz="1400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沿此路径查找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FC6F72D-EBDD-E85D-3BEB-9DF69CF98225}"/>
              </a:ext>
            </a:extLst>
          </p:cNvPr>
          <p:cNvSpPr txBox="1"/>
          <p:nvPr/>
        </p:nvSpPr>
        <p:spPr>
          <a:xfrm>
            <a:off x="2407586" y="4542141"/>
            <a:ext cx="25234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>
                <a:solidFill>
                  <a:srgbClr val="FF0000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进程</a:t>
            </a:r>
            <a:r>
              <a:rPr kumimoji="1" lang="en-US" altLang="zh-CN" sz="1400" dirty="0">
                <a:solidFill>
                  <a:srgbClr val="FF0000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2</a:t>
            </a:r>
            <a:r>
              <a:rPr kumimoji="1" lang="zh-CN" altLang="en-US" sz="1400" dirty="0">
                <a:solidFill>
                  <a:srgbClr val="FF0000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插入</a:t>
            </a:r>
            <a:r>
              <a:rPr kumimoji="1" lang="en-US" altLang="zh-CN" sz="1400" dirty="0">
                <a:solidFill>
                  <a:srgbClr val="FF0000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35</a:t>
            </a:r>
            <a:r>
              <a:rPr kumimoji="1" lang="zh-CN" altLang="en-US" sz="1400" dirty="0">
                <a:solidFill>
                  <a:srgbClr val="FF0000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，发生节点分裂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7A79A1A-0A6B-7410-6F62-A9C38CE49B2B}"/>
              </a:ext>
            </a:extLst>
          </p:cNvPr>
          <p:cNvSpPr txBox="1"/>
          <p:nvPr/>
        </p:nvSpPr>
        <p:spPr>
          <a:xfrm>
            <a:off x="2250262" y="5449164"/>
            <a:ext cx="13997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进程</a:t>
            </a:r>
            <a:r>
              <a:rPr kumimoji="1" lang="en-US" altLang="zh-CN" sz="1400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1</a:t>
            </a:r>
            <a:r>
              <a:rPr kumimoji="1" lang="zh-CN" altLang="en-US" sz="1400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找不到</a:t>
            </a:r>
            <a:r>
              <a:rPr kumimoji="1" lang="en-US" altLang="zh-CN" sz="1400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27</a:t>
            </a:r>
            <a:endParaRPr kumimoji="1" lang="zh-CN" altLang="en-US" sz="1400" dirty="0">
              <a:solidFill>
                <a:srgbClr val="6F1787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AB19D67-00A9-9367-C041-8CF2314C2A05}"/>
              </a:ext>
            </a:extLst>
          </p:cNvPr>
          <p:cNvSpPr txBox="1"/>
          <p:nvPr/>
        </p:nvSpPr>
        <p:spPr>
          <a:xfrm>
            <a:off x="3832796" y="4940902"/>
            <a:ext cx="2249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>
                <a:solidFill>
                  <a:srgbClr val="FF0000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进程</a:t>
            </a:r>
            <a:r>
              <a:rPr kumimoji="1" lang="en-US" altLang="zh-CN" sz="1400" dirty="0">
                <a:solidFill>
                  <a:srgbClr val="FF0000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2</a:t>
            </a:r>
            <a:r>
              <a:rPr kumimoji="1" lang="zh-CN" altLang="en-US" sz="1400" dirty="0">
                <a:solidFill>
                  <a:srgbClr val="FF0000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先完成了叶节点分裂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EAE5385-2649-EBEC-E188-D065DC7D23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90567" y="6548437"/>
            <a:ext cx="3852862" cy="309563"/>
          </a:xfrm>
        </p:spPr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0525644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39">
            <a:extLst>
              <a:ext uri="{FF2B5EF4-FFF2-40B4-BE49-F238E27FC236}">
                <a16:creationId xmlns:a16="http://schemas.microsoft.com/office/drawing/2014/main" id="{168FC396-71A5-4E9A-91B4-9C546BA07118}"/>
              </a:ext>
            </a:extLst>
          </p:cNvPr>
          <p:cNvSpPr/>
          <p:nvPr/>
        </p:nvSpPr>
        <p:spPr bwMode="auto">
          <a:xfrm>
            <a:off x="536895" y="1096771"/>
            <a:ext cx="11199303" cy="5194972"/>
          </a:xfrm>
          <a:custGeom>
            <a:avLst/>
            <a:gdLst>
              <a:gd name="connsiteX0" fmla="*/ 0 w 6810034"/>
              <a:gd name="connsiteY0" fmla="*/ 0 h 678471"/>
              <a:gd name="connsiteX1" fmla="*/ 6810034 w 6810034"/>
              <a:gd name="connsiteY1" fmla="*/ 0 h 678471"/>
              <a:gd name="connsiteX2" fmla="*/ 6810034 w 6810034"/>
              <a:gd name="connsiteY2" fmla="*/ 678471 h 678471"/>
              <a:gd name="connsiteX3" fmla="*/ 0 w 6810034"/>
              <a:gd name="connsiteY3" fmla="*/ 678471 h 678471"/>
              <a:gd name="connsiteX4" fmla="*/ 0 w 6810034"/>
              <a:gd name="connsiteY4" fmla="*/ 0 h 678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10034" h="678471">
                <a:moveTo>
                  <a:pt x="0" y="0"/>
                </a:moveTo>
                <a:lnTo>
                  <a:pt x="6810034" y="0"/>
                </a:lnTo>
                <a:lnTo>
                  <a:pt x="6810034" y="678471"/>
                </a:lnTo>
                <a:lnTo>
                  <a:pt x="0" y="678471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6F1787">
                  <a:alpha val="20000"/>
                </a:srgbClr>
              </a:gs>
              <a:gs pos="100000">
                <a:srgbClr val="6F1787">
                  <a:alpha val="20000"/>
                </a:srgbClr>
              </a:gs>
              <a:gs pos="48000">
                <a:schemeClr val="bg1">
                  <a:alpha val="0"/>
                </a:schemeClr>
              </a:gs>
            </a:gsLst>
            <a:lin ang="13500000" scaled="0"/>
          </a:gra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华文楷体" pitchFamily="2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3BC543B-9566-4B60-52E5-B7BB349416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39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2B1DA71-7FA3-FADF-F025-58997BA0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B+</a:t>
            </a:r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树并发处理：</a:t>
            </a:r>
            <a:r>
              <a:rPr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闩锁耦合</a:t>
            </a:r>
            <a:endParaRPr kumimoji="1" lang="zh-CN" altLang="en-US" sz="36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CE2E51F-F541-A428-4A4D-EF1C63125C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047" y="1044748"/>
            <a:ext cx="11634537" cy="5391608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kumimoji="1"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自顶向下加锁（自根向叶子节点）</a:t>
            </a:r>
            <a:endParaRPr kumimoji="1"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kumimoji="1"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如果子节点安全，则可以释放其祖先节点的锁</a:t>
            </a:r>
            <a:endParaRPr kumimoji="1"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节点安全：该节点及以上结构不会因此操作发生变化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2">
              <a:lnSpc>
                <a:spcPct val="150000"/>
              </a:lnSpc>
              <a:spcBef>
                <a:spcPts val="0"/>
              </a:spcBef>
              <a:buSzPct val="50000"/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插入操作时：未满的节点是安全的；溢出不安全</a:t>
            </a:r>
            <a:endParaRPr lang="en-US" altLang="zh-CN" sz="2000" dirty="0">
              <a:solidFill>
                <a:srgbClr val="6F1787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2">
              <a:lnSpc>
                <a:spcPct val="150000"/>
              </a:lnSpc>
              <a:spcBef>
                <a:spcPts val="0"/>
              </a:spcBef>
              <a:buSzPct val="50000"/>
              <a:buFont typeface="Wingdings" panose="05000000000000000000" pitchFamily="2" charset="2"/>
              <a:buChar char="p"/>
            </a:pPr>
            <a:r>
              <a:rPr kumimoji="1" lang="zh-CN" altLang="en-US" sz="2000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删除操作时：多于半满的节点是安全的；下溢（少于半满）不安全</a:t>
            </a:r>
            <a:endParaRPr kumimoji="1" lang="en-US" altLang="zh-CN" sz="2000" dirty="0">
              <a:solidFill>
                <a:srgbClr val="6F1787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2">
              <a:lnSpc>
                <a:spcPct val="150000"/>
              </a:lnSpc>
              <a:spcBef>
                <a:spcPts val="0"/>
              </a:spcBef>
              <a:buSzPct val="50000"/>
              <a:buFont typeface="Wingdings" panose="05000000000000000000" pitchFamily="2" charset="2"/>
              <a:buChar char="p"/>
            </a:pPr>
            <a:r>
              <a:rPr kumimoji="1" lang="zh-CN" altLang="en-US" sz="2000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查找操作时：不会改变结构，一定是安全节点</a:t>
            </a:r>
            <a:endParaRPr kumimoji="1" lang="en-US" altLang="zh-CN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读操作：加共享</a:t>
            </a:r>
            <a:r>
              <a:rPr lang="en-US" altLang="zh-CN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S(</a:t>
            </a: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闩</a:t>
            </a:r>
            <a:r>
              <a:rPr lang="en-US" altLang="zh-CN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)</a:t>
            </a: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锁；写操作：加互斥</a:t>
            </a:r>
            <a:r>
              <a:rPr lang="en-US" altLang="zh-CN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X(</a:t>
            </a: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闩</a:t>
            </a:r>
            <a:r>
              <a:rPr lang="en-US" altLang="zh-CN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)</a:t>
            </a: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锁</a:t>
            </a:r>
            <a:endParaRPr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kumimoji="1"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读者</a:t>
            </a:r>
            <a:r>
              <a:rPr kumimoji="1"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-</a:t>
            </a:r>
            <a:r>
              <a:rPr kumimoji="1"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写者模型</a:t>
            </a:r>
            <a:endParaRPr kumimoji="1"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kumimoji="1"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读者之间可以并发访问；在没有读者时写者才能访问；写者之间互斥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8AFCF1-4F15-2C2D-EBC9-6D2BFACCE1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0550205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18">
            <a:extLst>
              <a:ext uri="{FF2B5EF4-FFF2-40B4-BE49-F238E27FC236}">
                <a16:creationId xmlns:a16="http://schemas.microsoft.com/office/drawing/2014/main" id="{19381677-C7E2-4770-BA75-43816CB9FC79}"/>
              </a:ext>
            </a:extLst>
          </p:cNvPr>
          <p:cNvSpPr/>
          <p:nvPr/>
        </p:nvSpPr>
        <p:spPr>
          <a:xfrm>
            <a:off x="1458000" y="2356789"/>
            <a:ext cx="9314797" cy="4044012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dirty="0">
              <a:latin typeface="OPPOSans M" panose="00020600040101010101" pitchFamily="18" charset="-122"/>
              <a:ea typeface="OPPOSans M" panose="00020600040101010101" pitchFamily="18" charset="-122"/>
              <a:sym typeface="+mn-ea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3BC543B-9566-4B60-52E5-B7BB349416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40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2B1DA71-7FA3-FADF-F025-58997BA0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闩锁耦合</a:t>
            </a:r>
            <a:endParaRPr kumimoji="1" lang="zh-CN" altLang="en-US" sz="36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CE2E51F-F541-A428-4A4D-EF1C63125C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8000" y="1125537"/>
            <a:ext cx="9489233" cy="1043155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1"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查找操作加锁过程</a:t>
            </a:r>
            <a:endParaRPr kumimoji="1"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进程</a:t>
            </a:r>
            <a:r>
              <a:rPr kumimoji="1"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1</a:t>
            </a:r>
            <a:r>
              <a:rPr kumimoji="1"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查找</a:t>
            </a:r>
            <a:r>
              <a:rPr kumimoji="1"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27</a:t>
            </a:r>
            <a:r>
              <a:rPr kumimoji="1"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，沿路径释放父节点锁，对子节点加锁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192936D-C388-9776-3B2D-3D95F0A17E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037" y="2556447"/>
            <a:ext cx="7477822" cy="1768564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506DA0CF-50F4-633D-A091-00A2763AAA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3037" y="4620442"/>
            <a:ext cx="7465952" cy="1531173"/>
          </a:xfrm>
          <a:prstGeom prst="rect">
            <a:avLst/>
          </a:prstGeom>
        </p:spPr>
      </p:pic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C3DA093-B136-E8AC-EC31-ACDFD1782A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6026606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18">
            <a:extLst>
              <a:ext uri="{FF2B5EF4-FFF2-40B4-BE49-F238E27FC236}">
                <a16:creationId xmlns:a16="http://schemas.microsoft.com/office/drawing/2014/main" id="{71912817-6BE0-44FB-AD12-4CC4BC2F1BB2}"/>
              </a:ext>
            </a:extLst>
          </p:cNvPr>
          <p:cNvSpPr/>
          <p:nvPr/>
        </p:nvSpPr>
        <p:spPr>
          <a:xfrm>
            <a:off x="1564192" y="3280230"/>
            <a:ext cx="9436054" cy="2733708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dirty="0">
              <a:latin typeface="OPPOSans M" panose="00020600040101010101" pitchFamily="18" charset="-122"/>
              <a:ea typeface="OPPOSans M" panose="00020600040101010101" pitchFamily="18" charset="-122"/>
              <a:sym typeface="+mn-ea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3BC543B-9566-4B60-52E5-B7BB349416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41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2B1DA71-7FA3-FADF-F025-58997BA0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闩锁耦合</a:t>
            </a:r>
            <a:endParaRPr kumimoji="1" lang="zh-CN" altLang="en-US" sz="36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CE2E51F-F541-A428-4A4D-EF1C63125C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8000" y="1126800"/>
            <a:ext cx="9489233" cy="2122037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修改（插入</a:t>
            </a:r>
            <a:r>
              <a:rPr lang="en-US" altLang="zh-CN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/</a:t>
            </a: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删除）</a:t>
            </a:r>
            <a:r>
              <a:rPr kumimoji="1"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操作加锁过程</a:t>
            </a:r>
            <a:endParaRPr kumimoji="1"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进程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2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删除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86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kumimoji="1"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对根节点加</a:t>
            </a:r>
            <a:r>
              <a:rPr kumimoji="1"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X</a:t>
            </a:r>
            <a:r>
              <a:rPr kumimoji="1"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锁，对子节点加</a:t>
            </a:r>
            <a:r>
              <a:rPr kumimoji="1"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X</a:t>
            </a:r>
            <a:r>
              <a:rPr kumimoji="1"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锁</a:t>
            </a:r>
            <a:endParaRPr kumimoji="1"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子节点不安全，继续向下加锁</a:t>
            </a:r>
            <a:endParaRPr kumimoji="1"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/>
            <a:endParaRPr kumimoji="1" lang="en-US" altLang="zh-CN" sz="3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6A72F0A-858D-4E2D-6C68-4325C46DC5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1552" y="3541914"/>
            <a:ext cx="8423870" cy="197225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9CC326C5-DB0C-660A-7D89-2E3964207677}"/>
              </a:ext>
            </a:extLst>
          </p:cNvPr>
          <p:cNvSpPr txBox="1"/>
          <p:nvPr/>
        </p:nvSpPr>
        <p:spPr>
          <a:xfrm>
            <a:off x="7487170" y="3847489"/>
            <a:ext cx="1220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>
                <a:solidFill>
                  <a:srgbClr val="3B20FF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进程</a:t>
            </a:r>
            <a:r>
              <a:rPr kumimoji="1" lang="en-US" altLang="zh-CN" sz="1400" dirty="0">
                <a:solidFill>
                  <a:srgbClr val="3B20FF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2</a:t>
            </a:r>
            <a:r>
              <a:rPr kumimoji="1" lang="zh-CN" altLang="en-US" sz="1400" dirty="0">
                <a:solidFill>
                  <a:srgbClr val="3B20FF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删除</a:t>
            </a:r>
            <a:r>
              <a:rPr kumimoji="1" lang="en-US" altLang="zh-CN" sz="1400" dirty="0">
                <a:solidFill>
                  <a:srgbClr val="3B20FF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86</a:t>
            </a:r>
            <a:endParaRPr kumimoji="1" lang="zh-CN" altLang="en-US" sz="1400" dirty="0">
              <a:solidFill>
                <a:srgbClr val="3B20FF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1A48F23-E359-C0C9-A139-1A5E29EEDE2C}"/>
              </a:ext>
            </a:extLst>
          </p:cNvPr>
          <p:cNvSpPr txBox="1"/>
          <p:nvPr/>
        </p:nvSpPr>
        <p:spPr>
          <a:xfrm>
            <a:off x="9095620" y="4458056"/>
            <a:ext cx="18004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>
                <a:solidFill>
                  <a:srgbClr val="3B20FF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节点不安全</a:t>
            </a:r>
            <a:endParaRPr kumimoji="1" lang="en-US" altLang="zh-CN" sz="1400" dirty="0">
              <a:solidFill>
                <a:srgbClr val="3B20FF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kumimoji="1" lang="zh-CN" altLang="en-US" sz="1400" dirty="0">
                <a:solidFill>
                  <a:srgbClr val="3B20FF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无法释放祖先节点锁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E49F4A-5B4E-2955-B90C-F9155DD9CF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18298170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18">
            <a:extLst>
              <a:ext uri="{FF2B5EF4-FFF2-40B4-BE49-F238E27FC236}">
                <a16:creationId xmlns:a16="http://schemas.microsoft.com/office/drawing/2014/main" id="{EF66A325-EA3F-4725-B152-0E123F1136B9}"/>
              </a:ext>
            </a:extLst>
          </p:cNvPr>
          <p:cNvSpPr/>
          <p:nvPr/>
        </p:nvSpPr>
        <p:spPr>
          <a:xfrm>
            <a:off x="1458000" y="3518196"/>
            <a:ext cx="9552372" cy="2749018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dirty="0">
              <a:latin typeface="微软雅黑" panose="020B0503020204020204" pitchFamily="82" charset="2"/>
              <a:ea typeface="微软雅黑" panose="020B0503020204020204" pitchFamily="82" charset="2"/>
              <a:sym typeface="+mn-ea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3BC543B-9566-4B60-52E5-B7BB349416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42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2B1DA71-7FA3-FADF-F025-58997BA0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闩锁耦合</a:t>
            </a:r>
            <a:endParaRPr kumimoji="1" lang="zh-CN" altLang="en-US" sz="36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CE2E51F-F541-A428-4A4D-EF1C63125C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8000" y="1125537"/>
            <a:ext cx="9489233" cy="2694366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修改（插入</a:t>
            </a:r>
            <a:r>
              <a:rPr lang="en-US" altLang="zh-CN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/</a:t>
            </a: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删除）</a:t>
            </a:r>
            <a:r>
              <a:rPr kumimoji="1"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操作加锁过程</a:t>
            </a:r>
            <a:endParaRPr kumimoji="1"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进程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2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删除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86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kumimoji="1"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对根节点加</a:t>
            </a:r>
            <a:r>
              <a:rPr kumimoji="1"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X</a:t>
            </a:r>
            <a:r>
              <a:rPr kumimoji="1"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锁，对子节点加</a:t>
            </a:r>
            <a:r>
              <a:rPr kumimoji="1"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X</a:t>
            </a:r>
            <a:r>
              <a:rPr kumimoji="1"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锁</a:t>
            </a:r>
            <a:endParaRPr kumimoji="1"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子节点不安全，继续向下加锁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kumimoji="1"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叶子节点安全，可以释放祖先节点的锁</a:t>
            </a:r>
            <a:endParaRPr kumimoji="1"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/>
            <a:endParaRPr kumimoji="1" lang="en-US" altLang="zh-CN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1F647EAD-6373-56AA-E0E0-62C73765B9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372" y="3984216"/>
            <a:ext cx="7732697" cy="179348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ADD8CE2D-B689-EACA-347B-F11CC30C00BE}"/>
              </a:ext>
            </a:extLst>
          </p:cNvPr>
          <p:cNvSpPr txBox="1"/>
          <p:nvPr/>
        </p:nvSpPr>
        <p:spPr>
          <a:xfrm>
            <a:off x="9304782" y="5281585"/>
            <a:ext cx="17055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>
                <a:solidFill>
                  <a:srgbClr val="3B20FF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节点安全</a:t>
            </a:r>
            <a:endParaRPr kumimoji="1" lang="en-US" altLang="zh-CN" sz="1400" dirty="0">
              <a:solidFill>
                <a:srgbClr val="3B20FF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kumimoji="1" lang="zh-CN" altLang="en-US" sz="1400" dirty="0">
                <a:solidFill>
                  <a:srgbClr val="3B20FF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可释放祖先节点锁</a:t>
            </a:r>
            <a:endParaRPr kumimoji="1" lang="en-US" altLang="zh-CN" sz="1400" dirty="0">
              <a:solidFill>
                <a:srgbClr val="3B20FF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7B9F5D-90C7-4BB4-A956-8CBF3E1DBB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04789014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18">
            <a:extLst>
              <a:ext uri="{FF2B5EF4-FFF2-40B4-BE49-F238E27FC236}">
                <a16:creationId xmlns:a16="http://schemas.microsoft.com/office/drawing/2014/main" id="{FD61745C-B9AC-4DDC-8234-322BFD448167}"/>
              </a:ext>
            </a:extLst>
          </p:cNvPr>
          <p:cNvSpPr/>
          <p:nvPr/>
        </p:nvSpPr>
        <p:spPr>
          <a:xfrm>
            <a:off x="1573823" y="3280230"/>
            <a:ext cx="9891759" cy="2960914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dirty="0">
              <a:latin typeface="微软雅黑" panose="020B0503020204020204" pitchFamily="82" charset="2"/>
              <a:ea typeface="微软雅黑" panose="020B0503020204020204" pitchFamily="82" charset="2"/>
              <a:sym typeface="+mn-ea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3BC543B-9566-4B60-52E5-B7BB349416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43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2B1DA71-7FA3-FADF-F025-58997BA0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闩锁耦合</a:t>
            </a:r>
            <a:endParaRPr kumimoji="1" lang="zh-CN" altLang="en-US" sz="36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CE2E51F-F541-A428-4A4D-EF1C63125C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4444" y="788054"/>
            <a:ext cx="9489233" cy="2709484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修改（插入</a:t>
            </a:r>
            <a:r>
              <a:rPr lang="en-US" altLang="zh-CN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/</a:t>
            </a: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删除）</a:t>
            </a:r>
            <a:r>
              <a:rPr kumimoji="1"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操作加锁过程</a:t>
            </a:r>
            <a:endParaRPr kumimoji="1"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进程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2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删除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86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kumimoji="1"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对根节点加</a:t>
            </a:r>
            <a:r>
              <a:rPr kumimoji="1"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X</a:t>
            </a:r>
            <a:r>
              <a:rPr kumimoji="1"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锁，对子节点加</a:t>
            </a:r>
            <a:r>
              <a:rPr kumimoji="1"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X</a:t>
            </a:r>
            <a:r>
              <a:rPr kumimoji="1"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锁</a:t>
            </a:r>
            <a:endParaRPr kumimoji="1"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子节点不安全，继续向下加锁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叶子节点安全，可以释放祖先节点的锁</a:t>
            </a:r>
            <a:endParaRPr kumimoji="1"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/>
            <a:endParaRPr kumimoji="1" lang="en-US" altLang="zh-CN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A2F1CC7-08ED-6767-A756-F15E3716B4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6098" y="4274827"/>
            <a:ext cx="7641123" cy="155503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01767AF5-792B-CD3D-5F74-65C768A517B5}"/>
              </a:ext>
            </a:extLst>
          </p:cNvPr>
          <p:cNvSpPr txBox="1"/>
          <p:nvPr/>
        </p:nvSpPr>
        <p:spPr>
          <a:xfrm>
            <a:off x="9827822" y="5295587"/>
            <a:ext cx="16377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>
                <a:solidFill>
                  <a:srgbClr val="3B20FF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节点安全</a:t>
            </a:r>
            <a:endParaRPr kumimoji="1" lang="en-US" altLang="zh-CN" sz="1400" dirty="0">
              <a:solidFill>
                <a:srgbClr val="3B20FF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kumimoji="1" lang="zh-CN" altLang="en-US" sz="1400" dirty="0">
                <a:solidFill>
                  <a:srgbClr val="3B20FF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可释放祖先节点锁</a:t>
            </a:r>
            <a:endParaRPr kumimoji="1" lang="en-US" altLang="zh-CN" sz="1400" dirty="0">
              <a:solidFill>
                <a:srgbClr val="3B20FF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D9B73E0-44AD-D867-2941-6CEE053FB5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61285153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18">
            <a:extLst>
              <a:ext uri="{FF2B5EF4-FFF2-40B4-BE49-F238E27FC236}">
                <a16:creationId xmlns:a16="http://schemas.microsoft.com/office/drawing/2014/main" id="{158BD0B0-13C2-45D4-8844-10DC7856B018}"/>
              </a:ext>
            </a:extLst>
          </p:cNvPr>
          <p:cNvSpPr/>
          <p:nvPr/>
        </p:nvSpPr>
        <p:spPr>
          <a:xfrm>
            <a:off x="895969" y="2850368"/>
            <a:ext cx="10350100" cy="2877769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dirty="0">
              <a:latin typeface="微软雅黑" panose="020B0503020204020204" pitchFamily="82" charset="2"/>
              <a:ea typeface="微软雅黑" panose="020B0503020204020204" pitchFamily="82" charset="2"/>
              <a:sym typeface="+mn-ea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3C3C1AD7-F926-F8BE-CECD-F4114C0AA3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550" y="3462622"/>
            <a:ext cx="9995822" cy="1705448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3BC543B-9566-4B60-52E5-B7BB349416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44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2B1DA71-7FA3-FADF-F025-58997BA0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闩锁耦合存在的问题</a:t>
            </a:r>
            <a:endParaRPr kumimoji="1" lang="en-US" altLang="zh-CN" sz="36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CE2E51F-F541-A428-4A4D-EF1C63125C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0770" y="1025727"/>
            <a:ext cx="11591560" cy="1581568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闩锁耦合自上向下加锁，锁竞争严重，特别上层节点访问频繁</a:t>
            </a:r>
            <a:endParaRPr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进程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1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插入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28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，到达叶节点前都要对树根加锁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阻塞整棵树读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/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写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/>
            <a:endParaRPr kumimoji="1" lang="en-US" altLang="zh-CN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12" name="内容占位符 3">
            <a:extLst>
              <a:ext uri="{FF2B5EF4-FFF2-40B4-BE49-F238E27FC236}">
                <a16:creationId xmlns:a16="http://schemas.microsoft.com/office/drawing/2014/main" id="{537852A1-4C06-4800-0CAD-1619948BF5A1}"/>
              </a:ext>
            </a:extLst>
          </p:cNvPr>
          <p:cNvSpPr txBox="1">
            <a:spLocks/>
          </p:cNvSpPr>
          <p:nvPr/>
        </p:nvSpPr>
        <p:spPr bwMode="auto">
          <a:xfrm>
            <a:off x="457200" y="5281863"/>
            <a:ext cx="9865895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16531" indent="-31653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charset="2"/>
              <a:buChar char="p"/>
              <a:defRPr kumimoji="1" sz="3200" b="0">
                <a:solidFill>
                  <a:schemeClr val="tx1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  <a:cs typeface="Arial"/>
              </a:defRPr>
            </a:lvl1pPr>
            <a:lvl2pPr marL="685817" indent="-263776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800" b="0">
                <a:solidFill>
                  <a:schemeClr val="tx1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  <a:cs typeface="Arial"/>
              </a:defRPr>
            </a:lvl2pPr>
            <a:lvl3pPr marL="1055103" indent="-211021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400" b="0">
                <a:solidFill>
                  <a:schemeClr val="tx1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  <a:cs typeface="Arial"/>
              </a:defRPr>
            </a:lvl3pPr>
            <a:lvl4pPr marL="1477145" indent="-211021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846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imHei" panose="02010609060101010101" pitchFamily="49" charset="-122"/>
                <a:ea typeface="SimHei" panose="02010609060101010101" pitchFamily="49" charset="-122"/>
              </a:defRPr>
            </a:lvl4pPr>
            <a:lvl5pPr marL="1899186" indent="-21102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46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imHei" panose="02010609060101010101" pitchFamily="49" charset="-122"/>
                <a:ea typeface="SimHei" panose="02010609060101010101" pitchFamily="49" charset="-122"/>
              </a:defRPr>
            </a:lvl5pPr>
            <a:lvl6pPr marL="2321227" indent="-21102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46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6pPr>
            <a:lvl7pPr marL="2743269" indent="-21102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46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7pPr>
            <a:lvl8pPr marL="3165310" indent="-21102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46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8pPr>
            <a:lvl9pPr marL="3587351" indent="-21102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46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endParaRPr lang="en-US" altLang="zh-CN" kern="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50B081-6159-5A4F-E9FB-2CBADA43DD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14221667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: 形状 39">
            <a:extLst>
              <a:ext uri="{FF2B5EF4-FFF2-40B4-BE49-F238E27FC236}">
                <a16:creationId xmlns:a16="http://schemas.microsoft.com/office/drawing/2014/main" id="{168FC396-71A5-4E9A-91B4-9C546BA07118}"/>
              </a:ext>
            </a:extLst>
          </p:cNvPr>
          <p:cNvSpPr/>
          <p:nvPr/>
        </p:nvSpPr>
        <p:spPr bwMode="auto">
          <a:xfrm>
            <a:off x="605589" y="1024378"/>
            <a:ext cx="11390668" cy="5184396"/>
          </a:xfrm>
          <a:custGeom>
            <a:avLst/>
            <a:gdLst>
              <a:gd name="connsiteX0" fmla="*/ 0 w 6810034"/>
              <a:gd name="connsiteY0" fmla="*/ 0 h 678471"/>
              <a:gd name="connsiteX1" fmla="*/ 6810034 w 6810034"/>
              <a:gd name="connsiteY1" fmla="*/ 0 h 678471"/>
              <a:gd name="connsiteX2" fmla="*/ 6810034 w 6810034"/>
              <a:gd name="connsiteY2" fmla="*/ 678471 h 678471"/>
              <a:gd name="connsiteX3" fmla="*/ 0 w 6810034"/>
              <a:gd name="connsiteY3" fmla="*/ 678471 h 678471"/>
              <a:gd name="connsiteX4" fmla="*/ 0 w 6810034"/>
              <a:gd name="connsiteY4" fmla="*/ 0 h 678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10034" h="678471">
                <a:moveTo>
                  <a:pt x="0" y="0"/>
                </a:moveTo>
                <a:lnTo>
                  <a:pt x="6810034" y="0"/>
                </a:lnTo>
                <a:lnTo>
                  <a:pt x="6810034" y="678471"/>
                </a:lnTo>
                <a:lnTo>
                  <a:pt x="0" y="678471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6F1787">
                  <a:alpha val="20000"/>
                </a:srgbClr>
              </a:gs>
              <a:gs pos="100000">
                <a:srgbClr val="6F1787">
                  <a:alpha val="20000"/>
                </a:srgbClr>
              </a:gs>
              <a:gs pos="48000">
                <a:schemeClr val="bg1">
                  <a:alpha val="0"/>
                </a:schemeClr>
              </a:gs>
            </a:gsLst>
            <a:lin ang="13500000" scaled="0"/>
          </a:gra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华文楷体" pitchFamily="2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941E9CF-BA96-0681-2E48-3A68BD5C73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45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616EE86-5F52-0C5D-8308-4D64DE670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自下而上的乐观锁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7B1E243-CC44-22FA-55CB-A9A8E6D45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3829" y="926306"/>
            <a:ext cx="10874188" cy="5005387"/>
          </a:xfrm>
        </p:spPr>
        <p:txBody>
          <a:bodyPr/>
          <a:lstStyle/>
          <a:p>
            <a:pPr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kumimoji="1"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读操作：与闩锁耦合一致（自上而下加读锁）</a:t>
            </a:r>
            <a:endParaRPr kumimoji="1"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写操作：插入或者删除操作：自上而下加读锁，找到叶节点</a:t>
            </a:r>
            <a:endParaRPr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kumimoji="1"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插入：尝试对叶子结点升级锁（加写锁）</a:t>
            </a:r>
            <a:endParaRPr kumimoji="1"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2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kumimoji="1"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如果叶子节点不满，直接插入</a:t>
            </a:r>
            <a:endParaRPr kumimoji="1"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2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kumimoji="1"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如果叶子节点满（需要分裂），尝试对父节点加写锁（是否存在冲突）</a:t>
            </a:r>
            <a:endParaRPr kumimoji="1"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3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如果可加写锁，将分裂的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key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插入该节点；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3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如不可加写锁：</a:t>
            </a:r>
            <a:r>
              <a:rPr kumimoji="1"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使用闩锁耦合方案从上而下重试。</a:t>
            </a:r>
            <a:endParaRPr kumimoji="1"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删除：尝试对叶子结点升级锁（加写锁）</a:t>
            </a:r>
            <a:endParaRPr kumimoji="1"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2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kumimoji="1"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如果叶子节点大于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m/2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孩子</a:t>
            </a:r>
            <a:r>
              <a:rPr kumimoji="1"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，直接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删除</a:t>
            </a:r>
            <a:endParaRPr kumimoji="1"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2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kumimoji="1"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如果叶子节点下溢（需要合并），尝试对父节点加写锁（是否存在冲突）</a:t>
            </a:r>
            <a:endParaRPr kumimoji="1"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3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如果可加写锁，从该父节点删除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key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；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3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如不可加写锁：</a:t>
            </a:r>
            <a:r>
              <a:rPr kumimoji="1"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使用闩锁耦合方案从上而下重试。</a:t>
            </a:r>
            <a:endParaRPr kumimoji="1"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适合读密集型业务，</a:t>
            </a:r>
            <a:r>
              <a:rPr kumimoji="1"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不合适写密集型业务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0F96B8-01B4-9F48-C150-7B1D9B1266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92491980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9166026E-856C-CEBF-B917-8A0793D8D6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4591" y="1239197"/>
            <a:ext cx="4624925" cy="1539733"/>
          </a:xfrm>
          <a:prstGeom prst="rect">
            <a:avLst/>
          </a:prstGeom>
        </p:spPr>
      </p:pic>
      <p:sp>
        <p:nvSpPr>
          <p:cNvPr id="7" name="任意多边形: 形状 39">
            <a:extLst>
              <a:ext uri="{FF2B5EF4-FFF2-40B4-BE49-F238E27FC236}">
                <a16:creationId xmlns:a16="http://schemas.microsoft.com/office/drawing/2014/main" id="{168FC396-71A5-4E9A-91B4-9C546BA07118}"/>
              </a:ext>
            </a:extLst>
          </p:cNvPr>
          <p:cNvSpPr/>
          <p:nvPr/>
        </p:nvSpPr>
        <p:spPr bwMode="auto">
          <a:xfrm>
            <a:off x="238109" y="1028700"/>
            <a:ext cx="11241667" cy="5384341"/>
          </a:xfrm>
          <a:custGeom>
            <a:avLst/>
            <a:gdLst>
              <a:gd name="connsiteX0" fmla="*/ 0 w 6810034"/>
              <a:gd name="connsiteY0" fmla="*/ 0 h 678471"/>
              <a:gd name="connsiteX1" fmla="*/ 6810034 w 6810034"/>
              <a:gd name="connsiteY1" fmla="*/ 0 h 678471"/>
              <a:gd name="connsiteX2" fmla="*/ 6810034 w 6810034"/>
              <a:gd name="connsiteY2" fmla="*/ 678471 h 678471"/>
              <a:gd name="connsiteX3" fmla="*/ 0 w 6810034"/>
              <a:gd name="connsiteY3" fmla="*/ 678471 h 678471"/>
              <a:gd name="connsiteX4" fmla="*/ 0 w 6810034"/>
              <a:gd name="connsiteY4" fmla="*/ 0 h 678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10034" h="678471">
                <a:moveTo>
                  <a:pt x="0" y="0"/>
                </a:moveTo>
                <a:lnTo>
                  <a:pt x="6810034" y="0"/>
                </a:lnTo>
                <a:lnTo>
                  <a:pt x="6810034" y="678471"/>
                </a:lnTo>
                <a:lnTo>
                  <a:pt x="0" y="678471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6F1787">
                  <a:alpha val="20000"/>
                </a:srgbClr>
              </a:gs>
              <a:gs pos="100000">
                <a:srgbClr val="6F1787">
                  <a:alpha val="20000"/>
                </a:srgbClr>
              </a:gs>
              <a:gs pos="48000">
                <a:schemeClr val="bg1">
                  <a:alpha val="0"/>
                </a:schemeClr>
              </a:gs>
            </a:gsLst>
            <a:lin ang="13500000" scaled="0"/>
          </a:gra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华文楷体" pitchFamily="2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DBFE4F9-EB9D-CC90-6F2F-28E9E747C9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46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8D59CBC-1D96-5603-1DA5-524B9C52B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B-link</a:t>
            </a:r>
            <a:r>
              <a:rPr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 树设计理念</a:t>
            </a:r>
            <a:endParaRPr kumimoji="1" lang="zh-CN" altLang="en-US" sz="36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6941C45-9A9B-18EC-C385-DD27564237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109" y="1126800"/>
            <a:ext cx="10565012" cy="5866596"/>
          </a:xfrm>
        </p:spPr>
        <p:txBody>
          <a:bodyPr/>
          <a:lstStyle/>
          <a:p>
            <a:pPr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节点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a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溢出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[</a:t>
            </a:r>
            <a:r>
              <a:rPr lang="en-US" altLang="zh-CN" sz="2000" dirty="0" err="1">
                <a:latin typeface="微软雅黑" panose="020B0503020204020204" pitchFamily="82" charset="2"/>
                <a:ea typeface="微软雅黑" panose="020B0503020204020204" pitchFamily="82" charset="2"/>
              </a:rPr>
              <a:t>min,max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)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：锁定该节点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将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a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节点的数据（包括新插入的数据），根据中间键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k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拆分成两个节点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spcBef>
                <a:spcPts val="800"/>
              </a:spcBef>
              <a:buSzPct val="50000"/>
              <a:buFont typeface="Wingdings" panose="05000000000000000000" pitchFamily="2" charset="2"/>
              <a:buChar char="p"/>
            </a:pP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a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’：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[</a:t>
            </a:r>
            <a:r>
              <a:rPr lang="en-US" altLang="zh-CN" sz="2000" dirty="0" err="1">
                <a:latin typeface="微软雅黑" panose="020B0503020204020204" pitchFamily="82" charset="2"/>
                <a:ea typeface="微软雅黑" panose="020B0503020204020204" pitchFamily="82" charset="2"/>
              </a:rPr>
              <a:t>min,k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)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；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b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：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[</a:t>
            </a:r>
            <a:r>
              <a:rPr lang="en-US" altLang="zh-CN" sz="2000" dirty="0" err="1">
                <a:latin typeface="微软雅黑" panose="020B0503020204020204" pitchFamily="82" charset="2"/>
                <a:ea typeface="微软雅黑" panose="020B0503020204020204" pitchFamily="82" charset="2"/>
              </a:rPr>
              <a:t>k,max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)</a:t>
            </a:r>
          </a:p>
          <a:p>
            <a:pPr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将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a’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复制给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a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；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spcBef>
                <a:spcPts val="800"/>
              </a:spcBef>
              <a:buSzPct val="50000"/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如果此时查找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[</a:t>
            </a:r>
            <a:r>
              <a:rPr lang="en-US" altLang="zh-CN" sz="2000" dirty="0" err="1">
                <a:latin typeface="微软雅黑" panose="020B0503020204020204" pitchFamily="82" charset="2"/>
                <a:ea typeface="微软雅黑" panose="020B0503020204020204" pitchFamily="82" charset="2"/>
              </a:rPr>
              <a:t>min,k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) 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之间的值？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ok</a:t>
            </a:r>
          </a:p>
          <a:p>
            <a:pPr lvl="1">
              <a:spcBef>
                <a:spcPts val="800"/>
              </a:spcBef>
              <a:buSzPct val="50000"/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如果此时查找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[k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，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max) 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之间的值？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1186982" lvl="2" indent="-342900">
              <a:spcBef>
                <a:spcPts val="800"/>
              </a:spcBef>
              <a:buFont typeface="+mj-lt"/>
              <a:buAutoNum type="alphaLcPeriod"/>
            </a:pPr>
            <a:r>
              <a:rPr lang="zh-CN" altLang="en-US" sz="2000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加一个从</a:t>
            </a:r>
            <a:r>
              <a:rPr lang="en-US" altLang="zh-CN" sz="2000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a’</a:t>
            </a:r>
            <a:r>
              <a:rPr lang="zh-CN" altLang="en-US" sz="2000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到</a:t>
            </a:r>
            <a:r>
              <a:rPr lang="en-US" altLang="zh-CN" sz="2000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b</a:t>
            </a:r>
            <a:r>
              <a:rPr lang="zh-CN" altLang="en-US" sz="2000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的</a:t>
            </a:r>
            <a:r>
              <a:rPr lang="en-US" altLang="zh-CN" sz="2000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link</a:t>
            </a:r>
            <a:r>
              <a:rPr lang="zh-CN" altLang="en-US" sz="2000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，通过指针到</a:t>
            </a:r>
            <a:r>
              <a:rPr lang="en-US" altLang="zh-CN" sz="2000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b</a:t>
            </a:r>
            <a:r>
              <a:rPr lang="zh-CN" altLang="en-US" sz="2000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找该查找键</a:t>
            </a:r>
            <a:endParaRPr lang="en-US" altLang="zh-CN" sz="2000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spcBef>
                <a:spcPts val="800"/>
              </a:spcBef>
              <a:buSzPct val="50000"/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如何判断查找键不存在？还是存在于右兄弟节点？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1186982" lvl="2" indent="-342900">
              <a:spcBef>
                <a:spcPts val="800"/>
              </a:spcBef>
              <a:buFont typeface="+mj-lt"/>
              <a:buAutoNum type="alphaLcPeriod"/>
            </a:pPr>
            <a:r>
              <a:rPr lang="zh-CN" altLang="en-US" sz="2000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每个节点加一个</a:t>
            </a:r>
            <a:r>
              <a:rPr lang="en-US" altLang="zh-CN" sz="2000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high-key</a:t>
            </a:r>
            <a:r>
              <a:rPr lang="zh-CN" altLang="en-US" sz="2000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，即本节点的最大键值</a:t>
            </a:r>
            <a:endParaRPr lang="en-US" altLang="zh-CN" sz="2000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1186982" lvl="2" indent="-342900">
              <a:spcBef>
                <a:spcPts val="800"/>
              </a:spcBef>
              <a:buFont typeface="+mj-lt"/>
              <a:buAutoNum type="alphaLcPeriod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如果查找键大于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high-key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，则到右兄弟节点查找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1186982" lvl="2" indent="-342900">
              <a:spcBef>
                <a:spcPts val="800"/>
              </a:spcBef>
              <a:buFont typeface="+mj-lt"/>
              <a:buAutoNum type="alphaLcPeriod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如果查找键小于等于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high-key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，则在本节点查找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/>
            <a:endParaRPr kumimoji="1"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/>
            <a:endParaRPr kumimoji="1" lang="zh-CN" altLang="en-US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533FD9-7805-9DA5-E90D-2FA5196D30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F667ADA-EAB7-403C-E33C-D6F0AB4AF0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7493" y="2895392"/>
            <a:ext cx="4920874" cy="3900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81664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54AE3318-66E9-18F7-EC08-CB90C42A72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874" y="2748442"/>
            <a:ext cx="6489638" cy="2160536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DBFE4F9-EB9D-CC90-6F2F-28E9E747C9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47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8D59CBC-1D96-5603-1DA5-524B9C52B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B-link</a:t>
            </a:r>
            <a:r>
              <a:rPr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 树设计理念</a:t>
            </a:r>
            <a:endParaRPr kumimoji="1" lang="zh-CN" altLang="en-US" sz="36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6941C45-9A9B-18EC-C385-DD27564237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9488" y="1066550"/>
            <a:ext cx="12080146" cy="5005387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1" lang="en-US" altLang="zh-CN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B-link</a:t>
            </a:r>
            <a:r>
              <a:rPr kumimoji="1"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树思想</a:t>
            </a:r>
            <a:endParaRPr kumimoji="1"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将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k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移动到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a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’和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b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的父亲节点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k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的左指针指向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a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’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k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的右指针指向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b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插入结束，解锁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最多锁三个节点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2">
              <a:lnSpc>
                <a:spcPct val="150000"/>
              </a:lnSpc>
              <a:buSzPct val="50000"/>
              <a:buFont typeface="Wingdings" panose="05000000000000000000" pitchFamily="2" charset="2"/>
              <a:buChar char="p"/>
            </a:pP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a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’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2">
              <a:lnSpc>
                <a:spcPct val="150000"/>
              </a:lnSpc>
              <a:buSzPct val="50000"/>
              <a:buFont typeface="Wingdings" panose="05000000000000000000" pitchFamily="2" charset="2"/>
              <a:buChar char="p"/>
            </a:pP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b</a:t>
            </a:r>
          </a:p>
          <a:p>
            <a:pPr lvl="2">
              <a:lnSpc>
                <a:spcPct val="150000"/>
              </a:lnSpc>
              <a:buSzPct val="50000"/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父亲节点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/>
            <a:endParaRPr kumimoji="1"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/>
            <a:endParaRPr kumimoji="1" lang="zh-CN" altLang="en-US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533FD9-7805-9DA5-E90D-2FA5196D30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7" name="任意多边形: 形状 39">
            <a:extLst>
              <a:ext uri="{FF2B5EF4-FFF2-40B4-BE49-F238E27FC236}">
                <a16:creationId xmlns:a16="http://schemas.microsoft.com/office/drawing/2014/main" id="{168FC396-71A5-4E9A-91B4-9C546BA07118}"/>
              </a:ext>
            </a:extLst>
          </p:cNvPr>
          <p:cNvSpPr/>
          <p:nvPr/>
        </p:nvSpPr>
        <p:spPr bwMode="auto">
          <a:xfrm>
            <a:off x="712225" y="1186405"/>
            <a:ext cx="10767551" cy="4885532"/>
          </a:xfrm>
          <a:custGeom>
            <a:avLst/>
            <a:gdLst>
              <a:gd name="connsiteX0" fmla="*/ 0 w 6810034"/>
              <a:gd name="connsiteY0" fmla="*/ 0 h 678471"/>
              <a:gd name="connsiteX1" fmla="*/ 6810034 w 6810034"/>
              <a:gd name="connsiteY1" fmla="*/ 0 h 678471"/>
              <a:gd name="connsiteX2" fmla="*/ 6810034 w 6810034"/>
              <a:gd name="connsiteY2" fmla="*/ 678471 h 678471"/>
              <a:gd name="connsiteX3" fmla="*/ 0 w 6810034"/>
              <a:gd name="connsiteY3" fmla="*/ 678471 h 678471"/>
              <a:gd name="connsiteX4" fmla="*/ 0 w 6810034"/>
              <a:gd name="connsiteY4" fmla="*/ 0 h 678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10034" h="678471">
                <a:moveTo>
                  <a:pt x="0" y="0"/>
                </a:moveTo>
                <a:lnTo>
                  <a:pt x="6810034" y="0"/>
                </a:lnTo>
                <a:lnTo>
                  <a:pt x="6810034" y="678471"/>
                </a:lnTo>
                <a:lnTo>
                  <a:pt x="0" y="678471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6F1787">
                  <a:alpha val="20000"/>
                </a:srgbClr>
              </a:gs>
              <a:gs pos="100000">
                <a:srgbClr val="6F1787">
                  <a:alpha val="20000"/>
                </a:srgbClr>
              </a:gs>
              <a:gs pos="48000">
                <a:schemeClr val="bg1">
                  <a:alpha val="0"/>
                </a:schemeClr>
              </a:gs>
            </a:gsLst>
            <a:lin ang="13500000" scaled="0"/>
          </a:gra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华文楷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1012558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39">
            <a:extLst>
              <a:ext uri="{FF2B5EF4-FFF2-40B4-BE49-F238E27FC236}">
                <a16:creationId xmlns:a16="http://schemas.microsoft.com/office/drawing/2014/main" id="{168FC396-71A5-4E9A-91B4-9C546BA07118}"/>
              </a:ext>
            </a:extLst>
          </p:cNvPr>
          <p:cNvSpPr/>
          <p:nvPr/>
        </p:nvSpPr>
        <p:spPr bwMode="auto">
          <a:xfrm>
            <a:off x="712225" y="981512"/>
            <a:ext cx="10767551" cy="1836416"/>
          </a:xfrm>
          <a:custGeom>
            <a:avLst/>
            <a:gdLst>
              <a:gd name="connsiteX0" fmla="*/ 0 w 6810034"/>
              <a:gd name="connsiteY0" fmla="*/ 0 h 678471"/>
              <a:gd name="connsiteX1" fmla="*/ 6810034 w 6810034"/>
              <a:gd name="connsiteY1" fmla="*/ 0 h 678471"/>
              <a:gd name="connsiteX2" fmla="*/ 6810034 w 6810034"/>
              <a:gd name="connsiteY2" fmla="*/ 678471 h 678471"/>
              <a:gd name="connsiteX3" fmla="*/ 0 w 6810034"/>
              <a:gd name="connsiteY3" fmla="*/ 678471 h 678471"/>
              <a:gd name="connsiteX4" fmla="*/ 0 w 6810034"/>
              <a:gd name="connsiteY4" fmla="*/ 0 h 678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10034" h="678471">
                <a:moveTo>
                  <a:pt x="0" y="0"/>
                </a:moveTo>
                <a:lnTo>
                  <a:pt x="6810034" y="0"/>
                </a:lnTo>
                <a:lnTo>
                  <a:pt x="6810034" y="678471"/>
                </a:lnTo>
                <a:lnTo>
                  <a:pt x="0" y="678471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6F1787">
                  <a:alpha val="20000"/>
                </a:srgbClr>
              </a:gs>
              <a:gs pos="100000">
                <a:srgbClr val="6F1787">
                  <a:alpha val="20000"/>
                </a:srgbClr>
              </a:gs>
              <a:gs pos="48000">
                <a:schemeClr val="bg1">
                  <a:alpha val="0"/>
                </a:schemeClr>
              </a:gs>
            </a:gsLst>
            <a:lin ang="13500000" scaled="0"/>
          </a:gra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华文楷体" pitchFamily="2" charset="-122"/>
            </a:endParaRPr>
          </a:p>
        </p:txBody>
      </p:sp>
      <p:sp>
        <p:nvSpPr>
          <p:cNvPr id="7" name="Shape18">
            <a:extLst>
              <a:ext uri="{FF2B5EF4-FFF2-40B4-BE49-F238E27FC236}">
                <a16:creationId xmlns:a16="http://schemas.microsoft.com/office/drawing/2014/main" id="{185D38BE-279C-4F0C-BE7C-A3BA74E8B366}"/>
              </a:ext>
            </a:extLst>
          </p:cNvPr>
          <p:cNvSpPr/>
          <p:nvPr/>
        </p:nvSpPr>
        <p:spPr>
          <a:xfrm>
            <a:off x="1423136" y="3066675"/>
            <a:ext cx="9623236" cy="3271063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dirty="0">
              <a:latin typeface="微软雅黑" panose="020B0503020204020204" pitchFamily="82" charset="2"/>
              <a:ea typeface="微软雅黑" panose="020B0503020204020204" pitchFamily="82" charset="2"/>
              <a:sym typeface="+mn-ea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7E08E4E-46EE-710B-3269-B8445DD215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48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1DB608D-812A-61EE-98F8-3176CC48B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B-link</a:t>
            </a:r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树结构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56DF883-F0AC-7DCF-4E6C-7A5029103C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7660" y="1018810"/>
            <a:ext cx="10874188" cy="1942515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kumimoji="1"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内部节点也有兄弟指针</a:t>
            </a:r>
            <a:endParaRPr kumimoji="1"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节点分裂的中间状态也为合法状态</a:t>
            </a:r>
            <a:endParaRPr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每个节点多存储一个</a:t>
            </a:r>
            <a:r>
              <a:rPr lang="en-US" altLang="zh-CN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high key</a:t>
            </a: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，代表子树中的键的上界</a:t>
            </a:r>
            <a:endParaRPr kumimoji="1" lang="zh-CN" altLang="en-US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D51C95FC-E32D-53D1-24CC-7A91F13148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2575" y="3247698"/>
            <a:ext cx="8801047" cy="2930052"/>
          </a:xfrm>
          <a:prstGeom prst="rect">
            <a:avLst/>
          </a:prstGeom>
        </p:spPr>
      </p:pic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ED5B40-5BF4-E0BB-82D9-289CC69044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89162914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任意多边形: 形状 39">
            <a:extLst>
              <a:ext uri="{FF2B5EF4-FFF2-40B4-BE49-F238E27FC236}">
                <a16:creationId xmlns:a16="http://schemas.microsoft.com/office/drawing/2014/main" id="{168FC396-71A5-4E9A-91B4-9C546BA07118}"/>
              </a:ext>
            </a:extLst>
          </p:cNvPr>
          <p:cNvSpPr/>
          <p:nvPr/>
        </p:nvSpPr>
        <p:spPr bwMode="auto">
          <a:xfrm>
            <a:off x="712225" y="1099463"/>
            <a:ext cx="10767551" cy="1648134"/>
          </a:xfrm>
          <a:custGeom>
            <a:avLst/>
            <a:gdLst>
              <a:gd name="connsiteX0" fmla="*/ 0 w 6810034"/>
              <a:gd name="connsiteY0" fmla="*/ 0 h 678471"/>
              <a:gd name="connsiteX1" fmla="*/ 6810034 w 6810034"/>
              <a:gd name="connsiteY1" fmla="*/ 0 h 678471"/>
              <a:gd name="connsiteX2" fmla="*/ 6810034 w 6810034"/>
              <a:gd name="connsiteY2" fmla="*/ 678471 h 678471"/>
              <a:gd name="connsiteX3" fmla="*/ 0 w 6810034"/>
              <a:gd name="connsiteY3" fmla="*/ 678471 h 678471"/>
              <a:gd name="connsiteX4" fmla="*/ 0 w 6810034"/>
              <a:gd name="connsiteY4" fmla="*/ 0 h 678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10034" h="678471">
                <a:moveTo>
                  <a:pt x="0" y="0"/>
                </a:moveTo>
                <a:lnTo>
                  <a:pt x="6810034" y="0"/>
                </a:lnTo>
                <a:lnTo>
                  <a:pt x="6810034" y="678471"/>
                </a:lnTo>
                <a:lnTo>
                  <a:pt x="0" y="678471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6F1787">
                  <a:alpha val="20000"/>
                </a:srgbClr>
              </a:gs>
              <a:gs pos="100000">
                <a:srgbClr val="6F1787">
                  <a:alpha val="20000"/>
                </a:srgbClr>
              </a:gs>
              <a:gs pos="48000">
                <a:schemeClr val="bg1">
                  <a:alpha val="0"/>
                </a:schemeClr>
              </a:gs>
            </a:gsLst>
            <a:lin ang="13500000" scaled="0"/>
          </a:gra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华文楷体" pitchFamily="2" charset="-122"/>
            </a:endParaRPr>
          </a:p>
        </p:txBody>
      </p:sp>
      <p:sp>
        <p:nvSpPr>
          <p:cNvPr id="13" name="Shape18">
            <a:extLst>
              <a:ext uri="{FF2B5EF4-FFF2-40B4-BE49-F238E27FC236}">
                <a16:creationId xmlns:a16="http://schemas.microsoft.com/office/drawing/2014/main" id="{11B35709-7553-4801-8BE2-F5CC8454E3CB}"/>
              </a:ext>
            </a:extLst>
          </p:cNvPr>
          <p:cNvSpPr/>
          <p:nvPr/>
        </p:nvSpPr>
        <p:spPr>
          <a:xfrm>
            <a:off x="712225" y="3606920"/>
            <a:ext cx="10767551" cy="2151617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dirty="0">
              <a:latin typeface="微软雅黑" panose="020B0503020204020204" pitchFamily="82" charset="2"/>
              <a:ea typeface="微软雅黑" panose="020B0503020204020204" pitchFamily="82" charset="2"/>
              <a:sym typeface="+mn-ea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C16D904-81B8-EFFF-87B6-31B1449094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49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69F27394-287A-8B89-5F9A-1B5EBC281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B</a:t>
            </a:r>
            <a:r>
              <a:rPr kumimoji="1" lang="en-US" altLang="zh-CN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-link</a:t>
            </a:r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树</a:t>
            </a:r>
            <a:r>
              <a:rPr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查找操作</a:t>
            </a:r>
            <a:endParaRPr kumimoji="1" lang="zh-CN" altLang="en-US" sz="36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D50CEE-B061-EB0F-496B-4B077CC119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F7C0E86-7EDC-0D14-15C9-73D6FE3D68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682" y="3759852"/>
            <a:ext cx="9192066" cy="1815588"/>
          </a:xfrm>
          <a:prstGeom prst="rect">
            <a:avLst/>
          </a:prstGeom>
        </p:spPr>
      </p:pic>
      <p:sp>
        <p:nvSpPr>
          <p:cNvPr id="9" name="内容占位符 3">
            <a:extLst>
              <a:ext uri="{FF2B5EF4-FFF2-40B4-BE49-F238E27FC236}">
                <a16:creationId xmlns:a16="http://schemas.microsoft.com/office/drawing/2014/main" id="{0B5FF664-91E0-31F9-888C-3F73472767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4326" y="1058023"/>
            <a:ext cx="10874188" cy="1942515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下一个访问的节点是子节点或右兄弟节点</a:t>
            </a:r>
            <a:endParaRPr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如果</a:t>
            </a:r>
            <a:r>
              <a:rPr lang="en-US" altLang="zh-CN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key &gt; high key</a:t>
            </a: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，则访问右兄弟节点</a:t>
            </a:r>
            <a:endParaRPr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对下一个节点加锁前，释放当前节点的锁</a:t>
            </a:r>
            <a:endParaRPr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005C3BC-D3C1-F4A5-963A-AD19FDB2A449}"/>
              </a:ext>
            </a:extLst>
          </p:cNvPr>
          <p:cNvSpPr txBox="1"/>
          <p:nvPr/>
        </p:nvSpPr>
        <p:spPr>
          <a:xfrm>
            <a:off x="4544845" y="4074139"/>
            <a:ext cx="20334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dirty="0">
                <a:solidFill>
                  <a:srgbClr val="3B20FF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查找</a:t>
            </a:r>
            <a:r>
              <a:rPr kumimoji="1" lang="en-US" altLang="zh-CN" sz="1600" dirty="0">
                <a:solidFill>
                  <a:srgbClr val="3B20FF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50</a:t>
            </a:r>
            <a:r>
              <a:rPr kumimoji="1" lang="zh-CN" altLang="en-US" sz="1600" dirty="0">
                <a:solidFill>
                  <a:srgbClr val="3B20FF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，</a:t>
            </a:r>
            <a:r>
              <a:rPr kumimoji="1" lang="en-US" altLang="zh-CN" sz="1600" dirty="0">
                <a:solidFill>
                  <a:srgbClr val="3B20FF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50 &lt; 71</a:t>
            </a:r>
            <a:endParaRPr kumimoji="1" lang="zh-CN" altLang="en-US" sz="1600" dirty="0">
              <a:solidFill>
                <a:srgbClr val="3B20FF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BA30E5E-A374-34A2-534B-6D871A85A451}"/>
              </a:ext>
            </a:extLst>
          </p:cNvPr>
          <p:cNvSpPr txBox="1"/>
          <p:nvPr/>
        </p:nvSpPr>
        <p:spPr>
          <a:xfrm>
            <a:off x="2454705" y="4573544"/>
            <a:ext cx="25538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>
                <a:solidFill>
                  <a:srgbClr val="3B20FF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50&gt;47</a:t>
            </a:r>
            <a:r>
              <a:rPr kumimoji="1" lang="zh-CN" altLang="en-US" sz="1600" dirty="0">
                <a:solidFill>
                  <a:srgbClr val="3B20FF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，访问兄弟节点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284350A-1069-A31A-8B54-99BC390FE6DF}"/>
              </a:ext>
            </a:extLst>
          </p:cNvPr>
          <p:cNvSpPr txBox="1"/>
          <p:nvPr/>
        </p:nvSpPr>
        <p:spPr>
          <a:xfrm>
            <a:off x="6148751" y="4989681"/>
            <a:ext cx="10542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>
                <a:solidFill>
                  <a:srgbClr val="3B20FF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50 &lt; 60</a:t>
            </a:r>
            <a:endParaRPr kumimoji="1" lang="zh-CN" altLang="en-US" sz="1600" dirty="0">
              <a:solidFill>
                <a:srgbClr val="3B20FF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68499603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任意多边形: 形状 39">
            <a:extLst>
              <a:ext uri="{FF2B5EF4-FFF2-40B4-BE49-F238E27FC236}">
                <a16:creationId xmlns:a16="http://schemas.microsoft.com/office/drawing/2014/main" id="{168FC396-71A5-4E9A-91B4-9C546BA07118}"/>
              </a:ext>
            </a:extLst>
          </p:cNvPr>
          <p:cNvSpPr/>
          <p:nvPr/>
        </p:nvSpPr>
        <p:spPr bwMode="auto">
          <a:xfrm>
            <a:off x="712225" y="1020947"/>
            <a:ext cx="10767551" cy="1942515"/>
          </a:xfrm>
          <a:custGeom>
            <a:avLst/>
            <a:gdLst>
              <a:gd name="connsiteX0" fmla="*/ 0 w 6810034"/>
              <a:gd name="connsiteY0" fmla="*/ 0 h 678471"/>
              <a:gd name="connsiteX1" fmla="*/ 6810034 w 6810034"/>
              <a:gd name="connsiteY1" fmla="*/ 0 h 678471"/>
              <a:gd name="connsiteX2" fmla="*/ 6810034 w 6810034"/>
              <a:gd name="connsiteY2" fmla="*/ 678471 h 678471"/>
              <a:gd name="connsiteX3" fmla="*/ 0 w 6810034"/>
              <a:gd name="connsiteY3" fmla="*/ 678471 h 678471"/>
              <a:gd name="connsiteX4" fmla="*/ 0 w 6810034"/>
              <a:gd name="connsiteY4" fmla="*/ 0 h 678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10034" h="678471">
                <a:moveTo>
                  <a:pt x="0" y="0"/>
                </a:moveTo>
                <a:lnTo>
                  <a:pt x="6810034" y="0"/>
                </a:lnTo>
                <a:lnTo>
                  <a:pt x="6810034" y="678471"/>
                </a:lnTo>
                <a:lnTo>
                  <a:pt x="0" y="678471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6F1787">
                  <a:alpha val="20000"/>
                </a:srgbClr>
              </a:gs>
              <a:gs pos="100000">
                <a:srgbClr val="6F1787">
                  <a:alpha val="20000"/>
                </a:srgbClr>
              </a:gs>
              <a:gs pos="48000">
                <a:schemeClr val="bg1">
                  <a:alpha val="0"/>
                </a:schemeClr>
              </a:gs>
            </a:gsLst>
            <a:lin ang="13500000" scaled="0"/>
          </a:gra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华文楷体" pitchFamily="2" charset="-122"/>
            </a:endParaRPr>
          </a:p>
        </p:txBody>
      </p:sp>
      <p:sp>
        <p:nvSpPr>
          <p:cNvPr id="11" name="Shape18">
            <a:extLst>
              <a:ext uri="{FF2B5EF4-FFF2-40B4-BE49-F238E27FC236}">
                <a16:creationId xmlns:a16="http://schemas.microsoft.com/office/drawing/2014/main" id="{FB8D3A61-2673-4A38-A58D-75F61627B938}"/>
              </a:ext>
            </a:extLst>
          </p:cNvPr>
          <p:cNvSpPr/>
          <p:nvPr/>
        </p:nvSpPr>
        <p:spPr>
          <a:xfrm>
            <a:off x="712225" y="3171882"/>
            <a:ext cx="10767551" cy="2665171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dirty="0">
              <a:latin typeface="微软雅黑" panose="020B0503020204020204" pitchFamily="82" charset="2"/>
              <a:ea typeface="微软雅黑" panose="020B0503020204020204" pitchFamily="82" charset="2"/>
              <a:sym typeface="+mn-ea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C16D904-81B8-EFFF-87B6-31B1449094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50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69F27394-287A-8B89-5F9A-1B5EBC281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B</a:t>
            </a:r>
            <a:r>
              <a:rPr kumimoji="1" lang="en-US" altLang="zh-CN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-link</a:t>
            </a:r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树插入操作：查找待插入节点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D50CEE-B061-EB0F-496B-4B077CC119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9" name="内容占位符 3">
            <a:extLst>
              <a:ext uri="{FF2B5EF4-FFF2-40B4-BE49-F238E27FC236}">
                <a16:creationId xmlns:a16="http://schemas.microsoft.com/office/drawing/2014/main" id="{0B5FF664-91E0-31F9-888C-3F73472767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0770" y="1060912"/>
            <a:ext cx="10874188" cy="1942515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通过查找算法找到待插入的叶子节点</a:t>
            </a:r>
            <a:endParaRPr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对内部节点加</a:t>
            </a:r>
            <a:r>
              <a:rPr lang="en-US" altLang="zh-CN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S</a:t>
            </a: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锁</a:t>
            </a:r>
            <a:endParaRPr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对叶子节点加</a:t>
            </a:r>
            <a:r>
              <a:rPr lang="en-US" altLang="zh-CN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X</a:t>
            </a: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锁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18F3F3E-F0FB-6BCC-27B0-C95312D375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033" y="3359119"/>
            <a:ext cx="9435415" cy="2184123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62DFEA7F-4006-68F4-5E13-773051825854}"/>
              </a:ext>
            </a:extLst>
          </p:cNvPr>
          <p:cNvSpPr txBox="1"/>
          <p:nvPr/>
        </p:nvSpPr>
        <p:spPr>
          <a:xfrm>
            <a:off x="1860477" y="3672545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插入</a:t>
            </a:r>
            <a:r>
              <a:rPr kumimoji="1" lang="en-US" altLang="zh-CN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59</a:t>
            </a:r>
            <a:endParaRPr kumimoji="1" lang="zh-CN" altLang="en-US" dirty="0">
              <a:solidFill>
                <a:srgbClr val="6F1787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1CD24B9-ABF1-46D8-DE58-050E9A8E4EEB}"/>
              </a:ext>
            </a:extLst>
          </p:cNvPr>
          <p:cNvSpPr txBox="1"/>
          <p:nvPr/>
        </p:nvSpPr>
        <p:spPr>
          <a:xfrm>
            <a:off x="5883470" y="355824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S</a:t>
            </a:r>
            <a:endParaRPr kumimoji="1" lang="zh-CN" altLang="en-US" dirty="0">
              <a:solidFill>
                <a:srgbClr val="6F1787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ED662DF-C602-28FA-59A4-B1A1C046CC9A}"/>
              </a:ext>
            </a:extLst>
          </p:cNvPr>
          <p:cNvSpPr txBox="1"/>
          <p:nvPr/>
        </p:nvSpPr>
        <p:spPr>
          <a:xfrm>
            <a:off x="4032350" y="4381843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S</a:t>
            </a:r>
            <a:endParaRPr kumimoji="1" lang="zh-CN" altLang="en-US" dirty="0">
              <a:solidFill>
                <a:srgbClr val="6F1787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A2A2A4F-4E5A-096A-CB15-567398845B26}"/>
              </a:ext>
            </a:extLst>
          </p:cNvPr>
          <p:cNvSpPr txBox="1"/>
          <p:nvPr/>
        </p:nvSpPr>
        <p:spPr>
          <a:xfrm>
            <a:off x="5117983" y="5476570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X</a:t>
            </a:r>
            <a:endParaRPr kumimoji="1" lang="zh-CN" altLang="en-US" dirty="0">
              <a:solidFill>
                <a:srgbClr val="6F1787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552312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1"/>
      <p:bldP spid="15" grpId="0"/>
      <p:bldP spid="15" grpId="1"/>
      <p:bldP spid="16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18">
            <a:extLst>
              <a:ext uri="{FF2B5EF4-FFF2-40B4-BE49-F238E27FC236}">
                <a16:creationId xmlns:a16="http://schemas.microsoft.com/office/drawing/2014/main" id="{E04EC299-A75C-4ACD-BC2A-BE9D4D06F54A}"/>
              </a:ext>
            </a:extLst>
          </p:cNvPr>
          <p:cNvSpPr/>
          <p:nvPr/>
        </p:nvSpPr>
        <p:spPr>
          <a:xfrm>
            <a:off x="2532887" y="957943"/>
            <a:ext cx="6968222" cy="5402313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dirty="0">
              <a:latin typeface="微软雅黑" panose="020B0503020204020204" pitchFamily="82" charset="2"/>
              <a:ea typeface="微软雅黑" panose="020B0503020204020204" pitchFamily="82" charset="2"/>
              <a:sym typeface="+mn-ea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C16D904-81B8-EFFF-87B6-31B1449094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51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69F27394-287A-8B89-5F9A-1B5EBC281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B</a:t>
            </a:r>
            <a:r>
              <a:rPr kumimoji="1" lang="en-US" altLang="zh-CN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-link</a:t>
            </a:r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树插入操作：溢出分裂节点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D50CEE-B061-EB0F-496B-4B077CC119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F6CCAA6F-68F3-8094-C0B0-B384096DF0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7192" y="1164415"/>
            <a:ext cx="6317614" cy="5007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93769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F8C67B5-5EF0-C10B-559C-6E13E7E057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52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8421F83-34AC-F1DF-85B9-1C02C531C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B</a:t>
            </a:r>
            <a:r>
              <a:rPr kumimoji="1" lang="en-US" altLang="zh-CN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-link</a:t>
            </a:r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树插入操作：案例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CDBF6B-409D-2583-DC27-3690E835F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8A64A03-DC2B-B409-EC90-8041F3946D08}"/>
              </a:ext>
            </a:extLst>
          </p:cNvPr>
          <p:cNvSpPr txBox="1"/>
          <p:nvPr/>
        </p:nvSpPr>
        <p:spPr>
          <a:xfrm>
            <a:off x="488036" y="1708339"/>
            <a:ext cx="15004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(1)</a:t>
            </a:r>
            <a:r>
              <a:rPr kumimoji="1" lang="zh-CN" altLang="en-US" sz="20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 原始树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E03CC7F-A46C-3E50-3939-B83F61C6B50C}"/>
              </a:ext>
            </a:extLst>
          </p:cNvPr>
          <p:cNvSpPr txBox="1"/>
          <p:nvPr/>
        </p:nvSpPr>
        <p:spPr>
          <a:xfrm>
            <a:off x="488036" y="3487723"/>
            <a:ext cx="37345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(2)</a:t>
            </a:r>
            <a:r>
              <a:rPr kumimoji="1" lang="zh-CN" altLang="en-US" sz="20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 插入键值</a:t>
            </a:r>
            <a:r>
              <a:rPr kumimoji="1" lang="en-US" altLang="zh-CN" sz="20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59</a:t>
            </a:r>
            <a:r>
              <a:rPr kumimoji="1" lang="zh-CN" altLang="en-US" sz="20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：分裂</a:t>
            </a:r>
            <a:r>
              <a:rPr kumimoji="1" lang="en-US" altLang="zh-CN" sz="20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2</a:t>
            </a:r>
            <a:r>
              <a:rPr kumimoji="1" lang="zh-CN" altLang="en-US" sz="20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个节点</a:t>
            </a:r>
            <a:endParaRPr kumimoji="1" lang="en-US" altLang="zh-CN" sz="20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BD3DD81-B892-4D3E-B920-0BB2AFE6C429}"/>
              </a:ext>
            </a:extLst>
          </p:cNvPr>
          <p:cNvSpPr txBox="1"/>
          <p:nvPr/>
        </p:nvSpPr>
        <p:spPr>
          <a:xfrm>
            <a:off x="488036" y="5082441"/>
            <a:ext cx="28001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(3)</a:t>
            </a:r>
            <a:r>
              <a:rPr kumimoji="1" lang="zh-CN" altLang="en-US" sz="20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更新父节点指针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AB51C2D-9BEC-3A1E-1454-2ED68BFDF3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3138" y="2523433"/>
            <a:ext cx="6252474" cy="209656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2E9539B-6174-2FEA-7B22-5235CE25A3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7303" y="878863"/>
            <a:ext cx="6712251" cy="1553761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9C7A745B-2DB0-8579-ACDD-B5889C2C0A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7303" y="4670945"/>
            <a:ext cx="6828310" cy="2147194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364836407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3483E89-3F9F-EF60-B56C-FE5C9991B5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53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468D28B-C503-BDAD-C3B6-4A8A4DC12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B</a:t>
            </a:r>
            <a:r>
              <a:rPr kumimoji="1" lang="en-US" altLang="zh-CN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-link</a:t>
            </a:r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树插入操作：案例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AA2230-B56C-42B4-78C2-98DE31A13B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BFC26A5-7A7B-3EBE-2594-CFF53C272FDA}"/>
              </a:ext>
            </a:extLst>
          </p:cNvPr>
          <p:cNvSpPr txBox="1"/>
          <p:nvPr/>
        </p:nvSpPr>
        <p:spPr>
          <a:xfrm>
            <a:off x="233148" y="1618120"/>
            <a:ext cx="30640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(4)</a:t>
            </a:r>
            <a:r>
              <a:rPr kumimoji="1" lang="zh-CN" altLang="en-US" sz="20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 复制键值</a:t>
            </a:r>
            <a:r>
              <a:rPr kumimoji="1" lang="en-US" altLang="zh-CN" sz="20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50</a:t>
            </a:r>
            <a:r>
              <a:rPr kumimoji="1" lang="zh-CN" altLang="en-US" sz="20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到父节点，父节点分裂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57478D3-0851-F74D-29EF-284CCE3EA387}"/>
              </a:ext>
            </a:extLst>
          </p:cNvPr>
          <p:cNvSpPr txBox="1"/>
          <p:nvPr/>
        </p:nvSpPr>
        <p:spPr>
          <a:xfrm>
            <a:off x="233148" y="3397504"/>
            <a:ext cx="31385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(5)</a:t>
            </a:r>
            <a:r>
              <a:rPr kumimoji="1" lang="zh-CN" altLang="en-US" sz="20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 更新父节点指针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C51D1AD-D934-5071-C83A-E5085F8BC43E}"/>
              </a:ext>
            </a:extLst>
          </p:cNvPr>
          <p:cNvSpPr txBox="1"/>
          <p:nvPr/>
        </p:nvSpPr>
        <p:spPr>
          <a:xfrm>
            <a:off x="233148" y="4992222"/>
            <a:ext cx="30640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(6)</a:t>
            </a:r>
            <a:r>
              <a:rPr kumimoji="1" lang="zh-CN" altLang="en-US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移动键值</a:t>
            </a:r>
            <a:r>
              <a:rPr kumimoji="1" lang="en-US" altLang="zh-CN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50</a:t>
            </a:r>
            <a:r>
              <a:rPr kumimoji="1" lang="zh-CN" altLang="en-US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到父节点（根），更新指针 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50B2817-1917-D6DD-CD80-92ECDAB42D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6388" y="2062868"/>
            <a:ext cx="5275235" cy="225732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28445FB-133F-967E-1D16-5947599862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0859" y="587230"/>
            <a:ext cx="5267090" cy="225732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3F19A5F-2CC8-33B5-5304-57C323D92C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7116" y="3584346"/>
            <a:ext cx="5836992" cy="2501569"/>
          </a:xfrm>
          <a:prstGeom prst="rect">
            <a:avLst/>
          </a:prstGeom>
          <a:noFill/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A1F00E9-FDA6-0C4D-DCBD-5A913C68C4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907" y="5579369"/>
            <a:ext cx="6197951" cy="1266247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28111360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18">
            <a:extLst>
              <a:ext uri="{FF2B5EF4-FFF2-40B4-BE49-F238E27FC236}">
                <a16:creationId xmlns:a16="http://schemas.microsoft.com/office/drawing/2014/main" id="{FB8D3A61-2673-4A38-A58D-75F61627B938}"/>
              </a:ext>
            </a:extLst>
          </p:cNvPr>
          <p:cNvSpPr/>
          <p:nvPr/>
        </p:nvSpPr>
        <p:spPr>
          <a:xfrm>
            <a:off x="5863905" y="3602951"/>
            <a:ext cx="5931725" cy="2697813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dirty="0">
              <a:latin typeface="微软雅黑" panose="020B0503020204020204" pitchFamily="82" charset="2"/>
              <a:ea typeface="微软雅黑" panose="020B0503020204020204" pitchFamily="82" charset="2"/>
              <a:sym typeface="+mn-ea"/>
            </a:endParaRPr>
          </a:p>
        </p:txBody>
      </p:sp>
      <p:sp>
        <p:nvSpPr>
          <p:cNvPr id="8" name="Shape18">
            <a:extLst>
              <a:ext uri="{FF2B5EF4-FFF2-40B4-BE49-F238E27FC236}">
                <a16:creationId xmlns:a16="http://schemas.microsoft.com/office/drawing/2014/main" id="{FB8D3A61-2673-4A38-A58D-75F61627B938}"/>
              </a:ext>
            </a:extLst>
          </p:cNvPr>
          <p:cNvSpPr/>
          <p:nvPr/>
        </p:nvSpPr>
        <p:spPr>
          <a:xfrm>
            <a:off x="5863905" y="1008186"/>
            <a:ext cx="5931725" cy="2344579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dirty="0">
              <a:latin typeface="微软雅黑" panose="020B0503020204020204" pitchFamily="82" charset="2"/>
              <a:ea typeface="微软雅黑" panose="020B0503020204020204" pitchFamily="82" charset="2"/>
              <a:sym typeface="+mn-ea"/>
            </a:endParaRPr>
          </a:p>
        </p:txBody>
      </p:sp>
      <p:pic>
        <p:nvPicPr>
          <p:cNvPr id="6" name="图片 1">
            <a:extLst>
              <a:ext uri="{FF2B5EF4-FFF2-40B4-BE49-F238E27FC236}">
                <a16:creationId xmlns:a16="http://schemas.microsoft.com/office/drawing/2014/main" id="{26C9A818-6D89-1C65-55BC-B88C87553C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1811" y="1035727"/>
            <a:ext cx="5442236" cy="22080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14F0F1E-60E6-31B9-1B89-5C905D8F4C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54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D0D014D3-6257-8931-DBCC-4FB586302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Bw</a:t>
            </a:r>
            <a:r>
              <a:rPr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树</a:t>
            </a:r>
            <a:endParaRPr kumimoji="1" lang="zh-CN" altLang="en-US" sz="36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049F341-8500-A91C-DD98-942693E2C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506" y="1165552"/>
            <a:ext cx="5829811" cy="5005387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kumimoji="1" lang="en-US" altLang="zh-CN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B-link</a:t>
            </a:r>
            <a:r>
              <a:rPr kumimoji="1"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树仍然存在锁竞争</a:t>
            </a:r>
            <a:endParaRPr kumimoji="1"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Bw</a:t>
            </a: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树为无锁结构，避免锁竞争</a:t>
            </a:r>
            <a:endParaRPr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kumimoji="1"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页面不可修改</a:t>
            </a:r>
            <a:endParaRPr kumimoji="1"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kumimoji="1"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页面原位更新</a:t>
            </a:r>
            <a:r>
              <a:rPr kumimoji="1"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  <a:sym typeface="Wingdings" pitchFamily="2" charset="2"/>
              </a:rPr>
              <a:t></a:t>
            </a:r>
            <a:r>
              <a:rPr kumimoji="1"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增量更新页面</a:t>
            </a:r>
            <a:r>
              <a:rPr kumimoji="1"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(</a:t>
            </a:r>
            <a:r>
              <a:rPr kumimoji="1"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适合</a:t>
            </a:r>
            <a:r>
              <a:rPr kumimoji="1"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SSD/Flash)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避免多核下进行原地更新造成的缓存失效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通过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LSM-tree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思想合并更新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kumimoji="1"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使用</a:t>
            </a:r>
            <a:r>
              <a:rPr kumimoji="1" lang="en-US" altLang="zh-CN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CAS</a:t>
            </a:r>
            <a:r>
              <a:rPr kumimoji="1"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原子操作使更新生效</a:t>
            </a:r>
            <a:endParaRPr kumimoji="1"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原子操作避免出现中间不合法状态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26D67AC-1889-0502-3A3F-C17FF9773A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pic>
        <p:nvPicPr>
          <p:cNvPr id="7" name="图片 2">
            <a:extLst>
              <a:ext uri="{FF2B5EF4-FFF2-40B4-BE49-F238E27FC236}">
                <a16:creationId xmlns:a16="http://schemas.microsoft.com/office/drawing/2014/main" id="{89822C05-6D74-D89D-098B-BE99C80B7D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4317" y="3823084"/>
            <a:ext cx="5710864" cy="2227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2516148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90D936B-A5C8-EB48-2FD6-2076E36D44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55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2D8FDF9D-58DB-732C-5814-D7DE62253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Bw</a:t>
            </a:r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树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BA88DAB-D1E5-F4BF-FDC4-77E57452B5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56221" y="851793"/>
            <a:ext cx="8912634" cy="5005387"/>
          </a:xfrm>
        </p:spPr>
        <p:txBody>
          <a:bodyPr/>
          <a:lstStyle/>
          <a:p>
            <a:pPr lv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映射表：将页面逻辑</a:t>
            </a:r>
            <a:r>
              <a:rPr lang="en" altLang="zh-CN" sz="2400" b="1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ID</a:t>
            </a:r>
            <a:r>
              <a:rPr lang="zh-CN" altLang="en-US" sz="2400" b="1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映射到内存或硬盘的物理页面地址</a:t>
            </a:r>
            <a:endParaRPr lang="en-US" altLang="zh-CN" sz="2400" b="1" dirty="0">
              <a:solidFill>
                <a:srgbClr val="6F1787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2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</a:rPr>
              <a:t>原页面𝑃的物理地址</a:t>
            </a:r>
            <a:endParaRPr lang="en-US" altLang="zh-CN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2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</a:rPr>
              <a:t>页面逻辑</a:t>
            </a:r>
            <a:r>
              <a:rPr lang="en" altLang="zh-CN" dirty="0">
                <a:latin typeface="微软雅黑" panose="020B0503020204020204" pitchFamily="82" charset="2"/>
                <a:ea typeface="微软雅黑" panose="020B0503020204020204" pitchFamily="82" charset="2"/>
              </a:rPr>
              <a:t>ID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</a:rPr>
              <a:t>当前映射的物理地址</a:t>
            </a:r>
            <a:endParaRPr lang="en-US" altLang="zh-CN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2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</a:rPr>
              <a:t>以及增量记录</a:t>
            </a:r>
            <a:r>
              <a:rPr lang="el-GR" altLang="zh-CN" dirty="0">
                <a:latin typeface="微软雅黑" panose="020B0503020204020204" pitchFamily="82" charset="2"/>
                <a:ea typeface="微软雅黑" panose="020B0503020204020204" pitchFamily="82" charset="2"/>
              </a:rPr>
              <a:t>Δ𝐷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</a:rPr>
              <a:t>的物理地址</a:t>
            </a:r>
            <a:endParaRPr lang="en-US" altLang="zh-CN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2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" altLang="zh-CN" dirty="0">
                <a:latin typeface="微软雅黑" panose="020B0503020204020204" pitchFamily="82" charset="2"/>
                <a:ea typeface="微软雅黑" panose="020B0503020204020204" pitchFamily="82" charset="2"/>
              </a:rPr>
              <a:t>CAS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</a:rPr>
              <a:t>指令或者保留逻辑页面</a:t>
            </a:r>
            <a:r>
              <a:rPr lang="en" altLang="zh-CN" dirty="0">
                <a:latin typeface="微软雅黑" panose="020B0503020204020204" pitchFamily="82" charset="2"/>
                <a:ea typeface="微软雅黑" panose="020B0503020204020204" pitchFamily="82" charset="2"/>
              </a:rPr>
              <a:t>ID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</a:rPr>
              <a:t>当前</a:t>
            </a:r>
            <a:b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</a:rPr>
            </a:b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</a:rPr>
              <a:t>指向的物理地址，或者更新为</a:t>
            </a:r>
            <a:r>
              <a:rPr lang="el-GR" altLang="zh-CN" dirty="0">
                <a:latin typeface="微软雅黑" panose="020B0503020204020204" pitchFamily="82" charset="2"/>
                <a:ea typeface="微软雅黑" panose="020B0503020204020204" pitchFamily="82" charset="2"/>
              </a:rPr>
              <a:t>Δ𝐷</a:t>
            </a:r>
            <a:r>
              <a:rPr lang="zh-CN" altLang="el-GR" dirty="0">
                <a:latin typeface="微软雅黑" panose="020B0503020204020204" pitchFamily="82" charset="2"/>
                <a:ea typeface="微软雅黑" panose="020B0503020204020204" pitchFamily="82" charset="2"/>
              </a:rPr>
              <a:t>。</a:t>
            </a:r>
            <a:endParaRPr lang="zh-CN" altLang="en-US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E061AB-06FA-8C86-E372-0B40524936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5DCC39A-CF16-70AA-BDED-D94E858CE4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3402" y="1650894"/>
            <a:ext cx="6417082" cy="365155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5B9C945-989B-953F-84AB-A36EFF84AF0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52" b="83548"/>
          <a:stretch/>
        </p:blipFill>
        <p:spPr>
          <a:xfrm>
            <a:off x="-3616243" y="4449056"/>
            <a:ext cx="8740914" cy="1877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39740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18">
            <a:extLst>
              <a:ext uri="{FF2B5EF4-FFF2-40B4-BE49-F238E27FC236}">
                <a16:creationId xmlns:a16="http://schemas.microsoft.com/office/drawing/2014/main" id="{8A509705-AEB9-4993-825F-8826CF3AFE39}"/>
              </a:ext>
            </a:extLst>
          </p:cNvPr>
          <p:cNvSpPr/>
          <p:nvPr/>
        </p:nvSpPr>
        <p:spPr>
          <a:xfrm>
            <a:off x="5029200" y="1459523"/>
            <a:ext cx="6840511" cy="4563906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dirty="0">
              <a:latin typeface="微软雅黑" panose="020B0503020204020204" pitchFamily="82" charset="2"/>
              <a:ea typeface="微软雅黑" panose="020B0503020204020204" pitchFamily="82" charset="2"/>
              <a:sym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70D1190-B300-43F4-745E-01104AFDEA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0403" y="1827319"/>
            <a:ext cx="6608544" cy="3974681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48E1AE5-BCE9-2989-A8CB-2C08C9C6A4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56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13AE89E-BA11-4532-2C7D-A1B732C4B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Bw</a:t>
            </a:r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树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1AED0EC-30E1-6C56-A5F8-E89EE9E74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053" y="1577350"/>
            <a:ext cx="4368757" cy="3703300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页面映射表将逻辑页面</a:t>
            </a:r>
            <a:r>
              <a:rPr lang="en-US" altLang="zh-CN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ID</a:t>
            </a: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映射到链表第一个节点</a:t>
            </a:r>
            <a:endParaRPr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单页面更新</a:t>
            </a:r>
            <a:endParaRPr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链接更新页面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页面分裂</a:t>
            </a:r>
            <a:endParaRPr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借鉴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B-link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树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对插入节点与父节点</a:t>
            </a:r>
            <a:b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</a:b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页面更新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FB4EBD-DE62-598E-AD3B-59EF008228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17747083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18">
            <a:extLst>
              <a:ext uri="{FF2B5EF4-FFF2-40B4-BE49-F238E27FC236}">
                <a16:creationId xmlns:a16="http://schemas.microsoft.com/office/drawing/2014/main" id="{4B4A7FD3-3299-487B-B731-345864CC51B9}"/>
              </a:ext>
            </a:extLst>
          </p:cNvPr>
          <p:cNvSpPr/>
          <p:nvPr/>
        </p:nvSpPr>
        <p:spPr>
          <a:xfrm>
            <a:off x="1458001" y="1828799"/>
            <a:ext cx="8737034" cy="4719638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dirty="0">
              <a:latin typeface="微软雅黑" panose="020B0503020204020204" pitchFamily="82" charset="2"/>
              <a:ea typeface="微软雅黑" panose="020B0503020204020204" pitchFamily="82" charset="2"/>
              <a:sym typeface="+mn-ea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6C1CE12-4116-B9E7-57ED-CB2DB6A45A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57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05742550-E7B5-D148-3383-93FEA28B3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Bw</a:t>
            </a:r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树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13D2384-B7CD-066F-2B7B-28D286C4CD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8000" y="1126800"/>
            <a:ext cx="10874188" cy="5005387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删除导致节点合并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C697E39-C65D-231C-0BDA-F6E599CFDC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A2CB76A-C012-7C06-EDBD-FE72DC05FB1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/>
          <a:stretch/>
        </p:blipFill>
        <p:spPr>
          <a:xfrm>
            <a:off x="1996965" y="1828799"/>
            <a:ext cx="7634939" cy="4642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08486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: 形状 39">
            <a:extLst>
              <a:ext uri="{FF2B5EF4-FFF2-40B4-BE49-F238E27FC236}">
                <a16:creationId xmlns:a16="http://schemas.microsoft.com/office/drawing/2014/main" id="{168FC396-71A5-4E9A-91B4-9C546BA07118}"/>
              </a:ext>
            </a:extLst>
          </p:cNvPr>
          <p:cNvSpPr/>
          <p:nvPr/>
        </p:nvSpPr>
        <p:spPr bwMode="auto">
          <a:xfrm>
            <a:off x="712225" y="1186405"/>
            <a:ext cx="11231536" cy="4903310"/>
          </a:xfrm>
          <a:custGeom>
            <a:avLst/>
            <a:gdLst>
              <a:gd name="connsiteX0" fmla="*/ 0 w 6810034"/>
              <a:gd name="connsiteY0" fmla="*/ 0 h 678471"/>
              <a:gd name="connsiteX1" fmla="*/ 6810034 w 6810034"/>
              <a:gd name="connsiteY1" fmla="*/ 0 h 678471"/>
              <a:gd name="connsiteX2" fmla="*/ 6810034 w 6810034"/>
              <a:gd name="connsiteY2" fmla="*/ 678471 h 678471"/>
              <a:gd name="connsiteX3" fmla="*/ 0 w 6810034"/>
              <a:gd name="connsiteY3" fmla="*/ 678471 h 678471"/>
              <a:gd name="connsiteX4" fmla="*/ 0 w 6810034"/>
              <a:gd name="connsiteY4" fmla="*/ 0 h 678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10034" h="678471">
                <a:moveTo>
                  <a:pt x="0" y="0"/>
                </a:moveTo>
                <a:lnTo>
                  <a:pt x="6810034" y="0"/>
                </a:lnTo>
                <a:lnTo>
                  <a:pt x="6810034" y="678471"/>
                </a:lnTo>
                <a:lnTo>
                  <a:pt x="0" y="678471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6F1787">
                  <a:alpha val="20000"/>
                </a:srgbClr>
              </a:gs>
              <a:gs pos="100000">
                <a:srgbClr val="6F1787">
                  <a:alpha val="20000"/>
                </a:srgbClr>
              </a:gs>
              <a:gs pos="48000">
                <a:schemeClr val="bg1">
                  <a:alpha val="0"/>
                </a:schemeClr>
              </a:gs>
            </a:gsLst>
            <a:lin ang="13500000" scaled="0"/>
          </a:gra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华文楷体" pitchFamily="2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25E29CD-FBC0-9AD2-EC7E-EDC73CC6B1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58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DD2CCD0A-CAD0-194B-22B9-C8B30BF2C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Bw</a:t>
            </a:r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树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8E5F04F-3E12-DF39-E898-FC7338EB93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4685" y="1186405"/>
            <a:ext cx="10767551" cy="3840854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空间整理与回收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合适的时机将</a:t>
            </a:r>
            <a:r>
              <a:rPr lang="el-GR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Δ𝐷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的链与索引节点合并。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合并时</a:t>
            </a: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(</a:t>
            </a:r>
            <a:r>
              <a:rPr lang="en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Consolidation)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会创建一个新的节点，并通过</a:t>
            </a:r>
            <a:r>
              <a:rPr lang="en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CAS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将新节点添加到</a:t>
            </a:r>
            <a:r>
              <a:rPr lang="en" altLang="zh-CN" sz="2400" dirty="0" err="1">
                <a:latin typeface="微软雅黑" panose="020B0503020204020204" pitchFamily="82" charset="2"/>
                <a:ea typeface="微软雅黑" panose="020B0503020204020204" pitchFamily="82" charset="2"/>
              </a:rPr>
              <a:t>Bw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树上。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" altLang="zh-CN" sz="2400" dirty="0" err="1">
                <a:latin typeface="微软雅黑" panose="020B0503020204020204" pitchFamily="82" charset="2"/>
                <a:ea typeface="微软雅黑" panose="020B0503020204020204" pitchFamily="82" charset="2"/>
              </a:rPr>
              <a:t>Bw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树采用懒惰整理的策略，当查找时发现节点上记录链长度超过设定阈值时，会将记录转移到一整块新申请的物理页上，通过</a:t>
            </a:r>
            <a:r>
              <a:rPr lang="en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CAS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原子操作对页面映射表进行更新。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原页面通过垃圾回收机制完成释放，确保在没有其他线程引用后才进行回收。</a:t>
            </a:r>
          </a:p>
          <a:p>
            <a:endParaRPr kumimoji="1" lang="zh-CN" altLang="en-US" sz="28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D7C7DD-A5F4-A384-8E70-8541BE12AC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01774667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18">
            <a:extLst>
              <a:ext uri="{FF2B5EF4-FFF2-40B4-BE49-F238E27FC236}">
                <a16:creationId xmlns:a16="http://schemas.microsoft.com/office/drawing/2014/main" id="{5EE32D71-8EA8-4F51-9A4D-483CE4767E95}"/>
              </a:ext>
            </a:extLst>
          </p:cNvPr>
          <p:cNvSpPr/>
          <p:nvPr/>
        </p:nvSpPr>
        <p:spPr>
          <a:xfrm>
            <a:off x="3015427" y="1172238"/>
            <a:ext cx="6286222" cy="4566412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dirty="0">
              <a:latin typeface="OPPOSans M" panose="00020600040101010101" pitchFamily="18" charset="-122"/>
              <a:ea typeface="OPPOSans M" panose="00020600040101010101" pitchFamily="18" charset="-122"/>
              <a:sym typeface="+mn-ea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3C35F35-0D0B-BDBC-478B-23D7223FD1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59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C01FBE5-2997-DA5A-E679-2665D9279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目录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6F1E561-F548-2140-CB4E-A81D3F2686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12400" y="1447238"/>
            <a:ext cx="5807946" cy="419169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索引概述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B+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树索引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B+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树并发控制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sz="2400" b="1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哈希索引</a:t>
            </a:r>
            <a:endParaRPr lang="en-US" altLang="zh-CN" sz="2400" b="1" dirty="0">
              <a:solidFill>
                <a:srgbClr val="6F1787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SkipList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跳表索引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LSM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树索引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位图索引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多维索引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0" indent="0">
              <a:buNone/>
            </a:pP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     ——R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树、</a:t>
            </a: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KD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树、</a:t>
            </a: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Quadtree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、</a:t>
            </a: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Z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曲线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F725F9-5EC3-90CE-2C91-413426E802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43743156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18">
            <a:extLst>
              <a:ext uri="{FF2B5EF4-FFF2-40B4-BE49-F238E27FC236}">
                <a16:creationId xmlns:a16="http://schemas.microsoft.com/office/drawing/2014/main" id="{FE09226D-C4B7-4221-9EF9-ECEDF62F64FC}"/>
              </a:ext>
            </a:extLst>
          </p:cNvPr>
          <p:cNvSpPr/>
          <p:nvPr/>
        </p:nvSpPr>
        <p:spPr>
          <a:xfrm>
            <a:off x="3320714" y="1201056"/>
            <a:ext cx="5550569" cy="4455887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dirty="0">
              <a:latin typeface="微软雅黑" panose="020B0503020204020204" pitchFamily="82" charset="2"/>
              <a:ea typeface="微软雅黑" panose="020B0503020204020204" pitchFamily="82" charset="2"/>
              <a:sym typeface="+mn-ea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3C35F35-0D0B-BDBC-478B-23D7223FD1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60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C01FBE5-2997-DA5A-E679-2665D9279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目录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6F1E561-F548-2140-CB4E-A81D3F2686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0342" y="1385863"/>
            <a:ext cx="10874188" cy="5422899"/>
          </a:xfrm>
        </p:spPr>
        <p:txBody>
          <a:bodyPr/>
          <a:lstStyle/>
          <a:p>
            <a:pPr marL="457200" indent="-457200">
              <a:buFont typeface="+mj-lt"/>
              <a:buAutoNum type="arabicPeriod" startAt="4"/>
            </a:pPr>
            <a:r>
              <a:rPr kumimoji="1"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哈希索引</a:t>
            </a:r>
            <a:endParaRPr kumimoji="1"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316531" lvl="1" indent="-31653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哈希函数</a:t>
            </a:r>
            <a:endParaRPr lang="en-US" altLang="zh-CN" sz="20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316531" lvl="1" indent="-31653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静态哈希：哈希桶数不变</a:t>
            </a:r>
            <a:endParaRPr lang="en-US" altLang="zh-CN" sz="20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2"/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闭哈希：寻找空位置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3">
              <a:buSzPct val="50000"/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线性探测新位置（容易堆积）</a:t>
            </a:r>
            <a:endParaRPr lang="en-US" altLang="zh-CN" sz="2000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3">
              <a:buSzPct val="50000"/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平方探测新位置</a:t>
            </a:r>
            <a:endParaRPr lang="en-US" altLang="zh-CN" sz="2000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2"/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开哈希：哈希桶链表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316531" lvl="1" indent="-31653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动态哈希：哈希桶数动态变化</a:t>
            </a:r>
            <a:endParaRPr lang="en-US" altLang="zh-CN" sz="20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2"/>
            <a:r>
              <a:rPr kumimoji="1"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可扩展哈希表</a:t>
            </a:r>
            <a:endParaRPr kumimoji="1"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2"/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线性哈希表</a:t>
            </a:r>
            <a:endParaRPr kumimoji="1"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A179B2-34D5-9E02-793B-4011A6E0C8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72634393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18">
            <a:extLst>
              <a:ext uri="{FF2B5EF4-FFF2-40B4-BE49-F238E27FC236}">
                <a16:creationId xmlns:a16="http://schemas.microsoft.com/office/drawing/2014/main" id="{FE09226D-C4B7-4221-9EF9-ECEDF62F64FC}"/>
              </a:ext>
            </a:extLst>
          </p:cNvPr>
          <p:cNvSpPr/>
          <p:nvPr/>
        </p:nvSpPr>
        <p:spPr>
          <a:xfrm>
            <a:off x="2968336" y="2315711"/>
            <a:ext cx="6005982" cy="4113369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dirty="0">
              <a:latin typeface="微软雅黑" panose="020B0503020204020204" pitchFamily="82" charset="2"/>
              <a:ea typeface="微软雅黑" panose="020B0503020204020204" pitchFamily="82" charset="2"/>
              <a:sym typeface="+mn-ea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2560DAA-9928-6F9E-718C-DEAC1ADF8C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61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2CC3A5C5-51A5-8840-5CAE-7287889B5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哈希函数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1366D96-1249-CA17-5A0D-C1E221898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8000" y="1126800"/>
            <a:ext cx="10874188" cy="2103437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给定查找键，返回一个整数表示（哈希值）</a:t>
            </a:r>
            <a:endParaRPr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哈希值用于确定查找键在哈希表中的位置</a:t>
            </a:r>
            <a:endParaRPr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endParaRPr kumimoji="1" lang="zh-CN" altLang="en-US" sz="28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FED693-42A9-7235-7523-5590DAF42A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9339945-04ED-5BD5-B2FC-F5AB8AFF04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5506" y="2407834"/>
            <a:ext cx="5249033" cy="3829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59830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任意多边形: 形状 39">
            <a:extLst>
              <a:ext uri="{FF2B5EF4-FFF2-40B4-BE49-F238E27FC236}">
                <a16:creationId xmlns:a16="http://schemas.microsoft.com/office/drawing/2014/main" id="{168FC396-71A5-4E9A-91B4-9C546BA07118}"/>
              </a:ext>
            </a:extLst>
          </p:cNvPr>
          <p:cNvSpPr/>
          <p:nvPr/>
        </p:nvSpPr>
        <p:spPr bwMode="auto">
          <a:xfrm>
            <a:off x="712225" y="1186405"/>
            <a:ext cx="10767551" cy="4629933"/>
          </a:xfrm>
          <a:custGeom>
            <a:avLst/>
            <a:gdLst>
              <a:gd name="connsiteX0" fmla="*/ 0 w 6810034"/>
              <a:gd name="connsiteY0" fmla="*/ 0 h 678471"/>
              <a:gd name="connsiteX1" fmla="*/ 6810034 w 6810034"/>
              <a:gd name="connsiteY1" fmla="*/ 0 h 678471"/>
              <a:gd name="connsiteX2" fmla="*/ 6810034 w 6810034"/>
              <a:gd name="connsiteY2" fmla="*/ 678471 h 678471"/>
              <a:gd name="connsiteX3" fmla="*/ 0 w 6810034"/>
              <a:gd name="connsiteY3" fmla="*/ 678471 h 678471"/>
              <a:gd name="connsiteX4" fmla="*/ 0 w 6810034"/>
              <a:gd name="connsiteY4" fmla="*/ 0 h 678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10034" h="678471">
                <a:moveTo>
                  <a:pt x="0" y="0"/>
                </a:moveTo>
                <a:lnTo>
                  <a:pt x="6810034" y="0"/>
                </a:lnTo>
                <a:lnTo>
                  <a:pt x="6810034" y="678471"/>
                </a:lnTo>
                <a:lnTo>
                  <a:pt x="0" y="678471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6F1787">
                  <a:alpha val="20000"/>
                </a:srgbClr>
              </a:gs>
              <a:gs pos="100000">
                <a:srgbClr val="6F1787">
                  <a:alpha val="20000"/>
                </a:srgbClr>
              </a:gs>
              <a:gs pos="48000">
                <a:schemeClr val="bg1">
                  <a:alpha val="0"/>
                </a:schemeClr>
              </a:gs>
            </a:gsLst>
            <a:lin ang="13500000" scaled="0"/>
          </a:gra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华文楷体" pitchFamily="2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A922C77-E0BE-8B6C-C8B7-7F606432F1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62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6ECA9B7F-F13F-52D3-6370-BA12A483D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哈希函数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7C84AB2-677F-4CDA-8330-AE6B13ABEF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7806" y="1459912"/>
            <a:ext cx="10874188" cy="5005387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MD5</a:t>
            </a: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SHA256</a:t>
            </a: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CRC-64(1975)</a:t>
            </a: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PostgreSQL Lookup3Hash(2006)</a:t>
            </a: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sz="2000" b="1" dirty="0" err="1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MurmurHash</a:t>
            </a:r>
            <a:r>
              <a:rPr lang="en-US" altLang="zh-CN" sz="20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(2008)</a:t>
            </a: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Google </a:t>
            </a:r>
            <a:r>
              <a:rPr lang="en-US" altLang="zh-CN" sz="2000" b="1" dirty="0" err="1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CityHash</a:t>
            </a:r>
            <a:r>
              <a:rPr lang="en-US" altLang="zh-CN" sz="20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(2011)</a:t>
            </a: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Facebook </a:t>
            </a:r>
            <a:r>
              <a:rPr lang="en-US" altLang="zh-CN" sz="2000" b="1" dirty="0" err="1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RocksDB</a:t>
            </a:r>
            <a:r>
              <a:rPr lang="en-US" altLang="zh-CN" sz="20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2000" b="1" dirty="0" err="1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XXHash</a:t>
            </a:r>
            <a:r>
              <a:rPr lang="en-US" altLang="zh-CN" sz="20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(2012)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491C30C-0340-2F9C-6EBF-19749FF24C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6" name="右大括号 5">
            <a:extLst>
              <a:ext uri="{FF2B5EF4-FFF2-40B4-BE49-F238E27FC236}">
                <a16:creationId xmlns:a16="http://schemas.microsoft.com/office/drawing/2014/main" id="{80E2C413-44DB-9FE9-C84E-8A865E8E0EEA}"/>
              </a:ext>
            </a:extLst>
          </p:cNvPr>
          <p:cNvSpPr/>
          <p:nvPr/>
        </p:nvSpPr>
        <p:spPr bwMode="auto">
          <a:xfrm>
            <a:off x="2559509" y="1631034"/>
            <a:ext cx="342900" cy="596086"/>
          </a:xfrm>
          <a:prstGeom prst="rightBrace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0AA3290-B0D9-3A99-5DEF-E94172BD69E8}"/>
              </a:ext>
            </a:extLst>
          </p:cNvPr>
          <p:cNvSpPr txBox="1"/>
          <p:nvPr/>
        </p:nvSpPr>
        <p:spPr>
          <a:xfrm>
            <a:off x="3049944" y="1721946"/>
            <a:ext cx="76226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加密哈希，防止构造哈希碰撞，用于认证、防篡改等情况，速度慢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D2F4F46-23AD-97CC-3692-CCF22E11CE82}"/>
              </a:ext>
            </a:extLst>
          </p:cNvPr>
          <p:cNvSpPr txBox="1"/>
          <p:nvPr/>
        </p:nvSpPr>
        <p:spPr>
          <a:xfrm>
            <a:off x="3143044" y="2446118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用于错误校验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FB0EEE1-2DCE-86D8-1E36-D948D76304FA}"/>
              </a:ext>
            </a:extLst>
          </p:cNvPr>
          <p:cNvSpPr txBox="1"/>
          <p:nvPr/>
        </p:nvSpPr>
        <p:spPr>
          <a:xfrm>
            <a:off x="3916898" y="3362353"/>
            <a:ext cx="27494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快速、通用的哈希函数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85E23A7-861C-FBC5-C06A-0D0A305F392D}"/>
              </a:ext>
            </a:extLst>
          </p:cNvPr>
          <p:cNvSpPr txBox="1"/>
          <p:nvPr/>
        </p:nvSpPr>
        <p:spPr>
          <a:xfrm>
            <a:off x="5717473" y="4282288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速度最快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54D7B7F-87D2-C557-B2FD-36830179AF6B}"/>
              </a:ext>
            </a:extLst>
          </p:cNvPr>
          <p:cNvSpPr txBox="1"/>
          <p:nvPr/>
        </p:nvSpPr>
        <p:spPr>
          <a:xfrm>
            <a:off x="4361169" y="3822587"/>
            <a:ext cx="32624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更适用于长度较短的查找键</a:t>
            </a:r>
          </a:p>
        </p:txBody>
      </p:sp>
    </p:spTree>
    <p:extLst>
      <p:ext uri="{BB962C8B-B14F-4D97-AF65-F5344CB8AC3E}">
        <p14:creationId xmlns:p14="http://schemas.microsoft.com/office/powerpoint/2010/main" val="18552959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18">
            <a:extLst>
              <a:ext uri="{FF2B5EF4-FFF2-40B4-BE49-F238E27FC236}">
                <a16:creationId xmlns:a16="http://schemas.microsoft.com/office/drawing/2014/main" id="{FE09226D-C4B7-4221-9EF9-ECEDF62F64FC}"/>
              </a:ext>
            </a:extLst>
          </p:cNvPr>
          <p:cNvSpPr/>
          <p:nvPr/>
        </p:nvSpPr>
        <p:spPr>
          <a:xfrm>
            <a:off x="6285174" y="2049587"/>
            <a:ext cx="5436295" cy="3801197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dirty="0">
              <a:latin typeface="微软雅黑" panose="020B0503020204020204" pitchFamily="82" charset="2"/>
              <a:ea typeface="微软雅黑" panose="020B0503020204020204" pitchFamily="82" charset="2"/>
              <a:sym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101FA8A-DE6A-D800-DEA8-B0E20EA5CE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4393" y="2259647"/>
            <a:ext cx="4549664" cy="3319416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DFF6817-88B7-E882-E2D0-B464C6454A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63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5C5DF33A-7C91-2152-D536-C66F88873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哈希表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A439362-3702-E2A9-5186-D773EB1590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531" y="1378057"/>
            <a:ext cx="10874188" cy="3775074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持续向哈希表插入数据，桶溢出不可避免</a:t>
            </a:r>
            <a:endParaRPr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连接空页面形成链表</a:t>
            </a:r>
            <a:endParaRPr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降低查找性能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静态哈希表</a:t>
            </a:r>
            <a:endParaRPr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桶数固定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溢出时需要分配更多桶，重新哈希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316531" lvl="1" indent="-31653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动态哈希表</a:t>
            </a:r>
            <a:endParaRPr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动态调整桶数的哈希表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可扩展哈希表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线性哈希表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/>
            <a:endParaRPr lang="en-US" altLang="zh-CN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0B6929-120B-E3DB-4340-19C63EDADB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21374360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18">
            <a:extLst>
              <a:ext uri="{FF2B5EF4-FFF2-40B4-BE49-F238E27FC236}">
                <a16:creationId xmlns:a16="http://schemas.microsoft.com/office/drawing/2014/main" id="{FE09226D-C4B7-4221-9EF9-ECEDF62F64FC}"/>
              </a:ext>
            </a:extLst>
          </p:cNvPr>
          <p:cNvSpPr/>
          <p:nvPr/>
        </p:nvSpPr>
        <p:spPr>
          <a:xfrm>
            <a:off x="1335800" y="4105240"/>
            <a:ext cx="5288284" cy="2411906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dirty="0">
              <a:latin typeface="微软雅黑" panose="020B0503020204020204" pitchFamily="82" charset="2"/>
              <a:ea typeface="微软雅黑" panose="020B0503020204020204" pitchFamily="82" charset="2"/>
              <a:sym typeface="+mn-ea"/>
            </a:endParaRPr>
          </a:p>
        </p:txBody>
      </p:sp>
      <p:sp>
        <p:nvSpPr>
          <p:cNvPr id="24" name="Shape18">
            <a:extLst>
              <a:ext uri="{FF2B5EF4-FFF2-40B4-BE49-F238E27FC236}">
                <a16:creationId xmlns:a16="http://schemas.microsoft.com/office/drawing/2014/main" id="{FE09226D-C4B7-4221-9EF9-ECEDF62F64FC}"/>
              </a:ext>
            </a:extLst>
          </p:cNvPr>
          <p:cNvSpPr/>
          <p:nvPr/>
        </p:nvSpPr>
        <p:spPr>
          <a:xfrm>
            <a:off x="7695395" y="1134208"/>
            <a:ext cx="2927034" cy="3835284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dirty="0">
              <a:latin typeface="微软雅黑" panose="020B0503020204020204" pitchFamily="82" charset="2"/>
              <a:ea typeface="微软雅黑" panose="020B0503020204020204" pitchFamily="82" charset="2"/>
              <a:sym typeface="+mn-ea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A4E188A-2260-A649-A3F3-78B51411DA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64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289CD77F-B02B-CEE0-3C97-BA3147672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静态哈希表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86E8B768-778D-3965-6C2A-5A164AD4CA2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69157" y="906085"/>
                <a:ext cx="6426010" cy="3093430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  <a:spcBef>
                    <a:spcPts val="0"/>
                  </a:spcBef>
                  <a:buFont typeface="Wingdings" panose="05000000000000000000" pitchFamily="2" charset="2"/>
                  <a:buChar char="Ø"/>
                </a:pPr>
                <a:r>
                  <a:rPr lang="zh-CN" altLang="en-US" sz="2400" b="1" dirty="0">
                    <a:solidFill>
                      <a:srgbClr val="701988"/>
                    </a:solidFill>
                    <a:latin typeface="微软雅黑" panose="020B0503020204020204" pitchFamily="82" charset="2"/>
                    <a:ea typeface="微软雅黑" panose="020B0503020204020204" pitchFamily="82" charset="2"/>
                  </a:rPr>
                  <a:t>闭哈希：当插入哈希值满时，寻找空位置</a:t>
                </a:r>
              </a:p>
              <a:p>
                <a:pPr lvl="1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2000" dirty="0">
                    <a:latin typeface="微软雅黑" panose="020B0503020204020204" pitchFamily="82" charset="2"/>
                    <a:ea typeface="微软雅黑" panose="020B0503020204020204" pitchFamily="82" charset="2"/>
                  </a:rPr>
                  <a:t>线性探测新位置（容易堆积）</a:t>
                </a:r>
                <a:endParaRPr lang="en-US" altLang="zh-CN" sz="2000" dirty="0">
                  <a:latin typeface="微软雅黑" panose="020B0503020204020204" pitchFamily="82" charset="2"/>
                  <a:ea typeface="微软雅黑" panose="020B0503020204020204" pitchFamily="82" charset="2"/>
                </a:endParaRPr>
              </a:p>
              <a:p>
                <a:pPr lvl="2">
                  <a:buSzPct val="50000"/>
                  <a:buFont typeface="Wingdings" panose="05000000000000000000" pitchFamily="2" charset="2"/>
                  <a:buChar char="p"/>
                </a:pP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  <a:ea typeface="微软雅黑" panose="020B0503020204020204" pitchFamily="82" charset="2"/>
                      </a:rPr>
                      <m:t>+</m:t>
                    </m:r>
                    <m:r>
                      <a:rPr lang="en-US" altLang="zh-CN">
                        <a:latin typeface="Cambria Math" panose="02040503050406030204" pitchFamily="18" charset="0"/>
                        <a:ea typeface="微软雅黑" panose="020B0503020204020204" pitchFamily="82" charset="2"/>
                      </a:rPr>
                      <m:t>𝑖</m:t>
                    </m:r>
                  </m:oMath>
                </a14:m>
                <a:endParaRPr lang="zh-CN" altLang="en-US" dirty="0">
                  <a:latin typeface="微软雅黑" panose="020B0503020204020204" pitchFamily="82" charset="2"/>
                  <a:ea typeface="微软雅黑" panose="020B0503020204020204" pitchFamily="82" charset="2"/>
                </a:endParaRPr>
              </a:p>
              <a:p>
                <a:pPr lvl="1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2000" dirty="0">
                    <a:latin typeface="微软雅黑" panose="020B0503020204020204" pitchFamily="82" charset="2"/>
                    <a:ea typeface="微软雅黑" panose="020B0503020204020204" pitchFamily="82" charset="2"/>
                  </a:rPr>
                  <a:t>平方探测新位置</a:t>
                </a:r>
                <a:endParaRPr lang="en-US" altLang="zh-CN" sz="2000" dirty="0">
                  <a:latin typeface="微软雅黑" panose="020B0503020204020204" pitchFamily="82" charset="2"/>
                  <a:ea typeface="微软雅黑" panose="020B0503020204020204" pitchFamily="82" charset="2"/>
                </a:endParaRPr>
              </a:p>
              <a:p>
                <a:pPr lvl="2">
                  <a:buSzPct val="50000"/>
                  <a:buFont typeface="Wingdings" panose="05000000000000000000" pitchFamily="2" charset="2"/>
                  <a:buChar char="p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</m:ctrlPr>
                      </m:sSupPr>
                      <m:e>
                        <m:r>
                          <a:rPr lang="en-US" altLang="zh-CN"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  <m:t>+</m:t>
                        </m:r>
                        <m:r>
                          <a:rPr lang="en-US" altLang="zh-CN"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  <m:t>𝑖</m:t>
                        </m:r>
                      </m:e>
                      <m:sup>
                        <m:r>
                          <a:rPr lang="en-US" altLang="zh-CN"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  <m:t>2</m:t>
                        </m:r>
                      </m:sup>
                    </m:sSup>
                  </m:oMath>
                </a14:m>
                <a:endParaRPr lang="zh-CN" altLang="en-US" dirty="0">
                  <a:latin typeface="微软雅黑" panose="020B0503020204020204" pitchFamily="82" charset="2"/>
                  <a:ea typeface="微软雅黑" panose="020B0503020204020204" pitchFamily="82" charset="2"/>
                </a:endParaRP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  <a:buFont typeface="Wingdings" panose="05000000000000000000" pitchFamily="2" charset="2"/>
                  <a:buChar char="Ø"/>
                </a:pPr>
                <a:r>
                  <a:rPr lang="zh-CN" altLang="en-US" sz="2400" b="1" dirty="0">
                    <a:solidFill>
                      <a:srgbClr val="701988"/>
                    </a:solidFill>
                    <a:latin typeface="微软雅黑" panose="020B0503020204020204" pitchFamily="82" charset="2"/>
                    <a:ea typeface="微软雅黑" panose="020B0503020204020204" pitchFamily="82" charset="2"/>
                  </a:rPr>
                  <a:t>开哈希：当插入哈希值满时，新建哈希桶，通过哈希桶链表链接</a:t>
                </a:r>
              </a:p>
              <a:p>
                <a:endParaRPr kumimoji="1" lang="zh-CN" altLang="en-US" sz="2800" dirty="0">
                  <a:latin typeface="微软雅黑" panose="020B0503020204020204" pitchFamily="82" charset="2"/>
                  <a:ea typeface="微软雅黑" panose="020B0503020204020204" pitchFamily="82" charset="2"/>
                </a:endParaRPr>
              </a:p>
            </p:txBody>
          </p:sp>
        </mc:Choice>
        <mc:Fallback xmlns="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86E8B768-778D-3965-6C2A-5A164AD4CA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69157" y="906085"/>
                <a:ext cx="6426010" cy="3093430"/>
              </a:xfrm>
              <a:blipFill>
                <a:blip r:embed="rId3"/>
                <a:stretch>
                  <a:fillRect l="-1381" b="-69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E1F6F0-ECF7-2BAB-24C6-DAD79235B9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E38EEBE1-1F08-A89B-FAD4-92F98EB094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0136684"/>
              </p:ext>
            </p:extLst>
          </p:nvPr>
        </p:nvGraphicFramePr>
        <p:xfrm>
          <a:off x="1490260" y="4201951"/>
          <a:ext cx="583787" cy="2209470"/>
        </p:xfrm>
        <a:graphic>
          <a:graphicData uri="http://schemas.openxmlformats.org/drawingml/2006/table">
            <a:tbl>
              <a:tblPr firstRow="1" bandRow="1"/>
              <a:tblGrid>
                <a:gridCol w="583787">
                  <a:extLst>
                    <a:ext uri="{9D8B030D-6E8A-4147-A177-3AD203B41FA5}">
                      <a16:colId xmlns:a16="http://schemas.microsoft.com/office/drawing/2014/main" val="3588633832"/>
                    </a:ext>
                  </a:extLst>
                </a:gridCol>
              </a:tblGrid>
              <a:tr h="368245">
                <a:tc>
                  <a:txBody>
                    <a:bodyPr/>
                    <a:lstStyle/>
                    <a:p>
                      <a:r>
                        <a:rPr lang="en-US" altLang="zh-CN" sz="1500" dirty="0"/>
                        <a:t>100</a:t>
                      </a:r>
                      <a:endParaRPr lang="zh-CN" altLang="en-US" sz="1500" dirty="0"/>
                    </a:p>
                  </a:txBody>
                  <a:tcPr marL="83975" marR="83975" marT="41988" marB="41988"/>
                </a:tc>
                <a:extLst>
                  <a:ext uri="{0D108BD9-81ED-4DB2-BD59-A6C34878D82A}">
                    <a16:rowId xmlns:a16="http://schemas.microsoft.com/office/drawing/2014/main" val="2759441720"/>
                  </a:ext>
                </a:extLst>
              </a:tr>
              <a:tr h="368245">
                <a:tc>
                  <a:txBody>
                    <a:bodyPr/>
                    <a:lstStyle/>
                    <a:p>
                      <a:r>
                        <a:rPr lang="en-US" altLang="zh-CN" sz="1500" dirty="0"/>
                        <a:t>600</a:t>
                      </a:r>
                      <a:endParaRPr lang="zh-CN" altLang="en-US" sz="1500" dirty="0"/>
                    </a:p>
                  </a:txBody>
                  <a:tcPr marL="83975" marR="83975" marT="41988" marB="41988"/>
                </a:tc>
                <a:extLst>
                  <a:ext uri="{0D108BD9-81ED-4DB2-BD59-A6C34878D82A}">
                    <a16:rowId xmlns:a16="http://schemas.microsoft.com/office/drawing/2014/main" val="3821553697"/>
                  </a:ext>
                </a:extLst>
              </a:tr>
              <a:tr h="368245">
                <a:tc>
                  <a:txBody>
                    <a:bodyPr/>
                    <a:lstStyle/>
                    <a:p>
                      <a:r>
                        <a:rPr lang="en-US" altLang="zh-CN" sz="1500" dirty="0"/>
                        <a:t>200</a:t>
                      </a:r>
                      <a:endParaRPr lang="zh-CN" altLang="en-US" sz="1500" dirty="0"/>
                    </a:p>
                  </a:txBody>
                  <a:tcPr marL="83975" marR="83975" marT="41988" marB="41988"/>
                </a:tc>
                <a:extLst>
                  <a:ext uri="{0D108BD9-81ED-4DB2-BD59-A6C34878D82A}">
                    <a16:rowId xmlns:a16="http://schemas.microsoft.com/office/drawing/2014/main" val="2280487093"/>
                  </a:ext>
                </a:extLst>
              </a:tr>
              <a:tr h="368245">
                <a:tc>
                  <a:txBody>
                    <a:bodyPr/>
                    <a:lstStyle/>
                    <a:p>
                      <a:endParaRPr lang="zh-CN" altLang="en-US" sz="1500" dirty="0"/>
                    </a:p>
                  </a:txBody>
                  <a:tcPr marL="83975" marR="83975" marT="41988" marB="41988"/>
                </a:tc>
                <a:extLst>
                  <a:ext uri="{0D108BD9-81ED-4DB2-BD59-A6C34878D82A}">
                    <a16:rowId xmlns:a16="http://schemas.microsoft.com/office/drawing/2014/main" val="2397390476"/>
                  </a:ext>
                </a:extLst>
              </a:tr>
              <a:tr h="368245">
                <a:tc>
                  <a:txBody>
                    <a:bodyPr/>
                    <a:lstStyle/>
                    <a:p>
                      <a:r>
                        <a:rPr lang="en-US" altLang="zh-CN" sz="1500" dirty="0"/>
                        <a:t>800</a:t>
                      </a:r>
                      <a:endParaRPr lang="zh-CN" altLang="en-US" sz="1500" dirty="0"/>
                    </a:p>
                  </a:txBody>
                  <a:tcPr marL="83975" marR="83975" marT="41988" marB="41988"/>
                </a:tc>
                <a:extLst>
                  <a:ext uri="{0D108BD9-81ED-4DB2-BD59-A6C34878D82A}">
                    <a16:rowId xmlns:a16="http://schemas.microsoft.com/office/drawing/2014/main" val="3926183075"/>
                  </a:ext>
                </a:extLst>
              </a:tr>
              <a:tr h="368245">
                <a:tc>
                  <a:txBody>
                    <a:bodyPr/>
                    <a:lstStyle/>
                    <a:p>
                      <a:r>
                        <a:rPr lang="en-US" altLang="zh-CN" sz="1500" dirty="0"/>
                        <a:t>300</a:t>
                      </a:r>
                      <a:endParaRPr lang="zh-CN" altLang="en-US" sz="1500" dirty="0"/>
                    </a:p>
                  </a:txBody>
                  <a:tcPr marL="83975" marR="83975" marT="41988" marB="41988"/>
                </a:tc>
                <a:extLst>
                  <a:ext uri="{0D108BD9-81ED-4DB2-BD59-A6C34878D82A}">
                    <a16:rowId xmlns:a16="http://schemas.microsoft.com/office/drawing/2014/main" val="829509231"/>
                  </a:ext>
                </a:extLst>
              </a:tr>
            </a:tbl>
          </a:graphicData>
        </a:graphic>
      </p:graphicFrame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90FA68BC-E26F-C156-0CD2-8D5D51338080}"/>
              </a:ext>
            </a:extLst>
          </p:cNvPr>
          <p:cNvCxnSpPr>
            <a:cxnSpLocks/>
          </p:cNvCxnSpPr>
          <p:nvPr/>
        </p:nvCxnSpPr>
        <p:spPr bwMode="auto">
          <a:xfrm>
            <a:off x="2088047" y="4411458"/>
            <a:ext cx="495214" cy="1"/>
          </a:xfrm>
          <a:prstGeom prst="straightConnector1">
            <a:avLst/>
          </a:prstGeom>
          <a:ln>
            <a:headEnd type="none" w="med" len="med"/>
            <a:tailEnd type="triangle"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591E5F36-48C0-C1A1-3031-CC3FD127989D}"/>
              </a:ext>
            </a:extLst>
          </p:cNvPr>
          <p:cNvCxnSpPr>
            <a:cxnSpLocks/>
          </p:cNvCxnSpPr>
          <p:nvPr/>
        </p:nvCxnSpPr>
        <p:spPr bwMode="auto">
          <a:xfrm>
            <a:off x="2088047" y="5120906"/>
            <a:ext cx="495214" cy="1"/>
          </a:xfrm>
          <a:prstGeom prst="straightConnector1">
            <a:avLst/>
          </a:prstGeom>
          <a:ln>
            <a:headEnd type="none" w="med" len="med"/>
            <a:tailEnd type="triangle"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99E25705-F078-6A39-3185-6997FF5D8CEA}"/>
              </a:ext>
            </a:extLst>
          </p:cNvPr>
          <p:cNvSpPr/>
          <p:nvPr/>
        </p:nvSpPr>
        <p:spPr bwMode="auto">
          <a:xfrm>
            <a:off x="2632542" y="4291031"/>
            <a:ext cx="666363" cy="266318"/>
          </a:xfrm>
          <a:prstGeom prst="rect">
            <a:avLst/>
          </a:prstGeom>
          <a:noFill/>
          <a:ln w="381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CFECBE5F-C5FF-F42D-3DCB-DEB206D54EB8}"/>
              </a:ext>
            </a:extLst>
          </p:cNvPr>
          <p:cNvCxnSpPr>
            <a:cxnSpLocks/>
          </p:cNvCxnSpPr>
          <p:nvPr/>
        </p:nvCxnSpPr>
        <p:spPr bwMode="auto">
          <a:xfrm>
            <a:off x="3314488" y="4411458"/>
            <a:ext cx="495214" cy="1"/>
          </a:xfrm>
          <a:prstGeom prst="straightConnector1">
            <a:avLst/>
          </a:prstGeom>
          <a:ln>
            <a:headEnd type="none" w="med" len="med"/>
            <a:tailEnd type="triangle"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F0DCDE0D-4A67-A44E-80A6-A13BB7686D97}"/>
              </a:ext>
            </a:extLst>
          </p:cNvPr>
          <p:cNvSpPr/>
          <p:nvPr/>
        </p:nvSpPr>
        <p:spPr bwMode="auto">
          <a:xfrm>
            <a:off x="3858983" y="4291031"/>
            <a:ext cx="666363" cy="266318"/>
          </a:xfrm>
          <a:prstGeom prst="rect">
            <a:avLst/>
          </a:prstGeom>
          <a:noFill/>
          <a:ln w="381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C6A9869A-9060-98B2-7832-924D2D75AC15}"/>
              </a:ext>
            </a:extLst>
          </p:cNvPr>
          <p:cNvCxnSpPr>
            <a:cxnSpLocks/>
          </p:cNvCxnSpPr>
          <p:nvPr/>
        </p:nvCxnSpPr>
        <p:spPr bwMode="auto">
          <a:xfrm>
            <a:off x="4542851" y="4411458"/>
            <a:ext cx="495214" cy="1"/>
          </a:xfrm>
          <a:prstGeom prst="straightConnector1">
            <a:avLst/>
          </a:prstGeom>
          <a:ln>
            <a:headEnd type="none" w="med" len="med"/>
            <a:tailEnd type="triangle"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54F587F5-7BC2-8DD4-DE50-FA624067C9DB}"/>
              </a:ext>
            </a:extLst>
          </p:cNvPr>
          <p:cNvSpPr/>
          <p:nvPr/>
        </p:nvSpPr>
        <p:spPr bwMode="auto">
          <a:xfrm>
            <a:off x="5055447" y="4291031"/>
            <a:ext cx="666363" cy="266318"/>
          </a:xfrm>
          <a:prstGeom prst="rect">
            <a:avLst/>
          </a:prstGeom>
          <a:noFill/>
          <a:ln w="381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71BAF86-BD7D-B6F4-812D-199A7A7FB0E1}"/>
              </a:ext>
            </a:extLst>
          </p:cNvPr>
          <p:cNvSpPr/>
          <p:nvPr/>
        </p:nvSpPr>
        <p:spPr bwMode="auto">
          <a:xfrm>
            <a:off x="2632542" y="5007431"/>
            <a:ext cx="666363" cy="266318"/>
          </a:xfrm>
          <a:prstGeom prst="rect">
            <a:avLst/>
          </a:prstGeom>
          <a:noFill/>
          <a:ln w="381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graphicFrame>
        <p:nvGraphicFramePr>
          <p:cNvPr id="20" name="表格 6">
            <a:extLst>
              <a:ext uri="{FF2B5EF4-FFF2-40B4-BE49-F238E27FC236}">
                <a16:creationId xmlns:a16="http://schemas.microsoft.com/office/drawing/2014/main" id="{115E4612-7A77-2F3A-63BB-8C17C8556F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2611740"/>
              </p:ext>
            </p:extLst>
          </p:nvPr>
        </p:nvGraphicFramePr>
        <p:xfrm>
          <a:off x="8176721" y="1593708"/>
          <a:ext cx="648139" cy="3102678"/>
        </p:xfrm>
        <a:graphic>
          <a:graphicData uri="http://schemas.openxmlformats.org/drawingml/2006/table">
            <a:tbl>
              <a:tblPr firstRow="1" bandRow="1"/>
              <a:tblGrid>
                <a:gridCol w="648139">
                  <a:extLst>
                    <a:ext uri="{9D8B030D-6E8A-4147-A177-3AD203B41FA5}">
                      <a16:colId xmlns:a16="http://schemas.microsoft.com/office/drawing/2014/main" val="3588633832"/>
                    </a:ext>
                  </a:extLst>
                </a:gridCol>
              </a:tblGrid>
              <a:tr h="245846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9441720"/>
                  </a:ext>
                </a:extLst>
              </a:tr>
              <a:tr h="245846">
                <a:tc>
                  <a:txBody>
                    <a:bodyPr/>
                    <a:lstStyle/>
                    <a:p>
                      <a:r>
                        <a:rPr lang="en-US" altLang="zh-CN" dirty="0"/>
                        <a:t>600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1553697"/>
                  </a:ext>
                </a:extLst>
              </a:tr>
              <a:tr h="245846"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0487093"/>
                  </a:ext>
                </a:extLst>
              </a:tr>
              <a:tr h="245846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7390476"/>
                  </a:ext>
                </a:extLst>
              </a:tr>
              <a:tr h="245846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6183075"/>
                  </a:ext>
                </a:extLst>
              </a:tr>
              <a:tr h="245846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0445437"/>
                  </a:ext>
                </a:extLst>
              </a:tr>
              <a:tr h="245846">
                <a:tc>
                  <a:txBody>
                    <a:bodyPr/>
                    <a:lstStyle/>
                    <a:p>
                      <a:r>
                        <a:rPr lang="en-US" altLang="zh-CN" dirty="0"/>
                        <a:t>800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1486270"/>
                  </a:ext>
                </a:extLst>
              </a:tr>
              <a:tr h="245846">
                <a:tc>
                  <a:txBody>
                    <a:bodyPr/>
                    <a:lstStyle/>
                    <a:p>
                      <a:r>
                        <a:rPr lang="en-US" altLang="zh-CN" dirty="0"/>
                        <a:t>300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6900085"/>
                  </a:ext>
                </a:extLst>
              </a:tr>
              <a:tr h="245846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0883210"/>
                  </a:ext>
                </a:extLst>
              </a:tr>
            </a:tbl>
          </a:graphicData>
        </a:graphic>
      </p:graphicFrame>
      <p:graphicFrame>
        <p:nvGraphicFramePr>
          <p:cNvPr id="21" name="表格 6">
            <a:extLst>
              <a:ext uri="{FF2B5EF4-FFF2-40B4-BE49-F238E27FC236}">
                <a16:creationId xmlns:a16="http://schemas.microsoft.com/office/drawing/2014/main" id="{003FFD3D-A6EA-530B-6969-E43A55C180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0006426"/>
              </p:ext>
            </p:extLst>
          </p:nvPr>
        </p:nvGraphicFramePr>
        <p:xfrm>
          <a:off x="9590362" y="1593708"/>
          <a:ext cx="648139" cy="3102678"/>
        </p:xfrm>
        <a:graphic>
          <a:graphicData uri="http://schemas.openxmlformats.org/drawingml/2006/table">
            <a:tbl>
              <a:tblPr firstRow="1" bandRow="1"/>
              <a:tblGrid>
                <a:gridCol w="648139">
                  <a:extLst>
                    <a:ext uri="{9D8B030D-6E8A-4147-A177-3AD203B41FA5}">
                      <a16:colId xmlns:a16="http://schemas.microsoft.com/office/drawing/2014/main" val="3588633832"/>
                    </a:ext>
                  </a:extLst>
                </a:gridCol>
              </a:tblGrid>
              <a:tr h="245846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9441720"/>
                  </a:ext>
                </a:extLst>
              </a:tr>
              <a:tr h="245846">
                <a:tc>
                  <a:txBody>
                    <a:bodyPr/>
                    <a:lstStyle/>
                    <a:p>
                      <a:r>
                        <a:rPr lang="en-US" altLang="zh-CN" dirty="0"/>
                        <a:t>600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1553697"/>
                  </a:ext>
                </a:extLst>
              </a:tr>
              <a:tr h="245846"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0487093"/>
                  </a:ext>
                </a:extLst>
              </a:tr>
              <a:tr h="245846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7390476"/>
                  </a:ext>
                </a:extLst>
              </a:tr>
              <a:tr h="245846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6183075"/>
                  </a:ext>
                </a:extLst>
              </a:tr>
              <a:tr h="245846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0445437"/>
                  </a:ext>
                </a:extLst>
              </a:tr>
              <a:tr h="245846">
                <a:tc>
                  <a:txBody>
                    <a:bodyPr/>
                    <a:lstStyle/>
                    <a:p>
                      <a:r>
                        <a:rPr lang="en-US" altLang="zh-CN" dirty="0"/>
                        <a:t>800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1486270"/>
                  </a:ext>
                </a:extLst>
              </a:tr>
              <a:tr h="245846">
                <a:tc>
                  <a:txBody>
                    <a:bodyPr/>
                    <a:lstStyle/>
                    <a:p>
                      <a:r>
                        <a:rPr lang="en-US" altLang="zh-CN" dirty="0"/>
                        <a:t>300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6900085"/>
                  </a:ext>
                </a:extLst>
              </a:tr>
              <a:tr h="245846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0883210"/>
                  </a:ext>
                </a:extLst>
              </a:tr>
            </a:tbl>
          </a:graphicData>
        </a:graphic>
      </p:graphicFrame>
      <p:sp>
        <p:nvSpPr>
          <p:cNvPr id="25" name="弧 24">
            <a:extLst>
              <a:ext uri="{FF2B5EF4-FFF2-40B4-BE49-F238E27FC236}">
                <a16:creationId xmlns:a16="http://schemas.microsoft.com/office/drawing/2014/main" id="{C53C72B4-B281-82D0-C059-16E89CB92B60}"/>
              </a:ext>
            </a:extLst>
          </p:cNvPr>
          <p:cNvSpPr/>
          <p:nvPr/>
        </p:nvSpPr>
        <p:spPr bwMode="auto">
          <a:xfrm rot="13242121">
            <a:off x="8131141" y="1219550"/>
            <a:ext cx="341162" cy="1049097"/>
          </a:xfrm>
          <a:prstGeom prst="arc">
            <a:avLst>
              <a:gd name="adj1" fmla="val 14850062"/>
              <a:gd name="adj2" fmla="val 0"/>
            </a:avLst>
          </a:prstGeom>
          <a:ln w="19050">
            <a:headEnd type="arrow" w="med" len="med"/>
            <a:tailEnd type="non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26" name="弧 25">
            <a:extLst>
              <a:ext uri="{FF2B5EF4-FFF2-40B4-BE49-F238E27FC236}">
                <a16:creationId xmlns:a16="http://schemas.microsoft.com/office/drawing/2014/main" id="{35BB07B7-85AB-67D7-5615-34F8ECE4B63F}"/>
              </a:ext>
            </a:extLst>
          </p:cNvPr>
          <p:cNvSpPr/>
          <p:nvPr/>
        </p:nvSpPr>
        <p:spPr bwMode="auto">
          <a:xfrm rot="13242121">
            <a:off x="8162398" y="1748485"/>
            <a:ext cx="174517" cy="929345"/>
          </a:xfrm>
          <a:prstGeom prst="arc">
            <a:avLst>
              <a:gd name="adj1" fmla="val 14669360"/>
              <a:gd name="adj2" fmla="val 0"/>
            </a:avLst>
          </a:prstGeom>
          <a:ln w="19050">
            <a:headEnd type="arrow" w="med" len="med"/>
            <a:tailEnd type="non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27" name="弧 26">
            <a:extLst>
              <a:ext uri="{FF2B5EF4-FFF2-40B4-BE49-F238E27FC236}">
                <a16:creationId xmlns:a16="http://schemas.microsoft.com/office/drawing/2014/main" id="{F25A5C88-C160-CF3F-17C3-D28342B4CA87}"/>
              </a:ext>
            </a:extLst>
          </p:cNvPr>
          <p:cNvSpPr/>
          <p:nvPr/>
        </p:nvSpPr>
        <p:spPr bwMode="auto">
          <a:xfrm rot="13242121">
            <a:off x="8133620" y="2068140"/>
            <a:ext cx="356726" cy="1035708"/>
          </a:xfrm>
          <a:prstGeom prst="arc">
            <a:avLst>
              <a:gd name="adj1" fmla="val 14872900"/>
              <a:gd name="adj2" fmla="val 0"/>
            </a:avLst>
          </a:prstGeom>
          <a:ln w="19050">
            <a:headEnd type="arrow" w="med" len="med"/>
            <a:tailEnd type="non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28" name="弧 27">
            <a:extLst>
              <a:ext uri="{FF2B5EF4-FFF2-40B4-BE49-F238E27FC236}">
                <a16:creationId xmlns:a16="http://schemas.microsoft.com/office/drawing/2014/main" id="{DE9BF868-1E69-4C0E-47C8-21437991CD49}"/>
              </a:ext>
            </a:extLst>
          </p:cNvPr>
          <p:cNvSpPr/>
          <p:nvPr/>
        </p:nvSpPr>
        <p:spPr bwMode="auto">
          <a:xfrm rot="14044957">
            <a:off x="9199418" y="2265868"/>
            <a:ext cx="1714625" cy="1167275"/>
          </a:xfrm>
          <a:prstGeom prst="arc">
            <a:avLst>
              <a:gd name="adj1" fmla="val 16363291"/>
              <a:gd name="adj2" fmla="val 0"/>
            </a:avLst>
          </a:prstGeom>
          <a:ln w="19050">
            <a:headEnd type="arrow" w="med" len="med"/>
            <a:tailEnd type="non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0" name="弧 29">
            <a:extLst>
              <a:ext uri="{FF2B5EF4-FFF2-40B4-BE49-F238E27FC236}">
                <a16:creationId xmlns:a16="http://schemas.microsoft.com/office/drawing/2014/main" id="{5F016F2C-4D62-8627-3C7D-543776015DB5}"/>
              </a:ext>
            </a:extLst>
          </p:cNvPr>
          <p:cNvSpPr/>
          <p:nvPr/>
        </p:nvSpPr>
        <p:spPr bwMode="auto">
          <a:xfrm rot="13242121">
            <a:off x="9526449" y="1255146"/>
            <a:ext cx="362343" cy="1000748"/>
          </a:xfrm>
          <a:prstGeom prst="arc">
            <a:avLst>
              <a:gd name="adj1" fmla="val 14600613"/>
              <a:gd name="adj2" fmla="val 0"/>
            </a:avLst>
          </a:prstGeom>
          <a:ln w="19050">
            <a:headEnd type="arrow" w="med" len="med"/>
            <a:tailEnd type="non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398E1B83-9F80-90A5-854B-A2DF3428802E}"/>
              </a:ext>
            </a:extLst>
          </p:cNvPr>
          <p:cNvSpPr txBox="1"/>
          <p:nvPr/>
        </p:nvSpPr>
        <p:spPr>
          <a:xfrm>
            <a:off x="8237898" y="1224376"/>
            <a:ext cx="6481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dirty="0">
                <a:latin typeface="微软雅黑" panose="020B0503020204020204" pitchFamily="82" charset="2"/>
                <a:ea typeface="微软雅黑" panose="020B0503020204020204" pitchFamily="82" charset="2"/>
              </a:rPr>
              <a:t>线性</a:t>
            </a:r>
            <a:endParaRPr lang="zh-CN" altLang="en-US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0CCDB32F-E190-704D-9965-1A6230E7C8B3}"/>
              </a:ext>
            </a:extLst>
          </p:cNvPr>
          <p:cNvSpPr txBox="1"/>
          <p:nvPr/>
        </p:nvSpPr>
        <p:spPr>
          <a:xfrm>
            <a:off x="9579840" y="1243322"/>
            <a:ext cx="6481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dirty="0">
                <a:latin typeface="微软雅黑" panose="020B0503020204020204" pitchFamily="82" charset="2"/>
                <a:ea typeface="微软雅黑" panose="020B0503020204020204" pitchFamily="82" charset="2"/>
              </a:rPr>
              <a:t>平方</a:t>
            </a:r>
            <a:endParaRPr lang="zh-CN" altLang="en-US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78172590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18">
            <a:extLst>
              <a:ext uri="{FF2B5EF4-FFF2-40B4-BE49-F238E27FC236}">
                <a16:creationId xmlns:a16="http://schemas.microsoft.com/office/drawing/2014/main" id="{FE09226D-C4B7-4221-9EF9-ECEDF62F64FC}"/>
              </a:ext>
            </a:extLst>
          </p:cNvPr>
          <p:cNvSpPr/>
          <p:nvPr/>
        </p:nvSpPr>
        <p:spPr>
          <a:xfrm>
            <a:off x="8249582" y="2576144"/>
            <a:ext cx="3110078" cy="3122035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dirty="0">
              <a:latin typeface="微软雅黑" panose="020B0503020204020204" pitchFamily="82" charset="2"/>
              <a:ea typeface="微软雅黑" panose="020B0503020204020204" pitchFamily="82" charset="2"/>
              <a:sym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544AF23-6C82-2A6A-CA5C-6B53E0E84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8140" y="2787161"/>
            <a:ext cx="2848683" cy="2705599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8999FFC-7804-FD44-E9CD-35A793DB47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65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9CE06F7-107F-0965-F604-E971DB36A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可扩展哈希表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8FB69C5-0998-B5DA-9B73-40C0E44193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3856" y="1159821"/>
            <a:ext cx="9703336" cy="5005387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带有二进制位数的桶指针</a:t>
            </a:r>
            <a:endParaRPr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带有二进制位数的桶（每个桶通过桶索引页面形式存储对应的数据） </a:t>
            </a:r>
            <a:endParaRPr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查找键值</a:t>
            </a:r>
            <a:r>
              <a:rPr lang="en-US" altLang="zh-CN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K</a:t>
            </a: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时</a:t>
            </a:r>
            <a:endParaRPr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计算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K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哈希值的前</a:t>
            </a:r>
            <a:r>
              <a:rPr lang="en-US" altLang="zh-CN" sz="2000" dirty="0" err="1">
                <a:latin typeface="微软雅黑" panose="020B0503020204020204" pitchFamily="82" charset="2"/>
                <a:ea typeface="微软雅黑" panose="020B0503020204020204" pitchFamily="82" charset="2"/>
              </a:rPr>
              <a:t>i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位（全局深度</a:t>
            </a:r>
            <a:r>
              <a:rPr lang="en-US" altLang="zh-CN" sz="2000" dirty="0" err="1">
                <a:latin typeface="微软雅黑" panose="020B0503020204020204" pitchFamily="82" charset="2"/>
                <a:ea typeface="微软雅黑" panose="020B0503020204020204" pitchFamily="82" charset="2"/>
              </a:rPr>
              <a:t>i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）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2">
              <a:lnSpc>
                <a:spcPct val="150000"/>
              </a:lnSpc>
              <a:buSzPct val="50000"/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用于桶的扩容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根据前</a:t>
            </a:r>
            <a:r>
              <a:rPr lang="en-US" altLang="zh-CN" sz="2000" dirty="0" err="1">
                <a:latin typeface="微软雅黑" panose="020B0503020204020204" pitchFamily="82" charset="2"/>
                <a:ea typeface="微软雅黑" panose="020B0503020204020204" pitchFamily="82" charset="2"/>
              </a:rPr>
              <a:t>i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位找到对应的哈希桶（局部深度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j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）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2">
              <a:lnSpc>
                <a:spcPct val="150000"/>
              </a:lnSpc>
              <a:buSzPct val="50000"/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为了节省空间，（稀疏）局部哈希桶合并到一起管理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2">
              <a:lnSpc>
                <a:spcPct val="150000"/>
              </a:lnSpc>
              <a:buSzPct val="50000"/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当局部哈希桶满时，用于分裂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37AF34-99FB-04C1-4B3D-8C00ED7E30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44434507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18">
            <a:extLst>
              <a:ext uri="{FF2B5EF4-FFF2-40B4-BE49-F238E27FC236}">
                <a16:creationId xmlns:a16="http://schemas.microsoft.com/office/drawing/2014/main" id="{FE09226D-C4B7-4221-9EF9-ECEDF62F64FC}"/>
              </a:ext>
            </a:extLst>
          </p:cNvPr>
          <p:cNvSpPr/>
          <p:nvPr/>
        </p:nvSpPr>
        <p:spPr>
          <a:xfrm>
            <a:off x="6755705" y="1512364"/>
            <a:ext cx="4946857" cy="3411327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dirty="0">
              <a:latin typeface="微软雅黑" panose="020B0503020204020204" pitchFamily="82" charset="2"/>
              <a:ea typeface="微软雅黑" panose="020B0503020204020204" pitchFamily="82" charset="2"/>
              <a:sym typeface="+mn-ea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8999FFC-7804-FD44-E9CD-35A793DB47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66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9CE06F7-107F-0965-F604-E971DB36A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可扩展哈希表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88FB69C5-0998-B5DA-9B73-40C0E44193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11089" y="1165552"/>
                <a:ext cx="6386451" cy="5005387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  <a:spcBef>
                    <a:spcPts val="0"/>
                  </a:spcBef>
                  <a:buFont typeface="Wingdings" panose="05000000000000000000" pitchFamily="2" charset="2"/>
                  <a:buChar char="Ø"/>
                </a:pPr>
                <a:r>
                  <a:rPr lang="zh-CN" altLang="en-US" sz="2400" b="1" dirty="0">
                    <a:solidFill>
                      <a:srgbClr val="701988"/>
                    </a:solidFill>
                    <a:latin typeface="微软雅黑" panose="020B0503020204020204" pitchFamily="82" charset="2"/>
                    <a:ea typeface="微软雅黑" panose="020B0503020204020204" pitchFamily="82" charset="2"/>
                  </a:rPr>
                  <a:t>插入键值</a:t>
                </a:r>
                <a:r>
                  <a:rPr lang="en-US" altLang="zh-CN" sz="2400" b="1" dirty="0">
                    <a:solidFill>
                      <a:srgbClr val="701988"/>
                    </a:solidFill>
                    <a:latin typeface="微软雅黑" panose="020B0503020204020204" pitchFamily="82" charset="2"/>
                    <a:ea typeface="微软雅黑" panose="020B0503020204020204" pitchFamily="82" charset="2"/>
                  </a:rPr>
                  <a:t>K</a:t>
                </a:r>
                <a:r>
                  <a:rPr lang="zh-CN" altLang="en-US" sz="2400" b="1" dirty="0">
                    <a:solidFill>
                      <a:srgbClr val="701988"/>
                    </a:solidFill>
                    <a:latin typeface="微软雅黑" panose="020B0503020204020204" pitchFamily="82" charset="2"/>
                    <a:ea typeface="微软雅黑" panose="020B0503020204020204" pitchFamily="82" charset="2"/>
                  </a:rPr>
                  <a:t>时</a:t>
                </a:r>
                <a:endParaRPr lang="en-US" altLang="zh-CN" sz="2400" b="1" dirty="0">
                  <a:solidFill>
                    <a:srgbClr val="701988"/>
                  </a:solidFill>
                  <a:latin typeface="微软雅黑" panose="020B0503020204020204" pitchFamily="82" charset="2"/>
                  <a:ea typeface="微软雅黑" panose="020B0503020204020204" pitchFamily="82" charset="2"/>
                </a:endParaRPr>
              </a:p>
              <a:p>
                <a:pPr lvl="1">
                  <a:lnSpc>
                    <a:spcPct val="15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2000" dirty="0">
                    <a:latin typeface="微软雅黑" panose="020B0503020204020204" pitchFamily="82" charset="2"/>
                    <a:ea typeface="微软雅黑" panose="020B0503020204020204" pitchFamily="82" charset="2"/>
                  </a:rPr>
                  <a:t>计算</a:t>
                </a:r>
                <a:r>
                  <a:rPr lang="en-US" altLang="zh-CN" sz="2000" dirty="0">
                    <a:latin typeface="微软雅黑" panose="020B0503020204020204" pitchFamily="82" charset="2"/>
                    <a:ea typeface="微软雅黑" panose="020B0503020204020204" pitchFamily="82" charset="2"/>
                  </a:rPr>
                  <a:t>K</a:t>
                </a:r>
                <a:r>
                  <a:rPr lang="zh-CN" altLang="en-US" sz="2000" dirty="0">
                    <a:latin typeface="微软雅黑" panose="020B0503020204020204" pitchFamily="82" charset="2"/>
                    <a:ea typeface="微软雅黑" panose="020B0503020204020204" pitchFamily="82" charset="2"/>
                  </a:rPr>
                  <a:t>哈希值的前</a:t>
                </a:r>
                <a:r>
                  <a:rPr lang="en-US" altLang="zh-CN" sz="2000" dirty="0" err="1">
                    <a:latin typeface="微软雅黑" panose="020B0503020204020204" pitchFamily="82" charset="2"/>
                    <a:ea typeface="微软雅黑" panose="020B0503020204020204" pitchFamily="82" charset="2"/>
                  </a:rPr>
                  <a:t>i</a:t>
                </a:r>
                <a:r>
                  <a:rPr lang="zh-CN" altLang="en-US" sz="2000" dirty="0">
                    <a:latin typeface="微软雅黑" panose="020B0503020204020204" pitchFamily="82" charset="2"/>
                    <a:ea typeface="微软雅黑" panose="020B0503020204020204" pitchFamily="82" charset="2"/>
                  </a:rPr>
                  <a:t>位</a:t>
                </a:r>
                <a:endParaRPr lang="en-US" altLang="zh-CN" sz="2000" dirty="0">
                  <a:latin typeface="微软雅黑" panose="020B0503020204020204" pitchFamily="82" charset="2"/>
                  <a:ea typeface="微软雅黑" panose="020B0503020204020204" pitchFamily="82" charset="2"/>
                </a:endParaRPr>
              </a:p>
              <a:p>
                <a:pPr lvl="1">
                  <a:lnSpc>
                    <a:spcPct val="15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2000" dirty="0">
                    <a:latin typeface="微软雅黑" panose="020B0503020204020204" pitchFamily="82" charset="2"/>
                    <a:ea typeface="微软雅黑" panose="020B0503020204020204" pitchFamily="82" charset="2"/>
                  </a:rPr>
                  <a:t>根据前</a:t>
                </a:r>
                <a:r>
                  <a:rPr lang="en-US" altLang="zh-CN" sz="2000" dirty="0" err="1">
                    <a:latin typeface="微软雅黑" panose="020B0503020204020204" pitchFamily="82" charset="2"/>
                    <a:ea typeface="微软雅黑" panose="020B0503020204020204" pitchFamily="82" charset="2"/>
                  </a:rPr>
                  <a:t>i</a:t>
                </a:r>
                <a:r>
                  <a:rPr lang="zh-CN" altLang="en-US" sz="2000" dirty="0">
                    <a:latin typeface="微软雅黑" panose="020B0503020204020204" pitchFamily="82" charset="2"/>
                    <a:ea typeface="微软雅黑" panose="020B0503020204020204" pitchFamily="82" charset="2"/>
                  </a:rPr>
                  <a:t>位找到对应的哈希桶</a:t>
                </a:r>
                <a:endParaRPr lang="en-US" altLang="zh-CN" sz="2000" dirty="0">
                  <a:latin typeface="微软雅黑" panose="020B0503020204020204" pitchFamily="82" charset="2"/>
                  <a:ea typeface="微软雅黑" panose="020B0503020204020204" pitchFamily="82" charset="2"/>
                </a:endParaRPr>
              </a:p>
              <a:p>
                <a:pPr lvl="1">
                  <a:lnSpc>
                    <a:spcPct val="15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2000" dirty="0">
                    <a:latin typeface="微软雅黑" panose="020B0503020204020204" pitchFamily="82" charset="2"/>
                    <a:ea typeface="微软雅黑" panose="020B0503020204020204" pitchFamily="82" charset="2"/>
                  </a:rPr>
                  <a:t>如果哈希桶有空间，则插入</a:t>
                </a:r>
                <a:endParaRPr lang="en-US" altLang="zh-CN" sz="2000" dirty="0">
                  <a:latin typeface="微软雅黑" panose="020B0503020204020204" pitchFamily="82" charset="2"/>
                  <a:ea typeface="微软雅黑" panose="020B0503020204020204" pitchFamily="82" charset="2"/>
                </a:endParaRPr>
              </a:p>
              <a:p>
                <a:pPr lvl="1">
                  <a:lnSpc>
                    <a:spcPct val="15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2000" dirty="0">
                    <a:latin typeface="微软雅黑" panose="020B0503020204020204" pitchFamily="82" charset="2"/>
                    <a:ea typeface="微软雅黑" panose="020B0503020204020204" pitchFamily="82" charset="2"/>
                  </a:rPr>
                  <a:t>否则根据哈希桶的位数</a:t>
                </a:r>
                <a:r>
                  <a:rPr lang="en-US" altLang="zh-CN" sz="2000" dirty="0">
                    <a:latin typeface="微软雅黑" panose="020B0503020204020204" pitchFamily="82" charset="2"/>
                    <a:ea typeface="微软雅黑" panose="020B0503020204020204" pitchFamily="82" charset="2"/>
                  </a:rPr>
                  <a:t>j</a:t>
                </a:r>
                <a:r>
                  <a:rPr lang="zh-CN" altLang="en-US" sz="2000" dirty="0">
                    <a:latin typeface="微软雅黑" panose="020B0503020204020204" pitchFamily="82" charset="2"/>
                    <a:ea typeface="微软雅黑" panose="020B0503020204020204" pitchFamily="82" charset="2"/>
                  </a:rPr>
                  <a:t>来决定如何分裂</a:t>
                </a:r>
                <a:endParaRPr lang="en-US" altLang="zh-CN" sz="2000" dirty="0">
                  <a:latin typeface="微软雅黑" panose="020B0503020204020204" pitchFamily="82" charset="2"/>
                  <a:ea typeface="微软雅黑" panose="020B0503020204020204" pitchFamily="82" charset="2"/>
                </a:endParaRPr>
              </a:p>
              <a:p>
                <a:pPr lvl="1">
                  <a:lnSpc>
                    <a:spcPct val="15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2000" dirty="0">
                    <a:latin typeface="微软雅黑" panose="020B0503020204020204" pitchFamily="82" charset="2"/>
                    <a:ea typeface="微软雅黑" panose="020B0503020204020204" pitchFamily="82" charset="2"/>
                  </a:rPr>
                  <a:t>如果</a:t>
                </a:r>
                <a:r>
                  <a:rPr lang="en-US" altLang="zh-CN" sz="2000" dirty="0">
                    <a:latin typeface="微软雅黑" panose="020B0503020204020204" pitchFamily="82" charset="2"/>
                    <a:ea typeface="微软雅黑" panose="020B0503020204020204" pitchFamily="82" charset="2"/>
                  </a:rPr>
                  <a:t>j&lt;</a:t>
                </a:r>
                <a:r>
                  <a:rPr lang="en-US" altLang="zh-CN" sz="2000" dirty="0" err="1">
                    <a:latin typeface="微软雅黑" panose="020B0503020204020204" pitchFamily="82" charset="2"/>
                    <a:ea typeface="微软雅黑" panose="020B0503020204020204" pitchFamily="82" charset="2"/>
                  </a:rPr>
                  <a:t>i</a:t>
                </a:r>
                <a:r>
                  <a:rPr lang="en-US" altLang="zh-CN" sz="2000" dirty="0">
                    <a:latin typeface="微软雅黑" panose="020B0503020204020204" pitchFamily="82" charset="2"/>
                    <a:ea typeface="微软雅黑" panose="020B0503020204020204" pitchFamily="82" charset="2"/>
                  </a:rPr>
                  <a:t>:</a:t>
                </a:r>
                <a:r>
                  <a:rPr lang="zh-CN" altLang="en-US" sz="2000" dirty="0">
                    <a:latin typeface="微软雅黑" panose="020B0503020204020204" pitchFamily="82" charset="2"/>
                    <a:ea typeface="微软雅黑" panose="020B0503020204020204" pitchFamily="82" charset="2"/>
                  </a:rPr>
                  <a:t> 分裂为两个桶：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</m:ctrlPr>
                      </m:sSubPr>
                      <m:e>
                        <m:r>
                          <a:rPr lang="en-US" altLang="zh-CN" sz="2000"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  <m:t>𝑏</m:t>
                        </m:r>
                      </m:e>
                      <m:sub>
                        <m:r>
                          <a:rPr lang="en-US" altLang="zh-CN" sz="2000"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</m:ctrlPr>
                      </m:sSubPr>
                      <m:e>
                        <m:r>
                          <a:rPr lang="en-US" altLang="zh-CN" sz="2000"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  <m:t>𝑏</m:t>
                        </m:r>
                      </m:e>
                      <m:sub>
                        <m:r>
                          <a:rPr lang="en-US" altLang="zh-CN" sz="2000"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  <m:t>2</m:t>
                        </m:r>
                      </m:sub>
                    </m:sSub>
                    <m:r>
                      <a:rPr lang="en-US" altLang="zh-CN" sz="2000">
                        <a:latin typeface="Cambria Math" panose="02040503050406030204" pitchFamily="18" charset="0"/>
                        <a:ea typeface="微软雅黑" panose="020B0503020204020204" pitchFamily="82" charset="2"/>
                      </a:rPr>
                      <m:t>⋯</m:t>
                    </m:r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</m:ctrlPr>
                      </m:sSubPr>
                      <m:e>
                        <m:r>
                          <a:rPr lang="en-US" altLang="zh-CN" sz="2000"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  <m:t>𝑏</m:t>
                        </m:r>
                      </m:e>
                      <m:sub>
                        <m:r>
                          <a:rPr lang="en-US" altLang="zh-CN" sz="2000"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  <m:t>𝑗</m:t>
                        </m:r>
                      </m:sub>
                    </m:sSub>
                    <m:r>
                      <a:rPr lang="en-US" altLang="zh-CN" sz="2000">
                        <a:latin typeface="Cambria Math" panose="02040503050406030204" pitchFamily="18" charset="0"/>
                        <a:ea typeface="微软雅黑" panose="020B0503020204020204" pitchFamily="82" charset="2"/>
                      </a:rPr>
                      <m:t>0</m:t>
                    </m:r>
                  </m:oMath>
                </a14:m>
                <a:r>
                  <a:rPr lang="zh-CN" altLang="zh-CN" sz="2000" dirty="0">
                    <a:latin typeface="微软雅黑" panose="020B0503020204020204" pitchFamily="82" charset="2"/>
                    <a:ea typeface="微软雅黑" panose="020B0503020204020204" pitchFamily="82" charset="2"/>
                  </a:rPr>
                  <a:t>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</m:ctrlPr>
                      </m:sSubPr>
                      <m:e>
                        <m:r>
                          <a:rPr lang="en-US" altLang="zh-CN" sz="2000"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  <m:t>𝑏</m:t>
                        </m:r>
                      </m:e>
                      <m:sub>
                        <m:r>
                          <a:rPr lang="en-US" altLang="zh-CN" sz="2000"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</m:ctrlPr>
                      </m:sSubPr>
                      <m:e>
                        <m:r>
                          <a:rPr lang="en-US" altLang="zh-CN" sz="2000"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  <m:t>𝑏</m:t>
                        </m:r>
                      </m:e>
                      <m:sub>
                        <m:r>
                          <a:rPr lang="en-US" altLang="zh-CN" sz="2000"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  <m:t>2</m:t>
                        </m:r>
                      </m:sub>
                    </m:sSub>
                    <m:r>
                      <a:rPr lang="en-US" altLang="zh-CN" sz="2000">
                        <a:latin typeface="Cambria Math" panose="02040503050406030204" pitchFamily="18" charset="0"/>
                        <a:ea typeface="微软雅黑" panose="020B0503020204020204" pitchFamily="82" charset="2"/>
                      </a:rPr>
                      <m:t>⋯</m:t>
                    </m:r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</m:ctrlPr>
                      </m:sSubPr>
                      <m:e>
                        <m:r>
                          <a:rPr lang="en-US" altLang="zh-CN" sz="2000"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  <m:t>𝑏</m:t>
                        </m:r>
                      </m:e>
                      <m:sub>
                        <m:r>
                          <a:rPr lang="en-US" altLang="zh-CN" sz="2000"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  <m:t>𝑗</m:t>
                        </m:r>
                      </m:sub>
                    </m:sSub>
                    <m:r>
                      <a:rPr lang="en-US" altLang="zh-CN" sz="2000">
                        <a:latin typeface="Cambria Math" panose="02040503050406030204" pitchFamily="18" charset="0"/>
                        <a:ea typeface="微软雅黑" panose="020B0503020204020204" pitchFamily="82" charset="2"/>
                      </a:rPr>
                      <m:t>1</m:t>
                    </m:r>
                  </m:oMath>
                </a14:m>
                <a:r>
                  <a:rPr lang="zh-CN" altLang="zh-CN" sz="2000" dirty="0">
                    <a:latin typeface="微软雅黑" panose="020B0503020204020204" pitchFamily="82" charset="2"/>
                    <a:ea typeface="微软雅黑" panose="020B0503020204020204" pitchFamily="82" charset="2"/>
                  </a:rPr>
                  <a:t> </a:t>
                </a:r>
                <a:endParaRPr lang="en-US" altLang="zh-CN" sz="2000" dirty="0">
                  <a:latin typeface="微软雅黑" panose="020B0503020204020204" pitchFamily="82" charset="2"/>
                  <a:ea typeface="微软雅黑" panose="020B0503020204020204" pitchFamily="82" charset="2"/>
                </a:endParaRPr>
              </a:p>
              <a:p>
                <a:pPr lvl="1">
                  <a:lnSpc>
                    <a:spcPct val="15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2000" dirty="0">
                    <a:latin typeface="微软雅黑" panose="020B0503020204020204" pitchFamily="82" charset="2"/>
                    <a:ea typeface="微软雅黑" panose="020B0503020204020204" pitchFamily="82" charset="2"/>
                  </a:rPr>
                  <a:t>分裂后的索引页面中如果有空余位置则进行插入，否则再次执行分裂过程</a:t>
                </a:r>
                <a:r>
                  <a:rPr lang="en-US" altLang="zh-CN" sz="2000" dirty="0">
                    <a:latin typeface="微软雅黑" panose="020B0503020204020204" pitchFamily="82" charset="2"/>
                    <a:ea typeface="微软雅黑" panose="020B0503020204020204" pitchFamily="82" charset="2"/>
                  </a:rPr>
                  <a:t>(𝑗&lt;𝑖)</a:t>
                </a:r>
                <a:r>
                  <a:rPr lang="zh-CN" altLang="en-US" sz="2000" dirty="0">
                    <a:latin typeface="微软雅黑" panose="020B0503020204020204" pitchFamily="82" charset="2"/>
                    <a:ea typeface="微软雅黑" panose="020B0503020204020204" pitchFamily="82" charset="2"/>
                  </a:rPr>
                  <a:t>或扩容过程</a:t>
                </a:r>
                <a:r>
                  <a:rPr lang="en-US" altLang="zh-CN" sz="2000" dirty="0">
                    <a:latin typeface="微软雅黑" panose="020B0503020204020204" pitchFamily="82" charset="2"/>
                    <a:ea typeface="微软雅黑" panose="020B0503020204020204" pitchFamily="82" charset="2"/>
                  </a:rPr>
                  <a:t>(𝑗=𝑖)</a:t>
                </a:r>
                <a:r>
                  <a:rPr lang="zh-CN" altLang="en-US" sz="2000" dirty="0">
                    <a:latin typeface="微软雅黑" panose="020B0503020204020204" pitchFamily="82" charset="2"/>
                    <a:ea typeface="微软雅黑" panose="020B0503020204020204" pitchFamily="82" charset="2"/>
                  </a:rPr>
                  <a:t>。 </a:t>
                </a:r>
              </a:p>
            </p:txBody>
          </p:sp>
        </mc:Choice>
        <mc:Fallback xmlns="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88FB69C5-0998-B5DA-9B73-40C0E44193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1089" y="1165552"/>
                <a:ext cx="6386451" cy="5005387"/>
              </a:xfrm>
              <a:blipFill>
                <a:blip r:embed="rId2"/>
                <a:stretch>
                  <a:fillRect l="-1190" r="-19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37AF34-99FB-04C1-4B3D-8C00ED7E30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B26C1B7-493B-0399-4558-0BD4C59905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6101" y="1676325"/>
            <a:ext cx="2078559" cy="267378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5ADAB966-3096-DC6F-3E3D-AAB7EFAC817F}"/>
              </a:ext>
            </a:extLst>
          </p:cNvPr>
          <p:cNvSpPr txBox="1"/>
          <p:nvPr/>
        </p:nvSpPr>
        <p:spPr>
          <a:xfrm>
            <a:off x="9049772" y="4344321"/>
            <a:ext cx="1191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3B20FF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插入</a:t>
            </a:r>
            <a:r>
              <a:rPr kumimoji="1" lang="en-US" altLang="zh-CN" dirty="0">
                <a:solidFill>
                  <a:srgbClr val="3B20FF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0010</a:t>
            </a:r>
            <a:endParaRPr kumimoji="1" lang="zh-CN" altLang="en-US" dirty="0">
              <a:solidFill>
                <a:srgbClr val="3B20FF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FD9CA1B-01F0-D631-917E-FD5ADE921B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5889" y="1873522"/>
            <a:ext cx="2387673" cy="2267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62734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18">
            <a:extLst>
              <a:ext uri="{FF2B5EF4-FFF2-40B4-BE49-F238E27FC236}">
                <a16:creationId xmlns:a16="http://schemas.microsoft.com/office/drawing/2014/main" id="{FE09226D-C4B7-4221-9EF9-ECEDF62F64FC}"/>
              </a:ext>
            </a:extLst>
          </p:cNvPr>
          <p:cNvSpPr/>
          <p:nvPr/>
        </p:nvSpPr>
        <p:spPr>
          <a:xfrm>
            <a:off x="6875853" y="2151934"/>
            <a:ext cx="4946857" cy="3411327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dirty="0">
              <a:latin typeface="微软雅黑" panose="020B0503020204020204" pitchFamily="82" charset="2"/>
              <a:ea typeface="微软雅黑" panose="020B0503020204020204" pitchFamily="82" charset="2"/>
              <a:sym typeface="+mn-ea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A283F7C3-1925-2C27-05B2-E68CD6537B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2210" y="2584938"/>
            <a:ext cx="1859764" cy="240325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5315C61-BFAF-3092-4621-EAC06098ED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7944" y="2725118"/>
            <a:ext cx="2227052" cy="2115191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8999FFC-7804-FD44-E9CD-35A793DB47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67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9CE06F7-107F-0965-F604-E971DB36A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可扩展哈希表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8FB69C5-0998-B5DA-9B73-40C0E44193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136" y="1050462"/>
            <a:ext cx="7494258" cy="5005387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插入键值</a:t>
            </a:r>
            <a:r>
              <a:rPr lang="en-US" altLang="zh-CN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K</a:t>
            </a: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时</a:t>
            </a:r>
            <a:endParaRPr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计算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K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哈希值的前</a:t>
            </a:r>
            <a:r>
              <a:rPr lang="en-US" altLang="zh-CN" sz="2000" dirty="0" err="1">
                <a:latin typeface="微软雅黑" panose="020B0503020204020204" pitchFamily="82" charset="2"/>
                <a:ea typeface="微软雅黑" panose="020B0503020204020204" pitchFamily="82" charset="2"/>
              </a:rPr>
              <a:t>i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位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根据前</a:t>
            </a:r>
            <a:r>
              <a:rPr lang="en-US" altLang="zh-CN" sz="2000" dirty="0" err="1">
                <a:latin typeface="微软雅黑" panose="020B0503020204020204" pitchFamily="82" charset="2"/>
                <a:ea typeface="微软雅黑" panose="020B0503020204020204" pitchFamily="82" charset="2"/>
              </a:rPr>
              <a:t>i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位找到对应的哈希桶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如果哈希桶有空间，则插入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否则根据哈希桶的位数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j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来决定如何分裂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如果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j=</a:t>
            </a:r>
            <a:r>
              <a:rPr lang="en-US" altLang="zh-CN" sz="2000" dirty="0" err="1">
                <a:latin typeface="微软雅黑" panose="020B0503020204020204" pitchFamily="82" charset="2"/>
                <a:ea typeface="微软雅黑" panose="020B0503020204020204" pitchFamily="82" charset="2"/>
              </a:rPr>
              <a:t>i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: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zh-CN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对哈希表进行扩容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2">
              <a:lnSpc>
                <a:spcPct val="150000"/>
              </a:lnSpc>
              <a:buSzPct val="50000"/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申请容量为原哈希表两倍的桶数组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2">
              <a:lnSpc>
                <a:spcPct val="150000"/>
              </a:lnSpc>
              <a:buSzPct val="50000"/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原桶数组中编号𝑘的桶中数据复制到</a:t>
            </a:r>
            <a:b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</a:b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新桶数组中编号分别为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2𝑘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与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2𝑘+1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的桶中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2">
              <a:lnSpc>
                <a:spcPct val="150000"/>
              </a:lnSpc>
              <a:buSzPct val="50000"/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将哈希表使用哈希值位数𝑖增加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1</a:t>
            </a:r>
          </a:p>
          <a:p>
            <a:pPr lvl="2">
              <a:lnSpc>
                <a:spcPct val="150000"/>
              </a:lnSpc>
              <a:buSzPct val="50000"/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完成扩容后，再次执行插入过程便能够进行索引页分裂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37AF34-99FB-04C1-4B3D-8C00ED7E30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ADAB966-3096-DC6F-3E3D-AAB7EFAC817F}"/>
              </a:ext>
            </a:extLst>
          </p:cNvPr>
          <p:cNvSpPr txBox="1"/>
          <p:nvPr/>
        </p:nvSpPr>
        <p:spPr>
          <a:xfrm>
            <a:off x="8918923" y="4969683"/>
            <a:ext cx="11913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3B20FF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插入</a:t>
            </a:r>
            <a:r>
              <a:rPr kumimoji="1" lang="en-US" altLang="zh-CN" dirty="0">
                <a:solidFill>
                  <a:srgbClr val="3B20FF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1110</a:t>
            </a:r>
            <a:endParaRPr kumimoji="1" lang="zh-CN" altLang="en-US" dirty="0">
              <a:solidFill>
                <a:srgbClr val="3B20FF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endParaRPr kumimoji="1" lang="zh-CN" altLang="en-US" b="1" dirty="0">
              <a:solidFill>
                <a:srgbClr val="3B20FF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88891600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18">
            <a:extLst>
              <a:ext uri="{FF2B5EF4-FFF2-40B4-BE49-F238E27FC236}">
                <a16:creationId xmlns:a16="http://schemas.microsoft.com/office/drawing/2014/main" id="{650086FD-EEF4-447B-B0BB-75B005B3AF2E}"/>
              </a:ext>
            </a:extLst>
          </p:cNvPr>
          <p:cNvSpPr/>
          <p:nvPr/>
        </p:nvSpPr>
        <p:spPr>
          <a:xfrm>
            <a:off x="1267124" y="2484312"/>
            <a:ext cx="9337695" cy="3425100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dirty="0">
              <a:latin typeface="微软雅黑" panose="020B0503020204020204" pitchFamily="82" charset="2"/>
              <a:ea typeface="微软雅黑" panose="020B0503020204020204" pitchFamily="82" charset="2"/>
              <a:sym typeface="+mn-ea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7862049-49A7-D2F2-670F-4E02FEEF8C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68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554084DB-EBA3-7A25-00D8-718645EA7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可扩展哈希表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0B6DF37-5C16-5F35-AB85-4E4F37A480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800" y="1126800"/>
            <a:ext cx="10874188" cy="5005387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删除键值</a:t>
            </a:r>
            <a:r>
              <a:rPr lang="en-US" altLang="zh-CN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K</a:t>
            </a: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时</a:t>
            </a:r>
            <a:endParaRPr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标记删除（墓碑）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5B6E1A-26AB-6D12-1E1C-2967685540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3562800-4DF0-4454-2D21-741548F9E407}"/>
              </a:ext>
            </a:extLst>
          </p:cNvPr>
          <p:cNvSpPr txBox="1"/>
          <p:nvPr/>
        </p:nvSpPr>
        <p:spPr>
          <a:xfrm>
            <a:off x="5340296" y="5034516"/>
            <a:ext cx="1191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3B20FF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删除</a:t>
            </a:r>
            <a:r>
              <a:rPr kumimoji="1" lang="en-US" altLang="zh-CN" dirty="0">
                <a:solidFill>
                  <a:srgbClr val="3B20FF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1010</a:t>
            </a:r>
            <a:endParaRPr kumimoji="1" lang="zh-CN" altLang="en-US" dirty="0">
              <a:solidFill>
                <a:srgbClr val="3B20FF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F34A92E-4F7C-6608-AE7F-6E8C384705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8792" y="2999550"/>
            <a:ext cx="2612142" cy="248093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8757D5B-8D41-A4B2-9CED-FB069CE4D5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2526" y="2738243"/>
            <a:ext cx="2401825" cy="2917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72260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18">
            <a:extLst>
              <a:ext uri="{FF2B5EF4-FFF2-40B4-BE49-F238E27FC236}">
                <a16:creationId xmlns:a16="http://schemas.microsoft.com/office/drawing/2014/main" id="{C5CC1871-89AF-4A29-9C01-FDFAF2C96349}"/>
              </a:ext>
            </a:extLst>
          </p:cNvPr>
          <p:cNvSpPr/>
          <p:nvPr/>
        </p:nvSpPr>
        <p:spPr>
          <a:xfrm>
            <a:off x="1556236" y="2699238"/>
            <a:ext cx="10049805" cy="3570932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dirty="0">
              <a:latin typeface="微软雅黑" panose="020B0503020204020204" pitchFamily="82" charset="2"/>
              <a:ea typeface="微软雅黑" panose="020B0503020204020204" pitchFamily="82" charset="2"/>
              <a:sym typeface="+mn-ea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4DE6A4A-AB0E-A9DB-9051-C8CF76B413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69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68ADAE6A-25FD-CAF9-DEC2-293623FBE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可扩展哈希表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4D97BB0-C931-C7CE-29CA-96DE5857C4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042" y="1003312"/>
            <a:ext cx="10874188" cy="1931987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使用哈希值二进制表示的前</a:t>
            </a:r>
            <a:r>
              <a:rPr lang="en-US" altLang="zh-CN" sz="2400" b="1" dirty="0" err="1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i</a:t>
            </a: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位</a:t>
            </a:r>
            <a:endParaRPr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每次扩容容量加倍，使用哈希值位数加</a:t>
            </a:r>
            <a:r>
              <a:rPr lang="en-US" altLang="zh-CN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1</a:t>
            </a: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索引记录移动采用懒惰策略</a:t>
            </a:r>
            <a:endParaRPr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endParaRPr kumimoji="1" lang="zh-CN" altLang="en-US" sz="28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3A2DA566-EC64-4DC7-BA92-29E2C7660DEB}"/>
              </a:ext>
            </a:extLst>
          </p:cNvPr>
          <p:cNvGrpSpPr/>
          <p:nvPr/>
        </p:nvGrpSpPr>
        <p:grpSpPr>
          <a:xfrm>
            <a:off x="2258083" y="3058787"/>
            <a:ext cx="8646109" cy="2745220"/>
            <a:chOff x="457200" y="2576512"/>
            <a:chExt cx="11252713" cy="3976115"/>
          </a:xfrm>
        </p:grpSpPr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6B9A78B7-E996-7061-1F75-49AA673F49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95149" y="2576512"/>
              <a:ext cx="2794000" cy="3594100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577BC5D5-3C7B-7F23-F08E-20E17F0881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7200" y="3029145"/>
              <a:ext cx="2781300" cy="2641600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135CB9FB-1CFB-789B-FC2E-F0AC0D09C69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928613" y="2783821"/>
              <a:ext cx="2781300" cy="3594100"/>
            </a:xfrm>
            <a:prstGeom prst="rect">
              <a:avLst/>
            </a:prstGeom>
          </p:spPr>
        </p:pic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933B1F69-93E2-89AC-BEC1-FACAD974E05B}"/>
                </a:ext>
              </a:extLst>
            </p:cNvPr>
            <p:cNvSpPr txBox="1"/>
            <p:nvPr/>
          </p:nvSpPr>
          <p:spPr>
            <a:xfrm>
              <a:off x="3546096" y="4004229"/>
              <a:ext cx="1442143" cy="4680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1500" dirty="0">
                  <a:latin typeface="微软雅黑" panose="020B0503020204020204" pitchFamily="82" charset="2"/>
                  <a:ea typeface="微软雅黑" panose="020B0503020204020204" pitchFamily="82" charset="2"/>
                </a:rPr>
                <a:t>插入</a:t>
              </a:r>
              <a:r>
                <a:rPr kumimoji="1" lang="en-US" altLang="zh-CN" sz="1500" dirty="0">
                  <a:latin typeface="微软雅黑" panose="020B0503020204020204" pitchFamily="82" charset="2"/>
                  <a:ea typeface="微软雅黑" panose="020B0503020204020204" pitchFamily="82" charset="2"/>
                </a:rPr>
                <a:t>0010</a:t>
              </a:r>
              <a:endParaRPr kumimoji="1" lang="zh-CN" altLang="en-US" sz="1500" dirty="0"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  <p:cxnSp>
          <p:nvCxnSpPr>
            <p:cNvPr id="14" name="直线箭头连接符 13">
              <a:extLst>
                <a:ext uri="{FF2B5EF4-FFF2-40B4-BE49-F238E27FC236}">
                  <a16:creationId xmlns:a16="http://schemas.microsoft.com/office/drawing/2014/main" id="{FEA16467-6FF5-DFE6-2923-B48022F53A3B}"/>
                </a:ext>
              </a:extLst>
            </p:cNvPr>
            <p:cNvCxnSpPr>
              <a:cxnSpLocks/>
              <a:stCxn id="7" idx="3"/>
              <a:endCxn id="9" idx="1"/>
            </p:cNvCxnSpPr>
            <p:nvPr/>
          </p:nvCxnSpPr>
          <p:spPr bwMode="auto">
            <a:xfrm>
              <a:off x="3238500" y="4349945"/>
              <a:ext cx="1656649" cy="23617"/>
            </a:xfrm>
            <a:prstGeom prst="straightConnector1">
              <a:avLst/>
            </a:prstGeom>
            <a:noFill/>
            <a:ln w="381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4291C89F-7016-1F4B-DCBE-07D15C44AEAB}"/>
                </a:ext>
              </a:extLst>
            </p:cNvPr>
            <p:cNvSpPr txBox="1"/>
            <p:nvPr/>
          </p:nvSpPr>
          <p:spPr>
            <a:xfrm>
              <a:off x="3177652" y="2919415"/>
              <a:ext cx="1481129" cy="8023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1500" dirty="0">
                  <a:latin typeface="微软雅黑" panose="020B0503020204020204" pitchFamily="82" charset="2"/>
                  <a:ea typeface="微软雅黑" panose="020B0503020204020204" pitchFamily="82" charset="2"/>
                </a:rPr>
                <a:t>页面使用哈希值</a:t>
              </a:r>
              <a:r>
                <a:rPr kumimoji="1" lang="en-US" altLang="zh-CN" sz="1500" dirty="0">
                  <a:latin typeface="微软雅黑" panose="020B0503020204020204" pitchFamily="82" charset="2"/>
                  <a:ea typeface="微软雅黑" panose="020B0503020204020204" pitchFamily="82" charset="2"/>
                </a:rPr>
                <a:t>1</a:t>
              </a:r>
              <a:r>
                <a:rPr kumimoji="1" lang="zh-CN" altLang="en-US" sz="1500" dirty="0">
                  <a:latin typeface="微软雅黑" panose="020B0503020204020204" pitchFamily="82" charset="2"/>
                  <a:ea typeface="微软雅黑" panose="020B0503020204020204" pitchFamily="82" charset="2"/>
                </a:rPr>
                <a:t>位</a:t>
              </a:r>
            </a:p>
          </p:txBody>
        </p:sp>
        <p:cxnSp>
          <p:nvCxnSpPr>
            <p:cNvPr id="21" name="肘形连接符 20">
              <a:extLst>
                <a:ext uri="{FF2B5EF4-FFF2-40B4-BE49-F238E27FC236}">
                  <a16:creationId xmlns:a16="http://schemas.microsoft.com/office/drawing/2014/main" id="{AA0C2584-56F2-1E3D-DA5D-67CD81F11C76}"/>
                </a:ext>
              </a:extLst>
            </p:cNvPr>
            <p:cNvCxnSpPr>
              <a:cxnSpLocks/>
              <a:stCxn id="7" idx="2"/>
              <a:endCxn id="11" idx="2"/>
            </p:cNvCxnSpPr>
            <p:nvPr/>
          </p:nvCxnSpPr>
          <p:spPr bwMode="auto">
            <a:xfrm rot="16200000" flipH="1">
              <a:off x="5729968" y="1788626"/>
              <a:ext cx="707176" cy="8471413"/>
            </a:xfrm>
            <a:prstGeom prst="bentConnector3">
              <a:avLst>
                <a:gd name="adj1" fmla="val 132326"/>
              </a:avLst>
            </a:prstGeom>
            <a:noFill/>
            <a:ln w="381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11BF867F-6A6D-D078-2C75-3E85BF1A69D4}"/>
                </a:ext>
              </a:extLst>
            </p:cNvPr>
            <p:cNvSpPr txBox="1"/>
            <p:nvPr/>
          </p:nvSpPr>
          <p:spPr>
            <a:xfrm>
              <a:off x="3993269" y="6183295"/>
              <a:ext cx="11913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dirty="0">
                  <a:latin typeface="微软雅黑" panose="020B0503020204020204" pitchFamily="82" charset="2"/>
                  <a:ea typeface="微软雅黑" panose="020B0503020204020204" pitchFamily="82" charset="2"/>
                </a:rPr>
                <a:t>插入</a:t>
              </a:r>
              <a:r>
                <a:rPr kumimoji="1" lang="en-US" altLang="zh-CN" dirty="0">
                  <a:latin typeface="微软雅黑" panose="020B0503020204020204" pitchFamily="82" charset="2"/>
                  <a:ea typeface="微软雅黑" panose="020B0503020204020204" pitchFamily="82" charset="2"/>
                </a:rPr>
                <a:t>1110</a:t>
              </a:r>
              <a:endParaRPr kumimoji="1" lang="zh-CN" altLang="en-US" dirty="0"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</p:grp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EB5611-846E-068F-042E-181F60F27A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67453386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: 形状 39">
            <a:extLst>
              <a:ext uri="{FF2B5EF4-FFF2-40B4-BE49-F238E27FC236}">
                <a16:creationId xmlns:a16="http://schemas.microsoft.com/office/drawing/2014/main" id="{168FC396-71A5-4E9A-91B4-9C546BA07118}"/>
              </a:ext>
            </a:extLst>
          </p:cNvPr>
          <p:cNvSpPr/>
          <p:nvPr/>
        </p:nvSpPr>
        <p:spPr bwMode="auto">
          <a:xfrm>
            <a:off x="712225" y="1186405"/>
            <a:ext cx="10767551" cy="4885532"/>
          </a:xfrm>
          <a:custGeom>
            <a:avLst/>
            <a:gdLst>
              <a:gd name="connsiteX0" fmla="*/ 0 w 6810034"/>
              <a:gd name="connsiteY0" fmla="*/ 0 h 678471"/>
              <a:gd name="connsiteX1" fmla="*/ 6810034 w 6810034"/>
              <a:gd name="connsiteY1" fmla="*/ 0 h 678471"/>
              <a:gd name="connsiteX2" fmla="*/ 6810034 w 6810034"/>
              <a:gd name="connsiteY2" fmla="*/ 678471 h 678471"/>
              <a:gd name="connsiteX3" fmla="*/ 0 w 6810034"/>
              <a:gd name="connsiteY3" fmla="*/ 678471 h 678471"/>
              <a:gd name="connsiteX4" fmla="*/ 0 w 6810034"/>
              <a:gd name="connsiteY4" fmla="*/ 0 h 678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10034" h="678471">
                <a:moveTo>
                  <a:pt x="0" y="0"/>
                </a:moveTo>
                <a:lnTo>
                  <a:pt x="6810034" y="0"/>
                </a:lnTo>
                <a:lnTo>
                  <a:pt x="6810034" y="678471"/>
                </a:lnTo>
                <a:lnTo>
                  <a:pt x="0" y="678471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6F1787">
                  <a:alpha val="20000"/>
                </a:srgbClr>
              </a:gs>
              <a:gs pos="100000">
                <a:srgbClr val="6F1787">
                  <a:alpha val="20000"/>
                </a:srgbClr>
              </a:gs>
              <a:gs pos="48000">
                <a:schemeClr val="bg1">
                  <a:alpha val="0"/>
                </a:schemeClr>
              </a:gs>
            </a:gsLst>
            <a:lin ang="13500000" scaled="0"/>
          </a:gra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华文楷体" pitchFamily="2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CFBC575-117D-18D1-B45F-3741114107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70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A15BC3D9-8503-8FF7-CD2A-130CC6FC0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可扩展哈希表的问题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E2DF3DC-179A-C80E-BFA6-375005ADB9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830" y="1304800"/>
            <a:ext cx="10305617" cy="5005387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哈希表每次容量加倍时需要阻塞对整个哈希表的访问，降低了系统性能；</a:t>
            </a:r>
            <a:endParaRPr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如果少量桶多次溢出，则需要频繁对哈希表进行扩容，造成一部分桶空，导致空间浪费（例如所有元组哈希值前</a:t>
            </a:r>
            <a:r>
              <a:rPr lang="en" altLang="zh-CN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n</a:t>
            </a: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位都相同，则需要频繁扩充）。</a:t>
            </a:r>
            <a:endParaRPr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线性哈希表</a:t>
            </a:r>
            <a:endParaRPr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允许在页面后链接存放溢出数据的页面，更加节省空间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能够实现在哈希表扩容时仅需要对个别桶进行分裂，不会大规模阻塞对哈希表的访问。 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907A53-2B7C-229E-5F14-1FBF39EBF2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85238203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18">
            <a:extLst>
              <a:ext uri="{FF2B5EF4-FFF2-40B4-BE49-F238E27FC236}">
                <a16:creationId xmlns:a16="http://schemas.microsoft.com/office/drawing/2014/main" id="{C5CC1871-89AF-4A29-9C01-FDFAF2C96349}"/>
              </a:ext>
            </a:extLst>
          </p:cNvPr>
          <p:cNvSpPr/>
          <p:nvPr/>
        </p:nvSpPr>
        <p:spPr>
          <a:xfrm>
            <a:off x="8138744" y="1715564"/>
            <a:ext cx="3590194" cy="3570932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dirty="0">
              <a:latin typeface="微软雅黑" panose="020B0503020204020204" pitchFamily="82" charset="2"/>
              <a:ea typeface="微软雅黑" panose="020B0503020204020204" pitchFamily="82" charset="2"/>
              <a:sym typeface="+mn-ea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EFB2333-D65C-9BDA-07CC-58C8D3972A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71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0E7DF01B-580B-2965-2465-083E071FC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线性哈希表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0697CF3F-78B8-A1FF-6647-4336435723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58070" y="1387744"/>
                <a:ext cx="7133771" cy="5005387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  <a:spcBef>
                    <a:spcPts val="0"/>
                  </a:spcBef>
                  <a:buFont typeface="Wingdings" panose="05000000000000000000" pitchFamily="2" charset="2"/>
                  <a:buChar char="Ø"/>
                </a:pPr>
                <a:r>
                  <a:rPr lang="zh-CN" altLang="zh-CN" sz="2400" b="1" dirty="0">
                    <a:solidFill>
                      <a:srgbClr val="701988"/>
                    </a:solidFill>
                    <a:latin typeface="微软雅黑" panose="020B0503020204020204" pitchFamily="82" charset="2"/>
                    <a:ea typeface="微软雅黑" panose="020B0503020204020204" pitchFamily="82" charset="2"/>
                  </a:rPr>
                  <a:t>线性哈希表使用哈希值的后</a:t>
                </a:r>
                <a14:m>
                  <m:oMath xmlns:m="http://schemas.openxmlformats.org/officeDocument/2006/math">
                    <m:r>
                      <a:rPr lang="en-US" altLang="zh-CN" sz="2400" b="1">
                        <a:solidFill>
                          <a:srgbClr val="701988"/>
                        </a:solidFill>
                        <a:latin typeface="Cambria Math" panose="02040503050406030204" pitchFamily="18" charset="0"/>
                        <a:ea typeface="微软雅黑" panose="020B0503020204020204" pitchFamily="82" charset="2"/>
                      </a:rPr>
                      <m:t>𝒎</m:t>
                    </m:r>
                  </m:oMath>
                </a14:m>
                <a:r>
                  <a:rPr lang="zh-CN" altLang="zh-CN" sz="2400" b="1" dirty="0">
                    <a:solidFill>
                      <a:srgbClr val="701988"/>
                    </a:solidFill>
                    <a:latin typeface="微软雅黑" panose="020B0503020204020204" pitchFamily="82" charset="2"/>
                    <a:ea typeface="微软雅黑" panose="020B0503020204020204" pitchFamily="82" charset="2"/>
                  </a:rPr>
                  <a:t>位。</a:t>
                </a:r>
                <a:endParaRPr lang="en-US" altLang="zh-CN" sz="2400" b="1" dirty="0">
                  <a:solidFill>
                    <a:srgbClr val="701988"/>
                  </a:solidFill>
                  <a:latin typeface="微软雅黑" panose="020B0503020204020204" pitchFamily="82" charset="2"/>
                  <a:ea typeface="微软雅黑" panose="020B0503020204020204" pitchFamily="82" charset="2"/>
                </a:endParaRP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  <a:buFont typeface="Wingdings" panose="05000000000000000000" pitchFamily="2" charset="2"/>
                  <a:buChar char="Ø"/>
                </a:pPr>
                <a:r>
                  <a:rPr lang="zh-CN" altLang="zh-CN" sz="2400" b="1" dirty="0">
                    <a:solidFill>
                      <a:srgbClr val="701988"/>
                    </a:solidFill>
                    <a:latin typeface="微软雅黑" panose="020B0503020204020204" pitchFamily="82" charset="2"/>
                    <a:ea typeface="微软雅黑" panose="020B0503020204020204" pitchFamily="82" charset="2"/>
                  </a:rPr>
                  <a:t>线性哈希表不再限制桶数组容量为</a:t>
                </a:r>
                <a:r>
                  <a:rPr lang="en-US" altLang="zh-CN" sz="2400" b="1" dirty="0">
                    <a:solidFill>
                      <a:srgbClr val="701988"/>
                    </a:solidFill>
                    <a:latin typeface="微软雅黑" panose="020B0503020204020204" pitchFamily="82" charset="2"/>
                    <a:ea typeface="微软雅黑" panose="020B0503020204020204" pitchFamily="82" charset="2"/>
                  </a:rPr>
                  <a:t>2</a:t>
                </a:r>
                <a:r>
                  <a:rPr lang="zh-CN" altLang="zh-CN" sz="2400" b="1" dirty="0">
                    <a:solidFill>
                      <a:srgbClr val="701988"/>
                    </a:solidFill>
                    <a:latin typeface="微软雅黑" panose="020B0503020204020204" pitchFamily="82" charset="2"/>
                    <a:ea typeface="微软雅黑" panose="020B0503020204020204" pitchFamily="82" charset="2"/>
                  </a:rPr>
                  <a:t>的整数幂，对容量</a:t>
                </a:r>
                <a14:m>
                  <m:oMath xmlns:m="http://schemas.openxmlformats.org/officeDocument/2006/math">
                    <m:r>
                      <a:rPr lang="en-US" altLang="zh-CN" sz="2400" b="1">
                        <a:solidFill>
                          <a:srgbClr val="701988"/>
                        </a:solidFill>
                        <a:latin typeface="Cambria Math" panose="02040503050406030204" pitchFamily="18" charset="0"/>
                        <a:ea typeface="微软雅黑" panose="020B0503020204020204" pitchFamily="82" charset="2"/>
                      </a:rPr>
                      <m:t>𝒏</m:t>
                    </m:r>
                  </m:oMath>
                </a14:m>
                <a:r>
                  <a:rPr lang="zh-CN" altLang="zh-CN" sz="2400" b="1" dirty="0">
                    <a:solidFill>
                      <a:srgbClr val="701988"/>
                    </a:solidFill>
                    <a:latin typeface="微软雅黑" panose="020B0503020204020204" pitchFamily="82" charset="2"/>
                    <a:ea typeface="微软雅黑" panose="020B0503020204020204" pitchFamily="82" charset="2"/>
                  </a:rPr>
                  <a:t>的桶数组，二进制位数</a:t>
                </a:r>
                <a14:m>
                  <m:oMath xmlns:m="http://schemas.openxmlformats.org/officeDocument/2006/math">
                    <m:r>
                      <a:rPr lang="en-US" altLang="zh-CN" sz="2400" b="1">
                        <a:solidFill>
                          <a:srgbClr val="701988"/>
                        </a:solidFill>
                        <a:latin typeface="Cambria Math" panose="02040503050406030204" pitchFamily="18" charset="0"/>
                        <a:ea typeface="微软雅黑" panose="020B0503020204020204" pitchFamily="82" charset="2"/>
                      </a:rPr>
                      <m:t>𝒎</m:t>
                    </m:r>
                    <m:r>
                      <a:rPr lang="en-US" altLang="zh-CN" sz="2400" b="1">
                        <a:solidFill>
                          <a:srgbClr val="701988"/>
                        </a:solidFill>
                        <a:latin typeface="Cambria Math" panose="02040503050406030204" pitchFamily="18" charset="0"/>
                        <a:ea typeface="微软雅黑" panose="020B0503020204020204" pitchFamily="82" charset="2"/>
                      </a:rPr>
                      <m:t>=</m:t>
                    </m:r>
                    <m:d>
                      <m:dPr>
                        <m:begChr m:val="⌈"/>
                        <m:endChr m:val="⌉"/>
                        <m:ctrlPr>
                          <a:rPr lang="zh-CN" altLang="zh-CN" sz="2400" b="1" i="1">
                            <a:solidFill>
                              <a:srgbClr val="701988"/>
                            </a:solidFill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zh-CN" altLang="zh-CN" sz="2400" b="1" i="1">
                                <a:solidFill>
                                  <a:srgbClr val="701988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82" charset="2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zh-CN" altLang="zh-CN" sz="2400" b="1" i="1">
                                    <a:solidFill>
                                      <a:srgbClr val="701988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82" charset="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>
                                    <a:solidFill>
                                      <a:srgbClr val="701988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82" charset="2"/>
                                  </a:rPr>
                                  <m:t>𝒍𝒐𝒈</m:t>
                                </m:r>
                              </m:e>
                              <m:sub>
                                <m:r>
                                  <a:rPr lang="en-US" altLang="zh-CN" sz="2400" b="1">
                                    <a:solidFill>
                                      <a:srgbClr val="701988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82" charset="2"/>
                                  </a:rPr>
                                  <m:t>𝟐</m:t>
                                </m:r>
                              </m:sub>
                            </m:sSub>
                          </m:fName>
                          <m:e>
                            <m:r>
                              <a:rPr lang="en-US" altLang="zh-CN" sz="2400" b="1">
                                <a:solidFill>
                                  <a:srgbClr val="701988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82" charset="2"/>
                              </a:rPr>
                              <m:t>𝒏</m:t>
                            </m:r>
                          </m:e>
                        </m:func>
                      </m:e>
                    </m:d>
                  </m:oMath>
                </a14:m>
                <a:r>
                  <a:rPr lang="zh-CN" altLang="zh-CN" sz="2400" b="1" dirty="0">
                    <a:solidFill>
                      <a:srgbClr val="701988"/>
                    </a:solidFill>
                    <a:latin typeface="微软雅黑" panose="020B0503020204020204" pitchFamily="82" charset="2"/>
                    <a:ea typeface="微软雅黑" panose="020B0503020204020204" pitchFamily="82" charset="2"/>
                  </a:rPr>
                  <a:t>。</a:t>
                </a:r>
                <a:endParaRPr lang="en-US" altLang="zh-CN" sz="2400" b="1" dirty="0">
                  <a:solidFill>
                    <a:srgbClr val="701988"/>
                  </a:solidFill>
                  <a:latin typeface="微软雅黑" panose="020B0503020204020204" pitchFamily="82" charset="2"/>
                  <a:ea typeface="微软雅黑" panose="020B0503020204020204" pitchFamily="82" charset="2"/>
                </a:endParaRP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  <a:buFont typeface="Wingdings" panose="05000000000000000000" pitchFamily="2" charset="2"/>
                  <a:buChar char="Ø"/>
                </a:pPr>
                <a:r>
                  <a:rPr lang="zh-CN" altLang="zh-CN" sz="2400" b="1" dirty="0">
                    <a:solidFill>
                      <a:srgbClr val="701988"/>
                    </a:solidFill>
                    <a:latin typeface="微软雅黑" panose="020B0503020204020204" pitchFamily="82" charset="2"/>
                    <a:ea typeface="微软雅黑" panose="020B0503020204020204" pitchFamily="82" charset="2"/>
                  </a:rPr>
                  <a:t>插入时根据桶数组填充率来进行扩容。</a:t>
                </a:r>
                <a:endParaRPr lang="en-US" altLang="zh-CN" sz="2400" b="1" dirty="0">
                  <a:solidFill>
                    <a:srgbClr val="701988"/>
                  </a:solidFill>
                  <a:latin typeface="微软雅黑" panose="020B0503020204020204" pitchFamily="82" charset="2"/>
                  <a:ea typeface="微软雅黑" panose="020B0503020204020204" pitchFamily="82" charset="2"/>
                </a:endParaRP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  <a:buFont typeface="Wingdings" panose="05000000000000000000" pitchFamily="2" charset="2"/>
                  <a:buChar char="Ø"/>
                </a:pPr>
                <a:r>
                  <a:rPr lang="zh-CN" altLang="zh-CN" sz="2400" b="1" dirty="0">
                    <a:solidFill>
                      <a:srgbClr val="701988"/>
                    </a:solidFill>
                    <a:latin typeface="微软雅黑" panose="020B0503020204020204" pitchFamily="82" charset="2"/>
                    <a:ea typeface="微软雅黑" panose="020B0503020204020204" pitchFamily="82" charset="2"/>
                  </a:rPr>
                  <a:t>线性哈希表也分为两部分：</a:t>
                </a:r>
                <a:endParaRPr lang="en-US" altLang="zh-CN" sz="2400" b="1" dirty="0">
                  <a:solidFill>
                    <a:srgbClr val="701988"/>
                  </a:solidFill>
                  <a:latin typeface="微软雅黑" panose="020B0503020204020204" pitchFamily="82" charset="2"/>
                  <a:ea typeface="微软雅黑" panose="020B0503020204020204" pitchFamily="82" charset="2"/>
                </a:endParaRPr>
              </a:p>
              <a:p>
                <a:pPr lvl="1">
                  <a:lnSpc>
                    <a:spcPct val="15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zh-CN" altLang="zh-CN" sz="2000" dirty="0">
                    <a:latin typeface="微软雅黑" panose="020B0503020204020204" pitchFamily="82" charset="2"/>
                    <a:ea typeface="微软雅黑" panose="020B0503020204020204" pitchFamily="82" charset="2"/>
                  </a:rPr>
                  <a:t>带有二进制位数（</a:t>
                </a:r>
                <a14:m>
                  <m:oMath xmlns:m="http://schemas.openxmlformats.org/officeDocument/2006/math">
                    <m:r>
                      <a:rPr lang="en-US" altLang="zh-CN" sz="2000">
                        <a:latin typeface="Cambria Math" panose="02040503050406030204" pitchFamily="18" charset="0"/>
                        <a:ea typeface="微软雅黑" panose="020B0503020204020204" pitchFamily="82" charset="2"/>
                      </a:rPr>
                      <m:t>𝑚</m:t>
                    </m:r>
                  </m:oMath>
                </a14:m>
                <a:r>
                  <a:rPr lang="zh-CN" altLang="zh-CN" sz="2000" dirty="0">
                    <a:latin typeface="微软雅黑" panose="020B0503020204020204" pitchFamily="82" charset="2"/>
                    <a:ea typeface="微软雅黑" panose="020B0503020204020204" pitchFamily="82" charset="2"/>
                  </a:rPr>
                  <a:t>）的桶指针（当前的桶容量</a:t>
                </a:r>
                <a14:m>
                  <m:oMath xmlns:m="http://schemas.openxmlformats.org/officeDocument/2006/math">
                    <m:r>
                      <a:rPr lang="en-US" altLang="zh-CN" sz="2000">
                        <a:latin typeface="Cambria Math" panose="02040503050406030204" pitchFamily="18" charset="0"/>
                        <a:ea typeface="微软雅黑" panose="020B0503020204020204" pitchFamily="82" charset="2"/>
                      </a:rPr>
                      <m:t>𝑛</m:t>
                    </m:r>
                  </m:oMath>
                </a14:m>
                <a:r>
                  <a:rPr lang="zh-CN" altLang="zh-CN" sz="2000" dirty="0">
                    <a:latin typeface="微软雅黑" panose="020B0503020204020204" pitchFamily="82" charset="2"/>
                    <a:ea typeface="微软雅黑" panose="020B0503020204020204" pitchFamily="82" charset="2"/>
                  </a:rPr>
                  <a:t>）</a:t>
                </a:r>
                <a:endParaRPr lang="en-US" altLang="zh-CN" sz="2000" dirty="0">
                  <a:latin typeface="微软雅黑" panose="020B0503020204020204" pitchFamily="82" charset="2"/>
                  <a:ea typeface="微软雅黑" panose="020B0503020204020204" pitchFamily="82" charset="2"/>
                </a:endParaRPr>
              </a:p>
              <a:p>
                <a:pPr lvl="1">
                  <a:lnSpc>
                    <a:spcPct val="15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zh-CN" altLang="zh-CN" sz="2000" dirty="0">
                    <a:latin typeface="微软雅黑" panose="020B0503020204020204" pitchFamily="82" charset="2"/>
                    <a:ea typeface="微软雅黑" panose="020B0503020204020204" pitchFamily="82" charset="2"/>
                  </a:rPr>
                  <a:t>桶（每个桶通过桶索引页面形式存在对应的数据）</a:t>
                </a:r>
              </a:p>
              <a:p>
                <a:endParaRPr kumimoji="1" lang="zh-CN" altLang="en-US" sz="2800" dirty="0">
                  <a:latin typeface="微软雅黑" panose="020B0503020204020204" pitchFamily="82" charset="2"/>
                  <a:ea typeface="微软雅黑" panose="020B0503020204020204" pitchFamily="82" charset="2"/>
                </a:endParaRPr>
              </a:p>
            </p:txBody>
          </p:sp>
        </mc:Choice>
        <mc:Fallback xmlns="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0697CF3F-78B8-A1FF-6647-4336435723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8070" y="1387744"/>
                <a:ext cx="7133771" cy="5005387"/>
              </a:xfrm>
              <a:blipFill>
                <a:blip r:embed="rId2"/>
                <a:stretch>
                  <a:fillRect l="-1246" r="-7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6D7B3C1-60CE-6B84-18FC-904A8DE3BC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E189D3B-830F-F02C-E997-9C7D36D4D0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0388" y="1837591"/>
            <a:ext cx="3246905" cy="3326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10150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18">
            <a:extLst>
              <a:ext uri="{FF2B5EF4-FFF2-40B4-BE49-F238E27FC236}">
                <a16:creationId xmlns:a16="http://schemas.microsoft.com/office/drawing/2014/main" id="{C5CC1871-89AF-4A29-9C01-FDFAF2C96349}"/>
              </a:ext>
            </a:extLst>
          </p:cNvPr>
          <p:cNvSpPr/>
          <p:nvPr/>
        </p:nvSpPr>
        <p:spPr>
          <a:xfrm>
            <a:off x="7716713" y="1529862"/>
            <a:ext cx="3938956" cy="4519245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dirty="0">
              <a:latin typeface="微软雅黑" panose="020B0503020204020204" pitchFamily="82" charset="2"/>
              <a:ea typeface="微软雅黑" panose="020B0503020204020204" pitchFamily="82" charset="2"/>
              <a:sym typeface="+mn-ea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B0C1CFC-CCF0-89E3-8AB5-D2F4B72FB0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72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0E64764-3282-1D06-A983-D2A2C34DE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线性哈希表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44B05B7B-437C-0460-23A4-88AF62C8E5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0898" y="1428622"/>
                <a:ext cx="7221692" cy="5005387"/>
              </a:xfrm>
            </p:spPr>
            <p:txBody>
              <a:bodyPr/>
              <a:lstStyle/>
              <a:p>
                <a:pPr>
                  <a:buFont typeface="Wingdings" panose="05000000000000000000" pitchFamily="2" charset="2"/>
                  <a:buChar char="Ø"/>
                </a:pPr>
                <a:r>
                  <a:rPr lang="zh-CN" altLang="en-US" sz="2400" b="1" dirty="0">
                    <a:solidFill>
                      <a:srgbClr val="701988"/>
                    </a:solidFill>
                    <a:latin typeface="微软雅黑" panose="020B0503020204020204" pitchFamily="82" charset="2"/>
                    <a:ea typeface="微软雅黑" panose="020B0503020204020204" pitchFamily="82" charset="2"/>
                  </a:rPr>
                  <a:t>查找键值</a:t>
                </a:r>
                <a:r>
                  <a:rPr lang="en-US" altLang="zh-CN" sz="2400" b="1" dirty="0">
                    <a:solidFill>
                      <a:srgbClr val="701988"/>
                    </a:solidFill>
                    <a:latin typeface="微软雅黑" panose="020B0503020204020204" pitchFamily="82" charset="2"/>
                    <a:ea typeface="微软雅黑" panose="020B0503020204020204" pitchFamily="82" charset="2"/>
                  </a:rPr>
                  <a:t>K</a:t>
                </a:r>
                <a:r>
                  <a:rPr lang="zh-CN" altLang="en-US" sz="2400" b="1" dirty="0">
                    <a:solidFill>
                      <a:srgbClr val="701988"/>
                    </a:solidFill>
                    <a:latin typeface="微软雅黑" panose="020B0503020204020204" pitchFamily="82" charset="2"/>
                    <a:ea typeface="微软雅黑" panose="020B0503020204020204" pitchFamily="82" charset="2"/>
                  </a:rPr>
                  <a:t>算法</a:t>
                </a:r>
                <a:endParaRPr lang="en-US" altLang="zh-CN" sz="2400" b="1" dirty="0">
                  <a:solidFill>
                    <a:srgbClr val="701988"/>
                  </a:solidFill>
                  <a:latin typeface="微软雅黑" panose="020B0503020204020204" pitchFamily="82" charset="2"/>
                  <a:ea typeface="微软雅黑" panose="020B0503020204020204" pitchFamily="82" charset="2"/>
                </a:endParaRPr>
              </a:p>
              <a:p>
                <a:pPr lvl="1">
                  <a:lnSpc>
                    <a:spcPct val="15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zh-CN" altLang="zh-CN" sz="2000" dirty="0">
                    <a:latin typeface="微软雅黑" panose="020B0503020204020204" pitchFamily="82" charset="2"/>
                    <a:ea typeface="微软雅黑" panose="020B0503020204020204" pitchFamily="82" charset="2"/>
                  </a:rPr>
                  <a:t>由于桶数组并非</a:t>
                </a:r>
                <a:r>
                  <a:rPr lang="en-US" altLang="zh-CN" sz="2000" dirty="0">
                    <a:latin typeface="微软雅黑" panose="020B0503020204020204" pitchFamily="82" charset="2"/>
                    <a:ea typeface="微软雅黑" panose="020B0503020204020204" pitchFamily="82" charset="2"/>
                  </a:rPr>
                  <a:t>2</a:t>
                </a:r>
                <a:r>
                  <a:rPr lang="zh-CN" altLang="zh-CN" sz="2000" dirty="0">
                    <a:latin typeface="微软雅黑" panose="020B0503020204020204" pitchFamily="82" charset="2"/>
                    <a:ea typeface="微软雅黑" panose="020B0503020204020204" pitchFamily="82" charset="2"/>
                  </a:rPr>
                  <a:t>的整数幂，而哈希值后</a:t>
                </a:r>
                <a14:m>
                  <m:oMath xmlns:m="http://schemas.openxmlformats.org/officeDocument/2006/math">
                    <m:r>
                      <a:rPr lang="en-US" altLang="zh-CN" sz="2000">
                        <a:latin typeface="Cambria Math" panose="02040503050406030204" pitchFamily="18" charset="0"/>
                        <a:ea typeface="微软雅黑" panose="020B0503020204020204" pitchFamily="82" charset="2"/>
                      </a:rPr>
                      <m:t>𝑚</m:t>
                    </m:r>
                  </m:oMath>
                </a14:m>
                <a:r>
                  <a:rPr lang="zh-CN" altLang="zh-CN" sz="2000" dirty="0">
                    <a:latin typeface="微软雅黑" panose="020B0503020204020204" pitchFamily="82" charset="2"/>
                    <a:ea typeface="微软雅黑" panose="020B0503020204020204" pitchFamily="82" charset="2"/>
                  </a:rPr>
                  <a:t>位取值范围为</a:t>
                </a:r>
                <a:r>
                  <a:rPr lang="en-US" altLang="zh-CN" sz="2000" dirty="0">
                    <a:latin typeface="微软雅黑" panose="020B0503020204020204" pitchFamily="82" charset="2"/>
                    <a:ea typeface="微软雅黑" panose="020B0503020204020204" pitchFamily="82" charset="2"/>
                  </a:rPr>
                  <a:t>0</a:t>
                </a:r>
                <a:r>
                  <a:rPr lang="zh-CN" altLang="zh-CN" sz="2000" dirty="0">
                    <a:latin typeface="微软雅黑" panose="020B0503020204020204" pitchFamily="82" charset="2"/>
                    <a:ea typeface="微软雅黑" panose="020B0503020204020204" pitchFamily="82" charset="2"/>
                  </a:rPr>
                  <a:t>～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000" i="1"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</m:ctrlPr>
                      </m:sSupPr>
                      <m:e>
                        <m:r>
                          <a:rPr lang="en-US" altLang="zh-CN" sz="2000"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  <m:t>2</m:t>
                        </m:r>
                      </m:e>
                      <m:sup>
                        <m:r>
                          <a:rPr lang="en-US" altLang="zh-CN" sz="2000"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  <m:t>𝑚</m:t>
                        </m:r>
                      </m:sup>
                    </m:sSup>
                    <m:r>
                      <a:rPr lang="en-US" altLang="zh-CN" sz="2000">
                        <a:latin typeface="Cambria Math" panose="02040503050406030204" pitchFamily="18" charset="0"/>
                        <a:ea typeface="微软雅黑" panose="020B0503020204020204" pitchFamily="82" charset="2"/>
                      </a:rPr>
                      <m:t>−1</m:t>
                    </m:r>
                  </m:oMath>
                </a14:m>
                <a:r>
                  <a:rPr lang="zh-CN" altLang="zh-CN" sz="2000" dirty="0">
                    <a:latin typeface="微软雅黑" panose="020B0503020204020204" pitchFamily="82" charset="2"/>
                    <a:ea typeface="微软雅黑" panose="020B0503020204020204" pitchFamily="82" charset="2"/>
                  </a:rPr>
                  <a:t>，故哈希值对应的桶可能不存在</a:t>
                </a:r>
                <a:endParaRPr lang="en-US" altLang="zh-CN" sz="2000" dirty="0">
                  <a:latin typeface="微软雅黑" panose="020B0503020204020204" pitchFamily="82" charset="2"/>
                  <a:ea typeface="微软雅黑" panose="020B0503020204020204" pitchFamily="82" charset="2"/>
                </a:endParaRPr>
              </a:p>
              <a:p>
                <a:pPr lvl="1">
                  <a:lnSpc>
                    <a:spcPct val="15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zh-CN" altLang="zh-CN" sz="2000" dirty="0">
                    <a:latin typeface="微软雅黑" panose="020B0503020204020204" pitchFamily="82" charset="2"/>
                    <a:ea typeface="微软雅黑" panose="020B0503020204020204" pitchFamily="82" charset="2"/>
                  </a:rPr>
                  <a:t>设键哈希值后</a:t>
                </a:r>
                <a14:m>
                  <m:oMath xmlns:m="http://schemas.openxmlformats.org/officeDocument/2006/math">
                    <m:r>
                      <a:rPr lang="en-US" altLang="zh-CN" sz="2000">
                        <a:latin typeface="Cambria Math" panose="02040503050406030204" pitchFamily="18" charset="0"/>
                        <a:ea typeface="微软雅黑" panose="020B0503020204020204" pitchFamily="82" charset="2"/>
                      </a:rPr>
                      <m:t>𝑚</m:t>
                    </m:r>
                  </m:oMath>
                </a14:m>
                <a:r>
                  <a:rPr lang="zh-CN" altLang="zh-CN" sz="2000" dirty="0">
                    <a:latin typeface="微软雅黑" panose="020B0503020204020204" pitchFamily="82" charset="2"/>
                    <a:ea typeface="微软雅黑" panose="020B0503020204020204" pitchFamily="82" charset="2"/>
                  </a:rPr>
                  <a:t>位为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</m:ctrlPr>
                      </m:sSubPr>
                      <m:e>
                        <m:r>
                          <a:rPr lang="en-US" altLang="zh-CN" sz="2000"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  <m:t>𝑏</m:t>
                        </m:r>
                      </m:e>
                      <m:sub>
                        <m:r>
                          <a:rPr lang="en-US" altLang="zh-CN" sz="2000"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</m:ctrlPr>
                      </m:sSubPr>
                      <m:e>
                        <m:r>
                          <a:rPr lang="en-US" altLang="zh-CN" sz="2000"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  <m:t>𝑏</m:t>
                        </m:r>
                      </m:e>
                      <m:sub>
                        <m:r>
                          <a:rPr lang="en-US" altLang="zh-CN" sz="2000"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  <m:t>2</m:t>
                        </m:r>
                      </m:sub>
                    </m:sSub>
                    <m:r>
                      <a:rPr lang="en-US" altLang="zh-CN" sz="2000">
                        <a:latin typeface="Cambria Math" panose="02040503050406030204" pitchFamily="18" charset="0"/>
                        <a:ea typeface="微软雅黑" panose="020B0503020204020204" pitchFamily="82" charset="2"/>
                      </a:rPr>
                      <m:t>⋯</m:t>
                    </m:r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</m:ctrlPr>
                      </m:sSubPr>
                      <m:e>
                        <m:r>
                          <a:rPr lang="en-US" altLang="zh-CN" sz="2000"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  <m:t>𝑏</m:t>
                        </m:r>
                      </m:e>
                      <m:sub>
                        <m:r>
                          <a:rPr lang="en-US" altLang="zh-CN" sz="2000"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zh-CN" altLang="zh-CN" sz="2000" dirty="0">
                    <a:latin typeface="微软雅黑" panose="020B0503020204020204" pitchFamily="82" charset="2"/>
                    <a:ea typeface="微软雅黑" panose="020B0503020204020204" pitchFamily="82" charset="2"/>
                  </a:rPr>
                  <a:t>，对应值为</a:t>
                </a:r>
                <a14:m>
                  <m:oMath xmlns:m="http://schemas.openxmlformats.org/officeDocument/2006/math">
                    <m:r>
                      <a:rPr lang="en-US" altLang="zh-CN" sz="2000">
                        <a:latin typeface="Cambria Math" panose="02040503050406030204" pitchFamily="18" charset="0"/>
                        <a:ea typeface="微软雅黑" panose="020B0503020204020204" pitchFamily="82" charset="2"/>
                      </a:rPr>
                      <m:t>𝑥</m:t>
                    </m:r>
                    <m:d>
                      <m:dPr>
                        <m:ctrlPr>
                          <a:rPr lang="zh-CN" altLang="zh-CN" sz="2000" i="1"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</m:ctrlPr>
                      </m:dPr>
                      <m:e>
                        <m:r>
                          <a:rPr lang="en-US" altLang="zh-CN" sz="2000"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  <m:t>𝑥</m:t>
                        </m:r>
                        <m:r>
                          <a:rPr lang="en-US" altLang="zh-CN" sz="2000"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  <m:t>≤</m:t>
                        </m:r>
                        <m:sSup>
                          <m:sSupPr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  <a:ea typeface="微软雅黑" panose="020B0503020204020204" pitchFamily="82" charset="2"/>
                              </a:rPr>
                            </m:ctrlPr>
                          </m:sSupPr>
                          <m:e>
                            <m:r>
                              <a:rPr lang="en-US" altLang="zh-CN" sz="2000">
                                <a:latin typeface="Cambria Math" panose="02040503050406030204" pitchFamily="18" charset="0"/>
                                <a:ea typeface="微软雅黑" panose="020B0503020204020204" pitchFamily="82" charset="2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2000">
                                <a:latin typeface="Cambria Math" panose="02040503050406030204" pitchFamily="18" charset="0"/>
                                <a:ea typeface="微软雅黑" panose="020B0503020204020204" pitchFamily="82" charset="2"/>
                              </a:rPr>
                              <m:t>𝑚</m:t>
                            </m:r>
                          </m:sup>
                        </m:sSup>
                        <m:r>
                          <a:rPr lang="en-US" altLang="zh-CN" sz="2000"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  <m:t>−1</m:t>
                        </m:r>
                      </m:e>
                    </m:d>
                  </m:oMath>
                </a14:m>
                <a:endParaRPr lang="en-US" altLang="zh-CN" sz="2000" dirty="0">
                  <a:latin typeface="微软雅黑" panose="020B0503020204020204" pitchFamily="82" charset="2"/>
                  <a:ea typeface="微软雅黑" panose="020B0503020204020204" pitchFamily="82" charset="2"/>
                </a:endParaRPr>
              </a:p>
              <a:p>
                <a:pPr lvl="1">
                  <a:lnSpc>
                    <a:spcPct val="15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zh-CN" altLang="zh-CN" sz="2000" dirty="0">
                    <a:latin typeface="微软雅黑" panose="020B0503020204020204" pitchFamily="82" charset="2"/>
                    <a:ea typeface="微软雅黑" panose="020B0503020204020204" pitchFamily="82" charset="2"/>
                  </a:rPr>
                  <a:t>如果</a:t>
                </a:r>
                <a14:m>
                  <m:oMath xmlns:m="http://schemas.openxmlformats.org/officeDocument/2006/math">
                    <m:r>
                      <a:rPr lang="en-US" altLang="zh-CN" sz="2000">
                        <a:latin typeface="Cambria Math" panose="02040503050406030204" pitchFamily="18" charset="0"/>
                        <a:ea typeface="微软雅黑" panose="020B0503020204020204" pitchFamily="82" charset="2"/>
                      </a:rPr>
                      <m:t>𝑥</m:t>
                    </m:r>
                    <m:r>
                      <a:rPr lang="en-US" altLang="zh-CN" sz="2000">
                        <a:latin typeface="Cambria Math" panose="02040503050406030204" pitchFamily="18" charset="0"/>
                        <a:ea typeface="微软雅黑" panose="020B0503020204020204" pitchFamily="82" charset="2"/>
                      </a:rPr>
                      <m:t>&lt;</m:t>
                    </m:r>
                    <m:r>
                      <a:rPr lang="en-US" altLang="zh-CN" sz="2000">
                        <a:latin typeface="Cambria Math" panose="02040503050406030204" pitchFamily="18" charset="0"/>
                        <a:ea typeface="微软雅黑" panose="020B0503020204020204" pitchFamily="82" charset="2"/>
                      </a:rPr>
                      <m:t>𝑛</m:t>
                    </m:r>
                  </m:oMath>
                </a14:m>
                <a:r>
                  <a:rPr lang="zh-CN" altLang="zh-CN" sz="2000" dirty="0">
                    <a:latin typeface="微软雅黑" panose="020B0503020204020204" pitchFamily="82" charset="2"/>
                    <a:ea typeface="微软雅黑" panose="020B0503020204020204" pitchFamily="82" charset="2"/>
                  </a:rPr>
                  <a:t>，可以找到对应的桶。</a:t>
                </a:r>
                <a:endParaRPr lang="en-US" altLang="zh-CN" sz="2000" dirty="0">
                  <a:latin typeface="微软雅黑" panose="020B0503020204020204" pitchFamily="82" charset="2"/>
                  <a:ea typeface="微软雅黑" panose="020B0503020204020204" pitchFamily="82" charset="2"/>
                </a:endParaRPr>
              </a:p>
              <a:p>
                <a:pPr lvl="1">
                  <a:lnSpc>
                    <a:spcPct val="15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zh-CN" altLang="zh-CN" sz="2000" dirty="0">
                    <a:latin typeface="微软雅黑" panose="020B0503020204020204" pitchFamily="82" charset="2"/>
                    <a:ea typeface="微软雅黑" panose="020B0503020204020204" pitchFamily="82" charset="2"/>
                  </a:rPr>
                  <a:t>如果</a:t>
                </a:r>
                <a14:m>
                  <m:oMath xmlns:m="http://schemas.openxmlformats.org/officeDocument/2006/math">
                    <m:r>
                      <a:rPr lang="en-US" altLang="zh-CN" sz="2000">
                        <a:latin typeface="Cambria Math" panose="02040503050406030204" pitchFamily="18" charset="0"/>
                        <a:ea typeface="微软雅黑" panose="020B0503020204020204" pitchFamily="82" charset="2"/>
                      </a:rPr>
                      <m:t>𝑥</m:t>
                    </m:r>
                    <m:r>
                      <a:rPr lang="en-US" altLang="zh-CN" sz="2000">
                        <a:latin typeface="Cambria Math" panose="02040503050406030204" pitchFamily="18" charset="0"/>
                        <a:ea typeface="微软雅黑" panose="020B0503020204020204" pitchFamily="82" charset="2"/>
                      </a:rPr>
                      <m:t>≥</m:t>
                    </m:r>
                    <m:r>
                      <a:rPr lang="en-US" altLang="zh-CN" sz="2000">
                        <a:latin typeface="Cambria Math" panose="02040503050406030204" pitchFamily="18" charset="0"/>
                        <a:ea typeface="微软雅黑" panose="020B0503020204020204" pitchFamily="82" charset="2"/>
                      </a:rPr>
                      <m:t>𝑛</m:t>
                    </m:r>
                  </m:oMath>
                </a14:m>
                <a:r>
                  <a:rPr lang="zh-CN" altLang="zh-CN" sz="2000" dirty="0">
                    <a:latin typeface="微软雅黑" panose="020B0503020204020204" pitchFamily="82" charset="2"/>
                    <a:ea typeface="微软雅黑" panose="020B0503020204020204" pitchFamily="82" charset="2"/>
                  </a:rPr>
                  <a:t>，则无法找到对应的桶，由于使用位数为</a:t>
                </a:r>
                <a14:m>
                  <m:oMath xmlns:m="http://schemas.openxmlformats.org/officeDocument/2006/math">
                    <m:r>
                      <a:rPr lang="en-US" altLang="zh-CN" sz="2000">
                        <a:latin typeface="Cambria Math" panose="02040503050406030204" pitchFamily="18" charset="0"/>
                        <a:ea typeface="微软雅黑" panose="020B0503020204020204" pitchFamily="82" charset="2"/>
                      </a:rPr>
                      <m:t>𝑚</m:t>
                    </m:r>
                  </m:oMath>
                </a14:m>
                <a:r>
                  <a:rPr lang="zh-CN" altLang="zh-CN" sz="2000" dirty="0">
                    <a:latin typeface="微软雅黑" panose="020B0503020204020204" pitchFamily="82" charset="2"/>
                    <a:ea typeface="微软雅黑" panose="020B0503020204020204" pitchFamily="82" charset="2"/>
                  </a:rPr>
                  <a:t>，故容量已超过</a:t>
                </a:r>
                <a14:m>
                  <m:oMath xmlns:m="http://schemas.openxmlformats.org/officeDocument/2006/math">
                    <m:r>
                      <a:rPr lang="en-US" altLang="zh-CN" sz="2000">
                        <a:latin typeface="Cambria Math" panose="02040503050406030204" pitchFamily="18" charset="0"/>
                        <a:ea typeface="微软雅黑" panose="020B0503020204020204" pitchFamily="82" charset="2"/>
                      </a:rPr>
                      <m:t>𝑚</m:t>
                    </m:r>
                    <m:r>
                      <a:rPr lang="en-US" altLang="zh-CN" sz="2000">
                        <a:latin typeface="Cambria Math" panose="02040503050406030204" pitchFamily="18" charset="0"/>
                        <a:ea typeface="微软雅黑" panose="020B0503020204020204" pitchFamily="82" charset="2"/>
                      </a:rPr>
                      <m:t>−1</m:t>
                    </m:r>
                  </m:oMath>
                </a14:m>
                <a:r>
                  <a:rPr lang="zh-CN" altLang="zh-CN" sz="2000" dirty="0">
                    <a:latin typeface="微软雅黑" panose="020B0503020204020204" pitchFamily="82" charset="2"/>
                    <a:ea typeface="微软雅黑" panose="020B0503020204020204" pitchFamily="82" charset="2"/>
                  </a:rPr>
                  <a:t>位哈希值表示的范围，即有</a:t>
                </a:r>
                <a14:m>
                  <m:oMath xmlns:m="http://schemas.openxmlformats.org/officeDocument/2006/math">
                    <m:r>
                      <a:rPr lang="en-US" altLang="zh-CN" sz="2000">
                        <a:latin typeface="Cambria Math" panose="02040503050406030204" pitchFamily="18" charset="0"/>
                        <a:ea typeface="微软雅黑" panose="020B0503020204020204" pitchFamily="82" charset="2"/>
                      </a:rPr>
                      <m:t>𝑥</m:t>
                    </m:r>
                    <m:r>
                      <a:rPr lang="en-US" altLang="zh-CN" sz="2000">
                        <a:latin typeface="Cambria Math" panose="02040503050406030204" pitchFamily="18" charset="0"/>
                        <a:ea typeface="微软雅黑" panose="020B0503020204020204" pitchFamily="82" charset="2"/>
                      </a:rPr>
                      <m:t>≥</m:t>
                    </m:r>
                    <m:r>
                      <a:rPr lang="en-US" altLang="zh-CN" sz="2000">
                        <a:latin typeface="Cambria Math" panose="02040503050406030204" pitchFamily="18" charset="0"/>
                        <a:ea typeface="微软雅黑" panose="020B0503020204020204" pitchFamily="82" charset="2"/>
                      </a:rPr>
                      <m:t>𝑛</m:t>
                    </m:r>
                    <m:r>
                      <a:rPr lang="en-US" altLang="zh-CN" sz="2000">
                        <a:latin typeface="Cambria Math" panose="02040503050406030204" pitchFamily="18" charset="0"/>
                        <a:ea typeface="微软雅黑" panose="020B0503020204020204" pitchFamily="82" charset="2"/>
                      </a:rPr>
                      <m:t>&gt;</m:t>
                    </m:r>
                    <m:sSup>
                      <m:sSupPr>
                        <m:ctrlPr>
                          <a:rPr lang="zh-CN" altLang="zh-CN" sz="2000" i="1"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</m:ctrlPr>
                      </m:sSupPr>
                      <m:e>
                        <m:r>
                          <a:rPr lang="en-US" altLang="zh-CN" sz="2000"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  <m:t>2</m:t>
                        </m:r>
                      </m:e>
                      <m:sup>
                        <m:r>
                          <a:rPr lang="en-US" altLang="zh-CN" sz="2000"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  <m:t>𝑚</m:t>
                        </m:r>
                        <m:r>
                          <a:rPr lang="en-US" altLang="zh-CN" sz="2000"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zh-CN" altLang="zh-CN" sz="2000" dirty="0">
                    <a:latin typeface="微软雅黑" panose="020B0503020204020204" pitchFamily="82" charset="2"/>
                    <a:ea typeface="微软雅黑" panose="020B0503020204020204" pitchFamily="82" charset="2"/>
                  </a:rPr>
                  <a:t>，此时线性哈希表查找</a:t>
                </a:r>
                <a14:m>
                  <m:oMath xmlns:m="http://schemas.openxmlformats.org/officeDocument/2006/math">
                    <m:r>
                      <a:rPr lang="en-US" altLang="zh-CN" sz="2000">
                        <a:latin typeface="Cambria Math" panose="02040503050406030204" pitchFamily="18" charset="0"/>
                        <a:ea typeface="微软雅黑" panose="020B0503020204020204" pitchFamily="82" charset="2"/>
                      </a:rPr>
                      <m:t>𝑥</m:t>
                    </m:r>
                    <m:r>
                      <a:rPr lang="en-US" altLang="zh-CN" sz="2000">
                        <a:latin typeface="Cambria Math" panose="02040503050406030204" pitchFamily="18" charset="0"/>
                        <a:ea typeface="微软雅黑" panose="020B0503020204020204" pitchFamily="82" charset="2"/>
                      </a:rPr>
                      <m:t>−</m:t>
                    </m:r>
                    <m:sSup>
                      <m:sSupPr>
                        <m:ctrlPr>
                          <a:rPr lang="zh-CN" altLang="zh-CN" sz="2000" i="1"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</m:ctrlPr>
                      </m:sSupPr>
                      <m:e>
                        <m:r>
                          <a:rPr lang="en-US" altLang="zh-CN" sz="2000"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  <m:t>2</m:t>
                        </m:r>
                      </m:e>
                      <m:sup>
                        <m:r>
                          <a:rPr lang="en-US" altLang="zh-CN" sz="2000"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  <m:t>𝑚</m:t>
                        </m:r>
                        <m:r>
                          <a:rPr lang="en-US" altLang="zh-CN" sz="2000"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zh-CN" altLang="zh-CN" sz="2000" dirty="0">
                    <a:latin typeface="微软雅黑" panose="020B0503020204020204" pitchFamily="82" charset="2"/>
                    <a:ea typeface="微软雅黑" panose="020B0503020204020204" pitchFamily="82" charset="2"/>
                  </a:rPr>
                  <a:t>号桶。由于此时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000" i="1"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</m:ctrlPr>
                      </m:sSupPr>
                      <m:e>
                        <m:r>
                          <a:rPr lang="en-US" altLang="zh-CN" sz="2000"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  <m:t>2</m:t>
                        </m:r>
                      </m:e>
                      <m:sup>
                        <m:r>
                          <a:rPr lang="en-US" altLang="zh-CN" sz="2000"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  <m:t>𝑚</m:t>
                        </m:r>
                        <m:r>
                          <a:rPr lang="en-US" altLang="zh-CN" sz="2000"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  <m:t>−1</m:t>
                        </m:r>
                      </m:sup>
                    </m:sSup>
                    <m:r>
                      <a:rPr lang="en-US" altLang="zh-CN" sz="2000">
                        <a:latin typeface="Cambria Math" panose="02040503050406030204" pitchFamily="18" charset="0"/>
                        <a:ea typeface="微软雅黑" panose="020B0503020204020204" pitchFamily="82" charset="2"/>
                      </a:rPr>
                      <m:t>&lt;</m:t>
                    </m:r>
                    <m:r>
                      <a:rPr lang="en-US" altLang="zh-CN" sz="2000">
                        <a:latin typeface="Cambria Math" panose="02040503050406030204" pitchFamily="18" charset="0"/>
                        <a:ea typeface="微软雅黑" panose="020B0503020204020204" pitchFamily="82" charset="2"/>
                      </a:rPr>
                      <m:t>𝑥</m:t>
                    </m:r>
                    <m:r>
                      <a:rPr lang="en-US" altLang="zh-CN" sz="2000">
                        <a:latin typeface="Cambria Math" panose="02040503050406030204" pitchFamily="18" charset="0"/>
                        <a:ea typeface="微软雅黑" panose="020B0503020204020204" pitchFamily="82" charset="2"/>
                      </a:rPr>
                      <m:t>≤</m:t>
                    </m:r>
                    <m:sSup>
                      <m:sSupPr>
                        <m:ctrlPr>
                          <a:rPr lang="zh-CN" altLang="zh-CN" sz="2000" i="1"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</m:ctrlPr>
                      </m:sSupPr>
                      <m:e>
                        <m:r>
                          <a:rPr lang="en-US" altLang="zh-CN" sz="2000"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  <m:t>2</m:t>
                        </m:r>
                      </m:e>
                      <m:sup>
                        <m:r>
                          <a:rPr lang="en-US" altLang="zh-CN" sz="2000"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  <m:t>𝑚</m:t>
                        </m:r>
                      </m:sup>
                    </m:sSup>
                    <m:r>
                      <a:rPr lang="en-US" altLang="zh-CN" sz="2000">
                        <a:latin typeface="Cambria Math" panose="02040503050406030204" pitchFamily="18" charset="0"/>
                        <a:ea typeface="微软雅黑" panose="020B0503020204020204" pitchFamily="82" charset="2"/>
                      </a:rPr>
                      <m:t>−1</m:t>
                    </m:r>
                  </m:oMath>
                </a14:m>
                <a:r>
                  <a:rPr lang="zh-CN" altLang="zh-CN" sz="2000" dirty="0">
                    <a:latin typeface="微软雅黑" panose="020B0503020204020204" pitchFamily="82" charset="2"/>
                    <a:ea typeface="微软雅黑" panose="020B0503020204020204" pitchFamily="82" charset="2"/>
                  </a:rPr>
                  <a:t>，故有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</m:ctrlPr>
                      </m:sSubPr>
                      <m:e>
                        <m:r>
                          <a:rPr lang="en-US" altLang="zh-CN" sz="2000"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  <m:t>𝑏</m:t>
                        </m:r>
                      </m:e>
                      <m:sub>
                        <m:r>
                          <a:rPr lang="en-US" altLang="zh-CN" sz="2000"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  <m:t>1</m:t>
                        </m:r>
                      </m:sub>
                    </m:sSub>
                    <m:r>
                      <a:rPr lang="en-US" altLang="zh-CN" sz="2000">
                        <a:latin typeface="Cambria Math" panose="02040503050406030204" pitchFamily="18" charset="0"/>
                        <a:ea typeface="微软雅黑" panose="020B0503020204020204" pitchFamily="82" charset="2"/>
                      </a:rPr>
                      <m:t>=1</m:t>
                    </m:r>
                  </m:oMath>
                </a14:m>
                <a:r>
                  <a:rPr lang="zh-CN" altLang="zh-CN" sz="2000" dirty="0">
                    <a:latin typeface="微软雅黑" panose="020B0503020204020204" pitchFamily="82" charset="2"/>
                    <a:ea typeface="微软雅黑" panose="020B0503020204020204" pitchFamily="82" charset="2"/>
                  </a:rPr>
                  <a:t>，即查找</a:t>
                </a:r>
                <a14:m>
                  <m:oMath xmlns:m="http://schemas.openxmlformats.org/officeDocument/2006/math">
                    <m:r>
                      <a:rPr lang="en-US" altLang="zh-CN" sz="2000">
                        <a:latin typeface="Cambria Math" panose="02040503050406030204" pitchFamily="18" charset="0"/>
                        <a:ea typeface="微软雅黑" panose="020B0503020204020204" pitchFamily="82" charset="2"/>
                      </a:rPr>
                      <m:t>0</m:t>
                    </m:r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</m:ctrlPr>
                      </m:sSubPr>
                      <m:e>
                        <m:r>
                          <a:rPr lang="en-US" altLang="zh-CN" sz="2000"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  <m:t>𝑏</m:t>
                        </m:r>
                      </m:e>
                      <m:sub>
                        <m:r>
                          <a:rPr lang="en-US" altLang="zh-CN" sz="2000"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  <m:t>2</m:t>
                        </m:r>
                      </m:sub>
                    </m:sSub>
                    <m:r>
                      <a:rPr lang="en-US" altLang="zh-CN" sz="2000">
                        <a:latin typeface="Cambria Math" panose="02040503050406030204" pitchFamily="18" charset="0"/>
                        <a:ea typeface="微软雅黑" panose="020B0503020204020204" pitchFamily="82" charset="2"/>
                      </a:rPr>
                      <m:t>⋯</m:t>
                    </m:r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</m:ctrlPr>
                      </m:sSubPr>
                      <m:e>
                        <m:r>
                          <a:rPr lang="en-US" altLang="zh-CN" sz="2000"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  <m:t>𝑏</m:t>
                        </m:r>
                      </m:e>
                      <m:sub>
                        <m:r>
                          <a:rPr lang="en-US" altLang="zh-CN" sz="2000"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zh-CN" altLang="zh-CN" sz="2000" dirty="0">
                    <a:latin typeface="微软雅黑" panose="020B0503020204020204" pitchFamily="82" charset="2"/>
                    <a:ea typeface="微软雅黑" panose="020B0503020204020204" pitchFamily="82" charset="2"/>
                  </a:rPr>
                  <a:t>号桶。</a:t>
                </a:r>
              </a:p>
              <a:p>
                <a:pPr lvl="1"/>
                <a:endParaRPr kumimoji="1" lang="zh-CN" altLang="en-US" dirty="0">
                  <a:latin typeface="微软雅黑" panose="020B0503020204020204" pitchFamily="82" charset="2"/>
                  <a:ea typeface="微软雅黑" panose="020B0503020204020204" pitchFamily="82" charset="2"/>
                </a:endParaRPr>
              </a:p>
            </p:txBody>
          </p:sp>
        </mc:Choice>
        <mc:Fallback xmlns="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44B05B7B-437C-0460-23A4-88AF62C8E5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0898" y="1428622"/>
                <a:ext cx="7221692" cy="5005387"/>
              </a:xfrm>
              <a:blipFill>
                <a:blip r:embed="rId2"/>
                <a:stretch>
                  <a:fillRect l="-1053" t="-1013" r="-43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003A98C-113E-CFBC-B5D3-EFD299130B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2080697-6F99-2557-B7BD-8CCE6E6447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3429" y="1734397"/>
            <a:ext cx="2942448" cy="301492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A36444C-FFAA-BAA6-FB19-ED5464BCCDB4}"/>
                  </a:ext>
                </a:extLst>
              </p:cNvPr>
              <p:cNvSpPr txBox="1"/>
              <p:nvPr/>
            </p:nvSpPr>
            <p:spPr>
              <a:xfrm>
                <a:off x="9140633" y="4865173"/>
                <a:ext cx="1403933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zh-CN" sz="1600" kern="100" dirty="0">
                    <a:solidFill>
                      <a:srgbClr val="6F1787"/>
                    </a:solidFill>
                    <a:effectLst/>
                    <a:latin typeface="微软雅黑" panose="020B0503020204020204" pitchFamily="82" charset="2"/>
                    <a:ea typeface="微软雅黑" panose="020B0503020204020204" pitchFamily="82" charset="2"/>
                    <a:cs typeface="Times New Roman" panose="02020603050405020304" pitchFamily="18" charset="0"/>
                  </a:rPr>
                  <a:t>查找</a:t>
                </a:r>
                <a:r>
                  <a:rPr lang="en-US" altLang="zh-CN" sz="1600" kern="100" dirty="0">
                    <a:solidFill>
                      <a:srgbClr val="6F1787"/>
                    </a:solidFill>
                    <a:effectLst/>
                    <a:latin typeface="微软雅黑" panose="020B0503020204020204" pitchFamily="82" charset="2"/>
                    <a:ea typeface="微软雅黑" panose="020B0503020204020204" pitchFamily="82" charset="2"/>
                    <a:cs typeface="Times New Roman" panose="02020603050405020304" pitchFamily="18" charset="0"/>
                  </a:rPr>
                  <a:t>1111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altLang="zh-CN" sz="1600" i="1" kern="100" smtClean="0">
                        <a:solidFill>
                          <a:srgbClr val="6F1787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1600" i="1" kern="100" smtClean="0">
                        <a:solidFill>
                          <a:srgbClr val="6F1787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CN" sz="1600" kern="100" dirty="0">
                    <a:solidFill>
                      <a:srgbClr val="6F1787"/>
                    </a:solidFill>
                    <a:latin typeface="微软雅黑" panose="020B0503020204020204" pitchFamily="82" charset="2"/>
                    <a:ea typeface="微软雅黑" panose="020B0503020204020204" pitchFamily="82" charset="2"/>
                    <a:cs typeface="Times New Roman" panose="02020603050405020304" pitchFamily="18" charset="0"/>
                  </a:rPr>
                  <a:t>=3</a:t>
                </a:r>
                <a:r>
                  <a:rPr lang="zh-CN" altLang="en-US" sz="1600" kern="100" dirty="0">
                    <a:solidFill>
                      <a:srgbClr val="6F1787"/>
                    </a:solidFill>
                    <a:latin typeface="微软雅黑" panose="020B0503020204020204" pitchFamily="82" charset="2"/>
                    <a:ea typeface="微软雅黑" panose="020B0503020204020204" pitchFamily="82" charset="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600" i="1" kern="100">
                        <a:solidFill>
                          <a:srgbClr val="6F1787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≥</m:t>
                    </m:r>
                    <m:r>
                      <a:rPr lang="en-US" altLang="zh-CN" sz="1600" b="0" i="1" kern="100" smtClean="0">
                        <a:solidFill>
                          <a:srgbClr val="6F1787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endParaRPr lang="en-US" altLang="zh-CN" sz="1600" b="0" kern="100" dirty="0">
                  <a:solidFill>
                    <a:srgbClr val="6F1787"/>
                  </a:solidFill>
                  <a:latin typeface="微软雅黑" panose="020B0503020204020204" pitchFamily="82" charset="2"/>
                  <a:ea typeface="微软雅黑" panose="020B0503020204020204" pitchFamily="82" charset="2"/>
                  <a:cs typeface="Times New Roman" panose="02020603050405020304" pitchFamily="18" charset="0"/>
                </a:endParaRPr>
              </a:p>
              <a:p>
                <a:pPr algn="ctr"/>
                <a:r>
                  <a:rPr lang="zh-CN" altLang="en-US" sz="1600" dirty="0">
                    <a:solidFill>
                      <a:srgbClr val="6F1787"/>
                    </a:solidFill>
                    <a:latin typeface="微软雅黑" panose="020B0503020204020204" pitchFamily="82" charset="2"/>
                    <a:ea typeface="微软雅黑" panose="020B0503020204020204" pitchFamily="82" charset="2"/>
                  </a:rPr>
                  <a:t>查找</a:t>
                </a:r>
                <a:r>
                  <a:rPr lang="en-US" altLang="zh-CN" sz="1600" dirty="0">
                    <a:solidFill>
                      <a:srgbClr val="6F1787"/>
                    </a:solidFill>
                    <a:latin typeface="微软雅黑" panose="020B0503020204020204" pitchFamily="82" charset="2"/>
                    <a:ea typeface="微软雅黑" panose="020B0503020204020204" pitchFamily="82" charset="2"/>
                  </a:rPr>
                  <a:t>01</a:t>
                </a:r>
                <a:r>
                  <a:rPr lang="zh-CN" altLang="en-US" sz="1600" dirty="0">
                    <a:solidFill>
                      <a:srgbClr val="6F1787"/>
                    </a:solidFill>
                    <a:latin typeface="微软雅黑" panose="020B0503020204020204" pitchFamily="82" charset="2"/>
                    <a:ea typeface="微软雅黑" panose="020B0503020204020204" pitchFamily="82" charset="2"/>
                  </a:rPr>
                  <a:t>桶</a:t>
                </a: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DA36444C-FFAA-BAA6-FB19-ED5464BCCD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0633" y="4865173"/>
                <a:ext cx="1403933" cy="830997"/>
              </a:xfrm>
              <a:prstGeom prst="rect">
                <a:avLst/>
              </a:prstGeom>
              <a:blipFill rotWithShape="0">
                <a:blip r:embed="rId4"/>
                <a:stretch>
                  <a:fillRect t="-2206" b="-88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728043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18">
            <a:extLst>
              <a:ext uri="{FF2B5EF4-FFF2-40B4-BE49-F238E27FC236}">
                <a16:creationId xmlns:a16="http://schemas.microsoft.com/office/drawing/2014/main" id="{C5CC1871-89AF-4A29-9C01-FDFAF2C96349}"/>
              </a:ext>
            </a:extLst>
          </p:cNvPr>
          <p:cNvSpPr/>
          <p:nvPr/>
        </p:nvSpPr>
        <p:spPr>
          <a:xfrm>
            <a:off x="1213339" y="3399994"/>
            <a:ext cx="10049805" cy="2870176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dirty="0">
              <a:latin typeface="微软雅黑" panose="020B0503020204020204" pitchFamily="82" charset="2"/>
              <a:ea typeface="微软雅黑" panose="020B0503020204020204" pitchFamily="82" charset="2"/>
              <a:sym typeface="+mn-ea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DA891CB-ABDD-76B3-B388-EEEC1C8829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73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134E288-FBE3-54D2-B392-44345C145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线性哈希表</a:t>
            </a:r>
            <a:endParaRPr kumimoji="1" lang="zh-CN" altLang="en-US" sz="36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41CE9C8C-0B33-C635-D964-671DA4FDFE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11171" y="958095"/>
                <a:ext cx="11580829" cy="1960562"/>
              </a:xfrm>
            </p:spPr>
            <p:txBody>
              <a:bodyPr/>
              <a:lstStyle/>
              <a:p>
                <a:pPr>
                  <a:buFont typeface="Wingdings" panose="05000000000000000000" pitchFamily="2" charset="2"/>
                  <a:buChar char="Ø"/>
                </a:pPr>
                <a:r>
                  <a:rPr lang="zh-CN" altLang="en-US" sz="2200" b="1" dirty="0">
                    <a:solidFill>
                      <a:srgbClr val="701988"/>
                    </a:solidFill>
                    <a:latin typeface="微软雅黑" panose="020B0503020204020204" pitchFamily="82" charset="2"/>
                    <a:ea typeface="微软雅黑" panose="020B0503020204020204" pitchFamily="82" charset="2"/>
                  </a:rPr>
                  <a:t>插入键值</a:t>
                </a:r>
                <a:r>
                  <a:rPr lang="en-US" altLang="zh-CN" sz="2200" b="1" dirty="0">
                    <a:solidFill>
                      <a:srgbClr val="701988"/>
                    </a:solidFill>
                    <a:latin typeface="微软雅黑" panose="020B0503020204020204" pitchFamily="82" charset="2"/>
                    <a:ea typeface="微软雅黑" panose="020B0503020204020204" pitchFamily="82" charset="2"/>
                  </a:rPr>
                  <a:t>K</a:t>
                </a:r>
                <a:r>
                  <a:rPr lang="zh-CN" altLang="en-US" sz="2200" b="1" dirty="0">
                    <a:solidFill>
                      <a:srgbClr val="701988"/>
                    </a:solidFill>
                    <a:latin typeface="微软雅黑" panose="020B0503020204020204" pitchFamily="82" charset="2"/>
                    <a:ea typeface="微软雅黑" panose="020B0503020204020204" pitchFamily="82" charset="2"/>
                  </a:rPr>
                  <a:t>，根据填充率决定是否分裂桶页面</a:t>
                </a:r>
                <a:endParaRPr lang="en-US" altLang="zh-CN" sz="2200" b="1" dirty="0">
                  <a:solidFill>
                    <a:srgbClr val="701988"/>
                  </a:solidFill>
                  <a:latin typeface="微软雅黑" panose="020B0503020204020204" pitchFamily="82" charset="2"/>
                  <a:ea typeface="微软雅黑" panose="020B0503020204020204" pitchFamily="82" charset="2"/>
                </a:endParaRP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zh-CN" altLang="zh-CN" sz="2200" b="1" dirty="0">
                    <a:solidFill>
                      <a:srgbClr val="701988"/>
                    </a:solidFill>
                    <a:latin typeface="微软雅黑" panose="020B0503020204020204" pitchFamily="82" charset="2"/>
                    <a:ea typeface="微软雅黑" panose="020B0503020204020204" pitchFamily="82" charset="2"/>
                  </a:rPr>
                  <a:t>当前桶数为</a:t>
                </a:r>
                <a14:m>
                  <m:oMath xmlns:m="http://schemas.openxmlformats.org/officeDocument/2006/math">
                    <m:r>
                      <a:rPr lang="en-US" altLang="zh-CN" sz="2200" b="1">
                        <a:solidFill>
                          <a:srgbClr val="701988"/>
                        </a:solidFill>
                        <a:latin typeface="Cambria Math" panose="02040503050406030204" pitchFamily="18" charset="0"/>
                        <a:ea typeface="微软雅黑" panose="020B0503020204020204" pitchFamily="82" charset="2"/>
                      </a:rPr>
                      <m:t>𝒏</m:t>
                    </m:r>
                  </m:oMath>
                </a14:m>
                <a:r>
                  <a:rPr lang="zh-CN" altLang="zh-CN" sz="2200" b="1" dirty="0">
                    <a:solidFill>
                      <a:srgbClr val="701988"/>
                    </a:solidFill>
                    <a:latin typeface="微软雅黑" panose="020B0503020204020204" pitchFamily="82" charset="2"/>
                    <a:ea typeface="微软雅黑" panose="020B0503020204020204" pitchFamily="82" charset="2"/>
                  </a:rPr>
                  <a:t>，每个桶存放</a:t>
                </a:r>
                <a14:m>
                  <m:oMath xmlns:m="http://schemas.openxmlformats.org/officeDocument/2006/math">
                    <m:r>
                      <a:rPr lang="en-US" altLang="zh-CN" sz="2200" b="1">
                        <a:solidFill>
                          <a:srgbClr val="701988"/>
                        </a:solidFill>
                        <a:latin typeface="Cambria Math" panose="02040503050406030204" pitchFamily="18" charset="0"/>
                        <a:ea typeface="微软雅黑" panose="020B0503020204020204" pitchFamily="82" charset="2"/>
                      </a:rPr>
                      <m:t>𝒌</m:t>
                    </m:r>
                  </m:oMath>
                </a14:m>
                <a:r>
                  <a:rPr lang="zh-CN" altLang="zh-CN" sz="2200" b="1" dirty="0">
                    <a:solidFill>
                      <a:srgbClr val="701988"/>
                    </a:solidFill>
                    <a:latin typeface="微软雅黑" panose="020B0503020204020204" pitchFamily="82" charset="2"/>
                    <a:ea typeface="微软雅黑" panose="020B0503020204020204" pitchFamily="82" charset="2"/>
                  </a:rPr>
                  <a:t>条数据，哈希表中存放索引条目一共</a:t>
                </a:r>
                <a14:m>
                  <m:oMath xmlns:m="http://schemas.openxmlformats.org/officeDocument/2006/math">
                    <m:r>
                      <a:rPr lang="en-US" altLang="zh-CN" sz="2200" b="1">
                        <a:solidFill>
                          <a:srgbClr val="701988"/>
                        </a:solidFill>
                        <a:latin typeface="Cambria Math" panose="02040503050406030204" pitchFamily="18" charset="0"/>
                        <a:ea typeface="微软雅黑" panose="020B0503020204020204" pitchFamily="82" charset="2"/>
                      </a:rPr>
                      <m:t>𝒓</m:t>
                    </m:r>
                  </m:oMath>
                </a14:m>
                <a:r>
                  <a:rPr lang="zh-CN" altLang="zh-CN" sz="2200" b="1" dirty="0">
                    <a:solidFill>
                      <a:srgbClr val="701988"/>
                    </a:solidFill>
                    <a:latin typeface="微软雅黑" panose="020B0503020204020204" pitchFamily="82" charset="2"/>
                    <a:ea typeface="微软雅黑" panose="020B0503020204020204" pitchFamily="82" charset="2"/>
                  </a:rPr>
                  <a:t>条，填充率为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200" b="1" i="1">
                            <a:solidFill>
                              <a:srgbClr val="701988"/>
                            </a:solidFill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</m:ctrlPr>
                      </m:fPr>
                      <m:num>
                        <m:r>
                          <a:rPr lang="en-US" altLang="zh-CN" sz="2200" b="1">
                            <a:solidFill>
                              <a:srgbClr val="701988"/>
                            </a:solidFill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  <m:t>𝒓</m:t>
                        </m:r>
                      </m:num>
                      <m:den>
                        <m:r>
                          <a:rPr lang="en-US" altLang="zh-CN" sz="2200" b="1">
                            <a:solidFill>
                              <a:srgbClr val="701988"/>
                            </a:solidFill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  <m:t>𝒏𝒌</m:t>
                        </m:r>
                      </m:den>
                    </m:f>
                  </m:oMath>
                </a14:m>
                <a:endParaRPr lang="en-US" altLang="zh-CN" sz="2200" b="1" dirty="0">
                  <a:solidFill>
                    <a:srgbClr val="701988"/>
                  </a:solidFill>
                  <a:latin typeface="微软雅黑" panose="020B0503020204020204" pitchFamily="82" charset="2"/>
                  <a:ea typeface="微软雅黑" panose="020B0503020204020204" pitchFamily="82" charset="2"/>
                </a:endParaRP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zh-CN" altLang="zh-CN" sz="2200" b="1" dirty="0">
                    <a:solidFill>
                      <a:srgbClr val="701988"/>
                    </a:solidFill>
                    <a:latin typeface="微软雅黑" panose="020B0503020204020204" pitchFamily="82" charset="2"/>
                    <a:ea typeface="微软雅黑" panose="020B0503020204020204" pitchFamily="82" charset="2"/>
                  </a:rPr>
                  <a:t>如果填充率小于等于阈值</a:t>
                </a:r>
                <a14:m>
                  <m:oMath xmlns:m="http://schemas.openxmlformats.org/officeDocument/2006/math">
                    <m:r>
                      <a:rPr lang="en-US" altLang="zh-CN" sz="2200" b="1">
                        <a:solidFill>
                          <a:srgbClr val="701988"/>
                        </a:solidFill>
                        <a:latin typeface="Cambria Math" panose="02040503050406030204" pitchFamily="18" charset="0"/>
                        <a:ea typeface="微软雅黑" panose="020B0503020204020204" pitchFamily="82" charset="2"/>
                      </a:rPr>
                      <m:t>𝝉</m:t>
                    </m:r>
                  </m:oMath>
                </a14:m>
                <a:r>
                  <a:rPr lang="zh-CN" altLang="zh-CN" sz="2200" b="1" dirty="0">
                    <a:solidFill>
                      <a:srgbClr val="701988"/>
                    </a:solidFill>
                    <a:latin typeface="微软雅黑" panose="020B0503020204020204" pitchFamily="82" charset="2"/>
                    <a:ea typeface="微软雅黑" panose="020B0503020204020204" pitchFamily="82" charset="2"/>
                  </a:rPr>
                  <a:t>，则新增溢出桶以链表方式链接在应插入的桶页面之后</a:t>
                </a:r>
                <a:endParaRPr lang="en-US" altLang="zh-CN" sz="2200" b="1" dirty="0">
                  <a:solidFill>
                    <a:srgbClr val="701988"/>
                  </a:solidFill>
                  <a:latin typeface="微软雅黑" panose="020B0503020204020204" pitchFamily="82" charset="2"/>
                  <a:ea typeface="微软雅黑" panose="020B0503020204020204" pitchFamily="82" charset="2"/>
                </a:endParaRP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zh-CN" altLang="en-US" sz="2200" b="1" dirty="0">
                    <a:solidFill>
                      <a:srgbClr val="701988"/>
                    </a:solidFill>
                    <a:latin typeface="微软雅黑" panose="020B0503020204020204" pitchFamily="82" charset="2"/>
                    <a:ea typeface="微软雅黑" panose="020B0503020204020204" pitchFamily="82" charset="2"/>
                  </a:rPr>
                  <a:t>填充率高于设定阈值𝜏，线性哈希表加入一个新桶并将一个旧桶进行分裂。</a:t>
                </a:r>
                <a:endParaRPr lang="en-US" altLang="zh-CN" sz="2200" b="1" dirty="0">
                  <a:solidFill>
                    <a:srgbClr val="701988"/>
                  </a:solidFill>
                  <a:latin typeface="微软雅黑" panose="020B0503020204020204" pitchFamily="82" charset="2"/>
                  <a:ea typeface="微软雅黑" panose="020B0503020204020204" pitchFamily="82" charset="2"/>
                </a:endParaRP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zh-CN" altLang="en-US" sz="2200" b="1" dirty="0">
                    <a:solidFill>
                      <a:srgbClr val="701988"/>
                    </a:solidFill>
                    <a:latin typeface="微软雅黑" panose="020B0503020204020204" pitchFamily="82" charset="2"/>
                    <a:ea typeface="微软雅黑" panose="020B0503020204020204" pitchFamily="82" charset="2"/>
                  </a:rPr>
                  <a:t>增加后，𝑛</a:t>
                </a:r>
                <a:r>
                  <a:rPr lang="en-US" altLang="zh-CN" sz="2200" b="1" dirty="0">
                    <a:solidFill>
                      <a:srgbClr val="701988"/>
                    </a:solidFill>
                    <a:latin typeface="微软雅黑" panose="020B0503020204020204" pitchFamily="82" charset="2"/>
                    <a:ea typeface="微软雅黑" panose="020B0503020204020204" pitchFamily="82" charset="2"/>
                  </a:rPr>
                  <a:t>=𝑛+1</a:t>
                </a:r>
                <a:r>
                  <a:rPr lang="zh-CN" altLang="en-US" sz="2200" b="1" dirty="0">
                    <a:solidFill>
                      <a:srgbClr val="701988"/>
                    </a:solidFill>
                    <a:latin typeface="微软雅黑" panose="020B0503020204020204" pitchFamily="82" charset="2"/>
                    <a:ea typeface="微软雅黑" panose="020B0503020204020204" pitchFamily="82" charset="2"/>
                  </a:rPr>
                  <a:t>。新桶对应哈希值为𝑛，并设置𝑛</a:t>
                </a:r>
                <a:r>
                  <a:rPr lang="en-US" altLang="zh-CN" sz="2200" b="1" dirty="0">
                    <a:solidFill>
                      <a:srgbClr val="701988"/>
                    </a:solidFill>
                    <a:latin typeface="微软雅黑" panose="020B0503020204020204" pitchFamily="82" charset="2"/>
                    <a:ea typeface="微软雅黑" panose="020B0503020204020204" pitchFamily="82" charset="2"/>
                  </a:rPr>
                  <a:t>=𝑛+1</a:t>
                </a:r>
                <a:r>
                  <a:rPr lang="zh-CN" altLang="en-US" sz="2200" b="1" dirty="0">
                    <a:solidFill>
                      <a:srgbClr val="701988"/>
                    </a:solidFill>
                    <a:latin typeface="微软雅黑" panose="020B0503020204020204" pitchFamily="82" charset="2"/>
                    <a:ea typeface="微软雅黑" panose="020B0503020204020204" pitchFamily="82" charset="2"/>
                  </a:rPr>
                  <a:t>。</a:t>
                </a:r>
                <a:endParaRPr lang="en-US" altLang="zh-CN" sz="2200" b="1" dirty="0">
                  <a:solidFill>
                    <a:srgbClr val="701988"/>
                  </a:solidFill>
                  <a:latin typeface="微软雅黑" panose="020B0503020204020204" pitchFamily="82" charset="2"/>
                  <a:ea typeface="微软雅黑" panose="020B0503020204020204" pitchFamily="82" charset="2"/>
                </a:endParaRPr>
              </a:p>
              <a:p>
                <a:endParaRPr kumimoji="1" lang="zh-CN" altLang="en-US" sz="2200" b="1" dirty="0">
                  <a:solidFill>
                    <a:srgbClr val="701988"/>
                  </a:solidFill>
                  <a:latin typeface="微软雅黑" panose="020B0503020204020204" pitchFamily="82" charset="2"/>
                  <a:ea typeface="微软雅黑" panose="020B0503020204020204" pitchFamily="82" charset="2"/>
                </a:endParaRPr>
              </a:p>
            </p:txBody>
          </p:sp>
        </mc:Choice>
        <mc:Fallback xmlns="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41CE9C8C-0B33-C635-D964-671DA4FDFE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1171" y="958095"/>
                <a:ext cx="11580829" cy="1960562"/>
              </a:xfrm>
              <a:blipFill>
                <a:blip r:embed="rId2"/>
                <a:stretch>
                  <a:fillRect l="-548" t="-1935" b="-174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C4CCAB-9C90-8581-05D0-62753A7479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87E2F94F-E19E-467D-8BE3-921BAFF573E4}"/>
              </a:ext>
            </a:extLst>
          </p:cNvPr>
          <p:cNvGrpSpPr/>
          <p:nvPr/>
        </p:nvGrpSpPr>
        <p:grpSpPr>
          <a:xfrm>
            <a:off x="1846635" y="3594761"/>
            <a:ext cx="8836015" cy="2428643"/>
            <a:chOff x="129045" y="3359920"/>
            <a:chExt cx="11375838" cy="3281571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FCEE49C1-D2C9-63C8-63D2-889DCCDCAC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9045" y="3999891"/>
              <a:ext cx="2578100" cy="2641600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23242513-5B70-40FF-F6B8-8BB4A44EBEF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99053" y="3786868"/>
              <a:ext cx="1898277" cy="2618313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41521427-0677-E1B4-B48B-2126E65B8ADD}"/>
                    </a:ext>
                  </a:extLst>
                </p:cNvPr>
                <p:cNvSpPr txBox="1"/>
                <p:nvPr/>
              </p:nvSpPr>
              <p:spPr>
                <a:xfrm>
                  <a:off x="3290324" y="3359920"/>
                  <a:ext cx="2236797" cy="5721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zh-CN" altLang="en-US" sz="1500" dirty="0">
                      <a:solidFill>
                        <a:srgbClr val="0070C0"/>
                      </a:solidFill>
                      <a:latin typeface="微软雅黑" panose="020B0503020204020204" pitchFamily="82" charset="2"/>
                      <a:ea typeface="微软雅黑" panose="020B0503020204020204" pitchFamily="82" charset="2"/>
                    </a:rPr>
                    <a:t>填充率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kumimoji="1" lang="en-US" altLang="zh-CN" sz="15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15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kumimoji="1" lang="en-US" altLang="zh-CN" sz="15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kumimoji="1" lang="en-US" altLang="zh-CN" sz="15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f>
                        <m:fPr>
                          <m:ctrlPr>
                            <a:rPr kumimoji="1" lang="en-US" altLang="zh-CN" sz="15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15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kumimoji="1" lang="en-US" altLang="zh-CN" sz="15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kumimoji="1" lang="en-US" altLang="zh-CN" sz="1500" b="0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</m:oMath>
                  </a14:m>
                  <a:r>
                    <a:rPr kumimoji="1" lang="zh-CN" altLang="en-US" sz="1500" dirty="0">
                      <a:solidFill>
                        <a:srgbClr val="0070C0"/>
                      </a:solidFill>
                      <a:latin typeface="微软雅黑" panose="020B0503020204020204" pitchFamily="82" charset="2"/>
                      <a:ea typeface="微软雅黑" panose="020B0503020204020204" pitchFamily="82" charset="2"/>
                    </a:rPr>
                    <a:t>阈值</a:t>
                  </a:r>
                  <a:r>
                    <a:rPr kumimoji="1" lang="en-US" altLang="zh-CN" sz="1500" dirty="0">
                      <a:solidFill>
                        <a:srgbClr val="0070C0"/>
                      </a:solidFill>
                      <a:latin typeface="微软雅黑" panose="020B0503020204020204" pitchFamily="82" charset="2"/>
                      <a:ea typeface="微软雅黑" panose="020B0503020204020204" pitchFamily="82" charset="2"/>
                    </a:rPr>
                    <a:t>)</a:t>
                  </a:r>
                  <a:endParaRPr kumimoji="1" lang="zh-CN" altLang="en-US" sz="1500" dirty="0">
                    <a:solidFill>
                      <a:srgbClr val="0070C0"/>
                    </a:solidFill>
                    <a:latin typeface="微软雅黑" panose="020B0503020204020204" pitchFamily="82" charset="2"/>
                    <a:ea typeface="微软雅黑" panose="020B0503020204020204" pitchFamily="82" charset="2"/>
                  </a:endParaRPr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41521427-0677-E1B4-B48B-2126E65B8A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90324" y="3359920"/>
                  <a:ext cx="2236797" cy="572162"/>
                </a:xfrm>
                <a:prstGeom prst="rect">
                  <a:avLst/>
                </a:prstGeom>
                <a:blipFill>
                  <a:blip r:embed="rId5"/>
                  <a:stretch>
                    <a:fillRect l="-1449" r="-725" b="-294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C924C9E-41FA-9064-526D-0BF3E424733B}"/>
                </a:ext>
              </a:extLst>
            </p:cNvPr>
            <p:cNvSpPr txBox="1"/>
            <p:nvPr/>
          </p:nvSpPr>
          <p:spPr>
            <a:xfrm>
              <a:off x="6522489" y="5934670"/>
              <a:ext cx="1517284" cy="4366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500" dirty="0">
                  <a:solidFill>
                    <a:srgbClr val="0070C0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增加</a:t>
              </a:r>
              <a:r>
                <a:rPr kumimoji="1" lang="en-US" altLang="zh-CN" sz="1500" dirty="0">
                  <a:solidFill>
                    <a:srgbClr val="0070C0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11</a:t>
              </a:r>
              <a:r>
                <a:rPr kumimoji="1" lang="zh-CN" altLang="en-US" sz="1500" dirty="0">
                  <a:solidFill>
                    <a:srgbClr val="0070C0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新桶</a:t>
              </a:r>
              <a:endParaRPr kumimoji="1" lang="en-US" altLang="zh-CN" sz="1500" dirty="0">
                <a:solidFill>
                  <a:srgbClr val="0070C0"/>
                </a:solidFill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  <p:cxnSp>
          <p:nvCxnSpPr>
            <p:cNvPr id="13" name="直线箭头连接符 12">
              <a:extLst>
                <a:ext uri="{FF2B5EF4-FFF2-40B4-BE49-F238E27FC236}">
                  <a16:creationId xmlns:a16="http://schemas.microsoft.com/office/drawing/2014/main" id="{DA461E91-710E-90D2-80B6-CE60F22A601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885457" y="4378768"/>
              <a:ext cx="1448337" cy="14538"/>
            </a:xfrm>
            <a:prstGeom prst="straightConnector1">
              <a:avLst/>
            </a:prstGeom>
            <a:noFill/>
            <a:ln w="3810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C4FE5A3D-19FC-9444-6BD3-5F8DD9646AF2}"/>
                </a:ext>
              </a:extLst>
            </p:cNvPr>
            <p:cNvSpPr txBox="1"/>
            <p:nvPr/>
          </p:nvSpPr>
          <p:spPr>
            <a:xfrm>
              <a:off x="3007485" y="3987173"/>
              <a:ext cx="1310906" cy="4366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500" dirty="0">
                  <a:latin typeface="微软雅黑" panose="020B0503020204020204" pitchFamily="82" charset="2"/>
                  <a:ea typeface="微软雅黑" panose="020B0503020204020204" pitchFamily="82" charset="2"/>
                </a:rPr>
                <a:t>插入</a:t>
              </a:r>
              <a:r>
                <a:rPr kumimoji="1" lang="en-US" altLang="zh-CN" sz="1500" dirty="0">
                  <a:latin typeface="微软雅黑" panose="020B0503020204020204" pitchFamily="82" charset="2"/>
                  <a:ea typeface="微软雅黑" panose="020B0503020204020204" pitchFamily="82" charset="2"/>
                </a:rPr>
                <a:t>1100</a:t>
              </a:r>
              <a:endParaRPr kumimoji="1" lang="zh-CN" altLang="en-US" sz="1500" dirty="0"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16D71393-C870-AF11-3C9D-9DEDB6D3CA76}"/>
                </a:ext>
              </a:extLst>
            </p:cNvPr>
            <p:cNvSpPr txBox="1"/>
            <p:nvPr/>
          </p:nvSpPr>
          <p:spPr>
            <a:xfrm>
              <a:off x="2775857" y="5315451"/>
              <a:ext cx="2018780" cy="7485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500" dirty="0">
                  <a:solidFill>
                    <a:srgbClr val="3B20FF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由于</a:t>
              </a:r>
              <a:r>
                <a:rPr kumimoji="1" lang="en-US" altLang="zh-CN" sz="1500" dirty="0">
                  <a:solidFill>
                    <a:srgbClr val="3B20FF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11</a:t>
              </a:r>
              <a:r>
                <a:rPr kumimoji="1" lang="en-US" altLang="zh-CN" sz="1500" baseline="-25000" dirty="0">
                  <a:solidFill>
                    <a:srgbClr val="3B20FF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(2)</a:t>
              </a:r>
              <a:r>
                <a:rPr kumimoji="1" lang="zh-CN" altLang="en-US" sz="1500" baseline="-25000" dirty="0">
                  <a:solidFill>
                    <a:srgbClr val="3B20FF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 </a:t>
              </a:r>
              <a:r>
                <a:rPr kumimoji="1" lang="en-US" altLang="zh-CN" sz="1500" dirty="0">
                  <a:solidFill>
                    <a:srgbClr val="3B20FF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&gt;</a:t>
              </a:r>
              <a:r>
                <a:rPr kumimoji="1" lang="zh-CN" altLang="en-US" sz="1500" dirty="0">
                  <a:solidFill>
                    <a:srgbClr val="3B20FF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 </a:t>
              </a:r>
              <a:r>
                <a:rPr kumimoji="1" lang="en-US" altLang="zh-CN" sz="1500" dirty="0">
                  <a:solidFill>
                    <a:srgbClr val="3B20FF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n=3</a:t>
              </a:r>
            </a:p>
            <a:p>
              <a:r>
                <a:rPr kumimoji="1" lang="zh-CN" altLang="en-US" sz="1500" dirty="0">
                  <a:solidFill>
                    <a:srgbClr val="3B20FF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其被放在</a:t>
              </a:r>
              <a:r>
                <a:rPr kumimoji="1" lang="en-US" altLang="zh-CN" sz="1500" dirty="0">
                  <a:solidFill>
                    <a:srgbClr val="3B20FF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01</a:t>
              </a:r>
              <a:r>
                <a:rPr kumimoji="1" lang="zh-CN" altLang="en-US" sz="1500" dirty="0">
                  <a:solidFill>
                    <a:srgbClr val="3B20FF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桶中</a:t>
              </a:r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BFE11635-DAEB-4151-E078-5367C407DBE5}"/>
                </a:ext>
              </a:extLst>
            </p:cNvPr>
            <p:cNvSpPr/>
            <p:nvPr/>
          </p:nvSpPr>
          <p:spPr bwMode="auto">
            <a:xfrm>
              <a:off x="1393286" y="4815426"/>
              <a:ext cx="1624686" cy="822305"/>
            </a:xfrm>
            <a:prstGeom prst="ellipse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46B64699-06AF-B8AE-B3B3-663E299E9BF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486004" y="3443539"/>
              <a:ext cx="2018879" cy="3114025"/>
            </a:xfrm>
            <a:prstGeom prst="rect">
              <a:avLst/>
            </a:prstGeom>
          </p:spPr>
        </p:pic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58DED485-A084-E137-EF6F-47823B03BBCE}"/>
                </a:ext>
              </a:extLst>
            </p:cNvPr>
            <p:cNvSpPr txBox="1"/>
            <p:nvPr/>
          </p:nvSpPr>
          <p:spPr>
            <a:xfrm>
              <a:off x="8104624" y="4208640"/>
              <a:ext cx="11913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dirty="0">
                  <a:latin typeface="微软雅黑" panose="020B0503020204020204" pitchFamily="82" charset="2"/>
                  <a:ea typeface="微软雅黑" panose="020B0503020204020204" pitchFamily="82" charset="2"/>
                </a:rPr>
                <a:t>插入</a:t>
              </a:r>
              <a:r>
                <a:rPr kumimoji="1" lang="en-US" altLang="zh-CN" dirty="0">
                  <a:latin typeface="微软雅黑" panose="020B0503020204020204" pitchFamily="82" charset="2"/>
                  <a:ea typeface="微软雅黑" panose="020B0503020204020204" pitchFamily="82" charset="2"/>
                </a:rPr>
                <a:t>1000</a:t>
              </a:r>
              <a:endParaRPr kumimoji="1" lang="zh-CN" altLang="en-US" dirty="0"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  <p:cxnSp>
          <p:nvCxnSpPr>
            <p:cNvPr id="14" name="直线箭头连接符 13">
              <a:extLst>
                <a:ext uri="{FF2B5EF4-FFF2-40B4-BE49-F238E27FC236}">
                  <a16:creationId xmlns:a16="http://schemas.microsoft.com/office/drawing/2014/main" id="{F14338BE-8768-CE57-A92A-2EEFF6D5502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987217" y="4633043"/>
              <a:ext cx="1448337" cy="14538"/>
            </a:xfrm>
            <a:prstGeom prst="straightConnector1">
              <a:avLst/>
            </a:prstGeom>
            <a:noFill/>
            <a:ln w="3810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B3D7C89C-E4AA-6A20-47ED-17E1C346F39A}"/>
                </a:ext>
              </a:extLst>
            </p:cNvPr>
            <p:cNvSpPr txBox="1"/>
            <p:nvPr/>
          </p:nvSpPr>
          <p:spPr>
            <a:xfrm>
              <a:off x="6513898" y="4254806"/>
              <a:ext cx="1517284" cy="8109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en-US" altLang="zh-CN" dirty="0">
                <a:solidFill>
                  <a:srgbClr val="0070C0"/>
                </a:solidFill>
                <a:latin typeface="微软雅黑" panose="020B0503020204020204" pitchFamily="82" charset="2"/>
                <a:ea typeface="微软雅黑" panose="020B0503020204020204" pitchFamily="82" charset="2"/>
              </a:endParaRPr>
            </a:p>
            <a:p>
              <a:r>
                <a:rPr kumimoji="1" lang="zh-CN" altLang="en-US" sz="1500" dirty="0">
                  <a:solidFill>
                    <a:srgbClr val="0070C0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分裂</a:t>
              </a:r>
              <a:r>
                <a:rPr kumimoji="1" lang="en-US" altLang="zh-CN" sz="1500" dirty="0">
                  <a:solidFill>
                    <a:srgbClr val="0070C0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01</a:t>
              </a:r>
              <a:r>
                <a:rPr kumimoji="1" lang="zh-CN" altLang="en-US" sz="1500" dirty="0">
                  <a:solidFill>
                    <a:srgbClr val="0070C0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旧桶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93E1EDF3-77B6-063E-A08A-1801BF8DE74A}"/>
                    </a:ext>
                  </a:extLst>
                </p:cNvPr>
                <p:cNvSpPr txBox="1"/>
                <p:nvPr/>
              </p:nvSpPr>
              <p:spPr>
                <a:xfrm>
                  <a:off x="7639322" y="3486423"/>
                  <a:ext cx="2236797" cy="56791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zh-CN" altLang="en-US" sz="1500" dirty="0">
                      <a:solidFill>
                        <a:srgbClr val="0070C0"/>
                      </a:solidFill>
                      <a:latin typeface="微软雅黑" panose="020B0503020204020204" pitchFamily="82" charset="2"/>
                      <a:ea typeface="微软雅黑" panose="020B0503020204020204" pitchFamily="82" charset="2"/>
                    </a:rPr>
                    <a:t>填充率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kumimoji="1" lang="en-US" altLang="zh-CN" sz="15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15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kumimoji="1" lang="en-US" altLang="zh-CN" sz="15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kumimoji="1" lang="en-US" altLang="zh-CN" sz="15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f>
                        <m:fPr>
                          <m:ctrlPr>
                            <a:rPr kumimoji="1" lang="en-US" altLang="zh-CN" sz="15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15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kumimoji="1" lang="en-US" altLang="zh-CN" sz="15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kumimoji="1" lang="en-US" altLang="zh-CN" sz="1500" b="0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</m:oMath>
                  </a14:m>
                  <a:r>
                    <a:rPr kumimoji="1" lang="zh-CN" altLang="en-US" sz="1500" dirty="0">
                      <a:solidFill>
                        <a:srgbClr val="0070C0"/>
                      </a:solidFill>
                      <a:latin typeface="微软雅黑" panose="020B0503020204020204" pitchFamily="82" charset="2"/>
                      <a:ea typeface="微软雅黑" panose="020B0503020204020204" pitchFamily="82" charset="2"/>
                    </a:rPr>
                    <a:t>阈值</a:t>
                  </a:r>
                  <a:r>
                    <a:rPr kumimoji="1" lang="en-US" altLang="zh-CN" sz="1500" dirty="0">
                      <a:solidFill>
                        <a:srgbClr val="0070C0"/>
                      </a:solidFill>
                      <a:latin typeface="微软雅黑" panose="020B0503020204020204" pitchFamily="82" charset="2"/>
                      <a:ea typeface="微软雅黑" panose="020B0503020204020204" pitchFamily="82" charset="2"/>
                    </a:rPr>
                    <a:t>)</a:t>
                  </a:r>
                  <a:endParaRPr kumimoji="1" lang="zh-CN" altLang="en-US" sz="1500" dirty="0">
                    <a:solidFill>
                      <a:srgbClr val="0070C0"/>
                    </a:solidFill>
                    <a:latin typeface="微软雅黑" panose="020B0503020204020204" pitchFamily="82" charset="2"/>
                    <a:ea typeface="微软雅黑" panose="020B0503020204020204" pitchFamily="82" charset="2"/>
                  </a:endParaRPr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="" xmlns:a16="http://schemas.microsoft.com/office/drawing/2014/main" xmlns:a14="http://schemas.microsoft.com/office/drawing/2010/main" id="{93E1EDF3-77B6-063E-A08A-1801BF8DE7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39322" y="3486423"/>
                  <a:ext cx="2236797" cy="567918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l="-1404" b="-289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70014762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18">
            <a:extLst>
              <a:ext uri="{FF2B5EF4-FFF2-40B4-BE49-F238E27FC236}">
                <a16:creationId xmlns:a16="http://schemas.microsoft.com/office/drawing/2014/main" id="{1E094DD3-FF69-412B-8784-4FF25C5BEA8F}"/>
              </a:ext>
            </a:extLst>
          </p:cNvPr>
          <p:cNvSpPr/>
          <p:nvPr/>
        </p:nvSpPr>
        <p:spPr>
          <a:xfrm>
            <a:off x="1050551" y="2314524"/>
            <a:ext cx="9749219" cy="3858868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dirty="0">
              <a:latin typeface="微软雅黑" panose="020B0503020204020204" pitchFamily="82" charset="2"/>
              <a:ea typeface="微软雅黑" panose="020B0503020204020204" pitchFamily="82" charset="2"/>
              <a:sym typeface="+mn-ea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8246483-01CF-4A2C-4FF4-F91414DCBF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74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5D754C5E-CA94-9F99-1E14-96CBD3667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一致性哈希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7212960-C6C1-2BD7-CE09-84216559E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551" y="1168005"/>
            <a:ext cx="10874188" cy="5005387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如何从</a:t>
            </a:r>
            <a:r>
              <a:rPr lang="en-US" altLang="zh-CN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4</a:t>
            </a: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个哈希分片扩展到</a:t>
            </a:r>
            <a:r>
              <a:rPr lang="en-US" altLang="zh-CN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5</a:t>
            </a: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个哈希分片？重新哈希？</a:t>
            </a:r>
            <a:endParaRPr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大量数据搬迁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E3FBF5-165F-9335-D45E-C3A9AB28F3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128543F7-AC08-CFCC-BB4C-89ABA13F02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42" t="18072" r="5163" b="6137"/>
          <a:stretch/>
        </p:blipFill>
        <p:spPr bwMode="auto">
          <a:xfrm>
            <a:off x="1500494" y="2995579"/>
            <a:ext cx="3829722" cy="30238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B1723025-B349-20C9-C4B4-410C026EA689}"/>
              </a:ext>
            </a:extLst>
          </p:cNvPr>
          <p:cNvSpPr txBox="1"/>
          <p:nvPr/>
        </p:nvSpPr>
        <p:spPr>
          <a:xfrm>
            <a:off x="2300593" y="2396485"/>
            <a:ext cx="22295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Hash</a:t>
            </a: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(key)%4</a:t>
            </a:r>
            <a:endParaRPr lang="zh-CN" altLang="en-US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pic>
        <p:nvPicPr>
          <p:cNvPr id="9" name="Picture 7">
            <a:extLst>
              <a:ext uri="{FF2B5EF4-FFF2-40B4-BE49-F238E27FC236}">
                <a16:creationId xmlns:a16="http://schemas.microsoft.com/office/drawing/2014/main" id="{7C23DA8E-4761-D68E-4C12-CC79042B351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44" t="15214" r="14052" b="6760"/>
          <a:stretch/>
        </p:blipFill>
        <p:spPr bwMode="auto">
          <a:xfrm>
            <a:off x="7209908" y="2995579"/>
            <a:ext cx="2921535" cy="30238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BBFA3D84-0BE4-AECF-99C4-29EC0E9B3A69}"/>
              </a:ext>
            </a:extLst>
          </p:cNvPr>
          <p:cNvSpPr txBox="1"/>
          <p:nvPr/>
        </p:nvSpPr>
        <p:spPr>
          <a:xfrm>
            <a:off x="7555913" y="2343938"/>
            <a:ext cx="22295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Hash</a:t>
            </a: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(key)%5</a:t>
            </a:r>
            <a:endParaRPr lang="zh-CN" altLang="en-US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61380246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18">
            <a:extLst>
              <a:ext uri="{FF2B5EF4-FFF2-40B4-BE49-F238E27FC236}">
                <a16:creationId xmlns:a16="http://schemas.microsoft.com/office/drawing/2014/main" id="{C5CC1871-89AF-4A29-9C01-FDFAF2C96349}"/>
              </a:ext>
            </a:extLst>
          </p:cNvPr>
          <p:cNvSpPr/>
          <p:nvPr/>
        </p:nvSpPr>
        <p:spPr>
          <a:xfrm>
            <a:off x="7816363" y="1951891"/>
            <a:ext cx="3211094" cy="3094894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dirty="0">
              <a:latin typeface="微软雅黑" panose="020B0503020204020204" pitchFamily="82" charset="2"/>
              <a:ea typeface="微软雅黑" panose="020B0503020204020204" pitchFamily="82" charset="2"/>
              <a:sym typeface="+mn-ea"/>
            </a:endParaRPr>
          </a:p>
        </p:txBody>
      </p:sp>
      <p:sp>
        <p:nvSpPr>
          <p:cNvPr id="43" name="Shape18">
            <a:extLst>
              <a:ext uri="{FF2B5EF4-FFF2-40B4-BE49-F238E27FC236}">
                <a16:creationId xmlns:a16="http://schemas.microsoft.com/office/drawing/2014/main" id="{C5CC1871-89AF-4A29-9C01-FDFAF2C96349}"/>
              </a:ext>
            </a:extLst>
          </p:cNvPr>
          <p:cNvSpPr/>
          <p:nvPr/>
        </p:nvSpPr>
        <p:spPr>
          <a:xfrm>
            <a:off x="732165" y="3944153"/>
            <a:ext cx="6307322" cy="2410856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dirty="0">
              <a:latin typeface="微软雅黑" panose="020B0503020204020204" pitchFamily="82" charset="2"/>
              <a:ea typeface="微软雅黑" panose="020B0503020204020204" pitchFamily="82" charset="2"/>
              <a:sym typeface="+mn-ea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56AD759-BCE5-FCE6-A41E-5F9F66F27D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75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01D6F06-8ACA-C1DA-83A4-4685C1E58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一致性哈希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EB20A21-0C67-CAE5-CE13-0AA5BB4795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193" y="883034"/>
            <a:ext cx="6577373" cy="5005387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将哈希值组织成为一个环</a:t>
            </a:r>
            <a:r>
              <a:rPr lang="en-US" altLang="zh-CN" sz="20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[0,max)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在哈希环上选择</a:t>
            </a:r>
            <a:r>
              <a:rPr lang="en-US" altLang="zh-CN" sz="20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k</a:t>
            </a:r>
            <a:r>
              <a:rPr lang="zh-CN" altLang="en-US" sz="20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个值作为数据分片</a:t>
            </a:r>
            <a:endParaRPr lang="en-US" altLang="zh-CN" sz="20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latin typeface="微软雅黑" panose="020B0503020204020204" pitchFamily="82" charset="2"/>
                <a:ea typeface="微软雅黑" panose="020B0503020204020204" pitchFamily="82" charset="2"/>
              </a:rPr>
              <a:t>k</a:t>
            </a:r>
            <a:r>
              <a:rPr lang="zh-CN" altLang="en-US" sz="1800" dirty="0">
                <a:latin typeface="微软雅黑" panose="020B0503020204020204" pitchFamily="82" charset="2"/>
                <a:ea typeface="微软雅黑" panose="020B0503020204020204" pitchFamily="82" charset="2"/>
              </a:rPr>
              <a:t>个值从小到大记为</a:t>
            </a:r>
            <a:r>
              <a:rPr lang="en-US" altLang="zh-CN" sz="1800" dirty="0">
                <a:latin typeface="微软雅黑" panose="020B0503020204020204" pitchFamily="82" charset="2"/>
                <a:ea typeface="微软雅黑" panose="020B0503020204020204" pitchFamily="82" charset="2"/>
              </a:rPr>
              <a:t>h</a:t>
            </a:r>
            <a:r>
              <a:rPr lang="en-US" altLang="zh-CN" sz="1800" baseline="-25000" dirty="0">
                <a:latin typeface="微软雅黑" panose="020B0503020204020204" pitchFamily="82" charset="2"/>
                <a:ea typeface="微软雅黑" panose="020B0503020204020204" pitchFamily="82" charset="2"/>
              </a:rPr>
              <a:t>1</a:t>
            </a:r>
            <a:r>
              <a:rPr lang="en-US" altLang="zh-CN" sz="1800" dirty="0">
                <a:latin typeface="微软雅黑" panose="020B0503020204020204" pitchFamily="82" charset="2"/>
                <a:ea typeface="微软雅黑" panose="020B0503020204020204" pitchFamily="82" charset="2"/>
              </a:rPr>
              <a:t>,h</a:t>
            </a:r>
            <a:r>
              <a:rPr lang="en-US" altLang="zh-CN" sz="1800" baseline="-25000" dirty="0">
                <a:latin typeface="微软雅黑" panose="020B0503020204020204" pitchFamily="82" charset="2"/>
                <a:ea typeface="微软雅黑" panose="020B0503020204020204" pitchFamily="82" charset="2"/>
              </a:rPr>
              <a:t>2</a:t>
            </a:r>
            <a:r>
              <a:rPr lang="en-US" altLang="zh-CN" sz="1800" dirty="0">
                <a:latin typeface="微软雅黑" panose="020B0503020204020204" pitchFamily="82" charset="2"/>
                <a:ea typeface="微软雅黑" panose="020B0503020204020204" pitchFamily="82" charset="2"/>
              </a:rPr>
              <a:t>,</a:t>
            </a:r>
            <a:r>
              <a:rPr lang="zh-CN" altLang="en-US" sz="180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1800" dirty="0">
                <a:latin typeface="微软雅黑" panose="020B0503020204020204" pitchFamily="82" charset="2"/>
                <a:ea typeface="微软雅黑" panose="020B0503020204020204" pitchFamily="82" charset="2"/>
              </a:rPr>
              <a:t>…,</a:t>
            </a:r>
            <a:r>
              <a:rPr lang="zh-CN" altLang="en-US" sz="180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1800" dirty="0" err="1">
                <a:latin typeface="微软雅黑" panose="020B0503020204020204" pitchFamily="82" charset="2"/>
                <a:ea typeface="微软雅黑" panose="020B0503020204020204" pitchFamily="82" charset="2"/>
              </a:rPr>
              <a:t>h</a:t>
            </a:r>
            <a:r>
              <a:rPr lang="en-US" altLang="zh-CN" sz="1800" baseline="-25000" dirty="0" err="1">
                <a:latin typeface="微软雅黑" panose="020B0503020204020204" pitchFamily="82" charset="2"/>
                <a:ea typeface="微软雅黑" panose="020B0503020204020204" pitchFamily="82" charset="2"/>
              </a:rPr>
              <a:t>k</a:t>
            </a:r>
            <a:r>
              <a:rPr lang="zh-CN" altLang="en-US" sz="1800" dirty="0">
                <a:latin typeface="微软雅黑" panose="020B0503020204020204" pitchFamily="82" charset="2"/>
                <a:ea typeface="微软雅黑" panose="020B0503020204020204" pitchFamily="82" charset="2"/>
              </a:rPr>
              <a:t>。</a:t>
            </a:r>
            <a:endParaRPr lang="en-US" altLang="zh-CN" sz="18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latin typeface="微软雅黑" panose="020B0503020204020204" pitchFamily="82" charset="2"/>
                <a:ea typeface="微软雅黑" panose="020B0503020204020204" pitchFamily="82" charset="2"/>
              </a:rPr>
              <a:t>k</a:t>
            </a:r>
            <a:r>
              <a:rPr lang="zh-CN" altLang="en-US" sz="1800" dirty="0">
                <a:latin typeface="微软雅黑" panose="020B0503020204020204" pitchFamily="82" charset="2"/>
                <a:ea typeface="微软雅黑" panose="020B0503020204020204" pitchFamily="82" charset="2"/>
              </a:rPr>
              <a:t>个哈希分片记为</a:t>
            </a:r>
            <a:r>
              <a:rPr lang="en-US" altLang="zh-CN" sz="1800" dirty="0">
                <a:latin typeface="微软雅黑" panose="020B0503020204020204" pitchFamily="82" charset="2"/>
                <a:ea typeface="微软雅黑" panose="020B0503020204020204" pitchFamily="82" charset="2"/>
              </a:rPr>
              <a:t>D</a:t>
            </a:r>
            <a:r>
              <a:rPr lang="en-US" altLang="zh-CN" sz="1800" baseline="-25000" dirty="0">
                <a:latin typeface="微软雅黑" panose="020B0503020204020204" pitchFamily="82" charset="2"/>
                <a:ea typeface="微软雅黑" panose="020B0503020204020204" pitchFamily="82" charset="2"/>
              </a:rPr>
              <a:t>1</a:t>
            </a:r>
            <a:r>
              <a:rPr lang="en-US" altLang="zh-CN" sz="1800" dirty="0">
                <a:latin typeface="微软雅黑" panose="020B0503020204020204" pitchFamily="82" charset="2"/>
                <a:ea typeface="微软雅黑" panose="020B0503020204020204" pitchFamily="82" charset="2"/>
              </a:rPr>
              <a:t>,</a:t>
            </a:r>
            <a:r>
              <a:rPr lang="zh-CN" altLang="en-US" sz="180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1800" dirty="0">
                <a:latin typeface="微软雅黑" panose="020B0503020204020204" pitchFamily="82" charset="2"/>
                <a:ea typeface="微软雅黑" panose="020B0503020204020204" pitchFamily="82" charset="2"/>
              </a:rPr>
              <a:t>D</a:t>
            </a:r>
            <a:r>
              <a:rPr lang="en-US" altLang="zh-CN" sz="1800" baseline="-25000" dirty="0">
                <a:latin typeface="微软雅黑" panose="020B0503020204020204" pitchFamily="82" charset="2"/>
                <a:ea typeface="微软雅黑" panose="020B0503020204020204" pitchFamily="82" charset="2"/>
              </a:rPr>
              <a:t>2</a:t>
            </a:r>
            <a:r>
              <a:rPr lang="en-US" altLang="zh-CN" sz="1800" dirty="0">
                <a:latin typeface="微软雅黑" panose="020B0503020204020204" pitchFamily="82" charset="2"/>
                <a:ea typeface="微软雅黑" panose="020B0503020204020204" pitchFamily="82" charset="2"/>
              </a:rPr>
              <a:t>,</a:t>
            </a:r>
            <a:r>
              <a:rPr lang="zh-CN" altLang="en-US" sz="180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1800" dirty="0">
                <a:latin typeface="微软雅黑" panose="020B0503020204020204" pitchFamily="82" charset="2"/>
                <a:ea typeface="微软雅黑" panose="020B0503020204020204" pitchFamily="82" charset="2"/>
              </a:rPr>
              <a:t>…,</a:t>
            </a:r>
            <a:r>
              <a:rPr lang="zh-CN" altLang="en-US" sz="180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1800" dirty="0">
                <a:latin typeface="微软雅黑" panose="020B0503020204020204" pitchFamily="82" charset="2"/>
                <a:ea typeface="微软雅黑" panose="020B0503020204020204" pitchFamily="82" charset="2"/>
              </a:rPr>
              <a:t>D</a:t>
            </a:r>
            <a:r>
              <a:rPr lang="en-US" altLang="zh-CN" sz="1800" baseline="-25000" dirty="0">
                <a:latin typeface="微软雅黑" panose="020B0503020204020204" pitchFamily="82" charset="2"/>
                <a:ea typeface="微软雅黑" panose="020B0503020204020204" pitchFamily="82" charset="2"/>
              </a:rPr>
              <a:t>k</a:t>
            </a:r>
            <a:r>
              <a:rPr lang="zh-CN" altLang="en-US" sz="1800" dirty="0">
                <a:latin typeface="微软雅黑" panose="020B0503020204020204" pitchFamily="82" charset="2"/>
                <a:ea typeface="微软雅黑" panose="020B0503020204020204" pitchFamily="82" charset="2"/>
              </a:rPr>
              <a:t>。</a:t>
            </a:r>
            <a:endParaRPr lang="en-US" altLang="zh-CN" sz="18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哈希值在</a:t>
            </a:r>
            <a:r>
              <a:rPr lang="en-US" altLang="zh-CN" sz="20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[h</a:t>
            </a:r>
            <a:r>
              <a:rPr lang="en-US" altLang="zh-CN" sz="2000" b="1" baseline="-25000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i-1</a:t>
            </a:r>
            <a:r>
              <a:rPr lang="en-US" altLang="zh-CN" sz="20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,h</a:t>
            </a:r>
            <a:r>
              <a:rPr lang="en-US" altLang="zh-CN" sz="2000" b="1" baseline="-25000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i</a:t>
            </a:r>
            <a:r>
              <a:rPr lang="en-US" altLang="zh-CN" sz="20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)</a:t>
            </a:r>
            <a:r>
              <a:rPr lang="zh-CN" altLang="en-US" sz="20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之间的数据放在</a:t>
            </a:r>
            <a:r>
              <a:rPr lang="en-US" altLang="zh-CN" sz="20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D</a:t>
            </a:r>
            <a:r>
              <a:rPr lang="en-US" altLang="zh-CN" sz="2000" b="1" baseline="-25000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i</a:t>
            </a:r>
            <a:r>
              <a:rPr lang="zh-CN" altLang="en-US" sz="20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分片，哈希值在 </a:t>
            </a:r>
            <a:r>
              <a:rPr lang="en-US" altLang="zh-CN" sz="20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[</a:t>
            </a:r>
            <a:r>
              <a:rPr lang="en-US" altLang="zh-CN" sz="2000" b="1" dirty="0" err="1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h</a:t>
            </a:r>
            <a:r>
              <a:rPr lang="en-US" altLang="zh-CN" sz="2000" b="1" baseline="-25000" dirty="0" err="1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k</a:t>
            </a:r>
            <a:r>
              <a:rPr lang="en-US" altLang="zh-CN" sz="20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,</a:t>
            </a:r>
            <a:r>
              <a:rPr lang="zh-CN" altLang="en-US" sz="20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20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max),</a:t>
            </a:r>
            <a:r>
              <a:rPr lang="zh-CN" altLang="en-US" sz="20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20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[0,</a:t>
            </a:r>
            <a:r>
              <a:rPr lang="zh-CN" altLang="en-US" sz="20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20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h</a:t>
            </a:r>
            <a:r>
              <a:rPr lang="en-US" altLang="zh-CN" sz="2000" b="1" baseline="-25000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1</a:t>
            </a:r>
            <a:r>
              <a:rPr lang="en-US" altLang="zh-CN" sz="20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)</a:t>
            </a:r>
            <a:r>
              <a:rPr lang="zh-CN" altLang="en-US" sz="20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之间的数据放在</a:t>
            </a:r>
            <a:r>
              <a:rPr lang="en-US" altLang="zh-CN" sz="20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D1</a:t>
            </a:r>
            <a:r>
              <a:rPr lang="zh-CN" altLang="en-US" sz="20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分片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2D529F-C130-CC20-EF2A-ABC2B81C2C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FAF8876C-054C-330F-2069-29E9B2EDD7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715" y="4040596"/>
            <a:ext cx="5837591" cy="2225318"/>
          </a:xfrm>
          <a:prstGeom prst="rect">
            <a:avLst/>
          </a:prstGeom>
        </p:spPr>
      </p:pic>
      <p:grpSp>
        <p:nvGrpSpPr>
          <p:cNvPr id="20" name="组合 19">
            <a:extLst>
              <a:ext uri="{FF2B5EF4-FFF2-40B4-BE49-F238E27FC236}">
                <a16:creationId xmlns:a16="http://schemas.microsoft.com/office/drawing/2014/main" id="{ABD46A59-4071-9324-9ADD-238587083FF9}"/>
              </a:ext>
            </a:extLst>
          </p:cNvPr>
          <p:cNvGrpSpPr/>
          <p:nvPr/>
        </p:nvGrpSpPr>
        <p:grpSpPr>
          <a:xfrm>
            <a:off x="8006869" y="2062941"/>
            <a:ext cx="3147802" cy="2693864"/>
            <a:chOff x="8648760" y="1688067"/>
            <a:chExt cx="4000934" cy="3682464"/>
          </a:xfrm>
        </p:grpSpPr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FA91154A-0F34-66AD-CBBB-A69160449D2A}"/>
                </a:ext>
              </a:extLst>
            </p:cNvPr>
            <p:cNvSpPr/>
            <p:nvPr/>
          </p:nvSpPr>
          <p:spPr bwMode="auto">
            <a:xfrm>
              <a:off x="8793678" y="2057399"/>
              <a:ext cx="3057896" cy="3019301"/>
            </a:xfrm>
            <a:prstGeom prst="ellips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楷体" pitchFamily="2" charset="-122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FD1451D4-4EBF-5374-40E1-E5E0C4753A4F}"/>
                </a:ext>
              </a:extLst>
            </p:cNvPr>
            <p:cNvSpPr txBox="1"/>
            <p:nvPr/>
          </p:nvSpPr>
          <p:spPr>
            <a:xfrm>
              <a:off x="10206841" y="1688067"/>
              <a:ext cx="4512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0</a:t>
              </a:r>
              <a:endParaRPr kumimoji="1" lang="zh-CN" altLang="en-US" dirty="0"/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0926D5E3-67F1-A37D-EB77-A727F6467EF6}"/>
                </a:ext>
              </a:extLst>
            </p:cNvPr>
            <p:cNvSpPr txBox="1"/>
            <p:nvPr/>
          </p:nvSpPr>
          <p:spPr>
            <a:xfrm>
              <a:off x="10690186" y="1769215"/>
              <a:ext cx="4512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1</a:t>
              </a:r>
              <a:endParaRPr kumimoji="1" lang="zh-CN" altLang="en-US" dirty="0"/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03DAC14D-5821-206B-C368-2671E39046AB}"/>
                </a:ext>
              </a:extLst>
            </p:cNvPr>
            <p:cNvSpPr txBox="1"/>
            <p:nvPr/>
          </p:nvSpPr>
          <p:spPr>
            <a:xfrm>
              <a:off x="9143220" y="1769215"/>
              <a:ext cx="982888" cy="4540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max-1</a:t>
              </a:r>
              <a:endParaRPr kumimoji="1" lang="zh-CN" altLang="en-US" dirty="0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36DE97D3-E024-231A-0D06-5D099E93F5B3}"/>
                </a:ext>
              </a:extLst>
            </p:cNvPr>
            <p:cNvSpPr txBox="1"/>
            <p:nvPr/>
          </p:nvSpPr>
          <p:spPr>
            <a:xfrm>
              <a:off x="11353801" y="2138547"/>
              <a:ext cx="86392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dirty="0"/>
                <a:t>h</a:t>
              </a:r>
              <a:r>
                <a:rPr lang="en-US" altLang="zh-CN" sz="2400" baseline="-25000" dirty="0"/>
                <a:t>1</a:t>
              </a:r>
              <a:endParaRPr lang="zh-CN" altLang="en-US" sz="2400" dirty="0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08EBF6A6-B3DB-C490-D579-414D6439D8D1}"/>
                </a:ext>
              </a:extLst>
            </p:cNvPr>
            <p:cNvSpPr txBox="1"/>
            <p:nvPr/>
          </p:nvSpPr>
          <p:spPr>
            <a:xfrm>
              <a:off x="11785765" y="3496293"/>
              <a:ext cx="86392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dirty="0"/>
                <a:t>h</a:t>
              </a:r>
              <a:r>
                <a:rPr lang="en-US" altLang="zh-CN" sz="2400" baseline="-25000" dirty="0"/>
                <a:t>2</a:t>
              </a:r>
              <a:endParaRPr lang="zh-CN" altLang="en-US" sz="2400" dirty="0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25F74060-A5D4-085D-8B0D-DD52B376F645}"/>
                </a:ext>
              </a:extLst>
            </p:cNvPr>
            <p:cNvSpPr txBox="1"/>
            <p:nvPr/>
          </p:nvSpPr>
          <p:spPr>
            <a:xfrm>
              <a:off x="10805666" y="4908866"/>
              <a:ext cx="86392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dirty="0"/>
                <a:t>h</a:t>
              </a:r>
              <a:r>
                <a:rPr lang="en-US" altLang="zh-CN" sz="2400" baseline="-25000" dirty="0"/>
                <a:t>3</a:t>
              </a:r>
              <a:endParaRPr lang="zh-CN" altLang="en-US" sz="2400" dirty="0"/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8F59A92A-1E43-F428-84EC-D9DFD0286542}"/>
                </a:ext>
              </a:extLst>
            </p:cNvPr>
            <p:cNvSpPr txBox="1"/>
            <p:nvPr/>
          </p:nvSpPr>
          <p:spPr>
            <a:xfrm>
              <a:off x="8648760" y="2138546"/>
              <a:ext cx="86392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dirty="0" err="1"/>
                <a:t>h</a:t>
              </a:r>
              <a:r>
                <a:rPr lang="en-US" altLang="zh-CN" sz="2400" baseline="-25000" dirty="0" err="1"/>
                <a:t>k</a:t>
              </a:r>
              <a:endParaRPr lang="zh-CN" altLang="en-US" sz="2400" dirty="0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515417EE-5F02-9066-E890-B4D3A8204064}"/>
                </a:ext>
              </a:extLst>
            </p:cNvPr>
            <p:cNvSpPr txBox="1"/>
            <p:nvPr/>
          </p:nvSpPr>
          <p:spPr>
            <a:xfrm>
              <a:off x="8959438" y="4615035"/>
              <a:ext cx="86392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dirty="0"/>
                <a:t>…</a:t>
              </a:r>
              <a:endParaRPr lang="zh-CN" altLang="en-US" sz="2400" dirty="0"/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A63E4236-9B74-E209-095D-6E9F9665C90B}"/>
                </a:ext>
              </a:extLst>
            </p:cNvPr>
            <p:cNvSpPr txBox="1"/>
            <p:nvPr/>
          </p:nvSpPr>
          <p:spPr>
            <a:xfrm>
              <a:off x="10926563" y="2325728"/>
              <a:ext cx="86392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dirty="0"/>
                <a:t>D</a:t>
              </a:r>
              <a:r>
                <a:rPr lang="en-US" altLang="zh-CN" sz="2400" baseline="-25000" dirty="0"/>
                <a:t>1</a:t>
              </a:r>
              <a:endParaRPr lang="zh-CN" altLang="en-US" sz="2400" dirty="0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7D90A728-10E7-34F4-E139-79CE01F13F55}"/>
                </a:ext>
              </a:extLst>
            </p:cNvPr>
            <p:cNvSpPr txBox="1"/>
            <p:nvPr/>
          </p:nvSpPr>
          <p:spPr>
            <a:xfrm>
              <a:off x="11315222" y="3334797"/>
              <a:ext cx="86392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dirty="0"/>
                <a:t>D</a:t>
              </a:r>
              <a:r>
                <a:rPr lang="en-US" altLang="zh-CN" sz="2400" baseline="-25000" dirty="0"/>
                <a:t>2</a:t>
              </a:r>
              <a:endParaRPr lang="zh-CN" altLang="en-US" sz="2400" dirty="0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09D23B4C-1AF8-8009-8EBB-69575C4CE566}"/>
                </a:ext>
              </a:extLst>
            </p:cNvPr>
            <p:cNvSpPr txBox="1"/>
            <p:nvPr/>
          </p:nvSpPr>
          <p:spPr>
            <a:xfrm>
              <a:off x="10425609" y="4431537"/>
              <a:ext cx="86392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dirty="0"/>
                <a:t>D</a:t>
              </a:r>
              <a:r>
                <a:rPr lang="en-US" altLang="zh-CN" sz="2400" baseline="-25000" dirty="0"/>
                <a:t>3</a:t>
              </a:r>
              <a:endParaRPr lang="zh-CN" altLang="en-US" sz="2400" dirty="0"/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B88C5BD9-48F0-4834-52B4-E52D24671B8F}"/>
                </a:ext>
              </a:extLst>
            </p:cNvPr>
            <p:cNvSpPr txBox="1"/>
            <p:nvPr/>
          </p:nvSpPr>
          <p:spPr>
            <a:xfrm>
              <a:off x="9143220" y="2450525"/>
              <a:ext cx="86392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dirty="0"/>
                <a:t>D</a:t>
              </a:r>
              <a:r>
                <a:rPr lang="en-US" altLang="zh-CN" sz="2400" baseline="-25000" dirty="0"/>
                <a:t>k</a:t>
              </a:r>
              <a:endParaRPr lang="zh-CN" altLang="en-US" sz="2400" dirty="0"/>
            </a:p>
          </p:txBody>
        </p:sp>
        <p:sp>
          <p:nvSpPr>
            <p:cNvPr id="37" name="弧 36">
              <a:extLst>
                <a:ext uri="{FF2B5EF4-FFF2-40B4-BE49-F238E27FC236}">
                  <a16:creationId xmlns:a16="http://schemas.microsoft.com/office/drawing/2014/main" id="{331621C2-A3D7-1CA1-D0E6-8458BD51B8D5}"/>
                </a:ext>
              </a:extLst>
            </p:cNvPr>
            <p:cNvSpPr/>
            <p:nvPr/>
          </p:nvSpPr>
          <p:spPr bwMode="auto">
            <a:xfrm>
              <a:off x="11331106" y="2809662"/>
              <a:ext cx="268254" cy="1269331"/>
            </a:xfrm>
            <a:prstGeom prst="arc">
              <a:avLst/>
            </a:prstGeom>
            <a:noFill/>
            <a:ln w="381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arrow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楷体" pitchFamily="2" charset="-122"/>
              </a:endParaRPr>
            </a:p>
          </p:txBody>
        </p:sp>
        <p:sp>
          <p:nvSpPr>
            <p:cNvPr id="38" name="弧 37">
              <a:extLst>
                <a:ext uri="{FF2B5EF4-FFF2-40B4-BE49-F238E27FC236}">
                  <a16:creationId xmlns:a16="http://schemas.microsoft.com/office/drawing/2014/main" id="{C39479E7-39AA-3F89-EBB3-6C51D9AD766D}"/>
                </a:ext>
              </a:extLst>
            </p:cNvPr>
            <p:cNvSpPr/>
            <p:nvPr/>
          </p:nvSpPr>
          <p:spPr bwMode="auto">
            <a:xfrm rot="2665049">
              <a:off x="11125847" y="3781771"/>
              <a:ext cx="363677" cy="846196"/>
            </a:xfrm>
            <a:prstGeom prst="arc">
              <a:avLst/>
            </a:prstGeom>
            <a:noFill/>
            <a:ln w="381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arrow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楷体" pitchFamily="2" charset="-122"/>
              </a:endParaRPr>
            </a:p>
          </p:txBody>
        </p:sp>
        <p:sp>
          <p:nvSpPr>
            <p:cNvPr id="39" name="弧 38">
              <a:extLst>
                <a:ext uri="{FF2B5EF4-FFF2-40B4-BE49-F238E27FC236}">
                  <a16:creationId xmlns:a16="http://schemas.microsoft.com/office/drawing/2014/main" id="{6B15564E-C0BC-7F89-F047-CECAC89AB24B}"/>
                </a:ext>
              </a:extLst>
            </p:cNvPr>
            <p:cNvSpPr/>
            <p:nvPr/>
          </p:nvSpPr>
          <p:spPr bwMode="auto">
            <a:xfrm rot="15981936">
              <a:off x="9915419" y="1680615"/>
              <a:ext cx="648061" cy="1636160"/>
            </a:xfrm>
            <a:prstGeom prst="arc">
              <a:avLst>
                <a:gd name="adj1" fmla="val 16200000"/>
                <a:gd name="adj2" fmla="val 5169118"/>
              </a:avLst>
            </a:prstGeom>
            <a:noFill/>
            <a:ln w="381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arrow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楷体" pitchFamily="2" charset="-122"/>
              </a:endParaRPr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E5F7C220-4943-EEF1-6812-EE5BBAA57578}"/>
                </a:ext>
              </a:extLst>
            </p:cNvPr>
            <p:cNvSpPr txBox="1"/>
            <p:nvPr/>
          </p:nvSpPr>
          <p:spPr>
            <a:xfrm>
              <a:off x="11624072" y="4162072"/>
              <a:ext cx="863929" cy="56754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dirty="0" err="1">
                  <a:solidFill>
                    <a:srgbClr val="FF0000"/>
                  </a:solidFill>
                </a:rPr>
                <a:t>h</a:t>
              </a:r>
              <a:r>
                <a:rPr lang="en-US" altLang="zh-CN" sz="2400" baseline="-25000" dirty="0" err="1">
                  <a:solidFill>
                    <a:srgbClr val="FF0000"/>
                  </a:solidFill>
                </a:rPr>
                <a:t>x</a:t>
              </a:r>
              <a:endParaRPr lang="zh-CN" altLang="en-US" sz="2400" dirty="0">
                <a:solidFill>
                  <a:srgbClr val="FF0000"/>
                </a:solidFill>
              </a:endParaRPr>
            </a:p>
          </p:txBody>
        </p:sp>
        <p:sp>
          <p:nvSpPr>
            <p:cNvPr id="41" name="弧 40">
              <a:extLst>
                <a:ext uri="{FF2B5EF4-FFF2-40B4-BE49-F238E27FC236}">
                  <a16:creationId xmlns:a16="http://schemas.microsoft.com/office/drawing/2014/main" id="{EF43E0B1-6002-4B52-699C-AF38610AFB22}"/>
                </a:ext>
              </a:extLst>
            </p:cNvPr>
            <p:cNvSpPr/>
            <p:nvPr/>
          </p:nvSpPr>
          <p:spPr bwMode="auto">
            <a:xfrm rot="4473672">
              <a:off x="10734969" y="4132965"/>
              <a:ext cx="363677" cy="846196"/>
            </a:xfrm>
            <a:prstGeom prst="arc">
              <a:avLst/>
            </a:prstGeom>
            <a:noFill/>
            <a:ln w="381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arrow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楷体" pitchFamily="2" charset="-122"/>
              </a:endParaRPr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03A73348-4B66-0F6B-350C-7821E2FFB0E6}"/>
                </a:ext>
              </a:extLst>
            </p:cNvPr>
            <p:cNvSpPr txBox="1"/>
            <p:nvPr/>
          </p:nvSpPr>
          <p:spPr>
            <a:xfrm>
              <a:off x="11012138" y="3974322"/>
              <a:ext cx="863929" cy="56754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dirty="0">
                  <a:solidFill>
                    <a:srgbClr val="FF0000"/>
                  </a:solidFill>
                </a:rPr>
                <a:t>D</a:t>
              </a:r>
              <a:r>
                <a:rPr lang="en-US" altLang="zh-CN" sz="2400" baseline="-25000" dirty="0">
                  <a:solidFill>
                    <a:srgbClr val="FF0000"/>
                  </a:solidFill>
                </a:rPr>
                <a:t>x</a:t>
              </a:r>
              <a:endParaRPr lang="zh-CN" altLang="en-US" sz="2400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440245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56AD759-BCE5-FCE6-A41E-5F9F66F27D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76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01D6F06-8ACA-C1DA-83A4-4685C1E58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一致性哈希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EB20A21-0C67-CAE5-CE13-0AA5BB4795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734" y="1140300"/>
            <a:ext cx="6654120" cy="5194706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添加一个数据分片</a:t>
            </a:r>
            <a:endParaRPr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添加一个哈希值</a:t>
            </a:r>
            <a:r>
              <a:rPr lang="en-US" altLang="zh-CN" sz="2000" dirty="0" err="1">
                <a:latin typeface="微软雅黑" panose="020B0503020204020204" pitchFamily="82" charset="2"/>
                <a:ea typeface="微软雅黑" panose="020B0503020204020204" pitchFamily="82" charset="2"/>
              </a:rPr>
              <a:t>h</a:t>
            </a:r>
            <a:r>
              <a:rPr lang="en-US" altLang="zh-CN" sz="2000" baseline="-25000" dirty="0" err="1">
                <a:latin typeface="微软雅黑" panose="020B0503020204020204" pitchFamily="82" charset="2"/>
                <a:ea typeface="微软雅黑" panose="020B0503020204020204" pitchFamily="82" charset="2"/>
              </a:rPr>
              <a:t>x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，假设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h</a:t>
            </a:r>
            <a:r>
              <a:rPr lang="en-US" altLang="zh-CN" sz="2000" baseline="-25000" dirty="0">
                <a:latin typeface="微软雅黑" panose="020B0503020204020204" pitchFamily="82" charset="2"/>
                <a:ea typeface="微软雅黑" panose="020B0503020204020204" pitchFamily="82" charset="2"/>
              </a:rPr>
              <a:t>2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&lt;</a:t>
            </a:r>
            <a:r>
              <a:rPr lang="en-US" altLang="zh-CN" sz="2000" dirty="0" err="1">
                <a:latin typeface="微软雅黑" panose="020B0503020204020204" pitchFamily="82" charset="2"/>
                <a:ea typeface="微软雅黑" panose="020B0503020204020204" pitchFamily="82" charset="2"/>
              </a:rPr>
              <a:t>h</a:t>
            </a:r>
            <a:r>
              <a:rPr lang="en-US" altLang="zh-CN" sz="2000" baseline="-25000" dirty="0" err="1">
                <a:latin typeface="微软雅黑" panose="020B0503020204020204" pitchFamily="82" charset="2"/>
                <a:ea typeface="微软雅黑" panose="020B0503020204020204" pitchFamily="82" charset="2"/>
              </a:rPr>
              <a:t>x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&lt;h</a:t>
            </a:r>
            <a:r>
              <a:rPr lang="en-US" altLang="zh-CN" sz="2000" baseline="-25000" dirty="0">
                <a:latin typeface="微软雅黑" panose="020B0503020204020204" pitchFamily="82" charset="2"/>
                <a:ea typeface="微软雅黑" panose="020B0503020204020204" pitchFamily="82" charset="2"/>
              </a:rPr>
              <a:t>3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添加一个数据分片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D</a:t>
            </a:r>
            <a:r>
              <a:rPr lang="en-US" altLang="zh-CN" sz="2000" baseline="-25000" dirty="0">
                <a:latin typeface="微软雅黑" panose="020B0503020204020204" pitchFamily="82" charset="2"/>
                <a:ea typeface="微软雅黑" panose="020B0503020204020204" pitchFamily="82" charset="2"/>
              </a:rPr>
              <a:t>x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将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D</a:t>
            </a:r>
            <a:r>
              <a:rPr lang="en-US" altLang="zh-CN" sz="2000" baseline="-25000" dirty="0">
                <a:latin typeface="微软雅黑" panose="020B0503020204020204" pitchFamily="82" charset="2"/>
                <a:ea typeface="微软雅黑" panose="020B0503020204020204" pitchFamily="82" charset="2"/>
              </a:rPr>
              <a:t>3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中的一部分数据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,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满足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[h</a:t>
            </a:r>
            <a:r>
              <a:rPr lang="en-US" altLang="zh-CN" sz="2000" baseline="-25000" dirty="0">
                <a:latin typeface="微软雅黑" panose="020B0503020204020204" pitchFamily="82" charset="2"/>
                <a:ea typeface="微软雅黑" panose="020B0503020204020204" pitchFamily="82" charset="2"/>
              </a:rPr>
              <a:t>2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,h</a:t>
            </a:r>
            <a:r>
              <a:rPr lang="en-US" altLang="zh-CN" sz="2000" baseline="-25000" dirty="0">
                <a:latin typeface="微软雅黑" panose="020B0503020204020204" pitchFamily="82" charset="2"/>
                <a:ea typeface="微软雅黑" panose="020B0503020204020204" pitchFamily="82" charset="2"/>
              </a:rPr>
              <a:t>x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)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移到</a:t>
            </a:r>
            <a:r>
              <a:rPr lang="en-US" altLang="zh-CN" sz="2000" dirty="0" err="1">
                <a:latin typeface="微软雅黑" panose="020B0503020204020204" pitchFamily="82" charset="2"/>
                <a:ea typeface="微软雅黑" panose="020B0503020204020204" pitchFamily="82" charset="2"/>
              </a:rPr>
              <a:t>D</a:t>
            </a:r>
            <a:r>
              <a:rPr lang="en-US" altLang="zh-CN" sz="2000" baseline="-25000" dirty="0" err="1">
                <a:latin typeface="微软雅黑" panose="020B0503020204020204" pitchFamily="82" charset="2"/>
                <a:ea typeface="微软雅黑" panose="020B0503020204020204" pitchFamily="82" charset="2"/>
              </a:rPr>
              <a:t>x</a:t>
            </a:r>
            <a:endParaRPr lang="en-US" altLang="zh-CN" sz="2400" b="1" baseline="-25000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删除一个数据分片</a:t>
            </a:r>
            <a:endParaRPr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假设删除数据分片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D</a:t>
            </a:r>
            <a:r>
              <a:rPr lang="en-US" altLang="zh-CN" sz="2000" baseline="-25000" dirty="0">
                <a:latin typeface="微软雅黑" panose="020B0503020204020204" pitchFamily="82" charset="2"/>
                <a:ea typeface="微软雅黑" panose="020B0503020204020204" pitchFamily="82" charset="2"/>
              </a:rPr>
              <a:t>i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将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D</a:t>
            </a:r>
            <a:r>
              <a:rPr lang="en-US" altLang="zh-CN" sz="2000" baseline="-25000" dirty="0">
                <a:latin typeface="微软雅黑" panose="020B0503020204020204" pitchFamily="82" charset="2"/>
                <a:ea typeface="微软雅黑" panose="020B0503020204020204" pitchFamily="82" charset="2"/>
              </a:rPr>
              <a:t>i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中的数据移到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D</a:t>
            </a:r>
            <a:r>
              <a:rPr lang="en-US" altLang="zh-CN" sz="2000" baseline="-25000" dirty="0">
                <a:latin typeface="微软雅黑" panose="020B0503020204020204" pitchFamily="82" charset="2"/>
                <a:ea typeface="微软雅黑" panose="020B0503020204020204" pitchFamily="82" charset="2"/>
              </a:rPr>
              <a:t>i+1</a:t>
            </a:r>
            <a:endParaRPr lang="en-US" altLang="zh-CN" baseline="-25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添加和删除分片只影响一个数据分片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2D529F-C130-CC20-EF2A-ABC2B81C2C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grpSp>
        <p:nvGrpSpPr>
          <p:cNvPr id="41" name="组合 40"/>
          <p:cNvGrpSpPr/>
          <p:nvPr/>
        </p:nvGrpSpPr>
        <p:grpSpPr>
          <a:xfrm>
            <a:off x="7455872" y="893248"/>
            <a:ext cx="3148983" cy="5296535"/>
            <a:chOff x="7353893" y="372207"/>
            <a:chExt cx="3730581" cy="6274778"/>
          </a:xfrm>
        </p:grpSpPr>
        <p:sp>
          <p:nvSpPr>
            <p:cNvPr id="83" name="Shape18">
              <a:extLst>
                <a:ext uri="{FF2B5EF4-FFF2-40B4-BE49-F238E27FC236}">
                  <a16:creationId xmlns:a16="http://schemas.microsoft.com/office/drawing/2014/main" id="{1E094DD3-FF69-412B-8784-4FF25C5BEA8F}"/>
                </a:ext>
              </a:extLst>
            </p:cNvPr>
            <p:cNvSpPr/>
            <p:nvPr/>
          </p:nvSpPr>
          <p:spPr>
            <a:xfrm>
              <a:off x="7353893" y="434703"/>
              <a:ext cx="3581288" cy="6212282"/>
            </a:xfrm>
            <a:prstGeom prst="roundRect">
              <a:avLst>
                <a:gd name="adj" fmla="val 9827"/>
              </a:avLst>
            </a:prstGeom>
            <a:solidFill>
              <a:schemeClr val="bg1"/>
            </a:solidFill>
            <a:ln w="12700" cap="flat">
              <a:gradFill>
                <a:gsLst>
                  <a:gs pos="0">
                    <a:srgbClr val="3B20FF">
                      <a:alpha val="16000"/>
                    </a:srgbClr>
                  </a:gs>
                  <a:gs pos="100000">
                    <a:srgbClr val="6F1787"/>
                  </a:gs>
                </a:gsLst>
                <a:lin ang="10800000" scaled="1"/>
              </a:gradFill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l">
                <a:buClrTx/>
                <a:buSzTx/>
                <a:buFontTx/>
              </a:pPr>
              <a:endParaRPr lang="zh-CN" altLang="en-US" b="1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endParaRPr>
            </a:p>
          </p:txBody>
        </p:sp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B575088B-4F0D-65CA-97E4-47C9339DAA5B}"/>
                </a:ext>
              </a:extLst>
            </p:cNvPr>
            <p:cNvGrpSpPr/>
            <p:nvPr/>
          </p:nvGrpSpPr>
          <p:grpSpPr>
            <a:xfrm>
              <a:off x="7402823" y="372207"/>
              <a:ext cx="3552955" cy="3057962"/>
              <a:chOff x="8648760" y="1611237"/>
              <a:chExt cx="4000934" cy="3759294"/>
            </a:xfrm>
          </p:grpSpPr>
          <p:sp>
            <p:nvSpPr>
              <p:cNvPr id="64" name="椭圆 63">
                <a:extLst>
                  <a:ext uri="{FF2B5EF4-FFF2-40B4-BE49-F238E27FC236}">
                    <a16:creationId xmlns:a16="http://schemas.microsoft.com/office/drawing/2014/main" id="{A297FBAB-FC91-C7CF-9BB8-B62B59431A33}"/>
                  </a:ext>
                </a:extLst>
              </p:cNvPr>
              <p:cNvSpPr/>
              <p:nvPr/>
            </p:nvSpPr>
            <p:spPr bwMode="auto">
              <a:xfrm>
                <a:off x="8793678" y="2057399"/>
                <a:ext cx="3057896" cy="3019301"/>
              </a:xfrm>
              <a:prstGeom prst="ellipse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lc="http://schemas.openxmlformats.org/drawingml/2006/lockedCanvas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lc="http://schemas.openxmlformats.org/drawingml/2006/lockedCanvas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32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华文楷体" pitchFamily="2" charset="-122"/>
                </a:endParaRPr>
              </a:p>
            </p:txBody>
          </p:sp>
          <p:sp>
            <p:nvSpPr>
              <p:cNvPr id="65" name="文本框 6">
                <a:extLst>
                  <a:ext uri="{FF2B5EF4-FFF2-40B4-BE49-F238E27FC236}">
                    <a16:creationId xmlns:a16="http://schemas.microsoft.com/office/drawing/2014/main" id="{A7F87B00-EC1E-89BB-7C5B-F304C2F68FC5}"/>
                  </a:ext>
                </a:extLst>
              </p:cNvPr>
              <p:cNvSpPr txBox="1"/>
              <p:nvPr/>
            </p:nvSpPr>
            <p:spPr>
              <a:xfrm>
                <a:off x="10206842" y="1611237"/>
                <a:ext cx="451262" cy="369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1" lang="en-US" altLang="zh-CN" dirty="0"/>
                  <a:t>0</a:t>
                </a:r>
                <a:endParaRPr kumimoji="1" lang="zh-CN" altLang="en-US" dirty="0"/>
              </a:p>
            </p:txBody>
          </p:sp>
          <p:sp>
            <p:nvSpPr>
              <p:cNvPr id="66" name="文本框 7">
                <a:extLst>
                  <a:ext uri="{FF2B5EF4-FFF2-40B4-BE49-F238E27FC236}">
                    <a16:creationId xmlns:a16="http://schemas.microsoft.com/office/drawing/2014/main" id="{A6709A35-AB73-344F-05D7-969C68F1AF6D}"/>
                  </a:ext>
                </a:extLst>
              </p:cNvPr>
              <p:cNvSpPr txBox="1"/>
              <p:nvPr/>
            </p:nvSpPr>
            <p:spPr>
              <a:xfrm>
                <a:off x="10643270" y="1705192"/>
                <a:ext cx="451262" cy="369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1" lang="en-US" altLang="zh-CN" dirty="0"/>
                  <a:t>1</a:t>
                </a:r>
                <a:endParaRPr kumimoji="1" lang="zh-CN" altLang="en-US" dirty="0"/>
              </a:p>
            </p:txBody>
          </p:sp>
          <p:sp>
            <p:nvSpPr>
              <p:cNvPr id="67" name="文本框 8">
                <a:extLst>
                  <a:ext uri="{FF2B5EF4-FFF2-40B4-BE49-F238E27FC236}">
                    <a16:creationId xmlns:a16="http://schemas.microsoft.com/office/drawing/2014/main" id="{508BFCBC-57DA-A655-D046-CCE95E801A53}"/>
                  </a:ext>
                </a:extLst>
              </p:cNvPr>
              <p:cNvSpPr txBox="1"/>
              <p:nvPr/>
            </p:nvSpPr>
            <p:spPr>
              <a:xfrm>
                <a:off x="9002465" y="1705191"/>
                <a:ext cx="1334613" cy="5378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1" lang="en-US" altLang="zh-CN" dirty="0"/>
                  <a:t>max-1</a:t>
                </a:r>
                <a:endParaRPr kumimoji="1" lang="zh-CN" altLang="en-US" dirty="0"/>
              </a:p>
            </p:txBody>
          </p:sp>
          <p:sp>
            <p:nvSpPr>
              <p:cNvPr id="68" name="文本框 10">
                <a:extLst>
                  <a:ext uri="{FF2B5EF4-FFF2-40B4-BE49-F238E27FC236}">
                    <a16:creationId xmlns:a16="http://schemas.microsoft.com/office/drawing/2014/main" id="{E641B6FD-D02C-31B6-6AF6-89C45D845AD0}"/>
                  </a:ext>
                </a:extLst>
              </p:cNvPr>
              <p:cNvSpPr txBox="1"/>
              <p:nvPr/>
            </p:nvSpPr>
            <p:spPr>
              <a:xfrm>
                <a:off x="11353801" y="2138547"/>
                <a:ext cx="86392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sz="2400" dirty="0"/>
                  <a:t>h</a:t>
                </a:r>
                <a:r>
                  <a:rPr lang="en-US" altLang="zh-CN" sz="2400" baseline="-25000" dirty="0"/>
                  <a:t>1</a:t>
                </a:r>
                <a:endParaRPr lang="zh-CN" altLang="en-US" sz="2400" dirty="0"/>
              </a:p>
            </p:txBody>
          </p:sp>
          <p:sp>
            <p:nvSpPr>
              <p:cNvPr id="69" name="文本框 11">
                <a:extLst>
                  <a:ext uri="{FF2B5EF4-FFF2-40B4-BE49-F238E27FC236}">
                    <a16:creationId xmlns:a16="http://schemas.microsoft.com/office/drawing/2014/main" id="{DD9EDB65-3E88-9347-8125-72547727E8EA}"/>
                  </a:ext>
                </a:extLst>
              </p:cNvPr>
              <p:cNvSpPr txBox="1"/>
              <p:nvPr/>
            </p:nvSpPr>
            <p:spPr>
              <a:xfrm>
                <a:off x="11785765" y="3496293"/>
                <a:ext cx="86392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sz="2400" dirty="0"/>
                  <a:t>h</a:t>
                </a:r>
                <a:r>
                  <a:rPr lang="en-US" altLang="zh-CN" sz="2400" baseline="-25000" dirty="0"/>
                  <a:t>2</a:t>
                </a:r>
                <a:endParaRPr lang="zh-CN" altLang="en-US" sz="2400" dirty="0"/>
              </a:p>
            </p:txBody>
          </p:sp>
          <p:sp>
            <p:nvSpPr>
              <p:cNvPr id="70" name="文本框 12">
                <a:extLst>
                  <a:ext uri="{FF2B5EF4-FFF2-40B4-BE49-F238E27FC236}">
                    <a16:creationId xmlns:a16="http://schemas.microsoft.com/office/drawing/2014/main" id="{088BC84D-A900-1905-D0B6-DD670F39043F}"/>
                  </a:ext>
                </a:extLst>
              </p:cNvPr>
              <p:cNvSpPr txBox="1"/>
              <p:nvPr/>
            </p:nvSpPr>
            <p:spPr>
              <a:xfrm>
                <a:off x="10805666" y="4908866"/>
                <a:ext cx="86392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sz="2400" dirty="0"/>
                  <a:t>h</a:t>
                </a:r>
                <a:r>
                  <a:rPr lang="en-US" altLang="zh-CN" sz="2400" baseline="-25000" dirty="0"/>
                  <a:t>3</a:t>
                </a:r>
                <a:endParaRPr lang="zh-CN" altLang="en-US" sz="2400" dirty="0"/>
              </a:p>
            </p:txBody>
          </p:sp>
          <p:sp>
            <p:nvSpPr>
              <p:cNvPr id="71" name="文本框 13">
                <a:extLst>
                  <a:ext uri="{FF2B5EF4-FFF2-40B4-BE49-F238E27FC236}">
                    <a16:creationId xmlns:a16="http://schemas.microsoft.com/office/drawing/2014/main" id="{E15862EE-3A19-B82D-DBF9-EA98698B1831}"/>
                  </a:ext>
                </a:extLst>
              </p:cNvPr>
              <p:cNvSpPr txBox="1"/>
              <p:nvPr/>
            </p:nvSpPr>
            <p:spPr>
              <a:xfrm>
                <a:off x="8648760" y="2138546"/>
                <a:ext cx="86392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sz="2400" dirty="0" err="1"/>
                  <a:t>h</a:t>
                </a:r>
                <a:r>
                  <a:rPr lang="en-US" altLang="zh-CN" sz="2400" baseline="-25000" dirty="0" err="1"/>
                  <a:t>k</a:t>
                </a:r>
                <a:endParaRPr lang="zh-CN" altLang="en-US" sz="2400" dirty="0"/>
              </a:p>
            </p:txBody>
          </p:sp>
          <p:sp>
            <p:nvSpPr>
              <p:cNvPr id="72" name="文本框 14">
                <a:extLst>
                  <a:ext uri="{FF2B5EF4-FFF2-40B4-BE49-F238E27FC236}">
                    <a16:creationId xmlns:a16="http://schemas.microsoft.com/office/drawing/2014/main" id="{F3191687-6ABA-4567-AB70-4F20C01F8CD9}"/>
                  </a:ext>
                </a:extLst>
              </p:cNvPr>
              <p:cNvSpPr txBox="1"/>
              <p:nvPr/>
            </p:nvSpPr>
            <p:spPr>
              <a:xfrm>
                <a:off x="8959438" y="4615035"/>
                <a:ext cx="86392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sz="2400" dirty="0"/>
                  <a:t>…</a:t>
                </a:r>
                <a:endParaRPr lang="zh-CN" altLang="en-US" sz="2400" dirty="0"/>
              </a:p>
            </p:txBody>
          </p:sp>
          <p:sp>
            <p:nvSpPr>
              <p:cNvPr id="73" name="文本框 15">
                <a:extLst>
                  <a:ext uri="{FF2B5EF4-FFF2-40B4-BE49-F238E27FC236}">
                    <a16:creationId xmlns:a16="http://schemas.microsoft.com/office/drawing/2014/main" id="{066DD0A2-A4E5-7C7C-F04C-209F4F9EA53D}"/>
                  </a:ext>
                </a:extLst>
              </p:cNvPr>
              <p:cNvSpPr txBox="1"/>
              <p:nvPr/>
            </p:nvSpPr>
            <p:spPr>
              <a:xfrm>
                <a:off x="10926563" y="2248900"/>
                <a:ext cx="863929" cy="461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sz="2400" dirty="0"/>
                  <a:t>D</a:t>
                </a:r>
                <a:r>
                  <a:rPr lang="en-US" altLang="zh-CN" sz="2400" baseline="-25000" dirty="0"/>
                  <a:t>1</a:t>
                </a:r>
                <a:endParaRPr lang="zh-CN" altLang="en-US" sz="2400" dirty="0"/>
              </a:p>
            </p:txBody>
          </p:sp>
          <p:sp>
            <p:nvSpPr>
              <p:cNvPr id="74" name="文本框 16">
                <a:extLst>
                  <a:ext uri="{FF2B5EF4-FFF2-40B4-BE49-F238E27FC236}">
                    <a16:creationId xmlns:a16="http://schemas.microsoft.com/office/drawing/2014/main" id="{78003CBB-94DA-5471-8B77-B21B0081D6AB}"/>
                  </a:ext>
                </a:extLst>
              </p:cNvPr>
              <p:cNvSpPr txBox="1"/>
              <p:nvPr/>
            </p:nvSpPr>
            <p:spPr>
              <a:xfrm>
                <a:off x="11233117" y="3309186"/>
                <a:ext cx="863929" cy="461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sz="2400" dirty="0"/>
                  <a:t>D</a:t>
                </a:r>
                <a:r>
                  <a:rPr lang="en-US" altLang="zh-CN" sz="2400" baseline="-25000" dirty="0"/>
                  <a:t>2</a:t>
                </a:r>
                <a:endParaRPr lang="zh-CN" altLang="en-US" sz="2400" dirty="0"/>
              </a:p>
            </p:txBody>
          </p:sp>
          <p:sp>
            <p:nvSpPr>
              <p:cNvPr id="75" name="文本框 17">
                <a:extLst>
                  <a:ext uri="{FF2B5EF4-FFF2-40B4-BE49-F238E27FC236}">
                    <a16:creationId xmlns:a16="http://schemas.microsoft.com/office/drawing/2014/main" id="{4DF7B388-AA2E-FBB8-F028-5BB2DDB2563A}"/>
                  </a:ext>
                </a:extLst>
              </p:cNvPr>
              <p:cNvSpPr txBox="1"/>
              <p:nvPr/>
            </p:nvSpPr>
            <p:spPr>
              <a:xfrm>
                <a:off x="10343503" y="4354708"/>
                <a:ext cx="863929" cy="461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sz="2400" dirty="0"/>
                  <a:t>D</a:t>
                </a:r>
                <a:r>
                  <a:rPr lang="en-US" altLang="zh-CN" sz="2400" baseline="-25000" dirty="0"/>
                  <a:t>3</a:t>
                </a:r>
                <a:endParaRPr lang="zh-CN" altLang="en-US" sz="2400" dirty="0"/>
              </a:p>
            </p:txBody>
          </p:sp>
          <p:sp>
            <p:nvSpPr>
              <p:cNvPr id="76" name="文本框 18">
                <a:extLst>
                  <a:ext uri="{FF2B5EF4-FFF2-40B4-BE49-F238E27FC236}">
                    <a16:creationId xmlns:a16="http://schemas.microsoft.com/office/drawing/2014/main" id="{94F66E65-A619-567B-8D24-E61DBEF41B2C}"/>
                  </a:ext>
                </a:extLst>
              </p:cNvPr>
              <p:cNvSpPr txBox="1"/>
              <p:nvPr/>
            </p:nvSpPr>
            <p:spPr>
              <a:xfrm>
                <a:off x="9143220" y="2450525"/>
                <a:ext cx="86392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sz="2400" dirty="0"/>
                  <a:t>D</a:t>
                </a:r>
                <a:r>
                  <a:rPr lang="en-US" altLang="zh-CN" sz="2400" baseline="-25000" dirty="0"/>
                  <a:t>k</a:t>
                </a:r>
                <a:endParaRPr lang="zh-CN" altLang="en-US" sz="2400" dirty="0"/>
              </a:p>
            </p:txBody>
          </p:sp>
          <p:sp>
            <p:nvSpPr>
              <p:cNvPr id="77" name="弧 21">
                <a:extLst>
                  <a:ext uri="{FF2B5EF4-FFF2-40B4-BE49-F238E27FC236}">
                    <a16:creationId xmlns:a16="http://schemas.microsoft.com/office/drawing/2014/main" id="{79829CFC-F507-0458-CFF6-2641125D0A8E}"/>
                  </a:ext>
                </a:extLst>
              </p:cNvPr>
              <p:cNvSpPr/>
              <p:nvPr/>
            </p:nvSpPr>
            <p:spPr bwMode="auto">
              <a:xfrm>
                <a:off x="11331106" y="2809662"/>
                <a:ext cx="268254" cy="1269331"/>
              </a:xfrm>
              <a:prstGeom prst="arc">
                <a:avLst/>
              </a:prstGeom>
              <a:noFill/>
              <a:ln w="38100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arrow" w="med" len="med"/>
              </a:ln>
              <a:effectLst/>
              <a:extLst>
                <a:ext uri="{909E8E84-426E-40dd-AFC4-6F175D3DCCD1}">
                  <a14:hiddenFill xmlns:lc="http://schemas.openxmlformats.org/drawingml/2006/lockedCanvas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lc="http://schemas.openxmlformats.org/drawingml/2006/lockedCanvas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32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华文楷体" pitchFamily="2" charset="-122"/>
                </a:endParaRPr>
              </a:p>
            </p:txBody>
          </p:sp>
          <p:sp>
            <p:nvSpPr>
              <p:cNvPr id="78" name="弧 22">
                <a:extLst>
                  <a:ext uri="{FF2B5EF4-FFF2-40B4-BE49-F238E27FC236}">
                    <a16:creationId xmlns:a16="http://schemas.microsoft.com/office/drawing/2014/main" id="{90A1C44D-9D4B-AF81-C6F1-0E628FC9DBB8}"/>
                  </a:ext>
                </a:extLst>
              </p:cNvPr>
              <p:cNvSpPr/>
              <p:nvPr/>
            </p:nvSpPr>
            <p:spPr bwMode="auto">
              <a:xfrm rot="2665049">
                <a:off x="11125847" y="3781771"/>
                <a:ext cx="363677" cy="846196"/>
              </a:xfrm>
              <a:prstGeom prst="arc">
                <a:avLst/>
              </a:prstGeom>
              <a:noFill/>
              <a:ln w="38100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arrow" w="med" len="med"/>
              </a:ln>
              <a:effectLst/>
              <a:extLst>
                <a:ext uri="{909E8E84-426E-40dd-AFC4-6F175D3DCCD1}">
                  <a14:hiddenFill xmlns:lc="http://schemas.openxmlformats.org/drawingml/2006/lockedCanvas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lc="http://schemas.openxmlformats.org/drawingml/2006/lockedCanvas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32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华文楷体" pitchFamily="2" charset="-122"/>
                </a:endParaRPr>
              </a:p>
            </p:txBody>
          </p:sp>
          <p:sp>
            <p:nvSpPr>
              <p:cNvPr id="79" name="弧 23">
                <a:extLst>
                  <a:ext uri="{FF2B5EF4-FFF2-40B4-BE49-F238E27FC236}">
                    <a16:creationId xmlns:a16="http://schemas.microsoft.com/office/drawing/2014/main" id="{B0A6A270-DDF8-A8D5-AA16-8D9CB9747B98}"/>
                  </a:ext>
                </a:extLst>
              </p:cNvPr>
              <p:cNvSpPr/>
              <p:nvPr/>
            </p:nvSpPr>
            <p:spPr bwMode="auto">
              <a:xfrm rot="15981936">
                <a:off x="9915419" y="1680615"/>
                <a:ext cx="648061" cy="1636160"/>
              </a:xfrm>
              <a:prstGeom prst="arc">
                <a:avLst>
                  <a:gd name="adj1" fmla="val 16200000"/>
                  <a:gd name="adj2" fmla="val 5169118"/>
                </a:avLst>
              </a:prstGeom>
              <a:noFill/>
              <a:ln w="38100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arrow" w="med" len="med"/>
              </a:ln>
              <a:effectLst/>
              <a:extLst>
                <a:ext uri="{909E8E84-426E-40dd-AFC4-6F175D3DCCD1}">
                  <a14:hiddenFill xmlns:lc="http://schemas.openxmlformats.org/drawingml/2006/lockedCanvas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lc="http://schemas.openxmlformats.org/drawingml/2006/lockedCanvas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32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华文楷体" pitchFamily="2" charset="-122"/>
                </a:endParaRPr>
              </a:p>
            </p:txBody>
          </p:sp>
          <p:sp>
            <p:nvSpPr>
              <p:cNvPr id="80" name="文本框 9">
                <a:extLst>
                  <a:ext uri="{FF2B5EF4-FFF2-40B4-BE49-F238E27FC236}">
                    <a16:creationId xmlns:a16="http://schemas.microsoft.com/office/drawing/2014/main" id="{FB4628DC-DB9A-D5A4-CFAC-19B802BDC0CF}"/>
                  </a:ext>
                </a:extLst>
              </p:cNvPr>
              <p:cNvSpPr txBox="1"/>
              <p:nvPr/>
            </p:nvSpPr>
            <p:spPr>
              <a:xfrm>
                <a:off x="11624072" y="4162072"/>
                <a:ext cx="863929" cy="5675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sz="2400" dirty="0" err="1">
                    <a:solidFill>
                      <a:srgbClr val="FF0000"/>
                    </a:solidFill>
                  </a:rPr>
                  <a:t>h</a:t>
                </a:r>
                <a:r>
                  <a:rPr lang="en-US" altLang="zh-CN" sz="2400" baseline="-25000" dirty="0" err="1">
                    <a:solidFill>
                      <a:srgbClr val="FF0000"/>
                    </a:solidFill>
                  </a:rPr>
                  <a:t>x</a:t>
                </a:r>
                <a:endParaRPr lang="zh-CN" altLang="en-US" sz="24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81" name="弧 19">
                <a:extLst>
                  <a:ext uri="{FF2B5EF4-FFF2-40B4-BE49-F238E27FC236}">
                    <a16:creationId xmlns:a16="http://schemas.microsoft.com/office/drawing/2014/main" id="{B90E960E-A7F7-E87D-EC90-771D4486CC5D}"/>
                  </a:ext>
                </a:extLst>
              </p:cNvPr>
              <p:cNvSpPr/>
              <p:nvPr/>
            </p:nvSpPr>
            <p:spPr bwMode="auto">
              <a:xfrm rot="4473672">
                <a:off x="10734969" y="4132965"/>
                <a:ext cx="363677" cy="846196"/>
              </a:xfrm>
              <a:prstGeom prst="arc">
                <a:avLst/>
              </a:prstGeom>
              <a:noFill/>
              <a:ln w="38100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arrow" w="med" len="med"/>
              </a:ln>
              <a:effectLst/>
              <a:extLst>
                <a:ext uri="{909E8E84-426E-40dd-AFC4-6F175D3DCCD1}">
                  <a14:hiddenFill xmlns:lc="http://schemas.openxmlformats.org/drawingml/2006/lockedCanvas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lc="http://schemas.openxmlformats.org/drawingml/2006/lockedCanvas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32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华文楷体" pitchFamily="2" charset="-122"/>
                </a:endParaRPr>
              </a:p>
            </p:txBody>
          </p:sp>
          <p:sp>
            <p:nvSpPr>
              <p:cNvPr id="82" name="文本框 20">
                <a:extLst>
                  <a:ext uri="{FF2B5EF4-FFF2-40B4-BE49-F238E27FC236}">
                    <a16:creationId xmlns:a16="http://schemas.microsoft.com/office/drawing/2014/main" id="{9965308A-CCED-4026-FAF2-ADD043C9002A}"/>
                  </a:ext>
                </a:extLst>
              </p:cNvPr>
              <p:cNvSpPr txBox="1"/>
              <p:nvPr/>
            </p:nvSpPr>
            <p:spPr>
              <a:xfrm>
                <a:off x="11012138" y="3974322"/>
                <a:ext cx="863929" cy="5675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sz="2400" dirty="0">
                    <a:solidFill>
                      <a:srgbClr val="FF0000"/>
                    </a:solidFill>
                  </a:rPr>
                  <a:t>D</a:t>
                </a:r>
                <a:r>
                  <a:rPr lang="en-US" altLang="zh-CN" sz="2400" baseline="-25000" dirty="0">
                    <a:solidFill>
                      <a:srgbClr val="FF0000"/>
                    </a:solidFill>
                  </a:rPr>
                  <a:t>x</a:t>
                </a:r>
                <a:endParaRPr lang="zh-CN" altLang="en-US" sz="2400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5F25B99D-88AD-A884-0905-B836EE6BEE47}"/>
                </a:ext>
              </a:extLst>
            </p:cNvPr>
            <p:cNvGrpSpPr/>
            <p:nvPr/>
          </p:nvGrpSpPr>
          <p:grpSpPr>
            <a:xfrm>
              <a:off x="7458606" y="3488428"/>
              <a:ext cx="3625868" cy="3057961"/>
              <a:chOff x="8566655" y="1611239"/>
              <a:chExt cx="4083039" cy="3759292"/>
            </a:xfrm>
          </p:grpSpPr>
          <p:sp>
            <p:nvSpPr>
              <p:cNvPr id="48" name="椭圆 47">
                <a:extLst>
                  <a:ext uri="{FF2B5EF4-FFF2-40B4-BE49-F238E27FC236}">
                    <a16:creationId xmlns:a16="http://schemas.microsoft.com/office/drawing/2014/main" id="{06A59AC7-9447-18A4-C1CD-5E76CFE97866}"/>
                  </a:ext>
                </a:extLst>
              </p:cNvPr>
              <p:cNvSpPr/>
              <p:nvPr/>
            </p:nvSpPr>
            <p:spPr bwMode="auto">
              <a:xfrm>
                <a:off x="8793678" y="2057399"/>
                <a:ext cx="3057896" cy="3019301"/>
              </a:xfrm>
              <a:prstGeom prst="ellipse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lc="http://schemas.openxmlformats.org/drawingml/2006/lockedCanvas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lc="http://schemas.openxmlformats.org/drawingml/2006/lockedCanvas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32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华文楷体" pitchFamily="2" charset="-122"/>
                </a:endParaRPr>
              </a:p>
            </p:txBody>
          </p:sp>
          <p:sp>
            <p:nvSpPr>
              <p:cNvPr id="49" name="文本框 27">
                <a:extLst>
                  <a:ext uri="{FF2B5EF4-FFF2-40B4-BE49-F238E27FC236}">
                    <a16:creationId xmlns:a16="http://schemas.microsoft.com/office/drawing/2014/main" id="{A101BADC-6066-F920-20D1-DDC562239A7C}"/>
                  </a:ext>
                </a:extLst>
              </p:cNvPr>
              <p:cNvSpPr txBox="1"/>
              <p:nvPr/>
            </p:nvSpPr>
            <p:spPr>
              <a:xfrm>
                <a:off x="10206841" y="1611239"/>
                <a:ext cx="451262" cy="369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1" lang="en-US" altLang="zh-CN" dirty="0"/>
                  <a:t>0</a:t>
                </a:r>
                <a:endParaRPr kumimoji="1" lang="zh-CN" altLang="en-US" dirty="0"/>
              </a:p>
            </p:txBody>
          </p:sp>
          <p:sp>
            <p:nvSpPr>
              <p:cNvPr id="50" name="文本框 28">
                <a:extLst>
                  <a:ext uri="{FF2B5EF4-FFF2-40B4-BE49-F238E27FC236}">
                    <a16:creationId xmlns:a16="http://schemas.microsoft.com/office/drawing/2014/main" id="{A1485CF5-B561-97EA-91E7-85F0F6C4C914}"/>
                  </a:ext>
                </a:extLst>
              </p:cNvPr>
              <p:cNvSpPr txBox="1"/>
              <p:nvPr/>
            </p:nvSpPr>
            <p:spPr>
              <a:xfrm>
                <a:off x="10690186" y="1692387"/>
                <a:ext cx="451262" cy="369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1" lang="en-US" altLang="zh-CN" dirty="0"/>
                  <a:t>1</a:t>
                </a:r>
                <a:endParaRPr kumimoji="1" lang="zh-CN" altLang="en-US" dirty="0"/>
              </a:p>
            </p:txBody>
          </p:sp>
          <p:sp>
            <p:nvSpPr>
              <p:cNvPr id="51" name="文本框 29">
                <a:extLst>
                  <a:ext uri="{FF2B5EF4-FFF2-40B4-BE49-F238E27FC236}">
                    <a16:creationId xmlns:a16="http://schemas.microsoft.com/office/drawing/2014/main" id="{78C72632-B8AA-CD3F-E6D8-0790228EF9CA}"/>
                  </a:ext>
                </a:extLst>
              </p:cNvPr>
              <p:cNvSpPr txBox="1"/>
              <p:nvPr/>
            </p:nvSpPr>
            <p:spPr>
              <a:xfrm>
                <a:off x="9096304" y="1653969"/>
                <a:ext cx="1078405" cy="5378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1" lang="en-US" altLang="zh-CN" dirty="0"/>
                  <a:t>max-1</a:t>
                </a:r>
                <a:endParaRPr kumimoji="1" lang="zh-CN" altLang="en-US" dirty="0"/>
              </a:p>
            </p:txBody>
          </p:sp>
          <p:sp>
            <p:nvSpPr>
              <p:cNvPr id="52" name="文本框 30">
                <a:extLst>
                  <a:ext uri="{FF2B5EF4-FFF2-40B4-BE49-F238E27FC236}">
                    <a16:creationId xmlns:a16="http://schemas.microsoft.com/office/drawing/2014/main" id="{752BF208-A68B-D0DF-1629-018F3393E98C}"/>
                  </a:ext>
                </a:extLst>
              </p:cNvPr>
              <p:cNvSpPr txBox="1"/>
              <p:nvPr/>
            </p:nvSpPr>
            <p:spPr>
              <a:xfrm>
                <a:off x="11353801" y="2048915"/>
                <a:ext cx="863928" cy="4616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sz="2400" dirty="0"/>
                  <a:t>h</a:t>
                </a:r>
                <a:r>
                  <a:rPr lang="en-US" altLang="zh-CN" sz="2400" baseline="-25000" dirty="0"/>
                  <a:t>1</a:t>
                </a:r>
                <a:endParaRPr lang="zh-CN" altLang="en-US" sz="2400" dirty="0"/>
              </a:p>
            </p:txBody>
          </p:sp>
          <p:sp>
            <p:nvSpPr>
              <p:cNvPr id="53" name="文本框 31">
                <a:extLst>
                  <a:ext uri="{FF2B5EF4-FFF2-40B4-BE49-F238E27FC236}">
                    <a16:creationId xmlns:a16="http://schemas.microsoft.com/office/drawing/2014/main" id="{6A723529-FD86-7705-15F5-E9E9109A2744}"/>
                  </a:ext>
                </a:extLst>
              </p:cNvPr>
              <p:cNvSpPr txBox="1"/>
              <p:nvPr/>
            </p:nvSpPr>
            <p:spPr>
              <a:xfrm>
                <a:off x="11785765" y="3496294"/>
                <a:ext cx="863929" cy="5675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sz="2400" dirty="0">
                    <a:solidFill>
                      <a:srgbClr val="FF0000"/>
                    </a:solidFill>
                  </a:rPr>
                  <a:t>h</a:t>
                </a:r>
                <a:r>
                  <a:rPr lang="en-US" altLang="zh-CN" sz="2400" baseline="-25000" dirty="0">
                    <a:solidFill>
                      <a:srgbClr val="FF0000"/>
                    </a:solidFill>
                  </a:rPr>
                  <a:t>2</a:t>
                </a:r>
                <a:endParaRPr lang="zh-CN" altLang="en-US" sz="24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54" name="文本框 32">
                <a:extLst>
                  <a:ext uri="{FF2B5EF4-FFF2-40B4-BE49-F238E27FC236}">
                    <a16:creationId xmlns:a16="http://schemas.microsoft.com/office/drawing/2014/main" id="{2A61E59C-9E72-E702-96E0-5A2E6F39FAB4}"/>
                  </a:ext>
                </a:extLst>
              </p:cNvPr>
              <p:cNvSpPr txBox="1"/>
              <p:nvPr/>
            </p:nvSpPr>
            <p:spPr>
              <a:xfrm>
                <a:off x="10805666" y="4908866"/>
                <a:ext cx="86392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sz="2400" dirty="0"/>
                  <a:t>h</a:t>
                </a:r>
                <a:r>
                  <a:rPr lang="en-US" altLang="zh-CN" sz="2400" baseline="-25000" dirty="0"/>
                  <a:t>3</a:t>
                </a:r>
                <a:endParaRPr lang="zh-CN" altLang="en-US" sz="2400" dirty="0"/>
              </a:p>
            </p:txBody>
          </p:sp>
          <p:sp>
            <p:nvSpPr>
              <p:cNvPr id="55" name="文本框 33">
                <a:extLst>
                  <a:ext uri="{FF2B5EF4-FFF2-40B4-BE49-F238E27FC236}">
                    <a16:creationId xmlns:a16="http://schemas.microsoft.com/office/drawing/2014/main" id="{B110CCE5-4F40-4DD0-BB79-5934825F8FF1}"/>
                  </a:ext>
                </a:extLst>
              </p:cNvPr>
              <p:cNvSpPr txBox="1"/>
              <p:nvPr/>
            </p:nvSpPr>
            <p:spPr>
              <a:xfrm>
                <a:off x="8566655" y="2125741"/>
                <a:ext cx="863928" cy="4616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sz="2400" dirty="0" err="1"/>
                  <a:t>h</a:t>
                </a:r>
                <a:r>
                  <a:rPr lang="en-US" altLang="zh-CN" sz="2400" baseline="-25000" dirty="0" err="1"/>
                  <a:t>k</a:t>
                </a:r>
                <a:endParaRPr lang="zh-CN" altLang="en-US" sz="2400" dirty="0"/>
              </a:p>
            </p:txBody>
          </p:sp>
          <p:sp>
            <p:nvSpPr>
              <p:cNvPr id="56" name="文本框 34">
                <a:extLst>
                  <a:ext uri="{FF2B5EF4-FFF2-40B4-BE49-F238E27FC236}">
                    <a16:creationId xmlns:a16="http://schemas.microsoft.com/office/drawing/2014/main" id="{DE2FA4A8-DCAA-0016-9B78-4E726A6FECA5}"/>
                  </a:ext>
                </a:extLst>
              </p:cNvPr>
              <p:cNvSpPr txBox="1"/>
              <p:nvPr/>
            </p:nvSpPr>
            <p:spPr>
              <a:xfrm>
                <a:off x="8959438" y="4615035"/>
                <a:ext cx="86392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sz="2400" dirty="0"/>
                  <a:t>…</a:t>
                </a:r>
                <a:endParaRPr lang="zh-CN" altLang="en-US" sz="2400" dirty="0"/>
              </a:p>
            </p:txBody>
          </p:sp>
          <p:sp>
            <p:nvSpPr>
              <p:cNvPr id="57" name="文本框 35">
                <a:extLst>
                  <a:ext uri="{FF2B5EF4-FFF2-40B4-BE49-F238E27FC236}">
                    <a16:creationId xmlns:a16="http://schemas.microsoft.com/office/drawing/2014/main" id="{A9D53A8F-5520-01B8-7639-0B16979C1F08}"/>
                  </a:ext>
                </a:extLst>
              </p:cNvPr>
              <p:cNvSpPr txBox="1"/>
              <p:nvPr/>
            </p:nvSpPr>
            <p:spPr>
              <a:xfrm>
                <a:off x="10926564" y="2300119"/>
                <a:ext cx="719006" cy="672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sz="2400" dirty="0"/>
                  <a:t>D</a:t>
                </a:r>
                <a:r>
                  <a:rPr lang="en-US" altLang="zh-CN" sz="2400" baseline="-25000" dirty="0"/>
                  <a:t>1</a:t>
                </a:r>
                <a:endParaRPr lang="zh-CN" altLang="en-US" sz="2400" dirty="0"/>
              </a:p>
            </p:txBody>
          </p:sp>
          <p:sp>
            <p:nvSpPr>
              <p:cNvPr id="58" name="文本框 36">
                <a:extLst>
                  <a:ext uri="{FF2B5EF4-FFF2-40B4-BE49-F238E27FC236}">
                    <a16:creationId xmlns:a16="http://schemas.microsoft.com/office/drawing/2014/main" id="{1995A817-E6DA-2AA7-696B-5D1D4AED148E}"/>
                  </a:ext>
                </a:extLst>
              </p:cNvPr>
              <p:cNvSpPr txBox="1"/>
              <p:nvPr/>
            </p:nvSpPr>
            <p:spPr>
              <a:xfrm>
                <a:off x="11209658" y="3334797"/>
                <a:ext cx="863928" cy="5675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sz="2400" dirty="0">
                    <a:solidFill>
                      <a:srgbClr val="FF0000"/>
                    </a:solidFill>
                  </a:rPr>
                  <a:t>D</a:t>
                </a:r>
                <a:r>
                  <a:rPr lang="en-US" altLang="zh-CN" sz="2400" baseline="-25000" dirty="0">
                    <a:solidFill>
                      <a:srgbClr val="FF0000"/>
                    </a:solidFill>
                  </a:rPr>
                  <a:t>2</a:t>
                </a:r>
                <a:endParaRPr lang="zh-CN" altLang="en-US" sz="24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59" name="文本框 37">
                <a:extLst>
                  <a:ext uri="{FF2B5EF4-FFF2-40B4-BE49-F238E27FC236}">
                    <a16:creationId xmlns:a16="http://schemas.microsoft.com/office/drawing/2014/main" id="{BA3FCBBA-17C2-655C-99FB-F969BAFDE38F}"/>
                  </a:ext>
                </a:extLst>
              </p:cNvPr>
              <p:cNvSpPr txBox="1"/>
              <p:nvPr/>
            </p:nvSpPr>
            <p:spPr>
              <a:xfrm>
                <a:off x="10425608" y="4316294"/>
                <a:ext cx="863929" cy="4616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sz="2400" dirty="0"/>
                  <a:t>D</a:t>
                </a:r>
                <a:r>
                  <a:rPr lang="en-US" altLang="zh-CN" sz="2400" baseline="-25000" dirty="0"/>
                  <a:t>3</a:t>
                </a:r>
                <a:endParaRPr lang="zh-CN" altLang="en-US" sz="2400" dirty="0"/>
              </a:p>
            </p:txBody>
          </p:sp>
          <p:sp>
            <p:nvSpPr>
              <p:cNvPr id="60" name="文本框 38">
                <a:extLst>
                  <a:ext uri="{FF2B5EF4-FFF2-40B4-BE49-F238E27FC236}">
                    <a16:creationId xmlns:a16="http://schemas.microsoft.com/office/drawing/2014/main" id="{CAF4064D-E660-2DAF-A1E3-DEBEF049714A}"/>
                  </a:ext>
                </a:extLst>
              </p:cNvPr>
              <p:cNvSpPr txBox="1"/>
              <p:nvPr/>
            </p:nvSpPr>
            <p:spPr>
              <a:xfrm>
                <a:off x="9143220" y="2450525"/>
                <a:ext cx="86392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sz="2400" dirty="0"/>
                  <a:t>D</a:t>
                </a:r>
                <a:r>
                  <a:rPr lang="en-US" altLang="zh-CN" sz="2400" baseline="-25000" dirty="0"/>
                  <a:t>k</a:t>
                </a:r>
                <a:endParaRPr lang="zh-CN" altLang="en-US" sz="2400" dirty="0"/>
              </a:p>
            </p:txBody>
          </p:sp>
          <p:sp>
            <p:nvSpPr>
              <p:cNvPr id="61" name="弧 39">
                <a:extLst>
                  <a:ext uri="{FF2B5EF4-FFF2-40B4-BE49-F238E27FC236}">
                    <a16:creationId xmlns:a16="http://schemas.microsoft.com/office/drawing/2014/main" id="{8A9E615B-FEA8-B377-470F-D6EBC08CFAF7}"/>
                  </a:ext>
                </a:extLst>
              </p:cNvPr>
              <p:cNvSpPr/>
              <p:nvPr/>
            </p:nvSpPr>
            <p:spPr bwMode="auto">
              <a:xfrm>
                <a:off x="11331106" y="2809662"/>
                <a:ext cx="268254" cy="1269331"/>
              </a:xfrm>
              <a:prstGeom prst="arc">
                <a:avLst/>
              </a:prstGeom>
              <a:noFill/>
              <a:ln w="38100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arrow" w="med" len="med"/>
              </a:ln>
              <a:effectLst/>
              <a:extLst>
                <a:ext uri="{909E8E84-426E-40dd-AFC4-6F175D3DCCD1}">
                  <a14:hiddenFill xmlns:lc="http://schemas.openxmlformats.org/drawingml/2006/lockedCanvas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lc="http://schemas.openxmlformats.org/drawingml/2006/lockedCanvas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32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华文楷体" pitchFamily="2" charset="-122"/>
                </a:endParaRPr>
              </a:p>
            </p:txBody>
          </p:sp>
          <p:sp>
            <p:nvSpPr>
              <p:cNvPr id="62" name="弧 41">
                <a:extLst>
                  <a:ext uri="{FF2B5EF4-FFF2-40B4-BE49-F238E27FC236}">
                    <a16:creationId xmlns:a16="http://schemas.microsoft.com/office/drawing/2014/main" id="{ACBEBADF-C785-FC0E-903E-61802A023A41}"/>
                  </a:ext>
                </a:extLst>
              </p:cNvPr>
              <p:cNvSpPr/>
              <p:nvPr/>
            </p:nvSpPr>
            <p:spPr bwMode="auto">
              <a:xfrm rot="15971861">
                <a:off x="9982586" y="1684738"/>
                <a:ext cx="567251" cy="1636160"/>
              </a:xfrm>
              <a:prstGeom prst="arc">
                <a:avLst>
                  <a:gd name="adj1" fmla="val 16200000"/>
                  <a:gd name="adj2" fmla="val 5169118"/>
                </a:avLst>
              </a:prstGeom>
              <a:noFill/>
              <a:ln w="38100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arrow" w="med" len="med"/>
              </a:ln>
              <a:effectLst/>
              <a:extLst>
                <a:ext uri="{909E8E84-426E-40dd-AFC4-6F175D3DCCD1}">
                  <a14:hiddenFill xmlns:lc="http://schemas.openxmlformats.org/drawingml/2006/lockedCanvas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lc="http://schemas.openxmlformats.org/drawingml/2006/lockedCanvas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32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华文楷体" pitchFamily="2" charset="-122"/>
                </a:endParaRPr>
              </a:p>
            </p:txBody>
          </p:sp>
          <p:sp>
            <p:nvSpPr>
              <p:cNvPr id="63" name="弧 43">
                <a:extLst>
                  <a:ext uri="{FF2B5EF4-FFF2-40B4-BE49-F238E27FC236}">
                    <a16:creationId xmlns:a16="http://schemas.microsoft.com/office/drawing/2014/main" id="{235A5713-BF68-19E8-360E-0153C9151A61}"/>
                  </a:ext>
                </a:extLst>
              </p:cNvPr>
              <p:cNvSpPr/>
              <p:nvPr/>
            </p:nvSpPr>
            <p:spPr bwMode="auto">
              <a:xfrm rot="4473672">
                <a:off x="10411954" y="3513325"/>
                <a:ext cx="957026" cy="1314835"/>
              </a:xfrm>
              <a:prstGeom prst="arc">
                <a:avLst/>
              </a:prstGeom>
              <a:noFill/>
              <a:ln w="38100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arrow" w="med" len="med"/>
              </a:ln>
              <a:effectLst/>
              <a:extLst>
                <a:ext uri="{909E8E84-426E-40dd-AFC4-6F175D3DCCD1}">
                  <a14:hiddenFill xmlns:lc="http://schemas.openxmlformats.org/drawingml/2006/lockedCanvas"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lc="http://schemas.openxmlformats.org/drawingml/2006/lockedCanvas"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32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华文楷体" pitchFamily="2" charset="-122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6452014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18">
            <a:extLst>
              <a:ext uri="{FF2B5EF4-FFF2-40B4-BE49-F238E27FC236}">
                <a16:creationId xmlns:a16="http://schemas.microsoft.com/office/drawing/2014/main" id="{1E094DD3-FF69-412B-8784-4FF25C5BEA8F}"/>
              </a:ext>
            </a:extLst>
          </p:cNvPr>
          <p:cNvSpPr/>
          <p:nvPr/>
        </p:nvSpPr>
        <p:spPr>
          <a:xfrm>
            <a:off x="5231423" y="1072662"/>
            <a:ext cx="6137031" cy="5100730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dirty="0">
              <a:latin typeface="微软雅黑" panose="020B0503020204020204" pitchFamily="82" charset="2"/>
              <a:ea typeface="微软雅黑" panose="020B0503020204020204" pitchFamily="82" charset="2"/>
              <a:sym typeface="+mn-ea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458F09D-AD8B-9B27-6141-BD96CC948C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77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D22E5E23-5CDB-ABAF-E6B1-991A944C5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一致性哈希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1775F28-21A9-5D75-2C36-14E36DA491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868" y="1808828"/>
            <a:ext cx="7592786" cy="3292083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负载均衡问题</a:t>
            </a:r>
            <a:endParaRPr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某些数据分片数据较多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某些数据分片数据较少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增加虚拟节点</a:t>
            </a:r>
            <a:endParaRPr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虚拟节点对应哈希环上的值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物理节点包含多个虚拟节点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FE3A1F-0D21-2DB4-476F-B1C5D4A829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5906CBA7-E80F-48C2-816C-FD923F843366}"/>
              </a:ext>
            </a:extLst>
          </p:cNvPr>
          <p:cNvGrpSpPr/>
          <p:nvPr/>
        </p:nvGrpSpPr>
        <p:grpSpPr>
          <a:xfrm>
            <a:off x="5668010" y="1197619"/>
            <a:ext cx="5216698" cy="4827361"/>
            <a:chOff x="6410701" y="833043"/>
            <a:chExt cx="5703510" cy="5277841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6F7F4292-D3D6-28BF-5184-20E0E2A5537F}"/>
                </a:ext>
              </a:extLst>
            </p:cNvPr>
            <p:cNvSpPr/>
            <p:nvPr/>
          </p:nvSpPr>
          <p:spPr bwMode="auto">
            <a:xfrm>
              <a:off x="8170223" y="1202375"/>
              <a:ext cx="3057896" cy="3019301"/>
            </a:xfrm>
            <a:prstGeom prst="ellips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楷体" pitchFamily="2" charset="-122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1FCECB81-65DB-A9A7-4BFC-E0791984B603}"/>
                </a:ext>
              </a:extLst>
            </p:cNvPr>
            <p:cNvSpPr txBox="1"/>
            <p:nvPr/>
          </p:nvSpPr>
          <p:spPr>
            <a:xfrm>
              <a:off x="9583386" y="833043"/>
              <a:ext cx="4512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0</a:t>
              </a:r>
              <a:endParaRPr kumimoji="1" lang="zh-CN" altLang="en-US" dirty="0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25974337-018E-D513-6736-FEBF05F2FF8B}"/>
                </a:ext>
              </a:extLst>
            </p:cNvPr>
            <p:cNvSpPr txBox="1"/>
            <p:nvPr/>
          </p:nvSpPr>
          <p:spPr>
            <a:xfrm>
              <a:off x="10066731" y="914191"/>
              <a:ext cx="4512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1</a:t>
              </a:r>
              <a:endParaRPr kumimoji="1" lang="zh-CN" altLang="en-US" dirty="0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450F954F-B16B-C0FD-3575-7A00322F2D87}"/>
                </a:ext>
              </a:extLst>
            </p:cNvPr>
            <p:cNvSpPr txBox="1"/>
            <p:nvPr/>
          </p:nvSpPr>
          <p:spPr>
            <a:xfrm>
              <a:off x="8651174" y="914191"/>
              <a:ext cx="8514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max-1</a:t>
              </a:r>
              <a:endParaRPr kumimoji="1" lang="zh-CN" altLang="en-US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56C6686D-F14C-7CC2-2BCF-9566983E200E}"/>
                </a:ext>
              </a:extLst>
            </p:cNvPr>
            <p:cNvSpPr txBox="1"/>
            <p:nvPr/>
          </p:nvSpPr>
          <p:spPr>
            <a:xfrm>
              <a:off x="10730346" y="1283523"/>
              <a:ext cx="86392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dirty="0"/>
                <a:t>h</a:t>
              </a:r>
              <a:r>
                <a:rPr lang="en-US" altLang="zh-CN" sz="2400" baseline="-25000" dirty="0"/>
                <a:t>1</a:t>
              </a:r>
              <a:endParaRPr lang="zh-CN" altLang="en-US" sz="2400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A4B88A7-D87C-BF22-46FD-46635B12D7B9}"/>
                </a:ext>
              </a:extLst>
            </p:cNvPr>
            <p:cNvSpPr txBox="1"/>
            <p:nvPr/>
          </p:nvSpPr>
          <p:spPr>
            <a:xfrm>
              <a:off x="11162310" y="2641269"/>
              <a:ext cx="86392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dirty="0"/>
                <a:t>h</a:t>
              </a:r>
              <a:r>
                <a:rPr lang="en-US" altLang="zh-CN" sz="2400" baseline="-25000" dirty="0"/>
                <a:t>2</a:t>
              </a:r>
              <a:endParaRPr lang="zh-CN" altLang="en-US" sz="2400" dirty="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418E607C-2328-49EA-7FBD-6AC000770CA2}"/>
                </a:ext>
              </a:extLst>
            </p:cNvPr>
            <p:cNvSpPr txBox="1"/>
            <p:nvPr/>
          </p:nvSpPr>
          <p:spPr>
            <a:xfrm>
              <a:off x="10547267" y="3868897"/>
              <a:ext cx="86392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dirty="0"/>
                <a:t>h</a:t>
              </a:r>
              <a:r>
                <a:rPr lang="en-US" altLang="zh-CN" sz="2400" baseline="-25000" dirty="0"/>
                <a:t>3</a:t>
              </a:r>
              <a:endParaRPr lang="zh-CN" altLang="en-US" sz="2400" dirty="0"/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FA0E67C4-CA56-6CF4-BC4C-B533E27F4436}"/>
                </a:ext>
              </a:extLst>
            </p:cNvPr>
            <p:cNvSpPr txBox="1"/>
            <p:nvPr/>
          </p:nvSpPr>
          <p:spPr>
            <a:xfrm>
              <a:off x="8219209" y="1283522"/>
              <a:ext cx="86392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dirty="0" err="1"/>
                <a:t>h</a:t>
              </a:r>
              <a:r>
                <a:rPr lang="en-US" altLang="zh-CN" sz="2400" baseline="-25000" dirty="0" err="1"/>
                <a:t>k</a:t>
              </a:r>
              <a:endParaRPr lang="zh-CN" altLang="en-US" sz="2400" dirty="0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8EFFF1F6-C0A8-D2DB-8AE5-5E4CF77A9D0A}"/>
                </a:ext>
              </a:extLst>
            </p:cNvPr>
            <p:cNvSpPr txBox="1"/>
            <p:nvPr/>
          </p:nvSpPr>
          <p:spPr>
            <a:xfrm>
              <a:off x="8335983" y="3760011"/>
              <a:ext cx="86392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dirty="0"/>
                <a:t>…</a:t>
              </a:r>
              <a:endParaRPr lang="zh-CN" altLang="en-US" sz="2400" dirty="0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C3468CA8-8D9E-D2BE-6C3F-F862E620EDD0}"/>
                </a:ext>
              </a:extLst>
            </p:cNvPr>
            <p:cNvSpPr txBox="1"/>
            <p:nvPr/>
          </p:nvSpPr>
          <p:spPr>
            <a:xfrm>
              <a:off x="10413176" y="1463466"/>
              <a:ext cx="86392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dirty="0"/>
                <a:t>D</a:t>
              </a:r>
              <a:r>
                <a:rPr lang="en-US" altLang="zh-CN" sz="2400" baseline="-25000" dirty="0"/>
                <a:t>1</a:t>
              </a:r>
              <a:endParaRPr lang="zh-CN" altLang="en-US" sz="2400" dirty="0"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702E134-C583-56BD-4261-47B8C3E5A7EC}"/>
                </a:ext>
              </a:extLst>
            </p:cNvPr>
            <p:cNvSpPr txBox="1"/>
            <p:nvPr/>
          </p:nvSpPr>
          <p:spPr>
            <a:xfrm>
              <a:off x="10730345" y="2604568"/>
              <a:ext cx="86392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dirty="0"/>
                <a:t>D</a:t>
              </a:r>
              <a:r>
                <a:rPr lang="en-US" altLang="zh-CN" sz="2400" baseline="-25000" dirty="0"/>
                <a:t>2</a:t>
              </a:r>
              <a:endParaRPr lang="zh-CN" altLang="en-US" sz="2400" dirty="0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8838E8D0-D03E-F3EF-B9B3-39A7545B1AE4}"/>
                </a:ext>
              </a:extLst>
            </p:cNvPr>
            <p:cNvSpPr txBox="1"/>
            <p:nvPr/>
          </p:nvSpPr>
          <p:spPr>
            <a:xfrm>
              <a:off x="10247415" y="3458121"/>
              <a:ext cx="86392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dirty="0"/>
                <a:t>D</a:t>
              </a:r>
              <a:r>
                <a:rPr lang="en-US" altLang="zh-CN" sz="2400" baseline="-25000" dirty="0"/>
                <a:t>3</a:t>
              </a:r>
              <a:endParaRPr lang="zh-CN" altLang="en-US" sz="2400" dirty="0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A73C0C09-2E16-1F52-1676-4E424C46909B}"/>
                </a:ext>
              </a:extLst>
            </p:cNvPr>
            <p:cNvSpPr txBox="1"/>
            <p:nvPr/>
          </p:nvSpPr>
          <p:spPr>
            <a:xfrm>
              <a:off x="8519765" y="1595501"/>
              <a:ext cx="86392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dirty="0"/>
                <a:t>D</a:t>
              </a:r>
              <a:r>
                <a:rPr lang="en-US" altLang="zh-CN" sz="2400" baseline="-25000" dirty="0"/>
                <a:t>k</a:t>
              </a:r>
              <a:endParaRPr lang="zh-CN" altLang="en-US" sz="2400" dirty="0"/>
            </a:p>
          </p:txBody>
        </p:sp>
        <p:sp>
          <p:nvSpPr>
            <p:cNvPr id="19" name="弧 18">
              <a:extLst>
                <a:ext uri="{FF2B5EF4-FFF2-40B4-BE49-F238E27FC236}">
                  <a16:creationId xmlns:a16="http://schemas.microsoft.com/office/drawing/2014/main" id="{8881179F-5E1B-36CA-7E1E-BCF0D3CF7541}"/>
                </a:ext>
              </a:extLst>
            </p:cNvPr>
            <p:cNvSpPr/>
            <p:nvPr/>
          </p:nvSpPr>
          <p:spPr bwMode="auto">
            <a:xfrm>
              <a:off x="10707651" y="1954638"/>
              <a:ext cx="268254" cy="1269331"/>
            </a:xfrm>
            <a:prstGeom prst="arc">
              <a:avLst/>
            </a:prstGeom>
            <a:noFill/>
            <a:ln w="381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arrow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楷体" pitchFamily="2" charset="-122"/>
              </a:endParaRPr>
            </a:p>
          </p:txBody>
        </p:sp>
        <p:sp>
          <p:nvSpPr>
            <p:cNvPr id="20" name="弧 19">
              <a:extLst>
                <a:ext uri="{FF2B5EF4-FFF2-40B4-BE49-F238E27FC236}">
                  <a16:creationId xmlns:a16="http://schemas.microsoft.com/office/drawing/2014/main" id="{82E85D6D-5AE3-1893-8333-46D5EB50C7CC}"/>
                </a:ext>
              </a:extLst>
            </p:cNvPr>
            <p:cNvSpPr/>
            <p:nvPr/>
          </p:nvSpPr>
          <p:spPr bwMode="auto">
            <a:xfrm rot="2665049">
              <a:off x="10367954" y="2832900"/>
              <a:ext cx="268254" cy="1269331"/>
            </a:xfrm>
            <a:prstGeom prst="arc">
              <a:avLst/>
            </a:prstGeom>
            <a:noFill/>
            <a:ln w="381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arrow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楷体" pitchFamily="2" charset="-122"/>
              </a:endParaRPr>
            </a:p>
          </p:txBody>
        </p:sp>
        <p:sp>
          <p:nvSpPr>
            <p:cNvPr id="21" name="弧 20">
              <a:extLst>
                <a:ext uri="{FF2B5EF4-FFF2-40B4-BE49-F238E27FC236}">
                  <a16:creationId xmlns:a16="http://schemas.microsoft.com/office/drawing/2014/main" id="{6F20196E-32F2-9C09-8525-54D540B14A1E}"/>
                </a:ext>
              </a:extLst>
            </p:cNvPr>
            <p:cNvSpPr/>
            <p:nvPr/>
          </p:nvSpPr>
          <p:spPr bwMode="auto">
            <a:xfrm rot="16030131">
              <a:off x="9310116" y="835200"/>
              <a:ext cx="683260" cy="1636160"/>
            </a:xfrm>
            <a:prstGeom prst="arc">
              <a:avLst>
                <a:gd name="adj1" fmla="val 16200000"/>
                <a:gd name="adj2" fmla="val 5169118"/>
              </a:avLst>
            </a:prstGeom>
            <a:noFill/>
            <a:ln w="381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arrow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楷体" pitchFamily="2" charset="-122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F8274DBD-82DD-6F3F-4E7C-E280BE20D565}"/>
                </a:ext>
              </a:extLst>
            </p:cNvPr>
            <p:cNvSpPr/>
            <p:nvPr/>
          </p:nvSpPr>
          <p:spPr bwMode="auto">
            <a:xfrm>
              <a:off x="7398328" y="4601688"/>
              <a:ext cx="863930" cy="461665"/>
            </a:xfrm>
            <a:prstGeom prst="rect">
              <a:avLst/>
            </a:prstGeom>
            <a:noFill/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CN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华文楷体" pitchFamily="2" charset="-122"/>
                </a:rPr>
                <a:t>P</a:t>
              </a:r>
              <a:r>
                <a:rPr kumimoji="1" lang="en-US" altLang="zh-CN" sz="2400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华文楷体" pitchFamily="2" charset="-122"/>
                </a:rPr>
                <a:t>1</a:t>
              </a:r>
              <a:endParaRPr kumimoji="1" lang="zh-CN" altLang="en-US" sz="2400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楷体" pitchFamily="2" charset="-122"/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8B8E7B5E-B183-486D-D97F-A4105FB294D3}"/>
                </a:ext>
              </a:extLst>
            </p:cNvPr>
            <p:cNvSpPr/>
            <p:nvPr/>
          </p:nvSpPr>
          <p:spPr bwMode="auto">
            <a:xfrm>
              <a:off x="8862871" y="4601687"/>
              <a:ext cx="863930" cy="461665"/>
            </a:xfrm>
            <a:prstGeom prst="rect">
              <a:avLst/>
            </a:prstGeom>
            <a:noFill/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华文楷体" pitchFamily="2" charset="-122"/>
                </a:rPr>
                <a:t>P</a:t>
              </a:r>
              <a:r>
                <a:rPr kumimoji="1" lang="en-US" altLang="zh-CN" sz="2400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华文楷体" pitchFamily="2" charset="-122"/>
                </a:rPr>
                <a:t>2</a:t>
              </a:r>
              <a:endParaRPr kumimoji="1" lang="zh-CN" altLang="en-US" sz="2400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楷体" pitchFamily="2" charset="-122"/>
              </a:endParaRP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D2EEF7A8-83DA-8615-AA0B-62E0B8C682CD}"/>
                </a:ext>
              </a:extLst>
            </p:cNvPr>
            <p:cNvSpPr/>
            <p:nvPr/>
          </p:nvSpPr>
          <p:spPr bwMode="auto">
            <a:xfrm>
              <a:off x="10400724" y="4601687"/>
              <a:ext cx="863930" cy="461665"/>
            </a:xfrm>
            <a:prstGeom prst="rect">
              <a:avLst/>
            </a:prstGeom>
            <a:noFill/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华文楷体" pitchFamily="2" charset="-122"/>
                </a:rPr>
                <a:t>P</a:t>
              </a:r>
              <a:r>
                <a:rPr kumimoji="1" lang="en-US" altLang="zh-CN" sz="2400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华文楷体" pitchFamily="2" charset="-122"/>
                </a:rPr>
                <a:t>3</a:t>
              </a:r>
              <a:endParaRPr kumimoji="1" lang="zh-CN" altLang="en-US" sz="2400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楷体" pitchFamily="2" charset="-122"/>
              </a:endParaRP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0E83D754-F00E-A196-52BD-AD83B4E104F1}"/>
                </a:ext>
              </a:extLst>
            </p:cNvPr>
            <p:cNvSpPr/>
            <p:nvPr/>
          </p:nvSpPr>
          <p:spPr bwMode="auto">
            <a:xfrm>
              <a:off x="6410701" y="5741552"/>
              <a:ext cx="473115" cy="369332"/>
            </a:xfrm>
            <a:prstGeom prst="rect">
              <a:avLst/>
            </a:prstGeom>
            <a:noFill/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CN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华文楷体" pitchFamily="2" charset="-122"/>
                </a:rPr>
                <a:t>D</a:t>
              </a:r>
              <a:r>
                <a:rPr kumimoji="1" lang="en-US" altLang="zh-CN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华文楷体" pitchFamily="2" charset="-122"/>
                </a:rPr>
                <a:t>1</a:t>
              </a:r>
              <a:endParaRPr kumimoji="1" lang="zh-CN" altLang="en-US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楷体" pitchFamily="2" charset="-122"/>
              </a:endParaRPr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52393BF5-29FA-8F4E-1563-1C817C79C061}"/>
                </a:ext>
              </a:extLst>
            </p:cNvPr>
            <p:cNvSpPr/>
            <p:nvPr/>
          </p:nvSpPr>
          <p:spPr bwMode="auto">
            <a:xfrm>
              <a:off x="7064500" y="5741552"/>
              <a:ext cx="473115" cy="369332"/>
            </a:xfrm>
            <a:prstGeom prst="rect">
              <a:avLst/>
            </a:prstGeom>
            <a:noFill/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华文楷体" pitchFamily="2" charset="-122"/>
                </a:rPr>
                <a:t>D</a:t>
              </a:r>
              <a:r>
                <a:rPr kumimoji="1" lang="en-US" altLang="zh-CN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华文楷体" pitchFamily="2" charset="-122"/>
                </a:rPr>
                <a:t>2</a:t>
              </a:r>
              <a:endParaRPr kumimoji="1" lang="zh-CN" altLang="en-US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楷体" pitchFamily="2" charset="-122"/>
              </a:endParaRP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D54A3AD3-8663-344B-60E2-8ECAC06BEA0B}"/>
                </a:ext>
              </a:extLst>
            </p:cNvPr>
            <p:cNvSpPr/>
            <p:nvPr/>
          </p:nvSpPr>
          <p:spPr bwMode="auto">
            <a:xfrm>
              <a:off x="7718299" y="5741552"/>
              <a:ext cx="473115" cy="369332"/>
            </a:xfrm>
            <a:prstGeom prst="rect">
              <a:avLst/>
            </a:prstGeom>
            <a:noFill/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华文楷体" pitchFamily="2" charset="-122"/>
                </a:rPr>
                <a:t>D</a:t>
              </a:r>
              <a:r>
                <a:rPr kumimoji="1" lang="en-US" altLang="zh-CN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华文楷体" pitchFamily="2" charset="-122"/>
                </a:rPr>
                <a:t>3</a:t>
              </a:r>
              <a:endParaRPr kumimoji="1" lang="zh-CN" altLang="en-US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楷体" pitchFamily="2" charset="-122"/>
              </a:endParaRP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ACB5F8DD-B731-CD9B-DC34-876D92E9E7E7}"/>
                </a:ext>
              </a:extLst>
            </p:cNvPr>
            <p:cNvSpPr/>
            <p:nvPr/>
          </p:nvSpPr>
          <p:spPr bwMode="auto">
            <a:xfrm>
              <a:off x="11641096" y="5741552"/>
              <a:ext cx="473115" cy="369332"/>
            </a:xfrm>
            <a:prstGeom prst="rect">
              <a:avLst/>
            </a:prstGeom>
            <a:noFill/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华文楷体" pitchFamily="2" charset="-122"/>
                </a:rPr>
                <a:t>D</a:t>
              </a:r>
              <a:r>
                <a:rPr kumimoji="1" lang="en-US" altLang="zh-CN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华文楷体" pitchFamily="2" charset="-122"/>
                </a:rPr>
                <a:t>9</a:t>
              </a:r>
              <a:endParaRPr kumimoji="1" lang="zh-CN" altLang="en-US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楷体" pitchFamily="2" charset="-122"/>
              </a:endParaRPr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1ECB4B81-9085-D37B-7F25-E5D9B146324F}"/>
                </a:ext>
              </a:extLst>
            </p:cNvPr>
            <p:cNvSpPr/>
            <p:nvPr/>
          </p:nvSpPr>
          <p:spPr bwMode="auto">
            <a:xfrm>
              <a:off x="8372098" y="5741552"/>
              <a:ext cx="473115" cy="369332"/>
            </a:xfrm>
            <a:prstGeom prst="rect">
              <a:avLst/>
            </a:prstGeom>
            <a:noFill/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华文楷体" pitchFamily="2" charset="-122"/>
                </a:rPr>
                <a:t>D</a:t>
              </a:r>
              <a:r>
                <a:rPr kumimoji="1" lang="en-US" altLang="zh-CN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华文楷体" pitchFamily="2" charset="-122"/>
                </a:rPr>
                <a:t>4</a:t>
              </a:r>
              <a:endParaRPr kumimoji="1" lang="zh-CN" altLang="en-US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楷体" pitchFamily="2" charset="-122"/>
              </a:endParaRPr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ADC9CBE7-0278-2BB6-4FBF-680218ECF26F}"/>
                </a:ext>
              </a:extLst>
            </p:cNvPr>
            <p:cNvSpPr/>
            <p:nvPr/>
          </p:nvSpPr>
          <p:spPr bwMode="auto">
            <a:xfrm>
              <a:off x="9025897" y="5741552"/>
              <a:ext cx="473115" cy="369332"/>
            </a:xfrm>
            <a:prstGeom prst="rect">
              <a:avLst/>
            </a:prstGeom>
            <a:noFill/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华文楷体" pitchFamily="2" charset="-122"/>
                </a:rPr>
                <a:t>D</a:t>
              </a:r>
              <a:r>
                <a:rPr kumimoji="1" lang="en-US" altLang="zh-CN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华文楷体" pitchFamily="2" charset="-122"/>
                </a:rPr>
                <a:t>5</a:t>
              </a:r>
              <a:endParaRPr kumimoji="1" lang="zh-CN" altLang="en-US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楷体" pitchFamily="2" charset="-122"/>
              </a:endParaRPr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D342AAC3-6BA3-3950-7A5F-B99E87EA4C2C}"/>
                </a:ext>
              </a:extLst>
            </p:cNvPr>
            <p:cNvSpPr/>
            <p:nvPr/>
          </p:nvSpPr>
          <p:spPr bwMode="auto">
            <a:xfrm>
              <a:off x="9679696" y="5741552"/>
              <a:ext cx="473115" cy="369332"/>
            </a:xfrm>
            <a:prstGeom prst="rect">
              <a:avLst/>
            </a:prstGeom>
            <a:noFill/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华文楷体" pitchFamily="2" charset="-122"/>
                </a:rPr>
                <a:t>D</a:t>
              </a:r>
              <a:r>
                <a:rPr kumimoji="1" lang="en-US" altLang="zh-CN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华文楷体" pitchFamily="2" charset="-122"/>
                </a:rPr>
                <a:t>6</a:t>
              </a:r>
              <a:endParaRPr kumimoji="1" lang="zh-CN" altLang="en-US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楷体" pitchFamily="2" charset="-122"/>
              </a:endParaRPr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5C3D4507-66C1-A5E6-5004-61C6D21B8ABC}"/>
                </a:ext>
              </a:extLst>
            </p:cNvPr>
            <p:cNvSpPr/>
            <p:nvPr/>
          </p:nvSpPr>
          <p:spPr bwMode="auto">
            <a:xfrm>
              <a:off x="10333495" y="5741552"/>
              <a:ext cx="473115" cy="369332"/>
            </a:xfrm>
            <a:prstGeom prst="rect">
              <a:avLst/>
            </a:prstGeom>
            <a:noFill/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华文楷体" pitchFamily="2" charset="-122"/>
                </a:rPr>
                <a:t>D</a:t>
              </a:r>
              <a:r>
                <a:rPr kumimoji="1" lang="en-US" altLang="zh-CN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华文楷体" pitchFamily="2" charset="-122"/>
                </a:rPr>
                <a:t>7</a:t>
              </a:r>
              <a:endParaRPr kumimoji="1" lang="zh-CN" altLang="en-US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楷体" pitchFamily="2" charset="-122"/>
              </a:endParaRPr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3CEDEAE3-A3C8-5C57-78DF-CA6F5FA68A21}"/>
                </a:ext>
              </a:extLst>
            </p:cNvPr>
            <p:cNvSpPr/>
            <p:nvPr/>
          </p:nvSpPr>
          <p:spPr bwMode="auto">
            <a:xfrm>
              <a:off x="10987294" y="5741552"/>
              <a:ext cx="473115" cy="369332"/>
            </a:xfrm>
            <a:prstGeom prst="rect">
              <a:avLst/>
            </a:prstGeom>
            <a:noFill/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华文楷体" pitchFamily="2" charset="-122"/>
                </a:rPr>
                <a:t>D</a:t>
              </a:r>
              <a:r>
                <a:rPr kumimoji="1" lang="en-US" altLang="zh-CN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华文楷体" pitchFamily="2" charset="-122"/>
                </a:rPr>
                <a:t>8</a:t>
              </a:r>
              <a:endParaRPr kumimoji="1" lang="zh-CN" altLang="en-US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楷体" pitchFamily="2" charset="-122"/>
              </a:endParaRPr>
            </a:p>
          </p:txBody>
        </p:sp>
        <p:cxnSp>
          <p:nvCxnSpPr>
            <p:cNvPr id="39" name="直线连接符 38">
              <a:extLst>
                <a:ext uri="{FF2B5EF4-FFF2-40B4-BE49-F238E27FC236}">
                  <a16:creationId xmlns:a16="http://schemas.microsoft.com/office/drawing/2014/main" id="{61D3877A-8D93-3206-F186-C6E371D55CA3}"/>
                </a:ext>
              </a:extLst>
            </p:cNvPr>
            <p:cNvCxnSpPr>
              <a:stCxn id="29" idx="0"/>
              <a:endCxn id="22" idx="2"/>
            </p:cNvCxnSpPr>
            <p:nvPr/>
          </p:nvCxnSpPr>
          <p:spPr bwMode="auto">
            <a:xfrm flipV="1">
              <a:off x="6647259" y="5063353"/>
              <a:ext cx="1183034" cy="678199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" name="直线连接符 39">
              <a:extLst>
                <a:ext uri="{FF2B5EF4-FFF2-40B4-BE49-F238E27FC236}">
                  <a16:creationId xmlns:a16="http://schemas.microsoft.com/office/drawing/2014/main" id="{877821CF-5F62-326F-E389-03A8D15ED6AE}"/>
                </a:ext>
              </a:extLst>
            </p:cNvPr>
            <p:cNvCxnSpPr>
              <a:cxnSpLocks/>
              <a:stCxn id="30" idx="0"/>
              <a:endCxn id="28" idx="2"/>
            </p:cNvCxnSpPr>
            <p:nvPr/>
          </p:nvCxnSpPr>
          <p:spPr bwMode="auto">
            <a:xfrm flipV="1">
              <a:off x="7301058" y="5063352"/>
              <a:ext cx="3531631" cy="67820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" name="直线连接符 42">
              <a:extLst>
                <a:ext uri="{FF2B5EF4-FFF2-40B4-BE49-F238E27FC236}">
                  <a16:creationId xmlns:a16="http://schemas.microsoft.com/office/drawing/2014/main" id="{60141257-D281-2DF6-31BC-2588AB6AEDF1}"/>
                </a:ext>
              </a:extLst>
            </p:cNvPr>
            <p:cNvCxnSpPr>
              <a:cxnSpLocks/>
              <a:stCxn id="22" idx="2"/>
              <a:endCxn id="31" idx="0"/>
            </p:cNvCxnSpPr>
            <p:nvPr/>
          </p:nvCxnSpPr>
          <p:spPr bwMode="auto">
            <a:xfrm>
              <a:off x="7830293" y="5063353"/>
              <a:ext cx="124564" cy="678199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5" name="直线连接符 44">
              <a:extLst>
                <a:ext uri="{FF2B5EF4-FFF2-40B4-BE49-F238E27FC236}">
                  <a16:creationId xmlns:a16="http://schemas.microsoft.com/office/drawing/2014/main" id="{A4E6E02C-E8BB-6E25-214D-134B82152FED}"/>
                </a:ext>
              </a:extLst>
            </p:cNvPr>
            <p:cNvCxnSpPr>
              <a:cxnSpLocks/>
              <a:stCxn id="22" idx="2"/>
              <a:endCxn id="36" idx="0"/>
            </p:cNvCxnSpPr>
            <p:nvPr/>
          </p:nvCxnSpPr>
          <p:spPr bwMode="auto">
            <a:xfrm>
              <a:off x="7830293" y="5063353"/>
              <a:ext cx="2739760" cy="678199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7" name="直线连接符 46">
              <a:extLst>
                <a:ext uri="{FF2B5EF4-FFF2-40B4-BE49-F238E27FC236}">
                  <a16:creationId xmlns:a16="http://schemas.microsoft.com/office/drawing/2014/main" id="{8508A73B-EF95-6C1E-C477-B58F1E17A569}"/>
                </a:ext>
              </a:extLst>
            </p:cNvPr>
            <p:cNvCxnSpPr>
              <a:cxnSpLocks/>
              <a:stCxn id="23" idx="2"/>
              <a:endCxn id="33" idx="0"/>
            </p:cNvCxnSpPr>
            <p:nvPr/>
          </p:nvCxnSpPr>
          <p:spPr bwMode="auto">
            <a:xfrm flipH="1">
              <a:off x="8608656" y="5063352"/>
              <a:ext cx="686180" cy="67820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0" name="直线连接符 49">
              <a:extLst>
                <a:ext uri="{FF2B5EF4-FFF2-40B4-BE49-F238E27FC236}">
                  <a16:creationId xmlns:a16="http://schemas.microsoft.com/office/drawing/2014/main" id="{EEF83184-1EE5-4816-221D-93614256D21C}"/>
                </a:ext>
              </a:extLst>
            </p:cNvPr>
            <p:cNvCxnSpPr>
              <a:cxnSpLocks/>
              <a:stCxn id="23" idx="2"/>
              <a:endCxn id="32" idx="0"/>
            </p:cNvCxnSpPr>
            <p:nvPr/>
          </p:nvCxnSpPr>
          <p:spPr bwMode="auto">
            <a:xfrm>
              <a:off x="9294836" y="5063352"/>
              <a:ext cx="2582818" cy="67820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2" name="直线连接符 51">
              <a:extLst>
                <a:ext uri="{FF2B5EF4-FFF2-40B4-BE49-F238E27FC236}">
                  <a16:creationId xmlns:a16="http://schemas.microsoft.com/office/drawing/2014/main" id="{70F6779E-3E9F-5AAF-BFF6-71C30252F951}"/>
                </a:ext>
              </a:extLst>
            </p:cNvPr>
            <p:cNvCxnSpPr>
              <a:cxnSpLocks/>
              <a:stCxn id="28" idx="2"/>
              <a:endCxn id="34" idx="0"/>
            </p:cNvCxnSpPr>
            <p:nvPr/>
          </p:nvCxnSpPr>
          <p:spPr bwMode="auto">
            <a:xfrm flipH="1">
              <a:off x="9262455" y="5063352"/>
              <a:ext cx="1570234" cy="67820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5" name="直线连接符 54">
              <a:extLst>
                <a:ext uri="{FF2B5EF4-FFF2-40B4-BE49-F238E27FC236}">
                  <a16:creationId xmlns:a16="http://schemas.microsoft.com/office/drawing/2014/main" id="{684D4678-F994-F91B-8204-9B741FC81A36}"/>
                </a:ext>
              </a:extLst>
            </p:cNvPr>
            <p:cNvCxnSpPr>
              <a:cxnSpLocks/>
              <a:stCxn id="28" idx="2"/>
              <a:endCxn id="37" idx="0"/>
            </p:cNvCxnSpPr>
            <p:nvPr/>
          </p:nvCxnSpPr>
          <p:spPr bwMode="auto">
            <a:xfrm>
              <a:off x="10832689" y="5063352"/>
              <a:ext cx="391163" cy="67820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7" name="直线连接符 56">
              <a:extLst>
                <a:ext uri="{FF2B5EF4-FFF2-40B4-BE49-F238E27FC236}">
                  <a16:creationId xmlns:a16="http://schemas.microsoft.com/office/drawing/2014/main" id="{ED73F8D1-C611-2889-E73B-0A3A21034C8E}"/>
                </a:ext>
              </a:extLst>
            </p:cNvPr>
            <p:cNvCxnSpPr>
              <a:cxnSpLocks/>
              <a:stCxn id="23" idx="2"/>
              <a:endCxn id="35" idx="0"/>
            </p:cNvCxnSpPr>
            <p:nvPr/>
          </p:nvCxnSpPr>
          <p:spPr bwMode="auto">
            <a:xfrm>
              <a:off x="9294836" y="5063352"/>
              <a:ext cx="621418" cy="67820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194393886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18">
            <a:extLst>
              <a:ext uri="{FF2B5EF4-FFF2-40B4-BE49-F238E27FC236}">
                <a16:creationId xmlns:a16="http://schemas.microsoft.com/office/drawing/2014/main" id="{5EE32D71-8EA8-4F51-9A4D-483CE4767E95}"/>
              </a:ext>
            </a:extLst>
          </p:cNvPr>
          <p:cNvSpPr/>
          <p:nvPr/>
        </p:nvSpPr>
        <p:spPr>
          <a:xfrm>
            <a:off x="3015427" y="1172238"/>
            <a:ext cx="6286222" cy="4566412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dirty="0">
              <a:latin typeface="OPPOSans M" panose="00020600040101010101" pitchFamily="18" charset="-122"/>
              <a:ea typeface="OPPOSans M" panose="00020600040101010101" pitchFamily="18" charset="-122"/>
              <a:sym typeface="+mn-ea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3C35F35-0D0B-BDBC-478B-23D7223FD1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78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C01FBE5-2997-DA5A-E679-2665D9279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目录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6F1E561-F548-2140-CB4E-A81D3F2686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12400" y="1447238"/>
            <a:ext cx="5807946" cy="419169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索引概述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B+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树索引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B+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树并发控制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哈希索引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zh-CN" sz="2400" b="1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SkipList</a:t>
            </a:r>
            <a:r>
              <a:rPr lang="zh-CN" altLang="en-US" sz="2400" b="1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跳表索引</a:t>
            </a:r>
            <a:endParaRPr lang="en-US" altLang="zh-CN" sz="2400" b="1" dirty="0">
              <a:solidFill>
                <a:srgbClr val="6F1787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LSM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树索引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位图索引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多维索引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0" indent="0">
              <a:buNone/>
            </a:pP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     ——R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树、</a:t>
            </a: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KD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树、</a:t>
            </a: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Quadtree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、</a:t>
            </a: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Z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曲线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F725F9-5EC3-90CE-2C91-413426E802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94310746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18">
            <a:extLst>
              <a:ext uri="{FF2B5EF4-FFF2-40B4-BE49-F238E27FC236}">
                <a16:creationId xmlns:a16="http://schemas.microsoft.com/office/drawing/2014/main" id="{860E8779-8879-4704-B32A-05E10DA43E2A}"/>
              </a:ext>
            </a:extLst>
          </p:cNvPr>
          <p:cNvSpPr/>
          <p:nvPr/>
        </p:nvSpPr>
        <p:spPr>
          <a:xfrm>
            <a:off x="1503763" y="3991707"/>
            <a:ext cx="9304799" cy="2312377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dirty="0">
              <a:latin typeface="微软雅黑" panose="020B0503020204020204" pitchFamily="82" charset="2"/>
              <a:ea typeface="微软雅黑" panose="020B0503020204020204" pitchFamily="82" charset="2"/>
              <a:sym typeface="+mn-ea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3C35F35-0D0B-BDBC-478B-23D7223FD1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79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C01FBE5-2997-DA5A-E679-2665D9279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目录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6F1E561-F548-2140-CB4E-A81D3F2686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6276" y="987085"/>
            <a:ext cx="10874188" cy="2341443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buFont typeface="+mj-lt"/>
              <a:buAutoNum type="arabicPeriod" startAt="5"/>
            </a:pPr>
            <a:r>
              <a:rPr lang="en-US" altLang="zh-CN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SkipList</a:t>
            </a: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跳表索引</a:t>
            </a:r>
            <a:endParaRPr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跳表结构：内存索引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跳表插入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跳表查询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跳表删除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A179B2-34D5-9E02-793B-4011A6E0C8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2F8C977-F27A-3EAA-8A21-753FC44F4BAF}"/>
              </a:ext>
            </a:extLst>
          </p:cNvPr>
          <p:cNvGrpSpPr/>
          <p:nvPr/>
        </p:nvGrpSpPr>
        <p:grpSpPr>
          <a:xfrm>
            <a:off x="2842830" y="4250548"/>
            <a:ext cx="7189193" cy="1832517"/>
            <a:chOff x="677712" y="4068763"/>
            <a:chExt cx="7790013" cy="1985665"/>
          </a:xfrm>
        </p:grpSpPr>
        <p:sp>
          <p:nvSpPr>
            <p:cNvPr id="7" name="Line 51">
              <a:extLst>
                <a:ext uri="{FF2B5EF4-FFF2-40B4-BE49-F238E27FC236}">
                  <a16:creationId xmlns:a16="http://schemas.microsoft.com/office/drawing/2014/main" id="{E56DF833-A10E-3CDC-D415-9000AD3051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1125" y="4449763"/>
              <a:ext cx="0" cy="129540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  <p:sp>
          <p:nvSpPr>
            <p:cNvPr id="8" name="Line 53">
              <a:extLst>
                <a:ext uri="{FF2B5EF4-FFF2-40B4-BE49-F238E27FC236}">
                  <a16:creationId xmlns:a16="http://schemas.microsoft.com/office/drawing/2014/main" id="{445B9ED2-F756-8068-0ECC-A2FD0897FB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00525" y="4906963"/>
              <a:ext cx="0" cy="83820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  <p:sp>
          <p:nvSpPr>
            <p:cNvPr id="9" name="Line 56">
              <a:extLst>
                <a:ext uri="{FF2B5EF4-FFF2-40B4-BE49-F238E27FC236}">
                  <a16:creationId xmlns:a16="http://schemas.microsoft.com/office/drawing/2014/main" id="{44F7B7DF-315C-A4E0-AF2F-513202C86D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15325" y="4449763"/>
              <a:ext cx="0" cy="129540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  <p:grpSp>
          <p:nvGrpSpPr>
            <p:cNvPr id="10" name="Group 4">
              <a:extLst>
                <a:ext uri="{FF2B5EF4-FFF2-40B4-BE49-F238E27FC236}">
                  <a16:creationId xmlns:a16="http://schemas.microsoft.com/office/drawing/2014/main" id="{3A741D57-C9FA-3C0C-D715-30746670B9F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87450" y="5740400"/>
              <a:ext cx="7280275" cy="215900"/>
              <a:chOff x="838" y="3693"/>
              <a:chExt cx="4586" cy="136"/>
            </a:xfrm>
          </p:grpSpPr>
          <p:sp>
            <p:nvSpPr>
              <p:cNvPr id="38" name="Rectangle 5">
                <a:extLst>
                  <a:ext uri="{FF2B5EF4-FFF2-40B4-BE49-F238E27FC236}">
                    <a16:creationId xmlns:a16="http://schemas.microsoft.com/office/drawing/2014/main" id="{3C97F6E0-F648-1672-9212-0A51AC5F39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96" y="3693"/>
                <a:ext cx="229" cy="136"/>
              </a:xfrm>
              <a:prstGeom prst="rect">
                <a:avLst/>
              </a:prstGeom>
              <a:solidFill>
                <a:srgbClr val="CCCC00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82" charset="2"/>
                    <a:ea typeface="微软雅黑" panose="020B0503020204020204" pitchFamily="82" charset="2"/>
                  </a:rPr>
                  <a:t>56</a:t>
                </a:r>
              </a:p>
            </p:txBody>
          </p:sp>
          <p:sp>
            <p:nvSpPr>
              <p:cNvPr id="39" name="Rectangle 6">
                <a:extLst>
                  <a:ext uri="{FF2B5EF4-FFF2-40B4-BE49-F238E27FC236}">
                    <a16:creationId xmlns:a16="http://schemas.microsoft.com/office/drawing/2014/main" id="{860A1A3A-C412-ACA6-24C8-E85C00812E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0" y="3693"/>
                <a:ext cx="227" cy="136"/>
              </a:xfrm>
              <a:prstGeom prst="rect">
                <a:avLst/>
              </a:prstGeom>
              <a:solidFill>
                <a:srgbClr val="CCCC00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82" charset="2"/>
                    <a:ea typeface="微软雅黑" panose="020B0503020204020204" pitchFamily="82" charset="2"/>
                  </a:rPr>
                  <a:t>64</a:t>
                </a:r>
              </a:p>
            </p:txBody>
          </p:sp>
          <p:sp>
            <p:nvSpPr>
              <p:cNvPr id="40" name="Rectangle 7">
                <a:extLst>
                  <a:ext uri="{FF2B5EF4-FFF2-40B4-BE49-F238E27FC236}">
                    <a16:creationId xmlns:a16="http://schemas.microsoft.com/office/drawing/2014/main" id="{DE278AB7-942F-5CB7-923A-0C58FBA07F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62" y="3693"/>
                <a:ext cx="228" cy="136"/>
              </a:xfrm>
              <a:prstGeom prst="rect">
                <a:avLst/>
              </a:prstGeom>
              <a:solidFill>
                <a:srgbClr val="CCCC00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82" charset="2"/>
                    <a:ea typeface="微软雅黑" panose="020B0503020204020204" pitchFamily="82" charset="2"/>
                  </a:rPr>
                  <a:t>78</a:t>
                </a:r>
              </a:p>
            </p:txBody>
          </p:sp>
          <p:sp>
            <p:nvSpPr>
              <p:cNvPr id="41" name="Rectangle 8">
                <a:extLst>
                  <a:ext uri="{FF2B5EF4-FFF2-40B4-BE49-F238E27FC236}">
                    <a16:creationId xmlns:a16="http://schemas.microsoft.com/office/drawing/2014/main" id="{7330A1C5-D29B-88D0-CBC1-0E0B69A8CD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96" y="3693"/>
                <a:ext cx="228" cy="136"/>
              </a:xfrm>
              <a:prstGeom prst="rect">
                <a:avLst/>
              </a:prstGeom>
              <a:solidFill>
                <a:srgbClr val="CCCC00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82" charset="2"/>
                    <a:ea typeface="微软雅黑" panose="020B0503020204020204" pitchFamily="82" charset="2"/>
                    <a:sym typeface="Symbol" pitchFamily="2" charset="2"/>
                  </a:rPr>
                  <a:t>+</a:t>
                </a:r>
                <a:endPara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82" charset="2"/>
                  <a:ea typeface="微软雅黑" panose="020B0503020204020204" pitchFamily="82" charset="2"/>
                </a:endParaRPr>
              </a:p>
            </p:txBody>
          </p:sp>
          <p:sp>
            <p:nvSpPr>
              <p:cNvPr id="42" name="Rectangle 9">
                <a:extLst>
                  <a:ext uri="{FF2B5EF4-FFF2-40B4-BE49-F238E27FC236}">
                    <a16:creationId xmlns:a16="http://schemas.microsoft.com/office/drawing/2014/main" id="{65DFBC5C-856F-AF96-775D-D6CDDEFAAE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10" y="3693"/>
                <a:ext cx="228" cy="136"/>
              </a:xfrm>
              <a:prstGeom prst="rect">
                <a:avLst/>
              </a:prstGeom>
              <a:solidFill>
                <a:srgbClr val="CCCC00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82" charset="2"/>
                    <a:ea typeface="微软雅黑" panose="020B0503020204020204" pitchFamily="82" charset="2"/>
                  </a:rPr>
                  <a:t>31</a:t>
                </a:r>
              </a:p>
            </p:txBody>
          </p:sp>
          <p:sp>
            <p:nvSpPr>
              <p:cNvPr id="43" name="Rectangle 10">
                <a:extLst>
                  <a:ext uri="{FF2B5EF4-FFF2-40B4-BE49-F238E27FC236}">
                    <a16:creationId xmlns:a16="http://schemas.microsoft.com/office/drawing/2014/main" id="{B97D8B8A-76B4-DE5A-A87C-2F0DA3703C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43" y="3693"/>
                <a:ext cx="229" cy="136"/>
              </a:xfrm>
              <a:prstGeom prst="rect">
                <a:avLst/>
              </a:prstGeom>
              <a:solidFill>
                <a:srgbClr val="CCCC00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82" charset="2"/>
                    <a:ea typeface="微软雅黑" panose="020B0503020204020204" pitchFamily="82" charset="2"/>
                  </a:rPr>
                  <a:t>34</a:t>
                </a:r>
              </a:p>
            </p:txBody>
          </p:sp>
          <p:sp>
            <p:nvSpPr>
              <p:cNvPr id="44" name="Rectangle 11">
                <a:extLst>
                  <a:ext uri="{FF2B5EF4-FFF2-40B4-BE49-F238E27FC236}">
                    <a16:creationId xmlns:a16="http://schemas.microsoft.com/office/drawing/2014/main" id="{5079704C-5FDF-9484-2FCB-B8EED25E03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62" y="3693"/>
                <a:ext cx="229" cy="136"/>
              </a:xfrm>
              <a:prstGeom prst="rect">
                <a:avLst/>
              </a:prstGeom>
              <a:solidFill>
                <a:srgbClr val="CCCC00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82" charset="2"/>
                    <a:ea typeface="微软雅黑" panose="020B0503020204020204" pitchFamily="82" charset="2"/>
                  </a:rPr>
                  <a:t>44</a:t>
                </a:r>
              </a:p>
            </p:txBody>
          </p:sp>
          <p:sp>
            <p:nvSpPr>
              <p:cNvPr id="45" name="Rectangle 12">
                <a:extLst>
                  <a:ext uri="{FF2B5EF4-FFF2-40B4-BE49-F238E27FC236}">
                    <a16:creationId xmlns:a16="http://schemas.microsoft.com/office/drawing/2014/main" id="{5DD77B4C-1536-1582-8FE7-FAD2DBDCAF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8" y="3693"/>
                <a:ext cx="229" cy="136"/>
              </a:xfrm>
              <a:prstGeom prst="rect">
                <a:avLst/>
              </a:prstGeom>
              <a:solidFill>
                <a:srgbClr val="CCCC00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82" charset="2"/>
                    <a:ea typeface="微软雅黑" panose="020B0503020204020204" pitchFamily="82" charset="2"/>
                    <a:sym typeface="Symbol" pitchFamily="2" charset="2"/>
                  </a:rPr>
                  <a:t>-</a:t>
                </a:r>
              </a:p>
            </p:txBody>
          </p:sp>
          <p:sp>
            <p:nvSpPr>
              <p:cNvPr id="46" name="Rectangle 13">
                <a:extLst>
                  <a:ext uri="{FF2B5EF4-FFF2-40B4-BE49-F238E27FC236}">
                    <a16:creationId xmlns:a16="http://schemas.microsoft.com/office/drawing/2014/main" id="{A8FEA91D-B8E0-FD50-82FD-2FB6128BF6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72" y="3693"/>
                <a:ext cx="229" cy="136"/>
              </a:xfrm>
              <a:prstGeom prst="rect">
                <a:avLst/>
              </a:prstGeom>
              <a:solidFill>
                <a:srgbClr val="CCCC00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82" charset="2"/>
                    <a:ea typeface="微软雅黑" panose="020B0503020204020204" pitchFamily="82" charset="2"/>
                  </a:rPr>
                  <a:t>12</a:t>
                </a:r>
              </a:p>
            </p:txBody>
          </p:sp>
          <p:sp>
            <p:nvSpPr>
              <p:cNvPr id="47" name="Rectangle 14">
                <a:extLst>
                  <a:ext uri="{FF2B5EF4-FFF2-40B4-BE49-F238E27FC236}">
                    <a16:creationId xmlns:a16="http://schemas.microsoft.com/office/drawing/2014/main" id="{B9640EDB-C42A-8D6A-5F32-60D678F540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05" y="3693"/>
                <a:ext cx="229" cy="136"/>
              </a:xfrm>
              <a:prstGeom prst="rect">
                <a:avLst/>
              </a:prstGeom>
              <a:solidFill>
                <a:srgbClr val="CCCC00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82" charset="2"/>
                    <a:ea typeface="微软雅黑" panose="020B0503020204020204" pitchFamily="82" charset="2"/>
                  </a:rPr>
                  <a:t>23</a:t>
                </a:r>
              </a:p>
            </p:txBody>
          </p:sp>
          <p:sp>
            <p:nvSpPr>
              <p:cNvPr id="48" name="Rectangle 15">
                <a:extLst>
                  <a:ext uri="{FF2B5EF4-FFF2-40B4-BE49-F238E27FC236}">
                    <a16:creationId xmlns:a16="http://schemas.microsoft.com/office/drawing/2014/main" id="{7E03A2C4-DE29-617A-9D8E-FC2A58C719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39" y="3693"/>
                <a:ext cx="229" cy="136"/>
              </a:xfrm>
              <a:prstGeom prst="rect">
                <a:avLst/>
              </a:prstGeom>
              <a:solidFill>
                <a:srgbClr val="CCCC00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82" charset="2"/>
                    <a:ea typeface="微软雅黑" panose="020B0503020204020204" pitchFamily="82" charset="2"/>
                  </a:rPr>
                  <a:t>26</a:t>
                </a:r>
              </a:p>
            </p:txBody>
          </p:sp>
          <p:cxnSp>
            <p:nvCxnSpPr>
              <p:cNvPr id="49" name="AutoShape 16">
                <a:extLst>
                  <a:ext uri="{FF2B5EF4-FFF2-40B4-BE49-F238E27FC236}">
                    <a16:creationId xmlns:a16="http://schemas.microsoft.com/office/drawing/2014/main" id="{6D11DE43-7A46-5625-E775-7B88A7860E80}"/>
                  </a:ext>
                </a:extLst>
              </p:cNvPr>
              <p:cNvCxnSpPr>
                <a:cxnSpLocks noChangeShapeType="1"/>
                <a:stCxn id="45" idx="3"/>
                <a:endCxn id="46" idx="1"/>
              </p:cNvCxnSpPr>
              <p:nvPr/>
            </p:nvCxnSpPr>
            <p:spPr bwMode="auto">
              <a:xfrm>
                <a:off x="1073" y="3761"/>
                <a:ext cx="193" cy="0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50" name="AutoShape 17">
                <a:extLst>
                  <a:ext uri="{FF2B5EF4-FFF2-40B4-BE49-F238E27FC236}">
                    <a16:creationId xmlns:a16="http://schemas.microsoft.com/office/drawing/2014/main" id="{DDA6CD4D-51D5-BD1E-444E-F7ADAEA5AEE6}"/>
                  </a:ext>
                </a:extLst>
              </p:cNvPr>
              <p:cNvCxnSpPr>
                <a:cxnSpLocks noChangeShapeType="1"/>
                <a:stCxn id="47" idx="3"/>
                <a:endCxn id="48" idx="1"/>
              </p:cNvCxnSpPr>
              <p:nvPr/>
            </p:nvCxnSpPr>
            <p:spPr bwMode="auto">
              <a:xfrm>
                <a:off x="1940" y="3761"/>
                <a:ext cx="193" cy="0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51" name="AutoShape 18">
                <a:extLst>
                  <a:ext uri="{FF2B5EF4-FFF2-40B4-BE49-F238E27FC236}">
                    <a16:creationId xmlns:a16="http://schemas.microsoft.com/office/drawing/2014/main" id="{032C8B06-5CBF-1E22-7C12-9AC600F9F931}"/>
                  </a:ext>
                </a:extLst>
              </p:cNvPr>
              <p:cNvCxnSpPr>
                <a:cxnSpLocks noChangeShapeType="1"/>
                <a:stCxn id="42" idx="3"/>
                <a:endCxn id="43" idx="1"/>
              </p:cNvCxnSpPr>
              <p:nvPr/>
            </p:nvCxnSpPr>
            <p:spPr bwMode="auto">
              <a:xfrm>
                <a:off x="2844" y="3761"/>
                <a:ext cx="193" cy="0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52" name="AutoShape 19">
                <a:extLst>
                  <a:ext uri="{FF2B5EF4-FFF2-40B4-BE49-F238E27FC236}">
                    <a16:creationId xmlns:a16="http://schemas.microsoft.com/office/drawing/2014/main" id="{199E74BF-9C9E-F637-6558-E3D8A38B0021}"/>
                  </a:ext>
                </a:extLst>
              </p:cNvPr>
              <p:cNvCxnSpPr>
                <a:cxnSpLocks noChangeShapeType="1"/>
                <a:stCxn id="46" idx="3"/>
                <a:endCxn id="47" idx="1"/>
              </p:cNvCxnSpPr>
              <p:nvPr/>
            </p:nvCxnSpPr>
            <p:spPr bwMode="auto">
              <a:xfrm>
                <a:off x="1507" y="3761"/>
                <a:ext cx="192" cy="0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53" name="AutoShape 20">
                <a:extLst>
                  <a:ext uri="{FF2B5EF4-FFF2-40B4-BE49-F238E27FC236}">
                    <a16:creationId xmlns:a16="http://schemas.microsoft.com/office/drawing/2014/main" id="{9FD19B60-3414-3F85-5205-A7B4488A4275}"/>
                  </a:ext>
                </a:extLst>
              </p:cNvPr>
              <p:cNvCxnSpPr>
                <a:cxnSpLocks noChangeShapeType="1"/>
                <a:stCxn id="48" idx="3"/>
                <a:endCxn id="42" idx="1"/>
              </p:cNvCxnSpPr>
              <p:nvPr/>
            </p:nvCxnSpPr>
            <p:spPr bwMode="auto">
              <a:xfrm>
                <a:off x="2374" y="3761"/>
                <a:ext cx="230" cy="0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54" name="AutoShape 21">
                <a:extLst>
                  <a:ext uri="{FF2B5EF4-FFF2-40B4-BE49-F238E27FC236}">
                    <a16:creationId xmlns:a16="http://schemas.microsoft.com/office/drawing/2014/main" id="{CC86093F-CBD9-63F4-DC61-D2D6160786D5}"/>
                  </a:ext>
                </a:extLst>
              </p:cNvPr>
              <p:cNvCxnSpPr>
                <a:cxnSpLocks noChangeShapeType="1"/>
                <a:stCxn id="43" idx="3"/>
                <a:endCxn id="44" idx="1"/>
              </p:cNvCxnSpPr>
              <p:nvPr/>
            </p:nvCxnSpPr>
            <p:spPr bwMode="auto">
              <a:xfrm>
                <a:off x="3278" y="3761"/>
                <a:ext cx="178" cy="0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55" name="AutoShape 22">
                <a:extLst>
                  <a:ext uri="{FF2B5EF4-FFF2-40B4-BE49-F238E27FC236}">
                    <a16:creationId xmlns:a16="http://schemas.microsoft.com/office/drawing/2014/main" id="{ED60BEBD-EF09-A92D-4189-D24AEA1821C9}"/>
                  </a:ext>
                </a:extLst>
              </p:cNvPr>
              <p:cNvCxnSpPr>
                <a:cxnSpLocks noChangeShapeType="1"/>
                <a:stCxn id="44" idx="3"/>
                <a:endCxn id="38" idx="1"/>
              </p:cNvCxnSpPr>
              <p:nvPr/>
            </p:nvCxnSpPr>
            <p:spPr bwMode="auto">
              <a:xfrm>
                <a:off x="3697" y="3761"/>
                <a:ext cx="193" cy="0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56" name="AutoShape 23">
                <a:extLst>
                  <a:ext uri="{FF2B5EF4-FFF2-40B4-BE49-F238E27FC236}">
                    <a16:creationId xmlns:a16="http://schemas.microsoft.com/office/drawing/2014/main" id="{45466457-FBCA-A8F4-4FF1-1937AAF577C1}"/>
                  </a:ext>
                </a:extLst>
              </p:cNvPr>
              <p:cNvCxnSpPr>
                <a:cxnSpLocks noChangeShapeType="1"/>
                <a:stCxn id="38" idx="3"/>
                <a:endCxn id="39" idx="1"/>
              </p:cNvCxnSpPr>
              <p:nvPr/>
            </p:nvCxnSpPr>
            <p:spPr bwMode="auto">
              <a:xfrm>
                <a:off x="4131" y="3761"/>
                <a:ext cx="193" cy="0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57" name="AutoShape 24">
                <a:extLst>
                  <a:ext uri="{FF2B5EF4-FFF2-40B4-BE49-F238E27FC236}">
                    <a16:creationId xmlns:a16="http://schemas.microsoft.com/office/drawing/2014/main" id="{9A9031D7-64F1-9544-C71A-593E80B1D711}"/>
                  </a:ext>
                </a:extLst>
              </p:cNvPr>
              <p:cNvCxnSpPr>
                <a:cxnSpLocks noChangeShapeType="1"/>
                <a:stCxn id="39" idx="3"/>
                <a:endCxn id="40" idx="1"/>
              </p:cNvCxnSpPr>
              <p:nvPr/>
            </p:nvCxnSpPr>
            <p:spPr bwMode="auto">
              <a:xfrm>
                <a:off x="4563" y="3761"/>
                <a:ext cx="193" cy="0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58" name="AutoShape 25">
                <a:extLst>
                  <a:ext uri="{FF2B5EF4-FFF2-40B4-BE49-F238E27FC236}">
                    <a16:creationId xmlns:a16="http://schemas.microsoft.com/office/drawing/2014/main" id="{8D959DA2-E167-EAC4-E68D-AB90D9AE2668}"/>
                  </a:ext>
                </a:extLst>
              </p:cNvPr>
              <p:cNvCxnSpPr>
                <a:cxnSpLocks noChangeShapeType="1"/>
                <a:stCxn id="40" idx="3"/>
                <a:endCxn id="41" idx="1"/>
              </p:cNvCxnSpPr>
              <p:nvPr/>
            </p:nvCxnSpPr>
            <p:spPr bwMode="auto">
              <a:xfrm>
                <a:off x="4996" y="3761"/>
                <a:ext cx="194" cy="0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11" name="Group 26">
              <a:extLst>
                <a:ext uri="{FF2B5EF4-FFF2-40B4-BE49-F238E27FC236}">
                  <a16:creationId xmlns:a16="http://schemas.microsoft.com/office/drawing/2014/main" id="{E3AA587D-C91B-1006-D574-F02BCFB67F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87450" y="4221163"/>
              <a:ext cx="7280275" cy="215900"/>
              <a:chOff x="838" y="2736"/>
              <a:chExt cx="4586" cy="136"/>
            </a:xfrm>
          </p:grpSpPr>
          <p:sp>
            <p:nvSpPr>
              <p:cNvPr id="35" name="Rectangle 27">
                <a:extLst>
                  <a:ext uri="{FF2B5EF4-FFF2-40B4-BE49-F238E27FC236}">
                    <a16:creationId xmlns:a16="http://schemas.microsoft.com/office/drawing/2014/main" id="{6D34488A-B3AE-5986-AF3E-CDE190F664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96" y="2736"/>
                <a:ext cx="228" cy="136"/>
              </a:xfrm>
              <a:prstGeom prst="rect">
                <a:avLst/>
              </a:prstGeom>
              <a:solidFill>
                <a:srgbClr val="CCCC00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82" charset="2"/>
                    <a:ea typeface="微软雅黑" panose="020B0503020204020204" pitchFamily="82" charset="2"/>
                    <a:sym typeface="Symbol" pitchFamily="2" charset="2"/>
                  </a:rPr>
                  <a:t>+</a:t>
                </a:r>
                <a:endPara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82" charset="2"/>
                  <a:ea typeface="微软雅黑" panose="020B0503020204020204" pitchFamily="82" charset="2"/>
                </a:endParaRPr>
              </a:p>
            </p:txBody>
          </p:sp>
          <p:sp>
            <p:nvSpPr>
              <p:cNvPr id="36" name="Rectangle 28">
                <a:extLst>
                  <a:ext uri="{FF2B5EF4-FFF2-40B4-BE49-F238E27FC236}">
                    <a16:creationId xmlns:a16="http://schemas.microsoft.com/office/drawing/2014/main" id="{FABAF376-C63A-9A1D-74AE-2E2F40DFBF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8" y="2736"/>
                <a:ext cx="229" cy="136"/>
              </a:xfrm>
              <a:prstGeom prst="rect">
                <a:avLst/>
              </a:prstGeom>
              <a:solidFill>
                <a:srgbClr val="CCCC00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82" charset="2"/>
                    <a:ea typeface="微软雅黑" panose="020B0503020204020204" pitchFamily="82" charset="2"/>
                    <a:sym typeface="Symbol" pitchFamily="2" charset="2"/>
                  </a:rPr>
                  <a:t>-</a:t>
                </a:r>
              </a:p>
            </p:txBody>
          </p:sp>
          <p:cxnSp>
            <p:nvCxnSpPr>
              <p:cNvPr id="37" name="AutoShape 29">
                <a:extLst>
                  <a:ext uri="{FF2B5EF4-FFF2-40B4-BE49-F238E27FC236}">
                    <a16:creationId xmlns:a16="http://schemas.microsoft.com/office/drawing/2014/main" id="{19D68BB9-DB5C-8BC0-AFF0-D53396441754}"/>
                  </a:ext>
                </a:extLst>
              </p:cNvPr>
              <p:cNvCxnSpPr>
                <a:cxnSpLocks noChangeShapeType="1"/>
                <a:stCxn id="36" idx="3"/>
                <a:endCxn id="35" idx="1"/>
              </p:cNvCxnSpPr>
              <p:nvPr/>
            </p:nvCxnSpPr>
            <p:spPr bwMode="auto">
              <a:xfrm>
                <a:off x="1073" y="2804"/>
                <a:ext cx="4117" cy="0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12" name="Rectangle 30">
              <a:extLst>
                <a:ext uri="{FF2B5EF4-FFF2-40B4-BE49-F238E27FC236}">
                  <a16:creationId xmlns:a16="http://schemas.microsoft.com/office/drawing/2014/main" id="{A435496D-5400-3646-41FA-1C15C49E89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05775" y="4727575"/>
              <a:ext cx="361950" cy="215900"/>
            </a:xfrm>
            <a:prstGeom prst="rect">
              <a:avLst/>
            </a:prstGeom>
            <a:solidFill>
              <a:srgbClr val="CCCC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82" charset="2"/>
                  <a:ea typeface="微软雅黑" panose="020B0503020204020204" pitchFamily="82" charset="2"/>
                  <a:sym typeface="Symbol" pitchFamily="2" charset="2"/>
                </a:rPr>
                <a:t>+</a:t>
              </a:r>
              <a:endPara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  <p:sp>
          <p:nvSpPr>
            <p:cNvPr id="13" name="Rectangle 31">
              <a:extLst>
                <a:ext uri="{FF2B5EF4-FFF2-40B4-BE49-F238E27FC236}">
                  <a16:creationId xmlns:a16="http://schemas.microsoft.com/office/drawing/2014/main" id="{A6DFEE70-F9DD-E7AE-231D-48996C38FB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0500" y="4727575"/>
              <a:ext cx="361950" cy="215900"/>
            </a:xfrm>
            <a:prstGeom prst="rect">
              <a:avLst/>
            </a:prstGeom>
            <a:solidFill>
              <a:srgbClr val="CCCC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5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82" charset="2"/>
                  <a:ea typeface="微软雅黑" panose="020B0503020204020204" pitchFamily="82" charset="2"/>
                </a:rPr>
                <a:t>31</a:t>
              </a:r>
            </a:p>
          </p:txBody>
        </p:sp>
        <p:sp>
          <p:nvSpPr>
            <p:cNvPr id="14" name="Rectangle 32">
              <a:extLst>
                <a:ext uri="{FF2B5EF4-FFF2-40B4-BE49-F238E27FC236}">
                  <a16:creationId xmlns:a16="http://schemas.microsoft.com/office/drawing/2014/main" id="{6F85A540-9D67-0572-09FC-4A187B8537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7450" y="4727575"/>
              <a:ext cx="363538" cy="215900"/>
            </a:xfrm>
            <a:prstGeom prst="rect">
              <a:avLst/>
            </a:prstGeom>
            <a:solidFill>
              <a:srgbClr val="CCCC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82" charset="2"/>
                  <a:ea typeface="微软雅黑" panose="020B0503020204020204" pitchFamily="82" charset="2"/>
                  <a:sym typeface="Symbol" pitchFamily="2" charset="2"/>
                </a:rPr>
                <a:t>-</a:t>
              </a:r>
              <a:endPara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  <p:cxnSp>
          <p:nvCxnSpPr>
            <p:cNvPr id="15" name="AutoShape 33">
              <a:extLst>
                <a:ext uri="{FF2B5EF4-FFF2-40B4-BE49-F238E27FC236}">
                  <a16:creationId xmlns:a16="http://schemas.microsoft.com/office/drawing/2014/main" id="{1C1D8132-0DD6-E6E7-4266-6D96FA6EA37A}"/>
                </a:ext>
              </a:extLst>
            </p:cNvPr>
            <p:cNvCxnSpPr>
              <a:cxnSpLocks noChangeShapeType="1"/>
              <a:stCxn id="14" idx="3"/>
              <a:endCxn id="13" idx="1"/>
            </p:cNvCxnSpPr>
            <p:nvPr/>
          </p:nvCxnSpPr>
          <p:spPr bwMode="auto">
            <a:xfrm>
              <a:off x="1560513" y="4835525"/>
              <a:ext cx="2430462" cy="0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6" name="AutoShape 34">
              <a:extLst>
                <a:ext uri="{FF2B5EF4-FFF2-40B4-BE49-F238E27FC236}">
                  <a16:creationId xmlns:a16="http://schemas.microsoft.com/office/drawing/2014/main" id="{819EEDAC-58EF-068D-6638-D21FDC3F839F}"/>
                </a:ext>
              </a:extLst>
            </p:cNvPr>
            <p:cNvCxnSpPr>
              <a:cxnSpLocks noChangeShapeType="1"/>
              <a:stCxn id="13" idx="3"/>
              <a:endCxn id="12" idx="1"/>
            </p:cNvCxnSpPr>
            <p:nvPr/>
          </p:nvCxnSpPr>
          <p:spPr bwMode="auto">
            <a:xfrm>
              <a:off x="4371975" y="4835525"/>
              <a:ext cx="3724275" cy="0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7" name="Rectangle 35">
              <a:extLst>
                <a:ext uri="{FF2B5EF4-FFF2-40B4-BE49-F238E27FC236}">
                  <a16:creationId xmlns:a16="http://schemas.microsoft.com/office/drawing/2014/main" id="{1F07AA7F-B838-2A98-55F4-C78833E8B6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31000" y="5233988"/>
              <a:ext cx="360363" cy="215900"/>
            </a:xfrm>
            <a:prstGeom prst="rect">
              <a:avLst/>
            </a:prstGeom>
            <a:solidFill>
              <a:srgbClr val="CCCC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5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82" charset="2"/>
                  <a:ea typeface="微软雅黑" panose="020B0503020204020204" pitchFamily="82" charset="2"/>
                </a:rPr>
                <a:t>64</a:t>
              </a:r>
            </a:p>
          </p:txBody>
        </p:sp>
        <p:sp>
          <p:nvSpPr>
            <p:cNvPr id="18" name="Rectangle 36">
              <a:extLst>
                <a:ext uri="{FF2B5EF4-FFF2-40B4-BE49-F238E27FC236}">
                  <a16:creationId xmlns:a16="http://schemas.microsoft.com/office/drawing/2014/main" id="{42363D04-FC92-56F5-9C3C-A1069B012A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05775" y="5233988"/>
              <a:ext cx="361950" cy="215900"/>
            </a:xfrm>
            <a:prstGeom prst="rect">
              <a:avLst/>
            </a:prstGeom>
            <a:solidFill>
              <a:srgbClr val="CCCC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82" charset="2"/>
                  <a:ea typeface="微软雅黑" panose="020B0503020204020204" pitchFamily="82" charset="2"/>
                  <a:sym typeface="Symbol" pitchFamily="2" charset="2"/>
                </a:rPr>
                <a:t>+</a:t>
              </a:r>
              <a:endPara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  <p:sp>
          <p:nvSpPr>
            <p:cNvPr id="19" name="Rectangle 37">
              <a:extLst>
                <a:ext uri="{FF2B5EF4-FFF2-40B4-BE49-F238E27FC236}">
                  <a16:creationId xmlns:a16="http://schemas.microsoft.com/office/drawing/2014/main" id="{9E6D9822-C9D1-6E1F-BD25-904F6E4173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0500" y="5233988"/>
              <a:ext cx="361950" cy="215900"/>
            </a:xfrm>
            <a:prstGeom prst="rect">
              <a:avLst/>
            </a:prstGeom>
            <a:solidFill>
              <a:srgbClr val="CCCC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5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82" charset="2"/>
                  <a:ea typeface="微软雅黑" panose="020B0503020204020204" pitchFamily="82" charset="2"/>
                </a:rPr>
                <a:t>31</a:t>
              </a:r>
            </a:p>
          </p:txBody>
        </p:sp>
        <p:sp>
          <p:nvSpPr>
            <p:cNvPr id="20" name="Rectangle 38">
              <a:extLst>
                <a:ext uri="{FF2B5EF4-FFF2-40B4-BE49-F238E27FC236}">
                  <a16:creationId xmlns:a16="http://schemas.microsoft.com/office/drawing/2014/main" id="{6DAA1469-B076-B9F8-209F-33F8957307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7888" y="5233988"/>
              <a:ext cx="363537" cy="215900"/>
            </a:xfrm>
            <a:prstGeom prst="rect">
              <a:avLst/>
            </a:prstGeom>
            <a:solidFill>
              <a:srgbClr val="CCCC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5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82" charset="2"/>
                  <a:ea typeface="微软雅黑" panose="020B0503020204020204" pitchFamily="82" charset="2"/>
                </a:rPr>
                <a:t>34</a:t>
              </a:r>
            </a:p>
          </p:txBody>
        </p:sp>
        <p:sp>
          <p:nvSpPr>
            <p:cNvPr id="21" name="Rectangle 39">
              <a:extLst>
                <a:ext uri="{FF2B5EF4-FFF2-40B4-BE49-F238E27FC236}">
                  <a16:creationId xmlns:a16="http://schemas.microsoft.com/office/drawing/2014/main" id="{B0DBCBF2-7804-4C3E-6537-6A891204DB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7450" y="5233988"/>
              <a:ext cx="363538" cy="215900"/>
            </a:xfrm>
            <a:prstGeom prst="rect">
              <a:avLst/>
            </a:prstGeom>
            <a:solidFill>
              <a:srgbClr val="CCCC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82" charset="2"/>
                  <a:ea typeface="微软雅黑" panose="020B0503020204020204" pitchFamily="82" charset="2"/>
                  <a:sym typeface="Symbol" pitchFamily="2" charset="2"/>
                </a:rPr>
                <a:t>-</a:t>
              </a:r>
              <a:endPara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  <p:sp>
          <p:nvSpPr>
            <p:cNvPr id="22" name="Rectangle 40">
              <a:extLst>
                <a:ext uri="{FF2B5EF4-FFF2-40B4-BE49-F238E27FC236}">
                  <a16:creationId xmlns:a16="http://schemas.microsoft.com/office/drawing/2014/main" id="{498BB698-EBEF-0A64-14F7-F460F7D96A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3813" y="5233988"/>
              <a:ext cx="363537" cy="215900"/>
            </a:xfrm>
            <a:prstGeom prst="rect">
              <a:avLst/>
            </a:prstGeom>
            <a:solidFill>
              <a:srgbClr val="CCCC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5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82" charset="2"/>
                  <a:ea typeface="微软雅黑" panose="020B0503020204020204" pitchFamily="82" charset="2"/>
                </a:rPr>
                <a:t>23</a:t>
              </a:r>
            </a:p>
          </p:txBody>
        </p:sp>
        <p:cxnSp>
          <p:nvCxnSpPr>
            <p:cNvPr id="23" name="AutoShape 41">
              <a:extLst>
                <a:ext uri="{FF2B5EF4-FFF2-40B4-BE49-F238E27FC236}">
                  <a16:creationId xmlns:a16="http://schemas.microsoft.com/office/drawing/2014/main" id="{81F34260-5721-9F0A-2763-6BA2FB5459C0}"/>
                </a:ext>
              </a:extLst>
            </p:cNvPr>
            <p:cNvCxnSpPr>
              <a:cxnSpLocks noChangeShapeType="1"/>
              <a:stCxn id="21" idx="3"/>
              <a:endCxn id="22" idx="1"/>
            </p:cNvCxnSpPr>
            <p:nvPr/>
          </p:nvCxnSpPr>
          <p:spPr bwMode="auto">
            <a:xfrm>
              <a:off x="1560513" y="5341938"/>
              <a:ext cx="993775" cy="0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" name="AutoShape 42">
              <a:extLst>
                <a:ext uri="{FF2B5EF4-FFF2-40B4-BE49-F238E27FC236}">
                  <a16:creationId xmlns:a16="http://schemas.microsoft.com/office/drawing/2014/main" id="{21B6701A-28AB-C460-8B29-7E267AE24A15}"/>
                </a:ext>
              </a:extLst>
            </p:cNvPr>
            <p:cNvCxnSpPr>
              <a:cxnSpLocks noChangeShapeType="1"/>
              <a:stCxn id="22" idx="3"/>
              <a:endCxn id="19" idx="1"/>
            </p:cNvCxnSpPr>
            <p:nvPr/>
          </p:nvCxnSpPr>
          <p:spPr bwMode="auto">
            <a:xfrm>
              <a:off x="2936875" y="5341938"/>
              <a:ext cx="1054100" cy="0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5" name="AutoShape 43">
              <a:extLst>
                <a:ext uri="{FF2B5EF4-FFF2-40B4-BE49-F238E27FC236}">
                  <a16:creationId xmlns:a16="http://schemas.microsoft.com/office/drawing/2014/main" id="{7EBBC514-5A26-2FAD-9BD3-C74E86A8A553}"/>
                </a:ext>
              </a:extLst>
            </p:cNvPr>
            <p:cNvCxnSpPr>
              <a:cxnSpLocks noChangeShapeType="1"/>
              <a:stCxn id="19" idx="3"/>
              <a:endCxn id="20" idx="1"/>
            </p:cNvCxnSpPr>
            <p:nvPr/>
          </p:nvCxnSpPr>
          <p:spPr bwMode="auto">
            <a:xfrm>
              <a:off x="4371975" y="5341938"/>
              <a:ext cx="306388" cy="0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" name="AutoShape 44">
              <a:extLst>
                <a:ext uri="{FF2B5EF4-FFF2-40B4-BE49-F238E27FC236}">
                  <a16:creationId xmlns:a16="http://schemas.microsoft.com/office/drawing/2014/main" id="{AA08CB5F-52C7-129F-2C4B-49177D833D60}"/>
                </a:ext>
              </a:extLst>
            </p:cNvPr>
            <p:cNvCxnSpPr>
              <a:cxnSpLocks noChangeShapeType="1"/>
              <a:stCxn id="20" idx="3"/>
              <a:endCxn id="17" idx="1"/>
            </p:cNvCxnSpPr>
            <p:nvPr/>
          </p:nvCxnSpPr>
          <p:spPr bwMode="auto">
            <a:xfrm>
              <a:off x="5060950" y="5341938"/>
              <a:ext cx="1660525" cy="0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7" name="AutoShape 45">
              <a:extLst>
                <a:ext uri="{FF2B5EF4-FFF2-40B4-BE49-F238E27FC236}">
                  <a16:creationId xmlns:a16="http://schemas.microsoft.com/office/drawing/2014/main" id="{558B51BA-73AC-E156-D1ED-FE25C503CD2A}"/>
                </a:ext>
              </a:extLst>
            </p:cNvPr>
            <p:cNvCxnSpPr>
              <a:cxnSpLocks noChangeShapeType="1"/>
              <a:stCxn id="17" idx="3"/>
              <a:endCxn id="18" idx="1"/>
            </p:cNvCxnSpPr>
            <p:nvPr/>
          </p:nvCxnSpPr>
          <p:spPr bwMode="auto">
            <a:xfrm>
              <a:off x="7100888" y="5341938"/>
              <a:ext cx="995362" cy="0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" name="Text Box 46">
              <a:extLst>
                <a:ext uri="{FF2B5EF4-FFF2-40B4-BE49-F238E27FC236}">
                  <a16:creationId xmlns:a16="http://schemas.microsoft.com/office/drawing/2014/main" id="{1A87A57C-DE7D-6613-95FE-195CFB0F7C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7712" y="5592763"/>
              <a:ext cx="49084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>
                  <a:solidFill>
                    <a:srgbClr val="000000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S</a:t>
              </a:r>
              <a:r>
                <a:rPr lang="en-US" altLang="zh-CN" sz="2400" baseline="-25000">
                  <a:solidFill>
                    <a:srgbClr val="000000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0</a:t>
              </a:r>
            </a:p>
          </p:txBody>
        </p:sp>
        <p:sp>
          <p:nvSpPr>
            <p:cNvPr id="29" name="Text Box 47">
              <a:extLst>
                <a:ext uri="{FF2B5EF4-FFF2-40B4-BE49-F238E27FC236}">
                  <a16:creationId xmlns:a16="http://schemas.microsoft.com/office/drawing/2014/main" id="{B9264309-BFB7-E679-09FC-E289E8D8AA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7712" y="5084763"/>
              <a:ext cx="49084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>
                  <a:solidFill>
                    <a:srgbClr val="000000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S</a:t>
              </a:r>
              <a:r>
                <a:rPr lang="en-US" altLang="zh-CN" sz="2400" baseline="-25000">
                  <a:solidFill>
                    <a:srgbClr val="000000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1</a:t>
              </a:r>
            </a:p>
          </p:txBody>
        </p:sp>
        <p:sp>
          <p:nvSpPr>
            <p:cNvPr id="30" name="Text Box 48">
              <a:extLst>
                <a:ext uri="{FF2B5EF4-FFF2-40B4-BE49-F238E27FC236}">
                  <a16:creationId xmlns:a16="http://schemas.microsoft.com/office/drawing/2014/main" id="{0FC6BF97-E980-32A7-F6F1-10DDE1045D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7712" y="4576763"/>
              <a:ext cx="49084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>
                  <a:solidFill>
                    <a:srgbClr val="000000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S</a:t>
              </a:r>
              <a:r>
                <a:rPr lang="en-US" altLang="zh-CN" sz="2400" baseline="-25000">
                  <a:solidFill>
                    <a:srgbClr val="000000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2</a:t>
              </a:r>
            </a:p>
          </p:txBody>
        </p:sp>
        <p:sp>
          <p:nvSpPr>
            <p:cNvPr id="31" name="Text Box 49">
              <a:extLst>
                <a:ext uri="{FF2B5EF4-FFF2-40B4-BE49-F238E27FC236}">
                  <a16:creationId xmlns:a16="http://schemas.microsoft.com/office/drawing/2014/main" id="{0B4EA277-0EEC-1D1E-E7EC-ED16EBF189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7712" y="4068763"/>
              <a:ext cx="49084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>
                  <a:solidFill>
                    <a:srgbClr val="000000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S</a:t>
              </a:r>
              <a:r>
                <a:rPr lang="en-US" altLang="zh-CN" sz="2400" baseline="-25000">
                  <a:solidFill>
                    <a:srgbClr val="000000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3</a:t>
              </a:r>
            </a:p>
          </p:txBody>
        </p:sp>
        <p:sp>
          <p:nvSpPr>
            <p:cNvPr id="32" name="Line 52">
              <a:extLst>
                <a:ext uri="{FF2B5EF4-FFF2-40B4-BE49-F238E27FC236}">
                  <a16:creationId xmlns:a16="http://schemas.microsoft.com/office/drawing/2014/main" id="{8967DF6B-9D29-68AB-95AE-E0E5F9740B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52725" y="5440363"/>
              <a:ext cx="0" cy="30480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  <p:sp>
          <p:nvSpPr>
            <p:cNvPr id="33" name="Line 54">
              <a:extLst>
                <a:ext uri="{FF2B5EF4-FFF2-40B4-BE49-F238E27FC236}">
                  <a16:creationId xmlns:a16="http://schemas.microsoft.com/office/drawing/2014/main" id="{E20ABF99-4B98-B34B-3F90-AD63FB8D22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86325" y="5440363"/>
              <a:ext cx="0" cy="30480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  <p:sp>
          <p:nvSpPr>
            <p:cNvPr id="34" name="Line 55">
              <a:extLst>
                <a:ext uri="{FF2B5EF4-FFF2-40B4-BE49-F238E27FC236}">
                  <a16:creationId xmlns:a16="http://schemas.microsoft.com/office/drawing/2014/main" id="{B5393045-A072-3443-8F25-998BDD2A9D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943725" y="5440363"/>
              <a:ext cx="0" cy="30480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40446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hape18">
            <a:extLst>
              <a:ext uri="{FF2B5EF4-FFF2-40B4-BE49-F238E27FC236}">
                <a16:creationId xmlns:a16="http://schemas.microsoft.com/office/drawing/2014/main" id="{17EA1B47-88E3-47BD-AE58-E6D63033EBE9}"/>
              </a:ext>
            </a:extLst>
          </p:cNvPr>
          <p:cNvSpPr/>
          <p:nvPr/>
        </p:nvSpPr>
        <p:spPr>
          <a:xfrm>
            <a:off x="1494971" y="4048668"/>
            <a:ext cx="9304799" cy="2124724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dirty="0">
              <a:latin typeface="微软雅黑" panose="020B0503020204020204" pitchFamily="82" charset="2"/>
              <a:ea typeface="微软雅黑" panose="020B0503020204020204" pitchFamily="82" charset="2"/>
              <a:sym typeface="+mn-ea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0F53627-4F2C-CA52-F7A4-A539985AB6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80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A2BFB5D-7C99-57AC-BD55-1D1E2F480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SkipList</a:t>
            </a:r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 跳表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8FE9342-484F-6DE3-EE7D-593238F3F8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0540" y="784669"/>
            <a:ext cx="10874188" cy="2910298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SkipList S </a:t>
            </a: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包含多个链表</a:t>
            </a:r>
            <a:r>
              <a:rPr lang="en-US" altLang="zh-CN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 S</a:t>
            </a:r>
            <a:r>
              <a:rPr lang="en-US" altLang="zh-CN" sz="2400" b="1" baseline="-25000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0</a:t>
            </a:r>
            <a:r>
              <a:rPr lang="en-US" altLang="zh-CN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, S</a:t>
            </a:r>
            <a:r>
              <a:rPr lang="en-US" altLang="zh-CN" sz="2400" b="1" baseline="-25000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1</a:t>
            </a:r>
            <a:r>
              <a:rPr lang="en-US" altLang="zh-CN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 , … , </a:t>
            </a:r>
            <a:r>
              <a:rPr lang="en-US" altLang="zh-CN" sz="2400" b="1" dirty="0" err="1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S</a:t>
            </a:r>
            <a:r>
              <a:rPr lang="en-US" altLang="zh-CN" sz="2400" b="1" baseline="-25000" dirty="0" err="1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h</a:t>
            </a:r>
            <a:r>
              <a:rPr lang="en-US" altLang="zh-CN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每个链表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S</a:t>
            </a:r>
            <a:r>
              <a:rPr lang="en-US" altLang="zh-CN" sz="2000" baseline="-25000" dirty="0">
                <a:latin typeface="微软雅黑" panose="020B0503020204020204" pitchFamily="82" charset="2"/>
                <a:ea typeface="微软雅黑" panose="020B0503020204020204" pitchFamily="82" charset="2"/>
              </a:rPr>
              <a:t>i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包含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  <a:sym typeface="Symbol" pitchFamily="2" charset="2"/>
              </a:rPr>
              <a:t>+ 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和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  <a:sym typeface="Symbol" pitchFamily="2" charset="2"/>
              </a:rPr>
              <a:t>-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以及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S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中的键值，键值单调不递减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S</a:t>
            </a:r>
            <a:r>
              <a:rPr lang="en-US" altLang="zh-CN" sz="2000" baseline="-25000" dirty="0">
                <a:latin typeface="微软雅黑" panose="020B0503020204020204" pitchFamily="82" charset="2"/>
                <a:ea typeface="微软雅黑" panose="020B0503020204020204" pitchFamily="82" charset="2"/>
              </a:rPr>
              <a:t>0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包含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S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中的全部键值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每层的链表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S</a:t>
            </a:r>
            <a:r>
              <a:rPr lang="en-US" altLang="zh-CN" sz="2000" baseline="-25000" dirty="0">
                <a:latin typeface="微软雅黑" panose="020B0503020204020204" pitchFamily="82" charset="2"/>
                <a:ea typeface="微软雅黑" panose="020B0503020204020204" pitchFamily="82" charset="2"/>
              </a:rPr>
              <a:t>i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包含上层链表的键值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S</a:t>
            </a:r>
            <a:r>
              <a:rPr lang="en-US" altLang="zh-CN" sz="2000" baseline="-25000" dirty="0">
                <a:latin typeface="微软雅黑" panose="020B0503020204020204" pitchFamily="82" charset="2"/>
                <a:ea typeface="微软雅黑" panose="020B0503020204020204" pitchFamily="82" charset="2"/>
              </a:rPr>
              <a:t>i+1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,</a:t>
            </a:r>
            <a:b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</a:b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			S</a:t>
            </a:r>
            <a:r>
              <a:rPr lang="en-US" altLang="zh-CN" sz="2000" baseline="-25000" dirty="0">
                <a:latin typeface="微软雅黑" panose="020B0503020204020204" pitchFamily="82" charset="2"/>
                <a:ea typeface="微软雅黑" panose="020B0503020204020204" pitchFamily="82" charset="2"/>
              </a:rPr>
              <a:t>0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  <a:sym typeface="Symbol" pitchFamily="2" charset="2"/>
              </a:rPr>
              <a:t>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 S</a:t>
            </a:r>
            <a:r>
              <a:rPr lang="en-US" altLang="zh-CN" sz="2000" baseline="-25000" dirty="0">
                <a:latin typeface="微软雅黑" panose="020B0503020204020204" pitchFamily="82" charset="2"/>
                <a:ea typeface="微软雅黑" panose="020B0503020204020204" pitchFamily="82" charset="2"/>
              </a:rPr>
              <a:t>1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  <a:sym typeface="Symbol" pitchFamily="2" charset="2"/>
              </a:rPr>
              <a:t>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  … 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  <a:sym typeface="Symbol" pitchFamily="2" charset="2"/>
              </a:rPr>
              <a:t>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2000" dirty="0" err="1">
                <a:latin typeface="微软雅黑" panose="020B0503020204020204" pitchFamily="82" charset="2"/>
                <a:ea typeface="微软雅黑" panose="020B0503020204020204" pitchFamily="82" charset="2"/>
              </a:rPr>
              <a:t>S</a:t>
            </a:r>
            <a:r>
              <a:rPr lang="en-US" altLang="zh-CN" sz="2000" baseline="-25000" dirty="0" err="1">
                <a:latin typeface="微软雅黑" panose="020B0503020204020204" pitchFamily="82" charset="2"/>
                <a:ea typeface="微软雅黑" panose="020B0503020204020204" pitchFamily="82" charset="2"/>
              </a:rPr>
              <a:t>h</a:t>
            </a:r>
            <a:endParaRPr lang="en-US" altLang="zh-CN" sz="2000" baseline="-25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err="1">
                <a:latin typeface="微软雅黑" panose="020B0503020204020204" pitchFamily="82" charset="2"/>
                <a:ea typeface="微软雅黑" panose="020B0503020204020204" pitchFamily="82" charset="2"/>
              </a:rPr>
              <a:t>S</a:t>
            </a:r>
            <a:r>
              <a:rPr lang="en-US" altLang="zh-CN" sz="2000" baseline="-25000" dirty="0" err="1">
                <a:latin typeface="微软雅黑" panose="020B0503020204020204" pitchFamily="82" charset="2"/>
                <a:ea typeface="微软雅黑" panose="020B0503020204020204" pitchFamily="82" charset="2"/>
              </a:rPr>
              <a:t>h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只包含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  <a:sym typeface="Symbol" pitchFamily="2" charset="2"/>
              </a:rPr>
              <a:t>+ 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和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  <a:sym typeface="Symbol" pitchFamily="2" charset="2"/>
              </a:rPr>
              <a:t>-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</a:p>
          <a:p>
            <a:endParaRPr kumimoji="1" lang="zh-CN" altLang="en-US" sz="2800" dirty="0">
              <a:latin typeface="微软雅黑" panose="020B0503020204020204" pitchFamily="82" charset="2"/>
              <a:ea typeface="微软雅黑" panose="020B0503020204020204" pitchFamily="82" charset="2"/>
              <a:cs typeface="Times New Roman" panose="02020603050405020304" pitchFamily="18" charset="0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626876-AE84-D81F-B290-0341B5CE85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grpSp>
        <p:nvGrpSpPr>
          <p:cNvPr id="110" name="组合 109">
            <a:extLst>
              <a:ext uri="{FF2B5EF4-FFF2-40B4-BE49-F238E27FC236}">
                <a16:creationId xmlns:a16="http://schemas.microsoft.com/office/drawing/2014/main" id="{DAE046E9-52DF-55C3-C726-FDEECF14C206}"/>
              </a:ext>
            </a:extLst>
          </p:cNvPr>
          <p:cNvGrpSpPr/>
          <p:nvPr/>
        </p:nvGrpSpPr>
        <p:grpSpPr>
          <a:xfrm>
            <a:off x="2675481" y="4186638"/>
            <a:ext cx="6804542" cy="1734470"/>
            <a:chOff x="677712" y="4068763"/>
            <a:chExt cx="7790013" cy="1985665"/>
          </a:xfrm>
        </p:grpSpPr>
        <p:sp>
          <p:nvSpPr>
            <p:cNvPr id="58" name="Line 51">
              <a:extLst>
                <a:ext uri="{FF2B5EF4-FFF2-40B4-BE49-F238E27FC236}">
                  <a16:creationId xmlns:a16="http://schemas.microsoft.com/office/drawing/2014/main" id="{FDD7CAA9-7F29-9A46-7E3F-3474764B8D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1125" y="4449763"/>
              <a:ext cx="0" cy="129540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  <p:sp>
          <p:nvSpPr>
            <p:cNvPr id="59" name="Line 53">
              <a:extLst>
                <a:ext uri="{FF2B5EF4-FFF2-40B4-BE49-F238E27FC236}">
                  <a16:creationId xmlns:a16="http://schemas.microsoft.com/office/drawing/2014/main" id="{6F021421-C3FA-EEF0-178B-C14E20D68F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00525" y="4906963"/>
              <a:ext cx="0" cy="83820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  <p:sp>
          <p:nvSpPr>
            <p:cNvPr id="60" name="Line 56">
              <a:extLst>
                <a:ext uri="{FF2B5EF4-FFF2-40B4-BE49-F238E27FC236}">
                  <a16:creationId xmlns:a16="http://schemas.microsoft.com/office/drawing/2014/main" id="{721488D7-EC85-CFDF-7E83-EFE2681E25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15325" y="4449763"/>
              <a:ext cx="0" cy="129540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  <p:grpSp>
          <p:nvGrpSpPr>
            <p:cNvPr id="61" name="Group 4">
              <a:extLst>
                <a:ext uri="{FF2B5EF4-FFF2-40B4-BE49-F238E27FC236}">
                  <a16:creationId xmlns:a16="http://schemas.microsoft.com/office/drawing/2014/main" id="{EEEEE530-D3DF-ABEE-FD3F-1C43E6F372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87450" y="5740400"/>
              <a:ext cx="7280275" cy="215900"/>
              <a:chOff x="838" y="3693"/>
              <a:chExt cx="4586" cy="136"/>
            </a:xfrm>
          </p:grpSpPr>
          <p:sp>
            <p:nvSpPr>
              <p:cNvPr id="62" name="Rectangle 5">
                <a:extLst>
                  <a:ext uri="{FF2B5EF4-FFF2-40B4-BE49-F238E27FC236}">
                    <a16:creationId xmlns:a16="http://schemas.microsoft.com/office/drawing/2014/main" id="{593A06DA-7BF7-0942-6012-3352FC2B01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96" y="3693"/>
                <a:ext cx="229" cy="136"/>
              </a:xfrm>
              <a:prstGeom prst="rect">
                <a:avLst/>
              </a:prstGeom>
              <a:solidFill>
                <a:srgbClr val="CCCC00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82" charset="2"/>
                    <a:ea typeface="微软雅黑" panose="020B0503020204020204" pitchFamily="82" charset="2"/>
                  </a:rPr>
                  <a:t>56</a:t>
                </a:r>
              </a:p>
            </p:txBody>
          </p:sp>
          <p:sp>
            <p:nvSpPr>
              <p:cNvPr id="63" name="Rectangle 6">
                <a:extLst>
                  <a:ext uri="{FF2B5EF4-FFF2-40B4-BE49-F238E27FC236}">
                    <a16:creationId xmlns:a16="http://schemas.microsoft.com/office/drawing/2014/main" id="{2A17E0EB-7DC6-12CD-4242-44A35719ED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0" y="3693"/>
                <a:ext cx="227" cy="136"/>
              </a:xfrm>
              <a:prstGeom prst="rect">
                <a:avLst/>
              </a:prstGeom>
              <a:solidFill>
                <a:srgbClr val="CCCC00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82" charset="2"/>
                    <a:ea typeface="微软雅黑" panose="020B0503020204020204" pitchFamily="82" charset="2"/>
                  </a:rPr>
                  <a:t>64</a:t>
                </a:r>
              </a:p>
            </p:txBody>
          </p:sp>
          <p:sp>
            <p:nvSpPr>
              <p:cNvPr id="64" name="Rectangle 7">
                <a:extLst>
                  <a:ext uri="{FF2B5EF4-FFF2-40B4-BE49-F238E27FC236}">
                    <a16:creationId xmlns:a16="http://schemas.microsoft.com/office/drawing/2014/main" id="{B25897CA-5012-6BF0-9AD6-BA27D91C1B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62" y="3693"/>
                <a:ext cx="228" cy="136"/>
              </a:xfrm>
              <a:prstGeom prst="rect">
                <a:avLst/>
              </a:prstGeom>
              <a:solidFill>
                <a:srgbClr val="CCCC00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82" charset="2"/>
                    <a:ea typeface="微软雅黑" panose="020B0503020204020204" pitchFamily="82" charset="2"/>
                  </a:rPr>
                  <a:t>78</a:t>
                </a:r>
              </a:p>
            </p:txBody>
          </p:sp>
          <p:sp>
            <p:nvSpPr>
              <p:cNvPr id="65" name="Rectangle 8">
                <a:extLst>
                  <a:ext uri="{FF2B5EF4-FFF2-40B4-BE49-F238E27FC236}">
                    <a16:creationId xmlns:a16="http://schemas.microsoft.com/office/drawing/2014/main" id="{CFFA5B28-A858-8ADD-6756-9E24EADFEA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96" y="3693"/>
                <a:ext cx="228" cy="136"/>
              </a:xfrm>
              <a:prstGeom prst="rect">
                <a:avLst/>
              </a:prstGeom>
              <a:solidFill>
                <a:srgbClr val="CCCC00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82" charset="2"/>
                    <a:ea typeface="微软雅黑" panose="020B0503020204020204" pitchFamily="82" charset="2"/>
                    <a:sym typeface="Symbol" pitchFamily="2" charset="2"/>
                  </a:rPr>
                  <a:t>+</a:t>
                </a:r>
                <a:endPara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82" charset="2"/>
                  <a:ea typeface="微软雅黑" panose="020B0503020204020204" pitchFamily="82" charset="2"/>
                </a:endParaRPr>
              </a:p>
            </p:txBody>
          </p:sp>
          <p:sp>
            <p:nvSpPr>
              <p:cNvPr id="66" name="Rectangle 9">
                <a:extLst>
                  <a:ext uri="{FF2B5EF4-FFF2-40B4-BE49-F238E27FC236}">
                    <a16:creationId xmlns:a16="http://schemas.microsoft.com/office/drawing/2014/main" id="{9A129EAA-7F16-3F86-475E-B6CC4BD62E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10" y="3693"/>
                <a:ext cx="228" cy="136"/>
              </a:xfrm>
              <a:prstGeom prst="rect">
                <a:avLst/>
              </a:prstGeom>
              <a:solidFill>
                <a:srgbClr val="CCCC00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82" charset="2"/>
                    <a:ea typeface="微软雅黑" panose="020B0503020204020204" pitchFamily="82" charset="2"/>
                  </a:rPr>
                  <a:t>31</a:t>
                </a:r>
              </a:p>
            </p:txBody>
          </p:sp>
          <p:sp>
            <p:nvSpPr>
              <p:cNvPr id="67" name="Rectangle 10">
                <a:extLst>
                  <a:ext uri="{FF2B5EF4-FFF2-40B4-BE49-F238E27FC236}">
                    <a16:creationId xmlns:a16="http://schemas.microsoft.com/office/drawing/2014/main" id="{EC6B1837-926F-C0BC-EC40-92923FDE28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43" y="3693"/>
                <a:ext cx="229" cy="136"/>
              </a:xfrm>
              <a:prstGeom prst="rect">
                <a:avLst/>
              </a:prstGeom>
              <a:solidFill>
                <a:srgbClr val="CCCC00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82" charset="2"/>
                    <a:ea typeface="微软雅黑" panose="020B0503020204020204" pitchFamily="82" charset="2"/>
                  </a:rPr>
                  <a:t>34</a:t>
                </a:r>
              </a:p>
            </p:txBody>
          </p:sp>
          <p:sp>
            <p:nvSpPr>
              <p:cNvPr id="68" name="Rectangle 11">
                <a:extLst>
                  <a:ext uri="{FF2B5EF4-FFF2-40B4-BE49-F238E27FC236}">
                    <a16:creationId xmlns:a16="http://schemas.microsoft.com/office/drawing/2014/main" id="{BB42FBBE-AB1B-2138-2670-83861A3200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62" y="3693"/>
                <a:ext cx="229" cy="136"/>
              </a:xfrm>
              <a:prstGeom prst="rect">
                <a:avLst/>
              </a:prstGeom>
              <a:solidFill>
                <a:srgbClr val="CCCC00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82" charset="2"/>
                    <a:ea typeface="微软雅黑" panose="020B0503020204020204" pitchFamily="82" charset="2"/>
                  </a:rPr>
                  <a:t>44</a:t>
                </a:r>
              </a:p>
            </p:txBody>
          </p:sp>
          <p:sp>
            <p:nvSpPr>
              <p:cNvPr id="69" name="Rectangle 12">
                <a:extLst>
                  <a:ext uri="{FF2B5EF4-FFF2-40B4-BE49-F238E27FC236}">
                    <a16:creationId xmlns:a16="http://schemas.microsoft.com/office/drawing/2014/main" id="{9D07EE32-3E91-52FD-5A6B-3862061901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8" y="3693"/>
                <a:ext cx="229" cy="136"/>
              </a:xfrm>
              <a:prstGeom prst="rect">
                <a:avLst/>
              </a:prstGeom>
              <a:solidFill>
                <a:srgbClr val="CCCC00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82" charset="2"/>
                    <a:ea typeface="微软雅黑" panose="020B0503020204020204" pitchFamily="82" charset="2"/>
                    <a:sym typeface="Symbol" pitchFamily="2" charset="2"/>
                  </a:rPr>
                  <a:t>-</a:t>
                </a:r>
              </a:p>
            </p:txBody>
          </p:sp>
          <p:sp>
            <p:nvSpPr>
              <p:cNvPr id="70" name="Rectangle 13">
                <a:extLst>
                  <a:ext uri="{FF2B5EF4-FFF2-40B4-BE49-F238E27FC236}">
                    <a16:creationId xmlns:a16="http://schemas.microsoft.com/office/drawing/2014/main" id="{C7B93496-DE91-4DA4-6FD7-67ED2F8936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72" y="3693"/>
                <a:ext cx="229" cy="136"/>
              </a:xfrm>
              <a:prstGeom prst="rect">
                <a:avLst/>
              </a:prstGeom>
              <a:solidFill>
                <a:srgbClr val="CCCC00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82" charset="2"/>
                    <a:ea typeface="微软雅黑" panose="020B0503020204020204" pitchFamily="82" charset="2"/>
                  </a:rPr>
                  <a:t>12</a:t>
                </a:r>
              </a:p>
            </p:txBody>
          </p:sp>
          <p:sp>
            <p:nvSpPr>
              <p:cNvPr id="71" name="Rectangle 14">
                <a:extLst>
                  <a:ext uri="{FF2B5EF4-FFF2-40B4-BE49-F238E27FC236}">
                    <a16:creationId xmlns:a16="http://schemas.microsoft.com/office/drawing/2014/main" id="{C55D35F7-518D-8D0C-BAC2-B2589BF574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05" y="3693"/>
                <a:ext cx="229" cy="136"/>
              </a:xfrm>
              <a:prstGeom prst="rect">
                <a:avLst/>
              </a:prstGeom>
              <a:solidFill>
                <a:srgbClr val="CCCC00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82" charset="2"/>
                    <a:ea typeface="微软雅黑" panose="020B0503020204020204" pitchFamily="82" charset="2"/>
                  </a:rPr>
                  <a:t>23</a:t>
                </a:r>
              </a:p>
            </p:txBody>
          </p:sp>
          <p:sp>
            <p:nvSpPr>
              <p:cNvPr id="72" name="Rectangle 15">
                <a:extLst>
                  <a:ext uri="{FF2B5EF4-FFF2-40B4-BE49-F238E27FC236}">
                    <a16:creationId xmlns:a16="http://schemas.microsoft.com/office/drawing/2014/main" id="{7ECA0107-F6BE-79A9-AFAA-57EC583DD6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39" y="3693"/>
                <a:ext cx="229" cy="136"/>
              </a:xfrm>
              <a:prstGeom prst="rect">
                <a:avLst/>
              </a:prstGeom>
              <a:solidFill>
                <a:srgbClr val="CCCC00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82" charset="2"/>
                    <a:ea typeface="微软雅黑" panose="020B0503020204020204" pitchFamily="82" charset="2"/>
                  </a:rPr>
                  <a:t>26</a:t>
                </a:r>
              </a:p>
            </p:txBody>
          </p:sp>
          <p:cxnSp>
            <p:nvCxnSpPr>
              <p:cNvPr id="73" name="AutoShape 16">
                <a:extLst>
                  <a:ext uri="{FF2B5EF4-FFF2-40B4-BE49-F238E27FC236}">
                    <a16:creationId xmlns:a16="http://schemas.microsoft.com/office/drawing/2014/main" id="{39E7B391-2719-AC93-3EDC-8E83A9156227}"/>
                  </a:ext>
                </a:extLst>
              </p:cNvPr>
              <p:cNvCxnSpPr>
                <a:cxnSpLocks noChangeShapeType="1"/>
                <a:stCxn id="69" idx="3"/>
                <a:endCxn id="70" idx="1"/>
              </p:cNvCxnSpPr>
              <p:nvPr/>
            </p:nvCxnSpPr>
            <p:spPr bwMode="auto">
              <a:xfrm>
                <a:off x="1073" y="3761"/>
                <a:ext cx="193" cy="0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74" name="AutoShape 17">
                <a:extLst>
                  <a:ext uri="{FF2B5EF4-FFF2-40B4-BE49-F238E27FC236}">
                    <a16:creationId xmlns:a16="http://schemas.microsoft.com/office/drawing/2014/main" id="{4F880F31-F0E4-9A97-C4BD-08E8F14B6F93}"/>
                  </a:ext>
                </a:extLst>
              </p:cNvPr>
              <p:cNvCxnSpPr>
                <a:cxnSpLocks noChangeShapeType="1"/>
                <a:stCxn id="71" idx="3"/>
                <a:endCxn id="72" idx="1"/>
              </p:cNvCxnSpPr>
              <p:nvPr/>
            </p:nvCxnSpPr>
            <p:spPr bwMode="auto">
              <a:xfrm>
                <a:off x="1940" y="3761"/>
                <a:ext cx="193" cy="0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75" name="AutoShape 18">
                <a:extLst>
                  <a:ext uri="{FF2B5EF4-FFF2-40B4-BE49-F238E27FC236}">
                    <a16:creationId xmlns:a16="http://schemas.microsoft.com/office/drawing/2014/main" id="{E50FEC16-3234-7E2A-AB8B-E1721E18F778}"/>
                  </a:ext>
                </a:extLst>
              </p:cNvPr>
              <p:cNvCxnSpPr>
                <a:cxnSpLocks noChangeShapeType="1"/>
                <a:stCxn id="66" idx="3"/>
                <a:endCxn id="67" idx="1"/>
              </p:cNvCxnSpPr>
              <p:nvPr/>
            </p:nvCxnSpPr>
            <p:spPr bwMode="auto">
              <a:xfrm>
                <a:off x="2844" y="3761"/>
                <a:ext cx="193" cy="0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76" name="AutoShape 19">
                <a:extLst>
                  <a:ext uri="{FF2B5EF4-FFF2-40B4-BE49-F238E27FC236}">
                    <a16:creationId xmlns:a16="http://schemas.microsoft.com/office/drawing/2014/main" id="{4BD1351D-7A3E-AE24-42CC-50F3FC4B4AE8}"/>
                  </a:ext>
                </a:extLst>
              </p:cNvPr>
              <p:cNvCxnSpPr>
                <a:cxnSpLocks noChangeShapeType="1"/>
                <a:stCxn id="70" idx="3"/>
                <a:endCxn id="71" idx="1"/>
              </p:cNvCxnSpPr>
              <p:nvPr/>
            </p:nvCxnSpPr>
            <p:spPr bwMode="auto">
              <a:xfrm>
                <a:off x="1507" y="3761"/>
                <a:ext cx="192" cy="0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77" name="AutoShape 20">
                <a:extLst>
                  <a:ext uri="{FF2B5EF4-FFF2-40B4-BE49-F238E27FC236}">
                    <a16:creationId xmlns:a16="http://schemas.microsoft.com/office/drawing/2014/main" id="{818AF5F0-D70E-7F5D-DBC2-E8635F23602F}"/>
                  </a:ext>
                </a:extLst>
              </p:cNvPr>
              <p:cNvCxnSpPr>
                <a:cxnSpLocks noChangeShapeType="1"/>
                <a:stCxn id="72" idx="3"/>
                <a:endCxn id="66" idx="1"/>
              </p:cNvCxnSpPr>
              <p:nvPr/>
            </p:nvCxnSpPr>
            <p:spPr bwMode="auto">
              <a:xfrm>
                <a:off x="2374" y="3761"/>
                <a:ext cx="230" cy="0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78" name="AutoShape 21">
                <a:extLst>
                  <a:ext uri="{FF2B5EF4-FFF2-40B4-BE49-F238E27FC236}">
                    <a16:creationId xmlns:a16="http://schemas.microsoft.com/office/drawing/2014/main" id="{4A5CFC1C-D7F7-5FCD-B015-EDEEE5CA0C9D}"/>
                  </a:ext>
                </a:extLst>
              </p:cNvPr>
              <p:cNvCxnSpPr>
                <a:cxnSpLocks noChangeShapeType="1"/>
                <a:stCxn id="67" idx="3"/>
                <a:endCxn id="68" idx="1"/>
              </p:cNvCxnSpPr>
              <p:nvPr/>
            </p:nvCxnSpPr>
            <p:spPr bwMode="auto">
              <a:xfrm>
                <a:off x="3278" y="3761"/>
                <a:ext cx="178" cy="0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79" name="AutoShape 22">
                <a:extLst>
                  <a:ext uri="{FF2B5EF4-FFF2-40B4-BE49-F238E27FC236}">
                    <a16:creationId xmlns:a16="http://schemas.microsoft.com/office/drawing/2014/main" id="{5F915561-794B-4795-FB62-FFE1C3DAC5A3}"/>
                  </a:ext>
                </a:extLst>
              </p:cNvPr>
              <p:cNvCxnSpPr>
                <a:cxnSpLocks noChangeShapeType="1"/>
                <a:stCxn id="68" idx="3"/>
                <a:endCxn id="62" idx="1"/>
              </p:cNvCxnSpPr>
              <p:nvPr/>
            </p:nvCxnSpPr>
            <p:spPr bwMode="auto">
              <a:xfrm>
                <a:off x="3697" y="3761"/>
                <a:ext cx="193" cy="0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80" name="AutoShape 23">
                <a:extLst>
                  <a:ext uri="{FF2B5EF4-FFF2-40B4-BE49-F238E27FC236}">
                    <a16:creationId xmlns:a16="http://schemas.microsoft.com/office/drawing/2014/main" id="{BE997053-E04F-0272-F746-CF47892DCC36}"/>
                  </a:ext>
                </a:extLst>
              </p:cNvPr>
              <p:cNvCxnSpPr>
                <a:cxnSpLocks noChangeShapeType="1"/>
                <a:stCxn id="62" idx="3"/>
                <a:endCxn id="63" idx="1"/>
              </p:cNvCxnSpPr>
              <p:nvPr/>
            </p:nvCxnSpPr>
            <p:spPr bwMode="auto">
              <a:xfrm>
                <a:off x="4131" y="3761"/>
                <a:ext cx="193" cy="0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81" name="AutoShape 24">
                <a:extLst>
                  <a:ext uri="{FF2B5EF4-FFF2-40B4-BE49-F238E27FC236}">
                    <a16:creationId xmlns:a16="http://schemas.microsoft.com/office/drawing/2014/main" id="{50EB30E6-54CA-89B4-6F39-15ADCBAF845C}"/>
                  </a:ext>
                </a:extLst>
              </p:cNvPr>
              <p:cNvCxnSpPr>
                <a:cxnSpLocks noChangeShapeType="1"/>
                <a:stCxn id="63" idx="3"/>
                <a:endCxn id="64" idx="1"/>
              </p:cNvCxnSpPr>
              <p:nvPr/>
            </p:nvCxnSpPr>
            <p:spPr bwMode="auto">
              <a:xfrm>
                <a:off x="4563" y="3761"/>
                <a:ext cx="193" cy="0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82" name="AutoShape 25">
                <a:extLst>
                  <a:ext uri="{FF2B5EF4-FFF2-40B4-BE49-F238E27FC236}">
                    <a16:creationId xmlns:a16="http://schemas.microsoft.com/office/drawing/2014/main" id="{39368921-BF4C-264E-9499-318F6430241E}"/>
                  </a:ext>
                </a:extLst>
              </p:cNvPr>
              <p:cNvCxnSpPr>
                <a:cxnSpLocks noChangeShapeType="1"/>
                <a:stCxn id="64" idx="3"/>
                <a:endCxn id="65" idx="1"/>
              </p:cNvCxnSpPr>
              <p:nvPr/>
            </p:nvCxnSpPr>
            <p:spPr bwMode="auto">
              <a:xfrm>
                <a:off x="4996" y="3761"/>
                <a:ext cx="194" cy="0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83" name="Group 26">
              <a:extLst>
                <a:ext uri="{FF2B5EF4-FFF2-40B4-BE49-F238E27FC236}">
                  <a16:creationId xmlns:a16="http://schemas.microsoft.com/office/drawing/2014/main" id="{E29745AC-C295-1F48-3049-1D0ECA64ED9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87450" y="4221163"/>
              <a:ext cx="7280275" cy="215900"/>
              <a:chOff x="838" y="2736"/>
              <a:chExt cx="4586" cy="136"/>
            </a:xfrm>
          </p:grpSpPr>
          <p:sp>
            <p:nvSpPr>
              <p:cNvPr id="84" name="Rectangle 27">
                <a:extLst>
                  <a:ext uri="{FF2B5EF4-FFF2-40B4-BE49-F238E27FC236}">
                    <a16:creationId xmlns:a16="http://schemas.microsoft.com/office/drawing/2014/main" id="{F927C472-810C-2D70-18E2-E334BA12DD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96" y="2736"/>
                <a:ext cx="228" cy="136"/>
              </a:xfrm>
              <a:prstGeom prst="rect">
                <a:avLst/>
              </a:prstGeom>
              <a:solidFill>
                <a:srgbClr val="CCCC00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82" charset="2"/>
                    <a:ea typeface="微软雅黑" panose="020B0503020204020204" pitchFamily="82" charset="2"/>
                    <a:sym typeface="Symbol" pitchFamily="2" charset="2"/>
                  </a:rPr>
                  <a:t>+</a:t>
                </a:r>
                <a:endPara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82" charset="2"/>
                  <a:ea typeface="微软雅黑" panose="020B0503020204020204" pitchFamily="82" charset="2"/>
                </a:endParaRPr>
              </a:p>
            </p:txBody>
          </p:sp>
          <p:sp>
            <p:nvSpPr>
              <p:cNvPr id="85" name="Rectangle 28">
                <a:extLst>
                  <a:ext uri="{FF2B5EF4-FFF2-40B4-BE49-F238E27FC236}">
                    <a16:creationId xmlns:a16="http://schemas.microsoft.com/office/drawing/2014/main" id="{AE0BA639-59D6-06F8-F87B-A15E5EA6C5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8" y="2736"/>
                <a:ext cx="229" cy="136"/>
              </a:xfrm>
              <a:prstGeom prst="rect">
                <a:avLst/>
              </a:prstGeom>
              <a:solidFill>
                <a:srgbClr val="CCCC00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82" charset="2"/>
                    <a:ea typeface="微软雅黑" panose="020B0503020204020204" pitchFamily="82" charset="2"/>
                    <a:sym typeface="Symbol" pitchFamily="2" charset="2"/>
                  </a:rPr>
                  <a:t>-</a:t>
                </a:r>
              </a:p>
            </p:txBody>
          </p:sp>
          <p:cxnSp>
            <p:nvCxnSpPr>
              <p:cNvPr id="86" name="AutoShape 29">
                <a:extLst>
                  <a:ext uri="{FF2B5EF4-FFF2-40B4-BE49-F238E27FC236}">
                    <a16:creationId xmlns:a16="http://schemas.microsoft.com/office/drawing/2014/main" id="{B771478F-3E83-E774-FFCE-3CB25529923C}"/>
                  </a:ext>
                </a:extLst>
              </p:cNvPr>
              <p:cNvCxnSpPr>
                <a:cxnSpLocks noChangeShapeType="1"/>
                <a:stCxn id="85" idx="3"/>
                <a:endCxn id="84" idx="1"/>
              </p:cNvCxnSpPr>
              <p:nvPr/>
            </p:nvCxnSpPr>
            <p:spPr bwMode="auto">
              <a:xfrm>
                <a:off x="1073" y="2804"/>
                <a:ext cx="4117" cy="0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87" name="Rectangle 30">
              <a:extLst>
                <a:ext uri="{FF2B5EF4-FFF2-40B4-BE49-F238E27FC236}">
                  <a16:creationId xmlns:a16="http://schemas.microsoft.com/office/drawing/2014/main" id="{1DD784F6-4B15-DEC6-2739-8E17035008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05775" y="4727575"/>
              <a:ext cx="361950" cy="215900"/>
            </a:xfrm>
            <a:prstGeom prst="rect">
              <a:avLst/>
            </a:prstGeom>
            <a:solidFill>
              <a:srgbClr val="CCCC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82" charset="2"/>
                  <a:ea typeface="微软雅黑" panose="020B0503020204020204" pitchFamily="82" charset="2"/>
                  <a:sym typeface="Symbol" pitchFamily="2" charset="2"/>
                </a:rPr>
                <a:t>+</a:t>
              </a:r>
              <a:endPara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  <p:sp>
          <p:nvSpPr>
            <p:cNvPr id="88" name="Rectangle 31">
              <a:extLst>
                <a:ext uri="{FF2B5EF4-FFF2-40B4-BE49-F238E27FC236}">
                  <a16:creationId xmlns:a16="http://schemas.microsoft.com/office/drawing/2014/main" id="{E24B3111-9283-BC50-FBCC-67CC24E6B3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0500" y="4727575"/>
              <a:ext cx="361950" cy="215900"/>
            </a:xfrm>
            <a:prstGeom prst="rect">
              <a:avLst/>
            </a:prstGeom>
            <a:solidFill>
              <a:srgbClr val="CCCC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5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82" charset="2"/>
                  <a:ea typeface="微软雅黑" panose="020B0503020204020204" pitchFamily="82" charset="2"/>
                </a:rPr>
                <a:t>31</a:t>
              </a:r>
            </a:p>
          </p:txBody>
        </p:sp>
        <p:sp>
          <p:nvSpPr>
            <p:cNvPr id="89" name="Rectangle 32">
              <a:extLst>
                <a:ext uri="{FF2B5EF4-FFF2-40B4-BE49-F238E27FC236}">
                  <a16:creationId xmlns:a16="http://schemas.microsoft.com/office/drawing/2014/main" id="{21B10A4B-0E40-694B-E38F-8A8BC836FB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7450" y="4727575"/>
              <a:ext cx="363538" cy="215900"/>
            </a:xfrm>
            <a:prstGeom prst="rect">
              <a:avLst/>
            </a:prstGeom>
            <a:solidFill>
              <a:srgbClr val="CCCC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82" charset="2"/>
                  <a:ea typeface="微软雅黑" panose="020B0503020204020204" pitchFamily="82" charset="2"/>
                  <a:sym typeface="Symbol" pitchFamily="2" charset="2"/>
                </a:rPr>
                <a:t>-</a:t>
              </a:r>
              <a:endPara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  <p:cxnSp>
          <p:nvCxnSpPr>
            <p:cNvPr id="90" name="AutoShape 33">
              <a:extLst>
                <a:ext uri="{FF2B5EF4-FFF2-40B4-BE49-F238E27FC236}">
                  <a16:creationId xmlns:a16="http://schemas.microsoft.com/office/drawing/2014/main" id="{D5E4A725-B789-C279-D005-A75D9C6A3A48}"/>
                </a:ext>
              </a:extLst>
            </p:cNvPr>
            <p:cNvCxnSpPr>
              <a:cxnSpLocks noChangeShapeType="1"/>
              <a:stCxn id="89" idx="3"/>
              <a:endCxn id="88" idx="1"/>
            </p:cNvCxnSpPr>
            <p:nvPr/>
          </p:nvCxnSpPr>
          <p:spPr bwMode="auto">
            <a:xfrm>
              <a:off x="1560513" y="4835525"/>
              <a:ext cx="2430462" cy="0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1" name="AutoShape 34">
              <a:extLst>
                <a:ext uri="{FF2B5EF4-FFF2-40B4-BE49-F238E27FC236}">
                  <a16:creationId xmlns:a16="http://schemas.microsoft.com/office/drawing/2014/main" id="{89ECECED-C191-617F-A3A5-08D8B356FAFE}"/>
                </a:ext>
              </a:extLst>
            </p:cNvPr>
            <p:cNvCxnSpPr>
              <a:cxnSpLocks noChangeShapeType="1"/>
              <a:stCxn id="88" idx="3"/>
              <a:endCxn id="87" idx="1"/>
            </p:cNvCxnSpPr>
            <p:nvPr/>
          </p:nvCxnSpPr>
          <p:spPr bwMode="auto">
            <a:xfrm>
              <a:off x="4371975" y="4835525"/>
              <a:ext cx="3724275" cy="0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92" name="Rectangle 35">
              <a:extLst>
                <a:ext uri="{FF2B5EF4-FFF2-40B4-BE49-F238E27FC236}">
                  <a16:creationId xmlns:a16="http://schemas.microsoft.com/office/drawing/2014/main" id="{13173DC9-FB81-14E6-0101-D220142298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31000" y="5233988"/>
              <a:ext cx="360363" cy="215900"/>
            </a:xfrm>
            <a:prstGeom prst="rect">
              <a:avLst/>
            </a:prstGeom>
            <a:solidFill>
              <a:srgbClr val="CCCC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5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82" charset="2"/>
                  <a:ea typeface="微软雅黑" panose="020B0503020204020204" pitchFamily="82" charset="2"/>
                </a:rPr>
                <a:t>64</a:t>
              </a:r>
            </a:p>
          </p:txBody>
        </p:sp>
        <p:sp>
          <p:nvSpPr>
            <p:cNvPr id="93" name="Rectangle 36">
              <a:extLst>
                <a:ext uri="{FF2B5EF4-FFF2-40B4-BE49-F238E27FC236}">
                  <a16:creationId xmlns:a16="http://schemas.microsoft.com/office/drawing/2014/main" id="{DA300024-D9F5-6C28-0C5C-1B8A5F9B8C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05775" y="5233988"/>
              <a:ext cx="361950" cy="215900"/>
            </a:xfrm>
            <a:prstGeom prst="rect">
              <a:avLst/>
            </a:prstGeom>
            <a:solidFill>
              <a:srgbClr val="CCCC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82" charset="2"/>
                  <a:ea typeface="微软雅黑" panose="020B0503020204020204" pitchFamily="82" charset="2"/>
                  <a:sym typeface="Symbol" pitchFamily="2" charset="2"/>
                </a:rPr>
                <a:t>+</a:t>
              </a:r>
              <a:endPara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  <p:sp>
          <p:nvSpPr>
            <p:cNvPr id="94" name="Rectangle 37">
              <a:extLst>
                <a:ext uri="{FF2B5EF4-FFF2-40B4-BE49-F238E27FC236}">
                  <a16:creationId xmlns:a16="http://schemas.microsoft.com/office/drawing/2014/main" id="{047BA062-A14E-2807-DAD6-809D29CFF9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0500" y="5233988"/>
              <a:ext cx="361950" cy="215900"/>
            </a:xfrm>
            <a:prstGeom prst="rect">
              <a:avLst/>
            </a:prstGeom>
            <a:solidFill>
              <a:srgbClr val="CCCC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5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82" charset="2"/>
                  <a:ea typeface="微软雅黑" panose="020B0503020204020204" pitchFamily="82" charset="2"/>
                </a:rPr>
                <a:t>31</a:t>
              </a:r>
            </a:p>
          </p:txBody>
        </p:sp>
        <p:sp>
          <p:nvSpPr>
            <p:cNvPr id="95" name="Rectangle 38">
              <a:extLst>
                <a:ext uri="{FF2B5EF4-FFF2-40B4-BE49-F238E27FC236}">
                  <a16:creationId xmlns:a16="http://schemas.microsoft.com/office/drawing/2014/main" id="{058A5100-EDE0-58B9-616C-B408EFAF3A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7888" y="5233988"/>
              <a:ext cx="363537" cy="215900"/>
            </a:xfrm>
            <a:prstGeom prst="rect">
              <a:avLst/>
            </a:prstGeom>
            <a:solidFill>
              <a:srgbClr val="CCCC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5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82" charset="2"/>
                  <a:ea typeface="微软雅黑" panose="020B0503020204020204" pitchFamily="82" charset="2"/>
                </a:rPr>
                <a:t>34</a:t>
              </a:r>
            </a:p>
          </p:txBody>
        </p:sp>
        <p:sp>
          <p:nvSpPr>
            <p:cNvPr id="96" name="Rectangle 39">
              <a:extLst>
                <a:ext uri="{FF2B5EF4-FFF2-40B4-BE49-F238E27FC236}">
                  <a16:creationId xmlns:a16="http://schemas.microsoft.com/office/drawing/2014/main" id="{66614019-673E-2301-31F6-8521FEC8B3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7450" y="5233988"/>
              <a:ext cx="363538" cy="215900"/>
            </a:xfrm>
            <a:prstGeom prst="rect">
              <a:avLst/>
            </a:prstGeom>
            <a:solidFill>
              <a:srgbClr val="CCCC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82" charset="2"/>
                  <a:ea typeface="微软雅黑" panose="020B0503020204020204" pitchFamily="82" charset="2"/>
                  <a:sym typeface="Symbol" pitchFamily="2" charset="2"/>
                </a:rPr>
                <a:t>-</a:t>
              </a:r>
              <a:endPara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  <p:sp>
          <p:nvSpPr>
            <p:cNvPr id="97" name="Rectangle 40">
              <a:extLst>
                <a:ext uri="{FF2B5EF4-FFF2-40B4-BE49-F238E27FC236}">
                  <a16:creationId xmlns:a16="http://schemas.microsoft.com/office/drawing/2014/main" id="{404BF666-D9C2-C045-2A0A-DF14D5CEFB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3813" y="5233988"/>
              <a:ext cx="363537" cy="215900"/>
            </a:xfrm>
            <a:prstGeom prst="rect">
              <a:avLst/>
            </a:prstGeom>
            <a:solidFill>
              <a:srgbClr val="CCCC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5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82" charset="2"/>
                  <a:ea typeface="微软雅黑" panose="020B0503020204020204" pitchFamily="82" charset="2"/>
                </a:rPr>
                <a:t>23</a:t>
              </a:r>
            </a:p>
          </p:txBody>
        </p:sp>
        <p:cxnSp>
          <p:nvCxnSpPr>
            <p:cNvPr id="98" name="AutoShape 41">
              <a:extLst>
                <a:ext uri="{FF2B5EF4-FFF2-40B4-BE49-F238E27FC236}">
                  <a16:creationId xmlns:a16="http://schemas.microsoft.com/office/drawing/2014/main" id="{957FBB0F-9F79-1068-8441-F44C530A44AD}"/>
                </a:ext>
              </a:extLst>
            </p:cNvPr>
            <p:cNvCxnSpPr>
              <a:cxnSpLocks noChangeShapeType="1"/>
              <a:stCxn id="96" idx="3"/>
              <a:endCxn id="97" idx="1"/>
            </p:cNvCxnSpPr>
            <p:nvPr/>
          </p:nvCxnSpPr>
          <p:spPr bwMode="auto">
            <a:xfrm>
              <a:off x="1560513" y="5341938"/>
              <a:ext cx="993775" cy="0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9" name="AutoShape 42">
              <a:extLst>
                <a:ext uri="{FF2B5EF4-FFF2-40B4-BE49-F238E27FC236}">
                  <a16:creationId xmlns:a16="http://schemas.microsoft.com/office/drawing/2014/main" id="{00220BFE-5701-CDE1-4FDB-ECFEAE24C43C}"/>
                </a:ext>
              </a:extLst>
            </p:cNvPr>
            <p:cNvCxnSpPr>
              <a:cxnSpLocks noChangeShapeType="1"/>
              <a:stCxn id="97" idx="3"/>
              <a:endCxn id="94" idx="1"/>
            </p:cNvCxnSpPr>
            <p:nvPr/>
          </p:nvCxnSpPr>
          <p:spPr bwMode="auto">
            <a:xfrm>
              <a:off x="2936875" y="5341938"/>
              <a:ext cx="1054100" cy="0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0" name="AutoShape 43">
              <a:extLst>
                <a:ext uri="{FF2B5EF4-FFF2-40B4-BE49-F238E27FC236}">
                  <a16:creationId xmlns:a16="http://schemas.microsoft.com/office/drawing/2014/main" id="{06C60F47-DEFE-C8E7-252C-0CF9C14D52CC}"/>
                </a:ext>
              </a:extLst>
            </p:cNvPr>
            <p:cNvCxnSpPr>
              <a:cxnSpLocks noChangeShapeType="1"/>
              <a:stCxn id="94" idx="3"/>
              <a:endCxn id="95" idx="1"/>
            </p:cNvCxnSpPr>
            <p:nvPr/>
          </p:nvCxnSpPr>
          <p:spPr bwMode="auto">
            <a:xfrm>
              <a:off x="4371975" y="5341938"/>
              <a:ext cx="306388" cy="0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1" name="AutoShape 44">
              <a:extLst>
                <a:ext uri="{FF2B5EF4-FFF2-40B4-BE49-F238E27FC236}">
                  <a16:creationId xmlns:a16="http://schemas.microsoft.com/office/drawing/2014/main" id="{E4F27813-698B-C713-85C6-A0E11E0B9B2D}"/>
                </a:ext>
              </a:extLst>
            </p:cNvPr>
            <p:cNvCxnSpPr>
              <a:cxnSpLocks noChangeShapeType="1"/>
              <a:stCxn id="95" idx="3"/>
              <a:endCxn id="92" idx="1"/>
            </p:cNvCxnSpPr>
            <p:nvPr/>
          </p:nvCxnSpPr>
          <p:spPr bwMode="auto">
            <a:xfrm>
              <a:off x="5060950" y="5341938"/>
              <a:ext cx="1660525" cy="0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2" name="AutoShape 45">
              <a:extLst>
                <a:ext uri="{FF2B5EF4-FFF2-40B4-BE49-F238E27FC236}">
                  <a16:creationId xmlns:a16="http://schemas.microsoft.com/office/drawing/2014/main" id="{26785B33-A097-2C56-F457-22ADB21FBC8C}"/>
                </a:ext>
              </a:extLst>
            </p:cNvPr>
            <p:cNvCxnSpPr>
              <a:cxnSpLocks noChangeShapeType="1"/>
              <a:stCxn id="92" idx="3"/>
              <a:endCxn id="93" idx="1"/>
            </p:cNvCxnSpPr>
            <p:nvPr/>
          </p:nvCxnSpPr>
          <p:spPr bwMode="auto">
            <a:xfrm>
              <a:off x="7100888" y="5341938"/>
              <a:ext cx="995362" cy="0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03" name="Text Box 46">
              <a:extLst>
                <a:ext uri="{FF2B5EF4-FFF2-40B4-BE49-F238E27FC236}">
                  <a16:creationId xmlns:a16="http://schemas.microsoft.com/office/drawing/2014/main" id="{0617D9C4-882B-D989-620D-835B67229C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7712" y="5592763"/>
              <a:ext cx="49084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>
                  <a:solidFill>
                    <a:srgbClr val="000000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S</a:t>
              </a:r>
              <a:r>
                <a:rPr lang="en-US" altLang="zh-CN" sz="2400" baseline="-25000">
                  <a:solidFill>
                    <a:srgbClr val="000000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0</a:t>
              </a:r>
            </a:p>
          </p:txBody>
        </p:sp>
        <p:sp>
          <p:nvSpPr>
            <p:cNvPr id="104" name="Text Box 47">
              <a:extLst>
                <a:ext uri="{FF2B5EF4-FFF2-40B4-BE49-F238E27FC236}">
                  <a16:creationId xmlns:a16="http://schemas.microsoft.com/office/drawing/2014/main" id="{9EF7C1EC-ABD1-4358-2B2A-9209BF0F67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7712" y="5084763"/>
              <a:ext cx="49084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>
                  <a:solidFill>
                    <a:srgbClr val="000000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S</a:t>
              </a:r>
              <a:r>
                <a:rPr lang="en-US" altLang="zh-CN" sz="2400" baseline="-25000">
                  <a:solidFill>
                    <a:srgbClr val="000000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1</a:t>
              </a:r>
            </a:p>
          </p:txBody>
        </p:sp>
        <p:sp>
          <p:nvSpPr>
            <p:cNvPr id="105" name="Text Box 48">
              <a:extLst>
                <a:ext uri="{FF2B5EF4-FFF2-40B4-BE49-F238E27FC236}">
                  <a16:creationId xmlns:a16="http://schemas.microsoft.com/office/drawing/2014/main" id="{1381159C-8F60-152A-5D27-C11A2DAB93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7712" y="4576763"/>
              <a:ext cx="49084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>
                  <a:solidFill>
                    <a:srgbClr val="000000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S</a:t>
              </a:r>
              <a:r>
                <a:rPr lang="en-US" altLang="zh-CN" sz="2400" baseline="-25000">
                  <a:solidFill>
                    <a:srgbClr val="000000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2</a:t>
              </a:r>
            </a:p>
          </p:txBody>
        </p:sp>
        <p:sp>
          <p:nvSpPr>
            <p:cNvPr id="106" name="Text Box 49">
              <a:extLst>
                <a:ext uri="{FF2B5EF4-FFF2-40B4-BE49-F238E27FC236}">
                  <a16:creationId xmlns:a16="http://schemas.microsoft.com/office/drawing/2014/main" id="{EC0D795E-0266-4657-3893-2D22B995AD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7712" y="4068763"/>
              <a:ext cx="49084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>
                  <a:solidFill>
                    <a:srgbClr val="000000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S</a:t>
              </a:r>
              <a:r>
                <a:rPr lang="en-US" altLang="zh-CN" sz="2400" baseline="-25000">
                  <a:solidFill>
                    <a:srgbClr val="000000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3</a:t>
              </a:r>
            </a:p>
          </p:txBody>
        </p:sp>
        <p:sp>
          <p:nvSpPr>
            <p:cNvPr id="107" name="Line 52">
              <a:extLst>
                <a:ext uri="{FF2B5EF4-FFF2-40B4-BE49-F238E27FC236}">
                  <a16:creationId xmlns:a16="http://schemas.microsoft.com/office/drawing/2014/main" id="{6C01F238-1F2F-03D7-5FBB-613BE94C95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52725" y="5440363"/>
              <a:ext cx="0" cy="30480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  <p:sp>
          <p:nvSpPr>
            <p:cNvPr id="108" name="Line 54">
              <a:extLst>
                <a:ext uri="{FF2B5EF4-FFF2-40B4-BE49-F238E27FC236}">
                  <a16:creationId xmlns:a16="http://schemas.microsoft.com/office/drawing/2014/main" id="{C1347167-ADAB-773F-2BBE-8C22CE1F84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86325" y="5440363"/>
              <a:ext cx="0" cy="30480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  <p:sp>
          <p:nvSpPr>
            <p:cNvPr id="109" name="Line 55">
              <a:extLst>
                <a:ext uri="{FF2B5EF4-FFF2-40B4-BE49-F238E27FC236}">
                  <a16:creationId xmlns:a16="http://schemas.microsoft.com/office/drawing/2014/main" id="{E558BFC5-C20B-1ABF-8E32-F3EE0C875A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943725" y="5440363"/>
              <a:ext cx="0" cy="30480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8991860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Shape18">
            <a:extLst>
              <a:ext uri="{FF2B5EF4-FFF2-40B4-BE49-F238E27FC236}">
                <a16:creationId xmlns:a16="http://schemas.microsoft.com/office/drawing/2014/main" id="{1B9B04C7-ADE5-46A7-91C2-30C946357E30}"/>
              </a:ext>
            </a:extLst>
          </p:cNvPr>
          <p:cNvSpPr/>
          <p:nvPr/>
        </p:nvSpPr>
        <p:spPr>
          <a:xfrm>
            <a:off x="1598899" y="3997841"/>
            <a:ext cx="9304799" cy="2364631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dirty="0">
              <a:latin typeface="微软雅黑" panose="020B0503020204020204" pitchFamily="82" charset="2"/>
              <a:ea typeface="微软雅黑" panose="020B0503020204020204" pitchFamily="82" charset="2"/>
              <a:sym typeface="+mn-ea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9159F1A-012B-0E65-A485-27BB0E6E58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81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60FDB883-4906-47AC-16DE-6E3F6FB2B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SkipList</a:t>
            </a:r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 跳表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C4874CF-F45A-699D-8F1C-48B721E4F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230" y="709890"/>
            <a:ext cx="10874188" cy="3059113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插入索引项</a:t>
            </a:r>
            <a:r>
              <a:rPr lang="en-US" altLang="zh-CN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 (x, o) , </a:t>
            </a: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使用随机算法：</a:t>
            </a:r>
            <a:endParaRPr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通过概率（抛硬币）方法得到</a:t>
            </a:r>
            <a:r>
              <a:rPr lang="en-US" altLang="zh-CN" sz="2000" dirty="0" err="1">
                <a:latin typeface="微软雅黑" panose="020B0503020204020204" pitchFamily="82" charset="2"/>
                <a:ea typeface="微软雅黑" panose="020B0503020204020204" pitchFamily="82" charset="2"/>
              </a:rPr>
              <a:t>i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：抛硬币直到出现正面，抛硬币的次数即为</a:t>
            </a:r>
            <a:r>
              <a:rPr lang="en-US" altLang="zh-CN" sz="2000" dirty="0" err="1">
                <a:latin typeface="微软雅黑" panose="020B0503020204020204" pitchFamily="82" charset="2"/>
                <a:ea typeface="微软雅黑" panose="020B0503020204020204" pitchFamily="82" charset="2"/>
              </a:rPr>
              <a:t>i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如果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2000" dirty="0" err="1">
                <a:latin typeface="微软雅黑" panose="020B0503020204020204" pitchFamily="82" charset="2"/>
                <a:ea typeface="微软雅黑" panose="020B0503020204020204" pitchFamily="82" charset="2"/>
              </a:rPr>
              <a:t>i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  <a:sym typeface="Symbol" pitchFamily="2" charset="2"/>
              </a:rPr>
              <a:t>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 h, 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添加新链表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 S</a:t>
            </a:r>
            <a:r>
              <a:rPr lang="en-US" altLang="zh-CN" sz="2000" baseline="-25000" dirty="0">
                <a:latin typeface="微软雅黑" panose="020B0503020204020204" pitchFamily="82" charset="2"/>
                <a:ea typeface="微软雅黑" panose="020B0503020204020204" pitchFamily="82" charset="2"/>
              </a:rPr>
              <a:t>h+1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, … , S</a:t>
            </a:r>
            <a:r>
              <a:rPr lang="en-US" altLang="zh-CN" sz="2000" baseline="-25000" dirty="0">
                <a:latin typeface="微软雅黑" panose="020B0503020204020204" pitchFamily="82" charset="2"/>
                <a:ea typeface="微软雅黑" panose="020B0503020204020204" pitchFamily="82" charset="2"/>
              </a:rPr>
              <a:t>i +1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在链表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S</a:t>
            </a:r>
            <a:r>
              <a:rPr lang="en-US" altLang="zh-CN" sz="2000" baseline="-25000" dirty="0">
                <a:latin typeface="微软雅黑" panose="020B0503020204020204" pitchFamily="82" charset="2"/>
                <a:ea typeface="微软雅黑" panose="020B0503020204020204" pitchFamily="82" charset="2"/>
              </a:rPr>
              <a:t>0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, S</a:t>
            </a:r>
            <a:r>
              <a:rPr lang="en-US" altLang="zh-CN" sz="2000" baseline="-25000" dirty="0">
                <a:latin typeface="微软雅黑" panose="020B0503020204020204" pitchFamily="82" charset="2"/>
                <a:ea typeface="微软雅黑" panose="020B0503020204020204" pitchFamily="82" charset="2"/>
              </a:rPr>
              <a:t>1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, … , S</a:t>
            </a:r>
            <a:r>
              <a:rPr lang="en-US" altLang="zh-CN" sz="2000" baseline="-25000" dirty="0">
                <a:latin typeface="微软雅黑" panose="020B0503020204020204" pitchFamily="82" charset="2"/>
                <a:ea typeface="微软雅黑" panose="020B0503020204020204" pitchFamily="82" charset="2"/>
              </a:rPr>
              <a:t>i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中查找大于等于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x 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的位置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 p</a:t>
            </a:r>
            <a:r>
              <a:rPr lang="en-US" altLang="zh-CN" sz="2000" baseline="-25000" dirty="0">
                <a:latin typeface="微软雅黑" panose="020B0503020204020204" pitchFamily="82" charset="2"/>
                <a:ea typeface="微软雅黑" panose="020B0503020204020204" pitchFamily="82" charset="2"/>
              </a:rPr>
              <a:t>0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,  p</a:t>
            </a:r>
            <a:r>
              <a:rPr lang="en-US" altLang="zh-CN" sz="2000" baseline="-25000" dirty="0">
                <a:latin typeface="微软雅黑" panose="020B0503020204020204" pitchFamily="82" charset="2"/>
                <a:ea typeface="微软雅黑" panose="020B0503020204020204" pitchFamily="82" charset="2"/>
              </a:rPr>
              <a:t>1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 , …, p</a:t>
            </a:r>
            <a:r>
              <a:rPr lang="en-US" altLang="zh-CN" sz="2000" baseline="-25000" dirty="0">
                <a:latin typeface="微软雅黑" panose="020B0503020204020204" pitchFamily="82" charset="2"/>
                <a:ea typeface="微软雅黑" panose="020B0503020204020204" pitchFamily="82" charset="2"/>
              </a:rPr>
              <a:t>i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对于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 j 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  <a:sym typeface="Symbol" pitchFamily="2" charset="2"/>
              </a:rPr>
              <a:t>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 0, …, </a:t>
            </a:r>
            <a:r>
              <a:rPr lang="en-US" altLang="zh-CN" sz="2000" dirty="0" err="1">
                <a:latin typeface="微软雅黑" panose="020B0503020204020204" pitchFamily="82" charset="2"/>
                <a:ea typeface="微软雅黑" panose="020B0503020204020204" pitchFamily="82" charset="2"/>
              </a:rPr>
              <a:t>i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, 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将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(x, o) 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插入到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2000" dirty="0" err="1">
                <a:latin typeface="微软雅黑" panose="020B0503020204020204" pitchFamily="82" charset="2"/>
                <a:ea typeface="微软雅黑" panose="020B0503020204020204" pitchFamily="82" charset="2"/>
              </a:rPr>
              <a:t>S</a:t>
            </a:r>
            <a:r>
              <a:rPr lang="en-US" altLang="zh-CN" sz="2000" baseline="-25000" dirty="0" err="1">
                <a:latin typeface="微软雅黑" panose="020B0503020204020204" pitchFamily="82" charset="2"/>
                <a:ea typeface="微软雅黑" panose="020B0503020204020204" pitchFamily="82" charset="2"/>
              </a:rPr>
              <a:t>j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的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位置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2000" dirty="0" err="1">
                <a:latin typeface="微软雅黑" panose="020B0503020204020204" pitchFamily="82" charset="2"/>
                <a:ea typeface="微软雅黑" panose="020B0503020204020204" pitchFamily="82" charset="2"/>
              </a:rPr>
              <a:t>p</a:t>
            </a:r>
            <a:r>
              <a:rPr lang="en-US" altLang="zh-CN" sz="2000" baseline="-25000" dirty="0" err="1">
                <a:latin typeface="微软雅黑" panose="020B0503020204020204" pitchFamily="82" charset="2"/>
                <a:ea typeface="微软雅黑" panose="020B0503020204020204" pitchFamily="82" charset="2"/>
              </a:rPr>
              <a:t>j</a:t>
            </a:r>
            <a:endParaRPr lang="en-US" altLang="zh-CN" sz="2000" baseline="-25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例子</a:t>
            </a:r>
            <a:r>
              <a:rPr lang="en-US" altLang="zh-CN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: </a:t>
            </a: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插入键值</a:t>
            </a:r>
            <a:r>
              <a:rPr lang="en-US" altLang="zh-CN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 15, </a:t>
            </a:r>
            <a:r>
              <a:rPr lang="en-US" altLang="zh-CN" sz="2400" b="1" dirty="0" err="1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i</a:t>
            </a:r>
            <a:r>
              <a:rPr lang="en-US" altLang="zh-CN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  <a:sym typeface="Symbol" pitchFamily="2" charset="2"/>
              </a:rPr>
              <a:t>=</a:t>
            </a:r>
            <a:r>
              <a:rPr lang="en-US" altLang="zh-CN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 2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4AED29-C9D7-6397-2854-51453BB478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grpSp>
        <p:nvGrpSpPr>
          <p:cNvPr id="142" name="组合 141">
            <a:extLst>
              <a:ext uri="{FF2B5EF4-FFF2-40B4-BE49-F238E27FC236}">
                <a16:creationId xmlns:a16="http://schemas.microsoft.com/office/drawing/2014/main" id="{187F5CD5-0639-EF86-C7E2-718C03BD8A41}"/>
              </a:ext>
            </a:extLst>
          </p:cNvPr>
          <p:cNvGrpSpPr/>
          <p:nvPr/>
        </p:nvGrpSpPr>
        <p:grpSpPr>
          <a:xfrm>
            <a:off x="2008926" y="4111109"/>
            <a:ext cx="8185723" cy="1893332"/>
            <a:chOff x="2370876" y="4240213"/>
            <a:chExt cx="8185723" cy="1893332"/>
          </a:xfrm>
        </p:grpSpPr>
        <p:sp>
          <p:nvSpPr>
            <p:cNvPr id="74" name="Line 72">
              <a:extLst>
                <a:ext uri="{FF2B5EF4-FFF2-40B4-BE49-F238E27FC236}">
                  <a16:creationId xmlns:a16="http://schemas.microsoft.com/office/drawing/2014/main" id="{AB43AFB3-2629-6FA3-7E4B-37D2C48741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04199" y="4545013"/>
              <a:ext cx="0" cy="12954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  <p:sp>
          <p:nvSpPr>
            <p:cNvPr id="75" name="Line 71">
              <a:extLst>
                <a:ext uri="{FF2B5EF4-FFF2-40B4-BE49-F238E27FC236}">
                  <a16:creationId xmlns:a16="http://schemas.microsoft.com/office/drawing/2014/main" id="{4DDAD5D3-6CB3-3721-C962-F2350B91BD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08799" y="5535613"/>
              <a:ext cx="0" cy="3048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  <p:sp>
          <p:nvSpPr>
            <p:cNvPr id="76" name="Line 70">
              <a:extLst>
                <a:ext uri="{FF2B5EF4-FFF2-40B4-BE49-F238E27FC236}">
                  <a16:creationId xmlns:a16="http://schemas.microsoft.com/office/drawing/2014/main" id="{D207AA33-1C75-8882-61EA-C1E16F8D4C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99199" y="5002213"/>
              <a:ext cx="0" cy="8382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  <p:sp>
          <p:nvSpPr>
            <p:cNvPr id="77" name="Line 69">
              <a:extLst>
                <a:ext uri="{FF2B5EF4-FFF2-40B4-BE49-F238E27FC236}">
                  <a16:creationId xmlns:a16="http://schemas.microsoft.com/office/drawing/2014/main" id="{C30B9307-D7B7-7BF0-6CEA-2A842080D8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79999" y="4545013"/>
              <a:ext cx="0" cy="12954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  <p:sp>
          <p:nvSpPr>
            <p:cNvPr id="78" name="Line 68">
              <a:extLst>
                <a:ext uri="{FF2B5EF4-FFF2-40B4-BE49-F238E27FC236}">
                  <a16:creationId xmlns:a16="http://schemas.microsoft.com/office/drawing/2014/main" id="{F730D92D-45EC-5CE5-36DA-055A847947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36599" y="5002213"/>
              <a:ext cx="0" cy="8382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  <p:sp>
          <p:nvSpPr>
            <p:cNvPr id="79" name="Line 66">
              <a:extLst>
                <a:ext uri="{FF2B5EF4-FFF2-40B4-BE49-F238E27FC236}">
                  <a16:creationId xmlns:a16="http://schemas.microsoft.com/office/drawing/2014/main" id="{7D6A2333-DF3A-D9CD-A1A1-E7D535A4F0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74999" y="5002213"/>
              <a:ext cx="0" cy="8382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  <p:sp>
          <p:nvSpPr>
            <p:cNvPr id="80" name="Rectangle 4">
              <a:extLst>
                <a:ext uri="{FF2B5EF4-FFF2-40B4-BE49-F238E27FC236}">
                  <a16:creationId xmlns:a16="http://schemas.microsoft.com/office/drawing/2014/main" id="{A3455302-7AFC-1656-7DEA-8D31044198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2599" y="5835650"/>
              <a:ext cx="361950" cy="215900"/>
            </a:xfrm>
            <a:prstGeom prst="rect">
              <a:avLst/>
            </a:prstGeom>
            <a:solidFill>
              <a:srgbClr val="CCCC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82" charset="2"/>
                  <a:ea typeface="微软雅黑" panose="020B0503020204020204" pitchFamily="82" charset="2"/>
                  <a:sym typeface="Symbol" pitchFamily="2" charset="2"/>
                </a:rPr>
                <a:t>+</a:t>
              </a:r>
              <a:endPara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  <p:sp>
          <p:nvSpPr>
            <p:cNvPr id="81" name="Rectangle 5">
              <a:extLst>
                <a:ext uri="{FF2B5EF4-FFF2-40B4-BE49-F238E27FC236}">
                  <a16:creationId xmlns:a16="http://schemas.microsoft.com/office/drawing/2014/main" id="{78E6454B-B833-67F6-1616-021345655F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2924" y="5835650"/>
              <a:ext cx="363538" cy="215900"/>
            </a:xfrm>
            <a:prstGeom prst="rect">
              <a:avLst/>
            </a:prstGeom>
            <a:solidFill>
              <a:srgbClr val="CCCC00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82" charset="2"/>
                  <a:ea typeface="微软雅黑" panose="020B0503020204020204" pitchFamily="82" charset="2"/>
                  <a:sym typeface="Symbol" pitchFamily="2" charset="2"/>
                </a:rPr>
                <a:t>-</a:t>
              </a:r>
            </a:p>
          </p:txBody>
        </p:sp>
        <p:sp>
          <p:nvSpPr>
            <p:cNvPr id="82" name="Rectangle 6">
              <a:extLst>
                <a:ext uri="{FF2B5EF4-FFF2-40B4-BE49-F238E27FC236}">
                  <a16:creationId xmlns:a16="http://schemas.microsoft.com/office/drawing/2014/main" id="{10B3DA58-1581-0986-6CA4-B7752AB206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2049" y="5835650"/>
              <a:ext cx="363538" cy="215900"/>
            </a:xfrm>
            <a:prstGeom prst="rect">
              <a:avLst/>
            </a:prstGeom>
            <a:solidFill>
              <a:srgbClr val="CCCC00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5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82" charset="2"/>
                  <a:ea typeface="微软雅黑" panose="020B0503020204020204" pitchFamily="82" charset="2"/>
                </a:rPr>
                <a:t>10</a:t>
              </a:r>
            </a:p>
          </p:txBody>
        </p:sp>
        <p:sp>
          <p:nvSpPr>
            <p:cNvPr id="83" name="Rectangle 7">
              <a:extLst>
                <a:ext uri="{FF2B5EF4-FFF2-40B4-BE49-F238E27FC236}">
                  <a16:creationId xmlns:a16="http://schemas.microsoft.com/office/drawing/2014/main" id="{2749BE31-DAD2-062D-352C-7053AD13F5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1887" y="5835650"/>
              <a:ext cx="363537" cy="215900"/>
            </a:xfrm>
            <a:prstGeom prst="rect">
              <a:avLst/>
            </a:prstGeom>
            <a:solidFill>
              <a:srgbClr val="CCCC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5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82" charset="2"/>
                  <a:ea typeface="微软雅黑" panose="020B0503020204020204" pitchFamily="82" charset="2"/>
                </a:rPr>
                <a:t>36</a:t>
              </a:r>
            </a:p>
          </p:txBody>
        </p:sp>
        <p:cxnSp>
          <p:nvCxnSpPr>
            <p:cNvPr id="84" name="AutoShape 8">
              <a:extLst>
                <a:ext uri="{FF2B5EF4-FFF2-40B4-BE49-F238E27FC236}">
                  <a16:creationId xmlns:a16="http://schemas.microsoft.com/office/drawing/2014/main" id="{A396F76B-75AC-088A-3FE7-E13812F8A4FA}"/>
                </a:ext>
              </a:extLst>
            </p:cNvPr>
            <p:cNvCxnSpPr>
              <a:cxnSpLocks noChangeShapeType="1"/>
              <a:stCxn id="81" idx="3"/>
              <a:endCxn id="82" idx="1"/>
            </p:cNvCxnSpPr>
            <p:nvPr/>
          </p:nvCxnSpPr>
          <p:spPr bwMode="auto">
            <a:xfrm>
              <a:off x="3125512" y="5943600"/>
              <a:ext cx="217487" cy="0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5" name="AutoShape 9">
              <a:extLst>
                <a:ext uri="{FF2B5EF4-FFF2-40B4-BE49-F238E27FC236}">
                  <a16:creationId xmlns:a16="http://schemas.microsoft.com/office/drawing/2014/main" id="{5B18636C-67F2-516B-D752-7393573E5E42}"/>
                </a:ext>
              </a:extLst>
            </p:cNvPr>
            <p:cNvCxnSpPr>
              <a:cxnSpLocks noChangeShapeType="1"/>
              <a:stCxn id="91" idx="3"/>
              <a:endCxn id="83" idx="1"/>
            </p:cNvCxnSpPr>
            <p:nvPr/>
          </p:nvCxnSpPr>
          <p:spPr bwMode="auto">
            <a:xfrm>
              <a:off x="4363762" y="5943600"/>
              <a:ext cx="228600" cy="0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6" name="AutoShape 10">
              <a:extLst>
                <a:ext uri="{FF2B5EF4-FFF2-40B4-BE49-F238E27FC236}">
                  <a16:creationId xmlns:a16="http://schemas.microsoft.com/office/drawing/2014/main" id="{DECC97EC-2CDD-D662-9813-69E136231165}"/>
                </a:ext>
              </a:extLst>
            </p:cNvPr>
            <p:cNvCxnSpPr>
              <a:cxnSpLocks noChangeShapeType="1"/>
              <a:stCxn id="82" idx="3"/>
              <a:endCxn id="91" idx="1"/>
            </p:cNvCxnSpPr>
            <p:nvPr/>
          </p:nvCxnSpPr>
          <p:spPr bwMode="auto">
            <a:xfrm>
              <a:off x="3744637" y="5943600"/>
              <a:ext cx="217487" cy="0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7" name="AutoShape 11">
              <a:extLst>
                <a:ext uri="{FF2B5EF4-FFF2-40B4-BE49-F238E27FC236}">
                  <a16:creationId xmlns:a16="http://schemas.microsoft.com/office/drawing/2014/main" id="{65B794BD-1543-D927-89DC-A0ABF731CE9C}"/>
                </a:ext>
              </a:extLst>
            </p:cNvPr>
            <p:cNvCxnSpPr>
              <a:cxnSpLocks noChangeShapeType="1"/>
              <a:stCxn id="83" idx="3"/>
              <a:endCxn id="80" idx="1"/>
            </p:cNvCxnSpPr>
            <p:nvPr/>
          </p:nvCxnSpPr>
          <p:spPr bwMode="auto">
            <a:xfrm>
              <a:off x="4974949" y="5943600"/>
              <a:ext cx="238125" cy="0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8" name="Rectangle 12">
              <a:extLst>
                <a:ext uri="{FF2B5EF4-FFF2-40B4-BE49-F238E27FC236}">
                  <a16:creationId xmlns:a16="http://schemas.microsoft.com/office/drawing/2014/main" id="{190F9091-E77D-D5D9-3AED-8F94DFEF86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2599" y="4822825"/>
              <a:ext cx="361950" cy="215900"/>
            </a:xfrm>
            <a:prstGeom prst="rect">
              <a:avLst/>
            </a:prstGeom>
            <a:solidFill>
              <a:srgbClr val="CCCC00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82" charset="2"/>
                  <a:ea typeface="微软雅黑" panose="020B0503020204020204" pitchFamily="82" charset="2"/>
                  <a:sym typeface="Symbol" pitchFamily="2" charset="2"/>
                </a:rPr>
                <a:t>+</a:t>
              </a:r>
              <a:endPara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  <p:sp>
          <p:nvSpPr>
            <p:cNvPr id="89" name="Rectangle 13">
              <a:extLst>
                <a:ext uri="{FF2B5EF4-FFF2-40B4-BE49-F238E27FC236}">
                  <a16:creationId xmlns:a16="http://schemas.microsoft.com/office/drawing/2014/main" id="{D44E9C10-CEC0-B331-0D7C-4F9E1E0181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2924" y="4822825"/>
              <a:ext cx="363538" cy="215900"/>
            </a:xfrm>
            <a:prstGeom prst="rect">
              <a:avLst/>
            </a:prstGeom>
            <a:solidFill>
              <a:srgbClr val="CCCC00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82" charset="2"/>
                  <a:ea typeface="微软雅黑" panose="020B0503020204020204" pitchFamily="82" charset="2"/>
                  <a:sym typeface="Symbol" pitchFamily="2" charset="2"/>
                </a:rPr>
                <a:t>-</a:t>
              </a:r>
              <a:endPara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  <p:cxnSp>
          <p:nvCxnSpPr>
            <p:cNvPr id="90" name="AutoShape 14">
              <a:extLst>
                <a:ext uri="{FF2B5EF4-FFF2-40B4-BE49-F238E27FC236}">
                  <a16:creationId xmlns:a16="http://schemas.microsoft.com/office/drawing/2014/main" id="{51C15BC6-8CB9-087E-497F-477727A72F11}"/>
                </a:ext>
              </a:extLst>
            </p:cNvPr>
            <p:cNvCxnSpPr>
              <a:cxnSpLocks noChangeShapeType="1"/>
              <a:stCxn id="89" idx="3"/>
              <a:endCxn id="88" idx="1"/>
            </p:cNvCxnSpPr>
            <p:nvPr/>
          </p:nvCxnSpPr>
          <p:spPr bwMode="auto">
            <a:xfrm>
              <a:off x="3125512" y="4930775"/>
              <a:ext cx="2078037" cy="0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91" name="Rectangle 15">
              <a:extLst>
                <a:ext uri="{FF2B5EF4-FFF2-40B4-BE49-F238E27FC236}">
                  <a16:creationId xmlns:a16="http://schemas.microsoft.com/office/drawing/2014/main" id="{AFEAEFAA-3151-0A41-E611-93A164452E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1174" y="5835650"/>
              <a:ext cx="363538" cy="215900"/>
            </a:xfrm>
            <a:prstGeom prst="rect">
              <a:avLst/>
            </a:prstGeom>
            <a:solidFill>
              <a:srgbClr val="CCCC00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5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82" charset="2"/>
                  <a:ea typeface="微软雅黑" panose="020B0503020204020204" pitchFamily="82" charset="2"/>
                </a:rPr>
                <a:t>23</a:t>
              </a:r>
            </a:p>
          </p:txBody>
        </p:sp>
        <p:sp>
          <p:nvSpPr>
            <p:cNvPr id="92" name="Rectangle 16">
              <a:extLst>
                <a:ext uri="{FF2B5EF4-FFF2-40B4-BE49-F238E27FC236}">
                  <a16:creationId xmlns:a16="http://schemas.microsoft.com/office/drawing/2014/main" id="{87C27E94-3B54-F678-2537-9EC91A5F93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2762" y="5335588"/>
              <a:ext cx="363537" cy="215900"/>
            </a:xfrm>
            <a:prstGeom prst="rect">
              <a:avLst/>
            </a:prstGeom>
            <a:solidFill>
              <a:srgbClr val="CCCC00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5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82" charset="2"/>
                  <a:ea typeface="微软雅黑" panose="020B0503020204020204" pitchFamily="82" charset="2"/>
                </a:rPr>
                <a:t>23</a:t>
              </a:r>
            </a:p>
          </p:txBody>
        </p:sp>
        <p:sp>
          <p:nvSpPr>
            <p:cNvPr id="93" name="Rectangle 17">
              <a:extLst>
                <a:ext uri="{FF2B5EF4-FFF2-40B4-BE49-F238E27FC236}">
                  <a16:creationId xmlns:a16="http://schemas.microsoft.com/office/drawing/2014/main" id="{AD1E24AB-4B05-4D59-4835-0BF28083AC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2599" y="5329238"/>
              <a:ext cx="361950" cy="215900"/>
            </a:xfrm>
            <a:prstGeom prst="rect">
              <a:avLst/>
            </a:prstGeom>
            <a:solidFill>
              <a:srgbClr val="CCCC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82" charset="2"/>
                  <a:ea typeface="微软雅黑" panose="020B0503020204020204" pitchFamily="82" charset="2"/>
                  <a:sym typeface="Symbol" pitchFamily="2" charset="2"/>
                </a:rPr>
                <a:t>+</a:t>
              </a:r>
              <a:endPara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  <p:sp>
          <p:nvSpPr>
            <p:cNvPr id="94" name="Rectangle 18">
              <a:extLst>
                <a:ext uri="{FF2B5EF4-FFF2-40B4-BE49-F238E27FC236}">
                  <a16:creationId xmlns:a16="http://schemas.microsoft.com/office/drawing/2014/main" id="{F6C10B75-D583-14F3-0C3F-F7390BE85E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2924" y="5329238"/>
              <a:ext cx="363538" cy="215900"/>
            </a:xfrm>
            <a:prstGeom prst="rect">
              <a:avLst/>
            </a:prstGeom>
            <a:solidFill>
              <a:srgbClr val="CCCC00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82" charset="2"/>
                  <a:ea typeface="微软雅黑" panose="020B0503020204020204" pitchFamily="82" charset="2"/>
                  <a:sym typeface="Symbol" pitchFamily="2" charset="2"/>
                </a:rPr>
                <a:t>-</a:t>
              </a:r>
              <a:endPara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  <p:cxnSp>
          <p:nvCxnSpPr>
            <p:cNvPr id="95" name="AutoShape 19">
              <a:extLst>
                <a:ext uri="{FF2B5EF4-FFF2-40B4-BE49-F238E27FC236}">
                  <a16:creationId xmlns:a16="http://schemas.microsoft.com/office/drawing/2014/main" id="{82C03366-DB84-EEF6-9312-87E6B870FE03}"/>
                </a:ext>
              </a:extLst>
            </p:cNvPr>
            <p:cNvCxnSpPr>
              <a:cxnSpLocks noChangeShapeType="1"/>
              <a:stCxn id="94" idx="3"/>
              <a:endCxn id="92" idx="1"/>
            </p:cNvCxnSpPr>
            <p:nvPr/>
          </p:nvCxnSpPr>
          <p:spPr bwMode="auto">
            <a:xfrm>
              <a:off x="3125512" y="5437188"/>
              <a:ext cx="838200" cy="6350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6" name="AutoShape 20">
              <a:extLst>
                <a:ext uri="{FF2B5EF4-FFF2-40B4-BE49-F238E27FC236}">
                  <a16:creationId xmlns:a16="http://schemas.microsoft.com/office/drawing/2014/main" id="{49A1EF2F-A35F-C6FA-35D4-E54EAB5F71B1}"/>
                </a:ext>
              </a:extLst>
            </p:cNvPr>
            <p:cNvCxnSpPr>
              <a:cxnSpLocks noChangeShapeType="1"/>
              <a:stCxn id="92" idx="3"/>
              <a:endCxn id="93" idx="1"/>
            </p:cNvCxnSpPr>
            <p:nvPr/>
          </p:nvCxnSpPr>
          <p:spPr bwMode="auto">
            <a:xfrm flipV="1">
              <a:off x="4365349" y="5437188"/>
              <a:ext cx="847725" cy="6350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97" name="Text Box 21">
              <a:extLst>
                <a:ext uri="{FF2B5EF4-FFF2-40B4-BE49-F238E27FC236}">
                  <a16:creationId xmlns:a16="http://schemas.microsoft.com/office/drawing/2014/main" id="{3AFF9BAB-DB59-ABFB-C1B3-35EF1287A9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70876" y="5761038"/>
              <a:ext cx="41389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b="1" i="1">
                  <a:solidFill>
                    <a:srgbClr val="000000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S</a:t>
              </a:r>
              <a:r>
                <a:rPr lang="en-US" altLang="zh-CN" baseline="-25000">
                  <a:solidFill>
                    <a:srgbClr val="000000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0</a:t>
              </a:r>
            </a:p>
          </p:txBody>
        </p:sp>
        <p:sp>
          <p:nvSpPr>
            <p:cNvPr id="98" name="Text Box 22">
              <a:extLst>
                <a:ext uri="{FF2B5EF4-FFF2-40B4-BE49-F238E27FC236}">
                  <a16:creationId xmlns:a16="http://schemas.microsoft.com/office/drawing/2014/main" id="{7F08D063-4F73-DC35-C51A-D31068E924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70876" y="5253038"/>
              <a:ext cx="41389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b="1" i="1">
                  <a:solidFill>
                    <a:srgbClr val="000000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S</a:t>
              </a:r>
              <a:r>
                <a:rPr lang="en-US" altLang="zh-CN" baseline="-25000">
                  <a:solidFill>
                    <a:srgbClr val="000000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1</a:t>
              </a:r>
            </a:p>
          </p:txBody>
        </p:sp>
        <p:sp>
          <p:nvSpPr>
            <p:cNvPr id="99" name="Text Box 23">
              <a:extLst>
                <a:ext uri="{FF2B5EF4-FFF2-40B4-BE49-F238E27FC236}">
                  <a16:creationId xmlns:a16="http://schemas.microsoft.com/office/drawing/2014/main" id="{2495638B-6698-EAC6-5E8C-728791EA82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70876" y="4745038"/>
              <a:ext cx="41389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b="1" i="1">
                  <a:solidFill>
                    <a:srgbClr val="000000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S</a:t>
              </a:r>
              <a:r>
                <a:rPr lang="en-US" altLang="zh-CN" baseline="-25000">
                  <a:solidFill>
                    <a:srgbClr val="000000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2</a:t>
              </a:r>
            </a:p>
          </p:txBody>
        </p:sp>
        <p:grpSp>
          <p:nvGrpSpPr>
            <p:cNvPr id="100" name="Group 24">
              <a:extLst>
                <a:ext uri="{FF2B5EF4-FFF2-40B4-BE49-F238E27FC236}">
                  <a16:creationId xmlns:a16="http://schemas.microsoft.com/office/drawing/2014/main" id="{C87CD663-EA05-35ED-A2A6-3754F10BDA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95849" y="4319588"/>
              <a:ext cx="3460750" cy="215900"/>
              <a:chOff x="3154" y="2834"/>
              <a:chExt cx="2180" cy="136"/>
            </a:xfrm>
          </p:grpSpPr>
          <p:sp>
            <p:nvSpPr>
              <p:cNvPr id="101" name="Rectangle 25">
                <a:extLst>
                  <a:ext uri="{FF2B5EF4-FFF2-40B4-BE49-F238E27FC236}">
                    <a16:creationId xmlns:a16="http://schemas.microsoft.com/office/drawing/2014/main" id="{0BF2BFAE-44D3-B3A5-7186-9E3C68A370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06" y="2834"/>
                <a:ext cx="228" cy="136"/>
              </a:xfrm>
              <a:prstGeom prst="rect">
                <a:avLst/>
              </a:prstGeom>
              <a:solidFill>
                <a:srgbClr val="CCCC00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82" charset="2"/>
                    <a:ea typeface="微软雅黑" panose="020B0503020204020204" pitchFamily="82" charset="2"/>
                    <a:sym typeface="Symbol" pitchFamily="2" charset="2"/>
                  </a:rPr>
                  <a:t>+</a:t>
                </a:r>
                <a:endPara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82" charset="2"/>
                  <a:ea typeface="微软雅黑" panose="020B0503020204020204" pitchFamily="82" charset="2"/>
                </a:endParaRPr>
              </a:p>
            </p:txBody>
          </p:sp>
          <p:sp>
            <p:nvSpPr>
              <p:cNvPr id="102" name="Rectangle 26">
                <a:extLst>
                  <a:ext uri="{FF2B5EF4-FFF2-40B4-BE49-F238E27FC236}">
                    <a16:creationId xmlns:a16="http://schemas.microsoft.com/office/drawing/2014/main" id="{BA44E07C-E453-ACB5-C8E9-0EC7B0A32C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54" y="2834"/>
                <a:ext cx="229" cy="136"/>
              </a:xfrm>
              <a:prstGeom prst="rect">
                <a:avLst/>
              </a:prstGeom>
              <a:solidFill>
                <a:srgbClr val="CCCC00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82" charset="2"/>
                    <a:ea typeface="微软雅黑" panose="020B0503020204020204" pitchFamily="82" charset="2"/>
                    <a:sym typeface="Symbol" pitchFamily="2" charset="2"/>
                  </a:rPr>
                  <a:t>-</a:t>
                </a:r>
              </a:p>
            </p:txBody>
          </p:sp>
          <p:cxnSp>
            <p:nvCxnSpPr>
              <p:cNvPr id="103" name="AutoShape 27">
                <a:extLst>
                  <a:ext uri="{FF2B5EF4-FFF2-40B4-BE49-F238E27FC236}">
                    <a16:creationId xmlns:a16="http://schemas.microsoft.com/office/drawing/2014/main" id="{13A440EF-FB2A-E357-CC6E-3DA175AE0E46}"/>
                  </a:ext>
                </a:extLst>
              </p:cNvPr>
              <p:cNvCxnSpPr>
                <a:cxnSpLocks noChangeShapeType="1"/>
                <a:stCxn id="102" idx="3"/>
                <a:endCxn id="101" idx="1"/>
              </p:cNvCxnSpPr>
              <p:nvPr/>
            </p:nvCxnSpPr>
            <p:spPr bwMode="auto">
              <a:xfrm>
                <a:off x="3389" y="2902"/>
                <a:ext cx="1711" cy="0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104" name="Text Box 28">
              <a:extLst>
                <a:ext uri="{FF2B5EF4-FFF2-40B4-BE49-F238E27FC236}">
                  <a16:creationId xmlns:a16="http://schemas.microsoft.com/office/drawing/2014/main" id="{8FD4C6FF-88CF-E405-1FB1-5602AC85C8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42851" y="5764213"/>
              <a:ext cx="41389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b="1" i="1">
                  <a:solidFill>
                    <a:srgbClr val="000000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S</a:t>
              </a:r>
              <a:r>
                <a:rPr lang="en-US" altLang="zh-CN" baseline="-25000">
                  <a:solidFill>
                    <a:srgbClr val="000000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0</a:t>
              </a:r>
            </a:p>
          </p:txBody>
        </p:sp>
        <p:sp>
          <p:nvSpPr>
            <p:cNvPr id="105" name="Text Box 29">
              <a:extLst>
                <a:ext uri="{FF2B5EF4-FFF2-40B4-BE49-F238E27FC236}">
                  <a16:creationId xmlns:a16="http://schemas.microsoft.com/office/drawing/2014/main" id="{FB26A60E-F797-B40C-FC77-0E57EE39A3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42851" y="5256213"/>
              <a:ext cx="41389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b="1" i="1">
                  <a:solidFill>
                    <a:srgbClr val="000000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S</a:t>
              </a:r>
              <a:r>
                <a:rPr lang="en-US" altLang="zh-CN" baseline="-25000">
                  <a:solidFill>
                    <a:srgbClr val="000000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1</a:t>
              </a:r>
            </a:p>
          </p:txBody>
        </p:sp>
        <p:sp>
          <p:nvSpPr>
            <p:cNvPr id="106" name="Text Box 30">
              <a:extLst>
                <a:ext uri="{FF2B5EF4-FFF2-40B4-BE49-F238E27FC236}">
                  <a16:creationId xmlns:a16="http://schemas.microsoft.com/office/drawing/2014/main" id="{366047B5-8A07-3FF2-6A10-BB78F92108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42851" y="4748213"/>
              <a:ext cx="41389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b="1" i="1">
                  <a:solidFill>
                    <a:srgbClr val="000000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S</a:t>
              </a:r>
              <a:r>
                <a:rPr lang="en-US" altLang="zh-CN" baseline="-25000">
                  <a:solidFill>
                    <a:srgbClr val="000000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2</a:t>
              </a:r>
            </a:p>
          </p:txBody>
        </p:sp>
        <p:sp>
          <p:nvSpPr>
            <p:cNvPr id="107" name="Text Box 31">
              <a:extLst>
                <a:ext uri="{FF2B5EF4-FFF2-40B4-BE49-F238E27FC236}">
                  <a16:creationId xmlns:a16="http://schemas.microsoft.com/office/drawing/2014/main" id="{8AB2119F-98FC-73D0-DF86-EAE05BFF5D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33326" y="4240213"/>
              <a:ext cx="41389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b="1" i="1">
                  <a:solidFill>
                    <a:srgbClr val="000000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S</a:t>
              </a:r>
              <a:r>
                <a:rPr lang="en-US" altLang="zh-CN" baseline="-25000">
                  <a:solidFill>
                    <a:srgbClr val="000000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3</a:t>
              </a:r>
            </a:p>
          </p:txBody>
        </p:sp>
        <p:grpSp>
          <p:nvGrpSpPr>
            <p:cNvPr id="108" name="Group 32">
              <a:extLst>
                <a:ext uri="{FF2B5EF4-FFF2-40B4-BE49-F238E27FC236}">
                  <a16:creationId xmlns:a16="http://schemas.microsoft.com/office/drawing/2014/main" id="{8DC129E3-AEFD-8CFE-FB68-A711D315C3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95849" y="5838825"/>
              <a:ext cx="3460750" cy="217488"/>
              <a:chOff x="3154" y="3791"/>
              <a:chExt cx="2180" cy="137"/>
            </a:xfrm>
          </p:grpSpPr>
          <p:sp>
            <p:nvSpPr>
              <p:cNvPr id="109" name="Rectangle 33">
                <a:extLst>
                  <a:ext uri="{FF2B5EF4-FFF2-40B4-BE49-F238E27FC236}">
                    <a16:creationId xmlns:a16="http://schemas.microsoft.com/office/drawing/2014/main" id="{ED4D72FE-690E-63C0-B458-1AA42B9F37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06" y="3791"/>
                <a:ext cx="228" cy="136"/>
              </a:xfrm>
              <a:prstGeom prst="rect">
                <a:avLst/>
              </a:prstGeom>
              <a:solidFill>
                <a:srgbClr val="CCCC00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82" charset="2"/>
                    <a:ea typeface="微软雅黑" panose="020B0503020204020204" pitchFamily="82" charset="2"/>
                    <a:sym typeface="Symbol" pitchFamily="2" charset="2"/>
                  </a:rPr>
                  <a:t>+</a:t>
                </a:r>
                <a:endPara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82" charset="2"/>
                  <a:ea typeface="微软雅黑" panose="020B0503020204020204" pitchFamily="82" charset="2"/>
                </a:endParaRPr>
              </a:p>
            </p:txBody>
          </p:sp>
          <p:sp>
            <p:nvSpPr>
              <p:cNvPr id="110" name="Rectangle 34">
                <a:extLst>
                  <a:ext uri="{FF2B5EF4-FFF2-40B4-BE49-F238E27FC236}">
                    <a16:creationId xmlns:a16="http://schemas.microsoft.com/office/drawing/2014/main" id="{37CAEBCF-68E3-7F49-986B-8D68A02A4C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54" y="3791"/>
                <a:ext cx="229" cy="136"/>
              </a:xfrm>
              <a:prstGeom prst="rect">
                <a:avLst/>
              </a:prstGeom>
              <a:solidFill>
                <a:srgbClr val="CCCC00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82" charset="2"/>
                    <a:ea typeface="微软雅黑" panose="020B0503020204020204" pitchFamily="82" charset="2"/>
                    <a:sym typeface="Symbol" pitchFamily="2" charset="2"/>
                  </a:rPr>
                  <a:t>-</a:t>
                </a:r>
              </a:p>
            </p:txBody>
          </p:sp>
          <p:sp>
            <p:nvSpPr>
              <p:cNvPr id="111" name="Rectangle 35">
                <a:extLst>
                  <a:ext uri="{FF2B5EF4-FFF2-40B4-BE49-F238E27FC236}">
                    <a16:creationId xmlns:a16="http://schemas.microsoft.com/office/drawing/2014/main" id="{EE7798AC-DA0C-49F3-72E5-56D135D196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4" y="3791"/>
                <a:ext cx="229" cy="136"/>
              </a:xfrm>
              <a:prstGeom prst="rect">
                <a:avLst/>
              </a:prstGeom>
              <a:solidFill>
                <a:srgbClr val="CCCC00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82" charset="2"/>
                    <a:ea typeface="微软雅黑" panose="020B0503020204020204" pitchFamily="82" charset="2"/>
                  </a:rPr>
                  <a:t>10</a:t>
                </a:r>
              </a:p>
            </p:txBody>
          </p:sp>
          <p:sp>
            <p:nvSpPr>
              <p:cNvPr id="112" name="Rectangle 36">
                <a:extLst>
                  <a:ext uri="{FF2B5EF4-FFF2-40B4-BE49-F238E27FC236}">
                    <a16:creationId xmlns:a16="http://schemas.microsoft.com/office/drawing/2014/main" id="{DF25A8C7-B135-CFBB-49A7-851E6E1740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15" y="3791"/>
                <a:ext cx="229" cy="136"/>
              </a:xfrm>
              <a:prstGeom prst="rect">
                <a:avLst/>
              </a:prstGeom>
              <a:solidFill>
                <a:srgbClr val="CCCC00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82" charset="2"/>
                    <a:ea typeface="微软雅黑" panose="020B0503020204020204" pitchFamily="82" charset="2"/>
                  </a:rPr>
                  <a:t>36</a:t>
                </a:r>
              </a:p>
            </p:txBody>
          </p:sp>
          <p:cxnSp>
            <p:nvCxnSpPr>
              <p:cNvPr id="113" name="AutoShape 37">
                <a:extLst>
                  <a:ext uri="{FF2B5EF4-FFF2-40B4-BE49-F238E27FC236}">
                    <a16:creationId xmlns:a16="http://schemas.microsoft.com/office/drawing/2014/main" id="{B3236398-7C48-E323-40D3-0C4F59E8341B}"/>
                  </a:ext>
                </a:extLst>
              </p:cNvPr>
              <p:cNvCxnSpPr>
                <a:cxnSpLocks noChangeShapeType="1"/>
                <a:stCxn id="110" idx="3"/>
                <a:endCxn id="111" idx="1"/>
              </p:cNvCxnSpPr>
              <p:nvPr/>
            </p:nvCxnSpPr>
            <p:spPr bwMode="auto">
              <a:xfrm>
                <a:off x="3389" y="3859"/>
                <a:ext cx="149" cy="0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14" name="AutoShape 38">
                <a:extLst>
                  <a:ext uri="{FF2B5EF4-FFF2-40B4-BE49-F238E27FC236}">
                    <a16:creationId xmlns:a16="http://schemas.microsoft.com/office/drawing/2014/main" id="{5EAB1F9A-6C95-3C0F-2A34-17137352DD89}"/>
                  </a:ext>
                </a:extLst>
              </p:cNvPr>
              <p:cNvCxnSpPr>
                <a:cxnSpLocks noChangeShapeType="1"/>
                <a:stCxn id="117" idx="3"/>
                <a:endCxn id="112" idx="1"/>
              </p:cNvCxnSpPr>
              <p:nvPr/>
            </p:nvCxnSpPr>
            <p:spPr bwMode="auto">
              <a:xfrm>
                <a:off x="4559" y="3859"/>
                <a:ext cx="150" cy="0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15" name="AutoShape 39">
                <a:extLst>
                  <a:ext uri="{FF2B5EF4-FFF2-40B4-BE49-F238E27FC236}">
                    <a16:creationId xmlns:a16="http://schemas.microsoft.com/office/drawing/2014/main" id="{C1C9499E-2344-E693-5B0D-CC3D8F903FA0}"/>
                  </a:ext>
                </a:extLst>
              </p:cNvPr>
              <p:cNvCxnSpPr>
                <a:cxnSpLocks noChangeShapeType="1"/>
                <a:stCxn id="111" idx="3"/>
                <a:endCxn id="118" idx="1"/>
              </p:cNvCxnSpPr>
              <p:nvPr/>
            </p:nvCxnSpPr>
            <p:spPr bwMode="auto">
              <a:xfrm>
                <a:off x="3779" y="3859"/>
                <a:ext cx="151" cy="1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16" name="AutoShape 40">
                <a:extLst>
                  <a:ext uri="{FF2B5EF4-FFF2-40B4-BE49-F238E27FC236}">
                    <a16:creationId xmlns:a16="http://schemas.microsoft.com/office/drawing/2014/main" id="{4874D6D8-183D-EC55-2721-65251041A8C4}"/>
                  </a:ext>
                </a:extLst>
              </p:cNvPr>
              <p:cNvCxnSpPr>
                <a:cxnSpLocks noChangeShapeType="1"/>
                <a:stCxn id="112" idx="3"/>
                <a:endCxn id="109" idx="1"/>
              </p:cNvCxnSpPr>
              <p:nvPr/>
            </p:nvCxnSpPr>
            <p:spPr bwMode="auto">
              <a:xfrm>
                <a:off x="4950" y="3859"/>
                <a:ext cx="150" cy="0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117" name="Rectangle 41">
                <a:extLst>
                  <a:ext uri="{FF2B5EF4-FFF2-40B4-BE49-F238E27FC236}">
                    <a16:creationId xmlns:a16="http://schemas.microsoft.com/office/drawing/2014/main" id="{70437577-01BF-8C9A-4DC2-9034C2D5BF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4" y="3791"/>
                <a:ext cx="229" cy="136"/>
              </a:xfrm>
              <a:prstGeom prst="rect">
                <a:avLst/>
              </a:prstGeom>
              <a:solidFill>
                <a:srgbClr val="CCCC00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82" charset="2"/>
                    <a:ea typeface="微软雅黑" panose="020B0503020204020204" pitchFamily="82" charset="2"/>
                  </a:rPr>
                  <a:t>23</a:t>
                </a:r>
              </a:p>
            </p:txBody>
          </p:sp>
          <p:sp>
            <p:nvSpPr>
              <p:cNvPr id="118" name="Rectangle 42">
                <a:extLst>
                  <a:ext uri="{FF2B5EF4-FFF2-40B4-BE49-F238E27FC236}">
                    <a16:creationId xmlns:a16="http://schemas.microsoft.com/office/drawing/2014/main" id="{E4E71554-DC08-5708-9ED8-3AE38D3587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36" y="3792"/>
                <a:ext cx="229" cy="136"/>
              </a:xfrm>
              <a:prstGeom prst="rect">
                <a:avLst/>
              </a:prstGeom>
              <a:solidFill>
                <a:srgbClr val="808080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82" charset="2"/>
                    <a:ea typeface="微软雅黑" panose="020B0503020204020204" pitchFamily="82" charset="2"/>
                  </a:rPr>
                  <a:t>15</a:t>
                </a:r>
              </a:p>
            </p:txBody>
          </p:sp>
          <p:cxnSp>
            <p:nvCxnSpPr>
              <p:cNvPr id="119" name="AutoShape 43">
                <a:extLst>
                  <a:ext uri="{FF2B5EF4-FFF2-40B4-BE49-F238E27FC236}">
                    <a16:creationId xmlns:a16="http://schemas.microsoft.com/office/drawing/2014/main" id="{7F9BA491-2935-1400-7953-7BF6FD32F998}"/>
                  </a:ext>
                </a:extLst>
              </p:cNvPr>
              <p:cNvCxnSpPr>
                <a:cxnSpLocks noChangeShapeType="1"/>
                <a:stCxn id="118" idx="3"/>
                <a:endCxn id="117" idx="1"/>
              </p:cNvCxnSpPr>
              <p:nvPr/>
            </p:nvCxnSpPr>
            <p:spPr bwMode="auto">
              <a:xfrm flipV="1">
                <a:off x="4171" y="3859"/>
                <a:ext cx="147" cy="1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120" name="Group 44">
              <a:extLst>
                <a:ext uri="{FF2B5EF4-FFF2-40B4-BE49-F238E27FC236}">
                  <a16:creationId xmlns:a16="http://schemas.microsoft.com/office/drawing/2014/main" id="{722CD829-D31B-2173-F77C-41C0BA907F4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95849" y="4826000"/>
              <a:ext cx="3460750" cy="215900"/>
              <a:chOff x="3154" y="3173"/>
              <a:chExt cx="2180" cy="136"/>
            </a:xfrm>
          </p:grpSpPr>
          <p:sp>
            <p:nvSpPr>
              <p:cNvPr id="121" name="Rectangle 45">
                <a:extLst>
                  <a:ext uri="{FF2B5EF4-FFF2-40B4-BE49-F238E27FC236}">
                    <a16:creationId xmlns:a16="http://schemas.microsoft.com/office/drawing/2014/main" id="{6B42F6A0-D726-4916-F12B-E2C6BC7DA6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06" y="3173"/>
                <a:ext cx="228" cy="136"/>
              </a:xfrm>
              <a:prstGeom prst="rect">
                <a:avLst/>
              </a:prstGeom>
              <a:solidFill>
                <a:srgbClr val="CCCC00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82" charset="2"/>
                    <a:ea typeface="微软雅黑" panose="020B0503020204020204" pitchFamily="82" charset="2"/>
                    <a:sym typeface="Symbol" pitchFamily="2" charset="2"/>
                  </a:rPr>
                  <a:t>+</a:t>
                </a:r>
                <a:endPara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82" charset="2"/>
                  <a:ea typeface="微软雅黑" panose="020B0503020204020204" pitchFamily="82" charset="2"/>
                </a:endParaRPr>
              </a:p>
            </p:txBody>
          </p:sp>
          <p:sp>
            <p:nvSpPr>
              <p:cNvPr id="122" name="Rectangle 46">
                <a:extLst>
                  <a:ext uri="{FF2B5EF4-FFF2-40B4-BE49-F238E27FC236}">
                    <a16:creationId xmlns:a16="http://schemas.microsoft.com/office/drawing/2014/main" id="{F718C1AC-DBA3-2F1F-F285-7D233A1024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54" y="3173"/>
                <a:ext cx="229" cy="136"/>
              </a:xfrm>
              <a:prstGeom prst="rect">
                <a:avLst/>
              </a:prstGeom>
              <a:solidFill>
                <a:srgbClr val="CCCC00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82" charset="2"/>
                    <a:ea typeface="微软雅黑" panose="020B0503020204020204" pitchFamily="82" charset="2"/>
                    <a:sym typeface="Symbol" pitchFamily="2" charset="2"/>
                  </a:rPr>
                  <a:t>-</a:t>
                </a:r>
                <a:endPara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82" charset="2"/>
                  <a:ea typeface="微软雅黑" panose="020B0503020204020204" pitchFamily="82" charset="2"/>
                </a:endParaRPr>
              </a:p>
            </p:txBody>
          </p:sp>
          <p:cxnSp>
            <p:nvCxnSpPr>
              <p:cNvPr id="123" name="AutoShape 47">
                <a:extLst>
                  <a:ext uri="{FF2B5EF4-FFF2-40B4-BE49-F238E27FC236}">
                    <a16:creationId xmlns:a16="http://schemas.microsoft.com/office/drawing/2014/main" id="{DB21C460-FE34-EBD6-442C-EA7698EB215E}"/>
                  </a:ext>
                </a:extLst>
              </p:cNvPr>
              <p:cNvCxnSpPr>
                <a:cxnSpLocks noChangeShapeType="1"/>
                <a:stCxn id="122" idx="3"/>
                <a:endCxn id="124" idx="1"/>
              </p:cNvCxnSpPr>
              <p:nvPr/>
            </p:nvCxnSpPr>
            <p:spPr bwMode="auto">
              <a:xfrm>
                <a:off x="3389" y="3241"/>
                <a:ext cx="541" cy="0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124" name="Rectangle 48">
                <a:extLst>
                  <a:ext uri="{FF2B5EF4-FFF2-40B4-BE49-F238E27FC236}">
                    <a16:creationId xmlns:a16="http://schemas.microsoft.com/office/drawing/2014/main" id="{5CA5FA06-8DA8-D3C6-4EA2-6B9BBFCDF2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36" y="3173"/>
                <a:ext cx="229" cy="136"/>
              </a:xfrm>
              <a:prstGeom prst="rect">
                <a:avLst/>
              </a:prstGeom>
              <a:solidFill>
                <a:srgbClr val="808080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5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82" charset="2"/>
                    <a:ea typeface="微软雅黑" panose="020B0503020204020204" pitchFamily="82" charset="2"/>
                  </a:rPr>
                  <a:t>15</a:t>
                </a:r>
              </a:p>
            </p:txBody>
          </p:sp>
          <p:cxnSp>
            <p:nvCxnSpPr>
              <p:cNvPr id="125" name="AutoShape 49">
                <a:extLst>
                  <a:ext uri="{FF2B5EF4-FFF2-40B4-BE49-F238E27FC236}">
                    <a16:creationId xmlns:a16="http://schemas.microsoft.com/office/drawing/2014/main" id="{A801C4A6-B1CF-C47B-831E-09FF8D3DC38B}"/>
                  </a:ext>
                </a:extLst>
              </p:cNvPr>
              <p:cNvCxnSpPr>
                <a:cxnSpLocks noChangeShapeType="1"/>
                <a:stCxn id="124" idx="3"/>
                <a:endCxn id="121" idx="1"/>
              </p:cNvCxnSpPr>
              <p:nvPr/>
            </p:nvCxnSpPr>
            <p:spPr bwMode="auto">
              <a:xfrm>
                <a:off x="4171" y="3241"/>
                <a:ext cx="929" cy="0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126" name="Group 50">
              <a:extLst>
                <a:ext uri="{FF2B5EF4-FFF2-40B4-BE49-F238E27FC236}">
                  <a16:creationId xmlns:a16="http://schemas.microsoft.com/office/drawing/2014/main" id="{066D0906-BA61-5A99-6697-D8755B764B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95849" y="5332413"/>
              <a:ext cx="3460750" cy="215900"/>
              <a:chOff x="3154" y="3504"/>
              <a:chExt cx="2180" cy="136"/>
            </a:xfrm>
          </p:grpSpPr>
          <p:sp>
            <p:nvSpPr>
              <p:cNvPr id="127" name="Rectangle 51">
                <a:extLst>
                  <a:ext uri="{FF2B5EF4-FFF2-40B4-BE49-F238E27FC236}">
                    <a16:creationId xmlns:a16="http://schemas.microsoft.com/office/drawing/2014/main" id="{1E69C6CC-5C01-E817-A639-341C809018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06" y="3504"/>
                <a:ext cx="228" cy="136"/>
              </a:xfrm>
              <a:prstGeom prst="rect">
                <a:avLst/>
              </a:prstGeom>
              <a:solidFill>
                <a:srgbClr val="CCCC00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82" charset="2"/>
                    <a:ea typeface="微软雅黑" panose="020B0503020204020204" pitchFamily="82" charset="2"/>
                    <a:sym typeface="Symbol" pitchFamily="2" charset="2"/>
                  </a:rPr>
                  <a:t>+</a:t>
                </a:r>
                <a:endPara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82" charset="2"/>
                  <a:ea typeface="微软雅黑" panose="020B0503020204020204" pitchFamily="82" charset="2"/>
                </a:endParaRPr>
              </a:p>
            </p:txBody>
          </p:sp>
          <p:sp>
            <p:nvSpPr>
              <p:cNvPr id="128" name="Rectangle 52">
                <a:extLst>
                  <a:ext uri="{FF2B5EF4-FFF2-40B4-BE49-F238E27FC236}">
                    <a16:creationId xmlns:a16="http://schemas.microsoft.com/office/drawing/2014/main" id="{750FA055-E3A5-C9FE-1BD7-9CA46854B6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54" y="3504"/>
                <a:ext cx="229" cy="136"/>
              </a:xfrm>
              <a:prstGeom prst="rect">
                <a:avLst/>
              </a:prstGeom>
              <a:solidFill>
                <a:srgbClr val="CCCC00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82" charset="2"/>
                    <a:ea typeface="微软雅黑" panose="020B0503020204020204" pitchFamily="82" charset="2"/>
                    <a:sym typeface="Symbol" pitchFamily="2" charset="2"/>
                  </a:rPr>
                  <a:t>-</a:t>
                </a:r>
                <a:endPara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82" charset="2"/>
                  <a:ea typeface="微软雅黑" panose="020B0503020204020204" pitchFamily="82" charset="2"/>
                </a:endParaRPr>
              </a:p>
            </p:txBody>
          </p:sp>
          <p:sp>
            <p:nvSpPr>
              <p:cNvPr id="129" name="Rectangle 53">
                <a:extLst>
                  <a:ext uri="{FF2B5EF4-FFF2-40B4-BE49-F238E27FC236}">
                    <a16:creationId xmlns:a16="http://schemas.microsoft.com/office/drawing/2014/main" id="{9A666078-F3D1-3058-0625-835642E2EE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5" y="3504"/>
                <a:ext cx="229" cy="136"/>
              </a:xfrm>
              <a:prstGeom prst="rect">
                <a:avLst/>
              </a:prstGeom>
              <a:solidFill>
                <a:srgbClr val="CCCC00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82" charset="2"/>
                    <a:ea typeface="微软雅黑" panose="020B0503020204020204" pitchFamily="82" charset="2"/>
                  </a:rPr>
                  <a:t>23</a:t>
                </a:r>
              </a:p>
            </p:txBody>
          </p:sp>
          <p:cxnSp>
            <p:nvCxnSpPr>
              <p:cNvPr id="130" name="AutoShape 54">
                <a:extLst>
                  <a:ext uri="{FF2B5EF4-FFF2-40B4-BE49-F238E27FC236}">
                    <a16:creationId xmlns:a16="http://schemas.microsoft.com/office/drawing/2014/main" id="{89619D4A-5671-4524-97B6-44E386560529}"/>
                  </a:ext>
                </a:extLst>
              </p:cNvPr>
              <p:cNvCxnSpPr>
                <a:cxnSpLocks noChangeShapeType="1"/>
                <a:stCxn id="128" idx="3"/>
                <a:endCxn id="132" idx="1"/>
              </p:cNvCxnSpPr>
              <p:nvPr/>
            </p:nvCxnSpPr>
            <p:spPr bwMode="auto">
              <a:xfrm>
                <a:off x="3389" y="3572"/>
                <a:ext cx="541" cy="0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31" name="AutoShape 55">
                <a:extLst>
                  <a:ext uri="{FF2B5EF4-FFF2-40B4-BE49-F238E27FC236}">
                    <a16:creationId xmlns:a16="http://schemas.microsoft.com/office/drawing/2014/main" id="{5FEE64C1-3778-A5B2-EA73-2397251471B9}"/>
                  </a:ext>
                </a:extLst>
              </p:cNvPr>
              <p:cNvCxnSpPr>
                <a:cxnSpLocks noChangeShapeType="1"/>
                <a:stCxn id="129" idx="3"/>
                <a:endCxn id="127" idx="1"/>
              </p:cNvCxnSpPr>
              <p:nvPr/>
            </p:nvCxnSpPr>
            <p:spPr bwMode="auto">
              <a:xfrm>
                <a:off x="4560" y="3572"/>
                <a:ext cx="540" cy="0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132" name="Rectangle 56">
                <a:extLst>
                  <a:ext uri="{FF2B5EF4-FFF2-40B4-BE49-F238E27FC236}">
                    <a16:creationId xmlns:a16="http://schemas.microsoft.com/office/drawing/2014/main" id="{4DCC13C0-1648-2F42-F8C3-F393556F90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36" y="3504"/>
                <a:ext cx="229" cy="136"/>
              </a:xfrm>
              <a:prstGeom prst="rect">
                <a:avLst/>
              </a:prstGeom>
              <a:solidFill>
                <a:srgbClr val="808080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82" charset="2"/>
                    <a:ea typeface="微软雅黑" panose="020B0503020204020204" pitchFamily="82" charset="2"/>
                  </a:rPr>
                  <a:t>15</a:t>
                </a:r>
              </a:p>
            </p:txBody>
          </p:sp>
          <p:cxnSp>
            <p:nvCxnSpPr>
              <p:cNvPr id="133" name="AutoShape 57">
                <a:extLst>
                  <a:ext uri="{FF2B5EF4-FFF2-40B4-BE49-F238E27FC236}">
                    <a16:creationId xmlns:a16="http://schemas.microsoft.com/office/drawing/2014/main" id="{3C70D5C4-49BB-1B6B-133C-B6E764ACF7B7}"/>
                  </a:ext>
                </a:extLst>
              </p:cNvPr>
              <p:cNvCxnSpPr>
                <a:cxnSpLocks noChangeShapeType="1"/>
                <a:stCxn id="132" idx="3"/>
                <a:endCxn id="129" idx="1"/>
              </p:cNvCxnSpPr>
              <p:nvPr/>
            </p:nvCxnSpPr>
            <p:spPr bwMode="auto">
              <a:xfrm>
                <a:off x="4171" y="3572"/>
                <a:ext cx="148" cy="0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134" name="AutoShape 58">
              <a:extLst>
                <a:ext uri="{FF2B5EF4-FFF2-40B4-BE49-F238E27FC236}">
                  <a16:creationId xmlns:a16="http://schemas.microsoft.com/office/drawing/2014/main" id="{A34B1304-119D-DD89-9040-BE057E5AA5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46499" y="5308600"/>
              <a:ext cx="609600" cy="303213"/>
            </a:xfrm>
            <a:prstGeom prst="rightArrow">
              <a:avLst>
                <a:gd name="adj1" fmla="val 50000"/>
                <a:gd name="adj2" fmla="val 50262"/>
              </a:avLst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  <p:cxnSp>
          <p:nvCxnSpPr>
            <p:cNvPr id="135" name="AutoShape 59">
              <a:extLst>
                <a:ext uri="{FF2B5EF4-FFF2-40B4-BE49-F238E27FC236}">
                  <a16:creationId xmlns:a16="http://schemas.microsoft.com/office/drawing/2014/main" id="{156FF6A5-05CA-9D75-3611-4FB7E0DA3505}"/>
                </a:ext>
              </a:extLst>
            </p:cNvPr>
            <p:cNvCxnSpPr>
              <a:cxnSpLocks noChangeShapeType="1"/>
              <a:stCxn id="89" idx="2"/>
              <a:endCxn id="94" idx="0"/>
            </p:cNvCxnSpPr>
            <p:nvPr/>
          </p:nvCxnSpPr>
          <p:spPr bwMode="auto">
            <a:xfrm>
              <a:off x="2925487" y="5057775"/>
              <a:ext cx="0" cy="252413"/>
            </a:xfrm>
            <a:prstGeom prst="straightConnector1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6" name="AutoShape 60">
              <a:extLst>
                <a:ext uri="{FF2B5EF4-FFF2-40B4-BE49-F238E27FC236}">
                  <a16:creationId xmlns:a16="http://schemas.microsoft.com/office/drawing/2014/main" id="{662456AA-AEAB-E520-4593-D19DC81AF2CC}"/>
                </a:ext>
              </a:extLst>
            </p:cNvPr>
            <p:cNvCxnSpPr>
              <a:cxnSpLocks noChangeShapeType="1"/>
              <a:stCxn id="81" idx="0"/>
              <a:endCxn id="82" idx="0"/>
            </p:cNvCxnSpPr>
            <p:nvPr/>
          </p:nvCxnSpPr>
          <p:spPr bwMode="auto">
            <a:xfrm rot="5400000" flipV="1">
              <a:off x="3234256" y="5507831"/>
              <a:ext cx="1588" cy="619125"/>
            </a:xfrm>
            <a:prstGeom prst="curvedConnector3">
              <a:avLst>
                <a:gd name="adj1" fmla="val -13200000"/>
              </a:avLst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7" name="AutoShape 61">
              <a:extLst>
                <a:ext uri="{FF2B5EF4-FFF2-40B4-BE49-F238E27FC236}">
                  <a16:creationId xmlns:a16="http://schemas.microsoft.com/office/drawing/2014/main" id="{D7CAF10A-4822-60E7-B86C-DED8DCFD9FDF}"/>
                </a:ext>
              </a:extLst>
            </p:cNvPr>
            <p:cNvCxnSpPr>
              <a:cxnSpLocks noChangeShapeType="1"/>
              <a:stCxn id="94" idx="2"/>
              <a:endCxn id="81" idx="0"/>
            </p:cNvCxnSpPr>
            <p:nvPr/>
          </p:nvCxnSpPr>
          <p:spPr bwMode="auto">
            <a:xfrm>
              <a:off x="2925487" y="5564188"/>
              <a:ext cx="0" cy="252412"/>
            </a:xfrm>
            <a:prstGeom prst="straightConnector1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38" name="Text Box 62">
              <a:extLst>
                <a:ext uri="{FF2B5EF4-FFF2-40B4-BE49-F238E27FC236}">
                  <a16:creationId xmlns:a16="http://schemas.microsoft.com/office/drawing/2014/main" id="{DD079682-CDCD-8C3C-6D41-3DB2955DC2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0788" y="5459413"/>
              <a:ext cx="428322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b="1" i="1">
                  <a:solidFill>
                    <a:srgbClr val="000000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p</a:t>
              </a:r>
              <a:r>
                <a:rPr lang="en-US" altLang="zh-CN" baseline="-25000">
                  <a:solidFill>
                    <a:srgbClr val="000000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0</a:t>
              </a:r>
            </a:p>
          </p:txBody>
        </p:sp>
        <p:sp>
          <p:nvSpPr>
            <p:cNvPr id="139" name="Text Box 63">
              <a:extLst>
                <a:ext uri="{FF2B5EF4-FFF2-40B4-BE49-F238E27FC236}">
                  <a16:creationId xmlns:a16="http://schemas.microsoft.com/office/drawing/2014/main" id="{42E98CD3-3C14-E1B5-1A8F-44A55CC48D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09763" y="4976813"/>
              <a:ext cx="428322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b="1" i="1">
                  <a:solidFill>
                    <a:srgbClr val="000000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p</a:t>
              </a:r>
              <a:r>
                <a:rPr lang="en-US" altLang="zh-CN" baseline="-25000">
                  <a:solidFill>
                    <a:srgbClr val="000000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1</a:t>
              </a:r>
            </a:p>
          </p:txBody>
        </p:sp>
        <p:sp>
          <p:nvSpPr>
            <p:cNvPr id="140" name="Text Box 64">
              <a:extLst>
                <a:ext uri="{FF2B5EF4-FFF2-40B4-BE49-F238E27FC236}">
                  <a16:creationId xmlns:a16="http://schemas.microsoft.com/office/drawing/2014/main" id="{2E4F4706-7B5B-641A-2FFB-F876B863A6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09763" y="4468813"/>
              <a:ext cx="428322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b="1" i="1">
                  <a:solidFill>
                    <a:srgbClr val="000000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p</a:t>
              </a:r>
              <a:r>
                <a:rPr lang="en-US" altLang="zh-CN" baseline="-25000">
                  <a:solidFill>
                    <a:srgbClr val="000000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2</a:t>
              </a:r>
            </a:p>
          </p:txBody>
        </p:sp>
        <p:sp>
          <p:nvSpPr>
            <p:cNvPr id="141" name="Line 67">
              <a:extLst>
                <a:ext uri="{FF2B5EF4-FFF2-40B4-BE49-F238E27FC236}">
                  <a16:creationId xmlns:a16="http://schemas.microsoft.com/office/drawing/2014/main" id="{6C2F6BAC-42F9-4047-AC9F-EA6B830533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55799" y="5535613"/>
              <a:ext cx="0" cy="3048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1828613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hape18">
            <a:extLst>
              <a:ext uri="{FF2B5EF4-FFF2-40B4-BE49-F238E27FC236}">
                <a16:creationId xmlns:a16="http://schemas.microsoft.com/office/drawing/2014/main" id="{14A30818-8B4C-4E81-9340-9B9DD809A2FA}"/>
              </a:ext>
            </a:extLst>
          </p:cNvPr>
          <p:cNvSpPr/>
          <p:nvPr/>
        </p:nvSpPr>
        <p:spPr>
          <a:xfrm>
            <a:off x="1872761" y="4510454"/>
            <a:ext cx="8449408" cy="1916723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dirty="0">
              <a:latin typeface="微软雅黑" panose="020B0503020204020204" pitchFamily="82" charset="2"/>
              <a:ea typeface="微软雅黑" panose="020B0503020204020204" pitchFamily="82" charset="2"/>
              <a:sym typeface="+mn-ea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1C15DBB-42B8-5E3C-90F5-69F58EBF20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82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224266B-BFD6-E096-AF2E-D9FD9C8B9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SkipList</a:t>
            </a:r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 跳表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9BF6B11-817E-D60F-7681-F443D83E4F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493" y="764250"/>
            <a:ext cx="10874188" cy="5005387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kumimoji="1" lang="zh-CN" altLang="en-US" sz="28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查找键值</a:t>
            </a:r>
            <a:r>
              <a:rPr lang="en-US" altLang="zh-CN" sz="2800" b="1" i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  <a:cs typeface="Times New Roman" panose="02020603050405020304" pitchFamily="18" charset="0"/>
              </a:rPr>
              <a:t>x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从最上层开始查找，对于每个位置</a:t>
            </a: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p, 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比较</a:t>
            </a: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x 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和</a:t>
            </a: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 y </a:t>
            </a: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  <a:sym typeface="Symbol" pitchFamily="2" charset="2"/>
              </a:rPr>
              <a:t></a:t>
            </a: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 key(next(p))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的大小：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2">
              <a:lnSpc>
                <a:spcPct val="150000"/>
              </a:lnSpc>
              <a:buSzPct val="50000"/>
              <a:buFont typeface="Wingdings" panose="05000000000000000000" pitchFamily="2" charset="2"/>
              <a:buChar char="p"/>
            </a:pPr>
            <a:r>
              <a:rPr lang="en-US" altLang="zh-CN" b="1" i="1" dirty="0">
                <a:latin typeface="微软雅黑" panose="020B0503020204020204" pitchFamily="82" charset="2"/>
                <a:ea typeface="微软雅黑" panose="020B0503020204020204" pitchFamily="82" charset="2"/>
                <a:cs typeface="Times New Roman" panose="02020603050405020304" pitchFamily="18" charset="0"/>
              </a:rPr>
              <a:t>x 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cs typeface="Times New Roman" panose="02020603050405020304" pitchFamily="18" charset="0"/>
              </a:rPr>
              <a:t>=</a:t>
            </a:r>
            <a:r>
              <a:rPr lang="en-US" altLang="zh-CN" b="1" i="1" dirty="0">
                <a:latin typeface="微软雅黑" panose="020B0503020204020204" pitchFamily="82" charset="2"/>
                <a:ea typeface="微软雅黑" panose="020B0503020204020204" pitchFamily="82" charset="2"/>
                <a:cs typeface="Times New Roman" panose="02020603050405020304" pitchFamily="18" charset="0"/>
              </a:rPr>
              <a:t> y</a:t>
            </a:r>
            <a:r>
              <a:rPr lang="zh-CN" altLang="en-US" b="1" i="1" dirty="0">
                <a:latin typeface="微软雅黑" panose="020B0503020204020204" pitchFamily="82" charset="2"/>
                <a:ea typeface="微软雅黑" panose="020B0503020204020204" pitchFamily="82" charset="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cs typeface="Times New Roman" panose="02020603050405020304" pitchFamily="18" charset="0"/>
              </a:rPr>
              <a:t>: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cs typeface="Times New Roman" panose="02020603050405020304" pitchFamily="18" charset="0"/>
              </a:rPr>
              <a:t>返回</a:t>
            </a:r>
            <a:r>
              <a:rPr lang="en-US" altLang="zh-CN" b="1" i="1" dirty="0">
                <a:latin typeface="微软雅黑" panose="020B0503020204020204" pitchFamily="82" charset="2"/>
                <a:ea typeface="微软雅黑" panose="020B0503020204020204" pitchFamily="82" charset="2"/>
                <a:cs typeface="Times New Roman" panose="02020603050405020304" pitchFamily="18" charset="0"/>
              </a:rPr>
              <a:t>element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微软雅黑" panose="020B0503020204020204" pitchFamily="82" charset="2"/>
                <a:ea typeface="微软雅黑" panose="020B0503020204020204" pitchFamily="82" charset="2"/>
                <a:cs typeface="Times New Roman" panose="02020603050405020304" pitchFamily="18" charset="0"/>
              </a:rPr>
              <a:t>next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微软雅黑" panose="020B0503020204020204" pitchFamily="82" charset="2"/>
                <a:ea typeface="微软雅黑" panose="020B0503020204020204" pitchFamily="82" charset="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cs typeface="Times New Roman" panose="02020603050405020304" pitchFamily="18" charset="0"/>
              </a:rPr>
              <a:t>))</a:t>
            </a:r>
          </a:p>
          <a:p>
            <a:pPr lvl="2">
              <a:lnSpc>
                <a:spcPct val="150000"/>
              </a:lnSpc>
              <a:buSzPct val="50000"/>
              <a:buFont typeface="Wingdings" panose="05000000000000000000" pitchFamily="2" charset="2"/>
              <a:buChar char="p"/>
            </a:pPr>
            <a:r>
              <a:rPr lang="en-US" altLang="zh-CN" b="1" i="1" dirty="0">
                <a:latin typeface="微软雅黑" panose="020B0503020204020204" pitchFamily="82" charset="2"/>
                <a:ea typeface="微软雅黑" panose="020B0503020204020204" pitchFamily="82" charset="2"/>
                <a:cs typeface="Times New Roman" panose="02020603050405020304" pitchFamily="18" charset="0"/>
              </a:rPr>
              <a:t>x 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cs typeface="Times New Roman" panose="02020603050405020304" pitchFamily="18" charset="0"/>
              </a:rPr>
              <a:t>&gt;</a:t>
            </a:r>
            <a:r>
              <a:rPr lang="en-US" altLang="zh-CN" b="1" i="1" dirty="0">
                <a:latin typeface="微软雅黑" panose="020B0503020204020204" pitchFamily="82" charset="2"/>
                <a:ea typeface="微软雅黑" panose="020B0503020204020204" pitchFamily="82" charset="2"/>
                <a:cs typeface="Times New Roman" panose="02020603050405020304" pitchFamily="18" charset="0"/>
              </a:rPr>
              <a:t> y</a:t>
            </a:r>
            <a:r>
              <a:rPr lang="zh-CN" altLang="en-US" b="1" i="1" dirty="0">
                <a:latin typeface="微软雅黑" panose="020B0503020204020204" pitchFamily="82" charset="2"/>
                <a:ea typeface="微软雅黑" panose="020B0503020204020204" pitchFamily="82" charset="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cs typeface="Times New Roman" panose="02020603050405020304" pitchFamily="18" charset="0"/>
              </a:rPr>
              <a:t>: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cs typeface="Times New Roman" panose="02020603050405020304" pitchFamily="18" charset="0"/>
              </a:rPr>
              <a:t>本层向前扫描</a:t>
            </a:r>
            <a:endParaRPr lang="en-US" altLang="zh-CN" dirty="0">
              <a:latin typeface="微软雅黑" panose="020B0503020204020204" pitchFamily="82" charset="2"/>
              <a:ea typeface="微软雅黑" panose="020B0503020204020204" pitchFamily="82" charset="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buSzPct val="50000"/>
              <a:buFont typeface="Wingdings" panose="05000000000000000000" pitchFamily="2" charset="2"/>
              <a:buChar char="p"/>
            </a:pPr>
            <a:r>
              <a:rPr lang="en-US" altLang="zh-CN" b="1" i="1" dirty="0">
                <a:latin typeface="微软雅黑" panose="020B0503020204020204" pitchFamily="82" charset="2"/>
                <a:ea typeface="微软雅黑" panose="020B0503020204020204" pitchFamily="82" charset="2"/>
                <a:cs typeface="Times New Roman" panose="02020603050405020304" pitchFamily="18" charset="0"/>
              </a:rPr>
              <a:t>x 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cs typeface="Times New Roman" panose="02020603050405020304" pitchFamily="18" charset="0"/>
              </a:rPr>
              <a:t>&lt;</a:t>
            </a:r>
            <a:r>
              <a:rPr lang="en-US" altLang="zh-CN" b="1" i="1" dirty="0">
                <a:latin typeface="微软雅黑" panose="020B0503020204020204" pitchFamily="82" charset="2"/>
                <a:ea typeface="微软雅黑" panose="020B0503020204020204" pitchFamily="82" charset="2"/>
                <a:cs typeface="Times New Roman" panose="02020603050405020304" pitchFamily="18" charset="0"/>
              </a:rPr>
              <a:t> y</a:t>
            </a:r>
            <a:r>
              <a:rPr lang="zh-CN" altLang="en-US" b="1" i="1" dirty="0">
                <a:latin typeface="微软雅黑" panose="020B0503020204020204" pitchFamily="82" charset="2"/>
                <a:ea typeface="微软雅黑" panose="020B0503020204020204" pitchFamily="82" charset="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cs typeface="Times New Roman" panose="02020603050405020304" pitchFamily="18" charset="0"/>
              </a:rPr>
              <a:t>: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cs typeface="Times New Roman" panose="02020603050405020304" pitchFamily="18" charset="0"/>
              </a:rPr>
              <a:t>跳转到下一层（该节点指针指向的下层节点）</a:t>
            </a:r>
            <a:endParaRPr lang="en-US" altLang="zh-CN" dirty="0">
              <a:latin typeface="微软雅黑" panose="020B0503020204020204" pitchFamily="82" charset="2"/>
              <a:ea typeface="微软雅黑" panose="020B0503020204020204" pitchFamily="82" charset="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如果到最底层还没找到，则返回</a:t>
            </a: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null</a:t>
            </a:r>
          </a:p>
          <a:p>
            <a:pPr lvl="1"/>
            <a:endParaRPr kumimoji="1" lang="zh-CN" altLang="en-US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4E03A4-7F40-3138-1439-AB2797F436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grpSp>
        <p:nvGrpSpPr>
          <p:cNvPr id="123" name="组合 122">
            <a:extLst>
              <a:ext uri="{FF2B5EF4-FFF2-40B4-BE49-F238E27FC236}">
                <a16:creationId xmlns:a16="http://schemas.microsoft.com/office/drawing/2014/main" id="{CF6A7C11-B3C5-0DC3-8C9C-57C2518D47A9}"/>
              </a:ext>
            </a:extLst>
          </p:cNvPr>
          <p:cNvGrpSpPr/>
          <p:nvPr/>
        </p:nvGrpSpPr>
        <p:grpSpPr>
          <a:xfrm>
            <a:off x="2720677" y="4599555"/>
            <a:ext cx="6739088" cy="1717785"/>
            <a:chOff x="1721183" y="4567237"/>
            <a:chExt cx="7790013" cy="1985665"/>
          </a:xfrm>
        </p:grpSpPr>
        <p:sp>
          <p:nvSpPr>
            <p:cNvPr id="65" name="Line 64">
              <a:extLst>
                <a:ext uri="{FF2B5EF4-FFF2-40B4-BE49-F238E27FC236}">
                  <a16:creationId xmlns:a16="http://schemas.microsoft.com/office/drawing/2014/main" id="{AB61AC13-E3F2-DEBE-89D4-B9DD36CE8D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987196" y="5938837"/>
              <a:ext cx="0" cy="3048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  <p:sp>
          <p:nvSpPr>
            <p:cNvPr id="66" name="Line 61">
              <a:extLst>
                <a:ext uri="{FF2B5EF4-FFF2-40B4-BE49-F238E27FC236}">
                  <a16:creationId xmlns:a16="http://schemas.microsoft.com/office/drawing/2014/main" id="{3E182C00-1F8C-594E-F0DA-8E61E786BB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58796" y="4948237"/>
              <a:ext cx="0" cy="12954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  <p:sp>
          <p:nvSpPr>
            <p:cNvPr id="67" name="Line 57">
              <a:extLst>
                <a:ext uri="{FF2B5EF4-FFF2-40B4-BE49-F238E27FC236}">
                  <a16:creationId xmlns:a16="http://schemas.microsoft.com/office/drawing/2014/main" id="{83A875F3-2993-5C88-668F-313320E62F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4596" y="4948237"/>
              <a:ext cx="0" cy="12954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  <p:sp>
          <p:nvSpPr>
            <p:cNvPr id="68" name="Line 59">
              <a:extLst>
                <a:ext uri="{FF2B5EF4-FFF2-40B4-BE49-F238E27FC236}">
                  <a16:creationId xmlns:a16="http://schemas.microsoft.com/office/drawing/2014/main" id="{1F546C14-CD3D-E2EF-87BE-6B6CDB4A2A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43996" y="5405437"/>
              <a:ext cx="0" cy="8382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  <p:grpSp>
          <p:nvGrpSpPr>
            <p:cNvPr id="69" name="Group 4">
              <a:extLst>
                <a:ext uri="{FF2B5EF4-FFF2-40B4-BE49-F238E27FC236}">
                  <a16:creationId xmlns:a16="http://schemas.microsoft.com/office/drawing/2014/main" id="{0BA4629D-9972-3645-5EA5-C6BBA3F2FA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30921" y="4719637"/>
              <a:ext cx="7280275" cy="215900"/>
              <a:chOff x="838" y="2832"/>
              <a:chExt cx="4586" cy="136"/>
            </a:xfrm>
          </p:grpSpPr>
          <p:sp>
            <p:nvSpPr>
              <p:cNvPr id="70" name="Rectangle 5">
                <a:extLst>
                  <a:ext uri="{FF2B5EF4-FFF2-40B4-BE49-F238E27FC236}">
                    <a16:creationId xmlns:a16="http://schemas.microsoft.com/office/drawing/2014/main" id="{FC997959-96CA-7A2E-7E70-664E682D58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96" y="2832"/>
                <a:ext cx="228" cy="136"/>
              </a:xfrm>
              <a:prstGeom prst="rect">
                <a:avLst/>
              </a:prstGeom>
              <a:solidFill>
                <a:srgbClr val="CCCC00"/>
              </a:solidFill>
              <a:ln w="381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82" charset="2"/>
                    <a:ea typeface="微软雅黑" panose="020B0503020204020204" pitchFamily="82" charset="2"/>
                    <a:sym typeface="Symbol" pitchFamily="2" charset="2"/>
                  </a:rPr>
                  <a:t>+</a:t>
                </a:r>
                <a:endPara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82" charset="2"/>
                  <a:ea typeface="微软雅黑" panose="020B0503020204020204" pitchFamily="82" charset="2"/>
                </a:endParaRPr>
              </a:p>
            </p:txBody>
          </p:sp>
          <p:sp>
            <p:nvSpPr>
              <p:cNvPr id="71" name="Rectangle 6">
                <a:extLst>
                  <a:ext uri="{FF2B5EF4-FFF2-40B4-BE49-F238E27FC236}">
                    <a16:creationId xmlns:a16="http://schemas.microsoft.com/office/drawing/2014/main" id="{5FE4961D-96ED-A56F-A099-4852ABEB0D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8" y="2832"/>
                <a:ext cx="229" cy="136"/>
              </a:xfrm>
              <a:prstGeom prst="rect">
                <a:avLst/>
              </a:prstGeom>
              <a:solidFill>
                <a:srgbClr val="CCCC00"/>
              </a:solidFill>
              <a:ln w="381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82" charset="2"/>
                    <a:ea typeface="微软雅黑" panose="020B0503020204020204" pitchFamily="82" charset="2"/>
                    <a:sym typeface="Symbol" pitchFamily="2" charset="2"/>
                  </a:rPr>
                  <a:t>-</a:t>
                </a:r>
              </a:p>
            </p:txBody>
          </p:sp>
          <p:cxnSp>
            <p:nvCxnSpPr>
              <p:cNvPr id="72" name="AutoShape 7">
                <a:extLst>
                  <a:ext uri="{FF2B5EF4-FFF2-40B4-BE49-F238E27FC236}">
                    <a16:creationId xmlns:a16="http://schemas.microsoft.com/office/drawing/2014/main" id="{019CBACF-47EC-2107-E52D-018739829044}"/>
                  </a:ext>
                </a:extLst>
              </p:cNvPr>
              <p:cNvCxnSpPr>
                <a:cxnSpLocks noChangeShapeType="1"/>
                <a:stCxn id="71" idx="3"/>
                <a:endCxn id="70" idx="1"/>
              </p:cNvCxnSpPr>
              <p:nvPr/>
            </p:nvCxnSpPr>
            <p:spPr bwMode="auto">
              <a:xfrm>
                <a:off x="1079" y="2900"/>
                <a:ext cx="4105" cy="0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73" name="Text Box 8">
              <a:extLst>
                <a:ext uri="{FF2B5EF4-FFF2-40B4-BE49-F238E27FC236}">
                  <a16:creationId xmlns:a16="http://schemas.microsoft.com/office/drawing/2014/main" id="{97EAF0BD-DC18-97BF-7BEA-236A478C94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1183" y="6091237"/>
              <a:ext cx="49084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>
                  <a:solidFill>
                    <a:srgbClr val="000000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S</a:t>
              </a:r>
              <a:r>
                <a:rPr lang="en-US" altLang="zh-CN" sz="2400" baseline="-25000">
                  <a:solidFill>
                    <a:srgbClr val="000000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0</a:t>
              </a:r>
            </a:p>
          </p:txBody>
        </p:sp>
        <p:sp>
          <p:nvSpPr>
            <p:cNvPr id="74" name="Text Box 9">
              <a:extLst>
                <a:ext uri="{FF2B5EF4-FFF2-40B4-BE49-F238E27FC236}">
                  <a16:creationId xmlns:a16="http://schemas.microsoft.com/office/drawing/2014/main" id="{7703E12E-3C63-1968-C88F-0897555C11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1183" y="5583237"/>
              <a:ext cx="49084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>
                  <a:solidFill>
                    <a:srgbClr val="000000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S</a:t>
              </a:r>
              <a:r>
                <a:rPr lang="en-US" altLang="zh-CN" sz="2400" baseline="-25000">
                  <a:solidFill>
                    <a:srgbClr val="000000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1</a:t>
              </a:r>
            </a:p>
          </p:txBody>
        </p:sp>
        <p:sp>
          <p:nvSpPr>
            <p:cNvPr id="75" name="Text Box 10">
              <a:extLst>
                <a:ext uri="{FF2B5EF4-FFF2-40B4-BE49-F238E27FC236}">
                  <a16:creationId xmlns:a16="http://schemas.microsoft.com/office/drawing/2014/main" id="{203A8465-207C-C331-47EE-2052A2DE8F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1183" y="5075237"/>
              <a:ext cx="49084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>
                  <a:solidFill>
                    <a:srgbClr val="000000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S</a:t>
              </a:r>
              <a:r>
                <a:rPr lang="en-US" altLang="zh-CN" sz="2400" baseline="-25000">
                  <a:solidFill>
                    <a:srgbClr val="000000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2</a:t>
              </a:r>
            </a:p>
          </p:txBody>
        </p:sp>
        <p:sp>
          <p:nvSpPr>
            <p:cNvPr id="76" name="Text Box 11">
              <a:extLst>
                <a:ext uri="{FF2B5EF4-FFF2-40B4-BE49-F238E27FC236}">
                  <a16:creationId xmlns:a16="http://schemas.microsoft.com/office/drawing/2014/main" id="{DE9ACB89-10FA-534B-2289-737A001C80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1183" y="4567237"/>
              <a:ext cx="49084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>
                  <a:solidFill>
                    <a:srgbClr val="000000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S</a:t>
              </a:r>
              <a:r>
                <a:rPr lang="en-US" altLang="zh-CN" sz="2400" baseline="-25000">
                  <a:solidFill>
                    <a:srgbClr val="000000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3</a:t>
              </a:r>
            </a:p>
          </p:txBody>
        </p:sp>
        <p:sp>
          <p:nvSpPr>
            <p:cNvPr id="77" name="Rectangle 12">
              <a:extLst>
                <a:ext uri="{FF2B5EF4-FFF2-40B4-BE49-F238E27FC236}">
                  <a16:creationId xmlns:a16="http://schemas.microsoft.com/office/drawing/2014/main" id="{37C16175-0BAA-66CB-6A04-2B00062F09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9246" y="5226050"/>
              <a:ext cx="361950" cy="215900"/>
            </a:xfrm>
            <a:prstGeom prst="rect">
              <a:avLst/>
            </a:prstGeom>
            <a:solidFill>
              <a:srgbClr val="CCCC00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82" charset="2"/>
                  <a:ea typeface="微软雅黑" panose="020B0503020204020204" pitchFamily="82" charset="2"/>
                  <a:sym typeface="Symbol" pitchFamily="2" charset="2"/>
                </a:rPr>
                <a:t>+</a:t>
              </a:r>
              <a:endPara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  <p:sp>
          <p:nvSpPr>
            <p:cNvPr id="78" name="Rectangle 13">
              <a:extLst>
                <a:ext uri="{FF2B5EF4-FFF2-40B4-BE49-F238E27FC236}">
                  <a16:creationId xmlns:a16="http://schemas.microsoft.com/office/drawing/2014/main" id="{47C854CB-E746-00B8-3257-2CC725D794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3971" y="5226050"/>
              <a:ext cx="361950" cy="215900"/>
            </a:xfrm>
            <a:prstGeom prst="rect">
              <a:avLst/>
            </a:prstGeom>
            <a:solidFill>
              <a:srgbClr val="CCCC00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5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82" charset="2"/>
                  <a:ea typeface="微软雅黑" panose="020B0503020204020204" pitchFamily="82" charset="2"/>
                </a:rPr>
                <a:t>31</a:t>
              </a:r>
            </a:p>
          </p:txBody>
        </p:sp>
        <p:sp>
          <p:nvSpPr>
            <p:cNvPr id="79" name="Rectangle 14">
              <a:extLst>
                <a:ext uri="{FF2B5EF4-FFF2-40B4-BE49-F238E27FC236}">
                  <a16:creationId xmlns:a16="http://schemas.microsoft.com/office/drawing/2014/main" id="{3EDCC8C4-3D81-DA9B-D937-54ABD78F5B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0921" y="5226050"/>
              <a:ext cx="363538" cy="215900"/>
            </a:xfrm>
            <a:prstGeom prst="rect">
              <a:avLst/>
            </a:prstGeom>
            <a:solidFill>
              <a:srgbClr val="CCCC00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82" charset="2"/>
                  <a:ea typeface="微软雅黑" panose="020B0503020204020204" pitchFamily="82" charset="2"/>
                  <a:sym typeface="Symbol" pitchFamily="2" charset="2"/>
                </a:rPr>
                <a:t>-</a:t>
              </a:r>
              <a:endPara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  <p:cxnSp>
          <p:nvCxnSpPr>
            <p:cNvPr id="80" name="AutoShape 15">
              <a:extLst>
                <a:ext uri="{FF2B5EF4-FFF2-40B4-BE49-F238E27FC236}">
                  <a16:creationId xmlns:a16="http://schemas.microsoft.com/office/drawing/2014/main" id="{D8740A92-77F7-9217-D8B0-3B2EE7363C51}"/>
                </a:ext>
              </a:extLst>
            </p:cNvPr>
            <p:cNvCxnSpPr>
              <a:cxnSpLocks noChangeShapeType="1"/>
              <a:stCxn id="79" idx="3"/>
              <a:endCxn id="78" idx="1"/>
            </p:cNvCxnSpPr>
            <p:nvPr/>
          </p:nvCxnSpPr>
          <p:spPr bwMode="auto">
            <a:xfrm>
              <a:off x="2613509" y="5334000"/>
              <a:ext cx="2411412" cy="0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1" name="AutoShape 16">
              <a:extLst>
                <a:ext uri="{FF2B5EF4-FFF2-40B4-BE49-F238E27FC236}">
                  <a16:creationId xmlns:a16="http://schemas.microsoft.com/office/drawing/2014/main" id="{B6533CFE-C7FF-0720-07D2-40F2915AFF52}"/>
                </a:ext>
              </a:extLst>
            </p:cNvPr>
            <p:cNvCxnSpPr>
              <a:cxnSpLocks noChangeShapeType="1"/>
              <a:stCxn id="78" idx="3"/>
              <a:endCxn id="77" idx="1"/>
            </p:cNvCxnSpPr>
            <p:nvPr/>
          </p:nvCxnSpPr>
          <p:spPr bwMode="auto">
            <a:xfrm>
              <a:off x="5424971" y="5334000"/>
              <a:ext cx="3705225" cy="0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2" name="AutoShape 17">
              <a:extLst>
                <a:ext uri="{FF2B5EF4-FFF2-40B4-BE49-F238E27FC236}">
                  <a16:creationId xmlns:a16="http://schemas.microsoft.com/office/drawing/2014/main" id="{F706DB10-CB5E-980B-7A94-4A191E33C38E}"/>
                </a:ext>
              </a:extLst>
            </p:cNvPr>
            <p:cNvCxnSpPr>
              <a:cxnSpLocks noChangeShapeType="1"/>
              <a:stCxn id="79" idx="0"/>
              <a:endCxn id="78" idx="0"/>
            </p:cNvCxnSpPr>
            <p:nvPr/>
          </p:nvCxnSpPr>
          <p:spPr bwMode="auto">
            <a:xfrm rot="5400000" flipV="1">
              <a:off x="3818421" y="3802063"/>
              <a:ext cx="1587" cy="2811462"/>
            </a:xfrm>
            <a:prstGeom prst="curvedConnector3">
              <a:avLst>
                <a:gd name="adj1" fmla="val -20900005"/>
              </a:avLst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3" name="AutoShape 18">
              <a:extLst>
                <a:ext uri="{FF2B5EF4-FFF2-40B4-BE49-F238E27FC236}">
                  <a16:creationId xmlns:a16="http://schemas.microsoft.com/office/drawing/2014/main" id="{302BFCB7-0C89-78B6-122A-76E2542B87EC}"/>
                </a:ext>
              </a:extLst>
            </p:cNvPr>
            <p:cNvCxnSpPr>
              <a:cxnSpLocks noChangeShapeType="1"/>
              <a:stCxn id="71" idx="2"/>
              <a:endCxn id="79" idx="0"/>
            </p:cNvCxnSpPr>
            <p:nvPr/>
          </p:nvCxnSpPr>
          <p:spPr bwMode="auto">
            <a:xfrm>
              <a:off x="2413484" y="4954587"/>
              <a:ext cx="0" cy="252413"/>
            </a:xfrm>
            <a:prstGeom prst="straightConnector1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4" name="AutoShape 19">
              <a:extLst>
                <a:ext uri="{FF2B5EF4-FFF2-40B4-BE49-F238E27FC236}">
                  <a16:creationId xmlns:a16="http://schemas.microsoft.com/office/drawing/2014/main" id="{F33D7E65-3787-051C-40F2-C10617B215E7}"/>
                </a:ext>
              </a:extLst>
            </p:cNvPr>
            <p:cNvCxnSpPr>
              <a:cxnSpLocks noChangeShapeType="1"/>
              <a:stCxn id="78" idx="2"/>
              <a:endCxn id="88" idx="0"/>
            </p:cNvCxnSpPr>
            <p:nvPr/>
          </p:nvCxnSpPr>
          <p:spPr bwMode="auto">
            <a:xfrm>
              <a:off x="5224946" y="5461000"/>
              <a:ext cx="0" cy="252412"/>
            </a:xfrm>
            <a:prstGeom prst="straightConnector1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5" name="AutoShape 20">
              <a:extLst>
                <a:ext uri="{FF2B5EF4-FFF2-40B4-BE49-F238E27FC236}">
                  <a16:creationId xmlns:a16="http://schemas.microsoft.com/office/drawing/2014/main" id="{D31E94C9-D0D1-CB03-1DB7-5D0D32315B4C}"/>
                </a:ext>
              </a:extLst>
            </p:cNvPr>
            <p:cNvCxnSpPr>
              <a:cxnSpLocks noChangeShapeType="1"/>
              <a:stCxn id="86" idx="2"/>
              <a:endCxn id="100" idx="0"/>
            </p:cNvCxnSpPr>
            <p:nvPr/>
          </p:nvCxnSpPr>
          <p:spPr bwMode="auto">
            <a:xfrm>
              <a:off x="7955446" y="5967412"/>
              <a:ext cx="0" cy="252413"/>
            </a:xfrm>
            <a:prstGeom prst="straightConnector1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6" name="Rectangle 21">
              <a:extLst>
                <a:ext uri="{FF2B5EF4-FFF2-40B4-BE49-F238E27FC236}">
                  <a16:creationId xmlns:a16="http://schemas.microsoft.com/office/drawing/2014/main" id="{A92F3333-C100-2424-FECA-272C0D510B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74471" y="5732462"/>
              <a:ext cx="360363" cy="215900"/>
            </a:xfrm>
            <a:prstGeom prst="rect">
              <a:avLst/>
            </a:prstGeom>
            <a:solidFill>
              <a:srgbClr val="CCCC00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5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82" charset="2"/>
                  <a:ea typeface="微软雅黑" panose="020B0503020204020204" pitchFamily="82" charset="2"/>
                </a:rPr>
                <a:t>64</a:t>
              </a:r>
            </a:p>
          </p:txBody>
        </p:sp>
        <p:sp>
          <p:nvSpPr>
            <p:cNvPr id="87" name="Rectangle 22">
              <a:extLst>
                <a:ext uri="{FF2B5EF4-FFF2-40B4-BE49-F238E27FC236}">
                  <a16:creationId xmlns:a16="http://schemas.microsoft.com/office/drawing/2014/main" id="{782EDE52-C1CA-596E-7753-4139593A36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9246" y="5732462"/>
              <a:ext cx="361950" cy="215900"/>
            </a:xfrm>
            <a:prstGeom prst="rect">
              <a:avLst/>
            </a:prstGeom>
            <a:solidFill>
              <a:srgbClr val="CCCC00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82" charset="2"/>
                  <a:ea typeface="微软雅黑" panose="020B0503020204020204" pitchFamily="82" charset="2"/>
                  <a:sym typeface="Symbol" pitchFamily="2" charset="2"/>
                </a:rPr>
                <a:t>+</a:t>
              </a:r>
              <a:endPara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  <p:sp>
          <p:nvSpPr>
            <p:cNvPr id="88" name="Rectangle 23">
              <a:extLst>
                <a:ext uri="{FF2B5EF4-FFF2-40B4-BE49-F238E27FC236}">
                  <a16:creationId xmlns:a16="http://schemas.microsoft.com/office/drawing/2014/main" id="{4BA6DA0E-3379-3B76-DB26-8C0E1323AA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3971" y="5732462"/>
              <a:ext cx="361950" cy="215900"/>
            </a:xfrm>
            <a:prstGeom prst="rect">
              <a:avLst/>
            </a:prstGeom>
            <a:solidFill>
              <a:srgbClr val="CCCC00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5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82" charset="2"/>
                  <a:ea typeface="微软雅黑" panose="020B0503020204020204" pitchFamily="82" charset="2"/>
                </a:rPr>
                <a:t>31</a:t>
              </a:r>
            </a:p>
          </p:txBody>
        </p:sp>
        <p:sp>
          <p:nvSpPr>
            <p:cNvPr id="89" name="Rectangle 24">
              <a:extLst>
                <a:ext uri="{FF2B5EF4-FFF2-40B4-BE49-F238E27FC236}">
                  <a16:creationId xmlns:a16="http://schemas.microsoft.com/office/drawing/2014/main" id="{FC57C870-35D7-3792-2918-DF4A075A91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1359" y="5732462"/>
              <a:ext cx="363537" cy="215900"/>
            </a:xfrm>
            <a:prstGeom prst="rect">
              <a:avLst/>
            </a:prstGeom>
            <a:solidFill>
              <a:srgbClr val="CCCC00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5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82" charset="2"/>
                  <a:ea typeface="微软雅黑" panose="020B0503020204020204" pitchFamily="82" charset="2"/>
                </a:rPr>
                <a:t>34</a:t>
              </a:r>
            </a:p>
          </p:txBody>
        </p:sp>
        <p:sp>
          <p:nvSpPr>
            <p:cNvPr id="90" name="Rectangle 25">
              <a:extLst>
                <a:ext uri="{FF2B5EF4-FFF2-40B4-BE49-F238E27FC236}">
                  <a16:creationId xmlns:a16="http://schemas.microsoft.com/office/drawing/2014/main" id="{54907197-D1CC-9860-78CC-252A5D62DC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0921" y="5732462"/>
              <a:ext cx="363538" cy="215900"/>
            </a:xfrm>
            <a:prstGeom prst="rect">
              <a:avLst/>
            </a:prstGeom>
            <a:solidFill>
              <a:srgbClr val="CCCC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82" charset="2"/>
                  <a:ea typeface="微软雅黑" panose="020B0503020204020204" pitchFamily="82" charset="2"/>
                  <a:sym typeface="Symbol" pitchFamily="2" charset="2"/>
                </a:rPr>
                <a:t>-</a:t>
              </a:r>
              <a:endPara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  <p:sp>
          <p:nvSpPr>
            <p:cNvPr id="91" name="Rectangle 26">
              <a:extLst>
                <a:ext uri="{FF2B5EF4-FFF2-40B4-BE49-F238E27FC236}">
                  <a16:creationId xmlns:a16="http://schemas.microsoft.com/office/drawing/2014/main" id="{B6A38A40-2591-16A4-AB53-91CAC445DF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7284" y="5732462"/>
              <a:ext cx="363537" cy="215900"/>
            </a:xfrm>
            <a:prstGeom prst="rect">
              <a:avLst/>
            </a:prstGeom>
            <a:solidFill>
              <a:srgbClr val="CCCC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5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82" charset="2"/>
                  <a:ea typeface="微软雅黑" panose="020B0503020204020204" pitchFamily="82" charset="2"/>
                </a:rPr>
                <a:t>23</a:t>
              </a:r>
            </a:p>
          </p:txBody>
        </p:sp>
        <p:cxnSp>
          <p:nvCxnSpPr>
            <p:cNvPr id="92" name="AutoShape 27">
              <a:extLst>
                <a:ext uri="{FF2B5EF4-FFF2-40B4-BE49-F238E27FC236}">
                  <a16:creationId xmlns:a16="http://schemas.microsoft.com/office/drawing/2014/main" id="{C4636EEB-B146-3229-40ED-54E858CC9A29}"/>
                </a:ext>
              </a:extLst>
            </p:cNvPr>
            <p:cNvCxnSpPr>
              <a:cxnSpLocks noChangeShapeType="1"/>
              <a:stCxn id="90" idx="3"/>
              <a:endCxn id="91" idx="1"/>
            </p:cNvCxnSpPr>
            <p:nvPr/>
          </p:nvCxnSpPr>
          <p:spPr bwMode="auto">
            <a:xfrm>
              <a:off x="2603984" y="5840412"/>
              <a:ext cx="993775" cy="0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3" name="AutoShape 28">
              <a:extLst>
                <a:ext uri="{FF2B5EF4-FFF2-40B4-BE49-F238E27FC236}">
                  <a16:creationId xmlns:a16="http://schemas.microsoft.com/office/drawing/2014/main" id="{C3BCE371-F864-F708-2D92-9404EF9CA649}"/>
                </a:ext>
              </a:extLst>
            </p:cNvPr>
            <p:cNvCxnSpPr>
              <a:cxnSpLocks noChangeShapeType="1"/>
              <a:stCxn id="91" idx="3"/>
              <a:endCxn id="88" idx="1"/>
            </p:cNvCxnSpPr>
            <p:nvPr/>
          </p:nvCxnSpPr>
          <p:spPr bwMode="auto">
            <a:xfrm>
              <a:off x="3980346" y="5840412"/>
              <a:ext cx="1044575" cy="0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4" name="AutoShape 29">
              <a:extLst>
                <a:ext uri="{FF2B5EF4-FFF2-40B4-BE49-F238E27FC236}">
                  <a16:creationId xmlns:a16="http://schemas.microsoft.com/office/drawing/2014/main" id="{15818047-1440-0DB1-6D2F-5663BDD3ECC3}"/>
                </a:ext>
              </a:extLst>
            </p:cNvPr>
            <p:cNvCxnSpPr>
              <a:cxnSpLocks noChangeShapeType="1"/>
              <a:stCxn id="88" idx="3"/>
              <a:endCxn id="89" idx="1"/>
            </p:cNvCxnSpPr>
            <p:nvPr/>
          </p:nvCxnSpPr>
          <p:spPr bwMode="auto">
            <a:xfrm>
              <a:off x="5424971" y="5840412"/>
              <a:ext cx="287338" cy="0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5" name="AutoShape 30">
              <a:extLst>
                <a:ext uri="{FF2B5EF4-FFF2-40B4-BE49-F238E27FC236}">
                  <a16:creationId xmlns:a16="http://schemas.microsoft.com/office/drawing/2014/main" id="{1B08C578-D8C1-86CF-3413-66A86821CD9E}"/>
                </a:ext>
              </a:extLst>
            </p:cNvPr>
            <p:cNvCxnSpPr>
              <a:cxnSpLocks noChangeShapeType="1"/>
              <a:stCxn id="89" idx="3"/>
              <a:endCxn id="86" idx="1"/>
            </p:cNvCxnSpPr>
            <p:nvPr/>
          </p:nvCxnSpPr>
          <p:spPr bwMode="auto">
            <a:xfrm>
              <a:off x="6113946" y="5840412"/>
              <a:ext cx="1641475" cy="0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6" name="AutoShape 31">
              <a:extLst>
                <a:ext uri="{FF2B5EF4-FFF2-40B4-BE49-F238E27FC236}">
                  <a16:creationId xmlns:a16="http://schemas.microsoft.com/office/drawing/2014/main" id="{907253B8-4372-510D-BEDF-91DEC6CFD586}"/>
                </a:ext>
              </a:extLst>
            </p:cNvPr>
            <p:cNvCxnSpPr>
              <a:cxnSpLocks noChangeShapeType="1"/>
              <a:stCxn id="86" idx="3"/>
              <a:endCxn id="87" idx="1"/>
            </p:cNvCxnSpPr>
            <p:nvPr/>
          </p:nvCxnSpPr>
          <p:spPr bwMode="auto">
            <a:xfrm>
              <a:off x="8153884" y="5840412"/>
              <a:ext cx="976312" cy="0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7" name="AutoShape 32">
              <a:extLst>
                <a:ext uri="{FF2B5EF4-FFF2-40B4-BE49-F238E27FC236}">
                  <a16:creationId xmlns:a16="http://schemas.microsoft.com/office/drawing/2014/main" id="{0D164B71-9357-AD31-9391-80274A9D040E}"/>
                </a:ext>
              </a:extLst>
            </p:cNvPr>
            <p:cNvCxnSpPr>
              <a:cxnSpLocks noChangeShapeType="1"/>
              <a:stCxn id="88" idx="0"/>
              <a:endCxn id="89" idx="0"/>
            </p:cNvCxnSpPr>
            <p:nvPr/>
          </p:nvCxnSpPr>
          <p:spPr bwMode="auto">
            <a:xfrm rot="5400000" flipV="1">
              <a:off x="5568640" y="5369718"/>
              <a:ext cx="1588" cy="688975"/>
            </a:xfrm>
            <a:prstGeom prst="curvedConnector3">
              <a:avLst>
                <a:gd name="adj1" fmla="val -13200000"/>
              </a:avLst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8" name="AutoShape 33">
              <a:extLst>
                <a:ext uri="{FF2B5EF4-FFF2-40B4-BE49-F238E27FC236}">
                  <a16:creationId xmlns:a16="http://schemas.microsoft.com/office/drawing/2014/main" id="{9F6D6776-7FF6-E973-4924-EC9341AE2C8E}"/>
                </a:ext>
              </a:extLst>
            </p:cNvPr>
            <p:cNvCxnSpPr>
              <a:cxnSpLocks noChangeShapeType="1"/>
              <a:stCxn id="89" idx="0"/>
              <a:endCxn id="86" idx="0"/>
            </p:cNvCxnSpPr>
            <p:nvPr/>
          </p:nvCxnSpPr>
          <p:spPr bwMode="auto">
            <a:xfrm rot="5400000" flipV="1">
              <a:off x="6933890" y="4693443"/>
              <a:ext cx="1588" cy="2041525"/>
            </a:xfrm>
            <a:prstGeom prst="curvedConnector3">
              <a:avLst>
                <a:gd name="adj1" fmla="val -13200000"/>
              </a:avLst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99" name="Rectangle 34">
              <a:extLst>
                <a:ext uri="{FF2B5EF4-FFF2-40B4-BE49-F238E27FC236}">
                  <a16:creationId xmlns:a16="http://schemas.microsoft.com/office/drawing/2014/main" id="{9B5CB53F-F50D-95F2-8B47-38EAB95C41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85496" y="6238875"/>
              <a:ext cx="363538" cy="215900"/>
            </a:xfrm>
            <a:prstGeom prst="rect">
              <a:avLst/>
            </a:prstGeom>
            <a:solidFill>
              <a:srgbClr val="CCCC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5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82" charset="2"/>
                  <a:ea typeface="微软雅黑" panose="020B0503020204020204" pitchFamily="82" charset="2"/>
                </a:rPr>
                <a:t>56</a:t>
              </a:r>
            </a:p>
          </p:txBody>
        </p:sp>
        <p:sp>
          <p:nvSpPr>
            <p:cNvPr id="100" name="Rectangle 35">
              <a:extLst>
                <a:ext uri="{FF2B5EF4-FFF2-40B4-BE49-F238E27FC236}">
                  <a16:creationId xmlns:a16="http://schemas.microsoft.com/office/drawing/2014/main" id="{D89ED14C-3A82-000A-7C29-34802887DC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74471" y="6238875"/>
              <a:ext cx="360363" cy="215900"/>
            </a:xfrm>
            <a:prstGeom prst="rect">
              <a:avLst/>
            </a:prstGeom>
            <a:solidFill>
              <a:srgbClr val="CCCC00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5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82" charset="2"/>
                  <a:ea typeface="微软雅黑" panose="020B0503020204020204" pitchFamily="82" charset="2"/>
                </a:rPr>
                <a:t>64</a:t>
              </a:r>
            </a:p>
          </p:txBody>
        </p:sp>
        <p:sp>
          <p:nvSpPr>
            <p:cNvPr id="101" name="Rectangle 36">
              <a:extLst>
                <a:ext uri="{FF2B5EF4-FFF2-40B4-BE49-F238E27FC236}">
                  <a16:creationId xmlns:a16="http://schemas.microsoft.com/office/drawing/2014/main" id="{726AA63B-5437-2AFC-7FAF-F60E727556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60271" y="6238875"/>
              <a:ext cx="361950" cy="215900"/>
            </a:xfrm>
            <a:prstGeom prst="rect">
              <a:avLst/>
            </a:prstGeom>
            <a:solidFill>
              <a:srgbClr val="CCCC00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5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82" charset="2"/>
                  <a:ea typeface="微软雅黑" panose="020B0503020204020204" pitchFamily="82" charset="2"/>
                </a:rPr>
                <a:t>78</a:t>
              </a:r>
            </a:p>
          </p:txBody>
        </p:sp>
        <p:sp>
          <p:nvSpPr>
            <p:cNvPr id="102" name="Rectangle 37">
              <a:extLst>
                <a:ext uri="{FF2B5EF4-FFF2-40B4-BE49-F238E27FC236}">
                  <a16:creationId xmlns:a16="http://schemas.microsoft.com/office/drawing/2014/main" id="{73B3583B-B9FB-E26D-3CF5-0B5E879117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9246" y="6238875"/>
              <a:ext cx="361950" cy="215900"/>
            </a:xfrm>
            <a:prstGeom prst="rect">
              <a:avLst/>
            </a:prstGeom>
            <a:solidFill>
              <a:srgbClr val="CCCC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82" charset="2"/>
                  <a:ea typeface="微软雅黑" panose="020B0503020204020204" pitchFamily="82" charset="2"/>
                  <a:sym typeface="Symbol" pitchFamily="2" charset="2"/>
                </a:rPr>
                <a:t>+</a:t>
              </a:r>
              <a:endPara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  <p:sp>
          <p:nvSpPr>
            <p:cNvPr id="103" name="Rectangle 38">
              <a:extLst>
                <a:ext uri="{FF2B5EF4-FFF2-40B4-BE49-F238E27FC236}">
                  <a16:creationId xmlns:a16="http://schemas.microsoft.com/office/drawing/2014/main" id="{66A632D5-D802-3234-576C-103F171A1A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3971" y="6238875"/>
              <a:ext cx="361950" cy="215900"/>
            </a:xfrm>
            <a:prstGeom prst="rect">
              <a:avLst/>
            </a:prstGeom>
            <a:solidFill>
              <a:srgbClr val="CCCC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5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82" charset="2"/>
                  <a:ea typeface="微软雅黑" panose="020B0503020204020204" pitchFamily="82" charset="2"/>
                </a:rPr>
                <a:t>31</a:t>
              </a:r>
            </a:p>
          </p:txBody>
        </p:sp>
        <p:sp>
          <p:nvSpPr>
            <p:cNvPr id="104" name="Rectangle 39">
              <a:extLst>
                <a:ext uri="{FF2B5EF4-FFF2-40B4-BE49-F238E27FC236}">
                  <a16:creationId xmlns:a16="http://schemas.microsoft.com/office/drawing/2014/main" id="{2CA1EC8F-A1A4-BA5A-B108-4AFBDD8C58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1359" y="6238875"/>
              <a:ext cx="363537" cy="215900"/>
            </a:xfrm>
            <a:prstGeom prst="rect">
              <a:avLst/>
            </a:prstGeom>
            <a:solidFill>
              <a:srgbClr val="CCCC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5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82" charset="2"/>
                  <a:ea typeface="微软雅黑" panose="020B0503020204020204" pitchFamily="82" charset="2"/>
                </a:rPr>
                <a:t>34</a:t>
              </a:r>
            </a:p>
          </p:txBody>
        </p:sp>
        <p:sp>
          <p:nvSpPr>
            <p:cNvPr id="105" name="Rectangle 40">
              <a:extLst>
                <a:ext uri="{FF2B5EF4-FFF2-40B4-BE49-F238E27FC236}">
                  <a16:creationId xmlns:a16="http://schemas.microsoft.com/office/drawing/2014/main" id="{99DE746F-0E9E-AFA2-6D35-9AAC49C2B2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96521" y="6238875"/>
              <a:ext cx="363538" cy="215900"/>
            </a:xfrm>
            <a:prstGeom prst="rect">
              <a:avLst/>
            </a:prstGeom>
            <a:solidFill>
              <a:srgbClr val="CCCC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5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82" charset="2"/>
                  <a:ea typeface="微软雅黑" panose="020B0503020204020204" pitchFamily="82" charset="2"/>
                </a:rPr>
                <a:t>44</a:t>
              </a:r>
            </a:p>
          </p:txBody>
        </p:sp>
        <p:sp>
          <p:nvSpPr>
            <p:cNvPr id="106" name="Rectangle 41">
              <a:extLst>
                <a:ext uri="{FF2B5EF4-FFF2-40B4-BE49-F238E27FC236}">
                  <a16:creationId xmlns:a16="http://schemas.microsoft.com/office/drawing/2014/main" id="{3FC8B736-60AC-D7A8-A8DC-F3CEFD8FCA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0921" y="6238875"/>
              <a:ext cx="363538" cy="215900"/>
            </a:xfrm>
            <a:prstGeom prst="rect">
              <a:avLst/>
            </a:prstGeom>
            <a:solidFill>
              <a:srgbClr val="CCCC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82" charset="2"/>
                  <a:ea typeface="微软雅黑" panose="020B0503020204020204" pitchFamily="82" charset="2"/>
                  <a:sym typeface="Symbol" pitchFamily="2" charset="2"/>
                </a:rPr>
                <a:t>-</a:t>
              </a:r>
            </a:p>
          </p:txBody>
        </p:sp>
        <p:sp>
          <p:nvSpPr>
            <p:cNvPr id="107" name="Rectangle 42">
              <a:extLst>
                <a:ext uri="{FF2B5EF4-FFF2-40B4-BE49-F238E27FC236}">
                  <a16:creationId xmlns:a16="http://schemas.microsoft.com/office/drawing/2014/main" id="{5A8F18A7-F84F-4B9B-AF7B-CD11FE1F94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9896" y="6238875"/>
              <a:ext cx="363538" cy="215900"/>
            </a:xfrm>
            <a:prstGeom prst="rect">
              <a:avLst/>
            </a:prstGeom>
            <a:solidFill>
              <a:srgbClr val="CCCC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5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82" charset="2"/>
                  <a:ea typeface="微软雅黑" panose="020B0503020204020204" pitchFamily="82" charset="2"/>
                </a:rPr>
                <a:t>12</a:t>
              </a:r>
            </a:p>
          </p:txBody>
        </p:sp>
        <p:sp>
          <p:nvSpPr>
            <p:cNvPr id="108" name="Rectangle 43">
              <a:extLst>
                <a:ext uri="{FF2B5EF4-FFF2-40B4-BE49-F238E27FC236}">
                  <a16:creationId xmlns:a16="http://schemas.microsoft.com/office/drawing/2014/main" id="{9E7A93B3-5CB4-68F1-C7C2-6B618CCDF3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7284" y="6238875"/>
              <a:ext cx="363537" cy="215900"/>
            </a:xfrm>
            <a:prstGeom prst="rect">
              <a:avLst/>
            </a:prstGeom>
            <a:solidFill>
              <a:srgbClr val="CCCC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5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82" charset="2"/>
                  <a:ea typeface="微软雅黑" panose="020B0503020204020204" pitchFamily="82" charset="2"/>
                </a:rPr>
                <a:t>23</a:t>
              </a:r>
            </a:p>
          </p:txBody>
        </p:sp>
        <p:sp>
          <p:nvSpPr>
            <p:cNvPr id="109" name="Rectangle 44">
              <a:extLst>
                <a:ext uri="{FF2B5EF4-FFF2-40B4-BE49-F238E27FC236}">
                  <a16:creationId xmlns:a16="http://schemas.microsoft.com/office/drawing/2014/main" id="{430663DF-8BBC-0B20-3A60-138EE34B57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6259" y="6238875"/>
              <a:ext cx="363537" cy="215900"/>
            </a:xfrm>
            <a:prstGeom prst="rect">
              <a:avLst/>
            </a:prstGeom>
            <a:solidFill>
              <a:srgbClr val="CCCC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5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82" charset="2"/>
                  <a:ea typeface="微软雅黑" panose="020B0503020204020204" pitchFamily="82" charset="2"/>
                </a:rPr>
                <a:t>26</a:t>
              </a:r>
            </a:p>
          </p:txBody>
        </p:sp>
        <p:cxnSp>
          <p:nvCxnSpPr>
            <p:cNvPr id="110" name="AutoShape 45">
              <a:extLst>
                <a:ext uri="{FF2B5EF4-FFF2-40B4-BE49-F238E27FC236}">
                  <a16:creationId xmlns:a16="http://schemas.microsoft.com/office/drawing/2014/main" id="{8F0F2A6C-FCCB-C804-0DC3-5B629E4784E8}"/>
                </a:ext>
              </a:extLst>
            </p:cNvPr>
            <p:cNvCxnSpPr>
              <a:cxnSpLocks noChangeShapeType="1"/>
              <a:stCxn id="106" idx="3"/>
              <a:endCxn id="107" idx="1"/>
            </p:cNvCxnSpPr>
            <p:nvPr/>
          </p:nvCxnSpPr>
          <p:spPr bwMode="auto">
            <a:xfrm>
              <a:off x="2603984" y="6346825"/>
              <a:ext cx="306387" cy="0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1" name="AutoShape 46">
              <a:extLst>
                <a:ext uri="{FF2B5EF4-FFF2-40B4-BE49-F238E27FC236}">
                  <a16:creationId xmlns:a16="http://schemas.microsoft.com/office/drawing/2014/main" id="{92FD7442-C4B0-8C3A-A6C1-5258EACF2199}"/>
                </a:ext>
              </a:extLst>
            </p:cNvPr>
            <p:cNvCxnSpPr>
              <a:cxnSpLocks noChangeShapeType="1"/>
              <a:stCxn id="108" idx="3"/>
              <a:endCxn id="109" idx="1"/>
            </p:cNvCxnSpPr>
            <p:nvPr/>
          </p:nvCxnSpPr>
          <p:spPr bwMode="auto">
            <a:xfrm>
              <a:off x="3980346" y="6346825"/>
              <a:ext cx="306388" cy="0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2" name="AutoShape 47">
              <a:extLst>
                <a:ext uri="{FF2B5EF4-FFF2-40B4-BE49-F238E27FC236}">
                  <a16:creationId xmlns:a16="http://schemas.microsoft.com/office/drawing/2014/main" id="{CF3637AA-8E82-D34F-EEEF-BC9A1452FD1E}"/>
                </a:ext>
              </a:extLst>
            </p:cNvPr>
            <p:cNvCxnSpPr>
              <a:cxnSpLocks noChangeShapeType="1"/>
              <a:stCxn id="103" idx="3"/>
              <a:endCxn id="104" idx="1"/>
            </p:cNvCxnSpPr>
            <p:nvPr/>
          </p:nvCxnSpPr>
          <p:spPr bwMode="auto">
            <a:xfrm>
              <a:off x="5415446" y="6346825"/>
              <a:ext cx="306388" cy="0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3" name="AutoShape 48">
              <a:extLst>
                <a:ext uri="{FF2B5EF4-FFF2-40B4-BE49-F238E27FC236}">
                  <a16:creationId xmlns:a16="http://schemas.microsoft.com/office/drawing/2014/main" id="{BB1DC770-B091-B4E9-7362-BC87E567EC7A}"/>
                </a:ext>
              </a:extLst>
            </p:cNvPr>
            <p:cNvCxnSpPr>
              <a:cxnSpLocks noChangeShapeType="1"/>
              <a:stCxn id="107" idx="3"/>
              <a:endCxn id="108" idx="1"/>
            </p:cNvCxnSpPr>
            <p:nvPr/>
          </p:nvCxnSpPr>
          <p:spPr bwMode="auto">
            <a:xfrm>
              <a:off x="3292959" y="6346825"/>
              <a:ext cx="304800" cy="0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4" name="AutoShape 49">
              <a:extLst>
                <a:ext uri="{FF2B5EF4-FFF2-40B4-BE49-F238E27FC236}">
                  <a16:creationId xmlns:a16="http://schemas.microsoft.com/office/drawing/2014/main" id="{5C96D968-5AF0-6D87-1CD7-4D09B20CF8F5}"/>
                </a:ext>
              </a:extLst>
            </p:cNvPr>
            <p:cNvCxnSpPr>
              <a:cxnSpLocks noChangeShapeType="1"/>
              <a:stCxn id="109" idx="3"/>
              <a:endCxn id="103" idx="1"/>
            </p:cNvCxnSpPr>
            <p:nvPr/>
          </p:nvCxnSpPr>
          <p:spPr bwMode="auto">
            <a:xfrm>
              <a:off x="4669321" y="6346825"/>
              <a:ext cx="365125" cy="0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5" name="AutoShape 50">
              <a:extLst>
                <a:ext uri="{FF2B5EF4-FFF2-40B4-BE49-F238E27FC236}">
                  <a16:creationId xmlns:a16="http://schemas.microsoft.com/office/drawing/2014/main" id="{45DD050C-FCCD-A517-91D0-B998F94004F9}"/>
                </a:ext>
              </a:extLst>
            </p:cNvPr>
            <p:cNvCxnSpPr>
              <a:cxnSpLocks noChangeShapeType="1"/>
              <a:stCxn id="104" idx="3"/>
              <a:endCxn id="105" idx="1"/>
            </p:cNvCxnSpPr>
            <p:nvPr/>
          </p:nvCxnSpPr>
          <p:spPr bwMode="auto">
            <a:xfrm>
              <a:off x="6104421" y="6346825"/>
              <a:ext cx="282575" cy="0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6" name="AutoShape 51">
              <a:extLst>
                <a:ext uri="{FF2B5EF4-FFF2-40B4-BE49-F238E27FC236}">
                  <a16:creationId xmlns:a16="http://schemas.microsoft.com/office/drawing/2014/main" id="{65E91648-9591-D64C-E12F-A3E7D7B5DC72}"/>
                </a:ext>
              </a:extLst>
            </p:cNvPr>
            <p:cNvCxnSpPr>
              <a:cxnSpLocks noChangeShapeType="1"/>
              <a:stCxn id="105" idx="3"/>
              <a:endCxn id="99" idx="1"/>
            </p:cNvCxnSpPr>
            <p:nvPr/>
          </p:nvCxnSpPr>
          <p:spPr bwMode="auto">
            <a:xfrm>
              <a:off x="6769584" y="6346825"/>
              <a:ext cx="306387" cy="0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7" name="AutoShape 52">
              <a:extLst>
                <a:ext uri="{FF2B5EF4-FFF2-40B4-BE49-F238E27FC236}">
                  <a16:creationId xmlns:a16="http://schemas.microsoft.com/office/drawing/2014/main" id="{766CC31A-F33B-396D-741C-603D77D9F009}"/>
                </a:ext>
              </a:extLst>
            </p:cNvPr>
            <p:cNvCxnSpPr>
              <a:cxnSpLocks noChangeShapeType="1"/>
              <a:stCxn id="99" idx="3"/>
              <a:endCxn id="100" idx="1"/>
            </p:cNvCxnSpPr>
            <p:nvPr/>
          </p:nvCxnSpPr>
          <p:spPr bwMode="auto">
            <a:xfrm>
              <a:off x="7458559" y="6346825"/>
              <a:ext cx="296862" cy="0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8" name="AutoShape 53">
              <a:extLst>
                <a:ext uri="{FF2B5EF4-FFF2-40B4-BE49-F238E27FC236}">
                  <a16:creationId xmlns:a16="http://schemas.microsoft.com/office/drawing/2014/main" id="{C03BED3F-9768-4AC7-AD7E-74174CAA30D2}"/>
                </a:ext>
              </a:extLst>
            </p:cNvPr>
            <p:cNvCxnSpPr>
              <a:cxnSpLocks noChangeShapeType="1"/>
              <a:stCxn id="100" idx="3"/>
              <a:endCxn id="101" idx="1"/>
            </p:cNvCxnSpPr>
            <p:nvPr/>
          </p:nvCxnSpPr>
          <p:spPr bwMode="auto">
            <a:xfrm>
              <a:off x="8153884" y="6346825"/>
              <a:ext cx="287337" cy="0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9" name="AutoShape 54">
              <a:extLst>
                <a:ext uri="{FF2B5EF4-FFF2-40B4-BE49-F238E27FC236}">
                  <a16:creationId xmlns:a16="http://schemas.microsoft.com/office/drawing/2014/main" id="{B8AEF18D-36CC-A19C-96FF-05A8A11888AA}"/>
                </a:ext>
              </a:extLst>
            </p:cNvPr>
            <p:cNvCxnSpPr>
              <a:cxnSpLocks noChangeShapeType="1"/>
              <a:stCxn id="101" idx="3"/>
              <a:endCxn id="102" idx="1"/>
            </p:cNvCxnSpPr>
            <p:nvPr/>
          </p:nvCxnSpPr>
          <p:spPr bwMode="auto">
            <a:xfrm>
              <a:off x="8841271" y="6346825"/>
              <a:ext cx="298450" cy="0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20" name="AutoShape 55">
              <a:extLst>
                <a:ext uri="{FF2B5EF4-FFF2-40B4-BE49-F238E27FC236}">
                  <a16:creationId xmlns:a16="http://schemas.microsoft.com/office/drawing/2014/main" id="{EF6FE911-1871-B687-C321-447D6A40D5A8}"/>
                </a:ext>
              </a:extLst>
            </p:cNvPr>
            <p:cNvCxnSpPr>
              <a:cxnSpLocks noChangeShapeType="1"/>
              <a:stCxn id="100" idx="0"/>
              <a:endCxn id="101" idx="0"/>
            </p:cNvCxnSpPr>
            <p:nvPr/>
          </p:nvCxnSpPr>
          <p:spPr bwMode="auto">
            <a:xfrm rot="5400000" flipV="1">
              <a:off x="8297552" y="5877719"/>
              <a:ext cx="1587" cy="685800"/>
            </a:xfrm>
            <a:prstGeom prst="curvedConnector3">
              <a:avLst>
                <a:gd name="adj1" fmla="val -13200000"/>
              </a:avLst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21" name="Line 58">
              <a:extLst>
                <a:ext uri="{FF2B5EF4-FFF2-40B4-BE49-F238E27FC236}">
                  <a16:creationId xmlns:a16="http://schemas.microsoft.com/office/drawing/2014/main" id="{012AC7BA-4532-0D25-8D63-5B0FDBDCC9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96196" y="5938837"/>
              <a:ext cx="0" cy="3048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  <p:sp>
          <p:nvSpPr>
            <p:cNvPr id="122" name="Line 60">
              <a:extLst>
                <a:ext uri="{FF2B5EF4-FFF2-40B4-BE49-F238E27FC236}">
                  <a16:creationId xmlns:a16="http://schemas.microsoft.com/office/drawing/2014/main" id="{D0278305-021D-1F8B-9EEA-46B739EDDE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29796" y="5938837"/>
              <a:ext cx="0" cy="3048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688978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18">
            <a:extLst>
              <a:ext uri="{FF2B5EF4-FFF2-40B4-BE49-F238E27FC236}">
                <a16:creationId xmlns:a16="http://schemas.microsoft.com/office/drawing/2014/main" id="{948ACA56-B4C4-4F1A-BAF0-30F85B1B1985}"/>
              </a:ext>
            </a:extLst>
          </p:cNvPr>
          <p:cNvSpPr/>
          <p:nvPr/>
        </p:nvSpPr>
        <p:spPr>
          <a:xfrm>
            <a:off x="1494971" y="3429000"/>
            <a:ext cx="9304799" cy="2744392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dirty="0">
              <a:latin typeface="微软雅黑" panose="020B0503020204020204" pitchFamily="82" charset="2"/>
              <a:ea typeface="微软雅黑" panose="020B0503020204020204" pitchFamily="82" charset="2"/>
              <a:sym typeface="+mn-ea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24B5653-2400-5D84-54C9-8A965B5D28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83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97450640-F168-A669-B91D-85C70EE86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SkipList</a:t>
            </a:r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 跳表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A28F3F4-FC75-18DC-825E-57F4735720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7512" y="1062497"/>
            <a:ext cx="10874188" cy="5005387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kumimoji="1" lang="zh-CN" altLang="en-US" sz="28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搜索的复杂度</a:t>
            </a:r>
            <a:endParaRPr lang="en-US" altLang="zh-CN" sz="28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时间：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 O(log n)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空间：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O(n)</a:t>
            </a:r>
          </a:p>
          <a:p>
            <a:pPr lvl="1"/>
            <a:endParaRPr kumimoji="1" lang="zh-CN" altLang="en-US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D461B3-6531-48B2-8471-8DAAA336FA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grpSp>
        <p:nvGrpSpPr>
          <p:cNvPr id="128" name="组合 127">
            <a:extLst>
              <a:ext uri="{FF2B5EF4-FFF2-40B4-BE49-F238E27FC236}">
                <a16:creationId xmlns:a16="http://schemas.microsoft.com/office/drawing/2014/main" id="{261C1310-2E0C-5134-DE85-743BAE266EA1}"/>
              </a:ext>
            </a:extLst>
          </p:cNvPr>
          <p:cNvGrpSpPr/>
          <p:nvPr/>
        </p:nvGrpSpPr>
        <p:grpSpPr>
          <a:xfrm>
            <a:off x="1946124" y="3861708"/>
            <a:ext cx="7790013" cy="1985665"/>
            <a:chOff x="1946124" y="4230756"/>
            <a:chExt cx="7790013" cy="1985665"/>
          </a:xfrm>
        </p:grpSpPr>
        <p:sp>
          <p:nvSpPr>
            <p:cNvPr id="67" name="Line 79">
              <a:extLst>
                <a:ext uri="{FF2B5EF4-FFF2-40B4-BE49-F238E27FC236}">
                  <a16:creationId xmlns:a16="http://schemas.microsoft.com/office/drawing/2014/main" id="{C7B9B27A-3D5D-673A-1B07-E483273FBB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9537" y="4611756"/>
              <a:ext cx="0" cy="30480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  <p:sp>
          <p:nvSpPr>
            <p:cNvPr id="68" name="Line 81">
              <a:extLst>
                <a:ext uri="{FF2B5EF4-FFF2-40B4-BE49-F238E27FC236}">
                  <a16:creationId xmlns:a16="http://schemas.microsoft.com/office/drawing/2014/main" id="{D745A2AC-ED1B-6977-276D-F363DEF82F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83737" y="4611756"/>
              <a:ext cx="0" cy="30480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  <p:sp>
          <p:nvSpPr>
            <p:cNvPr id="69" name="Line 74">
              <a:extLst>
                <a:ext uri="{FF2B5EF4-FFF2-40B4-BE49-F238E27FC236}">
                  <a16:creationId xmlns:a16="http://schemas.microsoft.com/office/drawing/2014/main" id="{21D6D1F8-EC97-5543-063F-FBE3EA4CEF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9537" y="4992756"/>
              <a:ext cx="0" cy="45720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  <p:sp>
          <p:nvSpPr>
            <p:cNvPr id="70" name="Line 75">
              <a:extLst>
                <a:ext uri="{FF2B5EF4-FFF2-40B4-BE49-F238E27FC236}">
                  <a16:creationId xmlns:a16="http://schemas.microsoft.com/office/drawing/2014/main" id="{412D1D90-311B-39F5-475E-EE1F284070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68937" y="5068956"/>
              <a:ext cx="0" cy="38100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  <p:sp>
          <p:nvSpPr>
            <p:cNvPr id="71" name="Line 76">
              <a:extLst>
                <a:ext uri="{FF2B5EF4-FFF2-40B4-BE49-F238E27FC236}">
                  <a16:creationId xmlns:a16="http://schemas.microsoft.com/office/drawing/2014/main" id="{68D24C9F-0719-AF75-2C66-6B9DFE76A6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12137" y="5145156"/>
              <a:ext cx="0" cy="30480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  <p:sp>
          <p:nvSpPr>
            <p:cNvPr id="72" name="Line 78">
              <a:extLst>
                <a:ext uri="{FF2B5EF4-FFF2-40B4-BE49-F238E27FC236}">
                  <a16:creationId xmlns:a16="http://schemas.microsoft.com/office/drawing/2014/main" id="{682ED0D3-BF19-63C1-4CAB-45B2179AC3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83737" y="5068956"/>
              <a:ext cx="0" cy="38100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  <p:grpSp>
          <p:nvGrpSpPr>
            <p:cNvPr id="73" name="Group 4">
              <a:extLst>
                <a:ext uri="{FF2B5EF4-FFF2-40B4-BE49-F238E27FC236}">
                  <a16:creationId xmlns:a16="http://schemas.microsoft.com/office/drawing/2014/main" id="{113446B2-4EBB-D0BA-32D1-2DCEB883EEF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55862" y="5902394"/>
              <a:ext cx="7280275" cy="215900"/>
              <a:chOff x="838" y="3693"/>
              <a:chExt cx="4586" cy="136"/>
            </a:xfrm>
          </p:grpSpPr>
          <p:sp>
            <p:nvSpPr>
              <p:cNvPr id="74" name="Rectangle 5">
                <a:extLst>
                  <a:ext uri="{FF2B5EF4-FFF2-40B4-BE49-F238E27FC236}">
                    <a16:creationId xmlns:a16="http://schemas.microsoft.com/office/drawing/2014/main" id="{1630CBA2-D9F5-4208-830C-A0A6A56BD7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96" y="3693"/>
                <a:ext cx="229" cy="136"/>
              </a:xfrm>
              <a:prstGeom prst="rect">
                <a:avLst/>
              </a:prstGeom>
              <a:solidFill>
                <a:srgbClr val="CCCC00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82" charset="2"/>
                    <a:ea typeface="微软雅黑" panose="020B0503020204020204" pitchFamily="82" charset="2"/>
                  </a:rPr>
                  <a:t>56</a:t>
                </a:r>
              </a:p>
            </p:txBody>
          </p:sp>
          <p:sp>
            <p:nvSpPr>
              <p:cNvPr id="75" name="Rectangle 6">
                <a:extLst>
                  <a:ext uri="{FF2B5EF4-FFF2-40B4-BE49-F238E27FC236}">
                    <a16:creationId xmlns:a16="http://schemas.microsoft.com/office/drawing/2014/main" id="{65E280BC-3567-E339-5AE1-C0063A749B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0" y="3693"/>
                <a:ext cx="227" cy="136"/>
              </a:xfrm>
              <a:prstGeom prst="rect">
                <a:avLst/>
              </a:prstGeom>
              <a:solidFill>
                <a:srgbClr val="CCCC00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82" charset="2"/>
                    <a:ea typeface="微软雅黑" panose="020B0503020204020204" pitchFamily="82" charset="2"/>
                  </a:rPr>
                  <a:t>64</a:t>
                </a:r>
              </a:p>
            </p:txBody>
          </p:sp>
          <p:sp>
            <p:nvSpPr>
              <p:cNvPr id="76" name="Rectangle 7">
                <a:extLst>
                  <a:ext uri="{FF2B5EF4-FFF2-40B4-BE49-F238E27FC236}">
                    <a16:creationId xmlns:a16="http://schemas.microsoft.com/office/drawing/2014/main" id="{0547A473-05CD-C080-4D84-DAACB1273B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62" y="3693"/>
                <a:ext cx="228" cy="136"/>
              </a:xfrm>
              <a:prstGeom prst="rect">
                <a:avLst/>
              </a:prstGeom>
              <a:solidFill>
                <a:srgbClr val="CCCC00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82" charset="2"/>
                    <a:ea typeface="微软雅黑" panose="020B0503020204020204" pitchFamily="82" charset="2"/>
                  </a:rPr>
                  <a:t>78</a:t>
                </a:r>
              </a:p>
            </p:txBody>
          </p:sp>
          <p:sp>
            <p:nvSpPr>
              <p:cNvPr id="77" name="Rectangle 8">
                <a:extLst>
                  <a:ext uri="{FF2B5EF4-FFF2-40B4-BE49-F238E27FC236}">
                    <a16:creationId xmlns:a16="http://schemas.microsoft.com/office/drawing/2014/main" id="{70790888-C7ED-CBBC-1057-3E5DEE1EAF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96" y="3693"/>
                <a:ext cx="228" cy="136"/>
              </a:xfrm>
              <a:prstGeom prst="rect">
                <a:avLst/>
              </a:prstGeom>
              <a:solidFill>
                <a:srgbClr val="CCCC00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82" charset="2"/>
                    <a:ea typeface="微软雅黑" panose="020B0503020204020204" pitchFamily="82" charset="2"/>
                    <a:sym typeface="Symbol" pitchFamily="2" charset="2"/>
                  </a:rPr>
                  <a:t>+</a:t>
                </a:r>
                <a:endPara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82" charset="2"/>
                  <a:ea typeface="微软雅黑" panose="020B0503020204020204" pitchFamily="82" charset="2"/>
                </a:endParaRPr>
              </a:p>
            </p:txBody>
          </p:sp>
          <p:sp>
            <p:nvSpPr>
              <p:cNvPr id="78" name="Rectangle 9">
                <a:extLst>
                  <a:ext uri="{FF2B5EF4-FFF2-40B4-BE49-F238E27FC236}">
                    <a16:creationId xmlns:a16="http://schemas.microsoft.com/office/drawing/2014/main" id="{588B24F5-28F3-9482-FE17-E5C91EDEED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10" y="3693"/>
                <a:ext cx="228" cy="136"/>
              </a:xfrm>
              <a:prstGeom prst="rect">
                <a:avLst/>
              </a:prstGeom>
              <a:solidFill>
                <a:srgbClr val="CCCC00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82" charset="2"/>
                    <a:ea typeface="微软雅黑" panose="020B0503020204020204" pitchFamily="82" charset="2"/>
                  </a:rPr>
                  <a:t>31</a:t>
                </a:r>
              </a:p>
            </p:txBody>
          </p:sp>
          <p:sp>
            <p:nvSpPr>
              <p:cNvPr id="79" name="Rectangle 10">
                <a:extLst>
                  <a:ext uri="{FF2B5EF4-FFF2-40B4-BE49-F238E27FC236}">
                    <a16:creationId xmlns:a16="http://schemas.microsoft.com/office/drawing/2014/main" id="{E077DDC7-3046-E3FD-FD05-A2A2F04F22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43" y="3693"/>
                <a:ext cx="229" cy="136"/>
              </a:xfrm>
              <a:prstGeom prst="rect">
                <a:avLst/>
              </a:prstGeom>
              <a:solidFill>
                <a:srgbClr val="CCCC00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82" charset="2"/>
                    <a:ea typeface="微软雅黑" panose="020B0503020204020204" pitchFamily="82" charset="2"/>
                  </a:rPr>
                  <a:t>34</a:t>
                </a:r>
              </a:p>
            </p:txBody>
          </p:sp>
          <p:sp>
            <p:nvSpPr>
              <p:cNvPr id="80" name="Rectangle 11">
                <a:extLst>
                  <a:ext uri="{FF2B5EF4-FFF2-40B4-BE49-F238E27FC236}">
                    <a16:creationId xmlns:a16="http://schemas.microsoft.com/office/drawing/2014/main" id="{98E85541-EDEE-2FED-B7F4-E480CB3D80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62" y="3693"/>
                <a:ext cx="229" cy="136"/>
              </a:xfrm>
              <a:prstGeom prst="rect">
                <a:avLst/>
              </a:prstGeom>
              <a:solidFill>
                <a:srgbClr val="CCCC00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82" charset="2"/>
                    <a:ea typeface="微软雅黑" panose="020B0503020204020204" pitchFamily="82" charset="2"/>
                  </a:rPr>
                  <a:t>44</a:t>
                </a:r>
              </a:p>
            </p:txBody>
          </p:sp>
          <p:sp>
            <p:nvSpPr>
              <p:cNvPr id="81" name="Rectangle 12">
                <a:extLst>
                  <a:ext uri="{FF2B5EF4-FFF2-40B4-BE49-F238E27FC236}">
                    <a16:creationId xmlns:a16="http://schemas.microsoft.com/office/drawing/2014/main" id="{25DCDBC7-FB6A-E798-B919-8A394A9572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8" y="3693"/>
                <a:ext cx="229" cy="136"/>
              </a:xfrm>
              <a:prstGeom prst="rect">
                <a:avLst/>
              </a:prstGeom>
              <a:solidFill>
                <a:srgbClr val="CCCC00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82" charset="2"/>
                    <a:ea typeface="微软雅黑" panose="020B0503020204020204" pitchFamily="82" charset="2"/>
                    <a:sym typeface="Symbol" pitchFamily="2" charset="2"/>
                  </a:rPr>
                  <a:t>-</a:t>
                </a:r>
              </a:p>
            </p:txBody>
          </p:sp>
          <p:sp>
            <p:nvSpPr>
              <p:cNvPr id="82" name="Rectangle 13">
                <a:extLst>
                  <a:ext uri="{FF2B5EF4-FFF2-40B4-BE49-F238E27FC236}">
                    <a16:creationId xmlns:a16="http://schemas.microsoft.com/office/drawing/2014/main" id="{582D34B4-5437-363E-B20C-6FB9F4E245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72" y="3693"/>
                <a:ext cx="229" cy="136"/>
              </a:xfrm>
              <a:prstGeom prst="rect">
                <a:avLst/>
              </a:prstGeom>
              <a:solidFill>
                <a:srgbClr val="CCCC00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82" charset="2"/>
                    <a:ea typeface="微软雅黑" panose="020B0503020204020204" pitchFamily="82" charset="2"/>
                  </a:rPr>
                  <a:t>12</a:t>
                </a:r>
              </a:p>
            </p:txBody>
          </p:sp>
          <p:sp>
            <p:nvSpPr>
              <p:cNvPr id="83" name="Rectangle 14">
                <a:extLst>
                  <a:ext uri="{FF2B5EF4-FFF2-40B4-BE49-F238E27FC236}">
                    <a16:creationId xmlns:a16="http://schemas.microsoft.com/office/drawing/2014/main" id="{825360B8-005F-5961-11D2-CBB81EE267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05" y="3693"/>
                <a:ext cx="229" cy="136"/>
              </a:xfrm>
              <a:prstGeom prst="rect">
                <a:avLst/>
              </a:prstGeom>
              <a:solidFill>
                <a:srgbClr val="CCCC00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82" charset="2"/>
                    <a:ea typeface="微软雅黑" panose="020B0503020204020204" pitchFamily="82" charset="2"/>
                  </a:rPr>
                  <a:t>23</a:t>
                </a:r>
              </a:p>
            </p:txBody>
          </p:sp>
          <p:sp>
            <p:nvSpPr>
              <p:cNvPr id="84" name="Rectangle 15">
                <a:extLst>
                  <a:ext uri="{FF2B5EF4-FFF2-40B4-BE49-F238E27FC236}">
                    <a16:creationId xmlns:a16="http://schemas.microsoft.com/office/drawing/2014/main" id="{08A8048F-86A1-0900-D827-56725BC98C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39" y="3693"/>
                <a:ext cx="229" cy="136"/>
              </a:xfrm>
              <a:prstGeom prst="rect">
                <a:avLst/>
              </a:prstGeom>
              <a:solidFill>
                <a:srgbClr val="CCCC00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82" charset="2"/>
                    <a:ea typeface="微软雅黑" panose="020B0503020204020204" pitchFamily="82" charset="2"/>
                  </a:rPr>
                  <a:t>26</a:t>
                </a:r>
              </a:p>
            </p:txBody>
          </p:sp>
          <p:cxnSp>
            <p:nvCxnSpPr>
              <p:cNvPr id="85" name="AutoShape 16">
                <a:extLst>
                  <a:ext uri="{FF2B5EF4-FFF2-40B4-BE49-F238E27FC236}">
                    <a16:creationId xmlns:a16="http://schemas.microsoft.com/office/drawing/2014/main" id="{88618E4C-A2BB-72FF-D43B-1F0A66D46FCC}"/>
                  </a:ext>
                </a:extLst>
              </p:cNvPr>
              <p:cNvCxnSpPr>
                <a:cxnSpLocks noChangeShapeType="1"/>
                <a:stCxn id="81" idx="3"/>
                <a:endCxn id="82" idx="1"/>
              </p:cNvCxnSpPr>
              <p:nvPr/>
            </p:nvCxnSpPr>
            <p:spPr bwMode="auto">
              <a:xfrm>
                <a:off x="1073" y="3761"/>
                <a:ext cx="193" cy="0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86" name="AutoShape 17">
                <a:extLst>
                  <a:ext uri="{FF2B5EF4-FFF2-40B4-BE49-F238E27FC236}">
                    <a16:creationId xmlns:a16="http://schemas.microsoft.com/office/drawing/2014/main" id="{DEE6E4C8-BFD5-BFCD-8605-2173428F9587}"/>
                  </a:ext>
                </a:extLst>
              </p:cNvPr>
              <p:cNvCxnSpPr>
                <a:cxnSpLocks noChangeShapeType="1"/>
                <a:stCxn id="83" idx="3"/>
                <a:endCxn id="84" idx="1"/>
              </p:cNvCxnSpPr>
              <p:nvPr/>
            </p:nvCxnSpPr>
            <p:spPr bwMode="auto">
              <a:xfrm>
                <a:off x="1940" y="3761"/>
                <a:ext cx="193" cy="0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87" name="AutoShape 18">
                <a:extLst>
                  <a:ext uri="{FF2B5EF4-FFF2-40B4-BE49-F238E27FC236}">
                    <a16:creationId xmlns:a16="http://schemas.microsoft.com/office/drawing/2014/main" id="{174E1D6D-A037-6600-2A15-34E3A00A2207}"/>
                  </a:ext>
                </a:extLst>
              </p:cNvPr>
              <p:cNvCxnSpPr>
                <a:cxnSpLocks noChangeShapeType="1"/>
                <a:stCxn id="78" idx="3"/>
                <a:endCxn id="79" idx="1"/>
              </p:cNvCxnSpPr>
              <p:nvPr/>
            </p:nvCxnSpPr>
            <p:spPr bwMode="auto">
              <a:xfrm>
                <a:off x="2844" y="3761"/>
                <a:ext cx="193" cy="0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88" name="AutoShape 19">
                <a:extLst>
                  <a:ext uri="{FF2B5EF4-FFF2-40B4-BE49-F238E27FC236}">
                    <a16:creationId xmlns:a16="http://schemas.microsoft.com/office/drawing/2014/main" id="{8F11A06A-5B14-A618-F402-45F312960C95}"/>
                  </a:ext>
                </a:extLst>
              </p:cNvPr>
              <p:cNvCxnSpPr>
                <a:cxnSpLocks noChangeShapeType="1"/>
                <a:stCxn id="82" idx="3"/>
                <a:endCxn id="83" idx="1"/>
              </p:cNvCxnSpPr>
              <p:nvPr/>
            </p:nvCxnSpPr>
            <p:spPr bwMode="auto">
              <a:xfrm>
                <a:off x="1507" y="3761"/>
                <a:ext cx="192" cy="0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89" name="AutoShape 20">
                <a:extLst>
                  <a:ext uri="{FF2B5EF4-FFF2-40B4-BE49-F238E27FC236}">
                    <a16:creationId xmlns:a16="http://schemas.microsoft.com/office/drawing/2014/main" id="{E55521EC-52A1-556C-8A7E-F12C79B42D44}"/>
                  </a:ext>
                </a:extLst>
              </p:cNvPr>
              <p:cNvCxnSpPr>
                <a:cxnSpLocks noChangeShapeType="1"/>
                <a:stCxn id="84" idx="3"/>
                <a:endCxn id="78" idx="1"/>
              </p:cNvCxnSpPr>
              <p:nvPr/>
            </p:nvCxnSpPr>
            <p:spPr bwMode="auto">
              <a:xfrm>
                <a:off x="2374" y="3761"/>
                <a:ext cx="230" cy="0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90" name="AutoShape 21">
                <a:extLst>
                  <a:ext uri="{FF2B5EF4-FFF2-40B4-BE49-F238E27FC236}">
                    <a16:creationId xmlns:a16="http://schemas.microsoft.com/office/drawing/2014/main" id="{AD72FCB8-BADC-0701-3F6F-5ECA73CB5BC3}"/>
                  </a:ext>
                </a:extLst>
              </p:cNvPr>
              <p:cNvCxnSpPr>
                <a:cxnSpLocks noChangeShapeType="1"/>
                <a:stCxn id="79" idx="3"/>
                <a:endCxn id="80" idx="1"/>
              </p:cNvCxnSpPr>
              <p:nvPr/>
            </p:nvCxnSpPr>
            <p:spPr bwMode="auto">
              <a:xfrm>
                <a:off x="3278" y="3761"/>
                <a:ext cx="178" cy="0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91" name="AutoShape 22">
                <a:extLst>
                  <a:ext uri="{FF2B5EF4-FFF2-40B4-BE49-F238E27FC236}">
                    <a16:creationId xmlns:a16="http://schemas.microsoft.com/office/drawing/2014/main" id="{9B36E010-4062-BC80-C576-720997006EDE}"/>
                  </a:ext>
                </a:extLst>
              </p:cNvPr>
              <p:cNvCxnSpPr>
                <a:cxnSpLocks noChangeShapeType="1"/>
                <a:stCxn id="80" idx="3"/>
                <a:endCxn id="74" idx="1"/>
              </p:cNvCxnSpPr>
              <p:nvPr/>
            </p:nvCxnSpPr>
            <p:spPr bwMode="auto">
              <a:xfrm>
                <a:off x="3697" y="3761"/>
                <a:ext cx="193" cy="0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92" name="AutoShape 23">
                <a:extLst>
                  <a:ext uri="{FF2B5EF4-FFF2-40B4-BE49-F238E27FC236}">
                    <a16:creationId xmlns:a16="http://schemas.microsoft.com/office/drawing/2014/main" id="{E5241A46-5AB0-7ACF-B988-9C3311103998}"/>
                  </a:ext>
                </a:extLst>
              </p:cNvPr>
              <p:cNvCxnSpPr>
                <a:cxnSpLocks noChangeShapeType="1"/>
                <a:stCxn id="74" idx="3"/>
                <a:endCxn id="75" idx="1"/>
              </p:cNvCxnSpPr>
              <p:nvPr/>
            </p:nvCxnSpPr>
            <p:spPr bwMode="auto">
              <a:xfrm>
                <a:off x="4131" y="3761"/>
                <a:ext cx="193" cy="0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93" name="AutoShape 24">
                <a:extLst>
                  <a:ext uri="{FF2B5EF4-FFF2-40B4-BE49-F238E27FC236}">
                    <a16:creationId xmlns:a16="http://schemas.microsoft.com/office/drawing/2014/main" id="{8DC292E8-7583-69C3-B9A0-9B9CDD72B953}"/>
                  </a:ext>
                </a:extLst>
              </p:cNvPr>
              <p:cNvCxnSpPr>
                <a:cxnSpLocks noChangeShapeType="1"/>
                <a:stCxn id="75" idx="3"/>
                <a:endCxn id="76" idx="1"/>
              </p:cNvCxnSpPr>
              <p:nvPr/>
            </p:nvCxnSpPr>
            <p:spPr bwMode="auto">
              <a:xfrm>
                <a:off x="4563" y="3761"/>
                <a:ext cx="193" cy="0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94" name="AutoShape 25">
                <a:extLst>
                  <a:ext uri="{FF2B5EF4-FFF2-40B4-BE49-F238E27FC236}">
                    <a16:creationId xmlns:a16="http://schemas.microsoft.com/office/drawing/2014/main" id="{19C9F028-396B-730D-41FC-CEA14A6BDDCB}"/>
                  </a:ext>
                </a:extLst>
              </p:cNvPr>
              <p:cNvCxnSpPr>
                <a:cxnSpLocks noChangeShapeType="1"/>
                <a:stCxn id="76" idx="3"/>
                <a:endCxn id="77" idx="1"/>
              </p:cNvCxnSpPr>
              <p:nvPr/>
            </p:nvCxnSpPr>
            <p:spPr bwMode="auto">
              <a:xfrm>
                <a:off x="4996" y="3761"/>
                <a:ext cx="194" cy="0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95" name="Group 26">
              <a:extLst>
                <a:ext uri="{FF2B5EF4-FFF2-40B4-BE49-F238E27FC236}">
                  <a16:creationId xmlns:a16="http://schemas.microsoft.com/office/drawing/2014/main" id="{6B8AA479-565A-DB69-E9A6-4087AEBF87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55862" y="4383156"/>
              <a:ext cx="7280275" cy="215900"/>
              <a:chOff x="838" y="2736"/>
              <a:chExt cx="4586" cy="136"/>
            </a:xfrm>
          </p:grpSpPr>
          <p:sp>
            <p:nvSpPr>
              <p:cNvPr id="96" name="Rectangle 27">
                <a:extLst>
                  <a:ext uri="{FF2B5EF4-FFF2-40B4-BE49-F238E27FC236}">
                    <a16:creationId xmlns:a16="http://schemas.microsoft.com/office/drawing/2014/main" id="{B9FCB82A-9F77-7164-19D4-25995ACE8D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96" y="2736"/>
                <a:ext cx="228" cy="136"/>
              </a:xfrm>
              <a:prstGeom prst="rect">
                <a:avLst/>
              </a:prstGeom>
              <a:solidFill>
                <a:srgbClr val="CCCC00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82" charset="2"/>
                    <a:ea typeface="微软雅黑" panose="020B0503020204020204" pitchFamily="82" charset="2"/>
                    <a:sym typeface="Symbol" pitchFamily="2" charset="2"/>
                  </a:rPr>
                  <a:t>+</a:t>
                </a:r>
                <a:endPara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82" charset="2"/>
                  <a:ea typeface="微软雅黑" panose="020B0503020204020204" pitchFamily="82" charset="2"/>
                </a:endParaRPr>
              </a:p>
            </p:txBody>
          </p:sp>
          <p:sp>
            <p:nvSpPr>
              <p:cNvPr id="97" name="Rectangle 28">
                <a:extLst>
                  <a:ext uri="{FF2B5EF4-FFF2-40B4-BE49-F238E27FC236}">
                    <a16:creationId xmlns:a16="http://schemas.microsoft.com/office/drawing/2014/main" id="{A61BFF8B-779A-A0CA-6223-4F50BA68C0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8" y="2736"/>
                <a:ext cx="229" cy="136"/>
              </a:xfrm>
              <a:prstGeom prst="rect">
                <a:avLst/>
              </a:prstGeom>
              <a:solidFill>
                <a:srgbClr val="CCCC00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82" charset="2"/>
                    <a:ea typeface="微软雅黑" panose="020B0503020204020204" pitchFamily="82" charset="2"/>
                    <a:sym typeface="Symbol" pitchFamily="2" charset="2"/>
                  </a:rPr>
                  <a:t>-</a:t>
                </a:r>
              </a:p>
            </p:txBody>
          </p:sp>
          <p:cxnSp>
            <p:nvCxnSpPr>
              <p:cNvPr id="98" name="AutoShape 29">
                <a:extLst>
                  <a:ext uri="{FF2B5EF4-FFF2-40B4-BE49-F238E27FC236}">
                    <a16:creationId xmlns:a16="http://schemas.microsoft.com/office/drawing/2014/main" id="{E14BD3C6-B246-8184-7902-B2D88A648181}"/>
                  </a:ext>
                </a:extLst>
              </p:cNvPr>
              <p:cNvCxnSpPr>
                <a:cxnSpLocks noChangeShapeType="1"/>
                <a:stCxn id="97" idx="3"/>
                <a:endCxn id="96" idx="1"/>
              </p:cNvCxnSpPr>
              <p:nvPr/>
            </p:nvCxnSpPr>
            <p:spPr bwMode="auto">
              <a:xfrm>
                <a:off x="1073" y="2804"/>
                <a:ext cx="4117" cy="0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99" name="Rectangle 30">
              <a:extLst>
                <a:ext uri="{FF2B5EF4-FFF2-40B4-BE49-F238E27FC236}">
                  <a16:creationId xmlns:a16="http://schemas.microsoft.com/office/drawing/2014/main" id="{C5EF5618-4740-6A9D-6ED0-683ACD1761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74187" y="4889569"/>
              <a:ext cx="361950" cy="215900"/>
            </a:xfrm>
            <a:prstGeom prst="rect">
              <a:avLst/>
            </a:prstGeom>
            <a:solidFill>
              <a:srgbClr val="CCCC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82" charset="2"/>
                  <a:ea typeface="微软雅黑" panose="020B0503020204020204" pitchFamily="82" charset="2"/>
                  <a:sym typeface="Symbol" pitchFamily="2" charset="2"/>
                </a:rPr>
                <a:t>+</a:t>
              </a:r>
              <a:endPara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  <p:sp>
          <p:nvSpPr>
            <p:cNvPr id="100" name="Rectangle 31">
              <a:extLst>
                <a:ext uri="{FF2B5EF4-FFF2-40B4-BE49-F238E27FC236}">
                  <a16:creationId xmlns:a16="http://schemas.microsoft.com/office/drawing/2014/main" id="{AA8867DA-0DD4-9DF5-0DD7-9AD819A16F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68912" y="4889569"/>
              <a:ext cx="361950" cy="215900"/>
            </a:xfrm>
            <a:prstGeom prst="rect">
              <a:avLst/>
            </a:prstGeom>
            <a:solidFill>
              <a:srgbClr val="CCCC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5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82" charset="2"/>
                  <a:ea typeface="微软雅黑" panose="020B0503020204020204" pitchFamily="82" charset="2"/>
                </a:rPr>
                <a:t>31</a:t>
              </a:r>
            </a:p>
          </p:txBody>
        </p:sp>
        <p:sp>
          <p:nvSpPr>
            <p:cNvPr id="101" name="Rectangle 32">
              <a:extLst>
                <a:ext uri="{FF2B5EF4-FFF2-40B4-BE49-F238E27FC236}">
                  <a16:creationId xmlns:a16="http://schemas.microsoft.com/office/drawing/2014/main" id="{5967AE25-EBAF-AF81-0466-620ABAF9DA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5862" y="4889569"/>
              <a:ext cx="363538" cy="215900"/>
            </a:xfrm>
            <a:prstGeom prst="rect">
              <a:avLst/>
            </a:prstGeom>
            <a:solidFill>
              <a:srgbClr val="CCCC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82" charset="2"/>
                  <a:ea typeface="微软雅黑" panose="020B0503020204020204" pitchFamily="82" charset="2"/>
                  <a:sym typeface="Symbol" pitchFamily="2" charset="2"/>
                </a:rPr>
                <a:t>-</a:t>
              </a:r>
              <a:endPara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  <p:cxnSp>
          <p:nvCxnSpPr>
            <p:cNvPr id="102" name="AutoShape 33">
              <a:extLst>
                <a:ext uri="{FF2B5EF4-FFF2-40B4-BE49-F238E27FC236}">
                  <a16:creationId xmlns:a16="http://schemas.microsoft.com/office/drawing/2014/main" id="{16783AEB-5ABE-68BF-EC9E-C9DC4251CB14}"/>
                </a:ext>
              </a:extLst>
            </p:cNvPr>
            <p:cNvCxnSpPr>
              <a:cxnSpLocks noChangeShapeType="1"/>
              <a:stCxn id="101" idx="3"/>
              <a:endCxn id="100" idx="1"/>
            </p:cNvCxnSpPr>
            <p:nvPr/>
          </p:nvCxnSpPr>
          <p:spPr bwMode="auto">
            <a:xfrm>
              <a:off x="2828925" y="4997519"/>
              <a:ext cx="2430462" cy="0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3" name="AutoShape 34">
              <a:extLst>
                <a:ext uri="{FF2B5EF4-FFF2-40B4-BE49-F238E27FC236}">
                  <a16:creationId xmlns:a16="http://schemas.microsoft.com/office/drawing/2014/main" id="{38846EBE-F8F7-56F4-24B5-6645440E8B56}"/>
                </a:ext>
              </a:extLst>
            </p:cNvPr>
            <p:cNvCxnSpPr>
              <a:cxnSpLocks noChangeShapeType="1"/>
              <a:stCxn id="100" idx="3"/>
              <a:endCxn id="99" idx="1"/>
            </p:cNvCxnSpPr>
            <p:nvPr/>
          </p:nvCxnSpPr>
          <p:spPr bwMode="auto">
            <a:xfrm>
              <a:off x="5640387" y="4997519"/>
              <a:ext cx="3724275" cy="0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04" name="Rectangle 35">
              <a:extLst>
                <a:ext uri="{FF2B5EF4-FFF2-40B4-BE49-F238E27FC236}">
                  <a16:creationId xmlns:a16="http://schemas.microsoft.com/office/drawing/2014/main" id="{7C7C9421-3406-4DF3-D496-5021739A63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99412" y="5395981"/>
              <a:ext cx="360363" cy="215900"/>
            </a:xfrm>
            <a:prstGeom prst="rect">
              <a:avLst/>
            </a:prstGeom>
            <a:solidFill>
              <a:srgbClr val="CCCC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5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82" charset="2"/>
                  <a:ea typeface="微软雅黑" panose="020B0503020204020204" pitchFamily="82" charset="2"/>
                </a:rPr>
                <a:t>64</a:t>
              </a:r>
            </a:p>
          </p:txBody>
        </p:sp>
        <p:sp>
          <p:nvSpPr>
            <p:cNvPr id="105" name="Rectangle 36">
              <a:extLst>
                <a:ext uri="{FF2B5EF4-FFF2-40B4-BE49-F238E27FC236}">
                  <a16:creationId xmlns:a16="http://schemas.microsoft.com/office/drawing/2014/main" id="{3C305311-4F09-4DE2-B60D-487BB651C7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74187" y="5395981"/>
              <a:ext cx="361950" cy="215900"/>
            </a:xfrm>
            <a:prstGeom prst="rect">
              <a:avLst/>
            </a:prstGeom>
            <a:solidFill>
              <a:srgbClr val="CCCC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82" charset="2"/>
                  <a:ea typeface="微软雅黑" panose="020B0503020204020204" pitchFamily="82" charset="2"/>
                  <a:sym typeface="Symbol" pitchFamily="2" charset="2"/>
                </a:rPr>
                <a:t>+</a:t>
              </a:r>
              <a:endPara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  <p:sp>
          <p:nvSpPr>
            <p:cNvPr id="106" name="Rectangle 37">
              <a:extLst>
                <a:ext uri="{FF2B5EF4-FFF2-40B4-BE49-F238E27FC236}">
                  <a16:creationId xmlns:a16="http://schemas.microsoft.com/office/drawing/2014/main" id="{EA76E373-61A3-6C12-32A7-600D1F0F8A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68912" y="5395981"/>
              <a:ext cx="361950" cy="215900"/>
            </a:xfrm>
            <a:prstGeom prst="rect">
              <a:avLst/>
            </a:prstGeom>
            <a:solidFill>
              <a:srgbClr val="CCCC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5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82" charset="2"/>
                  <a:ea typeface="微软雅黑" panose="020B0503020204020204" pitchFamily="82" charset="2"/>
                </a:rPr>
                <a:t>31</a:t>
              </a:r>
            </a:p>
          </p:txBody>
        </p:sp>
        <p:sp>
          <p:nvSpPr>
            <p:cNvPr id="107" name="Rectangle 39">
              <a:extLst>
                <a:ext uri="{FF2B5EF4-FFF2-40B4-BE49-F238E27FC236}">
                  <a16:creationId xmlns:a16="http://schemas.microsoft.com/office/drawing/2014/main" id="{9E9E24A4-BF0F-4783-59F2-24D26E335D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5862" y="5395981"/>
              <a:ext cx="363538" cy="215900"/>
            </a:xfrm>
            <a:prstGeom prst="rect">
              <a:avLst/>
            </a:prstGeom>
            <a:solidFill>
              <a:srgbClr val="CCCC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82" charset="2"/>
                  <a:ea typeface="微软雅黑" panose="020B0503020204020204" pitchFamily="82" charset="2"/>
                  <a:sym typeface="Symbol" pitchFamily="2" charset="2"/>
                </a:rPr>
                <a:t>-</a:t>
              </a:r>
              <a:endPara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  <p:sp>
          <p:nvSpPr>
            <p:cNvPr id="108" name="Rectangle 40">
              <a:extLst>
                <a:ext uri="{FF2B5EF4-FFF2-40B4-BE49-F238E27FC236}">
                  <a16:creationId xmlns:a16="http://schemas.microsoft.com/office/drawing/2014/main" id="{22211113-717B-A5DF-BB66-796EF871C2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2225" y="5395981"/>
              <a:ext cx="363537" cy="215900"/>
            </a:xfrm>
            <a:prstGeom prst="rect">
              <a:avLst/>
            </a:prstGeom>
            <a:solidFill>
              <a:srgbClr val="CCCC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5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82" charset="2"/>
                  <a:ea typeface="微软雅黑" panose="020B0503020204020204" pitchFamily="82" charset="2"/>
                </a:rPr>
                <a:t>23</a:t>
              </a:r>
            </a:p>
          </p:txBody>
        </p:sp>
        <p:cxnSp>
          <p:nvCxnSpPr>
            <p:cNvPr id="109" name="AutoShape 41">
              <a:extLst>
                <a:ext uri="{FF2B5EF4-FFF2-40B4-BE49-F238E27FC236}">
                  <a16:creationId xmlns:a16="http://schemas.microsoft.com/office/drawing/2014/main" id="{85AD6A05-CB43-24D4-A2DC-4CF459C9DB37}"/>
                </a:ext>
              </a:extLst>
            </p:cNvPr>
            <p:cNvCxnSpPr>
              <a:cxnSpLocks noChangeShapeType="1"/>
              <a:stCxn id="107" idx="3"/>
              <a:endCxn id="108" idx="1"/>
            </p:cNvCxnSpPr>
            <p:nvPr/>
          </p:nvCxnSpPr>
          <p:spPr bwMode="auto">
            <a:xfrm>
              <a:off x="2828925" y="5503931"/>
              <a:ext cx="993775" cy="0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0" name="AutoShape 42">
              <a:extLst>
                <a:ext uri="{FF2B5EF4-FFF2-40B4-BE49-F238E27FC236}">
                  <a16:creationId xmlns:a16="http://schemas.microsoft.com/office/drawing/2014/main" id="{5FAC946C-F98D-9709-EE30-6596248BD494}"/>
                </a:ext>
              </a:extLst>
            </p:cNvPr>
            <p:cNvCxnSpPr>
              <a:cxnSpLocks noChangeShapeType="1"/>
              <a:stCxn id="108" idx="3"/>
              <a:endCxn id="106" idx="1"/>
            </p:cNvCxnSpPr>
            <p:nvPr/>
          </p:nvCxnSpPr>
          <p:spPr bwMode="auto">
            <a:xfrm>
              <a:off x="4205287" y="5503931"/>
              <a:ext cx="1054100" cy="0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1" name="AutoShape 43">
              <a:extLst>
                <a:ext uri="{FF2B5EF4-FFF2-40B4-BE49-F238E27FC236}">
                  <a16:creationId xmlns:a16="http://schemas.microsoft.com/office/drawing/2014/main" id="{AE92612C-4209-9B45-03A2-7D98A05A800D}"/>
                </a:ext>
              </a:extLst>
            </p:cNvPr>
            <p:cNvCxnSpPr>
              <a:cxnSpLocks noChangeShapeType="1"/>
              <a:stCxn id="106" idx="3"/>
            </p:cNvCxnSpPr>
            <p:nvPr/>
          </p:nvCxnSpPr>
          <p:spPr bwMode="auto">
            <a:xfrm>
              <a:off x="5640387" y="5503931"/>
              <a:ext cx="306388" cy="0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2" name="AutoShape 44">
              <a:extLst>
                <a:ext uri="{FF2B5EF4-FFF2-40B4-BE49-F238E27FC236}">
                  <a16:creationId xmlns:a16="http://schemas.microsoft.com/office/drawing/2014/main" id="{1493BA71-633E-C07E-8C4F-DD293379A349}"/>
                </a:ext>
              </a:extLst>
            </p:cNvPr>
            <p:cNvCxnSpPr>
              <a:cxnSpLocks noChangeShapeType="1"/>
              <a:endCxn id="104" idx="1"/>
            </p:cNvCxnSpPr>
            <p:nvPr/>
          </p:nvCxnSpPr>
          <p:spPr bwMode="auto">
            <a:xfrm>
              <a:off x="5640387" y="5503931"/>
              <a:ext cx="2349500" cy="0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3" name="AutoShape 45">
              <a:extLst>
                <a:ext uri="{FF2B5EF4-FFF2-40B4-BE49-F238E27FC236}">
                  <a16:creationId xmlns:a16="http://schemas.microsoft.com/office/drawing/2014/main" id="{BDBCCCBA-BB16-21B8-84F0-E3364ED76559}"/>
                </a:ext>
              </a:extLst>
            </p:cNvPr>
            <p:cNvCxnSpPr>
              <a:cxnSpLocks noChangeShapeType="1"/>
              <a:stCxn id="104" idx="3"/>
              <a:endCxn id="105" idx="1"/>
            </p:cNvCxnSpPr>
            <p:nvPr/>
          </p:nvCxnSpPr>
          <p:spPr bwMode="auto">
            <a:xfrm>
              <a:off x="8369300" y="5503931"/>
              <a:ext cx="995362" cy="0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4" name="Text Box 46">
              <a:extLst>
                <a:ext uri="{FF2B5EF4-FFF2-40B4-BE49-F238E27FC236}">
                  <a16:creationId xmlns:a16="http://schemas.microsoft.com/office/drawing/2014/main" id="{55B0FA0C-A0C8-5206-E129-AC1760043F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46124" y="5754756"/>
              <a:ext cx="49084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>
                  <a:solidFill>
                    <a:srgbClr val="000000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S</a:t>
              </a:r>
              <a:r>
                <a:rPr lang="en-US" altLang="zh-CN" sz="2400" baseline="-25000">
                  <a:solidFill>
                    <a:srgbClr val="000000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0</a:t>
              </a:r>
            </a:p>
          </p:txBody>
        </p:sp>
        <p:sp>
          <p:nvSpPr>
            <p:cNvPr id="115" name="Text Box 47">
              <a:extLst>
                <a:ext uri="{FF2B5EF4-FFF2-40B4-BE49-F238E27FC236}">
                  <a16:creationId xmlns:a16="http://schemas.microsoft.com/office/drawing/2014/main" id="{E0FF13B4-D6C3-CF37-FDFB-0654543782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46124" y="5246756"/>
              <a:ext cx="49084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>
                  <a:solidFill>
                    <a:srgbClr val="000000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S</a:t>
              </a:r>
              <a:r>
                <a:rPr lang="en-US" altLang="zh-CN" sz="2400" baseline="-25000">
                  <a:solidFill>
                    <a:srgbClr val="000000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1</a:t>
              </a:r>
            </a:p>
          </p:txBody>
        </p:sp>
        <p:sp>
          <p:nvSpPr>
            <p:cNvPr id="116" name="Text Box 48">
              <a:extLst>
                <a:ext uri="{FF2B5EF4-FFF2-40B4-BE49-F238E27FC236}">
                  <a16:creationId xmlns:a16="http://schemas.microsoft.com/office/drawing/2014/main" id="{43C516A7-1232-1D3C-3C29-6FAA287E4E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46124" y="4738756"/>
              <a:ext cx="49084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>
                  <a:solidFill>
                    <a:srgbClr val="000000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S</a:t>
              </a:r>
              <a:r>
                <a:rPr lang="en-US" altLang="zh-CN" sz="2400" baseline="-25000">
                  <a:solidFill>
                    <a:srgbClr val="000000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2</a:t>
              </a:r>
            </a:p>
          </p:txBody>
        </p:sp>
        <p:sp>
          <p:nvSpPr>
            <p:cNvPr id="117" name="Text Box 49">
              <a:extLst>
                <a:ext uri="{FF2B5EF4-FFF2-40B4-BE49-F238E27FC236}">
                  <a16:creationId xmlns:a16="http://schemas.microsoft.com/office/drawing/2014/main" id="{4E2AFC6F-4C4E-A463-F3CC-B584FC78BE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46124" y="4230756"/>
              <a:ext cx="49084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>
                  <a:solidFill>
                    <a:srgbClr val="000000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S</a:t>
              </a:r>
              <a:r>
                <a:rPr lang="en-US" altLang="zh-CN" sz="2400" baseline="-25000">
                  <a:solidFill>
                    <a:srgbClr val="000000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3</a:t>
              </a:r>
            </a:p>
          </p:txBody>
        </p:sp>
        <p:sp>
          <p:nvSpPr>
            <p:cNvPr id="118" name="Rectangle 50">
              <a:extLst>
                <a:ext uri="{FF2B5EF4-FFF2-40B4-BE49-F238E27FC236}">
                  <a16:creationId xmlns:a16="http://schemas.microsoft.com/office/drawing/2014/main" id="{18443D3D-AADD-A9CC-BDBC-D4C1C55C97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11937" y="5373756"/>
              <a:ext cx="363538" cy="215900"/>
            </a:xfrm>
            <a:prstGeom prst="rect">
              <a:avLst/>
            </a:prstGeom>
            <a:solidFill>
              <a:srgbClr val="CCCC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5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82" charset="2"/>
                  <a:ea typeface="微软雅黑" panose="020B0503020204020204" pitchFamily="82" charset="2"/>
                </a:rPr>
                <a:t>44</a:t>
              </a:r>
            </a:p>
          </p:txBody>
        </p:sp>
        <p:sp>
          <p:nvSpPr>
            <p:cNvPr id="119" name="Rectangle 51">
              <a:extLst>
                <a:ext uri="{FF2B5EF4-FFF2-40B4-BE49-F238E27FC236}">
                  <a16:creationId xmlns:a16="http://schemas.microsoft.com/office/drawing/2014/main" id="{4257F92D-91ED-7852-D4C7-46F386AE57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83537" y="4916556"/>
              <a:ext cx="361950" cy="215900"/>
            </a:xfrm>
            <a:prstGeom prst="rect">
              <a:avLst/>
            </a:prstGeom>
            <a:solidFill>
              <a:srgbClr val="CCCC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5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82" charset="2"/>
                  <a:ea typeface="微软雅黑" panose="020B0503020204020204" pitchFamily="82" charset="2"/>
                </a:rPr>
                <a:t>64</a:t>
              </a:r>
            </a:p>
          </p:txBody>
        </p:sp>
        <p:sp>
          <p:nvSpPr>
            <p:cNvPr id="120" name="Rectangle 53">
              <a:extLst>
                <a:ext uri="{FF2B5EF4-FFF2-40B4-BE49-F238E27FC236}">
                  <a16:creationId xmlns:a16="http://schemas.microsoft.com/office/drawing/2014/main" id="{38FEBFB1-8385-2A37-877B-CB474D3000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83537" y="4383156"/>
              <a:ext cx="361950" cy="215900"/>
            </a:xfrm>
            <a:prstGeom prst="rect">
              <a:avLst/>
            </a:prstGeom>
            <a:solidFill>
              <a:srgbClr val="CCCC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5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82" charset="2"/>
                  <a:ea typeface="微软雅黑" panose="020B0503020204020204" pitchFamily="82" charset="2"/>
                </a:rPr>
                <a:t>64</a:t>
              </a:r>
            </a:p>
          </p:txBody>
        </p:sp>
        <p:sp>
          <p:nvSpPr>
            <p:cNvPr id="121" name="Line 68">
              <a:extLst>
                <a:ext uri="{FF2B5EF4-FFF2-40B4-BE49-F238E27FC236}">
                  <a16:creationId xmlns:a16="http://schemas.microsoft.com/office/drawing/2014/main" id="{21891474-BD1B-BE4D-6AA2-E1FEAF173D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9537" y="5602356"/>
              <a:ext cx="0" cy="30480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  <p:sp>
          <p:nvSpPr>
            <p:cNvPr id="122" name="Line 69">
              <a:extLst>
                <a:ext uri="{FF2B5EF4-FFF2-40B4-BE49-F238E27FC236}">
                  <a16:creationId xmlns:a16="http://schemas.microsoft.com/office/drawing/2014/main" id="{1752133F-BD7C-CE8D-9335-8C932736FC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1137" y="5602356"/>
              <a:ext cx="0" cy="30480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  <p:sp>
          <p:nvSpPr>
            <p:cNvPr id="123" name="Line 70">
              <a:extLst>
                <a:ext uri="{FF2B5EF4-FFF2-40B4-BE49-F238E27FC236}">
                  <a16:creationId xmlns:a16="http://schemas.microsoft.com/office/drawing/2014/main" id="{2EBF5C22-724E-6D51-61C5-B1D1EDF45C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68937" y="5602356"/>
              <a:ext cx="0" cy="30480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  <p:sp>
          <p:nvSpPr>
            <p:cNvPr id="124" name="Line 71">
              <a:extLst>
                <a:ext uri="{FF2B5EF4-FFF2-40B4-BE49-F238E27FC236}">
                  <a16:creationId xmlns:a16="http://schemas.microsoft.com/office/drawing/2014/main" id="{2816BC43-CB86-B7A4-5EF1-04AEC1132C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40537" y="5602356"/>
              <a:ext cx="0" cy="30480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  <p:sp>
          <p:nvSpPr>
            <p:cNvPr id="125" name="Line 72">
              <a:extLst>
                <a:ext uri="{FF2B5EF4-FFF2-40B4-BE49-F238E27FC236}">
                  <a16:creationId xmlns:a16="http://schemas.microsoft.com/office/drawing/2014/main" id="{C74C4DF2-7AEF-49C8-2F66-53467137F3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12137" y="5602356"/>
              <a:ext cx="0" cy="30480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  <p:sp>
          <p:nvSpPr>
            <p:cNvPr id="126" name="Line 73">
              <a:extLst>
                <a:ext uri="{FF2B5EF4-FFF2-40B4-BE49-F238E27FC236}">
                  <a16:creationId xmlns:a16="http://schemas.microsoft.com/office/drawing/2014/main" id="{69A8AF0F-FF4D-BE8E-361D-A70915C1CA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83737" y="5602356"/>
              <a:ext cx="0" cy="30480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  <p:sp>
          <p:nvSpPr>
            <p:cNvPr id="127" name="Line 80">
              <a:extLst>
                <a:ext uri="{FF2B5EF4-FFF2-40B4-BE49-F238E27FC236}">
                  <a16:creationId xmlns:a16="http://schemas.microsoft.com/office/drawing/2014/main" id="{C9768150-CD3B-EDF7-EF72-26276DFD6D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12137" y="4611756"/>
              <a:ext cx="0" cy="30480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</p:grpSp>
      <p:graphicFrame>
        <p:nvGraphicFramePr>
          <p:cNvPr id="129" name="Object 4">
            <a:extLst>
              <a:ext uri="{FF2B5EF4-FFF2-40B4-BE49-F238E27FC236}">
                <a16:creationId xmlns:a16="http://schemas.microsoft.com/office/drawing/2014/main" id="{061F2036-9DA7-F2A0-DDE1-16BDDC4A70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6160207"/>
              </p:ext>
            </p:extLst>
          </p:nvPr>
        </p:nvGraphicFramePr>
        <p:xfrm>
          <a:off x="3508375" y="2323564"/>
          <a:ext cx="4860925" cy="9792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9441100" imgH="9944100" progId="Equation.3">
                  <p:embed/>
                </p:oleObj>
              </mc:Choice>
              <mc:Fallback>
                <p:oleObj name="Equation" r:id="rId2" imgW="49441100" imgH="9944100" progId="Equation.3">
                  <p:embed/>
                  <p:pic>
                    <p:nvPicPr>
                      <p:cNvPr id="91181" name="Object 4">
                        <a:extLst>
                          <a:ext uri="{FF2B5EF4-FFF2-40B4-BE49-F238E27FC236}">
                            <a16:creationId xmlns:a16="http://schemas.microsoft.com/office/drawing/2014/main" id="{264A5135-E65A-95EB-B0DE-CF8D7852D9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8375" y="2323564"/>
                        <a:ext cx="4860925" cy="9792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8322015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18">
            <a:extLst>
              <a:ext uri="{FF2B5EF4-FFF2-40B4-BE49-F238E27FC236}">
                <a16:creationId xmlns:a16="http://schemas.microsoft.com/office/drawing/2014/main" id="{0CA7471C-3DD5-4D8E-A6A0-AC027A889300}"/>
              </a:ext>
            </a:extLst>
          </p:cNvPr>
          <p:cNvSpPr/>
          <p:nvPr/>
        </p:nvSpPr>
        <p:spPr>
          <a:xfrm>
            <a:off x="1494971" y="3429000"/>
            <a:ext cx="9304799" cy="2744392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dirty="0">
              <a:latin typeface="微软雅黑" panose="020B0503020204020204" pitchFamily="82" charset="2"/>
              <a:ea typeface="微软雅黑" panose="020B0503020204020204" pitchFamily="82" charset="2"/>
              <a:sym typeface="+mn-ea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A18FD20-A028-2CB2-0236-7A416AE4C5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84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5B063AE4-3D77-7BD6-E51F-D61BEDD98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SkipList</a:t>
            </a:r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 跳表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6C14AEB-7430-2211-CA23-4A9E8ED7B0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153" y="1192352"/>
            <a:ext cx="11987868" cy="5005387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kumimoji="1"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删除索引项</a:t>
            </a:r>
            <a:r>
              <a:rPr lang="en-US" altLang="zh-CN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  <a:cs typeface="Times New Roman" panose="02020603050405020304" pitchFamily="18" charset="0"/>
              </a:rPr>
              <a:t>x</a:t>
            </a:r>
            <a:r>
              <a:rPr lang="en-US" altLang="zh-CN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  <a:cs typeface="Times New Roman" panose="02020603050405020304" pitchFamily="18" charset="0"/>
              </a:rPr>
              <a:t>, </a:t>
            </a:r>
            <a:r>
              <a:rPr lang="en-US" altLang="zh-CN" sz="2400" b="1" i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  <a:cs typeface="Times New Roman" panose="02020603050405020304" pitchFamily="18" charset="0"/>
              </a:rPr>
              <a:t>o</a:t>
            </a:r>
            <a:r>
              <a:rPr lang="en-US" altLang="zh-CN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  <a:cs typeface="Times New Roman" panose="02020603050405020304" pitchFamily="18" charset="0"/>
              </a:rPr>
              <a:t>) 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在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S 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中找到包含 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x 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的链表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S</a:t>
            </a:r>
            <a:r>
              <a:rPr lang="en-US" altLang="zh-CN" sz="2000" baseline="-25000" dirty="0">
                <a:latin typeface="微软雅黑" panose="020B0503020204020204" pitchFamily="82" charset="2"/>
                <a:ea typeface="微软雅黑" panose="020B0503020204020204" pitchFamily="82" charset="2"/>
              </a:rPr>
              <a:t>0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, S</a:t>
            </a:r>
            <a:r>
              <a:rPr lang="en-US" altLang="zh-CN" sz="2000" baseline="-25000" dirty="0">
                <a:latin typeface="微软雅黑" panose="020B0503020204020204" pitchFamily="82" charset="2"/>
                <a:ea typeface="微软雅黑" panose="020B0503020204020204" pitchFamily="82" charset="2"/>
              </a:rPr>
              <a:t>1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, … , S</a:t>
            </a:r>
            <a:r>
              <a:rPr lang="en-US" altLang="zh-CN" sz="2000" baseline="-25000" dirty="0">
                <a:latin typeface="微软雅黑" panose="020B0503020204020204" pitchFamily="82" charset="2"/>
                <a:ea typeface="微软雅黑" panose="020B0503020204020204" pitchFamily="82" charset="2"/>
              </a:rPr>
              <a:t>i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，获得大于等于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x 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位置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 p</a:t>
            </a:r>
            <a:r>
              <a:rPr lang="en-US" altLang="zh-CN" sz="2000" baseline="-25000" dirty="0">
                <a:latin typeface="微软雅黑" panose="020B0503020204020204" pitchFamily="82" charset="2"/>
                <a:ea typeface="微软雅黑" panose="020B0503020204020204" pitchFamily="82" charset="2"/>
              </a:rPr>
              <a:t>0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,  p</a:t>
            </a:r>
            <a:r>
              <a:rPr lang="en-US" altLang="zh-CN" sz="2000" baseline="-25000" dirty="0">
                <a:latin typeface="微软雅黑" panose="020B0503020204020204" pitchFamily="82" charset="2"/>
                <a:ea typeface="微软雅黑" panose="020B0503020204020204" pitchFamily="82" charset="2"/>
              </a:rPr>
              <a:t>1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 , …, p</a:t>
            </a:r>
            <a:r>
              <a:rPr lang="en-US" altLang="zh-CN" sz="2000" baseline="-25000" dirty="0">
                <a:latin typeface="微软雅黑" panose="020B0503020204020204" pitchFamily="82" charset="2"/>
                <a:ea typeface="微软雅黑" panose="020B0503020204020204" pitchFamily="82" charset="2"/>
              </a:rPr>
              <a:t>i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将位置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 p</a:t>
            </a:r>
            <a:r>
              <a:rPr lang="en-US" altLang="zh-CN" sz="2000" baseline="-25000" dirty="0">
                <a:latin typeface="微软雅黑" panose="020B0503020204020204" pitchFamily="82" charset="2"/>
                <a:ea typeface="微软雅黑" panose="020B0503020204020204" pitchFamily="82" charset="2"/>
              </a:rPr>
              <a:t>0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,  p</a:t>
            </a:r>
            <a:r>
              <a:rPr lang="en-US" altLang="zh-CN" sz="2000" baseline="-25000" dirty="0">
                <a:latin typeface="微软雅黑" panose="020B0503020204020204" pitchFamily="82" charset="2"/>
                <a:ea typeface="微软雅黑" panose="020B0503020204020204" pitchFamily="82" charset="2"/>
              </a:rPr>
              <a:t>1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 , …, p</a:t>
            </a:r>
            <a:r>
              <a:rPr lang="en-US" altLang="zh-CN" sz="2000" baseline="-25000" dirty="0">
                <a:latin typeface="微软雅黑" panose="020B0503020204020204" pitchFamily="82" charset="2"/>
                <a:ea typeface="微软雅黑" panose="020B0503020204020204" pitchFamily="82" charset="2"/>
              </a:rPr>
              <a:t>i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的键值从链表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S</a:t>
            </a:r>
            <a:r>
              <a:rPr lang="en-US" altLang="zh-CN" sz="2000" baseline="-25000" dirty="0">
                <a:latin typeface="微软雅黑" panose="020B0503020204020204" pitchFamily="82" charset="2"/>
                <a:ea typeface="微软雅黑" panose="020B0503020204020204" pitchFamily="82" charset="2"/>
              </a:rPr>
              <a:t>0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, S</a:t>
            </a:r>
            <a:r>
              <a:rPr lang="en-US" altLang="zh-CN" sz="2000" baseline="-25000" dirty="0">
                <a:latin typeface="微软雅黑" panose="020B0503020204020204" pitchFamily="82" charset="2"/>
                <a:ea typeface="微软雅黑" panose="020B0503020204020204" pitchFamily="82" charset="2"/>
              </a:rPr>
              <a:t>1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, … , S</a:t>
            </a:r>
            <a:r>
              <a:rPr lang="en-US" altLang="zh-CN" sz="2000" baseline="-25000" dirty="0">
                <a:latin typeface="微软雅黑" panose="020B0503020204020204" pitchFamily="82" charset="2"/>
                <a:ea typeface="微软雅黑" panose="020B0503020204020204" pitchFamily="82" charset="2"/>
              </a:rPr>
              <a:t>i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中删除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如果有多个只包含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  <a:sym typeface="Symbol" pitchFamily="2" charset="2"/>
              </a:rPr>
              <a:t>+ 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和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  <a:sym typeface="Symbol" pitchFamily="2" charset="2"/>
              </a:rPr>
              <a:t>-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的链表，仅保留最低层的一个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/>
            <a:endParaRPr lang="en-US" altLang="zh-CN" sz="3200" b="1" i="1" baseline="-25000" dirty="0">
              <a:latin typeface="微软雅黑" panose="020B0503020204020204" pitchFamily="82" charset="2"/>
              <a:ea typeface="微软雅黑" panose="020B0503020204020204" pitchFamily="82" charset="2"/>
              <a:cs typeface="Times New Roman" panose="02020603050405020304" pitchFamily="18" charset="0"/>
            </a:endParaRPr>
          </a:p>
          <a:p>
            <a:pPr lvl="1"/>
            <a:endParaRPr kumimoji="1" lang="zh-CN" altLang="en-US" sz="3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D5C11F-E634-D239-F608-24D14100F4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grpSp>
        <p:nvGrpSpPr>
          <p:cNvPr id="136" name="组合 135">
            <a:extLst>
              <a:ext uri="{FF2B5EF4-FFF2-40B4-BE49-F238E27FC236}">
                <a16:creationId xmlns:a16="http://schemas.microsoft.com/office/drawing/2014/main" id="{DEA764F6-7F7B-E52E-6F06-6256D6682DD0}"/>
              </a:ext>
            </a:extLst>
          </p:cNvPr>
          <p:cNvGrpSpPr/>
          <p:nvPr/>
        </p:nvGrpSpPr>
        <p:grpSpPr>
          <a:xfrm>
            <a:off x="2193598" y="3881199"/>
            <a:ext cx="8163498" cy="1893332"/>
            <a:chOff x="428052" y="3963988"/>
            <a:chExt cx="8163498" cy="1893332"/>
          </a:xfrm>
        </p:grpSpPr>
        <p:sp>
          <p:nvSpPr>
            <p:cNvPr id="71" name="Line 69">
              <a:extLst>
                <a:ext uri="{FF2B5EF4-FFF2-40B4-BE49-F238E27FC236}">
                  <a16:creationId xmlns:a16="http://schemas.microsoft.com/office/drawing/2014/main" id="{4DCEC850-9E98-7539-A24D-1129D8B763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475" y="4268788"/>
              <a:ext cx="0" cy="12954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  <p:sp>
          <p:nvSpPr>
            <p:cNvPr id="72" name="Line 68">
              <a:extLst>
                <a:ext uri="{FF2B5EF4-FFF2-40B4-BE49-F238E27FC236}">
                  <a16:creationId xmlns:a16="http://schemas.microsoft.com/office/drawing/2014/main" id="{6B54B552-6F7C-EB4C-2838-77265A0C35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5275" y="4802188"/>
              <a:ext cx="0" cy="7620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  <p:sp>
          <p:nvSpPr>
            <p:cNvPr id="73" name="Line 67">
              <a:extLst>
                <a:ext uri="{FF2B5EF4-FFF2-40B4-BE49-F238E27FC236}">
                  <a16:creationId xmlns:a16="http://schemas.microsoft.com/office/drawing/2014/main" id="{51425F28-6793-5ACC-7630-38B188C14B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25675" y="5259388"/>
              <a:ext cx="0" cy="3048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  <p:sp>
          <p:nvSpPr>
            <p:cNvPr id="74" name="Line 66">
              <a:extLst>
                <a:ext uri="{FF2B5EF4-FFF2-40B4-BE49-F238E27FC236}">
                  <a16:creationId xmlns:a16="http://schemas.microsoft.com/office/drawing/2014/main" id="{12D94BE8-13E1-4739-82F1-A8D5DCB747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4475" y="4268788"/>
              <a:ext cx="0" cy="12954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  <p:sp>
          <p:nvSpPr>
            <p:cNvPr id="75" name="Line 65">
              <a:extLst>
                <a:ext uri="{FF2B5EF4-FFF2-40B4-BE49-F238E27FC236}">
                  <a16:creationId xmlns:a16="http://schemas.microsoft.com/office/drawing/2014/main" id="{76B9DECA-EEE9-E3E5-8326-C61BFD94F3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97875" y="4725988"/>
              <a:ext cx="0" cy="8382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  <p:sp>
          <p:nvSpPr>
            <p:cNvPr id="76" name="Line 64">
              <a:extLst>
                <a:ext uri="{FF2B5EF4-FFF2-40B4-BE49-F238E27FC236}">
                  <a16:creationId xmlns:a16="http://schemas.microsoft.com/office/drawing/2014/main" id="{4E3A199A-AF22-6AF9-D93B-488D2B4BED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178675" y="5259388"/>
              <a:ext cx="0" cy="3048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  <p:sp>
          <p:nvSpPr>
            <p:cNvPr id="77" name="Line 63">
              <a:extLst>
                <a:ext uri="{FF2B5EF4-FFF2-40B4-BE49-F238E27FC236}">
                  <a16:creationId xmlns:a16="http://schemas.microsoft.com/office/drawing/2014/main" id="{A2C7050D-0967-1ACB-5E88-91DE03103C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959475" y="4725988"/>
              <a:ext cx="0" cy="8382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  <p:sp>
          <p:nvSpPr>
            <p:cNvPr id="78" name="Rectangle 4">
              <a:extLst>
                <a:ext uri="{FF2B5EF4-FFF2-40B4-BE49-F238E27FC236}">
                  <a16:creationId xmlns:a16="http://schemas.microsoft.com/office/drawing/2014/main" id="{DD406525-CAE2-120D-D9F8-0771F9664848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5749925" y="5559425"/>
              <a:ext cx="361950" cy="215900"/>
            </a:xfrm>
            <a:prstGeom prst="rect">
              <a:avLst/>
            </a:prstGeom>
            <a:solidFill>
              <a:srgbClr val="CCCC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82" charset="2"/>
                  <a:ea typeface="微软雅黑" panose="020B0503020204020204" pitchFamily="82" charset="2"/>
                  <a:sym typeface="Symbol" pitchFamily="2" charset="2"/>
                </a:rPr>
                <a:t>-</a:t>
              </a:r>
              <a:endPara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  <p:sp>
          <p:nvSpPr>
            <p:cNvPr id="79" name="Rectangle 5">
              <a:extLst>
                <a:ext uri="{FF2B5EF4-FFF2-40B4-BE49-F238E27FC236}">
                  <a16:creationId xmlns:a16="http://schemas.microsoft.com/office/drawing/2014/main" id="{AD1848D7-575F-1FCF-2480-378E5E64232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8228013" y="5559425"/>
              <a:ext cx="363537" cy="215900"/>
            </a:xfrm>
            <a:prstGeom prst="rect">
              <a:avLst/>
            </a:prstGeom>
            <a:solidFill>
              <a:srgbClr val="CCCC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82" charset="2"/>
                  <a:ea typeface="微软雅黑" panose="020B0503020204020204" pitchFamily="82" charset="2"/>
                  <a:sym typeface="Symbol" pitchFamily="2" charset="2"/>
                </a:rPr>
                <a:t>+</a:t>
              </a:r>
            </a:p>
          </p:txBody>
        </p:sp>
        <p:sp>
          <p:nvSpPr>
            <p:cNvPr id="80" name="Rectangle 6">
              <a:extLst>
                <a:ext uri="{FF2B5EF4-FFF2-40B4-BE49-F238E27FC236}">
                  <a16:creationId xmlns:a16="http://schemas.microsoft.com/office/drawing/2014/main" id="{ADDB5575-2FF1-0ACB-7F0E-4E833557BE1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7608888" y="5559425"/>
              <a:ext cx="363537" cy="215900"/>
            </a:xfrm>
            <a:prstGeom prst="rect">
              <a:avLst/>
            </a:prstGeom>
            <a:solidFill>
              <a:srgbClr val="CCCC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5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82" charset="2"/>
                  <a:ea typeface="微软雅黑" panose="020B0503020204020204" pitchFamily="82" charset="2"/>
                </a:rPr>
                <a:t>45</a:t>
              </a:r>
            </a:p>
          </p:txBody>
        </p:sp>
        <p:sp>
          <p:nvSpPr>
            <p:cNvPr id="81" name="Rectangle 7">
              <a:extLst>
                <a:ext uri="{FF2B5EF4-FFF2-40B4-BE49-F238E27FC236}">
                  <a16:creationId xmlns:a16="http://schemas.microsoft.com/office/drawing/2014/main" id="{D9DDD1ED-F126-CA39-9564-3FDC7E4519C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6369050" y="5559425"/>
              <a:ext cx="363538" cy="215900"/>
            </a:xfrm>
            <a:prstGeom prst="rect">
              <a:avLst/>
            </a:prstGeom>
            <a:solidFill>
              <a:srgbClr val="CCCC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5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82" charset="2"/>
                  <a:ea typeface="微软雅黑" panose="020B0503020204020204" pitchFamily="82" charset="2"/>
                </a:rPr>
                <a:t>12</a:t>
              </a:r>
            </a:p>
          </p:txBody>
        </p:sp>
        <p:cxnSp>
          <p:nvCxnSpPr>
            <p:cNvPr id="82" name="AutoShape 8">
              <a:extLst>
                <a:ext uri="{FF2B5EF4-FFF2-40B4-BE49-F238E27FC236}">
                  <a16:creationId xmlns:a16="http://schemas.microsoft.com/office/drawing/2014/main" id="{FE19C4C4-1A5D-E530-9031-CBA7167D163B}"/>
                </a:ext>
              </a:extLst>
            </p:cNvPr>
            <p:cNvCxnSpPr>
              <a:cxnSpLocks noChangeShapeType="1"/>
              <a:stCxn id="79" idx="3"/>
              <a:endCxn id="80" idx="1"/>
            </p:cNvCxnSpPr>
            <p:nvPr/>
          </p:nvCxnSpPr>
          <p:spPr bwMode="auto">
            <a:xfrm flipH="1">
              <a:off x="7983538" y="5665788"/>
              <a:ext cx="236537" cy="0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3" name="AutoShape 9">
              <a:extLst>
                <a:ext uri="{FF2B5EF4-FFF2-40B4-BE49-F238E27FC236}">
                  <a16:creationId xmlns:a16="http://schemas.microsoft.com/office/drawing/2014/main" id="{F98BE78D-F420-2A46-6707-593345A3CA48}"/>
                </a:ext>
              </a:extLst>
            </p:cNvPr>
            <p:cNvCxnSpPr>
              <a:cxnSpLocks noChangeShapeType="1"/>
              <a:stCxn id="89" idx="3"/>
              <a:endCxn id="81" idx="1"/>
            </p:cNvCxnSpPr>
            <p:nvPr/>
          </p:nvCxnSpPr>
          <p:spPr bwMode="auto">
            <a:xfrm flipH="1">
              <a:off x="6743700" y="5665788"/>
              <a:ext cx="238125" cy="0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4" name="AutoShape 10">
              <a:extLst>
                <a:ext uri="{FF2B5EF4-FFF2-40B4-BE49-F238E27FC236}">
                  <a16:creationId xmlns:a16="http://schemas.microsoft.com/office/drawing/2014/main" id="{9DFE8223-0408-2841-9BF0-4B54CD5690C5}"/>
                </a:ext>
              </a:extLst>
            </p:cNvPr>
            <p:cNvCxnSpPr>
              <a:cxnSpLocks noChangeShapeType="1"/>
              <a:stCxn id="80" idx="3"/>
              <a:endCxn id="89" idx="1"/>
            </p:cNvCxnSpPr>
            <p:nvPr/>
          </p:nvCxnSpPr>
          <p:spPr bwMode="auto">
            <a:xfrm flipH="1">
              <a:off x="7364413" y="5665788"/>
              <a:ext cx="236537" cy="0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5" name="AutoShape 11">
              <a:extLst>
                <a:ext uri="{FF2B5EF4-FFF2-40B4-BE49-F238E27FC236}">
                  <a16:creationId xmlns:a16="http://schemas.microsoft.com/office/drawing/2014/main" id="{9BEF5E70-42B9-0937-20FF-312DDF3296E5}"/>
                </a:ext>
              </a:extLst>
            </p:cNvPr>
            <p:cNvCxnSpPr>
              <a:cxnSpLocks noChangeShapeType="1"/>
              <a:stCxn id="81" idx="3"/>
              <a:endCxn id="78" idx="1"/>
            </p:cNvCxnSpPr>
            <p:nvPr/>
          </p:nvCxnSpPr>
          <p:spPr bwMode="auto">
            <a:xfrm flipH="1">
              <a:off x="6121400" y="5665788"/>
              <a:ext cx="239713" cy="0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6" name="Rectangle 12">
              <a:extLst>
                <a:ext uri="{FF2B5EF4-FFF2-40B4-BE49-F238E27FC236}">
                  <a16:creationId xmlns:a16="http://schemas.microsoft.com/office/drawing/2014/main" id="{00D01143-A161-0970-825C-4C2DC315832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5749925" y="4546600"/>
              <a:ext cx="361950" cy="215900"/>
            </a:xfrm>
            <a:prstGeom prst="rect">
              <a:avLst/>
            </a:prstGeom>
            <a:solidFill>
              <a:srgbClr val="CCCC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82" charset="2"/>
                  <a:ea typeface="微软雅黑" panose="020B0503020204020204" pitchFamily="82" charset="2"/>
                  <a:sym typeface="Symbol" pitchFamily="2" charset="2"/>
                </a:rPr>
                <a:t>-</a:t>
              </a:r>
              <a:endPara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  <p:sp>
          <p:nvSpPr>
            <p:cNvPr id="87" name="Rectangle 13">
              <a:extLst>
                <a:ext uri="{FF2B5EF4-FFF2-40B4-BE49-F238E27FC236}">
                  <a16:creationId xmlns:a16="http://schemas.microsoft.com/office/drawing/2014/main" id="{AB95CAEF-B384-5EB9-3FA1-F145B4DA16D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8228013" y="4546600"/>
              <a:ext cx="363537" cy="215900"/>
            </a:xfrm>
            <a:prstGeom prst="rect">
              <a:avLst/>
            </a:prstGeom>
            <a:solidFill>
              <a:srgbClr val="CCCC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82" charset="2"/>
                  <a:ea typeface="微软雅黑" panose="020B0503020204020204" pitchFamily="82" charset="2"/>
                  <a:sym typeface="Symbol" pitchFamily="2" charset="2"/>
                </a:rPr>
                <a:t>+</a:t>
              </a:r>
            </a:p>
          </p:txBody>
        </p:sp>
        <p:cxnSp>
          <p:nvCxnSpPr>
            <p:cNvPr id="88" name="AutoShape 14">
              <a:extLst>
                <a:ext uri="{FF2B5EF4-FFF2-40B4-BE49-F238E27FC236}">
                  <a16:creationId xmlns:a16="http://schemas.microsoft.com/office/drawing/2014/main" id="{A7DC4D33-2369-FA9A-3F91-2D6E4C6632D9}"/>
                </a:ext>
              </a:extLst>
            </p:cNvPr>
            <p:cNvCxnSpPr>
              <a:cxnSpLocks noChangeShapeType="1"/>
              <a:stCxn id="87" idx="3"/>
              <a:endCxn id="86" idx="1"/>
            </p:cNvCxnSpPr>
            <p:nvPr/>
          </p:nvCxnSpPr>
          <p:spPr bwMode="auto">
            <a:xfrm flipH="1">
              <a:off x="6121400" y="4652963"/>
              <a:ext cx="2098675" cy="0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9" name="Rectangle 15">
              <a:extLst>
                <a:ext uri="{FF2B5EF4-FFF2-40B4-BE49-F238E27FC236}">
                  <a16:creationId xmlns:a16="http://schemas.microsoft.com/office/drawing/2014/main" id="{55B9E6F7-1DFF-414C-57BB-67F4E621F2A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6989763" y="5559425"/>
              <a:ext cx="363537" cy="215900"/>
            </a:xfrm>
            <a:prstGeom prst="rect">
              <a:avLst/>
            </a:prstGeom>
            <a:solidFill>
              <a:srgbClr val="CCCC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5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82" charset="2"/>
                  <a:ea typeface="微软雅黑" panose="020B0503020204020204" pitchFamily="82" charset="2"/>
                </a:rPr>
                <a:t>23</a:t>
              </a:r>
            </a:p>
          </p:txBody>
        </p:sp>
        <p:sp>
          <p:nvSpPr>
            <p:cNvPr id="90" name="Rectangle 16">
              <a:extLst>
                <a:ext uri="{FF2B5EF4-FFF2-40B4-BE49-F238E27FC236}">
                  <a16:creationId xmlns:a16="http://schemas.microsoft.com/office/drawing/2014/main" id="{B4353235-F506-9814-7702-8C266360630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6988175" y="5059363"/>
              <a:ext cx="363538" cy="215900"/>
            </a:xfrm>
            <a:prstGeom prst="rect">
              <a:avLst/>
            </a:prstGeom>
            <a:solidFill>
              <a:srgbClr val="CCCC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5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82" charset="2"/>
                  <a:ea typeface="微软雅黑" panose="020B0503020204020204" pitchFamily="82" charset="2"/>
                </a:rPr>
                <a:t>23</a:t>
              </a:r>
            </a:p>
          </p:txBody>
        </p:sp>
        <p:sp>
          <p:nvSpPr>
            <p:cNvPr id="91" name="Rectangle 17">
              <a:extLst>
                <a:ext uri="{FF2B5EF4-FFF2-40B4-BE49-F238E27FC236}">
                  <a16:creationId xmlns:a16="http://schemas.microsoft.com/office/drawing/2014/main" id="{C066DFD1-7DF3-9756-FEC0-141A9FFEC90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5749925" y="5053013"/>
              <a:ext cx="361950" cy="215900"/>
            </a:xfrm>
            <a:prstGeom prst="rect">
              <a:avLst/>
            </a:prstGeom>
            <a:solidFill>
              <a:srgbClr val="CCCC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82" charset="2"/>
                  <a:ea typeface="微软雅黑" panose="020B0503020204020204" pitchFamily="82" charset="2"/>
                  <a:sym typeface="Symbol" pitchFamily="2" charset="2"/>
                </a:rPr>
                <a:t>-</a:t>
              </a:r>
              <a:endPara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  <p:sp>
          <p:nvSpPr>
            <p:cNvPr id="92" name="Rectangle 18">
              <a:extLst>
                <a:ext uri="{FF2B5EF4-FFF2-40B4-BE49-F238E27FC236}">
                  <a16:creationId xmlns:a16="http://schemas.microsoft.com/office/drawing/2014/main" id="{0DCD59CF-14A7-41A9-5534-F71325A4959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8228013" y="5053013"/>
              <a:ext cx="363537" cy="215900"/>
            </a:xfrm>
            <a:prstGeom prst="rect">
              <a:avLst/>
            </a:prstGeom>
            <a:solidFill>
              <a:srgbClr val="CCCC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82" charset="2"/>
                  <a:ea typeface="微软雅黑" panose="020B0503020204020204" pitchFamily="82" charset="2"/>
                  <a:sym typeface="Symbol" pitchFamily="2" charset="2"/>
                </a:rPr>
                <a:t>+</a:t>
              </a:r>
            </a:p>
          </p:txBody>
        </p:sp>
        <p:cxnSp>
          <p:nvCxnSpPr>
            <p:cNvPr id="93" name="AutoShape 19">
              <a:extLst>
                <a:ext uri="{FF2B5EF4-FFF2-40B4-BE49-F238E27FC236}">
                  <a16:creationId xmlns:a16="http://schemas.microsoft.com/office/drawing/2014/main" id="{91901FE6-D323-8CEF-03C7-435793718E02}"/>
                </a:ext>
              </a:extLst>
            </p:cNvPr>
            <p:cNvCxnSpPr>
              <a:cxnSpLocks noChangeShapeType="1"/>
              <a:stCxn id="92" idx="3"/>
              <a:endCxn id="90" idx="1"/>
            </p:cNvCxnSpPr>
            <p:nvPr/>
          </p:nvCxnSpPr>
          <p:spPr bwMode="auto">
            <a:xfrm flipH="1">
              <a:off x="7362825" y="5159375"/>
              <a:ext cx="857250" cy="6350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4" name="AutoShape 20">
              <a:extLst>
                <a:ext uri="{FF2B5EF4-FFF2-40B4-BE49-F238E27FC236}">
                  <a16:creationId xmlns:a16="http://schemas.microsoft.com/office/drawing/2014/main" id="{17DC4867-6181-E5E1-4B87-A381EEF2F0B5}"/>
                </a:ext>
              </a:extLst>
            </p:cNvPr>
            <p:cNvCxnSpPr>
              <a:cxnSpLocks noChangeShapeType="1"/>
              <a:stCxn id="90" idx="3"/>
              <a:endCxn id="91" idx="1"/>
            </p:cNvCxnSpPr>
            <p:nvPr/>
          </p:nvCxnSpPr>
          <p:spPr bwMode="auto">
            <a:xfrm flipH="1" flipV="1">
              <a:off x="6121400" y="5159375"/>
              <a:ext cx="858838" cy="6350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95" name="Text Box 21">
              <a:extLst>
                <a:ext uri="{FF2B5EF4-FFF2-40B4-BE49-F238E27FC236}">
                  <a16:creationId xmlns:a16="http://schemas.microsoft.com/office/drawing/2014/main" id="{EBEBD2B3-0DCD-F4EC-BC53-47F40CFFCF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5355652" y="5484813"/>
              <a:ext cx="41389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b="1" i="1">
                  <a:solidFill>
                    <a:srgbClr val="000000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S</a:t>
              </a:r>
              <a:r>
                <a:rPr lang="en-US" altLang="zh-CN" baseline="-25000">
                  <a:solidFill>
                    <a:srgbClr val="000000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0</a:t>
              </a:r>
            </a:p>
          </p:txBody>
        </p:sp>
        <p:sp>
          <p:nvSpPr>
            <p:cNvPr id="96" name="Text Box 22">
              <a:extLst>
                <a:ext uri="{FF2B5EF4-FFF2-40B4-BE49-F238E27FC236}">
                  <a16:creationId xmlns:a16="http://schemas.microsoft.com/office/drawing/2014/main" id="{7A6E9799-867D-6A65-0A60-AEE6A7EFA4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5355652" y="4976813"/>
              <a:ext cx="41389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b="1" i="1">
                  <a:solidFill>
                    <a:srgbClr val="000000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S</a:t>
              </a:r>
              <a:r>
                <a:rPr lang="en-US" altLang="zh-CN" baseline="-25000">
                  <a:solidFill>
                    <a:srgbClr val="000000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1</a:t>
              </a:r>
            </a:p>
          </p:txBody>
        </p:sp>
        <p:sp>
          <p:nvSpPr>
            <p:cNvPr id="97" name="Text Box 23">
              <a:extLst>
                <a:ext uri="{FF2B5EF4-FFF2-40B4-BE49-F238E27FC236}">
                  <a16:creationId xmlns:a16="http://schemas.microsoft.com/office/drawing/2014/main" id="{159F325D-08C5-A942-C7E1-7ABD9199EC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5355652" y="4468813"/>
              <a:ext cx="41389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b="1" i="1">
                  <a:solidFill>
                    <a:srgbClr val="000000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S</a:t>
              </a:r>
              <a:r>
                <a:rPr lang="en-US" altLang="zh-CN" baseline="-25000">
                  <a:solidFill>
                    <a:srgbClr val="000000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2</a:t>
              </a:r>
            </a:p>
          </p:txBody>
        </p:sp>
        <p:sp>
          <p:nvSpPr>
            <p:cNvPr id="98" name="Rectangle 24">
              <a:extLst>
                <a:ext uri="{FF2B5EF4-FFF2-40B4-BE49-F238E27FC236}">
                  <a16:creationId xmlns:a16="http://schemas.microsoft.com/office/drawing/2014/main" id="{F8729E6F-E0E5-AF20-3632-E32A2ED3178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812800" y="4043363"/>
              <a:ext cx="361950" cy="215900"/>
            </a:xfrm>
            <a:prstGeom prst="rect">
              <a:avLst/>
            </a:prstGeom>
            <a:solidFill>
              <a:srgbClr val="CCCC00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82" charset="2"/>
                  <a:ea typeface="微软雅黑" panose="020B0503020204020204" pitchFamily="82" charset="2"/>
                  <a:sym typeface="Symbol" pitchFamily="2" charset="2"/>
                </a:rPr>
                <a:t>-</a:t>
              </a:r>
              <a:endPara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  <p:sp>
          <p:nvSpPr>
            <p:cNvPr id="99" name="Rectangle 25">
              <a:extLst>
                <a:ext uri="{FF2B5EF4-FFF2-40B4-BE49-F238E27FC236}">
                  <a16:creationId xmlns:a16="http://schemas.microsoft.com/office/drawing/2014/main" id="{8A057667-95DA-C169-F6C1-EBEF1BBC516B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3910013" y="4043363"/>
              <a:ext cx="363537" cy="215900"/>
            </a:xfrm>
            <a:prstGeom prst="rect">
              <a:avLst/>
            </a:prstGeom>
            <a:solidFill>
              <a:srgbClr val="CCCC00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82" charset="2"/>
                  <a:ea typeface="微软雅黑" panose="020B0503020204020204" pitchFamily="82" charset="2"/>
                  <a:sym typeface="Symbol" pitchFamily="2" charset="2"/>
                </a:rPr>
                <a:t>+</a:t>
              </a:r>
            </a:p>
          </p:txBody>
        </p:sp>
        <p:cxnSp>
          <p:nvCxnSpPr>
            <p:cNvPr id="100" name="AutoShape 26">
              <a:extLst>
                <a:ext uri="{FF2B5EF4-FFF2-40B4-BE49-F238E27FC236}">
                  <a16:creationId xmlns:a16="http://schemas.microsoft.com/office/drawing/2014/main" id="{F92C0768-6AB8-075F-5932-A5A228A93F32}"/>
                </a:ext>
              </a:extLst>
            </p:cNvPr>
            <p:cNvCxnSpPr>
              <a:cxnSpLocks noChangeShapeType="1"/>
              <a:stCxn id="99" idx="3"/>
              <a:endCxn id="98" idx="1"/>
            </p:cNvCxnSpPr>
            <p:nvPr/>
          </p:nvCxnSpPr>
          <p:spPr bwMode="auto">
            <a:xfrm flipH="1">
              <a:off x="1193800" y="4149725"/>
              <a:ext cx="2698750" cy="0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01" name="Text Box 27">
              <a:extLst>
                <a:ext uri="{FF2B5EF4-FFF2-40B4-BE49-F238E27FC236}">
                  <a16:creationId xmlns:a16="http://schemas.microsoft.com/office/drawing/2014/main" id="{FE5FBE7E-E466-3711-E729-A01D72B062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428052" y="5487988"/>
              <a:ext cx="41389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b="1" i="1">
                  <a:solidFill>
                    <a:srgbClr val="000000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S</a:t>
              </a:r>
              <a:r>
                <a:rPr lang="en-US" altLang="zh-CN" baseline="-25000">
                  <a:solidFill>
                    <a:srgbClr val="000000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0</a:t>
              </a:r>
            </a:p>
          </p:txBody>
        </p:sp>
        <p:sp>
          <p:nvSpPr>
            <p:cNvPr id="102" name="Text Box 28">
              <a:extLst>
                <a:ext uri="{FF2B5EF4-FFF2-40B4-BE49-F238E27FC236}">
                  <a16:creationId xmlns:a16="http://schemas.microsoft.com/office/drawing/2014/main" id="{A041D61C-FCB0-8A3A-3F30-1F35639804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428052" y="4979988"/>
              <a:ext cx="41389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b="1" i="1">
                  <a:solidFill>
                    <a:srgbClr val="000000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S</a:t>
              </a:r>
              <a:r>
                <a:rPr lang="en-US" altLang="zh-CN" baseline="-25000">
                  <a:solidFill>
                    <a:srgbClr val="000000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1</a:t>
              </a:r>
            </a:p>
          </p:txBody>
        </p:sp>
        <p:sp>
          <p:nvSpPr>
            <p:cNvPr id="103" name="Text Box 29">
              <a:extLst>
                <a:ext uri="{FF2B5EF4-FFF2-40B4-BE49-F238E27FC236}">
                  <a16:creationId xmlns:a16="http://schemas.microsoft.com/office/drawing/2014/main" id="{6F118718-302B-CDB7-10BF-0D74E7EA2F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428052" y="4471988"/>
              <a:ext cx="41389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b="1" i="1">
                  <a:solidFill>
                    <a:srgbClr val="000000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S</a:t>
              </a:r>
              <a:r>
                <a:rPr lang="en-US" altLang="zh-CN" baseline="-25000">
                  <a:solidFill>
                    <a:srgbClr val="000000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2</a:t>
              </a:r>
            </a:p>
          </p:txBody>
        </p:sp>
        <p:sp>
          <p:nvSpPr>
            <p:cNvPr id="104" name="Text Box 30">
              <a:extLst>
                <a:ext uri="{FF2B5EF4-FFF2-40B4-BE49-F238E27FC236}">
                  <a16:creationId xmlns:a16="http://schemas.microsoft.com/office/drawing/2014/main" id="{06BF5D49-6D81-53D0-B462-5A89445940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428052" y="3963988"/>
              <a:ext cx="41389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b="1" i="1">
                  <a:solidFill>
                    <a:srgbClr val="000000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S</a:t>
              </a:r>
              <a:r>
                <a:rPr lang="en-US" altLang="zh-CN" baseline="-25000">
                  <a:solidFill>
                    <a:srgbClr val="000000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3</a:t>
              </a:r>
            </a:p>
          </p:txBody>
        </p:sp>
        <p:sp>
          <p:nvSpPr>
            <p:cNvPr id="105" name="Rectangle 31">
              <a:extLst>
                <a:ext uri="{FF2B5EF4-FFF2-40B4-BE49-F238E27FC236}">
                  <a16:creationId xmlns:a16="http://schemas.microsoft.com/office/drawing/2014/main" id="{4AFDA755-F666-7BD4-BD55-F95CD66B47A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812800" y="5562600"/>
              <a:ext cx="361950" cy="215900"/>
            </a:xfrm>
            <a:prstGeom prst="rect">
              <a:avLst/>
            </a:prstGeom>
            <a:solidFill>
              <a:srgbClr val="CCCC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82" charset="2"/>
                  <a:ea typeface="微软雅黑" panose="020B0503020204020204" pitchFamily="82" charset="2"/>
                  <a:sym typeface="Symbol" pitchFamily="2" charset="2"/>
                </a:rPr>
                <a:t>-</a:t>
              </a:r>
              <a:endPara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  <p:sp>
          <p:nvSpPr>
            <p:cNvPr id="106" name="Rectangle 32">
              <a:extLst>
                <a:ext uri="{FF2B5EF4-FFF2-40B4-BE49-F238E27FC236}">
                  <a16:creationId xmlns:a16="http://schemas.microsoft.com/office/drawing/2014/main" id="{7E10A982-AC61-27FE-F231-62B8EBC83E0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3910013" y="5562600"/>
              <a:ext cx="363537" cy="215900"/>
            </a:xfrm>
            <a:prstGeom prst="rect">
              <a:avLst/>
            </a:prstGeom>
            <a:solidFill>
              <a:srgbClr val="CCCC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82" charset="2"/>
                  <a:ea typeface="微软雅黑" panose="020B0503020204020204" pitchFamily="82" charset="2"/>
                  <a:sym typeface="Symbol" pitchFamily="2" charset="2"/>
                </a:rPr>
                <a:t>+</a:t>
              </a:r>
            </a:p>
          </p:txBody>
        </p:sp>
        <p:sp>
          <p:nvSpPr>
            <p:cNvPr id="107" name="Rectangle 33">
              <a:extLst>
                <a:ext uri="{FF2B5EF4-FFF2-40B4-BE49-F238E27FC236}">
                  <a16:creationId xmlns:a16="http://schemas.microsoft.com/office/drawing/2014/main" id="{1539F3C7-C789-21C7-2511-289ABE7E608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3290888" y="5562600"/>
              <a:ext cx="363537" cy="215900"/>
            </a:xfrm>
            <a:prstGeom prst="rect">
              <a:avLst/>
            </a:prstGeom>
            <a:solidFill>
              <a:srgbClr val="CCCC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5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82" charset="2"/>
                  <a:ea typeface="微软雅黑" panose="020B0503020204020204" pitchFamily="82" charset="2"/>
                </a:rPr>
                <a:t>45</a:t>
              </a:r>
            </a:p>
          </p:txBody>
        </p:sp>
        <p:sp>
          <p:nvSpPr>
            <p:cNvPr id="108" name="Rectangle 34">
              <a:extLst>
                <a:ext uri="{FF2B5EF4-FFF2-40B4-BE49-F238E27FC236}">
                  <a16:creationId xmlns:a16="http://schemas.microsoft.com/office/drawing/2014/main" id="{B5997216-BA86-CF8A-A7A3-67C5B237C0DB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431925" y="5562600"/>
              <a:ext cx="363538" cy="215900"/>
            </a:xfrm>
            <a:prstGeom prst="rect">
              <a:avLst/>
            </a:prstGeom>
            <a:solidFill>
              <a:srgbClr val="CCCC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5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82" charset="2"/>
                  <a:ea typeface="微软雅黑" panose="020B0503020204020204" pitchFamily="82" charset="2"/>
                </a:rPr>
                <a:t>12</a:t>
              </a:r>
            </a:p>
          </p:txBody>
        </p:sp>
        <p:cxnSp>
          <p:nvCxnSpPr>
            <p:cNvPr id="109" name="AutoShape 35">
              <a:extLst>
                <a:ext uri="{FF2B5EF4-FFF2-40B4-BE49-F238E27FC236}">
                  <a16:creationId xmlns:a16="http://schemas.microsoft.com/office/drawing/2014/main" id="{00EA81BF-7665-A43E-DCD5-B456801FF7A9}"/>
                </a:ext>
              </a:extLst>
            </p:cNvPr>
            <p:cNvCxnSpPr>
              <a:cxnSpLocks noChangeShapeType="1"/>
              <a:stCxn id="106" idx="3"/>
              <a:endCxn id="107" idx="1"/>
            </p:cNvCxnSpPr>
            <p:nvPr/>
          </p:nvCxnSpPr>
          <p:spPr bwMode="auto">
            <a:xfrm flipH="1">
              <a:off x="3665538" y="5668963"/>
              <a:ext cx="236537" cy="0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0" name="AutoShape 36">
              <a:extLst>
                <a:ext uri="{FF2B5EF4-FFF2-40B4-BE49-F238E27FC236}">
                  <a16:creationId xmlns:a16="http://schemas.microsoft.com/office/drawing/2014/main" id="{CAB23CF9-192C-88D9-3501-E0E5AAA0CC8B}"/>
                </a:ext>
              </a:extLst>
            </p:cNvPr>
            <p:cNvCxnSpPr>
              <a:cxnSpLocks noChangeShapeType="1"/>
              <a:stCxn id="113" idx="3"/>
              <a:endCxn id="108" idx="1"/>
            </p:cNvCxnSpPr>
            <p:nvPr/>
          </p:nvCxnSpPr>
          <p:spPr bwMode="auto">
            <a:xfrm flipH="1">
              <a:off x="1806575" y="5668963"/>
              <a:ext cx="238125" cy="0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1" name="AutoShape 37">
              <a:extLst>
                <a:ext uri="{FF2B5EF4-FFF2-40B4-BE49-F238E27FC236}">
                  <a16:creationId xmlns:a16="http://schemas.microsoft.com/office/drawing/2014/main" id="{6A15B0A7-BD7F-9AD2-1774-C42F3D4726F5}"/>
                </a:ext>
              </a:extLst>
            </p:cNvPr>
            <p:cNvCxnSpPr>
              <a:cxnSpLocks noChangeShapeType="1"/>
              <a:stCxn id="107" idx="3"/>
              <a:endCxn id="114" idx="1"/>
            </p:cNvCxnSpPr>
            <p:nvPr/>
          </p:nvCxnSpPr>
          <p:spPr bwMode="auto">
            <a:xfrm flipH="1">
              <a:off x="3052763" y="5668963"/>
              <a:ext cx="230187" cy="1587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2" name="AutoShape 38">
              <a:extLst>
                <a:ext uri="{FF2B5EF4-FFF2-40B4-BE49-F238E27FC236}">
                  <a16:creationId xmlns:a16="http://schemas.microsoft.com/office/drawing/2014/main" id="{F8546DF9-1E04-3870-D4AD-E90BD25BF0D7}"/>
                </a:ext>
              </a:extLst>
            </p:cNvPr>
            <p:cNvCxnSpPr>
              <a:cxnSpLocks noChangeShapeType="1"/>
              <a:stCxn id="108" idx="3"/>
              <a:endCxn id="105" idx="1"/>
            </p:cNvCxnSpPr>
            <p:nvPr/>
          </p:nvCxnSpPr>
          <p:spPr bwMode="auto">
            <a:xfrm flipH="1">
              <a:off x="1184275" y="5668963"/>
              <a:ext cx="239713" cy="0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3" name="Rectangle 39">
              <a:extLst>
                <a:ext uri="{FF2B5EF4-FFF2-40B4-BE49-F238E27FC236}">
                  <a16:creationId xmlns:a16="http://schemas.microsoft.com/office/drawing/2014/main" id="{43109585-9F23-DAEB-4044-4A15D65AF292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052638" y="5562600"/>
              <a:ext cx="363537" cy="215900"/>
            </a:xfrm>
            <a:prstGeom prst="rect">
              <a:avLst/>
            </a:prstGeom>
            <a:solidFill>
              <a:srgbClr val="CCCC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5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82" charset="2"/>
                  <a:ea typeface="微软雅黑" panose="020B0503020204020204" pitchFamily="82" charset="2"/>
                </a:rPr>
                <a:t>23</a:t>
              </a:r>
            </a:p>
          </p:txBody>
        </p:sp>
        <p:sp>
          <p:nvSpPr>
            <p:cNvPr id="114" name="Rectangle 40">
              <a:extLst>
                <a:ext uri="{FF2B5EF4-FFF2-40B4-BE49-F238E27FC236}">
                  <a16:creationId xmlns:a16="http://schemas.microsoft.com/office/drawing/2014/main" id="{4F0F7DC2-2C08-AA11-6D18-AF856B254AD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668588" y="5564188"/>
              <a:ext cx="363537" cy="215900"/>
            </a:xfrm>
            <a:prstGeom prst="rect">
              <a:avLst/>
            </a:prstGeom>
            <a:solidFill>
              <a:srgbClr val="808080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5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82" charset="2"/>
                  <a:ea typeface="微软雅黑" panose="020B0503020204020204" pitchFamily="82" charset="2"/>
                </a:rPr>
                <a:t>34</a:t>
              </a:r>
            </a:p>
          </p:txBody>
        </p:sp>
        <p:cxnSp>
          <p:nvCxnSpPr>
            <p:cNvPr id="115" name="AutoShape 41">
              <a:extLst>
                <a:ext uri="{FF2B5EF4-FFF2-40B4-BE49-F238E27FC236}">
                  <a16:creationId xmlns:a16="http://schemas.microsoft.com/office/drawing/2014/main" id="{FE8C09EA-0F9F-6FF8-37A6-84A42E615440}"/>
                </a:ext>
              </a:extLst>
            </p:cNvPr>
            <p:cNvCxnSpPr>
              <a:cxnSpLocks noChangeShapeType="1"/>
              <a:stCxn id="114" idx="3"/>
              <a:endCxn id="113" idx="1"/>
            </p:cNvCxnSpPr>
            <p:nvPr/>
          </p:nvCxnSpPr>
          <p:spPr bwMode="auto">
            <a:xfrm flipH="1" flipV="1">
              <a:off x="2427288" y="5668963"/>
              <a:ext cx="223837" cy="1587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6" name="Rectangle 42">
              <a:extLst>
                <a:ext uri="{FF2B5EF4-FFF2-40B4-BE49-F238E27FC236}">
                  <a16:creationId xmlns:a16="http://schemas.microsoft.com/office/drawing/2014/main" id="{C3A43E15-0097-6D45-C1BA-C3F079CF69F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812800" y="4549775"/>
              <a:ext cx="361950" cy="215900"/>
            </a:xfrm>
            <a:prstGeom prst="rect">
              <a:avLst/>
            </a:prstGeom>
            <a:solidFill>
              <a:srgbClr val="CCCC00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82" charset="2"/>
                  <a:ea typeface="微软雅黑" panose="020B0503020204020204" pitchFamily="82" charset="2"/>
                  <a:sym typeface="Symbol" pitchFamily="2" charset="2"/>
                </a:rPr>
                <a:t>-</a:t>
              </a:r>
              <a:endPara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  <p:sp>
          <p:nvSpPr>
            <p:cNvPr id="117" name="Rectangle 43">
              <a:extLst>
                <a:ext uri="{FF2B5EF4-FFF2-40B4-BE49-F238E27FC236}">
                  <a16:creationId xmlns:a16="http://schemas.microsoft.com/office/drawing/2014/main" id="{142A6BF3-5204-0C65-2222-520A97B35AF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3910013" y="4549775"/>
              <a:ext cx="363537" cy="215900"/>
            </a:xfrm>
            <a:prstGeom prst="rect">
              <a:avLst/>
            </a:prstGeom>
            <a:solidFill>
              <a:srgbClr val="CCCC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82" charset="2"/>
                  <a:ea typeface="微软雅黑" panose="020B0503020204020204" pitchFamily="82" charset="2"/>
                  <a:sym typeface="Symbol" pitchFamily="2" charset="2"/>
                </a:rPr>
                <a:t>+</a:t>
              </a:r>
            </a:p>
          </p:txBody>
        </p:sp>
        <p:cxnSp>
          <p:nvCxnSpPr>
            <p:cNvPr id="118" name="AutoShape 44">
              <a:extLst>
                <a:ext uri="{FF2B5EF4-FFF2-40B4-BE49-F238E27FC236}">
                  <a16:creationId xmlns:a16="http://schemas.microsoft.com/office/drawing/2014/main" id="{CF1C777A-B363-F3D6-1DDB-E686B221FBDA}"/>
                </a:ext>
              </a:extLst>
            </p:cNvPr>
            <p:cNvCxnSpPr>
              <a:cxnSpLocks noChangeShapeType="1"/>
              <a:stCxn id="117" idx="3"/>
              <a:endCxn id="119" idx="1"/>
            </p:cNvCxnSpPr>
            <p:nvPr/>
          </p:nvCxnSpPr>
          <p:spPr bwMode="auto">
            <a:xfrm flipH="1">
              <a:off x="3052763" y="4656138"/>
              <a:ext cx="849312" cy="0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9" name="Rectangle 45">
              <a:extLst>
                <a:ext uri="{FF2B5EF4-FFF2-40B4-BE49-F238E27FC236}">
                  <a16:creationId xmlns:a16="http://schemas.microsoft.com/office/drawing/2014/main" id="{3A779EA9-118A-4A04-955F-26C9D9CC48CE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668588" y="4549775"/>
              <a:ext cx="363537" cy="215900"/>
            </a:xfrm>
            <a:prstGeom prst="rect">
              <a:avLst/>
            </a:prstGeom>
            <a:solidFill>
              <a:srgbClr val="808080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5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82" charset="2"/>
                  <a:ea typeface="微软雅黑" panose="020B0503020204020204" pitchFamily="82" charset="2"/>
                </a:rPr>
                <a:t>34</a:t>
              </a:r>
            </a:p>
          </p:txBody>
        </p:sp>
        <p:cxnSp>
          <p:nvCxnSpPr>
            <p:cNvPr id="120" name="AutoShape 46">
              <a:extLst>
                <a:ext uri="{FF2B5EF4-FFF2-40B4-BE49-F238E27FC236}">
                  <a16:creationId xmlns:a16="http://schemas.microsoft.com/office/drawing/2014/main" id="{63E8E0FA-B486-DBBF-693A-0F78305322E7}"/>
                </a:ext>
              </a:extLst>
            </p:cNvPr>
            <p:cNvCxnSpPr>
              <a:cxnSpLocks noChangeShapeType="1"/>
              <a:stCxn id="119" idx="3"/>
              <a:endCxn id="116" idx="1"/>
            </p:cNvCxnSpPr>
            <p:nvPr/>
          </p:nvCxnSpPr>
          <p:spPr bwMode="auto">
            <a:xfrm flipH="1">
              <a:off x="1193800" y="4656138"/>
              <a:ext cx="1457325" cy="0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21" name="Rectangle 47">
              <a:extLst>
                <a:ext uri="{FF2B5EF4-FFF2-40B4-BE49-F238E27FC236}">
                  <a16:creationId xmlns:a16="http://schemas.microsoft.com/office/drawing/2014/main" id="{9609B0DA-A1A9-AA17-4BB9-9EE1AA2AAC9B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812800" y="5056188"/>
              <a:ext cx="361950" cy="215900"/>
            </a:xfrm>
            <a:prstGeom prst="rect">
              <a:avLst/>
            </a:prstGeom>
            <a:solidFill>
              <a:srgbClr val="CCCC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82" charset="2"/>
                  <a:ea typeface="微软雅黑" panose="020B0503020204020204" pitchFamily="82" charset="2"/>
                  <a:sym typeface="Symbol" pitchFamily="2" charset="2"/>
                </a:rPr>
                <a:t>-</a:t>
              </a:r>
              <a:endPara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  <p:sp>
          <p:nvSpPr>
            <p:cNvPr id="122" name="Rectangle 48">
              <a:extLst>
                <a:ext uri="{FF2B5EF4-FFF2-40B4-BE49-F238E27FC236}">
                  <a16:creationId xmlns:a16="http://schemas.microsoft.com/office/drawing/2014/main" id="{2BC8B275-E79F-CAEE-79A6-E213AD9B42F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3910013" y="5056188"/>
              <a:ext cx="363537" cy="215900"/>
            </a:xfrm>
            <a:prstGeom prst="rect">
              <a:avLst/>
            </a:prstGeom>
            <a:solidFill>
              <a:srgbClr val="CCCC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82" charset="2"/>
                  <a:ea typeface="微软雅黑" panose="020B0503020204020204" pitchFamily="82" charset="2"/>
                  <a:sym typeface="Symbol" pitchFamily="2" charset="2"/>
                </a:rPr>
                <a:t>+</a:t>
              </a:r>
            </a:p>
          </p:txBody>
        </p:sp>
        <p:sp>
          <p:nvSpPr>
            <p:cNvPr id="123" name="Rectangle 49">
              <a:extLst>
                <a:ext uri="{FF2B5EF4-FFF2-40B4-BE49-F238E27FC236}">
                  <a16:creationId xmlns:a16="http://schemas.microsoft.com/office/drawing/2014/main" id="{63DDC644-C9BA-2D0F-8B73-41AC15764882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051050" y="5056188"/>
              <a:ext cx="363538" cy="215900"/>
            </a:xfrm>
            <a:prstGeom prst="rect">
              <a:avLst/>
            </a:prstGeom>
            <a:solidFill>
              <a:srgbClr val="CCCC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5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82" charset="2"/>
                  <a:ea typeface="微软雅黑" panose="020B0503020204020204" pitchFamily="82" charset="2"/>
                </a:rPr>
                <a:t>23</a:t>
              </a:r>
            </a:p>
          </p:txBody>
        </p:sp>
        <p:cxnSp>
          <p:nvCxnSpPr>
            <p:cNvPr id="124" name="AutoShape 50">
              <a:extLst>
                <a:ext uri="{FF2B5EF4-FFF2-40B4-BE49-F238E27FC236}">
                  <a16:creationId xmlns:a16="http://schemas.microsoft.com/office/drawing/2014/main" id="{D0E6EC58-C462-5498-F4A3-907B5B48A372}"/>
                </a:ext>
              </a:extLst>
            </p:cNvPr>
            <p:cNvCxnSpPr>
              <a:cxnSpLocks noChangeShapeType="1"/>
              <a:stCxn id="122" idx="3"/>
              <a:endCxn id="126" idx="1"/>
            </p:cNvCxnSpPr>
            <p:nvPr/>
          </p:nvCxnSpPr>
          <p:spPr bwMode="auto">
            <a:xfrm flipH="1">
              <a:off x="3052763" y="5162550"/>
              <a:ext cx="849312" cy="0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25" name="AutoShape 51">
              <a:extLst>
                <a:ext uri="{FF2B5EF4-FFF2-40B4-BE49-F238E27FC236}">
                  <a16:creationId xmlns:a16="http://schemas.microsoft.com/office/drawing/2014/main" id="{0C66AAB1-C475-9ED5-F4CE-AFE79F38D5EC}"/>
                </a:ext>
              </a:extLst>
            </p:cNvPr>
            <p:cNvCxnSpPr>
              <a:cxnSpLocks noChangeShapeType="1"/>
              <a:stCxn id="123" idx="3"/>
              <a:endCxn id="121" idx="1"/>
            </p:cNvCxnSpPr>
            <p:nvPr/>
          </p:nvCxnSpPr>
          <p:spPr bwMode="auto">
            <a:xfrm flipH="1">
              <a:off x="1184275" y="5162550"/>
              <a:ext cx="858838" cy="0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26" name="Rectangle 52">
              <a:extLst>
                <a:ext uri="{FF2B5EF4-FFF2-40B4-BE49-F238E27FC236}">
                  <a16:creationId xmlns:a16="http://schemas.microsoft.com/office/drawing/2014/main" id="{8ED3F6B5-6288-BF8D-3BFB-9355C2F5673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668588" y="5056188"/>
              <a:ext cx="363537" cy="215900"/>
            </a:xfrm>
            <a:prstGeom prst="rect">
              <a:avLst/>
            </a:prstGeom>
            <a:solidFill>
              <a:srgbClr val="808080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5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82" charset="2"/>
                  <a:ea typeface="微软雅黑" panose="020B0503020204020204" pitchFamily="82" charset="2"/>
                </a:rPr>
                <a:t>34</a:t>
              </a:r>
            </a:p>
          </p:txBody>
        </p:sp>
        <p:cxnSp>
          <p:nvCxnSpPr>
            <p:cNvPr id="127" name="AutoShape 53">
              <a:extLst>
                <a:ext uri="{FF2B5EF4-FFF2-40B4-BE49-F238E27FC236}">
                  <a16:creationId xmlns:a16="http://schemas.microsoft.com/office/drawing/2014/main" id="{CD7CEAD5-F939-96A5-C12E-3D609B315C46}"/>
                </a:ext>
              </a:extLst>
            </p:cNvPr>
            <p:cNvCxnSpPr>
              <a:cxnSpLocks noChangeShapeType="1"/>
              <a:stCxn id="126" idx="3"/>
              <a:endCxn id="123" idx="1"/>
            </p:cNvCxnSpPr>
            <p:nvPr/>
          </p:nvCxnSpPr>
          <p:spPr bwMode="auto">
            <a:xfrm flipH="1">
              <a:off x="2425700" y="5162550"/>
              <a:ext cx="225425" cy="0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28" name="AutoShape 54">
              <a:extLst>
                <a:ext uri="{FF2B5EF4-FFF2-40B4-BE49-F238E27FC236}">
                  <a16:creationId xmlns:a16="http://schemas.microsoft.com/office/drawing/2014/main" id="{1D49A1CD-A1C8-6318-85D1-7976116061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5500" y="5032375"/>
              <a:ext cx="609600" cy="303213"/>
            </a:xfrm>
            <a:prstGeom prst="rightArrow">
              <a:avLst>
                <a:gd name="adj1" fmla="val 50000"/>
                <a:gd name="adj2" fmla="val 50262"/>
              </a:avLst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  <p:cxnSp>
          <p:nvCxnSpPr>
            <p:cNvPr id="129" name="AutoShape 55">
              <a:extLst>
                <a:ext uri="{FF2B5EF4-FFF2-40B4-BE49-F238E27FC236}">
                  <a16:creationId xmlns:a16="http://schemas.microsoft.com/office/drawing/2014/main" id="{A2346ECC-FB5E-C285-D984-23F0C1BC1B47}"/>
                </a:ext>
              </a:extLst>
            </p:cNvPr>
            <p:cNvCxnSpPr>
              <a:cxnSpLocks noChangeShapeType="1"/>
              <a:stCxn id="116" idx="0"/>
              <a:endCxn id="119" idx="0"/>
            </p:cNvCxnSpPr>
            <p:nvPr/>
          </p:nvCxnSpPr>
          <p:spPr bwMode="auto">
            <a:xfrm rot="5400000" flipV="1">
              <a:off x="1921669" y="3602831"/>
              <a:ext cx="1588" cy="1857375"/>
            </a:xfrm>
            <a:prstGeom prst="curvedConnector3">
              <a:avLst>
                <a:gd name="adj1" fmla="val -13200000"/>
              </a:avLst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0" name="AutoShape 56">
              <a:extLst>
                <a:ext uri="{FF2B5EF4-FFF2-40B4-BE49-F238E27FC236}">
                  <a16:creationId xmlns:a16="http://schemas.microsoft.com/office/drawing/2014/main" id="{724228A3-2B1D-0A4E-CA2C-36DA549CB209}"/>
                </a:ext>
              </a:extLst>
            </p:cNvPr>
            <p:cNvCxnSpPr>
              <a:cxnSpLocks noChangeShapeType="1"/>
              <a:stCxn id="98" idx="2"/>
              <a:endCxn id="116" idx="0"/>
            </p:cNvCxnSpPr>
            <p:nvPr/>
          </p:nvCxnSpPr>
          <p:spPr bwMode="auto">
            <a:xfrm>
              <a:off x="993775" y="4276725"/>
              <a:ext cx="0" cy="254000"/>
            </a:xfrm>
            <a:prstGeom prst="straightConnector1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31" name="Text Box 57">
              <a:extLst>
                <a:ext uri="{FF2B5EF4-FFF2-40B4-BE49-F238E27FC236}">
                  <a16:creationId xmlns:a16="http://schemas.microsoft.com/office/drawing/2014/main" id="{8A42B20F-BDF5-ADF8-8275-2EB7F9B950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2875114" y="5183188"/>
              <a:ext cx="428322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b="1" i="1">
                  <a:solidFill>
                    <a:srgbClr val="000000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p</a:t>
              </a:r>
              <a:r>
                <a:rPr lang="en-US" altLang="zh-CN" baseline="-25000">
                  <a:solidFill>
                    <a:srgbClr val="000000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0</a:t>
              </a:r>
            </a:p>
          </p:txBody>
        </p:sp>
        <p:sp>
          <p:nvSpPr>
            <p:cNvPr id="132" name="Text Box 58">
              <a:extLst>
                <a:ext uri="{FF2B5EF4-FFF2-40B4-BE49-F238E27FC236}">
                  <a16:creationId xmlns:a16="http://schemas.microsoft.com/office/drawing/2014/main" id="{7CBE9527-D934-F17B-999C-8339B2D569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2875114" y="4700588"/>
              <a:ext cx="428322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b="1" i="1">
                  <a:solidFill>
                    <a:srgbClr val="000000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p</a:t>
              </a:r>
              <a:r>
                <a:rPr lang="en-US" altLang="zh-CN" baseline="-25000">
                  <a:solidFill>
                    <a:srgbClr val="000000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1</a:t>
              </a:r>
            </a:p>
          </p:txBody>
        </p:sp>
        <p:sp>
          <p:nvSpPr>
            <p:cNvPr id="133" name="Text Box 59">
              <a:extLst>
                <a:ext uri="{FF2B5EF4-FFF2-40B4-BE49-F238E27FC236}">
                  <a16:creationId xmlns:a16="http://schemas.microsoft.com/office/drawing/2014/main" id="{A5536DED-7599-68E6-3AF5-BB76829B46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2875114" y="4192588"/>
              <a:ext cx="428322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b="1" i="1">
                  <a:solidFill>
                    <a:srgbClr val="000000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p</a:t>
              </a:r>
              <a:r>
                <a:rPr lang="en-US" altLang="zh-CN" baseline="-25000">
                  <a:solidFill>
                    <a:srgbClr val="000000"/>
                  </a:solidFill>
                  <a:latin typeface="微软雅黑" panose="020B0503020204020204" pitchFamily="82" charset="2"/>
                  <a:ea typeface="微软雅黑" panose="020B0503020204020204" pitchFamily="82" charset="2"/>
                </a:rPr>
                <a:t>2</a:t>
              </a:r>
            </a:p>
          </p:txBody>
        </p:sp>
        <p:cxnSp>
          <p:nvCxnSpPr>
            <p:cNvPr id="134" name="AutoShape 60">
              <a:extLst>
                <a:ext uri="{FF2B5EF4-FFF2-40B4-BE49-F238E27FC236}">
                  <a16:creationId xmlns:a16="http://schemas.microsoft.com/office/drawing/2014/main" id="{FB631372-69F8-6403-86D7-00F6D52BF06A}"/>
                </a:ext>
              </a:extLst>
            </p:cNvPr>
            <p:cNvCxnSpPr>
              <a:cxnSpLocks noChangeShapeType="1"/>
              <a:stCxn id="119" idx="2"/>
              <a:endCxn id="126" idx="0"/>
            </p:cNvCxnSpPr>
            <p:nvPr/>
          </p:nvCxnSpPr>
          <p:spPr bwMode="auto">
            <a:xfrm>
              <a:off x="2851150" y="4783138"/>
              <a:ext cx="0" cy="254000"/>
            </a:xfrm>
            <a:prstGeom prst="straightConnector1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5" name="AutoShape 61">
              <a:extLst>
                <a:ext uri="{FF2B5EF4-FFF2-40B4-BE49-F238E27FC236}">
                  <a16:creationId xmlns:a16="http://schemas.microsoft.com/office/drawing/2014/main" id="{6DA4AFE8-952E-47E0-3DFD-A841DAAAAB6E}"/>
                </a:ext>
              </a:extLst>
            </p:cNvPr>
            <p:cNvCxnSpPr>
              <a:cxnSpLocks noChangeShapeType="1"/>
              <a:stCxn id="126" idx="2"/>
              <a:endCxn id="114" idx="0"/>
            </p:cNvCxnSpPr>
            <p:nvPr/>
          </p:nvCxnSpPr>
          <p:spPr bwMode="auto">
            <a:xfrm>
              <a:off x="2851150" y="5289550"/>
              <a:ext cx="0" cy="255588"/>
            </a:xfrm>
            <a:prstGeom prst="straightConnector1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58927857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18">
            <a:extLst>
              <a:ext uri="{FF2B5EF4-FFF2-40B4-BE49-F238E27FC236}">
                <a16:creationId xmlns:a16="http://schemas.microsoft.com/office/drawing/2014/main" id="{5EE32D71-8EA8-4F51-9A4D-483CE4767E95}"/>
              </a:ext>
            </a:extLst>
          </p:cNvPr>
          <p:cNvSpPr/>
          <p:nvPr/>
        </p:nvSpPr>
        <p:spPr>
          <a:xfrm>
            <a:off x="3015427" y="1172238"/>
            <a:ext cx="6286222" cy="4566412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dirty="0">
              <a:latin typeface="OPPOSans M" panose="00020600040101010101" pitchFamily="18" charset="-122"/>
              <a:ea typeface="OPPOSans M" panose="00020600040101010101" pitchFamily="18" charset="-122"/>
              <a:sym typeface="+mn-ea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3C35F35-0D0B-BDBC-478B-23D7223FD1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85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C01FBE5-2997-DA5A-E679-2665D9279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目录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6F1E561-F548-2140-CB4E-A81D3F2686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12400" y="1447238"/>
            <a:ext cx="5807946" cy="419169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索引概述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B+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树索引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B+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树并发控制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哈希索引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SkipList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跳表索引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zh-CN" sz="2400" b="1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LSM</a:t>
            </a:r>
            <a:r>
              <a:rPr lang="zh-CN" altLang="en-US" sz="2400" b="1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树索引</a:t>
            </a:r>
            <a:endParaRPr lang="en-US" altLang="zh-CN" sz="2400" b="1" dirty="0">
              <a:solidFill>
                <a:srgbClr val="6F1787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位图索引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多维索引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0" indent="0">
              <a:buNone/>
            </a:pP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     ——R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树、</a:t>
            </a: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KD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树、</a:t>
            </a: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Quadtree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、</a:t>
            </a: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Z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曲线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F725F9-5EC3-90CE-2C91-413426E802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95704293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18">
            <a:extLst>
              <a:ext uri="{FF2B5EF4-FFF2-40B4-BE49-F238E27FC236}">
                <a16:creationId xmlns:a16="http://schemas.microsoft.com/office/drawing/2014/main" id="{152F9482-A2C6-4393-BF34-43BA0CCCBEC3}"/>
              </a:ext>
            </a:extLst>
          </p:cNvPr>
          <p:cNvSpPr/>
          <p:nvPr/>
        </p:nvSpPr>
        <p:spPr>
          <a:xfrm>
            <a:off x="2402113" y="1314761"/>
            <a:ext cx="7387772" cy="4652406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dirty="0">
              <a:latin typeface="微软雅黑" panose="020B0503020204020204" pitchFamily="82" charset="2"/>
              <a:ea typeface="微软雅黑" panose="020B0503020204020204" pitchFamily="82" charset="2"/>
              <a:sym typeface="+mn-ea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3C35F35-0D0B-BDBC-478B-23D7223FD1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86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C01FBE5-2997-DA5A-E679-2665D9279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目录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6F1E561-F548-2140-CB4E-A81D3F2686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9828" y="1446859"/>
            <a:ext cx="7316024" cy="4435467"/>
          </a:xfrm>
        </p:spPr>
        <p:txBody>
          <a:bodyPr/>
          <a:lstStyle/>
          <a:p>
            <a:pPr marL="457200" indent="-457200">
              <a:buFont typeface="+mj-lt"/>
              <a:buAutoNum type="arabicPeriod" startAt="6"/>
            </a:pPr>
            <a:r>
              <a:rPr lang="en-US" altLang="zh-CN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LSM</a:t>
            </a: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树索引</a:t>
            </a:r>
            <a:endParaRPr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思想：顺序写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+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非原地更新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+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定期归并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+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冷热数据分层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2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阶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LSM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树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2">
              <a:buSzPct val="50000"/>
              <a:buFont typeface="Wingdings" panose="05000000000000000000" pitchFamily="2" charset="2"/>
              <a:buChar char="p"/>
            </a:pP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2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阶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LSM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树滚动合并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2">
              <a:buSzPct val="50000"/>
              <a:buFont typeface="Wingdings" panose="05000000000000000000" pitchFamily="2" charset="2"/>
              <a:buChar char="p"/>
            </a:pP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2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阶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LSM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树索引删除与更新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多阶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LSM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树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2">
              <a:buSzPct val="50000"/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布隆过滤器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2">
              <a:buSzPct val="50000"/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分区优化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2">
              <a:buSzPct val="50000"/>
              <a:buFont typeface="Wingdings" panose="05000000000000000000" pitchFamily="2" charset="2"/>
              <a:buChar char="p"/>
            </a:pP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LSM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树实例：</a:t>
            </a:r>
            <a:r>
              <a:rPr lang="en-US" altLang="zh-CN" sz="2000" dirty="0" err="1">
                <a:latin typeface="微软雅黑" panose="020B0503020204020204" pitchFamily="82" charset="2"/>
                <a:ea typeface="微软雅黑" panose="020B0503020204020204" pitchFamily="82" charset="2"/>
              </a:rPr>
              <a:t>LevelDB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2">
              <a:buSzPct val="50000"/>
              <a:buFont typeface="Wingdings" panose="05000000000000000000" pitchFamily="2" charset="2"/>
              <a:buChar char="p"/>
            </a:pP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LSM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树与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B+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树对比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2"/>
            <a:endParaRPr lang="en-US" altLang="zh-CN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A179B2-34D5-9E02-793B-4011A6E0C8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09335028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18">
            <a:extLst>
              <a:ext uri="{FF2B5EF4-FFF2-40B4-BE49-F238E27FC236}">
                <a16:creationId xmlns:a16="http://schemas.microsoft.com/office/drawing/2014/main" id="{00ABEEB5-A3D3-4D50-90DB-E532D52E1A29}"/>
              </a:ext>
            </a:extLst>
          </p:cNvPr>
          <p:cNvSpPr/>
          <p:nvPr/>
        </p:nvSpPr>
        <p:spPr>
          <a:xfrm>
            <a:off x="2402112" y="1314761"/>
            <a:ext cx="7684567" cy="4228478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dirty="0">
              <a:latin typeface="微软雅黑" panose="020B0503020204020204" pitchFamily="82" charset="2"/>
              <a:ea typeface="微软雅黑" panose="020B0503020204020204" pitchFamily="82" charset="2"/>
              <a:sym typeface="+mn-ea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DCF6151-DC33-84D5-6697-58EEC1EE01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87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8AC84E96-239D-0055-68BA-6778FA229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LSM</a:t>
            </a:r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树索引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F45AAD7-FF8E-5F0E-1E5A-6EF4C5EC6F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3990" y="1480148"/>
            <a:ext cx="7084017" cy="3897704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微软雅黑" panose="020B0503020204020204" pitchFamily="82" charset="2"/>
                <a:ea typeface="微软雅黑" panose="020B0503020204020204" pitchFamily="82" charset="2"/>
              </a:rPr>
              <a:t>动机：</a:t>
            </a: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更新密集场景</a:t>
            </a:r>
            <a:endParaRPr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微博、微信：数据追加写入，不允许修改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b="1" dirty="0">
                <a:latin typeface="微软雅黑" panose="020B0503020204020204" pitchFamily="82" charset="2"/>
                <a:ea typeface="微软雅黑" panose="020B0503020204020204" pitchFamily="82" charset="2"/>
              </a:rPr>
              <a:t>B+</a:t>
            </a:r>
            <a:r>
              <a:rPr lang="zh-CN" altLang="en-US" sz="2400" b="1" dirty="0">
                <a:latin typeface="微软雅黑" panose="020B0503020204020204" pitchFamily="82" charset="2"/>
                <a:ea typeface="微软雅黑" panose="020B0503020204020204" pitchFamily="82" charset="2"/>
              </a:rPr>
              <a:t>树在更新密集的场景产生大量随机</a:t>
            </a:r>
            <a:r>
              <a:rPr lang="en-US" altLang="zh-CN" sz="2400" b="1" dirty="0">
                <a:latin typeface="微软雅黑" panose="020B0503020204020204" pitchFamily="82" charset="2"/>
                <a:ea typeface="微软雅黑" panose="020B0503020204020204" pitchFamily="82" charset="2"/>
              </a:rPr>
              <a:t>I/O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b="1" dirty="0">
                <a:latin typeface="微软雅黑" panose="020B0503020204020204" pitchFamily="82" charset="2"/>
                <a:ea typeface="微软雅黑" panose="020B0503020204020204" pitchFamily="82" charset="2"/>
              </a:rPr>
              <a:t>LSM</a:t>
            </a:r>
            <a:r>
              <a:rPr lang="zh-CN" altLang="en-US" sz="2400" b="1" dirty="0">
                <a:latin typeface="微软雅黑" panose="020B0503020204020204" pitchFamily="82" charset="2"/>
                <a:ea typeface="微软雅黑" panose="020B0503020204020204" pitchFamily="82" charset="2"/>
              </a:rPr>
              <a:t>树将更新操作转化为批量顺序写入</a:t>
            </a:r>
            <a:endParaRPr lang="en-US" altLang="zh-CN" sz="2400" b="1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微软雅黑" panose="020B0503020204020204" pitchFamily="82" charset="2"/>
                <a:ea typeface="微软雅黑" panose="020B0503020204020204" pitchFamily="82" charset="2"/>
              </a:rPr>
              <a:t>思路：多级索引积累更新后进行索引合并</a:t>
            </a:r>
            <a:endParaRPr lang="en-US" altLang="zh-CN" sz="2400" b="1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索引合并可以通过顺序写入实现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140FE0-3A90-D907-218D-D4DE618B3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6034256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18">
            <a:extLst>
              <a:ext uri="{FF2B5EF4-FFF2-40B4-BE49-F238E27FC236}">
                <a16:creationId xmlns:a16="http://schemas.microsoft.com/office/drawing/2014/main" id="{00ABEEB5-A3D3-4D50-90DB-E532D52E1A29}"/>
              </a:ext>
            </a:extLst>
          </p:cNvPr>
          <p:cNvSpPr/>
          <p:nvPr/>
        </p:nvSpPr>
        <p:spPr>
          <a:xfrm>
            <a:off x="6475969" y="3700364"/>
            <a:ext cx="4927654" cy="2674060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dirty="0">
              <a:latin typeface="微软雅黑" panose="020B0503020204020204" pitchFamily="82" charset="2"/>
              <a:ea typeface="微软雅黑" panose="020B0503020204020204" pitchFamily="82" charset="2"/>
              <a:sym typeface="+mn-ea"/>
            </a:endParaRPr>
          </a:p>
        </p:txBody>
      </p:sp>
      <p:sp>
        <p:nvSpPr>
          <p:cNvPr id="8" name="Shape18">
            <a:extLst>
              <a:ext uri="{FF2B5EF4-FFF2-40B4-BE49-F238E27FC236}">
                <a16:creationId xmlns:a16="http://schemas.microsoft.com/office/drawing/2014/main" id="{00ABEEB5-A3D3-4D50-90DB-E532D52E1A29}"/>
              </a:ext>
            </a:extLst>
          </p:cNvPr>
          <p:cNvSpPr/>
          <p:nvPr/>
        </p:nvSpPr>
        <p:spPr>
          <a:xfrm>
            <a:off x="6475969" y="1164407"/>
            <a:ext cx="4927654" cy="2315990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dirty="0">
              <a:latin typeface="微软雅黑" panose="020B0503020204020204" pitchFamily="82" charset="2"/>
              <a:ea typeface="微软雅黑" panose="020B0503020204020204" pitchFamily="82" charset="2"/>
              <a:sym typeface="+mn-ea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8F7C6C7-BFF6-3BD6-9D2C-13465DEAF9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88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0D33DED-4B93-B157-402B-1A5F33BAB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2</a:t>
            </a:r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阶</a:t>
            </a:r>
            <a:r>
              <a:rPr kumimoji="1" lang="en-US" altLang="zh-CN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LSM</a:t>
            </a:r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树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7DE6459-0CF6-4BA9-6976-EC77FA2600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619" y="1384372"/>
            <a:ext cx="5735382" cy="4192049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内存索引</a:t>
            </a:r>
            <a:r>
              <a:rPr lang="en-US" altLang="zh-CN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C</a:t>
            </a:r>
            <a:r>
              <a:rPr lang="en-US" altLang="zh-CN" sz="2400" b="1" baseline="-25000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0</a:t>
            </a:r>
            <a:r>
              <a:rPr lang="en-US" altLang="zh-CN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(</a:t>
            </a: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红黑树、</a:t>
            </a:r>
            <a:r>
              <a:rPr lang="en-US" altLang="zh-CN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AVL</a:t>
            </a: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树等</a:t>
            </a:r>
            <a:r>
              <a:rPr lang="en-US" altLang="zh-CN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)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缓存区中缓存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C1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、进行滚动合并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WAL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持久化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C0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更新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磁盘索引</a:t>
            </a:r>
            <a:r>
              <a:rPr lang="en-US" altLang="zh-CN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C1(B+</a:t>
            </a: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树</a:t>
            </a:r>
            <a:r>
              <a:rPr lang="en-US" altLang="zh-CN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查找操作</a:t>
            </a:r>
            <a:endParaRPr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先在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C0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中进行查找，存在则返回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否则在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C1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中进行查找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583336-A547-AC58-BB5C-073D6D8000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C301B3F-68A7-FCEE-8B61-54B438BC7E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5969" y="1239290"/>
            <a:ext cx="4665479" cy="211051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27C67A4-8446-7221-3BB6-FA9603D127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3638" y="3753311"/>
            <a:ext cx="3171791" cy="2533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63504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18">
            <a:extLst>
              <a:ext uri="{FF2B5EF4-FFF2-40B4-BE49-F238E27FC236}">
                <a16:creationId xmlns:a16="http://schemas.microsoft.com/office/drawing/2014/main" id="{DA75D34D-EDE4-42E0-92E9-4B21FF19D877}"/>
              </a:ext>
            </a:extLst>
          </p:cNvPr>
          <p:cNvSpPr/>
          <p:nvPr/>
        </p:nvSpPr>
        <p:spPr>
          <a:xfrm>
            <a:off x="1947456" y="3469731"/>
            <a:ext cx="7261090" cy="3047415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dirty="0">
              <a:latin typeface="微软雅黑" panose="020B0503020204020204" pitchFamily="82" charset="2"/>
              <a:ea typeface="微软雅黑" panose="020B0503020204020204" pitchFamily="82" charset="2"/>
              <a:sym typeface="+mn-ea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A9DB748-918C-EDBE-C908-DC6043F720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89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4F1632A3-8ABF-8D4B-E22D-F5013CDC1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2</a:t>
            </a:r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阶</a:t>
            </a:r>
            <a:r>
              <a:rPr kumimoji="1" lang="en-US" altLang="zh-CN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LSM</a:t>
            </a:r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树滚动合并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65585C9-A0F0-E74F-DB29-2B6E50E995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0146" y="1032777"/>
            <a:ext cx="10876547" cy="2399714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1"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合并条件：</a:t>
            </a:r>
            <a:r>
              <a:rPr kumimoji="1" lang="en-US" altLang="zh-CN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C</a:t>
            </a:r>
            <a:r>
              <a:rPr kumimoji="1" lang="en-US" altLang="zh-CN" sz="2400" b="1" baseline="-25000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0</a:t>
            </a:r>
            <a:r>
              <a:rPr kumimoji="1"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树</a:t>
            </a: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容量达到设定阈值</a:t>
            </a:r>
            <a:endParaRPr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1"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滚动合并：</a:t>
            </a:r>
            <a:endParaRPr kumimoji="1"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空置块中加载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C1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树叶子节点的连续页面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填充块中从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C0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树中取出节点，与空置块进行合并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5F966AD-5803-6C3B-F654-3B6F79BAEC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BFC518C-7E61-16DD-52B9-F185E2EFB6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0339" y="3677214"/>
            <a:ext cx="6284263" cy="2663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62384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18">
            <a:extLst>
              <a:ext uri="{FF2B5EF4-FFF2-40B4-BE49-F238E27FC236}">
                <a16:creationId xmlns:a16="http://schemas.microsoft.com/office/drawing/2014/main" id="{10D16A17-E188-4FE7-AB98-BAD33DDA74C1}"/>
              </a:ext>
            </a:extLst>
          </p:cNvPr>
          <p:cNvSpPr/>
          <p:nvPr/>
        </p:nvSpPr>
        <p:spPr>
          <a:xfrm>
            <a:off x="2369487" y="2602106"/>
            <a:ext cx="7387772" cy="3468914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dirty="0">
              <a:latin typeface="微软雅黑" panose="020B0503020204020204" pitchFamily="82" charset="2"/>
              <a:ea typeface="微软雅黑" panose="020B0503020204020204" pitchFamily="82" charset="2"/>
              <a:sym typeface="+mn-ea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258BE2B-7F3A-AAE5-1673-3EAB8A25FD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90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D11A639A-2B91-EAF6-C828-097621739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2</a:t>
            </a:r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阶</a:t>
            </a:r>
            <a:r>
              <a:rPr kumimoji="1" lang="en-US" altLang="zh-CN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LSM</a:t>
            </a:r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树滚动合并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8F93C85-4DDB-CAB0-FF93-2F629F157A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702" y="1189422"/>
            <a:ext cx="10874188" cy="5005387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C1</a:t>
            </a: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树参与合并的节点被标记移除</a:t>
            </a:r>
            <a:endParaRPr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空置块中来自</a:t>
            </a:r>
            <a:r>
              <a:rPr lang="en-US" altLang="zh-CN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C1</a:t>
            </a: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树的剩余的数据随着</a:t>
            </a:r>
            <a:r>
              <a:rPr lang="en-US" altLang="zh-CN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C0</a:t>
            </a: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树继续合并被消耗</a:t>
            </a:r>
            <a:endParaRPr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07B5F2-FFC0-0A70-DE58-C915F8C2D4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598C5C7-D2BE-9CDD-5DA8-C49E1BCDEF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3578" y="2859259"/>
            <a:ext cx="6464843" cy="2911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648275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18">
            <a:extLst>
              <a:ext uri="{FF2B5EF4-FFF2-40B4-BE49-F238E27FC236}">
                <a16:creationId xmlns:a16="http://schemas.microsoft.com/office/drawing/2014/main" id="{344F1C80-E08B-4690-9E17-A9C0D934D2D9}"/>
              </a:ext>
            </a:extLst>
          </p:cNvPr>
          <p:cNvSpPr/>
          <p:nvPr/>
        </p:nvSpPr>
        <p:spPr>
          <a:xfrm>
            <a:off x="2369487" y="2606545"/>
            <a:ext cx="7387772" cy="3039525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dirty="0">
              <a:latin typeface="微软雅黑" panose="020B0503020204020204" pitchFamily="82" charset="2"/>
              <a:ea typeface="微软雅黑" panose="020B0503020204020204" pitchFamily="82" charset="2"/>
              <a:sym typeface="+mn-ea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586A5CF-373F-613E-3F67-680AD32FE1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91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76984DF-CF26-B1BA-8C00-5C654813B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2</a:t>
            </a:r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阶</a:t>
            </a:r>
            <a:r>
              <a:rPr kumimoji="1" lang="en-US" altLang="zh-CN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LSM</a:t>
            </a:r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树滚动合并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02457C7-F522-FF3D-173B-57567BD821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551" y="1091866"/>
            <a:ext cx="10874188" cy="5005387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填充块满后追加到</a:t>
            </a:r>
            <a:r>
              <a:rPr lang="en-US" altLang="zh-CN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C1</a:t>
            </a: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树文件末尾</a:t>
            </a:r>
            <a:endParaRPr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C1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树结构变化也通过延迟删除、追加更新的方式实现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57FE9B-D460-AC9F-104A-A8B7560422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F64711D-A0F7-6595-0D87-2811B50813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3207" y="2750269"/>
            <a:ext cx="6825583" cy="275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084593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: 形状 39">
            <a:extLst>
              <a:ext uri="{FF2B5EF4-FFF2-40B4-BE49-F238E27FC236}">
                <a16:creationId xmlns:a16="http://schemas.microsoft.com/office/drawing/2014/main" id="{168FC396-71A5-4E9A-91B4-9C546BA07118}"/>
              </a:ext>
            </a:extLst>
          </p:cNvPr>
          <p:cNvSpPr/>
          <p:nvPr/>
        </p:nvSpPr>
        <p:spPr bwMode="auto">
          <a:xfrm>
            <a:off x="712225" y="1186405"/>
            <a:ext cx="10767551" cy="4885532"/>
          </a:xfrm>
          <a:custGeom>
            <a:avLst/>
            <a:gdLst>
              <a:gd name="connsiteX0" fmla="*/ 0 w 6810034"/>
              <a:gd name="connsiteY0" fmla="*/ 0 h 678471"/>
              <a:gd name="connsiteX1" fmla="*/ 6810034 w 6810034"/>
              <a:gd name="connsiteY1" fmla="*/ 0 h 678471"/>
              <a:gd name="connsiteX2" fmla="*/ 6810034 w 6810034"/>
              <a:gd name="connsiteY2" fmla="*/ 678471 h 678471"/>
              <a:gd name="connsiteX3" fmla="*/ 0 w 6810034"/>
              <a:gd name="connsiteY3" fmla="*/ 678471 h 678471"/>
              <a:gd name="connsiteX4" fmla="*/ 0 w 6810034"/>
              <a:gd name="connsiteY4" fmla="*/ 0 h 678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10034" h="678471">
                <a:moveTo>
                  <a:pt x="0" y="0"/>
                </a:moveTo>
                <a:lnTo>
                  <a:pt x="6810034" y="0"/>
                </a:lnTo>
                <a:lnTo>
                  <a:pt x="6810034" y="678471"/>
                </a:lnTo>
                <a:lnTo>
                  <a:pt x="0" y="678471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6F1787">
                  <a:alpha val="20000"/>
                </a:srgbClr>
              </a:gs>
              <a:gs pos="100000">
                <a:srgbClr val="6F1787">
                  <a:alpha val="20000"/>
                </a:srgbClr>
              </a:gs>
              <a:gs pos="48000">
                <a:schemeClr val="bg1">
                  <a:alpha val="0"/>
                </a:schemeClr>
              </a:gs>
            </a:gsLst>
            <a:lin ang="13500000" scaled="0"/>
          </a:gra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华文楷体" pitchFamily="2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A9172E6-7183-BC2C-E9F7-79A5862155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92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ACD1791F-CF26-E68A-5AE9-0677231D4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2</a:t>
            </a:r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阶</a:t>
            </a:r>
            <a:r>
              <a:rPr kumimoji="1" lang="en-US" altLang="zh-CN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LSM</a:t>
            </a:r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树</a:t>
            </a:r>
            <a:r>
              <a:rPr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索引删除与更新</a:t>
            </a:r>
            <a:endParaRPr kumimoji="1" lang="zh-CN" altLang="en-US" sz="36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832E900-74AE-A9D2-D2F5-467DCC72C1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2619" y="1697831"/>
            <a:ext cx="7915325" cy="3799327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在</a:t>
            </a:r>
            <a:r>
              <a:rPr lang="en-US" altLang="zh-CN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C0</a:t>
            </a: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中查找删除的条目</a:t>
            </a:r>
            <a:endParaRPr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若待删除条目存在，则直接从</a:t>
            </a:r>
            <a:r>
              <a:rPr lang="en-US" altLang="zh-CN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C0</a:t>
            </a: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中删除</a:t>
            </a:r>
            <a:endParaRPr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否则在</a:t>
            </a:r>
            <a:r>
              <a:rPr lang="en-US" altLang="zh-CN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C0</a:t>
            </a: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中插入删除条目</a:t>
            </a:r>
            <a:endParaRPr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kumimoji="1"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合并入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C</a:t>
            </a:r>
            <a:r>
              <a:rPr lang="en-US" altLang="zh-CN" sz="2000" baseline="-25000" dirty="0">
                <a:latin typeface="微软雅黑" panose="020B0503020204020204" pitchFamily="82" charset="2"/>
                <a:ea typeface="微软雅黑" panose="020B0503020204020204" pitchFamily="82" charset="2"/>
              </a:rPr>
              <a:t>1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时进行删除</a:t>
            </a:r>
            <a:endParaRPr kumimoji="1" lang="en-US" altLang="zh-CN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索引更新</a:t>
            </a:r>
            <a:endParaRPr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视作删除旧条目，插入新条目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1C238DD-1331-AD83-7510-5C3CAFA002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926084768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52D819E-D206-801E-C373-210D69A2EB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93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4F4C8FBF-A596-5F11-CF99-8BBF694FC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2</a:t>
            </a:r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阶</a:t>
            </a:r>
            <a:r>
              <a:rPr kumimoji="1" lang="en-US" altLang="zh-CN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LSM</a:t>
            </a:r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树分析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4F949E04-BB40-B8D5-284A-B2A854333A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353" y="1332372"/>
                <a:ext cx="7102097" cy="5422899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  <a:spcBef>
                    <a:spcPts val="0"/>
                  </a:spcBef>
                  <a:buFont typeface="Wingdings" panose="05000000000000000000" pitchFamily="2" charset="2"/>
                  <a:buChar char="Ø"/>
                </a:pPr>
                <a:r>
                  <a:rPr lang="zh-CN" altLang="en-US" sz="2000" dirty="0">
                    <a:solidFill>
                      <a:schemeClr val="tx1"/>
                    </a:solidFill>
                    <a:latin typeface="微软雅黑" panose="020B0503020204020204" pitchFamily="82" charset="2"/>
                    <a:ea typeface="微软雅黑" panose="020B0503020204020204" pitchFamily="82" charset="2"/>
                  </a:rPr>
                  <a:t>合并时，</a:t>
                </a:r>
                <a:r>
                  <a:rPr lang="en-US" altLang="zh-CN" sz="2000" dirty="0">
                    <a:solidFill>
                      <a:schemeClr val="tx1"/>
                    </a:solidFill>
                    <a:latin typeface="微软雅黑" panose="020B0503020204020204" pitchFamily="82" charset="2"/>
                    <a:ea typeface="微软雅黑" panose="020B0503020204020204" pitchFamily="82" charset="2"/>
                  </a:rPr>
                  <a:t>C1</a:t>
                </a:r>
                <a:r>
                  <a:rPr lang="zh-CN" altLang="en-US" sz="2000" dirty="0">
                    <a:solidFill>
                      <a:schemeClr val="tx1"/>
                    </a:solidFill>
                    <a:latin typeface="微软雅黑" panose="020B0503020204020204" pitchFamily="82" charset="2"/>
                    <a:ea typeface="微软雅黑" panose="020B0503020204020204" pitchFamily="82" charset="2"/>
                  </a:rPr>
                  <a:t>的每个叶子节点平均插入多少个</a:t>
                </a:r>
                <a:r>
                  <a:rPr lang="en-US" altLang="zh-CN" sz="2000" dirty="0">
                    <a:solidFill>
                      <a:schemeClr val="tx1"/>
                    </a:solidFill>
                    <a:latin typeface="微软雅黑" panose="020B0503020204020204" pitchFamily="82" charset="2"/>
                    <a:ea typeface="微软雅黑" panose="020B0503020204020204" pitchFamily="82" charset="2"/>
                  </a:rPr>
                  <a:t>C0</a:t>
                </a:r>
                <a:r>
                  <a:rPr lang="zh-CN" altLang="en-US" sz="2000" dirty="0">
                    <a:solidFill>
                      <a:schemeClr val="tx1"/>
                    </a:solidFill>
                    <a:latin typeface="微软雅黑" panose="020B0503020204020204" pitchFamily="82" charset="2"/>
                    <a:ea typeface="微软雅黑" panose="020B0503020204020204" pitchFamily="82" charset="2"/>
                  </a:rPr>
                  <a:t>索引条目？</a:t>
                </a:r>
                <a:endParaRPr lang="en-US" altLang="zh-CN" sz="2000" dirty="0">
                  <a:solidFill>
                    <a:schemeClr val="tx1"/>
                  </a:solidFill>
                  <a:latin typeface="微软雅黑" panose="020B0503020204020204" pitchFamily="82" charset="2"/>
                  <a:ea typeface="微软雅黑" panose="020B0503020204020204" pitchFamily="82" charset="2"/>
                </a:endParaRP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  <a:buFont typeface="Wingdings" panose="05000000000000000000" pitchFamily="2" charset="2"/>
                  <a:buChar char="Ø"/>
                </a:pPr>
                <a:r>
                  <a:rPr lang="zh-CN" altLang="en-US" sz="2000" dirty="0">
                    <a:solidFill>
                      <a:schemeClr val="tx1"/>
                    </a:solidFill>
                    <a:latin typeface="微软雅黑" panose="020B0503020204020204" pitchFamily="82" charset="2"/>
                    <a:ea typeface="微软雅黑" panose="020B0503020204020204" pitchFamily="82" charset="2"/>
                  </a:rPr>
                  <a:t>用滚动合并参数</a:t>
                </a:r>
                <a:r>
                  <a:rPr lang="en-US" altLang="zh-CN" sz="2000" dirty="0">
                    <a:solidFill>
                      <a:schemeClr val="tx1"/>
                    </a:solidFill>
                    <a:latin typeface="微软雅黑" panose="020B0503020204020204" pitchFamily="82" charset="2"/>
                    <a:ea typeface="微软雅黑" panose="020B0503020204020204" pitchFamily="82" charset="2"/>
                  </a:rPr>
                  <a:t>M</a:t>
                </a:r>
                <a:r>
                  <a:rPr lang="zh-CN" altLang="en-US" sz="2000" dirty="0">
                    <a:solidFill>
                      <a:schemeClr val="tx1"/>
                    </a:solidFill>
                    <a:latin typeface="微软雅黑" panose="020B0503020204020204" pitchFamily="82" charset="2"/>
                    <a:ea typeface="微软雅黑" panose="020B0503020204020204" pitchFamily="82" charset="2"/>
                  </a:rPr>
                  <a:t>表示</a:t>
                </a:r>
                <a:endParaRPr lang="en-US" altLang="zh-CN" sz="2000" dirty="0">
                  <a:solidFill>
                    <a:schemeClr val="tx1"/>
                  </a:solidFill>
                  <a:latin typeface="微软雅黑" panose="020B0503020204020204" pitchFamily="82" charset="2"/>
                  <a:ea typeface="微软雅黑" panose="020B0503020204020204" pitchFamily="82" charset="2"/>
                </a:endParaRP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82" charset="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82" charset="2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0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82" charset="2"/>
                              </a:rPr>
                              <m:t>p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82" charset="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82" charset="2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0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82" charset="2"/>
                              </a:rPr>
                              <m:t>e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  <a:latin typeface="微软雅黑" panose="020B0503020204020204" pitchFamily="82" charset="2"/>
                    <a:ea typeface="微软雅黑" panose="020B0503020204020204" pitchFamily="82" charset="2"/>
                  </a:rPr>
                  <a:t>为每个页面中索引项数目</a:t>
                </a:r>
                <a:endParaRPr lang="en-US" altLang="zh-CN" sz="2000" dirty="0">
                  <a:solidFill>
                    <a:schemeClr val="tx1"/>
                  </a:solidFill>
                  <a:latin typeface="微软雅黑" panose="020B0503020204020204" pitchFamily="82" charset="2"/>
                  <a:ea typeface="微软雅黑" panose="020B0503020204020204" pitchFamily="82" charset="2"/>
                </a:endParaRP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82" charset="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82" charset="2"/>
                              </a:rPr>
                              <m:t>S</m:t>
                            </m:r>
                          </m:e>
                          <m:sub>
                            <m:r>
                              <a:rPr lang="en-US" altLang="zh-CN" sz="20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82" charset="2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82" charset="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82" charset="2"/>
                              </a:rPr>
                              <m:t>S</m:t>
                            </m:r>
                          </m:e>
                          <m:sub>
                            <m:r>
                              <a:rPr lang="en-US" altLang="zh-CN" sz="20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82" charset="2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2000" b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82" charset="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82" charset="2"/>
                              </a:rPr>
                              <m:t>S</m:t>
                            </m:r>
                          </m:e>
                          <m:sub>
                            <m:r>
                              <a:rPr lang="en-US" altLang="zh-CN" sz="20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82" charset="2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  <a:latin typeface="微软雅黑" panose="020B0503020204020204" pitchFamily="82" charset="2"/>
                    <a:ea typeface="微软雅黑" panose="020B0503020204020204" pitchFamily="82" charset="2"/>
                  </a:rPr>
                  <a:t>为</a:t>
                </a:r>
                <a:r>
                  <a:rPr lang="en-US" altLang="zh-CN" sz="2000" dirty="0">
                    <a:solidFill>
                      <a:schemeClr val="tx1"/>
                    </a:solidFill>
                    <a:latin typeface="微软雅黑" panose="020B0503020204020204" pitchFamily="82" charset="2"/>
                    <a:ea typeface="微软雅黑" panose="020B0503020204020204" pitchFamily="82" charset="2"/>
                  </a:rPr>
                  <a:t>C0</a:t>
                </a:r>
                <a:r>
                  <a:rPr lang="zh-CN" altLang="en-US" sz="2000" dirty="0">
                    <a:solidFill>
                      <a:schemeClr val="tx1"/>
                    </a:solidFill>
                    <a:latin typeface="微软雅黑" panose="020B0503020204020204" pitchFamily="82" charset="2"/>
                    <a:ea typeface="微软雅黑" panose="020B0503020204020204" pitchFamily="82" charset="2"/>
                  </a:rPr>
                  <a:t>索引占总索引的比例</a:t>
                </a:r>
                <a:endParaRPr lang="en-US" altLang="zh-CN" sz="2000" dirty="0">
                  <a:solidFill>
                    <a:schemeClr val="tx1"/>
                  </a:solidFill>
                  <a:latin typeface="微软雅黑" panose="020B0503020204020204" pitchFamily="82" charset="2"/>
                  <a:ea typeface="微软雅黑" panose="020B0503020204020204" pitchFamily="82" charset="2"/>
                </a:endParaRP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82" charset="2"/>
                      </a:rPr>
                      <m:t>M</m:t>
                    </m:r>
                    <m:r>
                      <a:rPr lang="en-US" altLang="zh-CN" sz="2000" b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82" charset="2"/>
                      </a:rPr>
                      <m:t>=</m:t>
                    </m:r>
                    <m:f>
                      <m:fPr>
                        <m:ctrlP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82" charset="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82" charset="2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0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82" charset="2"/>
                              </a:rPr>
                              <m:t>p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82" charset="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82" charset="2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0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82" charset="2"/>
                              </a:rPr>
                              <m:t>e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82" charset="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82" charset="2"/>
                              </a:rPr>
                              <m:t>S</m:t>
                            </m:r>
                          </m:e>
                          <m:sub>
                            <m:r>
                              <a:rPr lang="en-US" altLang="zh-CN" sz="20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82" charset="2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82" charset="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82" charset="2"/>
                              </a:rPr>
                              <m:t>S</m:t>
                            </m:r>
                          </m:e>
                          <m:sub>
                            <m:r>
                              <a:rPr lang="en-US" altLang="zh-CN" sz="20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82" charset="2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2000" b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82" charset="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82" charset="2"/>
                              </a:rPr>
                              <m:t>S</m:t>
                            </m:r>
                          </m:e>
                          <m:sub>
                            <m:r>
                              <a:rPr lang="en-US" altLang="zh-CN" sz="20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82" charset="2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endParaRPr lang="en-US" altLang="zh-CN" sz="2000" dirty="0">
                  <a:solidFill>
                    <a:schemeClr val="tx1"/>
                  </a:solidFill>
                  <a:latin typeface="微软雅黑" panose="020B0503020204020204" pitchFamily="82" charset="2"/>
                  <a:ea typeface="微软雅黑" panose="020B0503020204020204" pitchFamily="82" charset="2"/>
                </a:endParaRP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82" charset="2"/>
                      </a:rPr>
                      <m:t>M</m:t>
                    </m:r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  <a:latin typeface="微软雅黑" panose="020B0503020204020204" pitchFamily="82" charset="2"/>
                    <a:ea typeface="微软雅黑" panose="020B0503020204020204" pitchFamily="82" charset="2"/>
                  </a:rPr>
                  <a:t>越小，合并相同数量</a:t>
                </a:r>
                <a:r>
                  <a:rPr lang="en-US" altLang="zh-CN" sz="2000" dirty="0">
                    <a:solidFill>
                      <a:schemeClr val="tx1"/>
                    </a:solidFill>
                    <a:latin typeface="微软雅黑" panose="020B0503020204020204" pitchFamily="82" charset="2"/>
                    <a:ea typeface="微软雅黑" panose="020B0503020204020204" pitchFamily="82" charset="2"/>
                  </a:rPr>
                  <a:t>C0</a:t>
                </a:r>
                <a:r>
                  <a:rPr lang="zh-CN" altLang="en-US" sz="2000" dirty="0">
                    <a:solidFill>
                      <a:schemeClr val="tx1"/>
                    </a:solidFill>
                    <a:latin typeface="微软雅黑" panose="020B0503020204020204" pitchFamily="82" charset="2"/>
                    <a:ea typeface="微软雅黑" panose="020B0503020204020204" pitchFamily="82" charset="2"/>
                  </a:rPr>
                  <a:t>条目需要扫描的</a:t>
                </a:r>
                <a:r>
                  <a:rPr lang="en-US" altLang="zh-CN" sz="2000" dirty="0">
                    <a:solidFill>
                      <a:schemeClr val="tx1"/>
                    </a:solidFill>
                    <a:latin typeface="微软雅黑" panose="020B0503020204020204" pitchFamily="82" charset="2"/>
                    <a:ea typeface="微软雅黑" panose="020B0503020204020204" pitchFamily="82" charset="2"/>
                  </a:rPr>
                  <a:t>C1</a:t>
                </a:r>
                <a:r>
                  <a:rPr lang="zh-CN" altLang="en-US" sz="2000" dirty="0">
                    <a:solidFill>
                      <a:schemeClr val="tx1"/>
                    </a:solidFill>
                    <a:latin typeface="微软雅黑" panose="020B0503020204020204" pitchFamily="82" charset="2"/>
                    <a:ea typeface="微软雅黑" panose="020B0503020204020204" pitchFamily="82" charset="2"/>
                  </a:rPr>
                  <a:t>页面越多（性能降低）</a:t>
                </a:r>
                <a:endParaRPr lang="en-US" altLang="zh-CN" sz="2000" dirty="0">
                  <a:solidFill>
                    <a:schemeClr val="tx1"/>
                  </a:solidFill>
                  <a:latin typeface="微软雅黑" panose="020B0503020204020204" pitchFamily="82" charset="2"/>
                  <a:ea typeface="微软雅黑" panose="020B0503020204020204" pitchFamily="82" charset="2"/>
                </a:endParaRP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  <a:buFont typeface="Wingdings" panose="05000000000000000000" pitchFamily="2" charset="2"/>
                  <a:buChar char="Ø"/>
                </a:pPr>
                <a:r>
                  <a:rPr lang="zh-CN" altLang="en-US" sz="2000" dirty="0">
                    <a:solidFill>
                      <a:schemeClr val="tx1"/>
                    </a:solidFill>
                    <a:latin typeface="微软雅黑" panose="020B0503020204020204" pitchFamily="82" charset="2"/>
                    <a:ea typeface="微软雅黑" panose="020B0503020204020204" pitchFamily="82" charset="2"/>
                  </a:rPr>
                  <a:t>随着数据插入，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0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  <m:t>S</m:t>
                        </m:r>
                      </m:e>
                      <m:sub>
                        <m:r>
                          <a:rPr lang="en-US" altLang="zh-CN" sz="20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  <a:latin typeface="微软雅黑" panose="020B0503020204020204" pitchFamily="82" charset="2"/>
                    <a:ea typeface="微软雅黑" panose="020B0503020204020204" pitchFamily="82" charset="2"/>
                  </a:rPr>
                  <a:t>增大，</a:t>
                </a:r>
                <a:r>
                  <a:rPr lang="en-US" altLang="zh-CN" sz="2000" dirty="0">
                    <a:solidFill>
                      <a:schemeClr val="tx1"/>
                    </a:solidFill>
                    <a:latin typeface="微软雅黑" panose="020B0503020204020204" pitchFamily="82" charset="2"/>
                    <a:ea typeface="微软雅黑" panose="020B0503020204020204" pitchFamily="82" charset="2"/>
                  </a:rPr>
                  <a:t>2</a:t>
                </a:r>
                <a:r>
                  <a:rPr lang="zh-CN" altLang="en-US" sz="2000" dirty="0">
                    <a:solidFill>
                      <a:schemeClr val="tx1"/>
                    </a:solidFill>
                    <a:latin typeface="微软雅黑" panose="020B0503020204020204" pitchFamily="82" charset="2"/>
                    <a:ea typeface="微软雅黑" panose="020B0503020204020204" pitchFamily="82" charset="2"/>
                  </a:rPr>
                  <a:t>阶</a:t>
                </a:r>
                <a:r>
                  <a:rPr lang="en-US" altLang="zh-CN" sz="2000" dirty="0">
                    <a:solidFill>
                      <a:schemeClr val="tx1"/>
                    </a:solidFill>
                    <a:latin typeface="微软雅黑" panose="020B0503020204020204" pitchFamily="82" charset="2"/>
                    <a:ea typeface="微软雅黑" panose="020B0503020204020204" pitchFamily="82" charset="2"/>
                  </a:rPr>
                  <a:t>LSM</a:t>
                </a:r>
                <a:r>
                  <a:rPr lang="zh-CN" altLang="en-US" sz="2000" dirty="0">
                    <a:solidFill>
                      <a:schemeClr val="tx1"/>
                    </a:solidFill>
                    <a:latin typeface="微软雅黑" panose="020B0503020204020204" pitchFamily="82" charset="2"/>
                    <a:ea typeface="微软雅黑" panose="020B0503020204020204" pitchFamily="82" charset="2"/>
                  </a:rPr>
                  <a:t>树性能将显著下降</a:t>
                </a:r>
                <a:endParaRPr lang="en-US" altLang="zh-CN" sz="2000" dirty="0">
                  <a:solidFill>
                    <a:schemeClr val="tx1"/>
                  </a:solidFill>
                  <a:latin typeface="微软雅黑" panose="020B0503020204020204" pitchFamily="82" charset="2"/>
                  <a:ea typeface="微软雅黑" panose="020B0503020204020204" pitchFamily="82" charset="2"/>
                </a:endParaRPr>
              </a:p>
            </p:txBody>
          </p:sp>
        </mc:Choice>
        <mc:Fallback xmlns="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4F949E04-BB40-B8D5-284A-B2A854333A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353" y="1332372"/>
                <a:ext cx="7102097" cy="5422899"/>
              </a:xfrm>
              <a:blipFill>
                <a:blip r:embed="rId2"/>
                <a:stretch>
                  <a:fillRect l="-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7594D71-506F-8225-8FD8-29A9E19716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7">
                <a:extLst>
                  <a:ext uri="{FF2B5EF4-FFF2-40B4-BE49-F238E27FC236}">
                    <a16:creationId xmlns:a16="http://schemas.microsoft.com/office/drawing/2014/main" id="{82AD9B12-3D90-8499-61F1-8D52261E20D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52255937"/>
                  </p:ext>
                </p:extLst>
              </p:nvPr>
            </p:nvGraphicFramePr>
            <p:xfrm>
              <a:off x="7310061" y="2271871"/>
              <a:ext cx="4643829" cy="2314258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995427">
                      <a:extLst>
                        <a:ext uri="{9D8B030D-6E8A-4147-A177-3AD203B41FA5}">
                          <a16:colId xmlns:a16="http://schemas.microsoft.com/office/drawing/2014/main" val="4018471785"/>
                        </a:ext>
                      </a:extLst>
                    </a:gridCol>
                    <a:gridCol w="3648402">
                      <a:extLst>
                        <a:ext uri="{9D8B030D-6E8A-4147-A177-3AD203B41FA5}">
                          <a16:colId xmlns:a16="http://schemas.microsoft.com/office/drawing/2014/main" val="448621987"/>
                        </a:ext>
                      </a:extLst>
                    </a:gridCol>
                  </a:tblGrid>
                  <a:tr h="3929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>
                              <a:latin typeface="微软雅黑" panose="020B0503020204020204" pitchFamily="82" charset="2"/>
                              <a:ea typeface="微软雅黑" panose="020B0503020204020204" pitchFamily="82" charset="2"/>
                            </a:rPr>
                            <a:t>符号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70198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>
                              <a:latin typeface="微软雅黑" panose="020B0503020204020204" pitchFamily="82" charset="2"/>
                              <a:ea typeface="微软雅黑" panose="020B0503020204020204" pitchFamily="82" charset="2"/>
                            </a:rPr>
                            <a:t>含义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70198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76881564"/>
                      </a:ext>
                    </a:extLst>
                  </a:tr>
                  <a:tr h="39292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altLang="zh-CN" sz="240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CN" sz="2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400" dirty="0">
                            <a:latin typeface="微软雅黑" panose="020B0503020204020204" pitchFamily="82" charset="2"/>
                            <a:ea typeface="微软雅黑" panose="020B0503020204020204" pitchFamily="82" charset="2"/>
                          </a:endParaRP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844083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zh-CN" sz="2400" kern="100" dirty="0">
                              <a:effectLst/>
                              <a:latin typeface="微软雅黑" panose="020B0503020204020204" pitchFamily="82" charset="2"/>
                              <a:ea typeface="微软雅黑" panose="020B0503020204020204" pitchFamily="82" charset="2"/>
                            </a:rPr>
                            <a:t>单个索引项的大小</a:t>
                          </a:r>
                          <a:endParaRPr lang="en-US" altLang="zh-CN" sz="2400" kern="100" dirty="0">
                            <a:effectLst/>
                            <a:latin typeface="微软雅黑" panose="020B0503020204020204" pitchFamily="82" charset="2"/>
                            <a:ea typeface="微软雅黑" panose="020B0503020204020204" pitchFamily="82" charset="2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63136127"/>
                      </a:ext>
                    </a:extLst>
                  </a:tr>
                  <a:tr h="39292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altLang="zh-CN" sz="240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CN" sz="2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400" dirty="0">
                            <a:latin typeface="微软雅黑" panose="020B0503020204020204" pitchFamily="82" charset="2"/>
                            <a:ea typeface="微软雅黑" panose="020B0503020204020204" pitchFamily="82" charset="2"/>
                          </a:endParaRP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zh-CN" sz="2400" kern="100" dirty="0">
                              <a:effectLst/>
                              <a:latin typeface="微软雅黑" panose="020B0503020204020204" pitchFamily="82" charset="2"/>
                              <a:ea typeface="微软雅黑" panose="020B0503020204020204" pitchFamily="82" charset="2"/>
                            </a:rPr>
                            <a:t>磁盘页面的</a:t>
                          </a:r>
                          <a:r>
                            <a:rPr lang="zh-CN" altLang="en-US" sz="2400" kern="100" dirty="0">
                              <a:latin typeface="微软雅黑" panose="020B0503020204020204" pitchFamily="82" charset="2"/>
                              <a:ea typeface="微软雅黑" panose="020B0503020204020204" pitchFamily="82" charset="2"/>
                            </a:rPr>
                            <a:t>大小</a:t>
                          </a:r>
                          <a:endParaRPr lang="zh-CN" altLang="en-US" sz="2400" dirty="0">
                            <a:latin typeface="微软雅黑" panose="020B0503020204020204" pitchFamily="82" charset="2"/>
                            <a:ea typeface="微软雅黑" panose="020B0503020204020204" pitchFamily="82" charset="2"/>
                          </a:endParaRP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49212399"/>
                      </a:ext>
                    </a:extLst>
                  </a:tr>
                  <a:tr h="39292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altLang="zh-CN" sz="240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CN" sz="2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400" dirty="0">
                            <a:latin typeface="微软雅黑" panose="020B0503020204020204" pitchFamily="82" charset="2"/>
                            <a:ea typeface="微软雅黑" panose="020B0503020204020204" pitchFamily="82" charset="2"/>
                          </a:endParaRP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zh-CN" altLang="zh-CN" sz="240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sz="24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zh-CN" sz="2400" kern="100" dirty="0">
                              <a:effectLst/>
                              <a:latin typeface="微软雅黑" panose="020B0503020204020204" pitchFamily="82" charset="2"/>
                              <a:ea typeface="微软雅黑" panose="020B0503020204020204" pitchFamily="82" charset="2"/>
                            </a:rPr>
                            <a:t>树索引项总容量</a:t>
                          </a:r>
                          <a:endParaRPr lang="zh-CN" altLang="en-US" sz="2400" dirty="0">
                            <a:latin typeface="微软雅黑" panose="020B0503020204020204" pitchFamily="82" charset="2"/>
                            <a:ea typeface="微软雅黑" panose="020B0503020204020204" pitchFamily="82" charset="2"/>
                          </a:endParaRP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97667898"/>
                      </a:ext>
                    </a:extLst>
                  </a:tr>
                  <a:tr h="39292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altLang="zh-CN" sz="240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CN" sz="2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400" dirty="0">
                            <a:latin typeface="微软雅黑" panose="020B0503020204020204" pitchFamily="82" charset="2"/>
                            <a:ea typeface="微软雅黑" panose="020B0503020204020204" pitchFamily="82" charset="2"/>
                          </a:endParaRP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zh-CN" altLang="zh-CN" sz="240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sz="24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zh-CN" sz="2400" kern="100" dirty="0">
                              <a:effectLst/>
                              <a:latin typeface="微软雅黑" panose="020B0503020204020204" pitchFamily="82" charset="2"/>
                              <a:ea typeface="微软雅黑" panose="020B0503020204020204" pitchFamily="82" charset="2"/>
                            </a:rPr>
                            <a:t>树索引项总容量</a:t>
                          </a:r>
                          <a:endParaRPr lang="zh-CN" altLang="en-US" sz="2400" dirty="0">
                            <a:latin typeface="微软雅黑" panose="020B0503020204020204" pitchFamily="82" charset="2"/>
                            <a:ea typeface="微软雅黑" panose="020B0503020204020204" pitchFamily="82" charset="2"/>
                          </a:endParaRP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155468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7">
                <a:extLst>
                  <a:ext uri="{FF2B5EF4-FFF2-40B4-BE49-F238E27FC236}">
                    <a16:creationId xmlns:a16="http://schemas.microsoft.com/office/drawing/2014/main" id="{82AD9B12-3D90-8499-61F1-8D52261E20D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52255937"/>
                  </p:ext>
                </p:extLst>
              </p:nvPr>
            </p:nvGraphicFramePr>
            <p:xfrm>
              <a:off x="7310061" y="2271871"/>
              <a:ext cx="4643829" cy="2314258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995427">
                      <a:extLst>
                        <a:ext uri="{9D8B030D-6E8A-4147-A177-3AD203B41FA5}">
                          <a16:colId xmlns:a16="http://schemas.microsoft.com/office/drawing/2014/main" val="4018471785"/>
                        </a:ext>
                      </a:extLst>
                    </a:gridCol>
                    <a:gridCol w="3648402">
                      <a:extLst>
                        <a:ext uri="{9D8B030D-6E8A-4147-A177-3AD203B41FA5}">
                          <a16:colId xmlns:a16="http://schemas.microsoft.com/office/drawing/2014/main" val="448621987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>
                              <a:latin typeface="微软雅黑" panose="020B0503020204020204" pitchFamily="82" charset="2"/>
                              <a:ea typeface="微软雅黑" panose="020B0503020204020204" pitchFamily="82" charset="2"/>
                            </a:rPr>
                            <a:t>符号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70198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>
                              <a:latin typeface="微软雅黑" panose="020B0503020204020204" pitchFamily="82" charset="2"/>
                              <a:ea typeface="微软雅黑" panose="020B0503020204020204" pitchFamily="82" charset="2"/>
                            </a:rPr>
                            <a:t>含义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70198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7688156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105405" r="-364557" b="-3297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844083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zh-CN" sz="2400" kern="100" dirty="0">
                              <a:effectLst/>
                              <a:latin typeface="微软雅黑" panose="020B0503020204020204" pitchFamily="82" charset="2"/>
                              <a:ea typeface="微软雅黑" panose="020B0503020204020204" pitchFamily="82" charset="2"/>
                            </a:rPr>
                            <a:t>单个索引项的大小</a:t>
                          </a:r>
                          <a:endParaRPr lang="en-US" altLang="zh-CN" sz="2400" kern="100" dirty="0">
                            <a:effectLst/>
                            <a:latin typeface="微软雅黑" panose="020B0503020204020204" pitchFamily="82" charset="2"/>
                            <a:ea typeface="微软雅黑" panose="020B0503020204020204" pitchFamily="82" charset="2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63136127"/>
                      </a:ext>
                    </a:extLst>
                  </a:tr>
                  <a:tr h="485458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200000" r="-364557" b="-2210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zh-CN" sz="2400" kern="100" dirty="0">
                              <a:effectLst/>
                              <a:latin typeface="微软雅黑" panose="020B0503020204020204" pitchFamily="82" charset="2"/>
                              <a:ea typeface="微软雅黑" panose="020B0503020204020204" pitchFamily="82" charset="2"/>
                            </a:rPr>
                            <a:t>磁盘页面的</a:t>
                          </a:r>
                          <a:r>
                            <a:rPr lang="zh-CN" altLang="en-US" sz="2400" kern="100" dirty="0">
                              <a:latin typeface="微软雅黑" panose="020B0503020204020204" pitchFamily="82" charset="2"/>
                              <a:ea typeface="微软雅黑" panose="020B0503020204020204" pitchFamily="82" charset="2"/>
                            </a:rPr>
                            <a:t>大小</a:t>
                          </a:r>
                          <a:endParaRPr lang="zh-CN" altLang="en-US" sz="2400" dirty="0">
                            <a:latin typeface="微软雅黑" panose="020B0503020204020204" pitchFamily="82" charset="2"/>
                            <a:ea typeface="微软雅黑" panose="020B0503020204020204" pitchFamily="82" charset="2"/>
                          </a:endParaRP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4921239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308108" r="-364557" b="-127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7431" t="-308108" b="-1270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9766789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419444" r="-364557" b="-30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7431" t="-419444" b="-305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1554686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262799972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18">
            <a:extLst>
              <a:ext uri="{FF2B5EF4-FFF2-40B4-BE49-F238E27FC236}">
                <a16:creationId xmlns:a16="http://schemas.microsoft.com/office/drawing/2014/main" id="{747950DD-3753-4F87-9E0B-D087C733BCEE}"/>
              </a:ext>
            </a:extLst>
          </p:cNvPr>
          <p:cNvSpPr/>
          <p:nvPr/>
        </p:nvSpPr>
        <p:spPr>
          <a:xfrm>
            <a:off x="1538023" y="2524723"/>
            <a:ext cx="9011478" cy="3039525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dirty="0">
              <a:latin typeface="微软雅黑" panose="020B0503020204020204" pitchFamily="82" charset="2"/>
              <a:ea typeface="微软雅黑" panose="020B0503020204020204" pitchFamily="82" charset="2"/>
              <a:sym typeface="+mn-ea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CE6A7D5-7A78-DF99-701A-78A3836BD2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94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8D871710-AED0-705A-8DD5-A5BE30F6D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多阶</a:t>
            </a:r>
            <a:r>
              <a:rPr kumimoji="1" lang="en-US" altLang="zh-CN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LSM</a:t>
            </a:r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树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DE50DB3-BE99-F452-24EF-4D899E6985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8000" y="1126800"/>
            <a:ext cx="10874188" cy="5042997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为降低相邻层级的滚动合并参数，引入磁盘上的多级索引</a:t>
            </a:r>
            <a:endParaRPr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结论：相邻层级容量比例固定时，</a:t>
            </a:r>
            <a:r>
              <a:rPr lang="en-US" altLang="zh-CN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LSM</a:t>
            </a: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树</a:t>
            </a:r>
            <a:r>
              <a:rPr lang="en-US" altLang="zh-CN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I/O</a:t>
            </a: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成本最低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6035DB-4CA4-D693-82DE-00736AD20D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533D295-9350-171A-3272-C63FF916B6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7562" y="3019181"/>
            <a:ext cx="7772400" cy="2173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00449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59FC293-74FF-409E-022B-E58FF2C52D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/>
              <a:pPr/>
              <a:t>95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7FDB7CB-8EED-32EC-C472-1D0F91F26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多阶</a:t>
            </a:r>
            <a:r>
              <a:rPr kumimoji="1" lang="en-US" altLang="zh-CN" dirty="0"/>
              <a:t>LSM</a:t>
            </a:r>
            <a:r>
              <a:rPr kumimoji="1" lang="zh-CN" altLang="en-US" dirty="0"/>
              <a:t>树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2969C31-6216-E747-D8E0-256E4CDB1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489" y="1332603"/>
            <a:ext cx="5638800" cy="5005387"/>
          </a:xfrm>
        </p:spPr>
        <p:txBody>
          <a:bodyPr/>
          <a:lstStyle/>
          <a:p>
            <a:r>
              <a:rPr kumimoji="1" lang="zh-CN" altLang="en-US" sz="2800" dirty="0"/>
              <a:t>插入</a:t>
            </a:r>
            <a:endParaRPr kumimoji="1" lang="en-US" altLang="zh-CN" sz="2800" dirty="0"/>
          </a:p>
          <a:p>
            <a:pPr lvl="1"/>
            <a:r>
              <a:rPr lang="zh-CN" altLang="en-US" sz="2400" dirty="0"/>
              <a:t>先插入内存，如果内存满刷新到第一层</a:t>
            </a:r>
            <a:endParaRPr lang="en-US" altLang="zh-CN" sz="2400" dirty="0"/>
          </a:p>
          <a:p>
            <a:pPr lvl="1"/>
            <a:r>
              <a:rPr kumimoji="1" lang="zh-CN" altLang="en-US" sz="2400" dirty="0"/>
              <a:t>第一层满和第二层合并，以此类推</a:t>
            </a:r>
            <a:endParaRPr kumimoji="1" lang="en-US" altLang="zh-CN" sz="2400" dirty="0"/>
          </a:p>
          <a:p>
            <a:r>
              <a:rPr lang="zh-CN" altLang="en-US" sz="2800" dirty="0"/>
              <a:t>查找</a:t>
            </a:r>
            <a:endParaRPr lang="en-US" altLang="zh-CN" sz="2800" dirty="0"/>
          </a:p>
          <a:p>
            <a:pPr lvl="1"/>
            <a:r>
              <a:rPr lang="zh-CN" altLang="en-US" sz="2400" dirty="0"/>
              <a:t>先查找内存，如果找到返回</a:t>
            </a:r>
            <a:endParaRPr lang="en-US" altLang="zh-CN" sz="2400" dirty="0"/>
          </a:p>
          <a:p>
            <a:pPr lvl="1"/>
            <a:r>
              <a:rPr lang="zh-CN" altLang="en-US" sz="2400" dirty="0"/>
              <a:t>否则逐层往下找</a:t>
            </a:r>
            <a:endParaRPr lang="en-US" altLang="zh-CN" sz="2400" dirty="0"/>
          </a:p>
          <a:p>
            <a:r>
              <a:rPr kumimoji="1" lang="zh-CN" altLang="en-US" sz="2800" dirty="0"/>
              <a:t>删除</a:t>
            </a:r>
            <a:endParaRPr kumimoji="1" lang="en-US" altLang="zh-CN" sz="2800" dirty="0"/>
          </a:p>
          <a:p>
            <a:pPr lvl="1"/>
            <a:r>
              <a:rPr lang="zh-CN" altLang="en-US" sz="2400" dirty="0"/>
              <a:t>标记删除</a:t>
            </a:r>
            <a:endParaRPr kumimoji="1" lang="en-US" altLang="zh-CN" sz="2400" dirty="0"/>
          </a:p>
          <a:p>
            <a:r>
              <a:rPr kumimoji="1" lang="zh-CN" altLang="en-US" sz="2800" dirty="0"/>
              <a:t>合并</a:t>
            </a:r>
            <a:r>
              <a:rPr kumimoji="1" lang="en-US" altLang="zh-CN" sz="2800" dirty="0"/>
              <a:t>Compaction</a:t>
            </a:r>
          </a:p>
          <a:p>
            <a:pPr lvl="1"/>
            <a:r>
              <a:rPr lang="zh-CN" altLang="en-US" sz="2400" dirty="0"/>
              <a:t>异步合并删除</a:t>
            </a:r>
            <a:endParaRPr kumimoji="1" lang="zh-CN" altLang="en-US" sz="2400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CE5721-6EE5-9A61-A27D-A39410F855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数据库系统</a:t>
            </a:r>
            <a:r>
              <a:rPr lang="en-US" altLang="zh-CN"/>
              <a:t>—</a:t>
            </a:r>
            <a:r>
              <a:rPr lang="zh-CN" altLang="en-US"/>
              <a:t>索引</a:t>
            </a:r>
            <a:endParaRPr lang="en-US" altLang="zh-CN" sz="12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2451FF2-417D-F5C5-D340-F41D47D163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1807" y="1205566"/>
            <a:ext cx="5389581" cy="4921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883613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1D4EFBA-871B-000C-0946-74A0AA312A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96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8EDC1F9-4F62-5D8D-0EE2-05E223049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LSM</a:t>
            </a:r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树优化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5ECCF33-370C-4E37-B7D0-34461AE21F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551" y="925559"/>
            <a:ext cx="10874188" cy="5622878"/>
          </a:xfrm>
        </p:spPr>
        <p:txBody>
          <a:bodyPr/>
          <a:lstStyle/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滚动合并实现复杂，增加简化条件</a:t>
            </a:r>
            <a:endParaRPr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内存部分：采用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B+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树、</a:t>
            </a:r>
            <a:r>
              <a:rPr lang="en-US" altLang="zh-CN" sz="2000" dirty="0" err="1">
                <a:latin typeface="微软雅黑" panose="020B0503020204020204" pitchFamily="82" charset="2"/>
                <a:ea typeface="微软雅黑" panose="020B0503020204020204" pitchFamily="82" charset="2"/>
              </a:rPr>
              <a:t>skiplist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等并发安全索引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磁盘部分：各层只允许通过合并生成新索引与删除，禁止修改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2">
              <a:lnSpc>
                <a:spcPct val="120000"/>
              </a:lnSpc>
              <a:buSzPct val="50000"/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简化并发控制与故障恢复</a:t>
            </a:r>
            <a:endParaRPr lang="en-US" altLang="zh-CN" sz="2000" dirty="0">
              <a:solidFill>
                <a:srgbClr val="6F1787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LSM</a:t>
            </a: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树性能问题</a:t>
            </a:r>
            <a:endParaRPr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读放大：查找时若未命中，则需逐层索引查询，增加了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I/O</a:t>
            </a:r>
          </a:p>
          <a:p>
            <a:pPr lvl="2">
              <a:lnSpc>
                <a:spcPct val="120000"/>
              </a:lnSpc>
              <a:buSzPct val="50000"/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布隆过滤器优化</a:t>
            </a:r>
            <a:endParaRPr lang="en-US" altLang="zh-CN" dirty="0">
              <a:solidFill>
                <a:srgbClr val="6F1787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写放大：合并时需要在内存中完成，不断读入、归并、写回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2">
              <a:lnSpc>
                <a:spcPct val="120000"/>
              </a:lnSpc>
              <a:buSzPct val="50000"/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分区优化</a:t>
            </a:r>
            <a:endParaRPr lang="en-US" altLang="zh-CN" dirty="0">
              <a:solidFill>
                <a:srgbClr val="6F1787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空间放大：键值可能存在于多层中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2">
              <a:lnSpc>
                <a:spcPct val="120000"/>
              </a:lnSpc>
              <a:buSzPct val="50000"/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异步压缩机制，物理删除被标记删除的数据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8E2ECB-4E16-55D3-C167-7C208A1547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526691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18">
            <a:extLst>
              <a:ext uri="{FF2B5EF4-FFF2-40B4-BE49-F238E27FC236}">
                <a16:creationId xmlns:a16="http://schemas.microsoft.com/office/drawing/2014/main" id="{7CC7EE74-F878-4D5D-A56C-2587C5AB0DD8}"/>
              </a:ext>
            </a:extLst>
          </p:cNvPr>
          <p:cNvSpPr/>
          <p:nvPr/>
        </p:nvSpPr>
        <p:spPr>
          <a:xfrm>
            <a:off x="1277329" y="3754419"/>
            <a:ext cx="8426069" cy="2510970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dirty="0">
              <a:latin typeface="微软雅黑" panose="020B0503020204020204" pitchFamily="82" charset="2"/>
              <a:ea typeface="微软雅黑" panose="020B0503020204020204" pitchFamily="82" charset="2"/>
              <a:sym typeface="+mn-ea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F703FA4-EF76-FB84-0370-0EE3C66C06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97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A0CC43B4-E139-289F-93CE-368FCFBD6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布隆过滤器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81B6BC85-850F-1F43-3544-D569D24F37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79702" y="788054"/>
                <a:ext cx="10874188" cy="3235446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2400" b="1" dirty="0">
                    <a:solidFill>
                      <a:srgbClr val="701988"/>
                    </a:solidFill>
                    <a:latin typeface="微软雅黑" panose="020B0503020204020204" pitchFamily="82" charset="2"/>
                    <a:ea typeface="微软雅黑" panose="020B0503020204020204" pitchFamily="82" charset="2"/>
                  </a:rPr>
                  <a:t>动机：高效检测键值在集合中的存在性</a:t>
                </a:r>
                <a:endParaRPr lang="en-US" altLang="zh-CN" sz="2400" b="1" dirty="0">
                  <a:solidFill>
                    <a:srgbClr val="701988"/>
                  </a:solidFill>
                  <a:latin typeface="微软雅黑" panose="020B0503020204020204" pitchFamily="82" charset="2"/>
                  <a:ea typeface="微软雅黑" panose="020B0503020204020204" pitchFamily="82" charset="2"/>
                </a:endParaRP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2400" b="1" dirty="0">
                    <a:solidFill>
                      <a:srgbClr val="701988"/>
                    </a:solidFill>
                    <a:latin typeface="微软雅黑" panose="020B0503020204020204" pitchFamily="82" charset="2"/>
                    <a:ea typeface="微软雅黑" panose="020B0503020204020204" pitchFamily="82" charset="2"/>
                  </a:rPr>
                  <a:t>结构：</a:t>
                </a:r>
                <a:r>
                  <a:rPr lang="en-US" altLang="zh-CN" sz="2400" b="1" dirty="0">
                    <a:solidFill>
                      <a:srgbClr val="701988"/>
                    </a:solidFill>
                    <a:latin typeface="微软雅黑" panose="020B0503020204020204" pitchFamily="82" charset="2"/>
                    <a:ea typeface="微软雅黑" panose="020B0503020204020204" pitchFamily="82" charset="2"/>
                  </a:rPr>
                  <a:t>m</a:t>
                </a:r>
                <a:r>
                  <a:rPr lang="zh-CN" altLang="en-US" sz="2400" b="1" dirty="0">
                    <a:solidFill>
                      <a:srgbClr val="701988"/>
                    </a:solidFill>
                    <a:latin typeface="微软雅黑" panose="020B0503020204020204" pitchFamily="82" charset="2"/>
                    <a:ea typeface="微软雅黑" panose="020B0503020204020204" pitchFamily="82" charset="2"/>
                  </a:rPr>
                  <a:t>比特的</a:t>
                </a:r>
                <a:r>
                  <a:rPr lang="en-US" altLang="zh-CN" sz="2400" b="1" dirty="0">
                    <a:solidFill>
                      <a:srgbClr val="701988"/>
                    </a:solidFill>
                    <a:latin typeface="微软雅黑" panose="020B0503020204020204" pitchFamily="82" charset="2"/>
                    <a:ea typeface="微软雅黑" panose="020B0503020204020204" pitchFamily="82" charset="2"/>
                  </a:rPr>
                  <a:t>0/1</a:t>
                </a:r>
                <a:r>
                  <a:rPr lang="zh-CN" altLang="en-US" sz="2400" b="1" dirty="0">
                    <a:solidFill>
                      <a:srgbClr val="701988"/>
                    </a:solidFill>
                    <a:latin typeface="微软雅黑" panose="020B0503020204020204" pitchFamily="82" charset="2"/>
                    <a:ea typeface="微软雅黑" panose="020B0503020204020204" pitchFamily="82" charset="2"/>
                  </a:rPr>
                  <a:t>数组</a:t>
                </a:r>
                <a:r>
                  <a:rPr lang="en-US" altLang="zh-CN" sz="2400" b="1" dirty="0" err="1">
                    <a:solidFill>
                      <a:srgbClr val="701988"/>
                    </a:solidFill>
                    <a:latin typeface="微软雅黑" panose="020B0503020204020204" pitchFamily="82" charset="2"/>
                    <a:ea typeface="微软雅黑" panose="020B0503020204020204" pitchFamily="82" charset="2"/>
                  </a:rPr>
                  <a:t>arr</a:t>
                </a:r>
                <a:r>
                  <a:rPr lang="zh-CN" altLang="en-US" sz="2400" b="1" dirty="0">
                    <a:solidFill>
                      <a:srgbClr val="701988"/>
                    </a:solidFill>
                    <a:latin typeface="微软雅黑" panose="020B0503020204020204" pitchFamily="82" charset="2"/>
                    <a:ea typeface="微软雅黑" panose="020B0503020204020204" pitchFamily="82" charset="2"/>
                  </a:rPr>
                  <a:t>，</a:t>
                </a:r>
                <a:r>
                  <a:rPr lang="en-US" altLang="zh-CN" sz="2400" b="1" dirty="0">
                    <a:solidFill>
                      <a:srgbClr val="701988"/>
                    </a:solidFill>
                    <a:latin typeface="微软雅黑" panose="020B0503020204020204" pitchFamily="82" charset="2"/>
                    <a:ea typeface="微软雅黑" panose="020B0503020204020204" pitchFamily="82" charset="2"/>
                  </a:rPr>
                  <a:t>k</a:t>
                </a:r>
                <a:r>
                  <a:rPr lang="zh-CN" altLang="en-US" sz="2400" b="1" dirty="0">
                    <a:solidFill>
                      <a:srgbClr val="701988"/>
                    </a:solidFill>
                    <a:latin typeface="微软雅黑" panose="020B0503020204020204" pitchFamily="82" charset="2"/>
                    <a:ea typeface="微软雅黑" panose="020B0503020204020204" pitchFamily="82" charset="2"/>
                  </a:rPr>
                  <a:t>个哈希函数</a:t>
                </a:r>
                <a:endParaRPr lang="en-US" altLang="zh-CN" sz="2400" b="1" dirty="0">
                  <a:solidFill>
                    <a:srgbClr val="701988"/>
                  </a:solidFill>
                  <a:latin typeface="微软雅黑" panose="020B0503020204020204" pitchFamily="82" charset="2"/>
                  <a:ea typeface="微软雅黑" panose="020B0503020204020204" pitchFamily="82" charset="2"/>
                </a:endParaRP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2400" b="1" dirty="0">
                    <a:solidFill>
                      <a:srgbClr val="701988"/>
                    </a:solidFill>
                    <a:latin typeface="微软雅黑" panose="020B0503020204020204" pitchFamily="82" charset="2"/>
                    <a:ea typeface="微软雅黑" panose="020B0503020204020204" pitchFamily="82" charset="2"/>
                  </a:rPr>
                  <a:t>插入示例：</a:t>
                </a:r>
                <a14:m>
                  <m:oMath xmlns:m="http://schemas.openxmlformats.org/officeDocument/2006/math">
                    <m:r>
                      <a:rPr lang="en-US" altLang="zh-CN" sz="2400" b="1">
                        <a:solidFill>
                          <a:srgbClr val="701988"/>
                        </a:solidFill>
                        <a:latin typeface="Cambria Math" panose="02040503050406030204" pitchFamily="18" charset="0"/>
                        <a:ea typeface="微软雅黑" panose="020B0503020204020204" pitchFamily="82" charset="2"/>
                      </a:rPr>
                      <m:t>𝒎</m:t>
                    </m:r>
                    <m:r>
                      <a:rPr lang="en-US" altLang="zh-CN" sz="2400" b="1">
                        <a:solidFill>
                          <a:srgbClr val="701988"/>
                        </a:solidFill>
                        <a:latin typeface="Cambria Math" panose="02040503050406030204" pitchFamily="18" charset="0"/>
                        <a:ea typeface="微软雅黑" panose="020B0503020204020204" pitchFamily="82" charset="2"/>
                      </a:rPr>
                      <m:t>=</m:t>
                    </m:r>
                    <m:r>
                      <a:rPr lang="en-US" altLang="zh-CN" sz="2400" b="1">
                        <a:solidFill>
                          <a:srgbClr val="701988"/>
                        </a:solidFill>
                        <a:latin typeface="Cambria Math" panose="02040503050406030204" pitchFamily="18" charset="0"/>
                        <a:ea typeface="微软雅黑" panose="020B0503020204020204" pitchFamily="82" charset="2"/>
                      </a:rPr>
                      <m:t>𝟏𝟎</m:t>
                    </m:r>
                    <m:r>
                      <a:rPr lang="en-US" altLang="zh-CN" sz="2400" b="1">
                        <a:solidFill>
                          <a:srgbClr val="701988"/>
                        </a:solidFill>
                        <a:latin typeface="Cambria Math" panose="02040503050406030204" pitchFamily="18" charset="0"/>
                        <a:ea typeface="微软雅黑" panose="020B0503020204020204" pitchFamily="82" charset="2"/>
                      </a:rPr>
                      <m:t>, </m:t>
                    </m:r>
                    <m:r>
                      <a:rPr lang="en-US" altLang="zh-CN" sz="2400" b="1">
                        <a:solidFill>
                          <a:srgbClr val="701988"/>
                        </a:solidFill>
                        <a:latin typeface="Cambria Math" panose="02040503050406030204" pitchFamily="18" charset="0"/>
                        <a:ea typeface="微软雅黑" panose="020B0503020204020204" pitchFamily="82" charset="2"/>
                      </a:rPr>
                      <m:t>𝒌</m:t>
                    </m:r>
                    <m:r>
                      <a:rPr lang="en-US" altLang="zh-CN" sz="2400" b="1">
                        <a:solidFill>
                          <a:srgbClr val="701988"/>
                        </a:solidFill>
                        <a:latin typeface="Cambria Math" panose="02040503050406030204" pitchFamily="18" charset="0"/>
                        <a:ea typeface="微软雅黑" panose="020B0503020204020204" pitchFamily="82" charset="2"/>
                      </a:rPr>
                      <m:t>=</m:t>
                    </m:r>
                    <m:r>
                      <a:rPr lang="en-US" altLang="zh-CN" sz="2400" b="1">
                        <a:solidFill>
                          <a:srgbClr val="701988"/>
                        </a:solidFill>
                        <a:latin typeface="Cambria Math" panose="02040503050406030204" pitchFamily="18" charset="0"/>
                        <a:ea typeface="微软雅黑" panose="020B0503020204020204" pitchFamily="82" charset="2"/>
                      </a:rPr>
                      <m:t>𝟐</m:t>
                    </m:r>
                  </m:oMath>
                </a14:m>
                <a:r>
                  <a:rPr lang="zh-CN" altLang="en-US" sz="2400" b="1" dirty="0">
                    <a:solidFill>
                      <a:srgbClr val="701988"/>
                    </a:solidFill>
                    <a:latin typeface="微软雅黑" panose="020B0503020204020204" pitchFamily="82" charset="2"/>
                    <a:ea typeface="微软雅黑" panose="020B0503020204020204" pitchFamily="82" charset="2"/>
                  </a:rPr>
                  <a:t>的布隆过滤器</a:t>
                </a:r>
                <a:endParaRPr lang="en-US" altLang="zh-CN" sz="2400" b="1" dirty="0">
                  <a:solidFill>
                    <a:srgbClr val="701988"/>
                  </a:solidFill>
                  <a:latin typeface="微软雅黑" panose="020B0503020204020204" pitchFamily="82" charset="2"/>
                  <a:ea typeface="微软雅黑" panose="020B0503020204020204" pitchFamily="82" charset="2"/>
                </a:endParaRPr>
              </a:p>
              <a:p>
                <a:pPr lvl="1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</m:ctrlPr>
                      </m:sSubPr>
                      <m:e>
                        <m:r>
                          <a:rPr lang="en-US" altLang="zh-CN" sz="2000" dirty="0"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  <m:t>𝐻</m:t>
                        </m:r>
                      </m:e>
                      <m:sub>
                        <m:r>
                          <a:rPr lang="en-US" altLang="zh-CN" sz="2000" dirty="0"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  <a:ea typeface="微软雅黑" panose="020B0503020204020204" pitchFamily="82" charset="2"/>
                              </a:rPr>
                            </m:ctrlPr>
                          </m:sSubPr>
                          <m:e>
                            <m:r>
                              <a:rPr lang="en-US" altLang="zh-CN" sz="2000" dirty="0">
                                <a:latin typeface="Cambria Math" panose="02040503050406030204" pitchFamily="18" charset="0"/>
                                <a:ea typeface="微软雅黑" panose="020B0503020204020204" pitchFamily="82" charset="2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zh-CN" sz="2000" dirty="0">
                                <a:latin typeface="Cambria Math" panose="02040503050406030204" pitchFamily="18" charset="0"/>
                                <a:ea typeface="微软雅黑" panose="020B0503020204020204" pitchFamily="82" charset="2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sz="2000" dirty="0">
                        <a:latin typeface="Cambria Math" panose="02040503050406030204" pitchFamily="18" charset="0"/>
                        <a:ea typeface="微软雅黑" panose="020B0503020204020204" pitchFamily="82" charset="2"/>
                      </a:rPr>
                      <m:t>%</m:t>
                    </m:r>
                    <m:r>
                      <a:rPr lang="en-US" altLang="zh-CN" sz="2000" dirty="0">
                        <a:latin typeface="Cambria Math" panose="02040503050406030204" pitchFamily="18" charset="0"/>
                        <a:ea typeface="微软雅黑" panose="020B0503020204020204" pitchFamily="82" charset="2"/>
                      </a:rPr>
                      <m:t>𝑚</m:t>
                    </m:r>
                    <m:r>
                      <a:rPr lang="en-US" altLang="zh-CN" sz="2000" b="0" i="0" dirty="0" smtClean="0">
                        <a:latin typeface="Cambria Math" panose="02040503050406030204" pitchFamily="18" charset="0"/>
                        <a:ea typeface="微软雅黑" panose="020B0503020204020204" pitchFamily="82" charset="2"/>
                      </a:rPr>
                      <m:t>=1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82" charset="2"/>
                    <a:ea typeface="微软雅黑" panose="020B0503020204020204" pitchFamily="82" charset="2"/>
                  </a:rPr>
                  <a:t>，</a:t>
                </a:r>
                <a:r>
                  <a:rPr lang="zh-CN" altLang="en-US" sz="20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将</a:t>
                </a:r>
                <a:r>
                  <a:rPr lang="en-US" altLang="zh-CN" sz="2000" dirty="0" err="1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arr</a:t>
                </a:r>
                <a:r>
                  <a:rPr lang="zh-CN" altLang="en-US" sz="20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第</a:t>
                </a:r>
                <a:r>
                  <a:rPr lang="en-US" altLang="zh-CN" sz="20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1</a:t>
                </a:r>
                <a:r>
                  <a:rPr lang="zh-CN" altLang="en-US" sz="20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位置</a:t>
                </a:r>
                <a:r>
                  <a:rPr lang="en-US" altLang="zh-CN" sz="20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1</a:t>
                </a:r>
              </a:p>
              <a:p>
                <a:pPr lvl="1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</m:ctrlPr>
                      </m:sSubPr>
                      <m:e>
                        <m:r>
                          <a:rPr lang="en-US" altLang="zh-CN" sz="2000" dirty="0"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  <m:t>𝐻</m:t>
                        </m:r>
                      </m:e>
                      <m:sub>
                        <m:r>
                          <a:rPr lang="en-US" altLang="zh-CN" sz="2000" dirty="0"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  <a:ea typeface="微软雅黑" panose="020B0503020204020204" pitchFamily="82" charset="2"/>
                              </a:rPr>
                            </m:ctrlPr>
                          </m:sSubPr>
                          <m:e>
                            <m:r>
                              <a:rPr lang="en-US" altLang="zh-CN" sz="2000" dirty="0">
                                <a:latin typeface="Cambria Math" panose="02040503050406030204" pitchFamily="18" charset="0"/>
                                <a:ea typeface="微软雅黑" panose="020B0503020204020204" pitchFamily="82" charset="2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zh-CN" sz="2000" dirty="0">
                                <a:latin typeface="Cambria Math" panose="02040503050406030204" pitchFamily="18" charset="0"/>
                                <a:ea typeface="微软雅黑" panose="020B0503020204020204" pitchFamily="82" charset="2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sz="2000" dirty="0">
                        <a:latin typeface="Cambria Math" panose="02040503050406030204" pitchFamily="18" charset="0"/>
                        <a:ea typeface="微软雅黑" panose="020B0503020204020204" pitchFamily="82" charset="2"/>
                      </a:rPr>
                      <m:t>%</m:t>
                    </m:r>
                    <m:r>
                      <a:rPr lang="en-US" altLang="zh-CN" sz="2000" dirty="0">
                        <a:latin typeface="Cambria Math" panose="02040503050406030204" pitchFamily="18" charset="0"/>
                        <a:ea typeface="微软雅黑" panose="020B0503020204020204" pitchFamily="82" charset="2"/>
                      </a:rPr>
                      <m:t>𝑚</m:t>
                    </m:r>
                    <m:r>
                      <a:rPr lang="en-US" altLang="zh-CN" sz="2000" b="0" i="0" dirty="0" smtClean="0">
                        <a:latin typeface="Cambria Math" panose="02040503050406030204" pitchFamily="18" charset="0"/>
                        <a:ea typeface="微软雅黑" panose="020B0503020204020204" pitchFamily="82" charset="2"/>
                      </a:rPr>
                      <m:t>=9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82" charset="2"/>
                    <a:ea typeface="微软雅黑" panose="020B0503020204020204" pitchFamily="82" charset="2"/>
                  </a:rPr>
                  <a:t>，</a:t>
                </a:r>
                <a:r>
                  <a:rPr lang="zh-CN" altLang="en-US" sz="20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将</a:t>
                </a:r>
                <a:r>
                  <a:rPr lang="en-US" altLang="zh-CN" sz="2000" dirty="0" err="1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arr</a:t>
                </a:r>
                <a:r>
                  <a:rPr lang="zh-CN" altLang="en-US" sz="20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第</a:t>
                </a:r>
                <a:r>
                  <a:rPr lang="en-US" altLang="zh-CN" sz="20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9</a:t>
                </a:r>
                <a:r>
                  <a:rPr lang="zh-CN" altLang="en-US" sz="20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位置</a:t>
                </a:r>
                <a:r>
                  <a:rPr lang="en-US" altLang="zh-CN" sz="20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1</a:t>
                </a:r>
              </a:p>
              <a:p>
                <a:pPr marL="422041" lvl="1" indent="0">
                  <a:buNone/>
                </a:pPr>
                <a:endParaRPr lang="en-US" altLang="zh-CN" dirty="0">
                  <a:latin typeface="微软雅黑" panose="020B0503020204020204" pitchFamily="82" charset="2"/>
                  <a:ea typeface="微软雅黑" panose="020B0503020204020204" pitchFamily="82" charset="2"/>
                </a:endParaRPr>
              </a:p>
            </p:txBody>
          </p:sp>
        </mc:Choice>
        <mc:Fallback xmlns="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81B6BC85-850F-1F43-3544-D569D24F37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9702" y="788054"/>
                <a:ext cx="10874188" cy="3235446"/>
              </a:xfrm>
              <a:blipFill>
                <a:blip r:embed="rId2"/>
                <a:stretch>
                  <a:fillRect l="-6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085E87-1865-EC23-A810-4025F18452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C52FB1B-EA09-F995-8718-D1016E1BD8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5755" y="3853866"/>
            <a:ext cx="8176027" cy="2299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251376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DB5FC12-A52C-9E4F-88B9-63BD5E6E67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98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958873E8-8220-8D33-AF8D-0003E351A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布隆过滤器</a:t>
            </a:r>
            <a:endParaRPr kumimoji="1" lang="zh-CN" altLang="en-US" sz="36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EFB2329E-BC80-1422-08C0-092FA45AB9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8929" y="1202311"/>
                <a:ext cx="8508970" cy="5622878"/>
              </a:xfrm>
            </p:spPr>
            <p:txBody>
              <a:bodyPr/>
              <a:lstStyle/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Ø"/>
                </a:pPr>
                <a:r>
                  <a:rPr kumimoji="1" lang="zh-CN" altLang="en-US" sz="2400" b="1" dirty="0">
                    <a:solidFill>
                      <a:srgbClr val="701988"/>
                    </a:solidFill>
                    <a:latin typeface="微软雅黑" panose="020B0503020204020204" pitchFamily="82" charset="2"/>
                    <a:ea typeface="微软雅黑" panose="020B0503020204020204" pitchFamily="82" charset="2"/>
                  </a:rPr>
                  <a:t>检验示例</a:t>
                </a:r>
                <a:endParaRPr kumimoji="1" lang="en-US" altLang="zh-CN" sz="2400" b="1" dirty="0">
                  <a:solidFill>
                    <a:srgbClr val="701988"/>
                  </a:solidFill>
                  <a:latin typeface="微软雅黑" panose="020B0503020204020204" pitchFamily="82" charset="2"/>
                  <a:ea typeface="微软雅黑" panose="020B0503020204020204" pitchFamily="82" charset="2"/>
                </a:endParaRPr>
              </a:p>
              <a:p>
                <a:pPr lvl="1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</m:ctrlPr>
                      </m:sSubPr>
                      <m:e>
                        <m:r>
                          <a:rPr lang="en-US" altLang="zh-CN" sz="2000" dirty="0"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  <m:t>𝐻</m:t>
                        </m:r>
                      </m:e>
                      <m:sub>
                        <m:r>
                          <a:rPr lang="en-US" altLang="zh-CN" sz="2000" dirty="0"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  <a:ea typeface="微软雅黑" panose="020B0503020204020204" pitchFamily="82" charset="2"/>
                              </a:rPr>
                            </m:ctrlPr>
                          </m:sSubPr>
                          <m:e>
                            <m:r>
                              <a:rPr lang="en-US" altLang="zh-CN" sz="2000" dirty="0">
                                <a:latin typeface="Cambria Math" panose="02040503050406030204" pitchFamily="18" charset="0"/>
                                <a:ea typeface="微软雅黑" panose="020B0503020204020204" pitchFamily="82" charset="2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zh-CN" sz="2000" dirty="0">
                                <a:latin typeface="Cambria Math" panose="02040503050406030204" pitchFamily="18" charset="0"/>
                                <a:ea typeface="微软雅黑" panose="020B0503020204020204" pitchFamily="82" charset="2"/>
                              </a:rPr>
                              <m:t>4</m:t>
                            </m:r>
                          </m:sub>
                        </m:sSub>
                      </m:e>
                    </m:d>
                    <m:r>
                      <a:rPr lang="en-US" altLang="zh-CN" sz="2000" dirty="0">
                        <a:latin typeface="Cambria Math" panose="02040503050406030204" pitchFamily="18" charset="0"/>
                        <a:ea typeface="微软雅黑" panose="020B0503020204020204" pitchFamily="82" charset="2"/>
                      </a:rPr>
                      <m:t>%</m:t>
                    </m:r>
                    <m:r>
                      <a:rPr lang="en-US" altLang="zh-CN" sz="2000" dirty="0">
                        <a:latin typeface="Cambria Math" panose="02040503050406030204" pitchFamily="18" charset="0"/>
                        <a:ea typeface="微软雅黑" panose="020B0503020204020204" pitchFamily="82" charset="2"/>
                      </a:rPr>
                      <m:t>𝑚</m:t>
                    </m:r>
                  </m:oMath>
                </a14:m>
                <a:r>
                  <a:rPr lang="en-US" altLang="zh-CN" sz="2000" dirty="0">
                    <a:latin typeface="微软雅黑" panose="020B0503020204020204" pitchFamily="82" charset="2"/>
                    <a:ea typeface="微软雅黑" panose="020B0503020204020204" pitchFamily="82" charset="2"/>
                  </a:rPr>
                  <a:t>=1,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</m:ctrlPr>
                      </m:sSubPr>
                      <m:e>
                        <m:r>
                          <a:rPr lang="en-US" altLang="zh-CN" sz="2000" dirty="0"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  <m:t>𝐻</m:t>
                        </m:r>
                      </m:e>
                      <m:sub>
                        <m:r>
                          <a:rPr lang="en-US" altLang="zh-CN" sz="2000" dirty="0"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  <a:ea typeface="微软雅黑" panose="020B0503020204020204" pitchFamily="82" charset="2"/>
                              </a:rPr>
                            </m:ctrlPr>
                          </m:sSubPr>
                          <m:e>
                            <m:r>
                              <a:rPr lang="en-US" altLang="zh-CN" sz="2000" dirty="0">
                                <a:latin typeface="Cambria Math" panose="02040503050406030204" pitchFamily="18" charset="0"/>
                                <a:ea typeface="微软雅黑" panose="020B0503020204020204" pitchFamily="82" charset="2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zh-CN" sz="2000" dirty="0">
                                <a:latin typeface="Cambria Math" panose="02040503050406030204" pitchFamily="18" charset="0"/>
                                <a:ea typeface="微软雅黑" panose="020B0503020204020204" pitchFamily="82" charset="2"/>
                              </a:rPr>
                              <m:t>4</m:t>
                            </m:r>
                          </m:sub>
                        </m:sSub>
                      </m:e>
                    </m:d>
                    <m:r>
                      <a:rPr lang="en-US" altLang="zh-CN" sz="2000" dirty="0">
                        <a:latin typeface="Cambria Math" panose="02040503050406030204" pitchFamily="18" charset="0"/>
                        <a:ea typeface="微软雅黑" panose="020B0503020204020204" pitchFamily="82" charset="2"/>
                      </a:rPr>
                      <m:t>%</m:t>
                    </m:r>
                    <m:r>
                      <a:rPr lang="en-US" altLang="zh-CN" sz="2000" dirty="0">
                        <a:latin typeface="Cambria Math" panose="02040503050406030204" pitchFamily="18" charset="0"/>
                        <a:ea typeface="微软雅黑" panose="020B0503020204020204" pitchFamily="82" charset="2"/>
                      </a:rPr>
                      <m:t>𝑚</m:t>
                    </m:r>
                  </m:oMath>
                </a14:m>
                <a:r>
                  <a:rPr lang="en-US" altLang="zh-CN" sz="2000" dirty="0">
                    <a:latin typeface="微软雅黑" panose="020B0503020204020204" pitchFamily="82" charset="2"/>
                    <a:ea typeface="微软雅黑" panose="020B0503020204020204" pitchFamily="82" charset="2"/>
                  </a:rPr>
                  <a:t>=9</a:t>
                </a:r>
                <a:r>
                  <a:rPr lang="zh-CN" altLang="en-US" sz="2000" dirty="0">
                    <a:latin typeface="微软雅黑" panose="020B0503020204020204" pitchFamily="82" charset="2"/>
                    <a:ea typeface="微软雅黑" panose="020B0503020204020204" pitchFamily="82" charset="2"/>
                  </a:rPr>
                  <a:t>，对应比特位均为</a:t>
                </a:r>
                <a:r>
                  <a:rPr lang="en-US" altLang="zh-CN" sz="2000" dirty="0">
                    <a:latin typeface="微软雅黑" panose="020B0503020204020204" pitchFamily="82" charset="2"/>
                    <a:ea typeface="微软雅黑" panose="020B0503020204020204" pitchFamily="82" charset="2"/>
                  </a:rPr>
                  <a:t>1</a:t>
                </a:r>
                <a:r>
                  <a:rPr lang="zh-CN" altLang="en-US" sz="2000" dirty="0">
                    <a:latin typeface="微软雅黑" panose="020B0503020204020204" pitchFamily="82" charset="2"/>
                    <a:ea typeface="微软雅黑" panose="020B0503020204020204" pitchFamily="82" charset="2"/>
                  </a:rPr>
                  <a:t>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</m:ctrlPr>
                      </m:sSubPr>
                      <m:e>
                        <m:r>
                          <a:rPr lang="en-US" altLang="zh-CN" sz="2000" dirty="0"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  <m:t>𝐾</m:t>
                        </m:r>
                      </m:e>
                      <m:sub>
                        <m:r>
                          <a:rPr lang="en-US" altLang="zh-CN" sz="2000" dirty="0"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  <m:t>4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微软雅黑" panose="020B0503020204020204" pitchFamily="82" charset="2"/>
                    <a:ea typeface="微软雅黑" panose="020B0503020204020204" pitchFamily="82" charset="2"/>
                  </a:rPr>
                  <a:t>可能存在）</a:t>
                </a:r>
                <a:endParaRPr lang="en-US" altLang="zh-CN" sz="2000" dirty="0">
                  <a:latin typeface="微软雅黑" panose="020B0503020204020204" pitchFamily="82" charset="2"/>
                  <a:ea typeface="微软雅黑" panose="020B0503020204020204" pitchFamily="82" charset="2"/>
                </a:endParaRPr>
              </a:p>
              <a:p>
                <a:pPr lvl="1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</m:ctrlPr>
                      </m:sSubPr>
                      <m:e>
                        <m:r>
                          <a:rPr lang="en-US" altLang="zh-CN" sz="2000" dirty="0"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  <m:t>𝐻</m:t>
                        </m:r>
                      </m:e>
                      <m:sub>
                        <m:r>
                          <a:rPr lang="en-US" altLang="zh-CN" sz="2000" dirty="0"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  <a:ea typeface="微软雅黑" panose="020B0503020204020204" pitchFamily="82" charset="2"/>
                              </a:rPr>
                            </m:ctrlPr>
                          </m:sSubPr>
                          <m:e>
                            <m:r>
                              <a:rPr lang="en-US" altLang="zh-CN" sz="2000" dirty="0">
                                <a:latin typeface="Cambria Math" panose="02040503050406030204" pitchFamily="18" charset="0"/>
                                <a:ea typeface="微软雅黑" panose="020B0503020204020204" pitchFamily="82" charset="2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zh-CN" sz="2000" dirty="0">
                                <a:latin typeface="Cambria Math" panose="02040503050406030204" pitchFamily="18" charset="0"/>
                                <a:ea typeface="微软雅黑" panose="020B0503020204020204" pitchFamily="82" charset="2"/>
                              </a:rPr>
                              <m:t>5</m:t>
                            </m:r>
                          </m:sub>
                        </m:sSub>
                      </m:e>
                    </m:d>
                    <m:r>
                      <a:rPr lang="en-US" altLang="zh-CN" sz="2000" dirty="0">
                        <a:latin typeface="Cambria Math" panose="02040503050406030204" pitchFamily="18" charset="0"/>
                        <a:ea typeface="微软雅黑" panose="020B0503020204020204" pitchFamily="82" charset="2"/>
                      </a:rPr>
                      <m:t>%</m:t>
                    </m:r>
                    <m:r>
                      <a:rPr lang="en-US" altLang="zh-CN" sz="2000" dirty="0">
                        <a:latin typeface="Cambria Math" panose="02040503050406030204" pitchFamily="18" charset="0"/>
                        <a:ea typeface="微软雅黑" panose="020B0503020204020204" pitchFamily="82" charset="2"/>
                      </a:rPr>
                      <m:t>𝑚</m:t>
                    </m:r>
                  </m:oMath>
                </a14:m>
                <a:r>
                  <a:rPr lang="en-US" altLang="zh-CN" sz="2000" dirty="0">
                    <a:latin typeface="微软雅黑" panose="020B0503020204020204" pitchFamily="82" charset="2"/>
                    <a:ea typeface="微软雅黑" panose="020B0503020204020204" pitchFamily="82" charset="2"/>
                  </a:rPr>
                  <a:t>=3,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</m:ctrlPr>
                      </m:sSubPr>
                      <m:e>
                        <m:r>
                          <a:rPr lang="en-US" altLang="zh-CN" sz="2000" dirty="0"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  <m:t>𝐻</m:t>
                        </m:r>
                      </m:e>
                      <m:sub>
                        <m:r>
                          <a:rPr lang="en-US" altLang="zh-CN" sz="2000" dirty="0"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  <a:ea typeface="微软雅黑" panose="020B0503020204020204" pitchFamily="82" charset="2"/>
                              </a:rPr>
                            </m:ctrlPr>
                          </m:sSubPr>
                          <m:e>
                            <m:r>
                              <a:rPr lang="en-US" altLang="zh-CN" sz="2000" dirty="0">
                                <a:latin typeface="Cambria Math" panose="02040503050406030204" pitchFamily="18" charset="0"/>
                                <a:ea typeface="微软雅黑" panose="020B0503020204020204" pitchFamily="82" charset="2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zh-CN" sz="2000" b="0" i="0" dirty="0" smtClean="0">
                                <a:latin typeface="Cambria Math" panose="02040503050406030204" pitchFamily="18" charset="0"/>
                                <a:ea typeface="微软雅黑" panose="020B0503020204020204" pitchFamily="82" charset="2"/>
                              </a:rPr>
                              <m:t>5</m:t>
                            </m:r>
                          </m:sub>
                        </m:sSub>
                      </m:e>
                    </m:d>
                    <m:r>
                      <a:rPr lang="en-US" altLang="zh-CN" sz="2000" dirty="0">
                        <a:latin typeface="Cambria Math" panose="02040503050406030204" pitchFamily="18" charset="0"/>
                        <a:ea typeface="微软雅黑" panose="020B0503020204020204" pitchFamily="82" charset="2"/>
                      </a:rPr>
                      <m:t>%</m:t>
                    </m:r>
                    <m:r>
                      <a:rPr lang="en-US" altLang="zh-CN" sz="2000" dirty="0">
                        <a:latin typeface="Cambria Math" panose="02040503050406030204" pitchFamily="18" charset="0"/>
                        <a:ea typeface="微软雅黑" panose="020B0503020204020204" pitchFamily="82" charset="2"/>
                      </a:rPr>
                      <m:t>𝑚</m:t>
                    </m:r>
                  </m:oMath>
                </a14:m>
                <a:r>
                  <a:rPr lang="en-US" altLang="zh-CN" sz="2000" dirty="0">
                    <a:latin typeface="微软雅黑" panose="020B0503020204020204" pitchFamily="82" charset="2"/>
                    <a:ea typeface="微软雅黑" panose="020B0503020204020204" pitchFamily="82" charset="2"/>
                  </a:rPr>
                  <a:t>=7</a:t>
                </a:r>
                <a:r>
                  <a:rPr lang="zh-CN" altLang="en-US" sz="2000" dirty="0">
                    <a:latin typeface="微软雅黑" panose="020B0503020204020204" pitchFamily="82" charset="2"/>
                    <a:ea typeface="微软雅黑" panose="020B0503020204020204" pitchFamily="82" charset="2"/>
                  </a:rPr>
                  <a:t>，有一个位置为</a:t>
                </a:r>
                <a:r>
                  <a:rPr lang="en-US" altLang="zh-CN" sz="2000" dirty="0">
                    <a:latin typeface="微软雅黑" panose="020B0503020204020204" pitchFamily="82" charset="2"/>
                    <a:ea typeface="微软雅黑" panose="020B0503020204020204" pitchFamily="82" charset="2"/>
                  </a:rPr>
                  <a:t>0</a:t>
                </a:r>
                <a:r>
                  <a:rPr lang="zh-CN" altLang="en-US" sz="2000" dirty="0">
                    <a:latin typeface="微软雅黑" panose="020B0503020204020204" pitchFamily="82" charset="2"/>
                    <a:ea typeface="微软雅黑" panose="020B0503020204020204" pitchFamily="82" charset="2"/>
                  </a:rPr>
                  <a:t>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</m:ctrlPr>
                      </m:sSubPr>
                      <m:e>
                        <m:r>
                          <a:rPr lang="en-US" altLang="zh-CN" sz="2000" dirty="0"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  <m:t>𝐾</m:t>
                        </m:r>
                      </m:e>
                      <m:sub>
                        <m:r>
                          <a:rPr lang="en-US" altLang="zh-CN" sz="2000" dirty="0"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  <m:t>5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微软雅黑" panose="020B0503020204020204" pitchFamily="82" charset="2"/>
                    <a:ea typeface="微软雅黑" panose="020B0503020204020204" pitchFamily="82" charset="2"/>
                  </a:rPr>
                  <a:t>一定不存在）</a:t>
                </a:r>
                <a:endParaRPr lang="en-US" altLang="zh-CN" sz="2000" dirty="0">
                  <a:latin typeface="微软雅黑" panose="020B0503020204020204" pitchFamily="82" charset="2"/>
                  <a:ea typeface="微软雅黑" panose="020B0503020204020204" pitchFamily="82" charset="2"/>
                </a:endParaRP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2400" b="1" dirty="0">
                    <a:solidFill>
                      <a:srgbClr val="701988"/>
                    </a:solidFill>
                    <a:latin typeface="微软雅黑" panose="020B0503020204020204" pitchFamily="82" charset="2"/>
                    <a:ea typeface="微软雅黑" panose="020B0503020204020204" pitchFamily="82" charset="2"/>
                  </a:rPr>
                  <a:t>假阳率分析</a:t>
                </a:r>
                <a:endParaRPr lang="en-US" altLang="zh-CN" sz="2400" b="1" dirty="0">
                  <a:solidFill>
                    <a:srgbClr val="701988"/>
                  </a:solidFill>
                  <a:latin typeface="微软雅黑" panose="020B0503020204020204" pitchFamily="82" charset="2"/>
                  <a:ea typeface="微软雅黑" panose="020B0503020204020204" pitchFamily="82" charset="2"/>
                </a:endParaRPr>
              </a:p>
              <a:p>
                <a:pPr lvl="1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000" dirty="0">
                    <a:latin typeface="微软雅黑" panose="020B0503020204020204" pitchFamily="82" charset="2"/>
                    <a:ea typeface="微软雅黑" panose="020B0503020204020204" pitchFamily="82" charset="2"/>
                  </a:rPr>
                  <a:t>键值的</a:t>
                </a:r>
                <a:r>
                  <a:rPr lang="en-US" altLang="zh-CN" sz="2000" dirty="0">
                    <a:latin typeface="微软雅黑" panose="020B0503020204020204" pitchFamily="82" charset="2"/>
                    <a:ea typeface="微软雅黑" panose="020B0503020204020204" pitchFamily="82" charset="2"/>
                  </a:rPr>
                  <a:t>k</a:t>
                </a:r>
                <a:r>
                  <a:rPr lang="zh-CN" altLang="en-US" sz="2000" dirty="0">
                    <a:latin typeface="微软雅黑" panose="020B0503020204020204" pitchFamily="82" charset="2"/>
                    <a:ea typeface="微软雅黑" panose="020B0503020204020204" pitchFamily="82" charset="2"/>
                  </a:rPr>
                  <a:t>个哈希值位置恰好都为</a:t>
                </a:r>
                <a:r>
                  <a:rPr lang="en-US" altLang="zh-CN" sz="2000" dirty="0">
                    <a:latin typeface="微软雅黑" panose="020B0503020204020204" pitchFamily="82" charset="2"/>
                    <a:ea typeface="微软雅黑" panose="020B0503020204020204" pitchFamily="82" charset="2"/>
                  </a:rPr>
                  <a:t>1</a:t>
                </a:r>
              </a:p>
              <a:p>
                <a:pPr lvl="1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000" dirty="0">
                    <a:latin typeface="微软雅黑" panose="020B0503020204020204" pitchFamily="82" charset="2"/>
                    <a:ea typeface="微软雅黑" panose="020B0503020204020204" pitchFamily="82" charset="2"/>
                  </a:rPr>
                  <a:t>任一位置在</a:t>
                </a:r>
                <a:r>
                  <a:rPr lang="en-US" altLang="zh-CN" sz="2000" dirty="0" err="1">
                    <a:latin typeface="微软雅黑" panose="020B0503020204020204" pitchFamily="82" charset="2"/>
                    <a:ea typeface="微软雅黑" panose="020B0503020204020204" pitchFamily="82" charset="2"/>
                  </a:rPr>
                  <a:t>kn</a:t>
                </a:r>
                <a:r>
                  <a:rPr lang="zh-CN" altLang="en-US" sz="2000" dirty="0">
                    <a:latin typeface="微软雅黑" panose="020B0503020204020204" pitchFamily="82" charset="2"/>
                    <a:ea typeface="微软雅黑" panose="020B0503020204020204" pitchFamily="82" charset="2"/>
                  </a:rPr>
                  <a:t>次哈希后为</a:t>
                </a:r>
                <a:r>
                  <a:rPr lang="en-US" altLang="zh-CN" sz="2000" dirty="0">
                    <a:latin typeface="微软雅黑" panose="020B0503020204020204" pitchFamily="82" charset="2"/>
                    <a:ea typeface="微软雅黑" panose="020B0503020204020204" pitchFamily="82" charset="2"/>
                  </a:rPr>
                  <a:t>1</a:t>
                </a:r>
                <a:r>
                  <a:rPr lang="zh-CN" altLang="en-US" sz="2000" dirty="0">
                    <a:latin typeface="微软雅黑" panose="020B0503020204020204" pitchFamily="82" charset="2"/>
                    <a:ea typeface="微软雅黑" panose="020B0503020204020204" pitchFamily="82" charset="2"/>
                  </a:rPr>
                  <a:t>的概率</a:t>
                </a:r>
                <a:endParaRPr lang="en-US" altLang="zh-CN" sz="2000" dirty="0">
                  <a:latin typeface="微软雅黑" panose="020B0503020204020204" pitchFamily="82" charset="2"/>
                  <a:ea typeface="微软雅黑" panose="020B0503020204020204" pitchFamily="82" charset="2"/>
                </a:endParaRPr>
              </a:p>
              <a:p>
                <a:pPr lvl="2">
                  <a:lnSpc>
                    <a:spcPct val="120000"/>
                  </a:lnSpc>
                  <a:buSzPct val="50000"/>
                  <a:buFont typeface="Wingdings" panose="05000000000000000000" pitchFamily="2" charset="2"/>
                  <a:buChar char="p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solidFill>
                              <a:srgbClr val="6F1787"/>
                            </a:solidFill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</m:ctrlPr>
                      </m:sSupPr>
                      <m:e>
                        <m:r>
                          <a:rPr lang="en-US" altLang="zh-CN" sz="2000">
                            <a:solidFill>
                              <a:srgbClr val="6F1787"/>
                            </a:solidFill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  <m:t>1−(1−</m:t>
                        </m:r>
                        <m:f>
                          <m:fPr>
                            <m:ctrlPr>
                              <a:rPr lang="en-US" altLang="zh-CN" sz="2000" i="1">
                                <a:solidFill>
                                  <a:srgbClr val="6F1787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82" charset="2"/>
                              </a:rPr>
                            </m:ctrlPr>
                          </m:fPr>
                          <m:num>
                            <m:r>
                              <a:rPr lang="en-US" altLang="zh-CN" sz="2000">
                                <a:solidFill>
                                  <a:srgbClr val="6F1787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82" charset="2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000">
                                <a:solidFill>
                                  <a:srgbClr val="6F1787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82" charset="2"/>
                              </a:rPr>
                              <m:t>𝑚</m:t>
                            </m:r>
                          </m:den>
                        </m:f>
                        <m:r>
                          <a:rPr lang="en-US" altLang="zh-CN" sz="2000">
                            <a:solidFill>
                              <a:srgbClr val="6F1787"/>
                            </a:solidFill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  <m:t>)</m:t>
                        </m:r>
                      </m:e>
                      <m:sup>
                        <m:r>
                          <a:rPr lang="en-US" altLang="zh-CN" sz="2000">
                            <a:solidFill>
                              <a:srgbClr val="6F1787"/>
                            </a:solidFill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  <m:t>𝑘𝑛</m:t>
                        </m:r>
                      </m:sup>
                    </m:sSup>
                    <m:r>
                      <a:rPr lang="en-US" altLang="zh-CN" sz="2000">
                        <a:solidFill>
                          <a:srgbClr val="6F1787"/>
                        </a:solidFill>
                        <a:latin typeface="Cambria Math" panose="02040503050406030204" pitchFamily="18" charset="0"/>
                        <a:ea typeface="微软雅黑" panose="020B0503020204020204" pitchFamily="82" charset="2"/>
                      </a:rPr>
                      <m:t>≈1−</m:t>
                    </m:r>
                    <m:sSup>
                      <m:sSupPr>
                        <m:ctrlPr>
                          <a:rPr lang="en-US" altLang="zh-CN" sz="2000" i="1">
                            <a:solidFill>
                              <a:srgbClr val="6F1787"/>
                            </a:solidFill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</m:ctrlPr>
                      </m:sSupPr>
                      <m:e>
                        <m:r>
                          <a:rPr lang="en-US" altLang="zh-CN" sz="2000">
                            <a:solidFill>
                              <a:srgbClr val="6F1787"/>
                            </a:solidFill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  <m:t>𝑒</m:t>
                        </m:r>
                      </m:e>
                      <m:sup>
                        <m:r>
                          <a:rPr lang="en-US" altLang="zh-CN" sz="2000">
                            <a:solidFill>
                              <a:srgbClr val="6F1787"/>
                            </a:solidFill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  <m:t>−</m:t>
                        </m:r>
                        <m:r>
                          <a:rPr lang="en-US" altLang="zh-CN" sz="2000">
                            <a:solidFill>
                              <a:srgbClr val="6F1787"/>
                            </a:solidFill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  <m:t>𝑘𝑛</m:t>
                        </m:r>
                        <m:r>
                          <a:rPr lang="en-US" altLang="zh-CN" sz="2000">
                            <a:solidFill>
                              <a:srgbClr val="6F1787"/>
                            </a:solidFill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  <m:t>/</m:t>
                        </m:r>
                        <m:r>
                          <a:rPr lang="en-US" altLang="zh-CN" sz="2000">
                            <a:solidFill>
                              <a:srgbClr val="6F1787"/>
                            </a:solidFill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  <m:t>𝑚</m:t>
                        </m:r>
                      </m:sup>
                    </m:sSup>
                  </m:oMath>
                </a14:m>
                <a:endParaRPr lang="en-US" altLang="zh-CN" sz="2000" dirty="0">
                  <a:solidFill>
                    <a:srgbClr val="6F1787"/>
                  </a:solidFill>
                  <a:latin typeface="微软雅黑" panose="020B0503020204020204" pitchFamily="82" charset="2"/>
                  <a:ea typeface="微软雅黑" panose="020B0503020204020204" pitchFamily="82" charset="2"/>
                </a:endParaRPr>
              </a:p>
              <a:p>
                <a:pPr lvl="1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000" dirty="0">
                    <a:latin typeface="微软雅黑" panose="020B0503020204020204" pitchFamily="82" charset="2"/>
                    <a:ea typeface="微软雅黑" panose="020B0503020204020204" pitchFamily="82" charset="2"/>
                  </a:rPr>
                  <a:t>假阳率即任一键值恰好碰撞</a:t>
                </a:r>
                <a:r>
                  <a:rPr lang="en-US" altLang="zh-CN" sz="2000" dirty="0">
                    <a:latin typeface="微软雅黑" panose="020B0503020204020204" pitchFamily="82" charset="2"/>
                    <a:ea typeface="微软雅黑" panose="020B0503020204020204" pitchFamily="82" charset="2"/>
                  </a:rPr>
                  <a:t>k</a:t>
                </a:r>
                <a:r>
                  <a:rPr lang="zh-CN" altLang="en-US" sz="2000" dirty="0">
                    <a:latin typeface="微软雅黑" panose="020B0503020204020204" pitchFamily="82" charset="2"/>
                    <a:ea typeface="微软雅黑" panose="020B0503020204020204" pitchFamily="82" charset="2"/>
                  </a:rPr>
                  <a:t>次的概率</a:t>
                </a:r>
                <a:endParaRPr lang="en-US" altLang="zh-CN" sz="2000" dirty="0">
                  <a:latin typeface="微软雅黑" panose="020B0503020204020204" pitchFamily="82" charset="2"/>
                  <a:ea typeface="微软雅黑" panose="020B0503020204020204" pitchFamily="82" charset="2"/>
                </a:endParaRPr>
              </a:p>
              <a:p>
                <a:pPr lvl="2">
                  <a:lnSpc>
                    <a:spcPct val="120000"/>
                  </a:lnSpc>
                  <a:buSzPct val="50000"/>
                  <a:buFont typeface="Wingdings" panose="05000000000000000000" pitchFamily="2" charset="2"/>
                  <a:buChar char="p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solidFill>
                              <a:srgbClr val="6F1787"/>
                            </a:solidFill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</m:ctrlPr>
                      </m:sSupPr>
                      <m:e>
                        <m:r>
                          <a:rPr lang="en-US" altLang="zh-CN" sz="2000">
                            <a:solidFill>
                              <a:srgbClr val="6F1787"/>
                            </a:solidFill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  <m:t>(1−</m:t>
                        </m:r>
                        <m:sSup>
                          <m:sSupPr>
                            <m:ctrlPr>
                              <a:rPr lang="en-US" altLang="zh-CN" sz="2000" i="1">
                                <a:solidFill>
                                  <a:srgbClr val="6F1787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82" charset="2"/>
                              </a:rPr>
                            </m:ctrlPr>
                          </m:sSupPr>
                          <m:e>
                            <m:r>
                              <a:rPr lang="en-US" altLang="zh-CN" sz="2000">
                                <a:solidFill>
                                  <a:srgbClr val="6F1787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82" charset="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000">
                                <a:solidFill>
                                  <a:srgbClr val="6F1787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82" charset="2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zh-CN" sz="2000" i="1">
                                    <a:solidFill>
                                      <a:srgbClr val="6F1787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82" charset="2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000">
                                    <a:solidFill>
                                      <a:srgbClr val="6F1787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82" charset="2"/>
                                  </a:rPr>
                                  <m:t>𝑘𝑛</m:t>
                                </m:r>
                              </m:num>
                              <m:den>
                                <m:r>
                                  <a:rPr lang="en-US" altLang="zh-CN" sz="2000">
                                    <a:solidFill>
                                      <a:srgbClr val="6F1787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82" charset="2"/>
                                  </a:rPr>
                                  <m:t>𝑚</m:t>
                                </m:r>
                              </m:den>
                            </m:f>
                          </m:sup>
                        </m:sSup>
                        <m:r>
                          <a:rPr lang="en-US" altLang="zh-CN" sz="2000">
                            <a:solidFill>
                              <a:srgbClr val="6F1787"/>
                            </a:solidFill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  <m:t>)</m:t>
                        </m:r>
                      </m:e>
                      <m:sup>
                        <m:r>
                          <a:rPr lang="en-US" altLang="zh-CN" sz="2000">
                            <a:solidFill>
                              <a:srgbClr val="6F1787"/>
                            </a:solidFill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  <m:t>𝑘</m:t>
                        </m:r>
                      </m:sup>
                    </m:sSup>
                  </m:oMath>
                </a14:m>
                <a:endParaRPr lang="en-US" altLang="zh-CN" sz="2000" dirty="0">
                  <a:solidFill>
                    <a:srgbClr val="6F1787"/>
                  </a:solidFill>
                  <a:latin typeface="微软雅黑" panose="020B0503020204020204" pitchFamily="82" charset="2"/>
                  <a:ea typeface="微软雅黑" panose="020B0503020204020204" pitchFamily="82" charset="2"/>
                </a:endParaRPr>
              </a:p>
              <a:p>
                <a:pPr lvl="1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000" dirty="0">
                    <a:latin typeface="微软雅黑" panose="020B0503020204020204" pitchFamily="82" charset="2"/>
                    <a:ea typeface="微软雅黑" panose="020B0503020204020204" pitchFamily="82" charset="2"/>
                  </a:rPr>
                  <a:t>增大</a:t>
                </a:r>
                <a:r>
                  <a:rPr lang="en-US" altLang="zh-CN" sz="2000" dirty="0">
                    <a:latin typeface="微软雅黑" panose="020B0503020204020204" pitchFamily="82" charset="2"/>
                    <a:ea typeface="微软雅黑" panose="020B0503020204020204" pitchFamily="82" charset="2"/>
                  </a:rPr>
                  <a:t>m</a:t>
                </a:r>
                <a:r>
                  <a:rPr lang="zh-CN" altLang="en-US" sz="2000" dirty="0">
                    <a:latin typeface="微软雅黑" panose="020B0503020204020204" pitchFamily="82" charset="2"/>
                    <a:ea typeface="微软雅黑" panose="020B0503020204020204" pitchFamily="82" charset="2"/>
                  </a:rPr>
                  <a:t>可以减小假阳率</a:t>
                </a:r>
                <a:endParaRPr lang="en-US" altLang="zh-CN" sz="2000" dirty="0">
                  <a:latin typeface="微软雅黑" panose="020B0503020204020204" pitchFamily="82" charset="2"/>
                  <a:ea typeface="微软雅黑" panose="020B0503020204020204" pitchFamily="82" charset="2"/>
                </a:endParaRPr>
              </a:p>
            </p:txBody>
          </p:sp>
        </mc:Choice>
        <mc:Fallback xmlns="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EFB2329E-BC80-1422-08C0-092FA45AB9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8929" y="1202311"/>
                <a:ext cx="8508970" cy="5622878"/>
              </a:xfrm>
              <a:blipFill>
                <a:blip r:embed="rId2"/>
                <a:stretch>
                  <a:fillRect l="-1043" t="-2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E62B3A1-0E42-182A-EC20-804DC82136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BBE3FB2-F4D1-340F-CDC4-9EDCCE69CA6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4244"/>
          <a:stretch/>
        </p:blipFill>
        <p:spPr>
          <a:xfrm>
            <a:off x="6220355" y="2572382"/>
            <a:ext cx="5475088" cy="214280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EFE834B-D480-2F0E-7786-05921A3E733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6705" r="1660"/>
          <a:stretch/>
        </p:blipFill>
        <p:spPr>
          <a:xfrm>
            <a:off x="7630484" y="4715191"/>
            <a:ext cx="2634010" cy="2142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380978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18">
            <a:extLst>
              <a:ext uri="{FF2B5EF4-FFF2-40B4-BE49-F238E27FC236}">
                <a16:creationId xmlns:a16="http://schemas.microsoft.com/office/drawing/2014/main" id="{C712F1D2-4A04-402C-8607-D2E950B9C343}"/>
              </a:ext>
            </a:extLst>
          </p:cNvPr>
          <p:cNvSpPr/>
          <p:nvPr/>
        </p:nvSpPr>
        <p:spPr>
          <a:xfrm>
            <a:off x="1909876" y="3881448"/>
            <a:ext cx="7387772" cy="2502693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dirty="0">
              <a:latin typeface="微软雅黑" panose="020B0503020204020204" pitchFamily="82" charset="2"/>
              <a:ea typeface="微软雅黑" panose="020B0503020204020204" pitchFamily="82" charset="2"/>
              <a:sym typeface="+mn-ea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9D630DF-DC1D-2957-1B9A-ACF17D2A59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99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6008775E-C12C-6303-F124-E6A648B3E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分区优化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8805E1A-B839-C1AC-7E4B-B49D7431FF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551" y="926306"/>
            <a:ext cx="10874188" cy="5005387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索引合并的内存与时间开销大</a:t>
            </a:r>
            <a:endParaRPr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将大容量索引拆分成小分区</a:t>
            </a:r>
            <a:endParaRPr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优化针对两种情景</a:t>
            </a:r>
            <a:endParaRPr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分区无重叠：合并范围不重合时，可以直接追加新分区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偏斜更新：避免无用分区，优化分区的均衡性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2867B1-F7B5-0FC9-ADD6-7CF0F5F025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A0AF0A1-B492-A27C-1A91-5A0377EF28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0314" y="4254935"/>
            <a:ext cx="6661348" cy="173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484813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18">
            <a:extLst>
              <a:ext uri="{FF2B5EF4-FFF2-40B4-BE49-F238E27FC236}">
                <a16:creationId xmlns:a16="http://schemas.microsoft.com/office/drawing/2014/main" id="{E1361376-D923-4A1F-857B-A5A6C9CE1E74}"/>
              </a:ext>
            </a:extLst>
          </p:cNvPr>
          <p:cNvSpPr/>
          <p:nvPr/>
        </p:nvSpPr>
        <p:spPr>
          <a:xfrm>
            <a:off x="5540188" y="1092830"/>
            <a:ext cx="6205030" cy="5200393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dirty="0">
              <a:latin typeface="微软雅黑" panose="020B0503020204020204" pitchFamily="82" charset="2"/>
              <a:ea typeface="微软雅黑" panose="020B0503020204020204" pitchFamily="82" charset="2"/>
              <a:sym typeface="+mn-ea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27AAF54-61E0-7F22-5D7D-CCF9244886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100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F621318-FD4D-F936-3819-5AFE0E3C4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LSM</a:t>
            </a:r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实例：</a:t>
            </a:r>
            <a:r>
              <a:rPr kumimoji="1" lang="en-US" altLang="zh-CN" sz="3600" dirty="0" err="1">
                <a:latin typeface="微软雅黑" panose="020B0503020204020204" pitchFamily="82" charset="2"/>
                <a:ea typeface="微软雅黑" panose="020B0503020204020204" pitchFamily="82" charset="2"/>
              </a:rPr>
              <a:t>LevelDB</a:t>
            </a:r>
            <a:endParaRPr kumimoji="1" lang="zh-CN" altLang="en-US" sz="36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800709E-9B3C-D623-9EF5-283B0736B1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782" y="1092830"/>
            <a:ext cx="4597084" cy="5005387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b="1" dirty="0" err="1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MemTable</a:t>
            </a:r>
            <a:endParaRPr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内存中索引，</a:t>
            </a:r>
            <a:r>
              <a:rPr lang="en-US" altLang="zh-CN" sz="2400" dirty="0" err="1">
                <a:latin typeface="微软雅黑" panose="020B0503020204020204" pitchFamily="82" charset="2"/>
                <a:ea typeface="微软雅黑" panose="020B0503020204020204" pitchFamily="82" charset="2"/>
              </a:rPr>
              <a:t>skiplist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b="1" dirty="0" err="1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SSTable</a:t>
            </a:r>
            <a:endParaRPr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err="1">
                <a:latin typeface="微软雅黑" panose="020B0503020204020204" pitchFamily="82" charset="2"/>
                <a:ea typeface="微软雅黑" panose="020B0503020204020204" pitchFamily="82" charset="2"/>
              </a:rPr>
              <a:t>MemTable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存满后转化得到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磁盘上各层索引都由一系列</a:t>
            </a:r>
            <a:r>
              <a:rPr lang="en-US" altLang="zh-CN" sz="2000" dirty="0" err="1">
                <a:latin typeface="微软雅黑" panose="020B0503020204020204" pitchFamily="82" charset="2"/>
                <a:ea typeface="微软雅黑" panose="020B0503020204020204" pitchFamily="82" charset="2"/>
              </a:rPr>
              <a:t>SSTable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分区组成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存储键值集合的布隆过滤器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异步</a:t>
            </a:r>
            <a:r>
              <a:rPr lang="en-US" altLang="zh-CN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Compaction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删除标记过多时，逐层进行合并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0" indent="0">
              <a:buNone/>
            </a:pPr>
            <a:endParaRPr lang="en-US" altLang="zh-CN" sz="28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EC5B3A-8FE1-A19F-AE2E-45988D2AA8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6B8656B-D89B-6318-8D43-66E170847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1252" y="1238274"/>
            <a:ext cx="5389581" cy="4921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659479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18">
            <a:extLst>
              <a:ext uri="{FF2B5EF4-FFF2-40B4-BE49-F238E27FC236}">
                <a16:creationId xmlns:a16="http://schemas.microsoft.com/office/drawing/2014/main" id="{E1361376-D923-4A1F-857B-A5A6C9CE1E74}"/>
              </a:ext>
            </a:extLst>
          </p:cNvPr>
          <p:cNvSpPr/>
          <p:nvPr/>
        </p:nvSpPr>
        <p:spPr>
          <a:xfrm>
            <a:off x="6749265" y="2946562"/>
            <a:ext cx="4976569" cy="3197122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dirty="0">
              <a:latin typeface="微软雅黑" panose="020B0503020204020204" pitchFamily="82" charset="2"/>
              <a:ea typeface="微软雅黑" panose="020B0503020204020204" pitchFamily="82" charset="2"/>
              <a:sym typeface="+mn-ea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3BD3481-8E5F-E206-5584-A6AA7F5914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101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095E6BBE-95B7-D905-EED3-726FF1D90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LSM</a:t>
            </a:r>
            <a:r>
              <a:rPr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与</a:t>
            </a:r>
            <a:r>
              <a:rPr lang="en-US" altLang="zh-CN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B+</a:t>
            </a:r>
            <a:r>
              <a:rPr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树对比</a:t>
            </a:r>
            <a:endParaRPr kumimoji="1" lang="zh-CN" altLang="en-US" sz="36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7374E6C-EDA5-214E-9CD9-C63B0343F4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6111" y="1192807"/>
            <a:ext cx="8559251" cy="5489658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查找更新适用场景</a:t>
            </a:r>
            <a:endParaRPr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B+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树：读写均产生树高次随机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I/O,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适用于</a:t>
            </a:r>
            <a:r>
              <a:rPr lang="zh-CN" altLang="en-US" sz="2000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读密集型负载</a:t>
            </a:r>
            <a:endParaRPr lang="en-US" altLang="zh-CN" sz="2000" dirty="0">
              <a:solidFill>
                <a:srgbClr val="6F1787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LSM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树：连续写入，读操作需查多层索引，适用于</a:t>
            </a:r>
            <a:r>
              <a:rPr lang="zh-CN" altLang="en-US" sz="2000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写密集型负载</a:t>
            </a:r>
            <a:endParaRPr lang="en-US" altLang="zh-CN" sz="2000" dirty="0">
              <a:solidFill>
                <a:srgbClr val="6F1787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整体架构</a:t>
            </a:r>
            <a:endParaRPr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B+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树：所有页面组成一个树状索引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LSM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树：分为多个层级，各层间相对独立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内存与磁盘功能</a:t>
            </a:r>
            <a:endParaRPr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B+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树中内存作为磁盘上索引结构的缓冲区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LSM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树内存索引与磁盘索引相对独立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/>
            <a:endParaRPr kumimoji="1" lang="zh-CN" altLang="en-US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534410-0E4F-1F45-6A1A-616734C60C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CBE0A3CA-F73B-E337-7C55-5875643710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6715415"/>
              </p:ext>
            </p:extLst>
          </p:nvPr>
        </p:nvGraphicFramePr>
        <p:xfrm>
          <a:off x="7094119" y="3292656"/>
          <a:ext cx="4286860" cy="228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7718">
                  <a:extLst>
                    <a:ext uri="{9D8B030D-6E8A-4147-A177-3AD203B41FA5}">
                      <a16:colId xmlns:a16="http://schemas.microsoft.com/office/drawing/2014/main" val="1628101640"/>
                    </a:ext>
                  </a:extLst>
                </a:gridCol>
                <a:gridCol w="1586371">
                  <a:extLst>
                    <a:ext uri="{9D8B030D-6E8A-4147-A177-3AD203B41FA5}">
                      <a16:colId xmlns:a16="http://schemas.microsoft.com/office/drawing/2014/main" val="638903706"/>
                    </a:ext>
                  </a:extLst>
                </a:gridCol>
                <a:gridCol w="1702771">
                  <a:extLst>
                    <a:ext uri="{9D8B030D-6E8A-4147-A177-3AD203B41FA5}">
                      <a16:colId xmlns:a16="http://schemas.microsoft.com/office/drawing/2014/main" val="6260309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sz="2400" dirty="0">
                        <a:latin typeface="微软雅黑" panose="020B0503020204020204" pitchFamily="82" charset="2"/>
                        <a:ea typeface="微软雅黑" panose="020B0503020204020204" pitchFamily="82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B+</a:t>
                      </a:r>
                      <a:r>
                        <a:rPr lang="zh-CN" altLang="en-US" sz="2400" dirty="0"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LSM-</a:t>
                      </a:r>
                      <a:r>
                        <a:rPr lang="zh-CN" altLang="en-US" sz="2400" dirty="0"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1826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插入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O(log</a:t>
                      </a:r>
                      <a:r>
                        <a:rPr lang="zh-CN" altLang="en-US" sz="2400" dirty="0"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 </a:t>
                      </a:r>
                      <a:r>
                        <a:rPr lang="en-US" altLang="zh-CN" sz="2400" dirty="0"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n)</a:t>
                      </a:r>
                      <a:endParaRPr lang="zh-CN" altLang="en-US" sz="2400" dirty="0">
                        <a:latin typeface="微软雅黑" panose="020B0503020204020204" pitchFamily="82" charset="2"/>
                        <a:ea typeface="微软雅黑" panose="020B0503020204020204" pitchFamily="82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O(1)</a:t>
                      </a:r>
                      <a:endParaRPr lang="zh-CN" altLang="en-US" sz="2400" dirty="0">
                        <a:latin typeface="微软雅黑" panose="020B0503020204020204" pitchFamily="82" charset="2"/>
                        <a:ea typeface="微软雅黑" panose="020B0503020204020204" pitchFamily="82" charset="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6440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删除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O(log</a:t>
                      </a:r>
                      <a:r>
                        <a:rPr lang="zh-CN" altLang="en-US" sz="2400" dirty="0"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 </a:t>
                      </a:r>
                      <a:r>
                        <a:rPr lang="en-US" altLang="zh-CN" sz="2400" dirty="0"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n)</a:t>
                      </a:r>
                      <a:endParaRPr lang="zh-CN" altLang="en-US" sz="2400" dirty="0">
                        <a:latin typeface="微软雅黑" panose="020B0503020204020204" pitchFamily="82" charset="2"/>
                        <a:ea typeface="微软雅黑" panose="020B0503020204020204" pitchFamily="82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O(1)</a:t>
                      </a:r>
                      <a:endParaRPr lang="zh-CN" altLang="en-US" sz="2400" dirty="0">
                        <a:latin typeface="微软雅黑" panose="020B0503020204020204" pitchFamily="82" charset="2"/>
                        <a:ea typeface="微软雅黑" panose="020B0503020204020204" pitchFamily="82" charset="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4124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更新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O(log</a:t>
                      </a:r>
                      <a:r>
                        <a:rPr lang="zh-CN" altLang="en-US" sz="2400" dirty="0"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 </a:t>
                      </a:r>
                      <a:r>
                        <a:rPr lang="en-US" altLang="zh-CN" sz="2400" dirty="0"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n)</a:t>
                      </a:r>
                      <a:endParaRPr lang="zh-CN" altLang="en-US" sz="2400" dirty="0">
                        <a:latin typeface="微软雅黑" panose="020B0503020204020204" pitchFamily="82" charset="2"/>
                        <a:ea typeface="微软雅黑" panose="020B0503020204020204" pitchFamily="82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O(1)</a:t>
                      </a:r>
                      <a:endParaRPr lang="zh-CN" altLang="en-US" sz="2400" dirty="0">
                        <a:latin typeface="微软雅黑" panose="020B0503020204020204" pitchFamily="82" charset="2"/>
                        <a:ea typeface="微软雅黑" panose="020B0503020204020204" pitchFamily="82" charset="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2220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查询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O(log</a:t>
                      </a:r>
                      <a:r>
                        <a:rPr lang="zh-CN" altLang="en-US" sz="2400" dirty="0"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 </a:t>
                      </a:r>
                      <a:r>
                        <a:rPr lang="en-US" altLang="zh-CN" sz="2400" dirty="0"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n)</a:t>
                      </a:r>
                      <a:endParaRPr lang="zh-CN" altLang="en-US" sz="2400" dirty="0">
                        <a:latin typeface="微软雅黑" panose="020B0503020204020204" pitchFamily="82" charset="2"/>
                        <a:ea typeface="微软雅黑" panose="020B0503020204020204" pitchFamily="82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O(L</a:t>
                      </a:r>
                      <a:r>
                        <a:rPr lang="zh-CN" altLang="en-US" sz="2400" dirty="0"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*</a:t>
                      </a:r>
                      <a:r>
                        <a:rPr lang="en-US" altLang="zh-CN" sz="2400" dirty="0"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log</a:t>
                      </a:r>
                      <a:r>
                        <a:rPr lang="zh-CN" altLang="en-US" sz="2400" dirty="0"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 </a:t>
                      </a:r>
                      <a:r>
                        <a:rPr lang="en-US" altLang="zh-CN" sz="2400" dirty="0"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n)</a:t>
                      </a:r>
                      <a:endParaRPr lang="zh-CN" altLang="en-US" sz="2400" dirty="0">
                        <a:latin typeface="微软雅黑" panose="020B0503020204020204" pitchFamily="82" charset="2"/>
                        <a:ea typeface="微软雅黑" panose="020B0503020204020204" pitchFamily="82" charset="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3000338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D9610896-A8B2-D0B1-1C10-6350D8D12D54}"/>
              </a:ext>
            </a:extLst>
          </p:cNvPr>
          <p:cNvSpPr txBox="1"/>
          <p:nvPr/>
        </p:nvSpPr>
        <p:spPr>
          <a:xfrm>
            <a:off x="8121224" y="5612364"/>
            <a:ext cx="25471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L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：层数；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n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：记录数</a:t>
            </a:r>
          </a:p>
        </p:txBody>
      </p:sp>
    </p:spTree>
    <p:extLst>
      <p:ext uri="{BB962C8B-B14F-4D97-AF65-F5344CB8AC3E}">
        <p14:creationId xmlns:p14="http://schemas.microsoft.com/office/powerpoint/2010/main" val="165670431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18">
            <a:extLst>
              <a:ext uri="{FF2B5EF4-FFF2-40B4-BE49-F238E27FC236}">
                <a16:creationId xmlns:a16="http://schemas.microsoft.com/office/drawing/2014/main" id="{5EE32D71-8EA8-4F51-9A4D-483CE4767E95}"/>
              </a:ext>
            </a:extLst>
          </p:cNvPr>
          <p:cNvSpPr/>
          <p:nvPr/>
        </p:nvSpPr>
        <p:spPr>
          <a:xfrm>
            <a:off x="3015427" y="1172238"/>
            <a:ext cx="6286222" cy="4566412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dirty="0">
              <a:latin typeface="OPPOSans M" panose="00020600040101010101" pitchFamily="18" charset="-122"/>
              <a:ea typeface="OPPOSans M" panose="00020600040101010101" pitchFamily="18" charset="-122"/>
              <a:sym typeface="+mn-ea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3C35F35-0D0B-BDBC-478B-23D7223FD1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102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C01FBE5-2997-DA5A-E679-2665D9279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目录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6F1E561-F548-2140-CB4E-A81D3F2686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12400" y="1447238"/>
            <a:ext cx="5807946" cy="419169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索引概述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B+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树索引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B+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树并发控制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哈希索引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SkipList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跳表索引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LSM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树索引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位图索引</a:t>
            </a:r>
            <a:endParaRPr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多维索引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0" indent="0">
              <a:buNone/>
            </a:pP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     ——R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树、</a:t>
            </a: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KD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树、</a:t>
            </a: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Quadtree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、</a:t>
            </a: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Z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曲线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F725F9-5EC3-90CE-2C91-413426E802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020634438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18">
            <a:extLst>
              <a:ext uri="{FF2B5EF4-FFF2-40B4-BE49-F238E27FC236}">
                <a16:creationId xmlns:a16="http://schemas.microsoft.com/office/drawing/2014/main" id="{4E0A6B9D-F714-4288-94F0-D94B4FC79C43}"/>
              </a:ext>
            </a:extLst>
          </p:cNvPr>
          <p:cNvSpPr/>
          <p:nvPr/>
        </p:nvSpPr>
        <p:spPr>
          <a:xfrm>
            <a:off x="625994" y="3239656"/>
            <a:ext cx="11015431" cy="2616021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dirty="0">
              <a:latin typeface="微软雅黑" panose="020B0503020204020204" pitchFamily="82" charset="2"/>
              <a:ea typeface="微软雅黑" panose="020B0503020204020204" pitchFamily="82" charset="2"/>
              <a:sym typeface="+mn-ea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3C35F35-0D0B-BDBC-478B-23D7223FD1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103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C01FBE5-2997-DA5A-E679-2665D9279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目录</a:t>
            </a:r>
            <a:endParaRPr kumimoji="1" lang="zh-CN" altLang="en-US" sz="36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6F1E561-F548-2140-CB4E-A81D3F2686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702" y="1002323"/>
            <a:ext cx="10874188" cy="5422899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buFont typeface="+mj-lt"/>
              <a:buAutoNum type="arabicPeriod" startAt="7"/>
            </a:pP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位图索引</a:t>
            </a:r>
            <a:endParaRPr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位图索引结构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位图索引上的操作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查询执行中生成临时位图索引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A179B2-34D5-9E02-793B-4011A6E0C8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AEE710B6-58C5-40CA-9888-4F81764D30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0554470"/>
              </p:ext>
            </p:extLst>
          </p:nvPr>
        </p:nvGraphicFramePr>
        <p:xfrm>
          <a:off x="931741" y="3568798"/>
          <a:ext cx="6914476" cy="2058594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1797552">
                  <a:extLst>
                    <a:ext uri="{9D8B030D-6E8A-4147-A177-3AD203B41FA5}">
                      <a16:colId xmlns:a16="http://schemas.microsoft.com/office/drawing/2014/main" val="1172510235"/>
                    </a:ext>
                  </a:extLst>
                </a:gridCol>
                <a:gridCol w="1352140">
                  <a:extLst>
                    <a:ext uri="{9D8B030D-6E8A-4147-A177-3AD203B41FA5}">
                      <a16:colId xmlns:a16="http://schemas.microsoft.com/office/drawing/2014/main" val="856091038"/>
                    </a:ext>
                  </a:extLst>
                </a:gridCol>
                <a:gridCol w="1374677">
                  <a:extLst>
                    <a:ext uri="{9D8B030D-6E8A-4147-A177-3AD203B41FA5}">
                      <a16:colId xmlns:a16="http://schemas.microsoft.com/office/drawing/2014/main" val="2881541197"/>
                    </a:ext>
                  </a:extLst>
                </a:gridCol>
                <a:gridCol w="1033822">
                  <a:extLst>
                    <a:ext uri="{9D8B030D-6E8A-4147-A177-3AD203B41FA5}">
                      <a16:colId xmlns:a16="http://schemas.microsoft.com/office/drawing/2014/main" val="1472343379"/>
                    </a:ext>
                  </a:extLst>
                </a:gridCol>
                <a:gridCol w="1356285">
                  <a:extLst>
                    <a:ext uri="{9D8B030D-6E8A-4147-A177-3AD203B41FA5}">
                      <a16:colId xmlns:a16="http://schemas.microsoft.com/office/drawing/2014/main" val="3020498735"/>
                    </a:ext>
                  </a:extLst>
                </a:gridCol>
              </a:tblGrid>
              <a:tr h="343099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600" kern="100" dirty="0" err="1"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  <a:cs typeface="Times New Roman" panose="02020603050405020304" pitchFamily="18" charset="0"/>
                        </a:rPr>
                        <a:t>Sno</a:t>
                      </a:r>
                      <a:endParaRPr lang="zh-CN" sz="1600" kern="100" dirty="0">
                        <a:effectLst/>
                        <a:latin typeface="微软雅黑" panose="020B0503020204020204" pitchFamily="82" charset="2"/>
                        <a:ea typeface="微软雅黑" panose="020B0503020204020204" pitchFamily="82" charset="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701988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600" kern="100" dirty="0" err="1"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  <a:cs typeface="Times New Roman" panose="02020603050405020304" pitchFamily="18" charset="0"/>
                        </a:rPr>
                        <a:t>Sname</a:t>
                      </a:r>
                      <a:endParaRPr lang="zh-CN" sz="1600" kern="100" dirty="0">
                        <a:effectLst/>
                        <a:latin typeface="微软雅黑" panose="020B0503020204020204" pitchFamily="82" charset="2"/>
                        <a:ea typeface="微软雅黑" panose="020B0503020204020204" pitchFamily="82" charset="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701988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600" kern="100" dirty="0" err="1"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  <a:cs typeface="Times New Roman" panose="02020603050405020304" pitchFamily="18" charset="0"/>
                        </a:rPr>
                        <a:t>Sgender</a:t>
                      </a:r>
                      <a:endParaRPr lang="zh-CN" sz="1600" kern="100" dirty="0">
                        <a:effectLst/>
                        <a:latin typeface="微软雅黑" panose="020B0503020204020204" pitchFamily="82" charset="2"/>
                        <a:ea typeface="微软雅黑" panose="020B0503020204020204" pitchFamily="82" charset="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701988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600" kern="100" dirty="0"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  <a:cs typeface="Times New Roman" panose="02020603050405020304" pitchFamily="18" charset="0"/>
                        </a:rPr>
                        <a:t>Sage</a:t>
                      </a:r>
                      <a:endParaRPr lang="zh-CN" sz="1600" kern="100" dirty="0">
                        <a:effectLst/>
                        <a:latin typeface="微软雅黑" panose="020B0503020204020204" pitchFamily="82" charset="2"/>
                        <a:ea typeface="微软雅黑" panose="020B0503020204020204" pitchFamily="82" charset="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701988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600" kern="100" dirty="0" err="1"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  <a:cs typeface="Times New Roman" panose="02020603050405020304" pitchFamily="18" charset="0"/>
                        </a:rPr>
                        <a:t>Sdept</a:t>
                      </a:r>
                      <a:endParaRPr lang="zh-CN" sz="1600" kern="100" dirty="0">
                        <a:effectLst/>
                        <a:latin typeface="微软雅黑" panose="020B0503020204020204" pitchFamily="82" charset="2"/>
                        <a:ea typeface="微软雅黑" panose="020B0503020204020204" pitchFamily="82" charset="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7019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9957621"/>
                  </a:ext>
                </a:extLst>
              </a:tr>
              <a:tr h="343099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600" kern="100"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  <a:cs typeface="Times New Roman" panose="02020603050405020304" pitchFamily="18" charset="0"/>
                        </a:rPr>
                        <a:t>2021310721</a:t>
                      </a:r>
                      <a:endParaRPr lang="zh-CN" sz="1600" kern="100">
                        <a:effectLst/>
                        <a:latin typeface="微软雅黑" panose="020B0503020204020204" pitchFamily="82" charset="2"/>
                        <a:ea typeface="微软雅黑" panose="020B0503020204020204" pitchFamily="82" charset="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701988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zh-CN" sz="1600" kern="100"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  <a:cs typeface="Times New Roman" panose="02020603050405020304" pitchFamily="18" charset="0"/>
                        </a:rPr>
                        <a:t>赵宇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zh-CN" sz="1600" kern="100"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  <a:cs typeface="Times New Roman" panose="02020603050405020304" pitchFamily="18" charset="0"/>
                        </a:rPr>
                        <a:t>男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600" kern="100"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  <a:cs typeface="Times New Roman" panose="02020603050405020304" pitchFamily="18" charset="0"/>
                        </a:rPr>
                        <a:t>19</a:t>
                      </a:r>
                      <a:endParaRPr lang="zh-CN" sz="1600" kern="100">
                        <a:effectLst/>
                        <a:latin typeface="微软雅黑" panose="020B0503020204020204" pitchFamily="82" charset="2"/>
                        <a:ea typeface="微软雅黑" panose="020B0503020204020204" pitchFamily="82" charset="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600" kern="100"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  <a:cs typeface="Times New Roman" panose="02020603050405020304" pitchFamily="18" charset="0"/>
                        </a:rPr>
                        <a:t>CS</a:t>
                      </a:r>
                      <a:endParaRPr lang="zh-CN" sz="1600" kern="100">
                        <a:effectLst/>
                        <a:latin typeface="微软雅黑" panose="020B0503020204020204" pitchFamily="82" charset="2"/>
                        <a:ea typeface="微软雅黑" panose="020B0503020204020204" pitchFamily="82" charset="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98766443"/>
                  </a:ext>
                </a:extLst>
              </a:tr>
              <a:tr h="343099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600" kern="100" dirty="0"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  <a:cs typeface="Times New Roman" panose="02020603050405020304" pitchFamily="18" charset="0"/>
                        </a:rPr>
                        <a:t>2021310722</a:t>
                      </a:r>
                      <a:endParaRPr lang="zh-CN" sz="1600" kern="100" dirty="0">
                        <a:effectLst/>
                        <a:latin typeface="微软雅黑" panose="020B0503020204020204" pitchFamily="82" charset="2"/>
                        <a:ea typeface="微软雅黑" panose="020B0503020204020204" pitchFamily="82" charset="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701988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zh-CN" sz="1600" kern="100"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  <a:cs typeface="Times New Roman" panose="02020603050405020304" pitchFamily="18" charset="0"/>
                        </a:rPr>
                        <a:t>张敏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zh-CN" sz="1600" kern="100"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  <a:cs typeface="Times New Roman" panose="02020603050405020304" pitchFamily="18" charset="0"/>
                        </a:rPr>
                        <a:t>女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600" kern="100"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  <a:cs typeface="Times New Roman" panose="02020603050405020304" pitchFamily="18" charset="0"/>
                        </a:rPr>
                        <a:t>18</a:t>
                      </a:r>
                      <a:endParaRPr lang="zh-CN" sz="1600" kern="100">
                        <a:effectLst/>
                        <a:latin typeface="微软雅黑" panose="020B0503020204020204" pitchFamily="82" charset="2"/>
                        <a:ea typeface="微软雅黑" panose="020B0503020204020204" pitchFamily="82" charset="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600" kern="100"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  <a:cs typeface="Times New Roman" panose="02020603050405020304" pitchFamily="18" charset="0"/>
                        </a:rPr>
                        <a:t>CS</a:t>
                      </a:r>
                      <a:endParaRPr lang="zh-CN" sz="1600" kern="100">
                        <a:effectLst/>
                        <a:latin typeface="微软雅黑" panose="020B0503020204020204" pitchFamily="82" charset="2"/>
                        <a:ea typeface="微软雅黑" panose="020B0503020204020204" pitchFamily="82" charset="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52394893"/>
                  </a:ext>
                </a:extLst>
              </a:tr>
              <a:tr h="343099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600" kern="100"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  <a:cs typeface="Times New Roman" panose="02020603050405020304" pitchFamily="18" charset="0"/>
                        </a:rPr>
                        <a:t>2021310723</a:t>
                      </a:r>
                      <a:endParaRPr lang="zh-CN" sz="1600" kern="100">
                        <a:effectLst/>
                        <a:latin typeface="微软雅黑" panose="020B0503020204020204" pitchFamily="82" charset="2"/>
                        <a:ea typeface="微软雅黑" panose="020B0503020204020204" pitchFamily="82" charset="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701988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zh-CN" sz="1600" kern="100"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  <a:cs typeface="Times New Roman" panose="02020603050405020304" pitchFamily="18" charset="0"/>
                        </a:rPr>
                        <a:t>王勇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zh-CN" sz="1600" kern="100"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  <a:cs typeface="Times New Roman" panose="02020603050405020304" pitchFamily="18" charset="0"/>
                        </a:rPr>
                        <a:t>男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600" kern="100"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  <a:cs typeface="Times New Roman" panose="02020603050405020304" pitchFamily="18" charset="0"/>
                        </a:rPr>
                        <a:t>18</a:t>
                      </a:r>
                      <a:endParaRPr lang="zh-CN" sz="1600" kern="100">
                        <a:effectLst/>
                        <a:latin typeface="微软雅黑" panose="020B0503020204020204" pitchFamily="82" charset="2"/>
                        <a:ea typeface="微软雅黑" panose="020B0503020204020204" pitchFamily="82" charset="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600" kern="100"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  <a:cs typeface="Times New Roman" panose="02020603050405020304" pitchFamily="18" charset="0"/>
                        </a:rPr>
                        <a:t>MA</a:t>
                      </a:r>
                      <a:endParaRPr lang="zh-CN" sz="1600" kern="100">
                        <a:effectLst/>
                        <a:latin typeface="微软雅黑" panose="020B0503020204020204" pitchFamily="82" charset="2"/>
                        <a:ea typeface="微软雅黑" panose="020B0503020204020204" pitchFamily="82" charset="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90825070"/>
                  </a:ext>
                </a:extLst>
              </a:tr>
              <a:tr h="343099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600" kern="100"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  <a:cs typeface="Times New Roman" panose="02020603050405020304" pitchFamily="18" charset="0"/>
                        </a:rPr>
                        <a:t>2021310724</a:t>
                      </a:r>
                      <a:endParaRPr lang="zh-CN" sz="1600" kern="100">
                        <a:effectLst/>
                        <a:latin typeface="微软雅黑" panose="020B0503020204020204" pitchFamily="82" charset="2"/>
                        <a:ea typeface="微软雅黑" panose="020B0503020204020204" pitchFamily="82" charset="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701988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zh-CN" sz="1600" kern="100"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  <a:cs typeface="Times New Roman" panose="02020603050405020304" pitchFamily="18" charset="0"/>
                        </a:rPr>
                        <a:t>刘佳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zh-CN" sz="1600" kern="100"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  <a:cs typeface="Times New Roman" panose="02020603050405020304" pitchFamily="18" charset="0"/>
                        </a:rPr>
                        <a:t>女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600" kern="100"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  <a:cs typeface="Times New Roman" panose="02020603050405020304" pitchFamily="18" charset="0"/>
                        </a:rPr>
                        <a:t>17</a:t>
                      </a:r>
                      <a:endParaRPr lang="zh-CN" sz="1600" kern="100">
                        <a:effectLst/>
                        <a:latin typeface="微软雅黑" panose="020B0503020204020204" pitchFamily="82" charset="2"/>
                        <a:ea typeface="微软雅黑" panose="020B0503020204020204" pitchFamily="82" charset="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600" kern="100"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  <a:cs typeface="Times New Roman" panose="02020603050405020304" pitchFamily="18" charset="0"/>
                        </a:rPr>
                        <a:t>MA</a:t>
                      </a:r>
                      <a:endParaRPr lang="zh-CN" sz="1600" kern="100">
                        <a:effectLst/>
                        <a:latin typeface="微软雅黑" panose="020B0503020204020204" pitchFamily="82" charset="2"/>
                        <a:ea typeface="微软雅黑" panose="020B0503020204020204" pitchFamily="82" charset="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28913607"/>
                  </a:ext>
                </a:extLst>
              </a:tr>
              <a:tr h="343099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600" kern="100" dirty="0"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  <a:cs typeface="Times New Roman" panose="02020603050405020304" pitchFamily="18" charset="0"/>
                        </a:rPr>
                        <a:t>2021310725</a:t>
                      </a:r>
                      <a:endParaRPr lang="zh-CN" sz="1600" kern="100" dirty="0">
                        <a:effectLst/>
                        <a:latin typeface="微软雅黑" panose="020B0503020204020204" pitchFamily="82" charset="2"/>
                        <a:ea typeface="微软雅黑" panose="020B0503020204020204" pitchFamily="82" charset="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701988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zh-CN" sz="1600" kern="100"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  <a:cs typeface="Times New Roman" panose="02020603050405020304" pitchFamily="18" charset="0"/>
                        </a:rPr>
                        <a:t>李博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zh-CN" sz="1600" kern="100"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  <a:cs typeface="Times New Roman" panose="02020603050405020304" pitchFamily="18" charset="0"/>
                        </a:rPr>
                        <a:t>男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600" kern="100"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  <a:cs typeface="Times New Roman" panose="02020603050405020304" pitchFamily="18" charset="0"/>
                        </a:rPr>
                        <a:t>17</a:t>
                      </a:r>
                      <a:endParaRPr lang="zh-CN" sz="1600" kern="100">
                        <a:effectLst/>
                        <a:latin typeface="微软雅黑" panose="020B0503020204020204" pitchFamily="82" charset="2"/>
                        <a:ea typeface="微软雅黑" panose="020B0503020204020204" pitchFamily="82" charset="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600" kern="100" dirty="0"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  <a:cs typeface="Times New Roman" panose="02020603050405020304" pitchFamily="18" charset="0"/>
                        </a:rPr>
                        <a:t>CS</a:t>
                      </a:r>
                      <a:endParaRPr lang="zh-CN" sz="1600" kern="100" dirty="0">
                        <a:effectLst/>
                        <a:latin typeface="微软雅黑" panose="020B0503020204020204" pitchFamily="82" charset="2"/>
                        <a:ea typeface="微软雅黑" panose="020B0503020204020204" pitchFamily="82" charset="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33493518"/>
                  </a:ext>
                </a:extLst>
              </a:tr>
            </a:tbl>
          </a:graphicData>
        </a:graphic>
      </p:graphicFrame>
      <p:pic>
        <p:nvPicPr>
          <p:cNvPr id="9" name="图片 8">
            <a:extLst>
              <a:ext uri="{FF2B5EF4-FFF2-40B4-BE49-F238E27FC236}">
                <a16:creationId xmlns:a16="http://schemas.microsoft.com/office/drawing/2014/main" id="{B782FBF2-33E1-5E80-7794-C9E7DE016C8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924"/>
          <a:stretch/>
        </p:blipFill>
        <p:spPr>
          <a:xfrm>
            <a:off x="8108038" y="3485854"/>
            <a:ext cx="3247518" cy="101101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7B4CB9A2-CC73-3207-2D7B-8B36E9EB08C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825"/>
          <a:stretch/>
        </p:blipFill>
        <p:spPr>
          <a:xfrm>
            <a:off x="8150210" y="4627944"/>
            <a:ext cx="3134146" cy="1038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412321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18">
            <a:extLst>
              <a:ext uri="{FF2B5EF4-FFF2-40B4-BE49-F238E27FC236}">
                <a16:creationId xmlns:a16="http://schemas.microsoft.com/office/drawing/2014/main" id="{3874B106-9CC3-4AFA-AFC7-1ACB7B758F94}"/>
              </a:ext>
            </a:extLst>
          </p:cNvPr>
          <p:cNvSpPr/>
          <p:nvPr/>
        </p:nvSpPr>
        <p:spPr>
          <a:xfrm>
            <a:off x="509282" y="3404692"/>
            <a:ext cx="11015431" cy="2690448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dirty="0">
              <a:latin typeface="微软雅黑" panose="020B0503020204020204" pitchFamily="82" charset="2"/>
              <a:ea typeface="微软雅黑" panose="020B0503020204020204" pitchFamily="82" charset="2"/>
              <a:sym typeface="+mn-ea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B21B6BB-7888-BFE4-EA64-C32C052960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/>
              <a:pPr/>
              <a:t>104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C669F47-109F-FB5F-48CC-A388D9B3E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位图索引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902DB4D-15A2-762A-00E5-C1624C3AA8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702" y="1015423"/>
            <a:ext cx="10874188" cy="2303462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支持多列上有条件限制的查询</a:t>
            </a:r>
            <a:endParaRPr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每条数据占用</a:t>
            </a:r>
            <a:r>
              <a:rPr lang="en-US" altLang="zh-CN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1bit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1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表示满足条件，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0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表示不满足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位图之间进行运算得到满足所有条件的数据位图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61A679-C398-ABA9-F1D9-DC8E2F28A0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数据库系统</a:t>
            </a:r>
            <a:r>
              <a:rPr lang="en-US" altLang="zh-CN"/>
              <a:t>—</a:t>
            </a:r>
            <a:r>
              <a:rPr lang="zh-CN" altLang="en-US"/>
              <a:t>索引</a:t>
            </a:r>
            <a:endParaRPr lang="en-US" altLang="zh-CN" sz="1200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D0FCD5E4-E053-0132-19DE-51C5A7A83F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7941248"/>
              </p:ext>
            </p:extLst>
          </p:nvPr>
        </p:nvGraphicFramePr>
        <p:xfrm>
          <a:off x="788894" y="3735744"/>
          <a:ext cx="6784488" cy="2038139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1763759">
                  <a:extLst>
                    <a:ext uri="{9D8B030D-6E8A-4147-A177-3AD203B41FA5}">
                      <a16:colId xmlns:a16="http://schemas.microsoft.com/office/drawing/2014/main" val="1172510235"/>
                    </a:ext>
                  </a:extLst>
                </a:gridCol>
                <a:gridCol w="1326721">
                  <a:extLst>
                    <a:ext uri="{9D8B030D-6E8A-4147-A177-3AD203B41FA5}">
                      <a16:colId xmlns:a16="http://schemas.microsoft.com/office/drawing/2014/main" val="856091038"/>
                    </a:ext>
                  </a:extLst>
                </a:gridCol>
                <a:gridCol w="1348834">
                  <a:extLst>
                    <a:ext uri="{9D8B030D-6E8A-4147-A177-3AD203B41FA5}">
                      <a16:colId xmlns:a16="http://schemas.microsoft.com/office/drawing/2014/main" val="2881541197"/>
                    </a:ext>
                  </a:extLst>
                </a:gridCol>
                <a:gridCol w="1014386">
                  <a:extLst>
                    <a:ext uri="{9D8B030D-6E8A-4147-A177-3AD203B41FA5}">
                      <a16:colId xmlns:a16="http://schemas.microsoft.com/office/drawing/2014/main" val="1472343379"/>
                    </a:ext>
                  </a:extLst>
                </a:gridCol>
                <a:gridCol w="1330788">
                  <a:extLst>
                    <a:ext uri="{9D8B030D-6E8A-4147-A177-3AD203B41FA5}">
                      <a16:colId xmlns:a16="http://schemas.microsoft.com/office/drawing/2014/main" val="3020498735"/>
                    </a:ext>
                  </a:extLst>
                </a:gridCol>
              </a:tblGrid>
              <a:tr h="343099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600" kern="100" dirty="0" err="1"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  <a:cs typeface="Times New Roman" panose="02020603050405020304" pitchFamily="18" charset="0"/>
                        </a:rPr>
                        <a:t>Sno</a:t>
                      </a:r>
                      <a:endParaRPr lang="zh-CN" sz="1600" kern="100" dirty="0">
                        <a:effectLst/>
                        <a:latin typeface="微软雅黑" panose="020B0503020204020204" pitchFamily="82" charset="2"/>
                        <a:ea typeface="微软雅黑" panose="020B0503020204020204" pitchFamily="82" charset="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1988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600" kern="100" dirty="0" err="1"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  <a:cs typeface="Times New Roman" panose="02020603050405020304" pitchFamily="18" charset="0"/>
                        </a:rPr>
                        <a:t>Sname</a:t>
                      </a:r>
                      <a:endParaRPr lang="zh-CN" sz="1600" kern="100" dirty="0">
                        <a:effectLst/>
                        <a:latin typeface="微软雅黑" panose="020B0503020204020204" pitchFamily="82" charset="2"/>
                        <a:ea typeface="微软雅黑" panose="020B0503020204020204" pitchFamily="82" charset="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1988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600" kern="100" dirty="0" err="1"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  <a:cs typeface="Times New Roman" panose="02020603050405020304" pitchFamily="18" charset="0"/>
                        </a:rPr>
                        <a:t>Sgender</a:t>
                      </a:r>
                      <a:endParaRPr lang="zh-CN" sz="1600" kern="100" dirty="0">
                        <a:effectLst/>
                        <a:latin typeface="微软雅黑" panose="020B0503020204020204" pitchFamily="82" charset="2"/>
                        <a:ea typeface="微软雅黑" panose="020B0503020204020204" pitchFamily="82" charset="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1988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600" kern="100" dirty="0"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  <a:cs typeface="Times New Roman" panose="02020603050405020304" pitchFamily="18" charset="0"/>
                        </a:rPr>
                        <a:t>Sage</a:t>
                      </a:r>
                      <a:endParaRPr lang="zh-CN" sz="1600" kern="100" dirty="0">
                        <a:effectLst/>
                        <a:latin typeface="微软雅黑" panose="020B0503020204020204" pitchFamily="82" charset="2"/>
                        <a:ea typeface="微软雅黑" panose="020B0503020204020204" pitchFamily="82" charset="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1988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600" kern="100" dirty="0" err="1"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  <a:cs typeface="Times New Roman" panose="02020603050405020304" pitchFamily="18" charset="0"/>
                        </a:rPr>
                        <a:t>Sdept</a:t>
                      </a:r>
                      <a:endParaRPr lang="zh-CN" sz="1600" kern="100" dirty="0">
                        <a:effectLst/>
                        <a:latin typeface="微软雅黑" panose="020B0503020204020204" pitchFamily="82" charset="2"/>
                        <a:ea typeface="微软雅黑" panose="020B0503020204020204" pitchFamily="82" charset="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19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9957621"/>
                  </a:ext>
                </a:extLst>
              </a:tr>
              <a:tr h="343099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600" kern="100"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  <a:cs typeface="Times New Roman" panose="02020603050405020304" pitchFamily="18" charset="0"/>
                        </a:rPr>
                        <a:t>2021310721</a:t>
                      </a:r>
                      <a:endParaRPr lang="zh-CN" sz="1600" kern="100">
                        <a:effectLst/>
                        <a:latin typeface="微软雅黑" panose="020B0503020204020204" pitchFamily="82" charset="2"/>
                        <a:ea typeface="微软雅黑" panose="020B0503020204020204" pitchFamily="82" charset="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1988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zh-CN" sz="1600" kern="100"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  <a:cs typeface="Times New Roman" panose="02020603050405020304" pitchFamily="18" charset="0"/>
                        </a:rPr>
                        <a:t>赵宇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zh-CN" sz="1600" kern="100"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  <a:cs typeface="Times New Roman" panose="02020603050405020304" pitchFamily="18" charset="0"/>
                        </a:rPr>
                        <a:t>男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600" kern="100"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  <a:cs typeface="Times New Roman" panose="02020603050405020304" pitchFamily="18" charset="0"/>
                        </a:rPr>
                        <a:t>19</a:t>
                      </a:r>
                      <a:endParaRPr lang="zh-CN" sz="1600" kern="100">
                        <a:effectLst/>
                        <a:latin typeface="微软雅黑" panose="020B0503020204020204" pitchFamily="82" charset="2"/>
                        <a:ea typeface="微软雅黑" panose="020B0503020204020204" pitchFamily="82" charset="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600" kern="100"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  <a:cs typeface="Times New Roman" panose="02020603050405020304" pitchFamily="18" charset="0"/>
                        </a:rPr>
                        <a:t>CS</a:t>
                      </a:r>
                      <a:endParaRPr lang="zh-CN" sz="1600" kern="100">
                        <a:effectLst/>
                        <a:latin typeface="微软雅黑" panose="020B0503020204020204" pitchFamily="82" charset="2"/>
                        <a:ea typeface="微软雅黑" panose="020B0503020204020204" pitchFamily="82" charset="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8766443"/>
                  </a:ext>
                </a:extLst>
              </a:tr>
              <a:tr h="343099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600" kern="100"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  <a:cs typeface="Times New Roman" panose="02020603050405020304" pitchFamily="18" charset="0"/>
                        </a:rPr>
                        <a:t>2021310722</a:t>
                      </a:r>
                      <a:endParaRPr lang="zh-CN" sz="1600" kern="100">
                        <a:effectLst/>
                        <a:latin typeface="微软雅黑" panose="020B0503020204020204" pitchFamily="82" charset="2"/>
                        <a:ea typeface="微软雅黑" panose="020B0503020204020204" pitchFamily="82" charset="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1988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zh-CN" sz="1600" kern="100"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  <a:cs typeface="Times New Roman" panose="02020603050405020304" pitchFamily="18" charset="0"/>
                        </a:rPr>
                        <a:t>张敏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zh-CN" sz="1600" kern="100"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  <a:cs typeface="Times New Roman" panose="02020603050405020304" pitchFamily="18" charset="0"/>
                        </a:rPr>
                        <a:t>女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600" kern="100"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  <a:cs typeface="Times New Roman" panose="02020603050405020304" pitchFamily="18" charset="0"/>
                        </a:rPr>
                        <a:t>18</a:t>
                      </a:r>
                      <a:endParaRPr lang="zh-CN" sz="1600" kern="100">
                        <a:effectLst/>
                        <a:latin typeface="微软雅黑" panose="020B0503020204020204" pitchFamily="82" charset="2"/>
                        <a:ea typeface="微软雅黑" panose="020B0503020204020204" pitchFamily="82" charset="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600" kern="100"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  <a:cs typeface="Times New Roman" panose="02020603050405020304" pitchFamily="18" charset="0"/>
                        </a:rPr>
                        <a:t>CS</a:t>
                      </a:r>
                      <a:endParaRPr lang="zh-CN" sz="1600" kern="100">
                        <a:effectLst/>
                        <a:latin typeface="微软雅黑" panose="020B0503020204020204" pitchFamily="82" charset="2"/>
                        <a:ea typeface="微软雅黑" panose="020B0503020204020204" pitchFamily="82" charset="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2394893"/>
                  </a:ext>
                </a:extLst>
              </a:tr>
              <a:tr h="343099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600" kern="100" dirty="0"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  <a:cs typeface="Times New Roman" panose="02020603050405020304" pitchFamily="18" charset="0"/>
                        </a:rPr>
                        <a:t>2021310723</a:t>
                      </a:r>
                      <a:endParaRPr lang="zh-CN" sz="1600" kern="100" dirty="0">
                        <a:effectLst/>
                        <a:latin typeface="微软雅黑" panose="020B0503020204020204" pitchFamily="82" charset="2"/>
                        <a:ea typeface="微软雅黑" panose="020B0503020204020204" pitchFamily="82" charset="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1988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zh-CN" sz="1600" kern="100"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  <a:cs typeface="Times New Roman" panose="02020603050405020304" pitchFamily="18" charset="0"/>
                        </a:rPr>
                        <a:t>王勇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zh-CN" sz="1600" kern="100"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  <a:cs typeface="Times New Roman" panose="02020603050405020304" pitchFamily="18" charset="0"/>
                        </a:rPr>
                        <a:t>男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600" kern="100"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  <a:cs typeface="Times New Roman" panose="02020603050405020304" pitchFamily="18" charset="0"/>
                        </a:rPr>
                        <a:t>18</a:t>
                      </a:r>
                      <a:endParaRPr lang="zh-CN" sz="1600" kern="100">
                        <a:effectLst/>
                        <a:latin typeface="微软雅黑" panose="020B0503020204020204" pitchFamily="82" charset="2"/>
                        <a:ea typeface="微软雅黑" panose="020B0503020204020204" pitchFamily="82" charset="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600" kern="100"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  <a:cs typeface="Times New Roman" panose="02020603050405020304" pitchFamily="18" charset="0"/>
                        </a:rPr>
                        <a:t>MA</a:t>
                      </a:r>
                      <a:endParaRPr lang="zh-CN" sz="1600" kern="100">
                        <a:effectLst/>
                        <a:latin typeface="微软雅黑" panose="020B0503020204020204" pitchFamily="82" charset="2"/>
                        <a:ea typeface="微软雅黑" panose="020B0503020204020204" pitchFamily="82" charset="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08250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600" kern="100"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  <a:cs typeface="Times New Roman" panose="02020603050405020304" pitchFamily="18" charset="0"/>
                        </a:rPr>
                        <a:t>2021310724</a:t>
                      </a:r>
                      <a:endParaRPr lang="zh-CN" sz="1600" kern="100">
                        <a:effectLst/>
                        <a:latin typeface="微软雅黑" panose="020B0503020204020204" pitchFamily="82" charset="2"/>
                        <a:ea typeface="微软雅黑" panose="020B0503020204020204" pitchFamily="82" charset="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1988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zh-CN" sz="1600" kern="100"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  <a:cs typeface="Times New Roman" panose="02020603050405020304" pitchFamily="18" charset="0"/>
                        </a:rPr>
                        <a:t>刘佳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zh-CN" sz="1600" kern="100"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  <a:cs typeface="Times New Roman" panose="02020603050405020304" pitchFamily="18" charset="0"/>
                        </a:rPr>
                        <a:t>女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600" kern="100"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  <a:cs typeface="Times New Roman" panose="02020603050405020304" pitchFamily="18" charset="0"/>
                        </a:rPr>
                        <a:t>17</a:t>
                      </a:r>
                      <a:endParaRPr lang="zh-CN" sz="1600" kern="100">
                        <a:effectLst/>
                        <a:latin typeface="微软雅黑" panose="020B0503020204020204" pitchFamily="82" charset="2"/>
                        <a:ea typeface="微软雅黑" panose="020B0503020204020204" pitchFamily="82" charset="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600" kern="100"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  <a:cs typeface="Times New Roman" panose="02020603050405020304" pitchFamily="18" charset="0"/>
                        </a:rPr>
                        <a:t>MA</a:t>
                      </a:r>
                      <a:endParaRPr lang="zh-CN" sz="1600" kern="100">
                        <a:effectLst/>
                        <a:latin typeface="微软雅黑" panose="020B0503020204020204" pitchFamily="82" charset="2"/>
                        <a:ea typeface="微软雅黑" panose="020B0503020204020204" pitchFamily="82" charset="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8913607"/>
                  </a:ext>
                </a:extLst>
              </a:tr>
              <a:tr h="343099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600" kern="100" dirty="0"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  <a:cs typeface="Times New Roman" panose="02020603050405020304" pitchFamily="18" charset="0"/>
                        </a:rPr>
                        <a:t>2021310725</a:t>
                      </a:r>
                      <a:endParaRPr lang="zh-CN" sz="1600" kern="100" dirty="0">
                        <a:effectLst/>
                        <a:latin typeface="微软雅黑" panose="020B0503020204020204" pitchFamily="82" charset="2"/>
                        <a:ea typeface="微软雅黑" panose="020B0503020204020204" pitchFamily="82" charset="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1988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zh-CN" sz="1600" kern="100"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  <a:cs typeface="Times New Roman" panose="02020603050405020304" pitchFamily="18" charset="0"/>
                        </a:rPr>
                        <a:t>李博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zh-CN" sz="1600" kern="100"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  <a:cs typeface="Times New Roman" panose="02020603050405020304" pitchFamily="18" charset="0"/>
                        </a:rPr>
                        <a:t>男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600" kern="100"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  <a:cs typeface="Times New Roman" panose="02020603050405020304" pitchFamily="18" charset="0"/>
                        </a:rPr>
                        <a:t>17</a:t>
                      </a:r>
                      <a:endParaRPr lang="zh-CN" sz="1600" kern="100">
                        <a:effectLst/>
                        <a:latin typeface="微软雅黑" panose="020B0503020204020204" pitchFamily="82" charset="2"/>
                        <a:ea typeface="微软雅黑" panose="020B0503020204020204" pitchFamily="82" charset="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600" kern="100" dirty="0"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  <a:cs typeface="Times New Roman" panose="02020603050405020304" pitchFamily="18" charset="0"/>
                        </a:rPr>
                        <a:t>CS</a:t>
                      </a:r>
                      <a:endParaRPr lang="zh-CN" sz="1600" kern="100" dirty="0">
                        <a:effectLst/>
                        <a:latin typeface="微软雅黑" panose="020B0503020204020204" pitchFamily="82" charset="2"/>
                        <a:ea typeface="微软雅黑" panose="020B0503020204020204" pitchFamily="82" charset="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3493518"/>
                  </a:ext>
                </a:extLst>
              </a:tr>
            </a:tbl>
          </a:graphicData>
        </a:graphic>
      </p:graphicFrame>
      <p:pic>
        <p:nvPicPr>
          <p:cNvPr id="7" name="图片 6">
            <a:extLst>
              <a:ext uri="{FF2B5EF4-FFF2-40B4-BE49-F238E27FC236}">
                <a16:creationId xmlns:a16="http://schemas.microsoft.com/office/drawing/2014/main" id="{3F7A8361-E7DF-71F7-04CB-A98E21BDACD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924"/>
          <a:stretch/>
        </p:blipFill>
        <p:spPr>
          <a:xfrm>
            <a:off x="7777735" y="3653453"/>
            <a:ext cx="3337755" cy="103910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5CB33E8-A747-1DCD-AB8E-51D819FFE59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825"/>
          <a:stretch/>
        </p:blipFill>
        <p:spPr>
          <a:xfrm>
            <a:off x="7809626" y="4790194"/>
            <a:ext cx="3221232" cy="1067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504491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B21B6BB-7888-BFE4-EA64-C32C052960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105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C669F47-109F-FB5F-48CC-A388D9B3E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位图索引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902DB4D-15A2-762A-00E5-C1624C3AA8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3268" y="1288593"/>
            <a:ext cx="10912182" cy="67847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查询举例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61A679-C398-ABA9-F1D9-DC8E2F28A0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D0FCD5E4-E053-0132-19DE-51C5A7A83F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8810025"/>
              </p:ext>
            </p:extLst>
          </p:nvPr>
        </p:nvGraphicFramePr>
        <p:xfrm>
          <a:off x="985032" y="2718647"/>
          <a:ext cx="7266076" cy="2038139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1888958">
                  <a:extLst>
                    <a:ext uri="{9D8B030D-6E8A-4147-A177-3AD203B41FA5}">
                      <a16:colId xmlns:a16="http://schemas.microsoft.com/office/drawing/2014/main" val="1172510235"/>
                    </a:ext>
                  </a:extLst>
                </a:gridCol>
                <a:gridCol w="1420896">
                  <a:extLst>
                    <a:ext uri="{9D8B030D-6E8A-4147-A177-3AD203B41FA5}">
                      <a16:colId xmlns:a16="http://schemas.microsoft.com/office/drawing/2014/main" val="856091038"/>
                    </a:ext>
                  </a:extLst>
                </a:gridCol>
                <a:gridCol w="1444578">
                  <a:extLst>
                    <a:ext uri="{9D8B030D-6E8A-4147-A177-3AD203B41FA5}">
                      <a16:colId xmlns:a16="http://schemas.microsoft.com/office/drawing/2014/main" val="2881541197"/>
                    </a:ext>
                  </a:extLst>
                </a:gridCol>
                <a:gridCol w="1086391">
                  <a:extLst>
                    <a:ext uri="{9D8B030D-6E8A-4147-A177-3AD203B41FA5}">
                      <a16:colId xmlns:a16="http://schemas.microsoft.com/office/drawing/2014/main" val="1472343379"/>
                    </a:ext>
                  </a:extLst>
                </a:gridCol>
                <a:gridCol w="1425253">
                  <a:extLst>
                    <a:ext uri="{9D8B030D-6E8A-4147-A177-3AD203B41FA5}">
                      <a16:colId xmlns:a16="http://schemas.microsoft.com/office/drawing/2014/main" val="3020498735"/>
                    </a:ext>
                  </a:extLst>
                </a:gridCol>
              </a:tblGrid>
              <a:tr h="315662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600" kern="100" dirty="0" err="1"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Sno</a:t>
                      </a:r>
                      <a:endParaRPr lang="zh-CN" sz="1600" kern="100" dirty="0">
                        <a:effectLst/>
                        <a:latin typeface="微软雅黑" panose="020B0503020204020204" pitchFamily="82" charset="2"/>
                        <a:ea typeface="微软雅黑" panose="020B0503020204020204" pitchFamily="82" charset="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600" kern="100"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Sname</a:t>
                      </a:r>
                      <a:endParaRPr lang="zh-CN" sz="1600" kern="100">
                        <a:effectLst/>
                        <a:latin typeface="微软雅黑" panose="020B0503020204020204" pitchFamily="82" charset="2"/>
                        <a:ea typeface="微软雅黑" panose="020B0503020204020204" pitchFamily="82" charset="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600" kern="100"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Sgender</a:t>
                      </a:r>
                      <a:endParaRPr lang="zh-CN" sz="1600" kern="100">
                        <a:effectLst/>
                        <a:latin typeface="微软雅黑" panose="020B0503020204020204" pitchFamily="82" charset="2"/>
                        <a:ea typeface="微软雅黑" panose="020B0503020204020204" pitchFamily="82" charset="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600" kern="100"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Sage</a:t>
                      </a:r>
                      <a:endParaRPr lang="zh-CN" sz="1600" kern="100">
                        <a:effectLst/>
                        <a:latin typeface="微软雅黑" panose="020B0503020204020204" pitchFamily="82" charset="2"/>
                        <a:ea typeface="微软雅黑" panose="020B0503020204020204" pitchFamily="82" charset="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600" kern="100"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Sdept</a:t>
                      </a:r>
                      <a:endParaRPr lang="zh-CN" sz="1600" kern="100">
                        <a:effectLst/>
                        <a:latin typeface="微软雅黑" panose="020B0503020204020204" pitchFamily="82" charset="2"/>
                        <a:ea typeface="微软雅黑" panose="020B0503020204020204" pitchFamily="82" charset="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29957621"/>
                  </a:ext>
                </a:extLst>
              </a:tr>
              <a:tr h="343099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600" kern="100"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2021310721</a:t>
                      </a:r>
                      <a:endParaRPr lang="zh-CN" sz="1600" kern="100">
                        <a:effectLst/>
                        <a:latin typeface="微软雅黑" panose="020B0503020204020204" pitchFamily="82" charset="2"/>
                        <a:ea typeface="微软雅黑" panose="020B0503020204020204" pitchFamily="82" charset="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zh-CN" sz="1600" kern="100"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赵宇</a:t>
                      </a:r>
                      <a:endParaRPr lang="zh-CN" sz="1600" kern="100">
                        <a:effectLst/>
                        <a:latin typeface="微软雅黑" panose="020B0503020204020204" pitchFamily="82" charset="2"/>
                        <a:ea typeface="微软雅黑" panose="020B0503020204020204" pitchFamily="82" charset="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zh-CN" sz="1600" kern="100"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男</a:t>
                      </a:r>
                      <a:endParaRPr lang="zh-CN" sz="1600" kern="100">
                        <a:effectLst/>
                        <a:latin typeface="微软雅黑" panose="020B0503020204020204" pitchFamily="82" charset="2"/>
                        <a:ea typeface="微软雅黑" panose="020B0503020204020204" pitchFamily="82" charset="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600" kern="100"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19</a:t>
                      </a:r>
                      <a:endParaRPr lang="zh-CN" sz="1600" kern="100">
                        <a:effectLst/>
                        <a:latin typeface="微软雅黑" panose="020B0503020204020204" pitchFamily="82" charset="2"/>
                        <a:ea typeface="微软雅黑" panose="020B0503020204020204" pitchFamily="82" charset="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600" kern="100"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CS</a:t>
                      </a:r>
                      <a:endParaRPr lang="zh-CN" sz="1600" kern="100">
                        <a:effectLst/>
                        <a:latin typeface="微软雅黑" panose="020B0503020204020204" pitchFamily="82" charset="2"/>
                        <a:ea typeface="微软雅黑" panose="020B0503020204020204" pitchFamily="82" charset="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98766443"/>
                  </a:ext>
                </a:extLst>
              </a:tr>
              <a:tr h="343099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600" kern="100"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2021310722</a:t>
                      </a:r>
                      <a:endParaRPr lang="zh-CN" sz="1600" kern="100">
                        <a:effectLst/>
                        <a:latin typeface="微软雅黑" panose="020B0503020204020204" pitchFamily="82" charset="2"/>
                        <a:ea typeface="微软雅黑" panose="020B0503020204020204" pitchFamily="82" charset="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zh-CN" sz="1600" kern="100"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张敏</a:t>
                      </a:r>
                      <a:endParaRPr lang="zh-CN" sz="1600" kern="100">
                        <a:effectLst/>
                        <a:latin typeface="微软雅黑" panose="020B0503020204020204" pitchFamily="82" charset="2"/>
                        <a:ea typeface="微软雅黑" panose="020B0503020204020204" pitchFamily="82" charset="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zh-CN" sz="1600" kern="100"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女</a:t>
                      </a:r>
                      <a:endParaRPr lang="zh-CN" sz="1600" kern="100">
                        <a:effectLst/>
                        <a:latin typeface="微软雅黑" panose="020B0503020204020204" pitchFamily="82" charset="2"/>
                        <a:ea typeface="微软雅黑" panose="020B0503020204020204" pitchFamily="82" charset="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600" kern="100"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18</a:t>
                      </a:r>
                      <a:endParaRPr lang="zh-CN" sz="1600" kern="100">
                        <a:effectLst/>
                        <a:latin typeface="微软雅黑" panose="020B0503020204020204" pitchFamily="82" charset="2"/>
                        <a:ea typeface="微软雅黑" panose="020B0503020204020204" pitchFamily="82" charset="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600" kern="100" dirty="0"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CS</a:t>
                      </a:r>
                      <a:endParaRPr lang="zh-CN" sz="1600" kern="100" dirty="0">
                        <a:effectLst/>
                        <a:latin typeface="微软雅黑" panose="020B0503020204020204" pitchFamily="82" charset="2"/>
                        <a:ea typeface="微软雅黑" panose="020B0503020204020204" pitchFamily="82" charset="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52394893"/>
                  </a:ext>
                </a:extLst>
              </a:tr>
              <a:tr h="343099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600" kern="100"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2021310723</a:t>
                      </a:r>
                      <a:endParaRPr lang="zh-CN" sz="1600" kern="100">
                        <a:effectLst/>
                        <a:latin typeface="微软雅黑" panose="020B0503020204020204" pitchFamily="82" charset="2"/>
                        <a:ea typeface="微软雅黑" panose="020B0503020204020204" pitchFamily="82" charset="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zh-CN" sz="1600" kern="100"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王勇</a:t>
                      </a:r>
                      <a:endParaRPr lang="zh-CN" sz="1600" kern="100">
                        <a:effectLst/>
                        <a:latin typeface="微软雅黑" panose="020B0503020204020204" pitchFamily="82" charset="2"/>
                        <a:ea typeface="微软雅黑" panose="020B0503020204020204" pitchFamily="82" charset="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zh-CN" sz="1600" kern="100"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男</a:t>
                      </a:r>
                      <a:endParaRPr lang="zh-CN" sz="1600" kern="100">
                        <a:effectLst/>
                        <a:latin typeface="微软雅黑" panose="020B0503020204020204" pitchFamily="82" charset="2"/>
                        <a:ea typeface="微软雅黑" panose="020B0503020204020204" pitchFamily="82" charset="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600" kern="100" dirty="0"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18</a:t>
                      </a:r>
                      <a:endParaRPr lang="zh-CN" sz="1600" kern="100" dirty="0">
                        <a:effectLst/>
                        <a:latin typeface="微软雅黑" panose="020B0503020204020204" pitchFamily="82" charset="2"/>
                        <a:ea typeface="微软雅黑" panose="020B0503020204020204" pitchFamily="82" charset="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600" kern="100"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MA</a:t>
                      </a:r>
                      <a:endParaRPr lang="zh-CN" sz="1600" kern="100">
                        <a:effectLst/>
                        <a:latin typeface="微软雅黑" panose="020B0503020204020204" pitchFamily="82" charset="2"/>
                        <a:ea typeface="微软雅黑" panose="020B0503020204020204" pitchFamily="82" charset="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90825070"/>
                  </a:ext>
                </a:extLst>
              </a:tr>
              <a:tr h="343099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600" kern="100"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2021310724</a:t>
                      </a:r>
                      <a:endParaRPr lang="zh-CN" sz="1600" kern="100">
                        <a:effectLst/>
                        <a:latin typeface="微软雅黑" panose="020B0503020204020204" pitchFamily="82" charset="2"/>
                        <a:ea typeface="微软雅黑" panose="020B0503020204020204" pitchFamily="82" charset="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zh-CN" sz="1600" kern="100"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刘佳</a:t>
                      </a:r>
                      <a:endParaRPr lang="zh-CN" sz="1600" kern="100">
                        <a:effectLst/>
                        <a:latin typeface="微软雅黑" panose="020B0503020204020204" pitchFamily="82" charset="2"/>
                        <a:ea typeface="微软雅黑" panose="020B0503020204020204" pitchFamily="82" charset="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zh-CN" sz="1600" kern="100"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女</a:t>
                      </a:r>
                      <a:endParaRPr lang="zh-CN" sz="1600" kern="100">
                        <a:effectLst/>
                        <a:latin typeface="微软雅黑" panose="020B0503020204020204" pitchFamily="82" charset="2"/>
                        <a:ea typeface="微软雅黑" panose="020B0503020204020204" pitchFamily="82" charset="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600" kern="100"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17</a:t>
                      </a:r>
                      <a:endParaRPr lang="zh-CN" sz="1600" kern="100">
                        <a:effectLst/>
                        <a:latin typeface="微软雅黑" panose="020B0503020204020204" pitchFamily="82" charset="2"/>
                        <a:ea typeface="微软雅黑" panose="020B0503020204020204" pitchFamily="82" charset="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600" kern="100"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MA</a:t>
                      </a:r>
                      <a:endParaRPr lang="zh-CN" sz="1600" kern="100">
                        <a:effectLst/>
                        <a:latin typeface="微软雅黑" panose="020B0503020204020204" pitchFamily="82" charset="2"/>
                        <a:ea typeface="微软雅黑" panose="020B0503020204020204" pitchFamily="82" charset="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28913607"/>
                  </a:ext>
                </a:extLst>
              </a:tr>
              <a:tr h="343099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600" kern="100"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2021310725</a:t>
                      </a:r>
                      <a:endParaRPr lang="zh-CN" sz="1600" kern="100">
                        <a:effectLst/>
                        <a:latin typeface="微软雅黑" panose="020B0503020204020204" pitchFamily="82" charset="2"/>
                        <a:ea typeface="微软雅黑" panose="020B0503020204020204" pitchFamily="82" charset="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zh-CN" sz="1600" kern="100"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李博</a:t>
                      </a:r>
                      <a:endParaRPr lang="zh-CN" sz="1600" kern="100">
                        <a:effectLst/>
                        <a:latin typeface="微软雅黑" panose="020B0503020204020204" pitchFamily="82" charset="2"/>
                        <a:ea typeface="微软雅黑" panose="020B0503020204020204" pitchFamily="82" charset="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zh-CN" sz="1600" kern="100"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男</a:t>
                      </a:r>
                      <a:endParaRPr lang="zh-CN" sz="1600" kern="100">
                        <a:effectLst/>
                        <a:latin typeface="微软雅黑" panose="020B0503020204020204" pitchFamily="82" charset="2"/>
                        <a:ea typeface="微软雅黑" panose="020B0503020204020204" pitchFamily="82" charset="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600" kern="100"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17</a:t>
                      </a:r>
                      <a:endParaRPr lang="zh-CN" sz="1600" kern="100">
                        <a:effectLst/>
                        <a:latin typeface="微软雅黑" panose="020B0503020204020204" pitchFamily="82" charset="2"/>
                        <a:ea typeface="微软雅黑" panose="020B0503020204020204" pitchFamily="82" charset="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600" kern="100" dirty="0"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CS</a:t>
                      </a:r>
                      <a:endParaRPr lang="zh-CN" sz="1600" kern="100" dirty="0">
                        <a:effectLst/>
                        <a:latin typeface="微软雅黑" panose="020B0503020204020204" pitchFamily="82" charset="2"/>
                        <a:ea typeface="微软雅黑" panose="020B0503020204020204" pitchFamily="82" charset="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33493518"/>
                  </a:ext>
                </a:extLst>
              </a:tr>
            </a:tbl>
          </a:graphicData>
        </a:graphic>
      </p:graphicFrame>
      <p:pic>
        <p:nvPicPr>
          <p:cNvPr id="7" name="图片 6">
            <a:extLst>
              <a:ext uri="{FF2B5EF4-FFF2-40B4-BE49-F238E27FC236}">
                <a16:creationId xmlns:a16="http://schemas.microsoft.com/office/drawing/2014/main" id="{3F7A8361-E7DF-71F7-04CB-A98E21BDACD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924"/>
          <a:stretch/>
        </p:blipFill>
        <p:spPr>
          <a:xfrm>
            <a:off x="8302609" y="2689096"/>
            <a:ext cx="3114117" cy="96948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5CB33E8-A747-1DCD-AB8E-51D819FFE59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825"/>
          <a:stretch/>
        </p:blipFill>
        <p:spPr>
          <a:xfrm>
            <a:off x="8389694" y="3850230"/>
            <a:ext cx="2983486" cy="988454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43D829B9-665B-C6E8-3A77-7AFEDE7BE71D}"/>
              </a:ext>
            </a:extLst>
          </p:cNvPr>
          <p:cNvSpPr txBox="1"/>
          <p:nvPr/>
        </p:nvSpPr>
        <p:spPr>
          <a:xfrm>
            <a:off x="1050551" y="1838931"/>
            <a:ext cx="81590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Select * from Student </a:t>
            </a:r>
            <a:r>
              <a:rPr kumimoji="1" lang="en-US" altLang="zh-CN" sz="2000" dirty="0">
                <a:solidFill>
                  <a:srgbClr val="3B20FF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where </a:t>
            </a:r>
            <a:r>
              <a:rPr kumimoji="1" lang="en-US" altLang="zh-CN" sz="2000" dirty="0" err="1">
                <a:solidFill>
                  <a:srgbClr val="3B20FF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Sgender</a:t>
            </a:r>
            <a:r>
              <a:rPr kumimoji="1" lang="en-US" altLang="zh-CN" sz="2000" dirty="0">
                <a:solidFill>
                  <a:srgbClr val="3B20FF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=“</a:t>
            </a:r>
            <a:r>
              <a:rPr kumimoji="1" lang="zh-CN" altLang="en-US" sz="2000" dirty="0">
                <a:solidFill>
                  <a:srgbClr val="3B20FF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男” </a:t>
            </a:r>
            <a:r>
              <a:rPr kumimoji="1" lang="en-US" altLang="zh-CN" sz="2000" dirty="0">
                <a:solidFill>
                  <a:srgbClr val="3B20FF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AND </a:t>
            </a:r>
            <a:r>
              <a:rPr kumimoji="1" lang="en-US" altLang="zh-CN" sz="2000" dirty="0" err="1">
                <a:solidFill>
                  <a:srgbClr val="3B20FF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Sdept</a:t>
            </a:r>
            <a:r>
              <a:rPr kumimoji="1" lang="en-US" altLang="zh-CN" sz="2000" dirty="0">
                <a:solidFill>
                  <a:srgbClr val="3B20FF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=“CS”</a:t>
            </a:r>
            <a:endParaRPr kumimoji="1" lang="zh-CN" altLang="en-US" sz="2000" dirty="0">
              <a:solidFill>
                <a:srgbClr val="3B20FF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E07723BD-CB08-EFB1-B677-1A72640FC1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5304" y="5129871"/>
            <a:ext cx="3242247" cy="941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355977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18">
            <a:extLst>
              <a:ext uri="{FF2B5EF4-FFF2-40B4-BE49-F238E27FC236}">
                <a16:creationId xmlns:a16="http://schemas.microsoft.com/office/drawing/2014/main" id="{5EE32D71-8EA8-4F51-9A4D-483CE4767E95}"/>
              </a:ext>
            </a:extLst>
          </p:cNvPr>
          <p:cNvSpPr/>
          <p:nvPr/>
        </p:nvSpPr>
        <p:spPr>
          <a:xfrm>
            <a:off x="700854" y="1129553"/>
            <a:ext cx="2897866" cy="5311568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sz="2400" b="1" dirty="0"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</p:txBody>
      </p:sp>
      <p:sp>
        <p:nvSpPr>
          <p:cNvPr id="15" name="Shape18">
            <a:extLst>
              <a:ext uri="{FF2B5EF4-FFF2-40B4-BE49-F238E27FC236}">
                <a16:creationId xmlns:a16="http://schemas.microsoft.com/office/drawing/2014/main" id="{5EE32D71-8EA8-4F51-9A4D-483CE4767E95}"/>
              </a:ext>
            </a:extLst>
          </p:cNvPr>
          <p:cNvSpPr/>
          <p:nvPr/>
        </p:nvSpPr>
        <p:spPr>
          <a:xfrm>
            <a:off x="4158698" y="4429851"/>
            <a:ext cx="7176112" cy="2011270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dirty="0">
              <a:latin typeface="OPPOSans M" panose="00020600040101010101" pitchFamily="18" charset="-122"/>
              <a:ea typeface="OPPOSans M" panose="00020600040101010101" pitchFamily="18" charset="-122"/>
              <a:sym typeface="+mn-ea"/>
            </a:endParaRPr>
          </a:p>
        </p:txBody>
      </p:sp>
      <p:sp>
        <p:nvSpPr>
          <p:cNvPr id="14" name="Shape18">
            <a:extLst>
              <a:ext uri="{FF2B5EF4-FFF2-40B4-BE49-F238E27FC236}">
                <a16:creationId xmlns:a16="http://schemas.microsoft.com/office/drawing/2014/main" id="{5EE32D71-8EA8-4F51-9A4D-483CE4767E95}"/>
              </a:ext>
            </a:extLst>
          </p:cNvPr>
          <p:cNvSpPr/>
          <p:nvPr/>
        </p:nvSpPr>
        <p:spPr>
          <a:xfrm>
            <a:off x="7487322" y="1269769"/>
            <a:ext cx="3847488" cy="3070190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dirty="0">
              <a:latin typeface="OPPOSans M" panose="00020600040101010101" pitchFamily="18" charset="-122"/>
              <a:ea typeface="OPPOSans M" panose="00020600040101010101" pitchFamily="18" charset="-122"/>
              <a:sym typeface="+mn-ea"/>
            </a:endParaRPr>
          </a:p>
        </p:txBody>
      </p:sp>
      <p:sp>
        <p:nvSpPr>
          <p:cNvPr id="13" name="Shape18">
            <a:extLst>
              <a:ext uri="{FF2B5EF4-FFF2-40B4-BE49-F238E27FC236}">
                <a16:creationId xmlns:a16="http://schemas.microsoft.com/office/drawing/2014/main" id="{5EE32D71-8EA8-4F51-9A4D-483CE4767E95}"/>
              </a:ext>
            </a:extLst>
          </p:cNvPr>
          <p:cNvSpPr/>
          <p:nvPr/>
        </p:nvSpPr>
        <p:spPr>
          <a:xfrm>
            <a:off x="4158698" y="1286655"/>
            <a:ext cx="3016653" cy="3070190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dirty="0">
              <a:latin typeface="OPPOSans M" panose="00020600040101010101" pitchFamily="18" charset="-122"/>
              <a:ea typeface="OPPOSans M" panose="00020600040101010101" pitchFamily="18" charset="-122"/>
              <a:sym typeface="+mn-ea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0F4F260-A09A-66D9-2A25-906F8CA074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106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451AB277-C499-6533-1855-55E094182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位图索引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2EEBC7-B3A7-5BC8-F170-48F0584B74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graphicFrame>
        <p:nvGraphicFramePr>
          <p:cNvPr id="6" name="表格 8">
            <a:extLst>
              <a:ext uri="{FF2B5EF4-FFF2-40B4-BE49-F238E27FC236}">
                <a16:creationId xmlns:a16="http://schemas.microsoft.com/office/drawing/2014/main" id="{88FAE65F-3B31-7222-F57E-E941B86851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4925455"/>
              </p:ext>
            </p:extLst>
          </p:nvPr>
        </p:nvGraphicFramePr>
        <p:xfrm>
          <a:off x="857190" y="1231319"/>
          <a:ext cx="2520151" cy="50598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805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6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34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9220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ID</a:t>
                      </a:r>
                      <a:endParaRPr lang="zh-CN" altLang="en-US" sz="1800" dirty="0">
                        <a:latin typeface="微软雅黑" panose="020B0503020204020204" pitchFamily="82" charset="2"/>
                        <a:ea typeface="微软雅黑" panose="020B0503020204020204" pitchFamily="82" charset="2"/>
                      </a:endParaRPr>
                    </a:p>
                  </a:txBody>
                  <a:tcPr marL="91388" marR="91388" marT="45723" marB="45723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19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Age</a:t>
                      </a:r>
                      <a:endParaRPr lang="zh-CN" altLang="en-US" sz="1800" dirty="0">
                        <a:latin typeface="微软雅黑" panose="020B0503020204020204" pitchFamily="82" charset="2"/>
                        <a:ea typeface="微软雅黑" panose="020B0503020204020204" pitchFamily="82" charset="2"/>
                      </a:endParaRPr>
                    </a:p>
                  </a:txBody>
                  <a:tcPr marL="91388" marR="91388" marT="45723" marB="45723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19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Salary</a:t>
                      </a:r>
                      <a:endParaRPr lang="zh-CN" altLang="en-US" sz="1800" dirty="0">
                        <a:latin typeface="微软雅黑" panose="020B0503020204020204" pitchFamily="82" charset="2"/>
                        <a:ea typeface="微软雅黑" panose="020B0503020204020204" pitchFamily="82" charset="2"/>
                      </a:endParaRPr>
                    </a:p>
                  </a:txBody>
                  <a:tcPr marL="91388" marR="91388" marT="45723" marB="45723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19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9220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1</a:t>
                      </a:r>
                      <a:endParaRPr lang="zh-CN" altLang="en-US" sz="1800" dirty="0">
                        <a:latin typeface="微软雅黑" panose="020B0503020204020204" pitchFamily="82" charset="2"/>
                        <a:ea typeface="微软雅黑" panose="020B0503020204020204" pitchFamily="82" charset="2"/>
                      </a:endParaRPr>
                    </a:p>
                  </a:txBody>
                  <a:tcPr marL="91388" marR="91388" marT="45723" marB="45723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25</a:t>
                      </a:r>
                      <a:endParaRPr lang="zh-CN" altLang="en-US" sz="1800" dirty="0">
                        <a:latin typeface="微软雅黑" panose="020B0503020204020204" pitchFamily="82" charset="2"/>
                        <a:ea typeface="微软雅黑" panose="020B0503020204020204" pitchFamily="82" charset="2"/>
                      </a:endParaRPr>
                    </a:p>
                  </a:txBody>
                  <a:tcPr marL="91388" marR="91388" marT="45723" marB="45723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60</a:t>
                      </a:r>
                      <a:endParaRPr lang="zh-CN" altLang="en-US" sz="1800" dirty="0">
                        <a:latin typeface="微软雅黑" panose="020B0503020204020204" pitchFamily="82" charset="2"/>
                        <a:ea typeface="微软雅黑" panose="020B0503020204020204" pitchFamily="82" charset="2"/>
                      </a:endParaRPr>
                    </a:p>
                  </a:txBody>
                  <a:tcPr marL="91388" marR="91388" marT="45723" marB="45723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9220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2</a:t>
                      </a:r>
                      <a:endParaRPr lang="zh-CN" altLang="en-US" sz="1800" dirty="0">
                        <a:latin typeface="微软雅黑" panose="020B0503020204020204" pitchFamily="82" charset="2"/>
                        <a:ea typeface="微软雅黑" panose="020B0503020204020204" pitchFamily="82" charset="2"/>
                      </a:endParaRPr>
                    </a:p>
                  </a:txBody>
                  <a:tcPr marL="91388" marR="91388" marT="45723" marB="45723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45</a:t>
                      </a:r>
                      <a:endParaRPr lang="zh-CN" altLang="en-US" sz="1800" dirty="0">
                        <a:latin typeface="微软雅黑" panose="020B0503020204020204" pitchFamily="82" charset="2"/>
                        <a:ea typeface="微软雅黑" panose="020B0503020204020204" pitchFamily="82" charset="2"/>
                      </a:endParaRPr>
                    </a:p>
                  </a:txBody>
                  <a:tcPr marL="91388" marR="91388" marT="45723" marB="45723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60</a:t>
                      </a:r>
                      <a:endParaRPr lang="zh-CN" altLang="en-US" sz="1800" dirty="0">
                        <a:latin typeface="微软雅黑" panose="020B0503020204020204" pitchFamily="82" charset="2"/>
                        <a:ea typeface="微软雅黑" panose="020B0503020204020204" pitchFamily="82" charset="2"/>
                      </a:endParaRPr>
                    </a:p>
                  </a:txBody>
                  <a:tcPr marL="91388" marR="91388" marT="45723" marB="45723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9220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3</a:t>
                      </a:r>
                      <a:endParaRPr lang="zh-CN" altLang="en-US" sz="1800" dirty="0">
                        <a:latin typeface="微软雅黑" panose="020B0503020204020204" pitchFamily="82" charset="2"/>
                        <a:ea typeface="微软雅黑" panose="020B0503020204020204" pitchFamily="82" charset="2"/>
                      </a:endParaRPr>
                    </a:p>
                  </a:txBody>
                  <a:tcPr marL="91388" marR="91388" marT="45723" marB="45723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50</a:t>
                      </a:r>
                      <a:endParaRPr lang="zh-CN" altLang="en-US" sz="1800" dirty="0">
                        <a:latin typeface="微软雅黑" panose="020B0503020204020204" pitchFamily="82" charset="2"/>
                        <a:ea typeface="微软雅黑" panose="020B0503020204020204" pitchFamily="82" charset="2"/>
                      </a:endParaRPr>
                    </a:p>
                  </a:txBody>
                  <a:tcPr marL="91388" marR="91388" marT="45723" marB="45723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75</a:t>
                      </a:r>
                      <a:endParaRPr lang="zh-CN" altLang="en-US" sz="1800" dirty="0">
                        <a:latin typeface="微软雅黑" panose="020B0503020204020204" pitchFamily="82" charset="2"/>
                        <a:ea typeface="微软雅黑" panose="020B0503020204020204" pitchFamily="82" charset="2"/>
                      </a:endParaRPr>
                    </a:p>
                  </a:txBody>
                  <a:tcPr marL="91388" marR="91388" marT="45723" marB="45723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9220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4</a:t>
                      </a:r>
                      <a:endParaRPr lang="zh-CN" altLang="en-US" sz="1800" dirty="0">
                        <a:latin typeface="微软雅黑" panose="020B0503020204020204" pitchFamily="82" charset="2"/>
                        <a:ea typeface="微软雅黑" panose="020B0503020204020204" pitchFamily="82" charset="2"/>
                      </a:endParaRPr>
                    </a:p>
                  </a:txBody>
                  <a:tcPr marL="91388" marR="91388" marT="45723" marB="45723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50</a:t>
                      </a:r>
                      <a:endParaRPr lang="zh-CN" altLang="en-US" sz="1800" dirty="0">
                        <a:latin typeface="微软雅黑" panose="020B0503020204020204" pitchFamily="82" charset="2"/>
                        <a:ea typeface="微软雅黑" panose="020B0503020204020204" pitchFamily="82" charset="2"/>
                      </a:endParaRPr>
                    </a:p>
                  </a:txBody>
                  <a:tcPr marL="91388" marR="91388" marT="45723" marB="45723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100</a:t>
                      </a:r>
                      <a:endParaRPr lang="zh-CN" altLang="en-US" sz="1800" dirty="0">
                        <a:latin typeface="微软雅黑" panose="020B0503020204020204" pitchFamily="82" charset="2"/>
                        <a:ea typeface="微软雅黑" panose="020B0503020204020204" pitchFamily="82" charset="2"/>
                      </a:endParaRPr>
                    </a:p>
                  </a:txBody>
                  <a:tcPr marL="91388" marR="91388" marT="45723" marB="45723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9220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5</a:t>
                      </a:r>
                      <a:endParaRPr lang="zh-CN" altLang="en-US" sz="1800" dirty="0">
                        <a:latin typeface="微软雅黑" panose="020B0503020204020204" pitchFamily="82" charset="2"/>
                        <a:ea typeface="微软雅黑" panose="020B0503020204020204" pitchFamily="82" charset="2"/>
                      </a:endParaRPr>
                    </a:p>
                  </a:txBody>
                  <a:tcPr marL="91388" marR="91388" marT="45723" marB="45723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50</a:t>
                      </a:r>
                      <a:endParaRPr lang="zh-CN" altLang="en-US" sz="1800" dirty="0">
                        <a:latin typeface="微软雅黑" panose="020B0503020204020204" pitchFamily="82" charset="2"/>
                        <a:ea typeface="微软雅黑" panose="020B0503020204020204" pitchFamily="82" charset="2"/>
                      </a:endParaRPr>
                    </a:p>
                  </a:txBody>
                  <a:tcPr marL="91388" marR="91388" marT="45723" marB="45723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120</a:t>
                      </a:r>
                      <a:endParaRPr lang="zh-CN" altLang="en-US" sz="1800" dirty="0">
                        <a:latin typeface="微软雅黑" panose="020B0503020204020204" pitchFamily="82" charset="2"/>
                        <a:ea typeface="微软雅黑" panose="020B0503020204020204" pitchFamily="82" charset="2"/>
                      </a:endParaRPr>
                    </a:p>
                  </a:txBody>
                  <a:tcPr marL="91388" marR="91388" marT="45723" marB="45723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9220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6</a:t>
                      </a:r>
                      <a:endParaRPr lang="zh-CN" altLang="en-US" sz="1800" dirty="0">
                        <a:latin typeface="微软雅黑" panose="020B0503020204020204" pitchFamily="82" charset="2"/>
                        <a:ea typeface="微软雅黑" panose="020B0503020204020204" pitchFamily="82" charset="2"/>
                      </a:endParaRPr>
                    </a:p>
                  </a:txBody>
                  <a:tcPr marL="91388" marR="91388" marT="45723" marB="45723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70</a:t>
                      </a:r>
                      <a:endParaRPr lang="zh-CN" altLang="en-US" sz="1800" dirty="0">
                        <a:latin typeface="微软雅黑" panose="020B0503020204020204" pitchFamily="82" charset="2"/>
                        <a:ea typeface="微软雅黑" panose="020B0503020204020204" pitchFamily="82" charset="2"/>
                      </a:endParaRPr>
                    </a:p>
                  </a:txBody>
                  <a:tcPr marL="91388" marR="91388" marT="45723" marB="45723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110</a:t>
                      </a:r>
                      <a:endParaRPr lang="zh-CN" altLang="en-US" sz="1800" dirty="0">
                        <a:latin typeface="微软雅黑" panose="020B0503020204020204" pitchFamily="82" charset="2"/>
                        <a:ea typeface="微软雅黑" panose="020B0503020204020204" pitchFamily="82" charset="2"/>
                      </a:endParaRPr>
                    </a:p>
                  </a:txBody>
                  <a:tcPr marL="91388" marR="91388" marT="45723" marB="45723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9220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7</a:t>
                      </a:r>
                      <a:endParaRPr lang="zh-CN" altLang="en-US" sz="1800" dirty="0">
                        <a:latin typeface="微软雅黑" panose="020B0503020204020204" pitchFamily="82" charset="2"/>
                        <a:ea typeface="微软雅黑" panose="020B0503020204020204" pitchFamily="82" charset="2"/>
                      </a:endParaRPr>
                    </a:p>
                  </a:txBody>
                  <a:tcPr marL="91388" marR="91388" marT="45723" marB="45723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85</a:t>
                      </a:r>
                      <a:endParaRPr lang="zh-CN" altLang="en-US" sz="1800" dirty="0">
                        <a:latin typeface="微软雅黑" panose="020B0503020204020204" pitchFamily="82" charset="2"/>
                        <a:ea typeface="微软雅黑" panose="020B0503020204020204" pitchFamily="82" charset="2"/>
                      </a:endParaRPr>
                    </a:p>
                  </a:txBody>
                  <a:tcPr marL="91388" marR="91388" marT="45723" marB="45723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140</a:t>
                      </a:r>
                      <a:endParaRPr lang="zh-CN" altLang="en-US" sz="1800" dirty="0">
                        <a:latin typeface="微软雅黑" panose="020B0503020204020204" pitchFamily="82" charset="2"/>
                        <a:ea typeface="微软雅黑" panose="020B0503020204020204" pitchFamily="82" charset="2"/>
                      </a:endParaRPr>
                    </a:p>
                  </a:txBody>
                  <a:tcPr marL="91388" marR="91388" marT="45723" marB="45723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9220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8</a:t>
                      </a:r>
                      <a:endParaRPr lang="zh-CN" altLang="en-US" sz="1800" dirty="0">
                        <a:latin typeface="微软雅黑" panose="020B0503020204020204" pitchFamily="82" charset="2"/>
                        <a:ea typeface="微软雅黑" panose="020B0503020204020204" pitchFamily="82" charset="2"/>
                      </a:endParaRPr>
                    </a:p>
                  </a:txBody>
                  <a:tcPr marL="91388" marR="91388" marT="45723" marB="45723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30</a:t>
                      </a:r>
                      <a:endParaRPr lang="zh-CN" altLang="en-US" sz="1800" dirty="0">
                        <a:latin typeface="微软雅黑" panose="020B0503020204020204" pitchFamily="82" charset="2"/>
                        <a:ea typeface="微软雅黑" panose="020B0503020204020204" pitchFamily="82" charset="2"/>
                      </a:endParaRPr>
                    </a:p>
                  </a:txBody>
                  <a:tcPr marL="91388" marR="91388" marT="45723" marB="45723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260</a:t>
                      </a:r>
                      <a:endParaRPr lang="zh-CN" altLang="en-US" sz="1800" dirty="0">
                        <a:latin typeface="微软雅黑" panose="020B0503020204020204" pitchFamily="82" charset="2"/>
                        <a:ea typeface="微软雅黑" panose="020B0503020204020204" pitchFamily="82" charset="2"/>
                      </a:endParaRPr>
                    </a:p>
                  </a:txBody>
                  <a:tcPr marL="91388" marR="91388" marT="45723" marB="45723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9220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9</a:t>
                      </a:r>
                      <a:endParaRPr lang="zh-CN" altLang="en-US" sz="1800" dirty="0">
                        <a:latin typeface="微软雅黑" panose="020B0503020204020204" pitchFamily="82" charset="2"/>
                        <a:ea typeface="微软雅黑" panose="020B0503020204020204" pitchFamily="82" charset="2"/>
                      </a:endParaRPr>
                    </a:p>
                  </a:txBody>
                  <a:tcPr marL="91388" marR="91388" marT="45723" marB="45723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25</a:t>
                      </a:r>
                      <a:endParaRPr lang="zh-CN" altLang="en-US" sz="1800" dirty="0">
                        <a:latin typeface="微软雅黑" panose="020B0503020204020204" pitchFamily="82" charset="2"/>
                        <a:ea typeface="微软雅黑" panose="020B0503020204020204" pitchFamily="82" charset="2"/>
                      </a:endParaRPr>
                    </a:p>
                  </a:txBody>
                  <a:tcPr marL="91388" marR="91388" marT="45723" marB="45723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400</a:t>
                      </a:r>
                      <a:endParaRPr lang="zh-CN" altLang="en-US" sz="1800" dirty="0">
                        <a:latin typeface="微软雅黑" panose="020B0503020204020204" pitchFamily="82" charset="2"/>
                        <a:ea typeface="微软雅黑" panose="020B0503020204020204" pitchFamily="82" charset="2"/>
                      </a:endParaRPr>
                    </a:p>
                  </a:txBody>
                  <a:tcPr marL="91388" marR="91388" marT="45723" marB="45723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9220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10</a:t>
                      </a:r>
                      <a:endParaRPr lang="zh-CN" altLang="en-US" sz="1800" dirty="0">
                        <a:latin typeface="微软雅黑" panose="020B0503020204020204" pitchFamily="82" charset="2"/>
                        <a:ea typeface="微软雅黑" panose="020B0503020204020204" pitchFamily="82" charset="2"/>
                      </a:endParaRPr>
                    </a:p>
                  </a:txBody>
                  <a:tcPr marL="91388" marR="91388" marT="45723" marB="45723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45</a:t>
                      </a:r>
                      <a:endParaRPr lang="zh-CN" altLang="en-US" sz="1800" dirty="0">
                        <a:latin typeface="微软雅黑" panose="020B0503020204020204" pitchFamily="82" charset="2"/>
                        <a:ea typeface="微软雅黑" panose="020B0503020204020204" pitchFamily="82" charset="2"/>
                      </a:endParaRPr>
                    </a:p>
                  </a:txBody>
                  <a:tcPr marL="91388" marR="91388" marT="45723" marB="45723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350</a:t>
                      </a:r>
                      <a:endParaRPr lang="zh-CN" altLang="en-US" sz="1800" dirty="0">
                        <a:latin typeface="微软雅黑" panose="020B0503020204020204" pitchFamily="82" charset="2"/>
                        <a:ea typeface="微软雅黑" panose="020B0503020204020204" pitchFamily="82" charset="2"/>
                      </a:endParaRPr>
                    </a:p>
                  </a:txBody>
                  <a:tcPr marL="91388" marR="91388" marT="45723" marB="45723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9220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11</a:t>
                      </a:r>
                      <a:endParaRPr lang="zh-CN" altLang="en-US" sz="1800" dirty="0">
                        <a:latin typeface="微软雅黑" panose="020B0503020204020204" pitchFamily="82" charset="2"/>
                        <a:ea typeface="微软雅黑" panose="020B0503020204020204" pitchFamily="82" charset="2"/>
                      </a:endParaRPr>
                    </a:p>
                  </a:txBody>
                  <a:tcPr marL="91388" marR="91388" marT="45723" marB="45723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50</a:t>
                      </a:r>
                      <a:endParaRPr lang="zh-CN" altLang="en-US" sz="1800" dirty="0">
                        <a:latin typeface="微软雅黑" panose="020B0503020204020204" pitchFamily="82" charset="2"/>
                        <a:ea typeface="微软雅黑" panose="020B0503020204020204" pitchFamily="82" charset="2"/>
                      </a:endParaRPr>
                    </a:p>
                  </a:txBody>
                  <a:tcPr marL="91388" marR="91388" marT="45723" marB="45723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275</a:t>
                      </a:r>
                      <a:endParaRPr lang="zh-CN" altLang="en-US" sz="1800" dirty="0">
                        <a:latin typeface="微软雅黑" panose="020B0503020204020204" pitchFamily="82" charset="2"/>
                        <a:ea typeface="微软雅黑" panose="020B0503020204020204" pitchFamily="82" charset="2"/>
                      </a:endParaRPr>
                    </a:p>
                  </a:txBody>
                  <a:tcPr marL="91388" marR="91388" marT="45723" marB="45723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89220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12</a:t>
                      </a:r>
                      <a:endParaRPr lang="zh-CN" altLang="en-US" sz="1800" dirty="0">
                        <a:latin typeface="微软雅黑" panose="020B0503020204020204" pitchFamily="82" charset="2"/>
                        <a:ea typeface="微软雅黑" panose="020B0503020204020204" pitchFamily="82" charset="2"/>
                      </a:endParaRPr>
                    </a:p>
                  </a:txBody>
                  <a:tcPr marL="91388" marR="91388" marT="45723" marB="45723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60</a:t>
                      </a:r>
                      <a:endParaRPr lang="zh-CN" altLang="en-US" sz="1800" dirty="0">
                        <a:latin typeface="微软雅黑" panose="020B0503020204020204" pitchFamily="82" charset="2"/>
                        <a:ea typeface="微软雅黑" panose="020B0503020204020204" pitchFamily="82" charset="2"/>
                      </a:endParaRPr>
                    </a:p>
                  </a:txBody>
                  <a:tcPr marL="91388" marR="91388" marT="45723" marB="45723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260</a:t>
                      </a:r>
                      <a:endParaRPr lang="zh-CN" altLang="en-US" sz="1800" dirty="0">
                        <a:latin typeface="微软雅黑" panose="020B0503020204020204" pitchFamily="82" charset="2"/>
                        <a:ea typeface="微软雅黑" panose="020B0503020204020204" pitchFamily="82" charset="2"/>
                      </a:endParaRPr>
                    </a:p>
                  </a:txBody>
                  <a:tcPr marL="91388" marR="91388" marT="45723" marB="45723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7" name="矩形 8">
            <a:extLst>
              <a:ext uri="{FF2B5EF4-FFF2-40B4-BE49-F238E27FC236}">
                <a16:creationId xmlns:a16="http://schemas.microsoft.com/office/drawing/2014/main" id="{328FCE0A-A7CC-9B6D-A0F7-23EE22E08E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7012" y="1327097"/>
            <a:ext cx="2564579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 b="1" dirty="0">
                <a:latin typeface="微软雅黑" panose="020B0503020204020204" pitchFamily="82" charset="2"/>
                <a:ea typeface="微软雅黑" panose="020B0503020204020204" pitchFamily="82" charset="2"/>
              </a:rPr>
              <a:t>25 100000001000 </a:t>
            </a:r>
          </a:p>
          <a:p>
            <a:r>
              <a:rPr lang="en-US" altLang="zh-CN" sz="2000" b="1" dirty="0">
                <a:latin typeface="微软雅黑" panose="020B0503020204020204" pitchFamily="82" charset="2"/>
                <a:ea typeface="微软雅黑" panose="020B0503020204020204" pitchFamily="82" charset="2"/>
              </a:rPr>
              <a:t>30 000000010000 </a:t>
            </a:r>
          </a:p>
          <a:p>
            <a:r>
              <a:rPr lang="en-US" altLang="zh-CN" sz="2000" b="1" dirty="0">
                <a:latin typeface="微软雅黑" panose="020B0503020204020204" pitchFamily="82" charset="2"/>
                <a:ea typeface="微软雅黑" panose="020B0503020204020204" pitchFamily="82" charset="2"/>
              </a:rPr>
              <a:t>45 010000000100 </a:t>
            </a:r>
          </a:p>
          <a:p>
            <a:r>
              <a:rPr lang="en-US" altLang="zh-CN" sz="2000" b="1" dirty="0">
                <a:latin typeface="微软雅黑" panose="020B0503020204020204" pitchFamily="82" charset="2"/>
                <a:ea typeface="微软雅黑" panose="020B0503020204020204" pitchFamily="82" charset="2"/>
              </a:rPr>
              <a:t>50 001110000010 </a:t>
            </a:r>
          </a:p>
          <a:p>
            <a:r>
              <a:rPr lang="en-US" altLang="zh-CN" sz="2000" b="1" dirty="0">
                <a:latin typeface="微软雅黑" panose="020B0503020204020204" pitchFamily="82" charset="2"/>
                <a:ea typeface="微软雅黑" panose="020B0503020204020204" pitchFamily="82" charset="2"/>
              </a:rPr>
              <a:t>60 000000000001 </a:t>
            </a:r>
          </a:p>
          <a:p>
            <a:r>
              <a:rPr lang="en-US" altLang="zh-CN" sz="2000" b="1" dirty="0">
                <a:latin typeface="微软雅黑" panose="020B0503020204020204" pitchFamily="82" charset="2"/>
                <a:ea typeface="微软雅黑" panose="020B0503020204020204" pitchFamily="82" charset="2"/>
              </a:rPr>
              <a:t>70 000001000000 </a:t>
            </a:r>
          </a:p>
          <a:p>
            <a:r>
              <a:rPr lang="en-US" altLang="zh-CN" sz="2000" b="1" dirty="0">
                <a:latin typeface="微软雅黑" panose="020B0503020204020204" pitchFamily="82" charset="2"/>
                <a:ea typeface="微软雅黑" panose="020B0503020204020204" pitchFamily="82" charset="2"/>
              </a:rPr>
              <a:t>85 000000100000</a:t>
            </a:r>
            <a:endParaRPr lang="zh-CN" altLang="en-US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8" name="矩形 9">
            <a:extLst>
              <a:ext uri="{FF2B5EF4-FFF2-40B4-BE49-F238E27FC236}">
                <a16:creationId xmlns:a16="http://schemas.microsoft.com/office/drawing/2014/main" id="{C72134DE-6E0A-3848-BE31-98F74CFA04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33643" y="1249494"/>
            <a:ext cx="2754845" cy="3170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en-US" altLang="zh-CN" sz="2000" b="1" dirty="0">
                <a:latin typeface="微软雅黑" panose="020B0503020204020204" pitchFamily="82" charset="2"/>
                <a:ea typeface="微软雅黑" panose="020B0503020204020204" pitchFamily="82" charset="2"/>
              </a:rPr>
              <a:t>60 110000000000 75 001000000000 100 000100000000 110 000001000000 120 000010000000 140 000000100000 260 000000010001 275 000000000010 350 000000000100 400 000000001000</a:t>
            </a:r>
            <a:endParaRPr lang="zh-CN" altLang="en-US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9" name="矩形 10">
            <a:extLst>
              <a:ext uri="{FF2B5EF4-FFF2-40B4-BE49-F238E27FC236}">
                <a16:creationId xmlns:a16="http://schemas.microsoft.com/office/drawing/2014/main" id="{EE6C2A80-B9FE-CA81-B7F6-43EE725DDC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8796" y="882866"/>
            <a:ext cx="92839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Age</a:t>
            </a:r>
            <a:endParaRPr lang="zh-CN" altLang="en-US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10" name="矩形 11">
            <a:extLst>
              <a:ext uri="{FF2B5EF4-FFF2-40B4-BE49-F238E27FC236}">
                <a16:creationId xmlns:a16="http://schemas.microsoft.com/office/drawing/2014/main" id="{65B367FE-34B8-A0F6-C7F4-E56CE3CEA4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39042" y="882866"/>
            <a:ext cx="148675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Salary</a:t>
            </a:r>
            <a:endParaRPr lang="zh-CN" altLang="en-US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11" name="矩形 12">
            <a:extLst>
              <a:ext uri="{FF2B5EF4-FFF2-40B4-BE49-F238E27FC236}">
                <a16:creationId xmlns:a16="http://schemas.microsoft.com/office/drawing/2014/main" id="{4CF6271A-37B1-8E6E-383E-06AFA0F4F5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7024" y="4470936"/>
            <a:ext cx="392470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age = 50 &amp;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  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salary = 100 </a:t>
            </a:r>
            <a:endParaRPr lang="zh-CN" altLang="en-US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12" name="矩形 13">
            <a:extLst>
              <a:ext uri="{FF2B5EF4-FFF2-40B4-BE49-F238E27FC236}">
                <a16:creationId xmlns:a16="http://schemas.microsoft.com/office/drawing/2014/main" id="{7E0B89EA-F8DB-C4F9-38F4-B8F08B5C83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6903" y="4838560"/>
            <a:ext cx="7244243" cy="163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Bitmap index for age = 50 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           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= 001110000010 </a:t>
            </a:r>
          </a:p>
          <a:p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Bitmap index for salary = 100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    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 = 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000100000000 </a:t>
            </a:r>
          </a:p>
          <a:p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                                               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AND: 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   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000100000000</a:t>
            </a:r>
          </a:p>
          <a:p>
            <a:endParaRPr lang="en-US" altLang="zh-CN" sz="2000" b="1" dirty="0">
              <a:solidFill>
                <a:srgbClr val="0000FF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Record #4 !!!</a:t>
            </a:r>
            <a:endParaRPr lang="zh-CN" altLang="en-US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94BA5D5-CF32-EF9C-5C57-6A67FA8A261D}"/>
              </a:ext>
            </a:extLst>
          </p:cNvPr>
          <p:cNvSpPr/>
          <p:nvPr/>
        </p:nvSpPr>
        <p:spPr bwMode="auto">
          <a:xfrm>
            <a:off x="548641" y="2783348"/>
            <a:ext cx="3162748" cy="443945"/>
          </a:xfrm>
          <a:prstGeom prst="rect">
            <a:avLst/>
          </a:prstGeom>
          <a:noFill/>
          <a:ln w="19050">
            <a:prstDash val="sysDash"/>
            <a:headEnd type="none" w="med" len="med"/>
            <a:tailEnd type="non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华文楷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68781095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: 形状 39">
            <a:extLst>
              <a:ext uri="{FF2B5EF4-FFF2-40B4-BE49-F238E27FC236}">
                <a16:creationId xmlns:a16="http://schemas.microsoft.com/office/drawing/2014/main" id="{168FC396-71A5-4E9A-91B4-9C546BA07118}"/>
              </a:ext>
            </a:extLst>
          </p:cNvPr>
          <p:cNvSpPr/>
          <p:nvPr/>
        </p:nvSpPr>
        <p:spPr bwMode="auto">
          <a:xfrm>
            <a:off x="712225" y="1186405"/>
            <a:ext cx="10767551" cy="3781249"/>
          </a:xfrm>
          <a:custGeom>
            <a:avLst/>
            <a:gdLst>
              <a:gd name="connsiteX0" fmla="*/ 0 w 6810034"/>
              <a:gd name="connsiteY0" fmla="*/ 0 h 678471"/>
              <a:gd name="connsiteX1" fmla="*/ 6810034 w 6810034"/>
              <a:gd name="connsiteY1" fmla="*/ 0 h 678471"/>
              <a:gd name="connsiteX2" fmla="*/ 6810034 w 6810034"/>
              <a:gd name="connsiteY2" fmla="*/ 678471 h 678471"/>
              <a:gd name="connsiteX3" fmla="*/ 0 w 6810034"/>
              <a:gd name="connsiteY3" fmla="*/ 678471 h 678471"/>
              <a:gd name="connsiteX4" fmla="*/ 0 w 6810034"/>
              <a:gd name="connsiteY4" fmla="*/ 0 h 678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10034" h="678471">
                <a:moveTo>
                  <a:pt x="0" y="0"/>
                </a:moveTo>
                <a:lnTo>
                  <a:pt x="6810034" y="0"/>
                </a:lnTo>
                <a:lnTo>
                  <a:pt x="6810034" y="678471"/>
                </a:lnTo>
                <a:lnTo>
                  <a:pt x="0" y="678471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6F1787">
                  <a:alpha val="20000"/>
                </a:srgbClr>
              </a:gs>
              <a:gs pos="100000">
                <a:srgbClr val="6F1787">
                  <a:alpha val="20000"/>
                </a:srgbClr>
              </a:gs>
              <a:gs pos="48000">
                <a:schemeClr val="bg1">
                  <a:alpha val="0"/>
                </a:schemeClr>
              </a:gs>
            </a:gsLst>
            <a:lin ang="13500000" scaled="0"/>
          </a:gra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华文楷体" pitchFamily="2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2E43D22-2FEE-9A31-6723-7FDF0634BE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107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274A7574-A84D-2E21-98DB-D194266C4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位图索引应用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EC2DA1C-E3FD-BDFA-CF57-F6913122CD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9019" y="1487061"/>
            <a:ext cx="7705893" cy="3480593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预先构建位图索引</a:t>
            </a:r>
            <a:endParaRPr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列的取值种类较少时适用</a:t>
            </a:r>
            <a:endParaRPr kumimoji="1" lang="en-US" altLang="zh-CN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查询执行中进行动态构建</a:t>
            </a:r>
            <a:endParaRPr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根据列上的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B+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树索引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/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哈希索引得到满足条件数据的位图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位图索引扫描（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bitmap index scan)</a:t>
            </a:r>
            <a:endParaRPr lang="zh-CN" altLang="en-US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2E64BC-7BCF-C811-91DA-282050F8C3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01034729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18">
            <a:extLst>
              <a:ext uri="{FF2B5EF4-FFF2-40B4-BE49-F238E27FC236}">
                <a16:creationId xmlns:a16="http://schemas.microsoft.com/office/drawing/2014/main" id="{5EE32D71-8EA8-4F51-9A4D-483CE4767E95}"/>
              </a:ext>
            </a:extLst>
          </p:cNvPr>
          <p:cNvSpPr/>
          <p:nvPr/>
        </p:nvSpPr>
        <p:spPr>
          <a:xfrm>
            <a:off x="3015427" y="1172238"/>
            <a:ext cx="6286222" cy="4566412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dirty="0">
              <a:latin typeface="OPPOSans M" panose="00020600040101010101" pitchFamily="18" charset="-122"/>
              <a:ea typeface="OPPOSans M" panose="00020600040101010101" pitchFamily="18" charset="-122"/>
              <a:sym typeface="+mn-ea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3C35F35-0D0B-BDBC-478B-23D7223FD1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108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C01FBE5-2997-DA5A-E679-2665D9279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目录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6F1E561-F548-2140-CB4E-A81D3F2686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12400" y="1447238"/>
            <a:ext cx="5807946" cy="419169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索引概述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B+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树索引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B+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树并发控制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哈希索引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SkipList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跳表索引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LSM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树索引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位图索引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多维索引</a:t>
            </a:r>
            <a:endParaRPr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0" indent="0">
              <a:buNone/>
            </a:pP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     ——R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树、</a:t>
            </a: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KD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树、</a:t>
            </a: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Quadtree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、</a:t>
            </a: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Z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曲线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F725F9-5EC3-90CE-2C91-413426E802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4747879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18">
            <a:extLst>
              <a:ext uri="{FF2B5EF4-FFF2-40B4-BE49-F238E27FC236}">
                <a16:creationId xmlns:a16="http://schemas.microsoft.com/office/drawing/2014/main" id="{60A98C9A-D151-4EF6-9335-91B2451B3131}"/>
              </a:ext>
            </a:extLst>
          </p:cNvPr>
          <p:cNvSpPr/>
          <p:nvPr/>
        </p:nvSpPr>
        <p:spPr>
          <a:xfrm>
            <a:off x="5829298" y="1126800"/>
            <a:ext cx="5078955" cy="4499449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dirty="0">
              <a:latin typeface="微软雅黑" panose="020B0503020204020204" pitchFamily="82" charset="2"/>
              <a:ea typeface="微软雅黑" panose="020B0503020204020204" pitchFamily="82" charset="2"/>
              <a:sym typeface="+mn-ea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3C35F35-0D0B-BDBC-478B-23D7223FD1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109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C01FBE5-2997-DA5A-E679-2665D9279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目录</a:t>
            </a:r>
            <a:endParaRPr kumimoji="1" lang="zh-CN" altLang="en-US" sz="36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6F1E561-F548-2140-CB4E-A81D3F2686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7736" y="1126800"/>
            <a:ext cx="2709554" cy="5117649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buFont typeface="+mj-lt"/>
              <a:buAutoNum type="arabicPeriod" startAt="8"/>
            </a:pP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多维索引</a:t>
            </a:r>
            <a:endParaRPr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网格文件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四叉树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KD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树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R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树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Z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曲线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A179B2-34D5-9E02-793B-4011A6E0C8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A436E65-7316-19A5-DF69-2EB26621DE0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5080" b="12656"/>
          <a:stretch/>
        </p:blipFill>
        <p:spPr>
          <a:xfrm>
            <a:off x="6266073" y="1315946"/>
            <a:ext cx="4394475" cy="3939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672797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: 形状 39">
            <a:extLst>
              <a:ext uri="{FF2B5EF4-FFF2-40B4-BE49-F238E27FC236}">
                <a16:creationId xmlns:a16="http://schemas.microsoft.com/office/drawing/2014/main" id="{168FC396-71A5-4E9A-91B4-9C546BA07118}"/>
              </a:ext>
            </a:extLst>
          </p:cNvPr>
          <p:cNvSpPr/>
          <p:nvPr/>
        </p:nvSpPr>
        <p:spPr bwMode="auto">
          <a:xfrm>
            <a:off x="712225" y="1186405"/>
            <a:ext cx="10767551" cy="4579694"/>
          </a:xfrm>
          <a:custGeom>
            <a:avLst/>
            <a:gdLst>
              <a:gd name="connsiteX0" fmla="*/ 0 w 6810034"/>
              <a:gd name="connsiteY0" fmla="*/ 0 h 678471"/>
              <a:gd name="connsiteX1" fmla="*/ 6810034 w 6810034"/>
              <a:gd name="connsiteY1" fmla="*/ 0 h 678471"/>
              <a:gd name="connsiteX2" fmla="*/ 6810034 w 6810034"/>
              <a:gd name="connsiteY2" fmla="*/ 678471 h 678471"/>
              <a:gd name="connsiteX3" fmla="*/ 0 w 6810034"/>
              <a:gd name="connsiteY3" fmla="*/ 678471 h 678471"/>
              <a:gd name="connsiteX4" fmla="*/ 0 w 6810034"/>
              <a:gd name="connsiteY4" fmla="*/ 0 h 678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10034" h="678471">
                <a:moveTo>
                  <a:pt x="0" y="0"/>
                </a:moveTo>
                <a:lnTo>
                  <a:pt x="6810034" y="0"/>
                </a:lnTo>
                <a:lnTo>
                  <a:pt x="6810034" y="678471"/>
                </a:lnTo>
                <a:lnTo>
                  <a:pt x="0" y="678471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6F1787">
                  <a:alpha val="20000"/>
                </a:srgbClr>
              </a:gs>
              <a:gs pos="100000">
                <a:srgbClr val="6F1787">
                  <a:alpha val="20000"/>
                </a:srgbClr>
              </a:gs>
              <a:gs pos="48000">
                <a:schemeClr val="bg1">
                  <a:alpha val="0"/>
                </a:schemeClr>
              </a:gs>
            </a:gsLst>
            <a:lin ang="13500000" scaled="0"/>
          </a:gra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华文楷体" pitchFamily="2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E1AC0C2-F926-3872-6063-4A667E617C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110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D35985E-66FC-B81F-3B89-966B59D5F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多维索引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0B8B56F-5C05-8753-6E68-A9E71D8B4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8530" y="1477521"/>
            <a:ext cx="7159715" cy="3199015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空间数据与高维数据查询</a:t>
            </a:r>
            <a:endParaRPr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难以用前述索引解决的查询类型</a:t>
            </a:r>
            <a:endParaRPr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查询需求</a:t>
            </a:r>
            <a:endParaRPr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给定数据点的最近邻点（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KNN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查）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坐标点处有哪个建筑（点查）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经度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/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纬度范围内有哪些城市（范围查）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E3D056-4EEC-A2E3-63D0-AEF60812B0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73300674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18">
            <a:extLst>
              <a:ext uri="{FF2B5EF4-FFF2-40B4-BE49-F238E27FC236}">
                <a16:creationId xmlns:a16="http://schemas.microsoft.com/office/drawing/2014/main" id="{60A98C9A-D151-4EF6-9335-91B2451B3131}"/>
              </a:ext>
            </a:extLst>
          </p:cNvPr>
          <p:cNvSpPr/>
          <p:nvPr/>
        </p:nvSpPr>
        <p:spPr>
          <a:xfrm>
            <a:off x="5441873" y="1907051"/>
            <a:ext cx="6451329" cy="3328090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dirty="0">
              <a:latin typeface="微软雅黑" panose="020B0503020204020204" pitchFamily="82" charset="2"/>
              <a:ea typeface="微软雅黑" panose="020B0503020204020204" pitchFamily="82" charset="2"/>
              <a:sym typeface="+mn-ea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B05F428-EBFE-581D-7676-5253EA0AAE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111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097D302-E5A2-A0B8-951D-E0B92E33A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网格文件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BAA8A8F-AF20-2184-5221-1C7438600E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2993" y="1264023"/>
            <a:ext cx="4741715" cy="3971118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将整个空间划分为网格</a:t>
            </a:r>
            <a:endParaRPr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可视作多维的哈希表，每个网格为一个桶</a:t>
            </a:r>
            <a:endParaRPr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最近邻查询</a:t>
            </a:r>
            <a:endParaRPr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先在给定点落在的网格内查找，再到临近网格查找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范围查询</a:t>
            </a:r>
            <a:endParaRPr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找到与范围有交集的网格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4EBDE7-920E-77B3-7016-906D64E496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14E2B46-1687-5E23-1D2B-E626C1D34B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2656"/>
          <a:stretch/>
        </p:blipFill>
        <p:spPr>
          <a:xfrm>
            <a:off x="5643275" y="2345167"/>
            <a:ext cx="6041622" cy="2480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757816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18">
            <a:extLst>
              <a:ext uri="{FF2B5EF4-FFF2-40B4-BE49-F238E27FC236}">
                <a16:creationId xmlns:a16="http://schemas.microsoft.com/office/drawing/2014/main" id="{09EAE99A-D7A3-4DCB-BD87-76668CF8B29A}"/>
              </a:ext>
            </a:extLst>
          </p:cNvPr>
          <p:cNvSpPr/>
          <p:nvPr/>
        </p:nvSpPr>
        <p:spPr>
          <a:xfrm>
            <a:off x="1578583" y="2594560"/>
            <a:ext cx="8199199" cy="3019113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dirty="0">
              <a:latin typeface="微软雅黑" panose="020B0503020204020204" pitchFamily="82" charset="2"/>
              <a:ea typeface="微软雅黑" panose="020B0503020204020204" pitchFamily="82" charset="2"/>
              <a:sym typeface="+mn-ea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8463A7D-19A5-ADF4-6F01-09A92719BD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112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626EE15A-03C0-0B2F-767D-4E5A59CAB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四叉树（</a:t>
            </a:r>
            <a:r>
              <a:rPr kumimoji="1" lang="en-US" altLang="zh-CN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Quadtree</a:t>
            </a:r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92809D4F-8AC8-89D0-C111-AE9A735B3D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58000" y="1126800"/>
                <a:ext cx="10874188" cy="1467760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2400" b="1" dirty="0">
                    <a:solidFill>
                      <a:srgbClr val="701988"/>
                    </a:solidFill>
                    <a:latin typeface="微软雅黑" panose="020B0503020204020204" pitchFamily="82" charset="2"/>
                    <a:ea typeface="微软雅黑" panose="020B0503020204020204" pitchFamily="82" charset="2"/>
                  </a:rPr>
                  <a:t>网格文件网格静态划分后难以调整</a:t>
                </a:r>
                <a:endParaRPr lang="en-US" altLang="zh-CN" sz="2400" b="1" dirty="0">
                  <a:solidFill>
                    <a:srgbClr val="701988"/>
                  </a:solidFill>
                  <a:latin typeface="微软雅黑" panose="020B0503020204020204" pitchFamily="82" charset="2"/>
                  <a:ea typeface="微软雅黑" panose="020B0503020204020204" pitchFamily="82" charset="2"/>
                </a:endParaRP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zh-CN" sz="2400" b="1" dirty="0">
                    <a:solidFill>
                      <a:srgbClr val="701988"/>
                    </a:solidFill>
                    <a:latin typeface="微软雅黑" panose="020B0503020204020204" pitchFamily="82" charset="2"/>
                    <a:ea typeface="微软雅黑" panose="020B0503020204020204" pitchFamily="82" charset="2"/>
                  </a:rPr>
                  <a:t>K</a:t>
                </a:r>
                <a:r>
                  <a:rPr lang="zh-CN" altLang="en-US" sz="2400" b="1" dirty="0">
                    <a:solidFill>
                      <a:srgbClr val="701988"/>
                    </a:solidFill>
                    <a:latin typeface="微软雅黑" panose="020B0503020204020204" pitchFamily="82" charset="2"/>
                    <a:ea typeface="微软雅黑" panose="020B0503020204020204" pitchFamily="82" charset="2"/>
                  </a:rPr>
                  <a:t>维数据的四叉树，每层将子空间等分为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1" i="1">
                            <a:solidFill>
                              <a:srgbClr val="701988"/>
                            </a:solidFill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</m:ctrlPr>
                      </m:sSupPr>
                      <m:e>
                        <m:r>
                          <a:rPr lang="en-US" altLang="zh-CN" sz="2400" b="1">
                            <a:solidFill>
                              <a:srgbClr val="701988"/>
                            </a:solidFill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  <m:t>𝟐</m:t>
                        </m:r>
                      </m:e>
                      <m:sup>
                        <m:r>
                          <a:rPr lang="en-US" altLang="zh-CN" sz="2400" b="1">
                            <a:solidFill>
                              <a:srgbClr val="701988"/>
                            </a:solidFill>
                            <a:latin typeface="Cambria Math" panose="02040503050406030204" pitchFamily="18" charset="0"/>
                            <a:ea typeface="微软雅黑" panose="020B0503020204020204" pitchFamily="82" charset="2"/>
                          </a:rPr>
                          <m:t>𝒌</m:t>
                        </m:r>
                      </m:sup>
                    </m:sSup>
                  </m:oMath>
                </a14:m>
                <a:r>
                  <a:rPr lang="zh-CN" altLang="en-US" sz="2400" b="1" dirty="0">
                    <a:solidFill>
                      <a:srgbClr val="701988"/>
                    </a:solidFill>
                    <a:latin typeface="微软雅黑" panose="020B0503020204020204" pitchFamily="82" charset="2"/>
                    <a:ea typeface="微软雅黑" panose="020B0503020204020204" pitchFamily="82" charset="2"/>
                  </a:rPr>
                  <a:t>份</a:t>
                </a:r>
              </a:p>
            </p:txBody>
          </p:sp>
        </mc:Choice>
        <mc:Fallback xmlns="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92809D4F-8AC8-89D0-C111-AE9A735B3D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58000" y="1126800"/>
                <a:ext cx="10874188" cy="1467760"/>
              </a:xfrm>
              <a:blipFill>
                <a:blip r:embed="rId2"/>
                <a:stretch>
                  <a:fillRect l="-6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D15DADA-5FAC-C2F7-7453-8F11CEAB06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25EAA4B-28E4-99A1-E62A-2679FFA8D99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678"/>
          <a:stretch/>
        </p:blipFill>
        <p:spPr>
          <a:xfrm>
            <a:off x="2065428" y="2756978"/>
            <a:ext cx="7482825" cy="2722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735639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18">
            <a:extLst>
              <a:ext uri="{FF2B5EF4-FFF2-40B4-BE49-F238E27FC236}">
                <a16:creationId xmlns:a16="http://schemas.microsoft.com/office/drawing/2014/main" id="{ED2671EB-B38F-4473-BFA5-60922FE1E42C}"/>
              </a:ext>
            </a:extLst>
          </p:cNvPr>
          <p:cNvSpPr/>
          <p:nvPr/>
        </p:nvSpPr>
        <p:spPr>
          <a:xfrm>
            <a:off x="1542484" y="2897969"/>
            <a:ext cx="8679550" cy="3195988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dirty="0">
              <a:latin typeface="微软雅黑" panose="020B0503020204020204" pitchFamily="82" charset="2"/>
              <a:ea typeface="微软雅黑" panose="020B0503020204020204" pitchFamily="82" charset="2"/>
              <a:sym typeface="+mn-ea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3F43098-B8E8-8306-2FB2-1F3642A0FA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113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048D6AE2-E3AA-FED7-0976-E706CD366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KD</a:t>
            </a:r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树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D2E84E1-79E9-69C3-2470-541A36B041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0796" y="951734"/>
            <a:ext cx="9310405" cy="1782554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四叉树对于分布稀疏的数据会有大量空节点</a:t>
            </a:r>
            <a:endParaRPr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KD</a:t>
            </a: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树每层对一个维度进行分割</a:t>
            </a:r>
            <a:endParaRPr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针对数据点进行二分，避免了大量空节点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6211766-97C2-343A-030A-B72093DAEB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FE533E4-CC44-8F44-6DFE-549F9A54784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697"/>
          <a:stretch/>
        </p:blipFill>
        <p:spPr>
          <a:xfrm>
            <a:off x="2087545" y="3114625"/>
            <a:ext cx="7622012" cy="2865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615032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18">
            <a:extLst>
              <a:ext uri="{FF2B5EF4-FFF2-40B4-BE49-F238E27FC236}">
                <a16:creationId xmlns:a16="http://schemas.microsoft.com/office/drawing/2014/main" id="{ED2671EB-B38F-4473-BFA5-60922FE1E42C}"/>
              </a:ext>
            </a:extLst>
          </p:cNvPr>
          <p:cNvSpPr/>
          <p:nvPr/>
        </p:nvSpPr>
        <p:spPr>
          <a:xfrm>
            <a:off x="5893503" y="946673"/>
            <a:ext cx="5821575" cy="5045336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dirty="0">
              <a:latin typeface="微软雅黑" panose="020B0503020204020204" pitchFamily="82" charset="2"/>
              <a:ea typeface="微软雅黑" panose="020B0503020204020204" pitchFamily="82" charset="2"/>
              <a:sym typeface="+mn-ea"/>
            </a:endParaRPr>
          </a:p>
        </p:txBody>
      </p:sp>
      <p:sp>
        <p:nvSpPr>
          <p:cNvPr id="8" name="Shape18">
            <a:extLst>
              <a:ext uri="{FF2B5EF4-FFF2-40B4-BE49-F238E27FC236}">
                <a16:creationId xmlns:a16="http://schemas.microsoft.com/office/drawing/2014/main" id="{ED2671EB-B38F-4473-BFA5-60922FE1E42C}"/>
              </a:ext>
            </a:extLst>
          </p:cNvPr>
          <p:cNvSpPr/>
          <p:nvPr/>
        </p:nvSpPr>
        <p:spPr>
          <a:xfrm>
            <a:off x="591150" y="3753463"/>
            <a:ext cx="5164015" cy="2086733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dirty="0">
              <a:latin typeface="微软雅黑" panose="020B0503020204020204" pitchFamily="82" charset="2"/>
              <a:ea typeface="微软雅黑" panose="020B0503020204020204" pitchFamily="82" charset="2"/>
              <a:sym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B83F972-A8E0-E9A8-6BE6-C12A907DB3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9648" y="1173852"/>
            <a:ext cx="5427190" cy="4666344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A6C5034-8F03-153D-EFA3-B653A947C0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114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FEA6048-7050-3349-3986-5F0FE9C7B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R</a:t>
            </a:r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树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060E6DC-C273-AAAC-A04A-60028151DE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1150" y="1042532"/>
            <a:ext cx="6494787" cy="3459529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空间数据的</a:t>
            </a:r>
            <a:r>
              <a:rPr lang="en-US" altLang="zh-CN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B+</a:t>
            </a: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树</a:t>
            </a:r>
            <a:endParaRPr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物体用最小外接矩形表示</a:t>
            </a:r>
            <a:endParaRPr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节点分裂（启发式方法）</a:t>
            </a:r>
            <a:endParaRPr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贪心，使缩减面积最大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A3B764-44B5-1759-F26D-1F573854D6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AF290FF-5A7A-7660-FA17-EA242840DE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162" y="3901423"/>
            <a:ext cx="5018459" cy="1735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0535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709FF6F-39F9-A730-D9B5-BA92EB8AAE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115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9C983624-28E9-B264-002B-2C9988614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点查、范围查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5A71AA2-199B-1DF3-5EC5-6BF40E444F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0998" y="857571"/>
            <a:ext cx="5673791" cy="1193807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从上往下遍历</a:t>
            </a:r>
            <a:endParaRPr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跳过不相交的节点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651994-8274-149A-9A14-FBAEF016D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101" name="Shape18">
            <a:extLst>
              <a:ext uri="{FF2B5EF4-FFF2-40B4-BE49-F238E27FC236}">
                <a16:creationId xmlns:a16="http://schemas.microsoft.com/office/drawing/2014/main" id="{4C3DCD13-BB3E-4535-83FC-B2F6B5E6DDBD}"/>
              </a:ext>
            </a:extLst>
          </p:cNvPr>
          <p:cNvSpPr/>
          <p:nvPr/>
        </p:nvSpPr>
        <p:spPr>
          <a:xfrm>
            <a:off x="629924" y="2718844"/>
            <a:ext cx="11065889" cy="3162127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sz="1400" b="1" dirty="0">
              <a:latin typeface="微软雅黑" panose="020B0503020204020204" pitchFamily="82" charset="2"/>
              <a:ea typeface="微软雅黑" panose="020B0503020204020204" pitchFamily="82" charset="2"/>
              <a:sym typeface="+mn-ea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1DBCB86D-FFC7-0932-4C70-0D3891574E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7208" y="3353661"/>
            <a:ext cx="1401847" cy="1121478"/>
          </a:xfrm>
          <a:prstGeom prst="rect">
            <a:avLst/>
          </a:prstGeom>
          <a:noFill/>
          <a:ln w="38100">
            <a:solidFill>
              <a:srgbClr val="00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0000"/>
              <a:buFont typeface="宋体" panose="02010600030101010101" pitchFamily="2" charset="-122"/>
              <a:buChar char="-"/>
              <a:defRPr kumimoji="1"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200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D488EC64-547A-33BB-3084-D689D4403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1180" y="3353661"/>
            <a:ext cx="560739" cy="1682217"/>
          </a:xfrm>
          <a:prstGeom prst="rect">
            <a:avLst/>
          </a:prstGeom>
          <a:noFill/>
          <a:ln w="38100">
            <a:solidFill>
              <a:srgbClr val="00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0000"/>
              <a:buFont typeface="宋体" panose="02010600030101010101" pitchFamily="2" charset="-122"/>
              <a:buChar char="-"/>
              <a:defRPr kumimoji="1"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200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C3DE1CE4-CDAC-5E54-7F58-F9AAF8B32C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8039" y="4124677"/>
            <a:ext cx="1401847" cy="1261663"/>
          </a:xfrm>
          <a:prstGeom prst="rect">
            <a:avLst/>
          </a:prstGeom>
          <a:noFill/>
          <a:ln w="38100">
            <a:solidFill>
              <a:srgbClr val="00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0000"/>
              <a:buFont typeface="宋体" panose="02010600030101010101" pitchFamily="2" charset="-122"/>
              <a:buChar char="-"/>
              <a:defRPr kumimoji="1"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200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681CA4BD-07B7-D8A1-8E2A-6CED33BE11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9887" y="3423753"/>
            <a:ext cx="1191570" cy="420554"/>
          </a:xfrm>
          <a:prstGeom prst="rect">
            <a:avLst/>
          </a:prstGeom>
          <a:noFill/>
          <a:ln w="38100">
            <a:solidFill>
              <a:srgbClr val="00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0000"/>
              <a:buFont typeface="宋体" panose="02010600030101010101" pitchFamily="2" charset="-122"/>
              <a:buChar char="-"/>
              <a:defRPr kumimoji="1"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200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D8426821-5A83-922B-B3F3-40872173D5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7300" y="3423753"/>
            <a:ext cx="280369" cy="56073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0000"/>
              <a:buFont typeface="宋体" panose="02010600030101010101" pitchFamily="2" charset="-122"/>
              <a:buChar char="-"/>
              <a:defRPr kumimoji="1"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200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D6B14F4F-3A12-5CC1-A15A-A5783023A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8593" y="3423753"/>
            <a:ext cx="280369" cy="3504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0000"/>
              <a:buFont typeface="宋体" panose="02010600030101010101" pitchFamily="2" charset="-122"/>
              <a:buChar char="-"/>
              <a:defRPr kumimoji="1"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200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12" name="Rectangle 10">
            <a:extLst>
              <a:ext uri="{FF2B5EF4-FFF2-40B4-BE49-F238E27FC236}">
                <a16:creationId xmlns:a16="http://schemas.microsoft.com/office/drawing/2014/main" id="{048A420B-0B27-71B0-4CDA-AC369225FC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7577" y="3914400"/>
            <a:ext cx="700924" cy="49064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0000"/>
              <a:buFont typeface="宋体" panose="02010600030101010101" pitchFamily="2" charset="-122"/>
              <a:buChar char="-"/>
              <a:defRPr kumimoji="1"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200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7190F79A-304F-E2AD-84DA-64D5026DCF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8132" y="4895693"/>
            <a:ext cx="630831" cy="42055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0000"/>
              <a:buFont typeface="宋体" panose="02010600030101010101" pitchFamily="2" charset="-122"/>
              <a:buChar char="-"/>
              <a:defRPr kumimoji="1"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200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14" name="Rectangle 12">
            <a:extLst>
              <a:ext uri="{FF2B5EF4-FFF2-40B4-BE49-F238E27FC236}">
                <a16:creationId xmlns:a16="http://schemas.microsoft.com/office/drawing/2014/main" id="{F729ABD5-F70B-8135-82DC-80C820A8E6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9425" y="4194769"/>
            <a:ext cx="280369" cy="91120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0000"/>
              <a:buFont typeface="宋体" panose="02010600030101010101" pitchFamily="2" charset="-122"/>
              <a:buChar char="-"/>
              <a:defRPr kumimoji="1"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200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15" name="Rectangle 13">
            <a:extLst>
              <a:ext uri="{FF2B5EF4-FFF2-40B4-BE49-F238E27FC236}">
                <a16:creationId xmlns:a16="http://schemas.microsoft.com/office/drawing/2014/main" id="{9DBFCA6B-68D8-9061-F2F7-747ECF4E48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979" y="3493846"/>
            <a:ext cx="420554" cy="28036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0000"/>
              <a:buFont typeface="宋体" panose="02010600030101010101" pitchFamily="2" charset="-122"/>
              <a:buChar char="-"/>
              <a:defRPr kumimoji="1"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200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16" name="Rectangle 14">
            <a:extLst>
              <a:ext uri="{FF2B5EF4-FFF2-40B4-BE49-F238E27FC236}">
                <a16:creationId xmlns:a16="http://schemas.microsoft.com/office/drawing/2014/main" id="{1ED538ED-A021-F4AD-5CA6-11BDFD473D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1272" y="4194769"/>
            <a:ext cx="420554" cy="77101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0000"/>
              <a:buFont typeface="宋体" panose="02010600030101010101" pitchFamily="2" charset="-122"/>
              <a:buChar char="-"/>
              <a:defRPr kumimoji="1"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200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17" name="Rectangle 15">
            <a:extLst>
              <a:ext uri="{FF2B5EF4-FFF2-40B4-BE49-F238E27FC236}">
                <a16:creationId xmlns:a16="http://schemas.microsoft.com/office/drawing/2014/main" id="{957365F5-082A-3063-88A8-262FDFF85D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1549" y="3423753"/>
            <a:ext cx="210277" cy="3504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0000"/>
              <a:buFont typeface="宋体" panose="02010600030101010101" pitchFamily="2" charset="-122"/>
              <a:buChar char="-"/>
              <a:defRPr kumimoji="1"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200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18" name="Rectangle 16">
            <a:extLst>
              <a:ext uri="{FF2B5EF4-FFF2-40B4-BE49-F238E27FC236}">
                <a16:creationId xmlns:a16="http://schemas.microsoft.com/office/drawing/2014/main" id="{BB216E98-DDBD-7375-2C8E-07107D5904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0903" y="3493846"/>
            <a:ext cx="420554" cy="7009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0000"/>
              <a:buFont typeface="宋体" panose="02010600030101010101" pitchFamily="2" charset="-122"/>
              <a:buChar char="-"/>
              <a:defRPr kumimoji="1"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200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19" name="Rectangle 17">
            <a:extLst>
              <a:ext uri="{FF2B5EF4-FFF2-40B4-BE49-F238E27FC236}">
                <a16:creationId xmlns:a16="http://schemas.microsoft.com/office/drawing/2014/main" id="{CB878EBB-5104-3C35-1974-6C85EDAC08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1272" y="3423753"/>
            <a:ext cx="70092" cy="63083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0000"/>
              <a:buFont typeface="宋体" panose="02010600030101010101" pitchFamily="2" charset="-122"/>
              <a:buChar char="-"/>
              <a:defRPr kumimoji="1"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200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20" name="Rectangle 18">
            <a:extLst>
              <a:ext uri="{FF2B5EF4-FFF2-40B4-BE49-F238E27FC236}">
                <a16:creationId xmlns:a16="http://schemas.microsoft.com/office/drawing/2014/main" id="{8BFC71CE-13DA-1EB1-7AEA-FBDD48CDEF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7115" y="3283569"/>
            <a:ext cx="3714896" cy="2172863"/>
          </a:xfrm>
          <a:prstGeom prst="rect">
            <a:avLst/>
          </a:prstGeom>
          <a:noFill/>
          <a:ln w="38100">
            <a:solidFill>
              <a:srgbClr val="00008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0000"/>
              <a:buFont typeface="宋体" panose="02010600030101010101" pitchFamily="2" charset="-122"/>
              <a:buChar char="-"/>
              <a:defRPr kumimoji="1"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200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21" name="Freeform 19">
            <a:extLst>
              <a:ext uri="{FF2B5EF4-FFF2-40B4-BE49-F238E27FC236}">
                <a16:creationId xmlns:a16="http://schemas.microsoft.com/office/drawing/2014/main" id="{63B65481-A889-D11E-6194-DE7557B505DE}"/>
              </a:ext>
            </a:extLst>
          </p:cNvPr>
          <p:cNvSpPr>
            <a:spLocks/>
          </p:cNvSpPr>
          <p:nvPr/>
        </p:nvSpPr>
        <p:spPr bwMode="auto">
          <a:xfrm>
            <a:off x="976746" y="3003199"/>
            <a:ext cx="4205542" cy="2663510"/>
          </a:xfrm>
          <a:custGeom>
            <a:avLst/>
            <a:gdLst>
              <a:gd name="T0" fmla="*/ 0 w 2880"/>
              <a:gd name="T1" fmla="*/ 0 h 1824"/>
              <a:gd name="T2" fmla="*/ 0 w 2880"/>
              <a:gd name="T3" fmla="*/ 2147483646 h 1824"/>
              <a:gd name="T4" fmla="*/ 2147483646 w 2880"/>
              <a:gd name="T5" fmla="*/ 2147483646 h 1824"/>
              <a:gd name="T6" fmla="*/ 0 60000 65536"/>
              <a:gd name="T7" fmla="*/ 0 60000 65536"/>
              <a:gd name="T8" fmla="*/ 0 60000 65536"/>
              <a:gd name="T9" fmla="*/ 0 w 2880"/>
              <a:gd name="T10" fmla="*/ 0 h 1824"/>
              <a:gd name="T11" fmla="*/ 2880 w 2880"/>
              <a:gd name="T12" fmla="*/ 1824 h 182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80" h="1824">
                <a:moveTo>
                  <a:pt x="0" y="0"/>
                </a:moveTo>
                <a:lnTo>
                  <a:pt x="0" y="1824"/>
                </a:lnTo>
                <a:lnTo>
                  <a:pt x="2880" y="1824"/>
                </a:lnTo>
              </a:path>
            </a:pathLst>
          </a:custGeom>
          <a:noFill/>
          <a:ln w="3175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sz="140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22" name="Text Box 20">
            <a:extLst>
              <a:ext uri="{FF2B5EF4-FFF2-40B4-BE49-F238E27FC236}">
                <a16:creationId xmlns:a16="http://schemas.microsoft.com/office/drawing/2014/main" id="{7563A50C-3DF2-CB38-B4C8-6575C821D0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7280" y="3462450"/>
            <a:ext cx="36580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0000"/>
              <a:buFont typeface="宋体" panose="02010600030101010101" pitchFamily="2" charset="-122"/>
              <a:buChar char="-"/>
              <a:defRPr kumimoji="1"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000">
                <a:latin typeface="微软雅黑" panose="020B0503020204020204" pitchFamily="82" charset="2"/>
                <a:ea typeface="微软雅黑" panose="020B0503020204020204" pitchFamily="82" charset="2"/>
              </a:rPr>
              <a:t>A</a:t>
            </a:r>
          </a:p>
        </p:txBody>
      </p:sp>
      <p:sp>
        <p:nvSpPr>
          <p:cNvPr id="23" name="Text Box 21">
            <a:extLst>
              <a:ext uri="{FF2B5EF4-FFF2-40B4-BE49-F238E27FC236}">
                <a16:creationId xmlns:a16="http://schemas.microsoft.com/office/drawing/2014/main" id="{142377DD-9B30-A2C5-8EC4-CB5FC2EC56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6009" y="3995445"/>
            <a:ext cx="34496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0000"/>
              <a:buFont typeface="宋体" panose="02010600030101010101" pitchFamily="2" charset="-122"/>
              <a:buChar char="-"/>
              <a:defRPr kumimoji="1"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000">
                <a:latin typeface="微软雅黑" panose="020B0503020204020204" pitchFamily="82" charset="2"/>
                <a:ea typeface="微软雅黑" panose="020B0503020204020204" pitchFamily="82" charset="2"/>
              </a:rPr>
              <a:t>B</a:t>
            </a:r>
          </a:p>
        </p:txBody>
      </p:sp>
      <p:sp>
        <p:nvSpPr>
          <p:cNvPr id="24" name="Text Box 22">
            <a:extLst>
              <a:ext uri="{FF2B5EF4-FFF2-40B4-BE49-F238E27FC236}">
                <a16:creationId xmlns:a16="http://schemas.microsoft.com/office/drawing/2014/main" id="{286603B9-D002-0480-0B42-04946B3060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7476" y="3392359"/>
            <a:ext cx="35618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0000"/>
              <a:buFont typeface="宋体" panose="02010600030101010101" pitchFamily="2" charset="-122"/>
              <a:buChar char="-"/>
              <a:defRPr kumimoji="1"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000">
                <a:latin typeface="微软雅黑" panose="020B0503020204020204" pitchFamily="82" charset="2"/>
                <a:ea typeface="微软雅黑" panose="020B0503020204020204" pitchFamily="82" charset="2"/>
              </a:rPr>
              <a:t>C</a:t>
            </a:r>
          </a:p>
        </p:txBody>
      </p:sp>
      <p:sp>
        <p:nvSpPr>
          <p:cNvPr id="25" name="Text Box 23">
            <a:extLst>
              <a:ext uri="{FF2B5EF4-FFF2-40B4-BE49-F238E27FC236}">
                <a16:creationId xmlns:a16="http://schemas.microsoft.com/office/drawing/2014/main" id="{453A4BDC-88F9-07CD-AD61-52F35A5065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8202" y="4906645"/>
            <a:ext cx="38023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0000"/>
              <a:buFont typeface="宋体" panose="02010600030101010101" pitchFamily="2" charset="-122"/>
              <a:buChar char="-"/>
              <a:defRPr kumimoji="1"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000">
                <a:latin typeface="微软雅黑" panose="020B0503020204020204" pitchFamily="82" charset="2"/>
                <a:ea typeface="微软雅黑" panose="020B0503020204020204" pitchFamily="82" charset="2"/>
              </a:rPr>
              <a:t>D</a:t>
            </a:r>
          </a:p>
        </p:txBody>
      </p:sp>
      <p:sp>
        <p:nvSpPr>
          <p:cNvPr id="26" name="Text Box 24">
            <a:extLst>
              <a:ext uri="{FF2B5EF4-FFF2-40B4-BE49-F238E27FC236}">
                <a16:creationId xmlns:a16="http://schemas.microsoft.com/office/drawing/2014/main" id="{814CC392-C51B-BCFE-56EC-C58B8B958F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2298" y="4583929"/>
            <a:ext cx="3257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0000"/>
              <a:buFont typeface="宋体" panose="02010600030101010101" pitchFamily="2" charset="-122"/>
              <a:buChar char="-"/>
              <a:defRPr kumimoji="1"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000">
                <a:latin typeface="微软雅黑" panose="020B0503020204020204" pitchFamily="82" charset="2"/>
                <a:ea typeface="微软雅黑" panose="020B0503020204020204" pitchFamily="82" charset="2"/>
              </a:rPr>
              <a:t>E</a:t>
            </a:r>
          </a:p>
        </p:txBody>
      </p:sp>
      <p:sp>
        <p:nvSpPr>
          <p:cNvPr id="27" name="Text Box 25">
            <a:extLst>
              <a:ext uri="{FF2B5EF4-FFF2-40B4-BE49-F238E27FC236}">
                <a16:creationId xmlns:a16="http://schemas.microsoft.com/office/drawing/2014/main" id="{D54786D3-F10E-8A5C-AD4C-4B3751F27A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0433" y="3430325"/>
            <a:ext cx="32092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0000"/>
              <a:buFont typeface="宋体" panose="02010600030101010101" pitchFamily="2" charset="-122"/>
              <a:buChar char="-"/>
              <a:defRPr kumimoji="1"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000">
                <a:latin typeface="微软雅黑" panose="020B0503020204020204" pitchFamily="82" charset="2"/>
                <a:ea typeface="微软雅黑" panose="020B0503020204020204" pitchFamily="82" charset="2"/>
              </a:rPr>
              <a:t>F</a:t>
            </a:r>
          </a:p>
        </p:txBody>
      </p:sp>
      <p:sp>
        <p:nvSpPr>
          <p:cNvPr id="28" name="Text Box 26">
            <a:extLst>
              <a:ext uri="{FF2B5EF4-FFF2-40B4-BE49-F238E27FC236}">
                <a16:creationId xmlns:a16="http://schemas.microsoft.com/office/drawing/2014/main" id="{556500DF-1776-D545-CA73-9B36D2A45C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3100" y="3504798"/>
            <a:ext cx="37542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0000"/>
              <a:buFont typeface="宋体" panose="02010600030101010101" pitchFamily="2" charset="-122"/>
              <a:buChar char="-"/>
              <a:defRPr kumimoji="1"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000">
                <a:latin typeface="微软雅黑" panose="020B0503020204020204" pitchFamily="82" charset="2"/>
                <a:ea typeface="微软雅黑" panose="020B0503020204020204" pitchFamily="82" charset="2"/>
              </a:rPr>
              <a:t>G</a:t>
            </a:r>
          </a:p>
        </p:txBody>
      </p:sp>
      <p:sp>
        <p:nvSpPr>
          <p:cNvPr id="29" name="Text Box 27">
            <a:extLst>
              <a:ext uri="{FF2B5EF4-FFF2-40B4-BE49-F238E27FC236}">
                <a16:creationId xmlns:a16="http://schemas.microsoft.com/office/drawing/2014/main" id="{8E38E324-3240-6B13-0BEE-5AFB150A96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2622" y="3753042"/>
            <a:ext cx="38343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0000"/>
              <a:buFont typeface="宋体" panose="02010600030101010101" pitchFamily="2" charset="-122"/>
              <a:buChar char="-"/>
              <a:defRPr kumimoji="1"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000">
                <a:latin typeface="微软雅黑" panose="020B0503020204020204" pitchFamily="82" charset="2"/>
                <a:ea typeface="微软雅黑" panose="020B0503020204020204" pitchFamily="82" charset="2"/>
              </a:rPr>
              <a:t>H</a:t>
            </a:r>
          </a:p>
        </p:txBody>
      </p:sp>
      <p:sp>
        <p:nvSpPr>
          <p:cNvPr id="30" name="Text Box 28">
            <a:extLst>
              <a:ext uri="{FF2B5EF4-FFF2-40B4-BE49-F238E27FC236}">
                <a16:creationId xmlns:a16="http://schemas.microsoft.com/office/drawing/2014/main" id="{8F18785C-00C1-BC36-EB4A-23B5AACB5E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0557" y="3377756"/>
            <a:ext cx="26000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0000"/>
              <a:buFont typeface="宋体" panose="02010600030101010101" pitchFamily="2" charset="-122"/>
              <a:buChar char="-"/>
              <a:defRPr kumimoji="1"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000">
                <a:latin typeface="微软雅黑" panose="020B0503020204020204" pitchFamily="82" charset="2"/>
                <a:ea typeface="微软雅黑" panose="020B0503020204020204" pitchFamily="82" charset="2"/>
              </a:rPr>
              <a:t>I</a:t>
            </a:r>
          </a:p>
        </p:txBody>
      </p:sp>
      <p:sp>
        <p:nvSpPr>
          <p:cNvPr id="31" name="Text Box 29">
            <a:extLst>
              <a:ext uri="{FF2B5EF4-FFF2-40B4-BE49-F238E27FC236}">
                <a16:creationId xmlns:a16="http://schemas.microsoft.com/office/drawing/2014/main" id="{97CB3EB6-891D-E448-DD65-C2A061C7FD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6661" y="4443744"/>
            <a:ext cx="28565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0000"/>
              <a:buFont typeface="宋体" panose="02010600030101010101" pitchFamily="2" charset="-122"/>
              <a:buChar char="-"/>
              <a:defRPr kumimoji="1"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J</a:t>
            </a:r>
          </a:p>
        </p:txBody>
      </p:sp>
      <p:sp>
        <p:nvSpPr>
          <p:cNvPr id="32" name="Text Box 30">
            <a:extLst>
              <a:ext uri="{FF2B5EF4-FFF2-40B4-BE49-F238E27FC236}">
                <a16:creationId xmlns:a16="http://schemas.microsoft.com/office/drawing/2014/main" id="{07F49DDF-B325-7297-F03D-8610A20414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9367" y="3462451"/>
            <a:ext cx="49244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0000"/>
              <a:buFont typeface="宋体" panose="02010600030101010101" pitchFamily="2" charset="-122"/>
              <a:buChar char="-"/>
              <a:defRPr kumimoji="1"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2000">
                <a:solidFill>
                  <a:srgbClr val="006600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P1</a:t>
            </a:r>
            <a:endParaRPr kumimoji="0" lang="en-US" altLang="en-US" sz="200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3" name="Text Box 31">
            <a:extLst>
              <a:ext uri="{FF2B5EF4-FFF2-40B4-BE49-F238E27FC236}">
                <a16:creationId xmlns:a16="http://schemas.microsoft.com/office/drawing/2014/main" id="{6F449C00-E90D-10A7-E83A-A10D829534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0106" y="4513836"/>
            <a:ext cx="49244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0000"/>
              <a:buFont typeface="宋体" panose="02010600030101010101" pitchFamily="2" charset="-122"/>
              <a:buChar char="-"/>
              <a:defRPr kumimoji="1"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2000">
                <a:solidFill>
                  <a:srgbClr val="006600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P2</a:t>
            </a:r>
            <a:endParaRPr kumimoji="0" lang="en-US" altLang="en-US" sz="200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4" name="Text Box 32">
            <a:extLst>
              <a:ext uri="{FF2B5EF4-FFF2-40B4-BE49-F238E27FC236}">
                <a16:creationId xmlns:a16="http://schemas.microsoft.com/office/drawing/2014/main" id="{97FE12BE-9DF1-66E7-B237-8D418B85DB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769" y="3041897"/>
            <a:ext cx="49244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0000"/>
              <a:buFont typeface="宋体" panose="02010600030101010101" pitchFamily="2" charset="-122"/>
              <a:buChar char="-"/>
              <a:defRPr kumimoji="1"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2000" dirty="0">
                <a:solidFill>
                  <a:srgbClr val="006600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P3</a:t>
            </a:r>
            <a:endParaRPr kumimoji="0" lang="en-US" altLang="en-US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5" name="Text Box 33">
            <a:extLst>
              <a:ext uri="{FF2B5EF4-FFF2-40B4-BE49-F238E27FC236}">
                <a16:creationId xmlns:a16="http://schemas.microsoft.com/office/drawing/2014/main" id="{9D2CDCBA-975C-1558-0285-696E5525BD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2046" y="4513836"/>
            <a:ext cx="49244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0000"/>
              <a:buFont typeface="宋体" panose="02010600030101010101" pitchFamily="2" charset="-122"/>
              <a:buChar char="-"/>
              <a:defRPr kumimoji="1"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2000">
                <a:solidFill>
                  <a:srgbClr val="006600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P4</a:t>
            </a:r>
            <a:endParaRPr kumimoji="0" lang="en-US" altLang="en-US" sz="200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grpSp>
        <p:nvGrpSpPr>
          <p:cNvPr id="36" name="Group 34">
            <a:extLst>
              <a:ext uri="{FF2B5EF4-FFF2-40B4-BE49-F238E27FC236}">
                <a16:creationId xmlns:a16="http://schemas.microsoft.com/office/drawing/2014/main" id="{A2E482C8-8073-39B8-06DA-DDFC8A3AF136}"/>
              </a:ext>
            </a:extLst>
          </p:cNvPr>
          <p:cNvGrpSpPr>
            <a:grpSpLocks/>
          </p:cNvGrpSpPr>
          <p:nvPr/>
        </p:nvGrpSpPr>
        <p:grpSpPr bwMode="auto">
          <a:xfrm>
            <a:off x="7549647" y="3143385"/>
            <a:ext cx="1480702" cy="356303"/>
            <a:chOff x="3834" y="2064"/>
            <a:chExt cx="1014" cy="244"/>
          </a:xfrm>
        </p:grpSpPr>
        <p:grpSp>
          <p:nvGrpSpPr>
            <p:cNvPr id="37" name="Group 35">
              <a:extLst>
                <a:ext uri="{FF2B5EF4-FFF2-40B4-BE49-F238E27FC236}">
                  <a16:creationId xmlns:a16="http://schemas.microsoft.com/office/drawing/2014/main" id="{6048BCDE-4FC9-57E9-437B-B5D69D8CAF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0" y="2064"/>
              <a:ext cx="960" cy="240"/>
              <a:chOff x="3408" y="3072"/>
              <a:chExt cx="960" cy="240"/>
            </a:xfrm>
          </p:grpSpPr>
          <p:sp>
            <p:nvSpPr>
              <p:cNvPr id="42" name="Rectangle 36">
                <a:extLst>
                  <a:ext uri="{FF2B5EF4-FFF2-40B4-BE49-F238E27FC236}">
                    <a16:creationId xmlns:a16="http://schemas.microsoft.com/office/drawing/2014/main" id="{9873C0CC-D38D-51AA-5927-9E061D789B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8" y="3072"/>
                <a:ext cx="240" cy="240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l"/>
                  <a:defRPr kumimoji="1" sz="3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l"/>
                  <a:defRPr kumimoji="1" sz="2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70000"/>
                  <a:buFont typeface="宋体" panose="02010600030101010101" pitchFamily="2" charset="-122"/>
                  <a:buChar char="-"/>
                  <a:defRPr kumimoji="1" sz="23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kumimoji="0" lang="en-US" altLang="en-US" sz="2000">
                  <a:latin typeface="微软雅黑" panose="020B0503020204020204" pitchFamily="82" charset="2"/>
                  <a:ea typeface="微软雅黑" panose="020B0503020204020204" pitchFamily="82" charset="2"/>
                </a:endParaRPr>
              </a:p>
            </p:txBody>
          </p:sp>
          <p:sp>
            <p:nvSpPr>
              <p:cNvPr id="43" name="Rectangle 37">
                <a:extLst>
                  <a:ext uri="{FF2B5EF4-FFF2-40B4-BE49-F238E27FC236}">
                    <a16:creationId xmlns:a16="http://schemas.microsoft.com/office/drawing/2014/main" id="{67EEF8B2-8EF1-6065-1A7F-AC8504DDB9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8" y="3072"/>
                <a:ext cx="240" cy="240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l"/>
                  <a:defRPr kumimoji="1" sz="3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l"/>
                  <a:defRPr kumimoji="1" sz="2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70000"/>
                  <a:buFont typeface="宋体" panose="02010600030101010101" pitchFamily="2" charset="-122"/>
                  <a:buChar char="-"/>
                  <a:defRPr kumimoji="1" sz="23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kumimoji="0" lang="en-US" altLang="en-US" sz="2000">
                  <a:latin typeface="微软雅黑" panose="020B0503020204020204" pitchFamily="82" charset="2"/>
                  <a:ea typeface="微软雅黑" panose="020B0503020204020204" pitchFamily="82" charset="2"/>
                </a:endParaRPr>
              </a:p>
            </p:txBody>
          </p:sp>
          <p:sp>
            <p:nvSpPr>
              <p:cNvPr id="44" name="Rectangle 38">
                <a:extLst>
                  <a:ext uri="{FF2B5EF4-FFF2-40B4-BE49-F238E27FC236}">
                    <a16:creationId xmlns:a16="http://schemas.microsoft.com/office/drawing/2014/main" id="{B52E6715-577A-CFA5-AFC4-F061ECA909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8" y="3072"/>
                <a:ext cx="240" cy="240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l"/>
                  <a:defRPr kumimoji="1" sz="3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l"/>
                  <a:defRPr kumimoji="1" sz="2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70000"/>
                  <a:buFont typeface="宋体" panose="02010600030101010101" pitchFamily="2" charset="-122"/>
                  <a:buChar char="-"/>
                  <a:defRPr kumimoji="1" sz="23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kumimoji="0" lang="en-US" altLang="en-US" sz="2000">
                  <a:latin typeface="微软雅黑" panose="020B0503020204020204" pitchFamily="82" charset="2"/>
                  <a:ea typeface="微软雅黑" panose="020B0503020204020204" pitchFamily="82" charset="2"/>
                </a:endParaRPr>
              </a:p>
            </p:txBody>
          </p:sp>
          <p:sp>
            <p:nvSpPr>
              <p:cNvPr id="45" name="Rectangle 39">
                <a:extLst>
                  <a:ext uri="{FF2B5EF4-FFF2-40B4-BE49-F238E27FC236}">
                    <a16:creationId xmlns:a16="http://schemas.microsoft.com/office/drawing/2014/main" id="{CE86AC4A-6C10-EDBC-32DE-3A2732E4BA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28" y="3072"/>
                <a:ext cx="240" cy="240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l"/>
                  <a:defRPr kumimoji="1" sz="3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l"/>
                  <a:defRPr kumimoji="1" sz="2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70000"/>
                  <a:buFont typeface="宋体" panose="02010600030101010101" pitchFamily="2" charset="-122"/>
                  <a:buChar char="-"/>
                  <a:defRPr kumimoji="1" sz="23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kumimoji="0" lang="en-US" altLang="en-US" sz="2000">
                  <a:latin typeface="微软雅黑" panose="020B0503020204020204" pitchFamily="82" charset="2"/>
                  <a:ea typeface="微软雅黑" panose="020B0503020204020204" pitchFamily="82" charset="2"/>
                </a:endParaRPr>
              </a:p>
            </p:txBody>
          </p:sp>
        </p:grpSp>
        <p:sp>
          <p:nvSpPr>
            <p:cNvPr id="38" name="Text Box 40">
              <a:extLst>
                <a:ext uri="{FF2B5EF4-FFF2-40B4-BE49-F238E27FC236}">
                  <a16:creationId xmlns:a16="http://schemas.microsoft.com/office/drawing/2014/main" id="{6BC2AF01-80E5-F51E-CF24-1C2981C02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34" y="2076"/>
              <a:ext cx="294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l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l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70000"/>
                <a:buFont typeface="宋体" panose="02010600030101010101" pitchFamily="2" charset="-122"/>
                <a:buChar char="-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1600">
                  <a:latin typeface="微软雅黑" panose="020B0503020204020204" pitchFamily="82" charset="2"/>
                  <a:ea typeface="微软雅黑" panose="020B0503020204020204" pitchFamily="82" charset="2"/>
                </a:rPr>
                <a:t>P1</a:t>
              </a:r>
              <a:endParaRPr kumimoji="0" lang="en-US" altLang="en-US" sz="2000"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  <p:sp>
          <p:nvSpPr>
            <p:cNvPr id="39" name="Text Box 41">
              <a:extLst>
                <a:ext uri="{FF2B5EF4-FFF2-40B4-BE49-F238E27FC236}">
                  <a16:creationId xmlns:a16="http://schemas.microsoft.com/office/drawing/2014/main" id="{1B3BEA9D-D604-25AC-2A44-0075A48E55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74" y="2076"/>
              <a:ext cx="294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l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l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70000"/>
                <a:buFont typeface="宋体" panose="02010600030101010101" pitchFamily="2" charset="-122"/>
                <a:buChar char="-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1600" dirty="0">
                  <a:latin typeface="微软雅黑" panose="020B0503020204020204" pitchFamily="82" charset="2"/>
                  <a:ea typeface="微软雅黑" panose="020B0503020204020204" pitchFamily="82" charset="2"/>
                </a:rPr>
                <a:t>P2</a:t>
              </a:r>
              <a:endParaRPr kumimoji="0" lang="en-US" altLang="en-US" sz="2000" dirty="0"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  <p:sp>
          <p:nvSpPr>
            <p:cNvPr id="40" name="Text Box 42">
              <a:extLst>
                <a:ext uri="{FF2B5EF4-FFF2-40B4-BE49-F238E27FC236}">
                  <a16:creationId xmlns:a16="http://schemas.microsoft.com/office/drawing/2014/main" id="{183106CC-13AC-7F50-2849-3E8B852E36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4" y="2076"/>
              <a:ext cx="294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l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l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70000"/>
                <a:buFont typeface="宋体" panose="02010600030101010101" pitchFamily="2" charset="-122"/>
                <a:buChar char="-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1600">
                  <a:latin typeface="微软雅黑" panose="020B0503020204020204" pitchFamily="82" charset="2"/>
                  <a:ea typeface="微软雅黑" panose="020B0503020204020204" pitchFamily="82" charset="2"/>
                </a:rPr>
                <a:t>P3</a:t>
              </a:r>
              <a:endParaRPr kumimoji="0" lang="en-US" altLang="en-US" sz="2000"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  <p:sp>
          <p:nvSpPr>
            <p:cNvPr id="41" name="Text Box 43">
              <a:extLst>
                <a:ext uri="{FF2B5EF4-FFF2-40B4-BE49-F238E27FC236}">
                  <a16:creationId xmlns:a16="http://schemas.microsoft.com/office/drawing/2014/main" id="{E01BCE94-7310-841A-77B5-6A6EFDE004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4" y="2076"/>
              <a:ext cx="294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l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l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70000"/>
                <a:buFont typeface="宋体" panose="02010600030101010101" pitchFamily="2" charset="-122"/>
                <a:buChar char="-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1600">
                  <a:latin typeface="微软雅黑" panose="020B0503020204020204" pitchFamily="82" charset="2"/>
                  <a:ea typeface="微软雅黑" panose="020B0503020204020204" pitchFamily="82" charset="2"/>
                </a:rPr>
                <a:t>P4</a:t>
              </a:r>
              <a:endParaRPr kumimoji="0" lang="en-US" altLang="en-US" sz="2000"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</p:grpSp>
      <p:grpSp>
        <p:nvGrpSpPr>
          <p:cNvPr id="46" name="Group 44">
            <a:extLst>
              <a:ext uri="{FF2B5EF4-FFF2-40B4-BE49-F238E27FC236}">
                <a16:creationId xmlns:a16="http://schemas.microsoft.com/office/drawing/2014/main" id="{F17BB7B8-E2B6-FE7D-0F7A-2C8D87587612}"/>
              </a:ext>
            </a:extLst>
          </p:cNvPr>
          <p:cNvGrpSpPr>
            <a:grpSpLocks/>
          </p:cNvGrpSpPr>
          <p:nvPr/>
        </p:nvGrpSpPr>
        <p:grpSpPr bwMode="auto">
          <a:xfrm>
            <a:off x="8477195" y="4460540"/>
            <a:ext cx="1401847" cy="400112"/>
            <a:chOff x="3840" y="2054"/>
            <a:chExt cx="960" cy="274"/>
          </a:xfrm>
        </p:grpSpPr>
        <p:grpSp>
          <p:nvGrpSpPr>
            <p:cNvPr id="47" name="Group 45">
              <a:extLst>
                <a:ext uri="{FF2B5EF4-FFF2-40B4-BE49-F238E27FC236}">
                  <a16:creationId xmlns:a16="http://schemas.microsoft.com/office/drawing/2014/main" id="{881A2D0D-29B3-BB26-A6D2-BD199E7841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0" y="2064"/>
              <a:ext cx="960" cy="240"/>
              <a:chOff x="3408" y="3072"/>
              <a:chExt cx="960" cy="240"/>
            </a:xfrm>
          </p:grpSpPr>
          <p:sp>
            <p:nvSpPr>
              <p:cNvPr id="52" name="Rectangle 46">
                <a:extLst>
                  <a:ext uri="{FF2B5EF4-FFF2-40B4-BE49-F238E27FC236}">
                    <a16:creationId xmlns:a16="http://schemas.microsoft.com/office/drawing/2014/main" id="{9F08E0E1-031F-4600-73B4-12FAB89914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8" y="3072"/>
                <a:ext cx="240" cy="240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l"/>
                  <a:defRPr kumimoji="1" sz="3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l"/>
                  <a:defRPr kumimoji="1" sz="2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70000"/>
                  <a:buFont typeface="宋体" panose="02010600030101010101" pitchFamily="2" charset="-122"/>
                  <a:buChar char="-"/>
                  <a:defRPr kumimoji="1" sz="23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kumimoji="0" lang="en-US" altLang="en-US" sz="2000">
                  <a:latin typeface="微软雅黑" panose="020B0503020204020204" pitchFamily="82" charset="2"/>
                  <a:ea typeface="微软雅黑" panose="020B0503020204020204" pitchFamily="82" charset="2"/>
                </a:endParaRPr>
              </a:p>
            </p:txBody>
          </p:sp>
          <p:sp>
            <p:nvSpPr>
              <p:cNvPr id="53" name="Rectangle 47">
                <a:extLst>
                  <a:ext uri="{FF2B5EF4-FFF2-40B4-BE49-F238E27FC236}">
                    <a16:creationId xmlns:a16="http://schemas.microsoft.com/office/drawing/2014/main" id="{97C7558A-898B-5F78-34C2-CB96E47606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8" y="3072"/>
                <a:ext cx="240" cy="240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l"/>
                  <a:defRPr kumimoji="1" sz="3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l"/>
                  <a:defRPr kumimoji="1" sz="2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70000"/>
                  <a:buFont typeface="宋体" panose="02010600030101010101" pitchFamily="2" charset="-122"/>
                  <a:buChar char="-"/>
                  <a:defRPr kumimoji="1" sz="23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kumimoji="0" lang="en-US" altLang="en-US" sz="2000">
                  <a:latin typeface="微软雅黑" panose="020B0503020204020204" pitchFamily="82" charset="2"/>
                  <a:ea typeface="微软雅黑" panose="020B0503020204020204" pitchFamily="82" charset="2"/>
                </a:endParaRPr>
              </a:p>
            </p:txBody>
          </p:sp>
          <p:sp>
            <p:nvSpPr>
              <p:cNvPr id="54" name="Rectangle 48">
                <a:extLst>
                  <a:ext uri="{FF2B5EF4-FFF2-40B4-BE49-F238E27FC236}">
                    <a16:creationId xmlns:a16="http://schemas.microsoft.com/office/drawing/2014/main" id="{95E98205-38B4-4A9E-6CC2-2E818313BA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8" y="3072"/>
                <a:ext cx="240" cy="240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l"/>
                  <a:defRPr kumimoji="1" sz="3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l"/>
                  <a:defRPr kumimoji="1" sz="2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70000"/>
                  <a:buFont typeface="宋体" panose="02010600030101010101" pitchFamily="2" charset="-122"/>
                  <a:buChar char="-"/>
                  <a:defRPr kumimoji="1" sz="23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kumimoji="0" lang="en-US" altLang="en-US" sz="2000">
                  <a:latin typeface="微软雅黑" panose="020B0503020204020204" pitchFamily="82" charset="2"/>
                  <a:ea typeface="微软雅黑" panose="020B0503020204020204" pitchFamily="82" charset="2"/>
                </a:endParaRPr>
              </a:p>
            </p:txBody>
          </p:sp>
          <p:sp>
            <p:nvSpPr>
              <p:cNvPr id="55" name="Rectangle 49">
                <a:extLst>
                  <a:ext uri="{FF2B5EF4-FFF2-40B4-BE49-F238E27FC236}">
                    <a16:creationId xmlns:a16="http://schemas.microsoft.com/office/drawing/2014/main" id="{C3549883-11CB-77AF-DD60-FC2F46FC82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28" y="3072"/>
                <a:ext cx="240" cy="240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l"/>
                  <a:defRPr kumimoji="1" sz="3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l"/>
                  <a:defRPr kumimoji="1" sz="2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70000"/>
                  <a:buFont typeface="宋体" panose="02010600030101010101" pitchFamily="2" charset="-122"/>
                  <a:buChar char="-"/>
                  <a:defRPr kumimoji="1" sz="23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kumimoji="0" lang="en-US" altLang="en-US" sz="2000">
                  <a:latin typeface="微软雅黑" panose="020B0503020204020204" pitchFamily="82" charset="2"/>
                  <a:ea typeface="微软雅黑" panose="020B0503020204020204" pitchFamily="82" charset="2"/>
                </a:endParaRPr>
              </a:p>
            </p:txBody>
          </p:sp>
        </p:grpSp>
        <p:sp>
          <p:nvSpPr>
            <p:cNvPr id="48" name="Text Box 50">
              <a:extLst>
                <a:ext uri="{FF2B5EF4-FFF2-40B4-BE49-F238E27FC236}">
                  <a16:creationId xmlns:a16="http://schemas.microsoft.com/office/drawing/2014/main" id="{BD260396-5187-3841-BC41-AACDF5ECDF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1" y="2076"/>
              <a:ext cx="201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l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l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70000"/>
                <a:buFont typeface="宋体" panose="02010600030101010101" pitchFamily="2" charset="-122"/>
                <a:buChar char="-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1600">
                  <a:latin typeface="微软雅黑" panose="020B0503020204020204" pitchFamily="82" charset="2"/>
                  <a:ea typeface="微软雅黑" panose="020B0503020204020204" pitchFamily="82" charset="2"/>
                </a:rPr>
                <a:t>F</a:t>
              </a:r>
              <a:endParaRPr kumimoji="0" lang="en-US" altLang="en-US" sz="2000"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  <p:sp>
          <p:nvSpPr>
            <p:cNvPr id="49" name="Text Box 51">
              <a:extLst>
                <a:ext uri="{FF2B5EF4-FFF2-40B4-BE49-F238E27FC236}">
                  <a16:creationId xmlns:a16="http://schemas.microsoft.com/office/drawing/2014/main" id="{4FDF5DE3-1346-6458-4C72-185CE87045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8" y="2076"/>
              <a:ext cx="231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l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l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70000"/>
                <a:buFont typeface="宋体" panose="02010600030101010101" pitchFamily="2" charset="-122"/>
                <a:buChar char="-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1600">
                  <a:latin typeface="微软雅黑" panose="020B0503020204020204" pitchFamily="82" charset="2"/>
                  <a:ea typeface="微软雅黑" panose="020B0503020204020204" pitchFamily="82" charset="2"/>
                </a:rPr>
                <a:t>G</a:t>
              </a:r>
              <a:endParaRPr kumimoji="0" lang="en-US" altLang="en-US" sz="2000"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  <p:sp>
          <p:nvSpPr>
            <p:cNvPr id="50" name="Text Box 52">
              <a:extLst>
                <a:ext uri="{FF2B5EF4-FFF2-40B4-BE49-F238E27FC236}">
                  <a16:creationId xmlns:a16="http://schemas.microsoft.com/office/drawing/2014/main" id="{520D2793-5180-B32D-93E3-D3DD6FB98F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99" y="2054"/>
              <a:ext cx="127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l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l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70000"/>
                <a:buFont typeface="宋体" panose="02010600030101010101" pitchFamily="2" charset="-122"/>
                <a:buChar char="-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 sz="2000"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  <p:sp>
          <p:nvSpPr>
            <p:cNvPr id="51" name="Text Box 53">
              <a:extLst>
                <a:ext uri="{FF2B5EF4-FFF2-40B4-BE49-F238E27FC236}">
                  <a16:creationId xmlns:a16="http://schemas.microsoft.com/office/drawing/2014/main" id="{E22DF1EA-DD20-002E-E623-E7855BFFBD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39" y="2054"/>
              <a:ext cx="127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l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l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70000"/>
                <a:buFont typeface="宋体" panose="02010600030101010101" pitchFamily="2" charset="-122"/>
                <a:buChar char="-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 sz="2000"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</p:grpSp>
      <p:grpSp>
        <p:nvGrpSpPr>
          <p:cNvPr id="56" name="Group 54">
            <a:extLst>
              <a:ext uri="{FF2B5EF4-FFF2-40B4-BE49-F238E27FC236}">
                <a16:creationId xmlns:a16="http://schemas.microsoft.com/office/drawing/2014/main" id="{2076E6AD-ACED-D7A1-D174-152BE63A2C7E}"/>
              </a:ext>
            </a:extLst>
          </p:cNvPr>
          <p:cNvGrpSpPr>
            <a:grpSpLocks/>
          </p:cNvGrpSpPr>
          <p:nvPr/>
        </p:nvGrpSpPr>
        <p:grpSpPr bwMode="auto">
          <a:xfrm>
            <a:off x="6965101" y="4460540"/>
            <a:ext cx="1401847" cy="400112"/>
            <a:chOff x="3840" y="2054"/>
            <a:chExt cx="960" cy="274"/>
          </a:xfrm>
        </p:grpSpPr>
        <p:grpSp>
          <p:nvGrpSpPr>
            <p:cNvPr id="57" name="Group 55">
              <a:extLst>
                <a:ext uri="{FF2B5EF4-FFF2-40B4-BE49-F238E27FC236}">
                  <a16:creationId xmlns:a16="http://schemas.microsoft.com/office/drawing/2014/main" id="{AC77575E-0836-43D0-B28A-A6FCF34177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0" y="2064"/>
              <a:ext cx="960" cy="240"/>
              <a:chOff x="3408" y="3072"/>
              <a:chExt cx="960" cy="240"/>
            </a:xfrm>
          </p:grpSpPr>
          <p:sp>
            <p:nvSpPr>
              <p:cNvPr id="62" name="Rectangle 56">
                <a:extLst>
                  <a:ext uri="{FF2B5EF4-FFF2-40B4-BE49-F238E27FC236}">
                    <a16:creationId xmlns:a16="http://schemas.microsoft.com/office/drawing/2014/main" id="{108D26B3-C7B5-F45E-E984-3338333BF7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8" y="3072"/>
                <a:ext cx="240" cy="240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l"/>
                  <a:defRPr kumimoji="1" sz="3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l"/>
                  <a:defRPr kumimoji="1" sz="2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70000"/>
                  <a:buFont typeface="宋体" panose="02010600030101010101" pitchFamily="2" charset="-122"/>
                  <a:buChar char="-"/>
                  <a:defRPr kumimoji="1" sz="23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kumimoji="0" lang="en-US" altLang="en-US" sz="2000">
                  <a:latin typeface="微软雅黑" panose="020B0503020204020204" pitchFamily="82" charset="2"/>
                  <a:ea typeface="微软雅黑" panose="020B0503020204020204" pitchFamily="82" charset="2"/>
                </a:endParaRPr>
              </a:p>
            </p:txBody>
          </p:sp>
          <p:sp>
            <p:nvSpPr>
              <p:cNvPr id="63" name="Rectangle 57">
                <a:extLst>
                  <a:ext uri="{FF2B5EF4-FFF2-40B4-BE49-F238E27FC236}">
                    <a16:creationId xmlns:a16="http://schemas.microsoft.com/office/drawing/2014/main" id="{68F830E9-FBEF-A441-12B7-D81DFB1E59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8" y="3072"/>
                <a:ext cx="240" cy="240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l"/>
                  <a:defRPr kumimoji="1" sz="3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l"/>
                  <a:defRPr kumimoji="1" sz="2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70000"/>
                  <a:buFont typeface="宋体" panose="02010600030101010101" pitchFamily="2" charset="-122"/>
                  <a:buChar char="-"/>
                  <a:defRPr kumimoji="1" sz="23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kumimoji="0" lang="en-US" altLang="en-US" sz="2000">
                  <a:latin typeface="微软雅黑" panose="020B0503020204020204" pitchFamily="82" charset="2"/>
                  <a:ea typeface="微软雅黑" panose="020B0503020204020204" pitchFamily="82" charset="2"/>
                </a:endParaRPr>
              </a:p>
            </p:txBody>
          </p:sp>
          <p:sp>
            <p:nvSpPr>
              <p:cNvPr id="64" name="Rectangle 58">
                <a:extLst>
                  <a:ext uri="{FF2B5EF4-FFF2-40B4-BE49-F238E27FC236}">
                    <a16:creationId xmlns:a16="http://schemas.microsoft.com/office/drawing/2014/main" id="{84EBA10D-239F-6CEC-8EAB-4FD81D5E60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8" y="3072"/>
                <a:ext cx="240" cy="240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l"/>
                  <a:defRPr kumimoji="1" sz="3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l"/>
                  <a:defRPr kumimoji="1" sz="2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70000"/>
                  <a:buFont typeface="宋体" panose="02010600030101010101" pitchFamily="2" charset="-122"/>
                  <a:buChar char="-"/>
                  <a:defRPr kumimoji="1" sz="23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kumimoji="0" lang="en-US" altLang="en-US" sz="2000">
                  <a:latin typeface="微软雅黑" panose="020B0503020204020204" pitchFamily="82" charset="2"/>
                  <a:ea typeface="微软雅黑" panose="020B0503020204020204" pitchFamily="82" charset="2"/>
                </a:endParaRPr>
              </a:p>
            </p:txBody>
          </p:sp>
          <p:sp>
            <p:nvSpPr>
              <p:cNvPr id="65" name="Rectangle 59">
                <a:extLst>
                  <a:ext uri="{FF2B5EF4-FFF2-40B4-BE49-F238E27FC236}">
                    <a16:creationId xmlns:a16="http://schemas.microsoft.com/office/drawing/2014/main" id="{C936FBBC-5A5F-DEA3-8738-1C1B153AA3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28" y="3072"/>
                <a:ext cx="240" cy="240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l"/>
                  <a:defRPr kumimoji="1" sz="3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l"/>
                  <a:defRPr kumimoji="1" sz="2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70000"/>
                  <a:buFont typeface="宋体" panose="02010600030101010101" pitchFamily="2" charset="-122"/>
                  <a:buChar char="-"/>
                  <a:defRPr kumimoji="1" sz="23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kumimoji="0" lang="en-US" altLang="en-US" sz="2000">
                  <a:latin typeface="微软雅黑" panose="020B0503020204020204" pitchFamily="82" charset="2"/>
                  <a:ea typeface="微软雅黑" panose="020B0503020204020204" pitchFamily="82" charset="2"/>
                </a:endParaRPr>
              </a:p>
            </p:txBody>
          </p:sp>
        </p:grpSp>
        <p:sp>
          <p:nvSpPr>
            <p:cNvPr id="58" name="Text Box 60">
              <a:extLst>
                <a:ext uri="{FF2B5EF4-FFF2-40B4-BE49-F238E27FC236}">
                  <a16:creationId xmlns:a16="http://schemas.microsoft.com/office/drawing/2014/main" id="{C3218D45-8B19-A9BE-27B3-384E3C87B9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65" y="2076"/>
              <a:ext cx="234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l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l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70000"/>
                <a:buFont typeface="宋体" panose="02010600030101010101" pitchFamily="2" charset="-122"/>
                <a:buChar char="-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1600">
                  <a:latin typeface="微软雅黑" panose="020B0503020204020204" pitchFamily="82" charset="2"/>
                  <a:ea typeface="微软雅黑" panose="020B0503020204020204" pitchFamily="82" charset="2"/>
                </a:rPr>
                <a:t>D</a:t>
              </a:r>
              <a:endParaRPr kumimoji="0" lang="en-US" altLang="en-US" sz="2000"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  <p:sp>
          <p:nvSpPr>
            <p:cNvPr id="59" name="Text Box 61">
              <a:extLst>
                <a:ext uri="{FF2B5EF4-FFF2-40B4-BE49-F238E27FC236}">
                  <a16:creationId xmlns:a16="http://schemas.microsoft.com/office/drawing/2014/main" id="{09A43F08-3E66-6DA5-8C6B-FE930862EF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0" y="2076"/>
              <a:ext cx="203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l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l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70000"/>
                <a:buFont typeface="宋体" panose="02010600030101010101" pitchFamily="2" charset="-122"/>
                <a:buChar char="-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1600" dirty="0">
                  <a:latin typeface="微软雅黑" panose="020B0503020204020204" pitchFamily="82" charset="2"/>
                  <a:ea typeface="微软雅黑" panose="020B0503020204020204" pitchFamily="82" charset="2"/>
                </a:rPr>
                <a:t>E</a:t>
              </a:r>
              <a:endParaRPr kumimoji="0" lang="en-US" altLang="en-US" sz="2000" dirty="0"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  <p:sp>
          <p:nvSpPr>
            <p:cNvPr id="60" name="Text Box 62">
              <a:extLst>
                <a:ext uri="{FF2B5EF4-FFF2-40B4-BE49-F238E27FC236}">
                  <a16:creationId xmlns:a16="http://schemas.microsoft.com/office/drawing/2014/main" id="{D2770D5B-10FF-3982-3D1C-470D08C8D5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99" y="2054"/>
              <a:ext cx="127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l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l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70000"/>
                <a:buFont typeface="宋体" panose="02010600030101010101" pitchFamily="2" charset="-122"/>
                <a:buChar char="-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 sz="2000"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  <p:sp>
          <p:nvSpPr>
            <p:cNvPr id="61" name="Text Box 63">
              <a:extLst>
                <a:ext uri="{FF2B5EF4-FFF2-40B4-BE49-F238E27FC236}">
                  <a16:creationId xmlns:a16="http://schemas.microsoft.com/office/drawing/2014/main" id="{7D569EBB-37C8-C395-A9D7-25E53C9C3F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39" y="2054"/>
              <a:ext cx="127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l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l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70000"/>
                <a:buFont typeface="宋体" panose="02010600030101010101" pitchFamily="2" charset="-122"/>
                <a:buChar char="-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 sz="2000"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</p:grpSp>
      <p:grpSp>
        <p:nvGrpSpPr>
          <p:cNvPr id="66" name="Group 64">
            <a:extLst>
              <a:ext uri="{FF2B5EF4-FFF2-40B4-BE49-F238E27FC236}">
                <a16:creationId xmlns:a16="http://schemas.microsoft.com/office/drawing/2014/main" id="{6216EF60-D0B2-9308-565D-E8681A7D1A30}"/>
              </a:ext>
            </a:extLst>
          </p:cNvPr>
          <p:cNvGrpSpPr>
            <a:grpSpLocks/>
          </p:cNvGrpSpPr>
          <p:nvPr/>
        </p:nvGrpSpPr>
        <p:grpSpPr bwMode="auto">
          <a:xfrm>
            <a:off x="10034563" y="4460540"/>
            <a:ext cx="1401847" cy="400112"/>
            <a:chOff x="3840" y="2054"/>
            <a:chExt cx="960" cy="274"/>
          </a:xfrm>
        </p:grpSpPr>
        <p:grpSp>
          <p:nvGrpSpPr>
            <p:cNvPr id="67" name="Group 65">
              <a:extLst>
                <a:ext uri="{FF2B5EF4-FFF2-40B4-BE49-F238E27FC236}">
                  <a16:creationId xmlns:a16="http://schemas.microsoft.com/office/drawing/2014/main" id="{DB69088B-F7D1-4DF2-D5CC-ACF5EB4F379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0" y="2064"/>
              <a:ext cx="960" cy="240"/>
              <a:chOff x="3408" y="3072"/>
              <a:chExt cx="960" cy="240"/>
            </a:xfrm>
          </p:grpSpPr>
          <p:sp>
            <p:nvSpPr>
              <p:cNvPr id="72" name="Rectangle 66">
                <a:extLst>
                  <a:ext uri="{FF2B5EF4-FFF2-40B4-BE49-F238E27FC236}">
                    <a16:creationId xmlns:a16="http://schemas.microsoft.com/office/drawing/2014/main" id="{51C6CD50-EFF1-9E40-2940-D471E65E09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8" y="3072"/>
                <a:ext cx="240" cy="240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l"/>
                  <a:defRPr kumimoji="1" sz="3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l"/>
                  <a:defRPr kumimoji="1" sz="2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70000"/>
                  <a:buFont typeface="宋体" panose="02010600030101010101" pitchFamily="2" charset="-122"/>
                  <a:buChar char="-"/>
                  <a:defRPr kumimoji="1" sz="23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kumimoji="0" lang="en-US" altLang="en-US" sz="2000">
                  <a:latin typeface="微软雅黑" panose="020B0503020204020204" pitchFamily="82" charset="2"/>
                  <a:ea typeface="微软雅黑" panose="020B0503020204020204" pitchFamily="82" charset="2"/>
                </a:endParaRPr>
              </a:p>
            </p:txBody>
          </p:sp>
          <p:sp>
            <p:nvSpPr>
              <p:cNvPr id="73" name="Rectangle 67">
                <a:extLst>
                  <a:ext uri="{FF2B5EF4-FFF2-40B4-BE49-F238E27FC236}">
                    <a16:creationId xmlns:a16="http://schemas.microsoft.com/office/drawing/2014/main" id="{48A3740F-5558-43D0-803C-2112D1109A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8" y="3072"/>
                <a:ext cx="240" cy="240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l"/>
                  <a:defRPr kumimoji="1" sz="3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l"/>
                  <a:defRPr kumimoji="1" sz="2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70000"/>
                  <a:buFont typeface="宋体" panose="02010600030101010101" pitchFamily="2" charset="-122"/>
                  <a:buChar char="-"/>
                  <a:defRPr kumimoji="1" sz="23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kumimoji="0" lang="en-US" altLang="en-US" sz="2000">
                  <a:latin typeface="微软雅黑" panose="020B0503020204020204" pitchFamily="82" charset="2"/>
                  <a:ea typeface="微软雅黑" panose="020B0503020204020204" pitchFamily="82" charset="2"/>
                </a:endParaRPr>
              </a:p>
            </p:txBody>
          </p:sp>
          <p:sp>
            <p:nvSpPr>
              <p:cNvPr id="74" name="Rectangle 68">
                <a:extLst>
                  <a:ext uri="{FF2B5EF4-FFF2-40B4-BE49-F238E27FC236}">
                    <a16:creationId xmlns:a16="http://schemas.microsoft.com/office/drawing/2014/main" id="{1530942F-D66E-5849-157F-A37677EBB7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8" y="3072"/>
                <a:ext cx="240" cy="240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l"/>
                  <a:defRPr kumimoji="1" sz="3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l"/>
                  <a:defRPr kumimoji="1" sz="2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70000"/>
                  <a:buFont typeface="宋体" panose="02010600030101010101" pitchFamily="2" charset="-122"/>
                  <a:buChar char="-"/>
                  <a:defRPr kumimoji="1" sz="23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kumimoji="0" lang="en-US" altLang="en-US" sz="2000">
                  <a:latin typeface="微软雅黑" panose="020B0503020204020204" pitchFamily="82" charset="2"/>
                  <a:ea typeface="微软雅黑" panose="020B0503020204020204" pitchFamily="82" charset="2"/>
                </a:endParaRPr>
              </a:p>
            </p:txBody>
          </p:sp>
          <p:sp>
            <p:nvSpPr>
              <p:cNvPr id="75" name="Rectangle 69">
                <a:extLst>
                  <a:ext uri="{FF2B5EF4-FFF2-40B4-BE49-F238E27FC236}">
                    <a16:creationId xmlns:a16="http://schemas.microsoft.com/office/drawing/2014/main" id="{BF686D2E-92E3-181F-2878-59B6EA06FE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28" y="3072"/>
                <a:ext cx="240" cy="240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l"/>
                  <a:defRPr kumimoji="1" sz="3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l"/>
                  <a:defRPr kumimoji="1" sz="2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70000"/>
                  <a:buFont typeface="宋体" panose="02010600030101010101" pitchFamily="2" charset="-122"/>
                  <a:buChar char="-"/>
                  <a:defRPr kumimoji="1" sz="23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kumimoji="0" lang="en-US" altLang="en-US" sz="2000">
                  <a:latin typeface="微软雅黑" panose="020B0503020204020204" pitchFamily="82" charset="2"/>
                  <a:ea typeface="微软雅黑" panose="020B0503020204020204" pitchFamily="82" charset="2"/>
                </a:endParaRPr>
              </a:p>
            </p:txBody>
          </p:sp>
        </p:grpSp>
        <p:sp>
          <p:nvSpPr>
            <p:cNvPr id="68" name="Text Box 70">
              <a:extLst>
                <a:ext uri="{FF2B5EF4-FFF2-40B4-BE49-F238E27FC236}">
                  <a16:creationId xmlns:a16="http://schemas.microsoft.com/office/drawing/2014/main" id="{5EBC17C2-C5A6-9895-28BC-07C95CDB8A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64" y="2076"/>
              <a:ext cx="235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l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l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70000"/>
                <a:buFont typeface="宋体" panose="02010600030101010101" pitchFamily="2" charset="-122"/>
                <a:buChar char="-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1600" dirty="0">
                  <a:latin typeface="微软雅黑" panose="020B0503020204020204" pitchFamily="82" charset="2"/>
                  <a:ea typeface="微软雅黑" panose="020B0503020204020204" pitchFamily="82" charset="2"/>
                </a:rPr>
                <a:t>H</a:t>
              </a:r>
              <a:endParaRPr kumimoji="0" lang="en-US" altLang="en-US" sz="2000" dirty="0"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  <p:sp>
          <p:nvSpPr>
            <p:cNvPr id="69" name="Text Box 71">
              <a:extLst>
                <a:ext uri="{FF2B5EF4-FFF2-40B4-BE49-F238E27FC236}">
                  <a16:creationId xmlns:a16="http://schemas.microsoft.com/office/drawing/2014/main" id="{8A8FFA58-1250-F892-8575-64BDC23D08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38" y="2076"/>
              <a:ext cx="168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l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l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70000"/>
                <a:buFont typeface="宋体" panose="02010600030101010101" pitchFamily="2" charset="-122"/>
                <a:buChar char="-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1600">
                  <a:latin typeface="微软雅黑" panose="020B0503020204020204" pitchFamily="82" charset="2"/>
                  <a:ea typeface="微软雅黑" panose="020B0503020204020204" pitchFamily="82" charset="2"/>
                </a:rPr>
                <a:t>I</a:t>
              </a:r>
              <a:endParaRPr kumimoji="0" lang="en-US" altLang="en-US" sz="2000"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  <p:sp>
          <p:nvSpPr>
            <p:cNvPr id="70" name="Text Box 72">
              <a:extLst>
                <a:ext uri="{FF2B5EF4-FFF2-40B4-BE49-F238E27FC236}">
                  <a16:creationId xmlns:a16="http://schemas.microsoft.com/office/drawing/2014/main" id="{A472C688-E2B8-A5EF-2EBF-52DD32F2E6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70" y="2076"/>
              <a:ext cx="182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l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l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70000"/>
                <a:buFont typeface="宋体" panose="02010600030101010101" pitchFamily="2" charset="-122"/>
                <a:buChar char="-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1600">
                  <a:latin typeface="微软雅黑" panose="020B0503020204020204" pitchFamily="82" charset="2"/>
                  <a:ea typeface="微软雅黑" panose="020B0503020204020204" pitchFamily="82" charset="2"/>
                </a:rPr>
                <a:t>J</a:t>
              </a:r>
              <a:endParaRPr kumimoji="0" lang="en-US" altLang="en-US" sz="2000"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  <p:sp>
          <p:nvSpPr>
            <p:cNvPr id="71" name="Text Box 73">
              <a:extLst>
                <a:ext uri="{FF2B5EF4-FFF2-40B4-BE49-F238E27FC236}">
                  <a16:creationId xmlns:a16="http://schemas.microsoft.com/office/drawing/2014/main" id="{5961D300-B57A-7A49-C870-7552115D01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39" y="2054"/>
              <a:ext cx="127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l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l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70000"/>
                <a:buFont typeface="宋体" panose="02010600030101010101" pitchFamily="2" charset="-122"/>
                <a:buChar char="-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 sz="2000"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</p:grpSp>
      <p:grpSp>
        <p:nvGrpSpPr>
          <p:cNvPr id="76" name="Group 74">
            <a:extLst>
              <a:ext uri="{FF2B5EF4-FFF2-40B4-BE49-F238E27FC236}">
                <a16:creationId xmlns:a16="http://schemas.microsoft.com/office/drawing/2014/main" id="{4F95E139-7F6A-537C-A647-1B0B4924CFE4}"/>
              </a:ext>
            </a:extLst>
          </p:cNvPr>
          <p:cNvGrpSpPr>
            <a:grpSpLocks/>
          </p:cNvGrpSpPr>
          <p:nvPr/>
        </p:nvGrpSpPr>
        <p:grpSpPr bwMode="auto">
          <a:xfrm>
            <a:off x="5322473" y="4460540"/>
            <a:ext cx="1401847" cy="400112"/>
            <a:chOff x="3840" y="2054"/>
            <a:chExt cx="960" cy="274"/>
          </a:xfrm>
        </p:grpSpPr>
        <p:grpSp>
          <p:nvGrpSpPr>
            <p:cNvPr id="77" name="Group 75">
              <a:extLst>
                <a:ext uri="{FF2B5EF4-FFF2-40B4-BE49-F238E27FC236}">
                  <a16:creationId xmlns:a16="http://schemas.microsoft.com/office/drawing/2014/main" id="{F3C203D5-6742-6725-8755-99B5DEC319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0" y="2064"/>
              <a:ext cx="960" cy="240"/>
              <a:chOff x="3408" y="3072"/>
              <a:chExt cx="960" cy="240"/>
            </a:xfrm>
          </p:grpSpPr>
          <p:sp>
            <p:nvSpPr>
              <p:cNvPr id="82" name="Rectangle 76">
                <a:extLst>
                  <a:ext uri="{FF2B5EF4-FFF2-40B4-BE49-F238E27FC236}">
                    <a16:creationId xmlns:a16="http://schemas.microsoft.com/office/drawing/2014/main" id="{C9BA3E13-C5EF-CEF4-DAF9-8C09F23D3C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8" y="3072"/>
                <a:ext cx="240" cy="240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l"/>
                  <a:defRPr kumimoji="1" sz="3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l"/>
                  <a:defRPr kumimoji="1" sz="2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70000"/>
                  <a:buFont typeface="宋体" panose="02010600030101010101" pitchFamily="2" charset="-122"/>
                  <a:buChar char="-"/>
                  <a:defRPr kumimoji="1" sz="23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kumimoji="0" lang="en-US" altLang="en-US" sz="2000">
                  <a:latin typeface="微软雅黑" panose="020B0503020204020204" pitchFamily="82" charset="2"/>
                  <a:ea typeface="微软雅黑" panose="020B0503020204020204" pitchFamily="82" charset="2"/>
                </a:endParaRPr>
              </a:p>
            </p:txBody>
          </p:sp>
          <p:sp>
            <p:nvSpPr>
              <p:cNvPr id="83" name="Rectangle 77">
                <a:extLst>
                  <a:ext uri="{FF2B5EF4-FFF2-40B4-BE49-F238E27FC236}">
                    <a16:creationId xmlns:a16="http://schemas.microsoft.com/office/drawing/2014/main" id="{A66550D6-AF22-9144-65AC-BA08C3CE91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8" y="3072"/>
                <a:ext cx="240" cy="240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l"/>
                  <a:defRPr kumimoji="1" sz="3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l"/>
                  <a:defRPr kumimoji="1" sz="2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70000"/>
                  <a:buFont typeface="宋体" panose="02010600030101010101" pitchFamily="2" charset="-122"/>
                  <a:buChar char="-"/>
                  <a:defRPr kumimoji="1" sz="23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kumimoji="0" lang="en-US" altLang="en-US" sz="2000">
                  <a:latin typeface="微软雅黑" panose="020B0503020204020204" pitchFamily="82" charset="2"/>
                  <a:ea typeface="微软雅黑" panose="020B0503020204020204" pitchFamily="82" charset="2"/>
                </a:endParaRPr>
              </a:p>
            </p:txBody>
          </p:sp>
          <p:sp>
            <p:nvSpPr>
              <p:cNvPr id="84" name="Rectangle 78">
                <a:extLst>
                  <a:ext uri="{FF2B5EF4-FFF2-40B4-BE49-F238E27FC236}">
                    <a16:creationId xmlns:a16="http://schemas.microsoft.com/office/drawing/2014/main" id="{3F5541A6-F0C2-BF90-2616-E9F68E4FB3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8" y="3072"/>
                <a:ext cx="240" cy="240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l"/>
                  <a:defRPr kumimoji="1" sz="3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l"/>
                  <a:defRPr kumimoji="1" sz="2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70000"/>
                  <a:buFont typeface="宋体" panose="02010600030101010101" pitchFamily="2" charset="-122"/>
                  <a:buChar char="-"/>
                  <a:defRPr kumimoji="1" sz="23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kumimoji="0" lang="en-US" altLang="en-US" sz="2000">
                  <a:latin typeface="微软雅黑" panose="020B0503020204020204" pitchFamily="82" charset="2"/>
                  <a:ea typeface="微软雅黑" panose="020B0503020204020204" pitchFamily="82" charset="2"/>
                </a:endParaRPr>
              </a:p>
            </p:txBody>
          </p:sp>
          <p:sp>
            <p:nvSpPr>
              <p:cNvPr id="85" name="Rectangle 79">
                <a:extLst>
                  <a:ext uri="{FF2B5EF4-FFF2-40B4-BE49-F238E27FC236}">
                    <a16:creationId xmlns:a16="http://schemas.microsoft.com/office/drawing/2014/main" id="{587F9D0F-1B4B-DFD7-F08C-D541BB8B01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28" y="3072"/>
                <a:ext cx="240" cy="240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miter lim="800000"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l"/>
                  <a:defRPr kumimoji="1" sz="3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l"/>
                  <a:defRPr kumimoji="1" sz="26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70000"/>
                  <a:buFont typeface="宋体" panose="02010600030101010101" pitchFamily="2" charset="-122"/>
                  <a:buChar char="-"/>
                  <a:defRPr kumimoji="1" sz="23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itchFamily="2" charset="2"/>
                  <a:buChar char="§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kumimoji="0" lang="en-US" altLang="en-US" sz="2000">
                  <a:latin typeface="微软雅黑" panose="020B0503020204020204" pitchFamily="82" charset="2"/>
                  <a:ea typeface="微软雅黑" panose="020B0503020204020204" pitchFamily="82" charset="2"/>
                </a:endParaRPr>
              </a:p>
            </p:txBody>
          </p:sp>
        </p:grpSp>
        <p:sp>
          <p:nvSpPr>
            <p:cNvPr id="78" name="Text Box 80">
              <a:extLst>
                <a:ext uri="{FF2B5EF4-FFF2-40B4-BE49-F238E27FC236}">
                  <a16:creationId xmlns:a16="http://schemas.microsoft.com/office/drawing/2014/main" id="{68AB13F5-C501-A249-6DD8-27FEB9D9E7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69" y="2076"/>
              <a:ext cx="225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l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l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70000"/>
                <a:buFont typeface="宋体" panose="02010600030101010101" pitchFamily="2" charset="-122"/>
                <a:buChar char="-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1600">
                  <a:latin typeface="微软雅黑" panose="020B0503020204020204" pitchFamily="82" charset="2"/>
                  <a:ea typeface="微软雅黑" panose="020B0503020204020204" pitchFamily="82" charset="2"/>
                </a:rPr>
                <a:t>A</a:t>
              </a:r>
              <a:endParaRPr kumimoji="0" lang="en-US" altLang="en-US" sz="2000"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  <p:sp>
          <p:nvSpPr>
            <p:cNvPr id="79" name="Text Box 81">
              <a:extLst>
                <a:ext uri="{FF2B5EF4-FFF2-40B4-BE49-F238E27FC236}">
                  <a16:creationId xmlns:a16="http://schemas.microsoft.com/office/drawing/2014/main" id="{A10E1BF0-2EE7-029C-E105-8AEE93D056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3" y="2076"/>
              <a:ext cx="214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l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l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70000"/>
                <a:buFont typeface="宋体" panose="02010600030101010101" pitchFamily="2" charset="-122"/>
                <a:buChar char="-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1600">
                  <a:latin typeface="微软雅黑" panose="020B0503020204020204" pitchFamily="82" charset="2"/>
                  <a:ea typeface="微软雅黑" panose="020B0503020204020204" pitchFamily="82" charset="2"/>
                </a:rPr>
                <a:t>B</a:t>
              </a:r>
              <a:endParaRPr kumimoji="0" lang="en-US" altLang="en-US" sz="2000"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  <p:sp>
          <p:nvSpPr>
            <p:cNvPr id="80" name="Text Box 82">
              <a:extLst>
                <a:ext uri="{FF2B5EF4-FFF2-40B4-BE49-F238E27FC236}">
                  <a16:creationId xmlns:a16="http://schemas.microsoft.com/office/drawing/2014/main" id="{C852D859-F7A2-C41C-7042-81704D4CA0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3" y="2076"/>
              <a:ext cx="221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l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l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70000"/>
                <a:buFont typeface="宋体" panose="02010600030101010101" pitchFamily="2" charset="-122"/>
                <a:buChar char="-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1600">
                  <a:latin typeface="微软雅黑" panose="020B0503020204020204" pitchFamily="82" charset="2"/>
                  <a:ea typeface="微软雅黑" panose="020B0503020204020204" pitchFamily="82" charset="2"/>
                </a:rPr>
                <a:t>C</a:t>
              </a:r>
              <a:endParaRPr kumimoji="0" lang="en-US" altLang="en-US" sz="2000"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  <p:sp>
          <p:nvSpPr>
            <p:cNvPr id="81" name="Text Box 83">
              <a:extLst>
                <a:ext uri="{FF2B5EF4-FFF2-40B4-BE49-F238E27FC236}">
                  <a16:creationId xmlns:a16="http://schemas.microsoft.com/office/drawing/2014/main" id="{7EB1328A-31F0-B37C-1E86-EF76C62B2C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39" y="2054"/>
              <a:ext cx="127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l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l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70000"/>
                <a:buFont typeface="宋体" panose="02010600030101010101" pitchFamily="2" charset="-122"/>
                <a:buChar char="-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 sz="2000"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</p:grpSp>
      <p:sp>
        <p:nvSpPr>
          <p:cNvPr id="86" name="Line 84">
            <a:extLst>
              <a:ext uri="{FF2B5EF4-FFF2-40B4-BE49-F238E27FC236}">
                <a16:creationId xmlns:a16="http://schemas.microsoft.com/office/drawing/2014/main" id="{C3D26868-87D1-C294-AC57-67B032945A6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52381" y="2933107"/>
            <a:ext cx="0" cy="2803695"/>
          </a:xfrm>
          <a:prstGeom prst="line">
            <a:avLst/>
          </a:prstGeom>
          <a:noFill/>
          <a:ln w="3175">
            <a:solidFill>
              <a:schemeClr val="tx1"/>
            </a:solidFill>
            <a:prstDash val="dash"/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0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87" name="Line 85">
            <a:extLst>
              <a:ext uri="{FF2B5EF4-FFF2-40B4-BE49-F238E27FC236}">
                <a16:creationId xmlns:a16="http://schemas.microsoft.com/office/drawing/2014/main" id="{0152223C-FB05-3437-01E0-C43478ED52C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22472" y="3462450"/>
            <a:ext cx="2250257" cy="1012689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0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88" name="Line 86">
            <a:extLst>
              <a:ext uri="{FF2B5EF4-FFF2-40B4-BE49-F238E27FC236}">
                <a16:creationId xmlns:a16="http://schemas.microsoft.com/office/drawing/2014/main" id="{E89928A6-74A3-5150-17FD-A899EE894D2C}"/>
              </a:ext>
            </a:extLst>
          </p:cNvPr>
          <p:cNvSpPr>
            <a:spLocks noChangeShapeType="1"/>
          </p:cNvSpPr>
          <p:nvPr/>
        </p:nvSpPr>
        <p:spPr bwMode="auto">
          <a:xfrm>
            <a:off x="8881402" y="3462450"/>
            <a:ext cx="1410165" cy="1030216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0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91" name="Rectangle 89">
            <a:extLst>
              <a:ext uri="{FF2B5EF4-FFF2-40B4-BE49-F238E27FC236}">
                <a16:creationId xmlns:a16="http://schemas.microsoft.com/office/drawing/2014/main" id="{AA2F2FC2-FD73-9958-B208-0CEBA20D51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0995" y="3634030"/>
            <a:ext cx="350462" cy="420554"/>
          </a:xfrm>
          <a:prstGeom prst="rect">
            <a:avLst/>
          </a:prstGeom>
          <a:solidFill>
            <a:srgbClr val="FF3300">
              <a:alpha val="50195"/>
            </a:srgbClr>
          </a:solidFill>
          <a:ln w="3175">
            <a:solidFill>
              <a:srgbClr val="FF3300"/>
            </a:solidFill>
            <a:miter lim="800000"/>
            <a:headEnd type="none" w="sm" len="sm"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0000"/>
              <a:buFont typeface="宋体" panose="02010600030101010101" pitchFamily="2" charset="-122"/>
              <a:buChar char="-"/>
              <a:defRPr kumimoji="1"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200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92" name="AutoShape 90">
            <a:extLst>
              <a:ext uri="{FF2B5EF4-FFF2-40B4-BE49-F238E27FC236}">
                <a16:creationId xmlns:a16="http://schemas.microsoft.com/office/drawing/2014/main" id="{CBFE0C6A-29E5-3074-47CC-813C88AB0299}"/>
              </a:ext>
            </a:extLst>
          </p:cNvPr>
          <p:cNvSpPr>
            <a:spLocks noChangeArrowheads="1"/>
          </p:cNvSpPr>
          <p:nvPr/>
        </p:nvSpPr>
        <p:spPr bwMode="auto">
          <a:xfrm rot="2498013">
            <a:off x="7285340" y="2788542"/>
            <a:ext cx="350462" cy="280369"/>
          </a:xfrm>
          <a:prstGeom prst="rightArrow">
            <a:avLst>
              <a:gd name="adj1" fmla="val 50000"/>
              <a:gd name="adj2" fmla="val 31250"/>
            </a:avLst>
          </a:prstGeom>
          <a:solidFill>
            <a:srgbClr val="FF3300"/>
          </a:solidFill>
          <a:ln w="3175">
            <a:solidFill>
              <a:srgbClr val="FF3300"/>
            </a:solidFill>
            <a:miter lim="800000"/>
            <a:headEnd type="none" w="sm" len="sm"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0000"/>
              <a:buFont typeface="宋体" panose="02010600030101010101" pitchFamily="2" charset="-122"/>
              <a:buChar char="-"/>
              <a:defRPr kumimoji="1"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200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97" name="Line 95">
            <a:extLst>
              <a:ext uri="{FF2B5EF4-FFF2-40B4-BE49-F238E27FC236}">
                <a16:creationId xmlns:a16="http://schemas.microsoft.com/office/drawing/2014/main" id="{82C51698-B9E5-33E2-CE9F-0FFC9EE337D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86749" y="3484354"/>
            <a:ext cx="971156" cy="1002095"/>
          </a:xfrm>
          <a:prstGeom prst="line">
            <a:avLst/>
          </a:prstGeom>
          <a:noFill/>
          <a:ln w="3175">
            <a:solidFill>
              <a:srgbClr val="FF33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0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98" name="Line 96">
            <a:extLst>
              <a:ext uri="{FF2B5EF4-FFF2-40B4-BE49-F238E27FC236}">
                <a16:creationId xmlns:a16="http://schemas.microsoft.com/office/drawing/2014/main" id="{6E9AF44C-AB11-3A50-8B20-5F5F32F4FBB1}"/>
              </a:ext>
            </a:extLst>
          </p:cNvPr>
          <p:cNvSpPr>
            <a:spLocks noChangeShapeType="1"/>
          </p:cNvSpPr>
          <p:nvPr/>
        </p:nvSpPr>
        <p:spPr bwMode="auto">
          <a:xfrm>
            <a:off x="8443325" y="3481819"/>
            <a:ext cx="569785" cy="987483"/>
          </a:xfrm>
          <a:prstGeom prst="line">
            <a:avLst/>
          </a:prstGeom>
          <a:noFill/>
          <a:ln w="3175">
            <a:solidFill>
              <a:srgbClr val="FF33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0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99" name="Rectangle 7">
            <a:extLst>
              <a:ext uri="{FF2B5EF4-FFF2-40B4-BE49-F238E27FC236}">
                <a16:creationId xmlns:a16="http://schemas.microsoft.com/office/drawing/2014/main" id="{CF24FC92-CE82-DAA2-567D-1A145CB71F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9887" y="3423753"/>
            <a:ext cx="1191570" cy="420554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0000"/>
              <a:buFont typeface="宋体" panose="02010600030101010101" pitchFamily="2" charset="-122"/>
              <a:buChar char="-"/>
              <a:defRPr kumimoji="1"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200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100" name="Rectangle 5">
            <a:extLst>
              <a:ext uri="{FF2B5EF4-FFF2-40B4-BE49-F238E27FC236}">
                <a16:creationId xmlns:a16="http://schemas.microsoft.com/office/drawing/2014/main" id="{FA606D2C-0966-DEEB-4993-6097BE690F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1180" y="3353661"/>
            <a:ext cx="560739" cy="1682217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0000"/>
              <a:buFont typeface="宋体" panose="02010600030101010101" pitchFamily="2" charset="-122"/>
              <a:buChar char="-"/>
              <a:defRPr kumimoji="1"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200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FEF4C00F-7E78-12A7-799B-5014F081D531}"/>
              </a:ext>
            </a:extLst>
          </p:cNvPr>
          <p:cNvSpPr txBox="1"/>
          <p:nvPr/>
        </p:nvSpPr>
        <p:spPr>
          <a:xfrm>
            <a:off x="6497947" y="3744727"/>
            <a:ext cx="4486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✕</a:t>
            </a: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D9F61C6C-FB61-F949-EA7B-6247CAAB7479}"/>
              </a:ext>
            </a:extLst>
          </p:cNvPr>
          <p:cNvSpPr txBox="1"/>
          <p:nvPr/>
        </p:nvSpPr>
        <p:spPr>
          <a:xfrm>
            <a:off x="7502467" y="3758710"/>
            <a:ext cx="4486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✕</a:t>
            </a:r>
          </a:p>
        </p:txBody>
      </p:sp>
    </p:spTree>
    <p:extLst>
      <p:ext uri="{BB962C8B-B14F-4D97-AF65-F5344CB8AC3E}">
        <p14:creationId xmlns:p14="http://schemas.microsoft.com/office/powerpoint/2010/main" val="2072828088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18">
            <a:extLst>
              <a:ext uri="{FF2B5EF4-FFF2-40B4-BE49-F238E27FC236}">
                <a16:creationId xmlns:a16="http://schemas.microsoft.com/office/drawing/2014/main" id="{4C3DCD13-BB3E-4535-83FC-B2F6B5E6DDBD}"/>
              </a:ext>
            </a:extLst>
          </p:cNvPr>
          <p:cNvSpPr/>
          <p:nvPr/>
        </p:nvSpPr>
        <p:spPr>
          <a:xfrm>
            <a:off x="8155776" y="1892311"/>
            <a:ext cx="3314098" cy="3162127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i="1" dirty="0">
              <a:latin typeface="Times New Roman" panose="02020603050405020304" pitchFamily="18" charset="0"/>
              <a:ea typeface="微软雅黑" panose="020B0503020204020204" pitchFamily="82" charset="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D5141F0-6D9B-32B2-3B87-C1E5923881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116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0D7C74D-FB9B-B45F-5B0E-9E7F0076F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KNN</a:t>
            </a:r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搜索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4C3C2C9-DCD2-085C-DBE7-7ABE48C2C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157" y="1193482"/>
            <a:ext cx="7454833" cy="5005387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维护一个优先队列</a:t>
            </a:r>
            <a:r>
              <a:rPr lang="en-US" altLang="zh-CN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Q</a:t>
            </a: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和结果集</a:t>
            </a:r>
            <a:r>
              <a:rPr lang="en-US" altLang="zh-CN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A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插入</a:t>
            </a:r>
            <a:r>
              <a:rPr lang="en-US" altLang="zh-CN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 &lt;root, 0&gt; </a:t>
            </a: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到</a:t>
            </a:r>
            <a:r>
              <a:rPr lang="en-US" altLang="zh-CN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 Q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While Q </a:t>
            </a: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不空 并且 </a:t>
            </a:r>
            <a:r>
              <a:rPr lang="en-US" altLang="zh-CN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|A|&lt;k 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从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Q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中弹出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（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e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，</a:t>
            </a:r>
            <a:r>
              <a:rPr lang="en-US" altLang="zh-CN" sz="2000" dirty="0" err="1">
                <a:latin typeface="微软雅黑" panose="020B0503020204020204" pitchFamily="82" charset="2"/>
                <a:ea typeface="微软雅黑" panose="020B0503020204020204" pitchFamily="82" charset="2"/>
              </a:rPr>
              <a:t>MinDist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(q, e)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）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如果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 e 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是一个数据对象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2">
              <a:buSzPct val="50000"/>
              <a:buFont typeface="Wingdings" panose="05000000000000000000" pitchFamily="2" charset="2"/>
              <a:buChar char="p"/>
            </a:pPr>
            <a:r>
              <a:rPr kumimoji="0" lang="zh-CN" altLang="en-US" sz="20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  <a:cs typeface="Times New Roman" panose="02020603050405020304" pitchFamily="18" charset="0"/>
              </a:rPr>
              <a:t>将</a:t>
            </a:r>
            <a:r>
              <a:rPr kumimoji="0" lang="en-US" altLang="zh-CN" sz="20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  <a:cs typeface="Times New Roman" panose="02020603050405020304" pitchFamily="18" charset="0"/>
              </a:rPr>
              <a:t>e</a:t>
            </a:r>
            <a:r>
              <a:rPr kumimoji="0" lang="en-US" altLang="zh-CN" sz="2000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  <a:cs typeface="Times New Roman" panose="02020603050405020304" pitchFamily="18" charset="0"/>
              </a:rPr>
              <a:t> </a:t>
            </a:r>
            <a:r>
              <a:rPr kumimoji="0"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  <a:cs typeface="Times New Roman" panose="02020603050405020304" pitchFamily="18" charset="0"/>
              </a:rPr>
              <a:t>加到结果集</a:t>
            </a:r>
            <a:r>
              <a:rPr kumimoji="0"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  <a:cs typeface="Times New Roman" panose="02020603050405020304" pitchFamily="18" charset="0"/>
              </a:rPr>
              <a:t> A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如果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 e 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是一个非叶节点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,</a:t>
            </a:r>
          </a:p>
          <a:p>
            <a:pPr lvl="2">
              <a:buSzPct val="50000"/>
              <a:buFont typeface="Wingdings" panose="05000000000000000000" pitchFamily="2" charset="2"/>
              <a:buChar char="p"/>
            </a:pPr>
            <a:r>
              <a:rPr kumimoji="0"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  <a:cs typeface="Times New Roman" panose="02020603050405020304" pitchFamily="18" charset="0"/>
              </a:rPr>
              <a:t>对于</a:t>
            </a:r>
            <a:r>
              <a:rPr kumimoji="0" lang="en-US" altLang="zh-CN" sz="20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  <a:cs typeface="Times New Roman" panose="02020603050405020304" pitchFamily="18" charset="0"/>
              </a:rPr>
              <a:t>e</a:t>
            </a:r>
            <a:r>
              <a:rPr kumimoji="0"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  <a:cs typeface="Times New Roman" panose="02020603050405020304" pitchFamily="18" charset="0"/>
              </a:rPr>
              <a:t> </a:t>
            </a:r>
            <a:r>
              <a:rPr kumimoji="0"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  <a:cs typeface="Times New Roman" panose="02020603050405020304" pitchFamily="18" charset="0"/>
              </a:rPr>
              <a:t>的每个孩子</a:t>
            </a:r>
            <a:r>
              <a:rPr kumimoji="0"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  <a:cs typeface="Times New Roman" panose="02020603050405020304" pitchFamily="18" charset="0"/>
              </a:rPr>
              <a:t>C</a:t>
            </a:r>
            <a:r>
              <a:rPr kumimoji="0"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  <a:cs typeface="Times New Roman" panose="02020603050405020304" pitchFamily="18" charset="0"/>
              </a:rPr>
              <a:t>：将</a:t>
            </a:r>
            <a:r>
              <a:rPr kumimoji="0"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  <a:cs typeface="Times New Roman" panose="02020603050405020304" pitchFamily="18" charset="0"/>
              </a:rPr>
              <a:t>&lt;C, </a:t>
            </a:r>
            <a:r>
              <a:rPr kumimoji="0" lang="en-US" altLang="zh-CN" sz="2000" dirty="0" err="1">
                <a:latin typeface="微软雅黑" panose="020B0503020204020204" pitchFamily="82" charset="2"/>
                <a:ea typeface="微软雅黑" panose="020B0503020204020204" pitchFamily="82" charset="2"/>
                <a:cs typeface="Times New Roman" panose="02020603050405020304" pitchFamily="18" charset="0"/>
              </a:rPr>
              <a:t>MinDist</a:t>
            </a:r>
            <a:r>
              <a:rPr kumimoji="0"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  <a:cs typeface="Times New Roman" panose="02020603050405020304" pitchFamily="18" charset="0"/>
              </a:rPr>
              <a:t>(q, C)&gt; </a:t>
            </a:r>
            <a:r>
              <a:rPr kumimoji="0"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  <a:cs typeface="Times New Roman" panose="02020603050405020304" pitchFamily="18" charset="0"/>
              </a:rPr>
              <a:t>加入到</a:t>
            </a:r>
            <a:r>
              <a:rPr kumimoji="0"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  <a:cs typeface="Times New Roman" panose="02020603050405020304" pitchFamily="18" charset="0"/>
              </a:rPr>
              <a:t> Q 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如果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 e 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是一个叶子节点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2">
              <a:buSzPct val="50000"/>
              <a:buFont typeface="Wingdings" panose="05000000000000000000" pitchFamily="2" charset="2"/>
              <a:buChar char="p"/>
            </a:pPr>
            <a:r>
              <a:rPr kumimoji="0"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  <a:cs typeface="Times New Roman" panose="02020603050405020304" pitchFamily="18" charset="0"/>
              </a:rPr>
              <a:t>对于</a:t>
            </a:r>
            <a:r>
              <a:rPr kumimoji="0" lang="en-US" altLang="zh-CN" sz="20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  <a:cs typeface="Times New Roman" panose="02020603050405020304" pitchFamily="18" charset="0"/>
              </a:rPr>
              <a:t>e</a:t>
            </a:r>
            <a:r>
              <a:rPr kumimoji="0"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  <a:cs typeface="Times New Roman" panose="02020603050405020304" pitchFamily="18" charset="0"/>
              </a:rPr>
              <a:t> </a:t>
            </a:r>
            <a:r>
              <a:rPr kumimoji="0"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  <a:cs typeface="Times New Roman" panose="02020603050405020304" pitchFamily="18" charset="0"/>
              </a:rPr>
              <a:t>的每个数据对象</a:t>
            </a:r>
            <a:r>
              <a:rPr kumimoji="0"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  <a:cs typeface="Times New Roman" panose="02020603050405020304" pitchFamily="18" charset="0"/>
              </a:rPr>
              <a:t>, </a:t>
            </a:r>
            <a:r>
              <a:rPr kumimoji="0"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  <a:cs typeface="Times New Roman" panose="02020603050405020304" pitchFamily="18" charset="0"/>
              </a:rPr>
              <a:t>将</a:t>
            </a:r>
            <a:r>
              <a:rPr kumimoji="0"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  <a:cs typeface="Times New Roman" panose="02020603050405020304" pitchFamily="18" charset="0"/>
              </a:rPr>
              <a:t> &lt;O, </a:t>
            </a:r>
            <a:r>
              <a:rPr kumimoji="0" lang="en-US" altLang="zh-CN" sz="2000" dirty="0" err="1">
                <a:latin typeface="微软雅黑" panose="020B0503020204020204" pitchFamily="82" charset="2"/>
                <a:ea typeface="微软雅黑" panose="020B0503020204020204" pitchFamily="82" charset="2"/>
                <a:cs typeface="Times New Roman" panose="02020603050405020304" pitchFamily="18" charset="0"/>
              </a:rPr>
              <a:t>Dist</a:t>
            </a:r>
            <a:r>
              <a:rPr kumimoji="0"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  <a:cs typeface="Times New Roman" panose="02020603050405020304" pitchFamily="18" charset="0"/>
              </a:rPr>
              <a:t>(q, O)&gt; </a:t>
            </a:r>
            <a:r>
              <a:rPr kumimoji="0"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  <a:cs typeface="Times New Roman" panose="02020603050405020304" pitchFamily="18" charset="0"/>
              </a:rPr>
              <a:t>加入到</a:t>
            </a:r>
            <a:r>
              <a:rPr kumimoji="0"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  <a:cs typeface="Times New Roman" panose="02020603050405020304" pitchFamily="18" charset="0"/>
              </a:rPr>
              <a:t> Q </a:t>
            </a:r>
          </a:p>
          <a:p>
            <a:endParaRPr kumimoji="1" lang="zh-CN" altLang="en-US" sz="28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F526E6F-CFE8-BCE3-6577-9F3CAEDE61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grpSp>
        <p:nvGrpSpPr>
          <p:cNvPr id="7" name="组合 5">
            <a:extLst>
              <a:ext uri="{FF2B5EF4-FFF2-40B4-BE49-F238E27FC236}">
                <a16:creationId xmlns:a16="http://schemas.microsoft.com/office/drawing/2014/main" id="{1E15C24F-C127-04EE-843C-CE6B560F327C}"/>
              </a:ext>
            </a:extLst>
          </p:cNvPr>
          <p:cNvGrpSpPr>
            <a:grpSpLocks/>
          </p:cNvGrpSpPr>
          <p:nvPr/>
        </p:nvGrpSpPr>
        <p:grpSpPr bwMode="auto">
          <a:xfrm>
            <a:off x="8322117" y="1872731"/>
            <a:ext cx="2934045" cy="2580978"/>
            <a:chOff x="760595" y="2446020"/>
            <a:chExt cx="3354205" cy="2682068"/>
          </a:xfrm>
        </p:grpSpPr>
        <p:sp>
          <p:nvSpPr>
            <p:cNvPr id="9" name="Rectangle 3">
              <a:extLst>
                <a:ext uri="{FF2B5EF4-FFF2-40B4-BE49-F238E27FC236}">
                  <a16:creationId xmlns:a16="http://schemas.microsoft.com/office/drawing/2014/main" id="{DCDDF56A-AED4-607B-690D-680B3E3C29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2107" y="3962075"/>
              <a:ext cx="1448233" cy="554684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latin typeface="Times New Roman" panose="02020603050405020304" pitchFamily="18" charset="0"/>
                <a:ea typeface="微软雅黑" panose="020B0503020204020204" pitchFamily="82" charset="2"/>
                <a:cs typeface="Times New Roman" panose="02020603050405020304" pitchFamily="18" charset="0"/>
              </a:endParaRPr>
            </a:p>
          </p:txBody>
        </p:sp>
        <p:sp>
          <p:nvSpPr>
            <p:cNvPr id="10" name="Line 4">
              <a:extLst>
                <a:ext uri="{FF2B5EF4-FFF2-40B4-BE49-F238E27FC236}">
                  <a16:creationId xmlns:a16="http://schemas.microsoft.com/office/drawing/2014/main" id="{1C67DAFA-3806-425D-3844-6C863131B3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90341" y="3353343"/>
              <a:ext cx="1067121" cy="6087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 i="1">
                <a:latin typeface="Times New Roman" panose="02020603050405020304" pitchFamily="18" charset="0"/>
                <a:ea typeface="微软雅黑" panose="020B0503020204020204" pitchFamily="82" charset="2"/>
                <a:cs typeface="Times New Roman" panose="02020603050405020304" pitchFamily="18" charset="0"/>
              </a:endParaRPr>
            </a:p>
          </p:txBody>
        </p:sp>
        <p:sp>
          <p:nvSpPr>
            <p:cNvPr id="11" name="Line 5">
              <a:extLst>
                <a:ext uri="{FF2B5EF4-FFF2-40B4-BE49-F238E27FC236}">
                  <a16:creationId xmlns:a16="http://schemas.microsoft.com/office/drawing/2014/main" id="{9B6D9495-5637-B55B-08A5-4E918E12B9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0341" y="2742962"/>
              <a:ext cx="0" cy="1294998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 i="1">
                <a:latin typeface="Times New Roman" panose="02020603050405020304" pitchFamily="18" charset="0"/>
                <a:ea typeface="微软雅黑" panose="020B0503020204020204" pitchFamily="82" charset="2"/>
                <a:cs typeface="Times New Roman" panose="02020603050405020304" pitchFamily="18" charset="0"/>
              </a:endParaRPr>
            </a:p>
          </p:txBody>
        </p:sp>
        <p:sp>
          <p:nvSpPr>
            <p:cNvPr id="12" name="Line 6">
              <a:extLst>
                <a:ext uri="{FF2B5EF4-FFF2-40B4-BE49-F238E27FC236}">
                  <a16:creationId xmlns:a16="http://schemas.microsoft.com/office/drawing/2014/main" id="{DCE295A5-6F9E-E5CE-CCB1-0DDEFDC855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14118" y="3962075"/>
              <a:ext cx="1600682" cy="0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 i="1">
                <a:latin typeface="Times New Roman" panose="02020603050405020304" pitchFamily="18" charset="0"/>
                <a:ea typeface="微软雅黑" panose="020B0503020204020204" pitchFamily="82" charset="2"/>
                <a:cs typeface="Times New Roman" panose="02020603050405020304" pitchFamily="18" charset="0"/>
              </a:endParaRPr>
            </a:p>
          </p:txBody>
        </p:sp>
        <p:sp>
          <p:nvSpPr>
            <p:cNvPr id="13" name="Line 7">
              <a:extLst>
                <a:ext uri="{FF2B5EF4-FFF2-40B4-BE49-F238E27FC236}">
                  <a16:creationId xmlns:a16="http://schemas.microsoft.com/office/drawing/2014/main" id="{63AD32D9-518B-36D0-F4BC-EB1CC1DC09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14118" y="4297688"/>
              <a:ext cx="121956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 i="1">
                <a:latin typeface="Times New Roman" panose="02020603050405020304" pitchFamily="18" charset="0"/>
                <a:ea typeface="微软雅黑" panose="020B0503020204020204" pitchFamily="82" charset="2"/>
                <a:cs typeface="Times New Roman" panose="02020603050405020304" pitchFamily="18" charset="0"/>
              </a:endParaRPr>
            </a:p>
          </p:txBody>
        </p:sp>
        <p:sp>
          <p:nvSpPr>
            <p:cNvPr id="14" name="Line 8">
              <a:extLst>
                <a:ext uri="{FF2B5EF4-FFF2-40B4-BE49-F238E27FC236}">
                  <a16:creationId xmlns:a16="http://schemas.microsoft.com/office/drawing/2014/main" id="{0B85037B-744A-84B9-4283-DC7D2E3062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51888" y="2972268"/>
              <a:ext cx="0" cy="98980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 i="1">
                <a:latin typeface="Times New Roman" panose="02020603050405020304" pitchFamily="18" charset="0"/>
                <a:ea typeface="微软雅黑" panose="020B0503020204020204" pitchFamily="82" charset="2"/>
                <a:cs typeface="Times New Roman" panose="02020603050405020304" pitchFamily="18" charset="0"/>
              </a:endParaRPr>
            </a:p>
          </p:txBody>
        </p:sp>
        <p:sp>
          <p:nvSpPr>
            <p:cNvPr id="15" name="Text Box 10">
              <a:extLst>
                <a:ext uri="{FF2B5EF4-FFF2-40B4-BE49-F238E27FC236}">
                  <a16:creationId xmlns:a16="http://schemas.microsoft.com/office/drawing/2014/main" id="{6B2A3B42-1E6D-C0C7-CDE4-1787F29AAF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0595" y="4188475"/>
              <a:ext cx="838453" cy="4800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l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l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70000"/>
                <a:buFont typeface="宋体" panose="02010600030101010101" pitchFamily="2" charset="-122"/>
                <a:buChar char="-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1" i="1" dirty="0">
                  <a:latin typeface="Times New Roman" panose="02020603050405020304" pitchFamily="18" charset="0"/>
                  <a:ea typeface="微软雅黑" panose="020B0503020204020204" pitchFamily="82" charset="2"/>
                  <a:cs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16" name="Text Box 11">
              <a:extLst>
                <a:ext uri="{FF2B5EF4-FFF2-40B4-BE49-F238E27FC236}">
                  <a16:creationId xmlns:a16="http://schemas.microsoft.com/office/drawing/2014/main" id="{BC56748A-7124-A051-31E3-A571B3E45C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70930" y="3452324"/>
              <a:ext cx="381115" cy="4797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l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l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70000"/>
                <a:buFont typeface="宋体" panose="02010600030101010101" pitchFamily="2" charset="-122"/>
                <a:buChar char="-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1" i="1" dirty="0">
                  <a:latin typeface="Times New Roman" panose="02020603050405020304" pitchFamily="18" charset="0"/>
                  <a:ea typeface="微软雅黑" panose="020B0503020204020204" pitchFamily="82" charset="2"/>
                  <a:cs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17" name="Text Box 12">
              <a:extLst>
                <a:ext uri="{FF2B5EF4-FFF2-40B4-BE49-F238E27FC236}">
                  <a16:creationId xmlns:a16="http://schemas.microsoft.com/office/drawing/2014/main" id="{28596B2B-290A-2202-662E-756C5D3E05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3219" y="2446020"/>
              <a:ext cx="609784" cy="4797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l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l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70000"/>
                <a:buFont typeface="宋体" panose="02010600030101010101" pitchFamily="2" charset="-122"/>
                <a:buChar char="-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1" i="1">
                  <a:latin typeface="Times New Roman" panose="02020603050405020304" pitchFamily="18" charset="0"/>
                  <a:ea typeface="微软雅黑" panose="020B0503020204020204" pitchFamily="82" charset="2"/>
                  <a:cs typeface="Times New Roman" panose="02020603050405020304" pitchFamily="18" charset="0"/>
                </a:rPr>
                <a:t>q</a:t>
              </a:r>
            </a:p>
          </p:txBody>
        </p:sp>
        <p:sp>
          <p:nvSpPr>
            <p:cNvPr id="18" name="Text Box 13">
              <a:extLst>
                <a:ext uri="{FF2B5EF4-FFF2-40B4-BE49-F238E27FC236}">
                  <a16:creationId xmlns:a16="http://schemas.microsoft.com/office/drawing/2014/main" id="{B5A9FD09-BD35-EFF0-E977-8399D61EEB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1239" y="3124038"/>
              <a:ext cx="457338" cy="4797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l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l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70000"/>
                <a:buFont typeface="宋体" panose="02010600030101010101" pitchFamily="2" charset="-122"/>
                <a:buChar char="-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1" i="1">
                  <a:latin typeface="Times New Roman" panose="02020603050405020304" pitchFamily="18" charset="0"/>
                  <a:ea typeface="微软雅黑" panose="020B0503020204020204" pitchFamily="82" charset="2"/>
                  <a:cs typeface="Times New Roman" panose="02020603050405020304" pitchFamily="18" charset="0"/>
                </a:rPr>
                <a:t>q</a:t>
              </a:r>
            </a:p>
          </p:txBody>
        </p:sp>
        <p:sp>
          <p:nvSpPr>
            <p:cNvPr id="19" name="Text Box 14">
              <a:extLst>
                <a:ext uri="{FF2B5EF4-FFF2-40B4-BE49-F238E27FC236}">
                  <a16:creationId xmlns:a16="http://schemas.microsoft.com/office/drawing/2014/main" id="{494B2F67-07BA-78EE-6F25-622ABA7FD7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5016" y="4648341"/>
              <a:ext cx="533561" cy="4797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l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l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70000"/>
                <a:buFont typeface="宋体" panose="02010600030101010101" pitchFamily="2" charset="-122"/>
                <a:buChar char="-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1" i="1">
                  <a:latin typeface="Times New Roman" panose="02020603050405020304" pitchFamily="18" charset="0"/>
                  <a:ea typeface="微软雅黑" panose="020B0503020204020204" pitchFamily="82" charset="2"/>
                  <a:cs typeface="Times New Roman" panose="02020603050405020304" pitchFamily="18" charset="0"/>
                </a:rPr>
                <a:t>q</a:t>
              </a:r>
            </a:p>
          </p:txBody>
        </p:sp>
      </p:grpSp>
      <p:sp>
        <p:nvSpPr>
          <p:cNvPr id="8" name="Text Box 13">
            <a:extLst>
              <a:ext uri="{FF2B5EF4-FFF2-40B4-BE49-F238E27FC236}">
                <a16:creationId xmlns:a16="http://schemas.microsoft.com/office/drawing/2014/main" id="{C3CDB1EC-B313-9F29-7000-16D58E48D2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89237" y="3411035"/>
            <a:ext cx="4000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kumimoji="1"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0000"/>
              <a:buFont typeface="宋体" panose="02010600030101010101" pitchFamily="2" charset="-122"/>
              <a:buChar char="-"/>
              <a:defRPr kumimoji="1"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i="1" dirty="0">
                <a:latin typeface="Times New Roman" panose="02020603050405020304" pitchFamily="18" charset="0"/>
                <a:ea typeface="微软雅黑" panose="020B0503020204020204" pitchFamily="82" charset="2"/>
                <a:cs typeface="Times New Roman" panose="02020603050405020304" pitchFamily="18" charset="0"/>
              </a:rPr>
              <a:t>q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ED20B7C-494C-45DA-ECE0-AC6CC1BD80CD}"/>
              </a:ext>
            </a:extLst>
          </p:cNvPr>
          <p:cNvSpPr txBox="1"/>
          <p:nvPr/>
        </p:nvSpPr>
        <p:spPr>
          <a:xfrm>
            <a:off x="8984412" y="4443892"/>
            <a:ext cx="230028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2000" b="1" i="1" dirty="0" err="1">
                <a:solidFill>
                  <a:srgbClr val="701988"/>
                </a:solidFill>
                <a:latin typeface="Times New Roman" panose="02020603050405020304" pitchFamily="18" charset="0"/>
                <a:ea typeface="微软雅黑" panose="020B0503020204020204" pitchFamily="82" charset="2"/>
                <a:cs typeface="Times New Roman" panose="02020603050405020304" pitchFamily="18" charset="0"/>
              </a:rPr>
              <a:t>MinDist</a:t>
            </a:r>
            <a:r>
              <a:rPr kumimoji="0" lang="en-US" altLang="zh-CN" sz="2000" b="1" i="1" dirty="0">
                <a:solidFill>
                  <a:srgbClr val="701988"/>
                </a:solidFill>
                <a:latin typeface="Times New Roman" panose="02020603050405020304" pitchFamily="18" charset="0"/>
                <a:ea typeface="微软雅黑" panose="020B0503020204020204" pitchFamily="82" charset="2"/>
                <a:cs typeface="Times New Roman" panose="02020603050405020304" pitchFamily="18" charset="0"/>
              </a:rPr>
              <a:t> (q, R)</a:t>
            </a:r>
            <a:r>
              <a:rPr kumimoji="0" lang="en-US" altLang="zh-CN" sz="2000" i="1" dirty="0">
                <a:solidFill>
                  <a:srgbClr val="701988"/>
                </a:solidFill>
                <a:latin typeface="Times New Roman" panose="02020603050405020304" pitchFamily="18" charset="0"/>
                <a:ea typeface="微软雅黑" panose="020B0503020204020204" pitchFamily="82" charset="2"/>
                <a:cs typeface="Times New Roman" panose="02020603050405020304" pitchFamily="18" charset="0"/>
              </a:rPr>
              <a:t> </a:t>
            </a:r>
            <a:endParaRPr lang="zh-CN" altLang="en-US" sz="2000" i="1" dirty="0">
              <a:solidFill>
                <a:srgbClr val="701988"/>
              </a:solidFill>
              <a:latin typeface="Times New Roman" panose="02020603050405020304" pitchFamily="18" charset="0"/>
              <a:ea typeface="微软雅黑" panose="020B0503020204020204" pitchFamily="82" charset="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825267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18">
            <a:extLst>
              <a:ext uri="{FF2B5EF4-FFF2-40B4-BE49-F238E27FC236}">
                <a16:creationId xmlns:a16="http://schemas.microsoft.com/office/drawing/2014/main" id="{171A0313-5965-4201-8085-CAEC2BC90251}"/>
              </a:ext>
            </a:extLst>
          </p:cNvPr>
          <p:cNvSpPr/>
          <p:nvPr/>
        </p:nvSpPr>
        <p:spPr>
          <a:xfrm>
            <a:off x="1349054" y="2211145"/>
            <a:ext cx="9335888" cy="4189655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dirty="0">
              <a:latin typeface="微软雅黑" panose="020B0503020204020204" pitchFamily="82" charset="2"/>
              <a:ea typeface="微软雅黑" panose="020B0503020204020204" pitchFamily="82" charset="2"/>
              <a:sym typeface="+mn-ea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DE6430B-CA6C-0C01-40F2-383CF3C091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117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0EF82E91-E5CC-E551-6742-1B99E5635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Z</a:t>
            </a:r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曲线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AD4F0AD-FC4C-2BDA-288B-6DE47390D3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2505" y="935691"/>
            <a:ext cx="10874188" cy="4825592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高维</a:t>
            </a:r>
            <a:r>
              <a:rPr lang="en-US" altLang="zh-CN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  <a:sym typeface="Wingdings" pitchFamily="2" charset="2"/>
              </a:rPr>
              <a:t></a:t>
            </a: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  <a:sym typeface="Wingdings" pitchFamily="2" charset="2"/>
              </a:rPr>
              <a:t>低维</a:t>
            </a:r>
            <a:endParaRPr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  <a:sym typeface="Wingdings" pitchFamily="2" charset="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  <a:sym typeface="Wingdings" pitchFamily="2" charset="2"/>
              </a:rPr>
              <a:t>范围查询</a:t>
            </a:r>
            <a:r>
              <a:rPr lang="en-US" altLang="zh-CN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  <a:sym typeface="Wingdings" pitchFamily="2" charset="2"/>
              </a:rPr>
              <a:t></a:t>
            </a: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  <a:sym typeface="Wingdings" pitchFamily="2" charset="2"/>
              </a:rPr>
              <a:t>多个范围查询</a:t>
            </a:r>
            <a:endParaRPr lang="zh-CN" altLang="en-US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4FA281-29C6-A9B7-A9AB-6B22E40827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pic>
        <p:nvPicPr>
          <p:cNvPr id="7" name="Picture 175" descr="bit-interleave">
            <a:extLst>
              <a:ext uri="{FF2B5EF4-FFF2-40B4-BE49-F238E27FC236}">
                <a16:creationId xmlns:a16="http://schemas.microsoft.com/office/drawing/2014/main" id="{DA38413C-ADC5-E315-EE85-ABDA15422F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3829" y="2457069"/>
            <a:ext cx="3845859" cy="256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70194C8E-8051-4B96-1CDB-27B84276899A}"/>
              </a:ext>
            </a:extLst>
          </p:cNvPr>
          <p:cNvSpPr txBox="1"/>
          <p:nvPr/>
        </p:nvSpPr>
        <p:spPr>
          <a:xfrm>
            <a:off x="1539093" y="5187279"/>
            <a:ext cx="8405405" cy="874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eaLnBrk="1" hangingPunct="1">
              <a:lnSpc>
                <a:spcPct val="150000"/>
              </a:lnSpc>
            </a:pPr>
            <a:r>
              <a:rPr lang="zh-CN" altLang="en-US" dirty="0">
                <a:solidFill>
                  <a:schemeClr val="bg2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二维查询</a:t>
            </a:r>
            <a:r>
              <a:rPr lang="en-US" altLang="zh-CN" dirty="0">
                <a:solidFill>
                  <a:schemeClr val="bg2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: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[0,4][2,5]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dirty="0">
                <a:solidFill>
                  <a:schemeClr val="bg2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一维查询</a:t>
            </a:r>
            <a:r>
              <a:rPr lang="en-US" altLang="zh-CN" dirty="0">
                <a:solidFill>
                  <a:schemeClr val="bg2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: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[8,15], [32,33]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dirty="0">
                <a:solidFill>
                  <a:schemeClr val="bg2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and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[36,37]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92FC9DC9-0455-49C9-9BA5-A8049C043DAF}"/>
              </a:ext>
            </a:extLst>
          </p:cNvPr>
          <p:cNvGrpSpPr/>
          <p:nvPr/>
        </p:nvGrpSpPr>
        <p:grpSpPr>
          <a:xfrm>
            <a:off x="6503303" y="2376711"/>
            <a:ext cx="4065460" cy="3768907"/>
            <a:chOff x="6692900" y="2215479"/>
            <a:chExt cx="2873375" cy="2971800"/>
          </a:xfrm>
        </p:grpSpPr>
        <p:pic>
          <p:nvPicPr>
            <p:cNvPr id="11" name="Picture 797" descr="z-curve2_1">
              <a:extLst>
                <a:ext uri="{FF2B5EF4-FFF2-40B4-BE49-F238E27FC236}">
                  <a16:creationId xmlns:a16="http://schemas.microsoft.com/office/drawing/2014/main" id="{3CDBA756-FBFA-8285-E74D-39E1341ABE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92900" y="2215479"/>
              <a:ext cx="2873375" cy="297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" name="Picture 798" descr="z-curve2_2">
              <a:extLst>
                <a:ext uri="{FF2B5EF4-FFF2-40B4-BE49-F238E27FC236}">
                  <a16:creationId xmlns:a16="http://schemas.microsoft.com/office/drawing/2014/main" id="{5DF9C57A-906D-B06D-3839-101EA7DFE55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92900" y="2215479"/>
              <a:ext cx="2873375" cy="297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" name="Picture 799" descr="z-curve2_3">
              <a:extLst>
                <a:ext uri="{FF2B5EF4-FFF2-40B4-BE49-F238E27FC236}">
                  <a16:creationId xmlns:a16="http://schemas.microsoft.com/office/drawing/2014/main" id="{99866F00-1EC1-4DC2-6CE6-71C7151AA4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92900" y="2215479"/>
              <a:ext cx="2871788" cy="297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" name="Picture 311" descr="cordinates2">
              <a:extLst>
                <a:ext uri="{FF2B5EF4-FFF2-40B4-BE49-F238E27FC236}">
                  <a16:creationId xmlns:a16="http://schemas.microsoft.com/office/drawing/2014/main" id="{5FF26C3B-C96A-BAA0-E667-6136ADDB17A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92900" y="2215479"/>
              <a:ext cx="2873375" cy="297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" name="Rectangle 312">
              <a:extLst>
                <a:ext uri="{FF2B5EF4-FFF2-40B4-BE49-F238E27FC236}">
                  <a16:creationId xmlns:a16="http://schemas.microsoft.com/office/drawing/2014/main" id="{F776CFB1-662B-AE3D-BB8F-4A58989670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45300" y="3479129"/>
              <a:ext cx="1181100" cy="882650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l"/>
                <a:defRPr kumimoji="1"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l"/>
                <a:defRPr kumimoji="1"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70000"/>
                <a:buFont typeface="宋体" panose="02010600030101010101" pitchFamily="2" charset="-122"/>
                <a:buChar char="-"/>
                <a:defRPr kumimoji="1"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itchFamily="2" charset="2"/>
                <a:buChar char="§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AU" altLang="en-US" sz="2800">
                <a:latin typeface="微软雅黑" panose="020B0503020204020204" pitchFamily="82" charset="2"/>
                <a:ea typeface="微软雅黑" panose="020B0503020204020204" pitchFamily="82" charset="2"/>
              </a:endParaRPr>
            </a:p>
          </p:txBody>
        </p:sp>
        <p:grpSp>
          <p:nvGrpSpPr>
            <p:cNvPr id="16" name="Group 328">
              <a:extLst>
                <a:ext uri="{FF2B5EF4-FFF2-40B4-BE49-F238E27FC236}">
                  <a16:creationId xmlns:a16="http://schemas.microsoft.com/office/drawing/2014/main" id="{B7CC0E72-B85A-6729-A0B2-1B8CC2E949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991350" y="3625179"/>
              <a:ext cx="895350" cy="609600"/>
              <a:chOff x="476" y="1608"/>
              <a:chExt cx="564" cy="384"/>
            </a:xfrm>
          </p:grpSpPr>
          <p:sp>
            <p:nvSpPr>
              <p:cNvPr id="17" name="Line 318">
                <a:extLst>
                  <a:ext uri="{FF2B5EF4-FFF2-40B4-BE49-F238E27FC236}">
                    <a16:creationId xmlns:a16="http://schemas.microsoft.com/office/drawing/2014/main" id="{AC78F772-0990-384A-D666-94957F93E7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0" y="1988"/>
                <a:ext cx="188" cy="0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微软雅黑" panose="020B0503020204020204" pitchFamily="82" charset="2"/>
                  <a:ea typeface="微软雅黑" panose="020B0503020204020204" pitchFamily="82" charset="2"/>
                </a:endParaRPr>
              </a:p>
            </p:txBody>
          </p:sp>
          <p:sp>
            <p:nvSpPr>
              <p:cNvPr id="18" name="Line 319">
                <a:extLst>
                  <a:ext uri="{FF2B5EF4-FFF2-40B4-BE49-F238E27FC236}">
                    <a16:creationId xmlns:a16="http://schemas.microsoft.com/office/drawing/2014/main" id="{C1D6E26D-1B4D-374A-FBB7-9C6BB92F03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80" y="1804"/>
                <a:ext cx="188" cy="188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微软雅黑" panose="020B0503020204020204" pitchFamily="82" charset="2"/>
                  <a:ea typeface="微软雅黑" panose="020B0503020204020204" pitchFamily="82" charset="2"/>
                </a:endParaRPr>
              </a:p>
            </p:txBody>
          </p:sp>
          <p:sp>
            <p:nvSpPr>
              <p:cNvPr id="19" name="Line 320">
                <a:extLst>
                  <a:ext uri="{FF2B5EF4-FFF2-40B4-BE49-F238E27FC236}">
                    <a16:creationId xmlns:a16="http://schemas.microsoft.com/office/drawing/2014/main" id="{F777A5E9-D669-BD28-7315-2DD8D5C107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6" y="1800"/>
                <a:ext cx="188" cy="0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微软雅黑" panose="020B0503020204020204" pitchFamily="82" charset="2"/>
                  <a:ea typeface="微软雅黑" panose="020B0503020204020204" pitchFamily="82" charset="2"/>
                </a:endParaRPr>
              </a:p>
            </p:txBody>
          </p:sp>
          <p:sp>
            <p:nvSpPr>
              <p:cNvPr id="20" name="Line 321">
                <a:extLst>
                  <a:ext uri="{FF2B5EF4-FFF2-40B4-BE49-F238E27FC236}">
                    <a16:creationId xmlns:a16="http://schemas.microsoft.com/office/drawing/2014/main" id="{82470F93-1A52-839F-A329-2601F4952B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64" y="1800"/>
                <a:ext cx="184" cy="184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微软雅黑" panose="020B0503020204020204" pitchFamily="82" charset="2"/>
                  <a:ea typeface="微软雅黑" panose="020B0503020204020204" pitchFamily="82" charset="2"/>
                </a:endParaRPr>
              </a:p>
            </p:txBody>
          </p:sp>
          <p:sp>
            <p:nvSpPr>
              <p:cNvPr id="21" name="Line 322">
                <a:extLst>
                  <a:ext uri="{FF2B5EF4-FFF2-40B4-BE49-F238E27FC236}">
                    <a16:creationId xmlns:a16="http://schemas.microsoft.com/office/drawing/2014/main" id="{B2B17605-FB1D-E6CC-126D-17B7886E56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48" y="1984"/>
                <a:ext cx="188" cy="0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微软雅黑" panose="020B0503020204020204" pitchFamily="82" charset="2"/>
                  <a:ea typeface="微软雅黑" panose="020B0503020204020204" pitchFamily="82" charset="2"/>
                </a:endParaRPr>
              </a:p>
            </p:txBody>
          </p:sp>
          <p:sp>
            <p:nvSpPr>
              <p:cNvPr id="22" name="Line 324">
                <a:extLst>
                  <a:ext uri="{FF2B5EF4-FFF2-40B4-BE49-F238E27FC236}">
                    <a16:creationId xmlns:a16="http://schemas.microsoft.com/office/drawing/2014/main" id="{F1AE44F0-5D32-F6CC-9886-728D88FC0A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852" y="1796"/>
                <a:ext cx="188" cy="188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微软雅黑" panose="020B0503020204020204" pitchFamily="82" charset="2"/>
                  <a:ea typeface="微软雅黑" panose="020B0503020204020204" pitchFamily="82" charset="2"/>
                </a:endParaRPr>
              </a:p>
            </p:txBody>
          </p:sp>
          <p:sp>
            <p:nvSpPr>
              <p:cNvPr id="23" name="Line 325">
                <a:extLst>
                  <a:ext uri="{FF2B5EF4-FFF2-40B4-BE49-F238E27FC236}">
                    <a16:creationId xmlns:a16="http://schemas.microsoft.com/office/drawing/2014/main" id="{FF24C684-B637-924F-323B-07D679F75F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52" y="1796"/>
                <a:ext cx="188" cy="0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微软雅黑" panose="020B0503020204020204" pitchFamily="82" charset="2"/>
                  <a:ea typeface="微软雅黑" panose="020B0503020204020204" pitchFamily="82" charset="2"/>
                </a:endParaRPr>
              </a:p>
            </p:txBody>
          </p:sp>
          <p:sp>
            <p:nvSpPr>
              <p:cNvPr id="24" name="Line 326">
                <a:extLst>
                  <a:ext uri="{FF2B5EF4-FFF2-40B4-BE49-F238E27FC236}">
                    <a16:creationId xmlns:a16="http://schemas.microsoft.com/office/drawing/2014/main" id="{0A65A9FA-318A-C087-605C-CD9B1AFE09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0" y="1608"/>
                <a:ext cx="188" cy="0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微软雅黑" panose="020B0503020204020204" pitchFamily="82" charset="2"/>
                  <a:ea typeface="微软雅黑" panose="020B0503020204020204" pitchFamily="82" charset="2"/>
                </a:endParaRPr>
              </a:p>
            </p:txBody>
          </p:sp>
          <p:sp>
            <p:nvSpPr>
              <p:cNvPr id="25" name="Line 327">
                <a:extLst>
                  <a:ext uri="{FF2B5EF4-FFF2-40B4-BE49-F238E27FC236}">
                    <a16:creationId xmlns:a16="http://schemas.microsoft.com/office/drawing/2014/main" id="{56375515-5868-0EA3-C64C-73AAF59FBB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44" y="1612"/>
                <a:ext cx="192" cy="0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微软雅黑" panose="020B0503020204020204" pitchFamily="82" charset="2"/>
                  <a:ea typeface="微软雅黑" panose="020B0503020204020204" pitchFamily="82" charset="2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68647368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D10E7EA-BA0F-E3AF-118A-526B840036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118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A19FC4F2-0B1D-07B6-640C-7A72E22B5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多维索引的对比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773D23-379C-5D4F-BC1B-6AA15DE2A6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graphicFrame>
        <p:nvGraphicFramePr>
          <p:cNvPr id="6" name="Group 469">
            <a:extLst>
              <a:ext uri="{FF2B5EF4-FFF2-40B4-BE49-F238E27FC236}">
                <a16:creationId xmlns:a16="http://schemas.microsoft.com/office/drawing/2014/main" id="{B2702B85-5B25-BCD5-581E-7F2201D7F7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7245977"/>
              </p:ext>
            </p:extLst>
          </p:nvPr>
        </p:nvGraphicFramePr>
        <p:xfrm>
          <a:off x="713958" y="1554411"/>
          <a:ext cx="10857129" cy="3749177"/>
        </p:xfrm>
        <a:graphic>
          <a:graphicData uri="http://schemas.openxmlformats.org/drawingml/2006/table">
            <a:tbl>
              <a:tblPr/>
              <a:tblGrid>
                <a:gridCol w="243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66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14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813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614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281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索引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anose="020B0503020204020204" pitchFamily="82" charset="2"/>
                        <a:ea typeface="微软雅黑" panose="020B0503020204020204" pitchFamily="82" charset="2"/>
                      </a:endParaRPr>
                    </a:p>
                  </a:txBody>
                  <a:tcPr marT="45724" marB="45724" anchor="ctr" horzOverflow="overflow">
                    <a:lnL w="6350" cap="flat" cmpd="sng" algn="ctr">
                      <a:solidFill>
                        <a:srgbClr val="701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1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1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1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019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磁盘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/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内存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anose="020B0503020204020204" pitchFamily="82" charset="2"/>
                        <a:ea typeface="微软雅黑" panose="020B0503020204020204" pitchFamily="82" charset="2"/>
                      </a:endParaRPr>
                    </a:p>
                  </a:txBody>
                  <a:tcPr marT="45724" marB="45724" anchor="ctr" horzOverflow="overflow">
                    <a:lnL w="6350" cap="flat" cmpd="sng" algn="ctr">
                      <a:solidFill>
                        <a:srgbClr val="701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1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1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1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019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平衡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anose="020B0503020204020204" pitchFamily="82" charset="2"/>
                        <a:ea typeface="微软雅黑" panose="020B0503020204020204" pitchFamily="82" charset="2"/>
                      </a:endParaRPr>
                    </a:p>
                  </a:txBody>
                  <a:tcPr marT="45724" marB="45724" anchor="ctr" horzOverflow="overflow">
                    <a:lnL w="6350" cap="flat" cmpd="sng" algn="ctr">
                      <a:solidFill>
                        <a:srgbClr val="701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1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1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1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019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支持的查询类型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anose="020B0503020204020204" pitchFamily="82" charset="2"/>
                        <a:ea typeface="微软雅黑" panose="020B0503020204020204" pitchFamily="82" charset="2"/>
                      </a:endParaRPr>
                    </a:p>
                  </a:txBody>
                  <a:tcPr marT="45724" marB="45724" anchor="ctr" horzOverflow="overflow">
                    <a:lnL w="6350" cap="flat" cmpd="sng" algn="ctr">
                      <a:solidFill>
                        <a:srgbClr val="701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1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1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1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019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维度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anose="020B0503020204020204" pitchFamily="82" charset="2"/>
                        <a:ea typeface="微软雅黑" panose="020B0503020204020204" pitchFamily="82" charset="2"/>
                      </a:endParaRPr>
                    </a:p>
                  </a:txBody>
                  <a:tcPr marT="45724" marB="45724" anchor="ctr" horzOverflow="overflow">
                    <a:lnL w="6350" cap="flat" cmpd="sng" algn="ctr">
                      <a:solidFill>
                        <a:srgbClr val="701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1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1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1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019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84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R-tree</a:t>
                      </a:r>
                    </a:p>
                  </a:txBody>
                  <a:tcPr marT="45724" marB="45724" anchor="ctr" horzOverflow="overflow">
                    <a:lnL w="6350" cap="flat" cmpd="sng" algn="ctr">
                      <a:solidFill>
                        <a:srgbClr val="701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1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1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1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磁盘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82" charset="2"/>
                        <a:ea typeface="微软雅黑" panose="020B0503020204020204" pitchFamily="82" charset="2"/>
                      </a:endParaRPr>
                    </a:p>
                  </a:txBody>
                  <a:tcPr marT="45724" marB="45724" anchor="ctr" horzOverflow="overflow">
                    <a:lnL w="6350" cap="flat" cmpd="sng" algn="ctr">
                      <a:solidFill>
                        <a:srgbClr val="701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1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1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1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是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82" charset="2"/>
                        <a:ea typeface="微软雅黑" panose="020B0503020204020204" pitchFamily="82" charset="2"/>
                      </a:endParaRPr>
                    </a:p>
                  </a:txBody>
                  <a:tcPr marT="45724" marB="45724" anchor="ctr" horzOverflow="overflow">
                    <a:lnL w="6350" cap="flat" cmpd="sng" algn="ctr">
                      <a:solidFill>
                        <a:srgbClr val="701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1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1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1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点查、范围查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, </a:t>
                      </a: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kNN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82" charset="2"/>
                        <a:ea typeface="微软雅黑" panose="020B0503020204020204" pitchFamily="82" charset="2"/>
                      </a:endParaRPr>
                    </a:p>
                  </a:txBody>
                  <a:tcPr marT="45724" marB="45724" anchor="ctr" horzOverflow="overflow">
                    <a:lnL w="6350" cap="flat" cmpd="sng" algn="ctr">
                      <a:solidFill>
                        <a:srgbClr val="701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1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1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1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低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82" charset="2"/>
                        <a:ea typeface="微软雅黑" panose="020B0503020204020204" pitchFamily="82" charset="2"/>
                      </a:endParaRPr>
                    </a:p>
                  </a:txBody>
                  <a:tcPr marT="45724" marB="45724" anchor="ctr" horzOverflow="overflow">
                    <a:lnL w="6350" cap="flat" cmpd="sng" algn="ctr">
                      <a:solidFill>
                        <a:srgbClr val="701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1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1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1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84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K-d-tree</a:t>
                      </a:r>
                    </a:p>
                  </a:txBody>
                  <a:tcPr marT="45724" marB="45724" anchor="ctr" horzOverflow="overflow">
                    <a:lnL w="6350" cap="flat" cmpd="sng" algn="ctr">
                      <a:solidFill>
                        <a:srgbClr val="701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1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1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1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内存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82" charset="2"/>
                        <a:ea typeface="微软雅黑" panose="020B0503020204020204" pitchFamily="82" charset="2"/>
                      </a:endParaRPr>
                    </a:p>
                  </a:txBody>
                  <a:tcPr marT="45724" marB="45724" anchor="ctr" horzOverflow="overflow">
                    <a:lnL w="6350" cap="flat" cmpd="sng" algn="ctr">
                      <a:solidFill>
                        <a:srgbClr val="701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1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1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1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否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82" charset="2"/>
                        <a:ea typeface="微软雅黑" panose="020B0503020204020204" pitchFamily="82" charset="2"/>
                      </a:endParaRPr>
                    </a:p>
                  </a:txBody>
                  <a:tcPr marT="45724" marB="45724" anchor="ctr" horzOverflow="overflow">
                    <a:lnL w="6350" cap="flat" cmpd="sng" algn="ctr">
                      <a:solidFill>
                        <a:srgbClr val="701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1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1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1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点查、范围查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, </a:t>
                      </a: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kNN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82" charset="2"/>
                        <a:ea typeface="微软雅黑" panose="020B0503020204020204" pitchFamily="82" charset="2"/>
                      </a:endParaRPr>
                    </a:p>
                  </a:txBody>
                  <a:tcPr marT="45724" marB="45724" anchor="ctr" horzOverflow="overflow">
                    <a:lnL w="6350" cap="flat" cmpd="sng" algn="ctr">
                      <a:solidFill>
                        <a:srgbClr val="701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1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1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1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charset="2"/>
                        <a:buNone/>
                        <a:tabLst/>
                        <a:defRPr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低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82" charset="2"/>
                        <a:ea typeface="微软雅黑" panose="020B0503020204020204" pitchFamily="82" charset="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charset="2"/>
                        <a:buNone/>
                        <a:tabLst/>
                      </a:pP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82" charset="2"/>
                        <a:ea typeface="微软雅黑" panose="020B0503020204020204" pitchFamily="82" charset="2"/>
                      </a:endParaRPr>
                    </a:p>
                  </a:txBody>
                  <a:tcPr marT="45724" marB="45724" anchor="ctr" horzOverflow="overflow">
                    <a:lnL w="6350" cap="flat" cmpd="sng" algn="ctr">
                      <a:solidFill>
                        <a:srgbClr val="701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1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1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1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84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Quad-tree</a:t>
                      </a:r>
                    </a:p>
                  </a:txBody>
                  <a:tcPr marT="45724" marB="45724" anchor="ctr" horzOverflow="overflow">
                    <a:lnL w="6350" cap="flat" cmpd="sng" algn="ctr">
                      <a:solidFill>
                        <a:srgbClr val="701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1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1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1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内存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82" charset="2"/>
                        <a:ea typeface="微软雅黑" panose="020B0503020204020204" pitchFamily="82" charset="2"/>
                      </a:endParaRPr>
                    </a:p>
                  </a:txBody>
                  <a:tcPr marT="45724" marB="45724" anchor="ctr" horzOverflow="overflow">
                    <a:lnL w="6350" cap="flat" cmpd="sng" algn="ctr">
                      <a:solidFill>
                        <a:srgbClr val="701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1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1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1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否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82" charset="2"/>
                        <a:ea typeface="微软雅黑" panose="020B0503020204020204" pitchFamily="82" charset="2"/>
                      </a:endParaRPr>
                    </a:p>
                  </a:txBody>
                  <a:tcPr marT="45724" marB="45724" anchor="ctr" horzOverflow="overflow">
                    <a:lnL w="6350" cap="flat" cmpd="sng" algn="ctr">
                      <a:solidFill>
                        <a:srgbClr val="701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1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1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1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点查、范围查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, </a:t>
                      </a: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kNN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82" charset="2"/>
                        <a:ea typeface="微软雅黑" panose="020B0503020204020204" pitchFamily="82" charset="2"/>
                      </a:endParaRPr>
                    </a:p>
                  </a:txBody>
                  <a:tcPr marT="45724" marB="45724" anchor="ctr" horzOverflow="overflow">
                    <a:lnL w="6350" cap="flat" cmpd="sng" algn="ctr">
                      <a:solidFill>
                        <a:srgbClr val="701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1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1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1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charset="2"/>
                        <a:buNone/>
                        <a:tabLst/>
                        <a:defRPr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低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82" charset="2"/>
                        <a:ea typeface="微软雅黑" panose="020B0503020204020204" pitchFamily="82" charset="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charset="2"/>
                        <a:buNone/>
                        <a:tabLst/>
                      </a:pP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82" charset="2"/>
                        <a:ea typeface="微软雅黑" panose="020B0503020204020204" pitchFamily="82" charset="2"/>
                      </a:endParaRPr>
                    </a:p>
                  </a:txBody>
                  <a:tcPr marT="45724" marB="45724" anchor="ctr" horzOverflow="overflow">
                    <a:lnL w="6350" cap="flat" cmpd="sng" algn="ctr">
                      <a:solidFill>
                        <a:srgbClr val="701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1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1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1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84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Z-curve + B</a:t>
                      </a:r>
                      <a:r>
                        <a:rPr kumimoji="0" lang="en-US" altLang="zh-CN" sz="2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+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-tree</a:t>
                      </a:r>
                    </a:p>
                  </a:txBody>
                  <a:tcPr marT="45724" marB="45724" anchor="ctr" horzOverflow="overflow">
                    <a:lnL w="6350" cap="flat" cmpd="sng" algn="ctr">
                      <a:solidFill>
                        <a:srgbClr val="701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1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1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1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磁盘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82" charset="2"/>
                        <a:ea typeface="微软雅黑" panose="020B0503020204020204" pitchFamily="82" charset="2"/>
                      </a:endParaRPr>
                    </a:p>
                  </a:txBody>
                  <a:tcPr marT="45724" marB="45724" anchor="ctr" horzOverflow="overflow">
                    <a:lnL w="6350" cap="flat" cmpd="sng" algn="ctr">
                      <a:solidFill>
                        <a:srgbClr val="701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1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1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1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是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82" charset="2"/>
                        <a:ea typeface="微软雅黑" panose="020B0503020204020204" pitchFamily="82" charset="2"/>
                      </a:endParaRPr>
                    </a:p>
                  </a:txBody>
                  <a:tcPr marT="45724" marB="45724" anchor="ctr" horzOverflow="overflow">
                    <a:lnL w="6350" cap="flat" cmpd="sng" algn="ctr">
                      <a:solidFill>
                        <a:srgbClr val="701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1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1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1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点查、范围查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82" charset="2"/>
                        <a:ea typeface="微软雅黑" panose="020B0503020204020204" pitchFamily="82" charset="2"/>
                      </a:endParaRPr>
                    </a:p>
                  </a:txBody>
                  <a:tcPr marT="45724" marB="45724" anchor="ctr" horzOverflow="overflow">
                    <a:lnL w="6350" cap="flat" cmpd="sng" algn="ctr">
                      <a:solidFill>
                        <a:srgbClr val="701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1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1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1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82" charset="2"/>
                          <a:ea typeface="微软雅黑" panose="020B0503020204020204" pitchFamily="82" charset="2"/>
                        </a:rPr>
                        <a:t>低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82" charset="2"/>
                        <a:ea typeface="微软雅黑" panose="020B0503020204020204" pitchFamily="82" charset="2"/>
                      </a:endParaRPr>
                    </a:p>
                  </a:txBody>
                  <a:tcPr marT="45724" marB="45724" anchor="ctr" horzOverflow="overflow">
                    <a:lnL w="6350" cap="flat" cmpd="sng" algn="ctr">
                      <a:solidFill>
                        <a:srgbClr val="701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1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1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1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180403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E9A84CC-DF48-9ECE-3545-CC483F95F7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/>
              <a:pPr/>
              <a:t>119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6A7ECE2-09F9-2BE1-F996-830B969BE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高维索引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A595275-3018-9C67-670C-466DAA8611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23" y="1193420"/>
            <a:ext cx="5326912" cy="5005387"/>
          </a:xfrm>
        </p:spPr>
        <p:txBody>
          <a:bodyPr/>
          <a:lstStyle/>
          <a:p>
            <a:r>
              <a:rPr kumimoji="1" lang="zh-CN" altLang="en-US" dirty="0"/>
              <a:t>局部敏感哈希 </a:t>
            </a:r>
            <a:r>
              <a:rPr kumimoji="1" lang="en-US" altLang="zh-CN" dirty="0"/>
              <a:t>Locality-sensitive</a:t>
            </a:r>
            <a:r>
              <a:rPr kumimoji="1" lang="zh-CN" altLang="en-US" dirty="0"/>
              <a:t> </a:t>
            </a:r>
            <a:r>
              <a:rPr kumimoji="1" lang="en-US" altLang="zh-CN" dirty="0"/>
              <a:t>hashing</a:t>
            </a:r>
            <a:r>
              <a:rPr lang="en-US" altLang="zh-CN" dirty="0"/>
              <a:t>(LSH)</a:t>
            </a:r>
          </a:p>
          <a:p>
            <a:r>
              <a:rPr kumimoji="1" lang="en-US" altLang="zh-CN" dirty="0"/>
              <a:t>M-tree</a:t>
            </a:r>
          </a:p>
          <a:p>
            <a:pPr lvl="1"/>
            <a:r>
              <a:rPr lang="en-US" altLang="zh-CN" dirty="0"/>
              <a:t>K-means</a:t>
            </a:r>
            <a:r>
              <a:rPr lang="zh-CN" altLang="en-US" dirty="0"/>
              <a:t>层次聚类</a:t>
            </a:r>
            <a:endParaRPr kumimoji="1" lang="en-US" altLang="zh-CN" dirty="0"/>
          </a:p>
          <a:p>
            <a:r>
              <a:rPr lang="en-US" altLang="zh-CN" dirty="0"/>
              <a:t>HNSW</a:t>
            </a:r>
            <a:r>
              <a:rPr lang="zh-CN" altLang="en-US" dirty="0"/>
              <a:t> </a:t>
            </a:r>
            <a:r>
              <a:rPr lang="en-US" altLang="zh-CN" dirty="0"/>
              <a:t>(Hierarchical Navigable Small World graphs)</a:t>
            </a:r>
          </a:p>
          <a:p>
            <a:r>
              <a:rPr kumimoji="1" lang="en-US" altLang="zh-CN" dirty="0"/>
              <a:t>NSG</a:t>
            </a:r>
            <a:r>
              <a:rPr kumimoji="1" lang="en-US" altLang="zh-CN" dirty="0">
                <a:solidFill>
                  <a:srgbClr val="121212"/>
                </a:solidFill>
                <a:latin typeface="-apple-system"/>
              </a:rPr>
              <a:t>(</a:t>
            </a:r>
            <a:r>
              <a:rPr lang="en" altLang="zh-CN" b="0" i="0" u="none" strike="noStrike" dirty="0">
                <a:solidFill>
                  <a:srgbClr val="121212"/>
                </a:solidFill>
                <a:effectLst/>
                <a:latin typeface="-apple-system"/>
              </a:rPr>
              <a:t>Navigating Spreading-out Graph</a:t>
            </a:r>
            <a:r>
              <a:rPr lang="en-US" altLang="zh-CN" b="0" i="0" u="none" strike="noStrike" dirty="0">
                <a:solidFill>
                  <a:srgbClr val="121212"/>
                </a:solidFill>
                <a:effectLst/>
                <a:latin typeface="-apple-system"/>
              </a:rPr>
              <a:t>)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DF8D3E-2546-A468-28C6-9B97BD155E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数据库系统</a:t>
            </a:r>
            <a:r>
              <a:rPr lang="en-US" altLang="zh-CN"/>
              <a:t>—</a:t>
            </a:r>
            <a:r>
              <a:rPr lang="zh-CN" altLang="en-US"/>
              <a:t>索引</a:t>
            </a:r>
            <a:endParaRPr lang="en-US" altLang="zh-CN" sz="12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E4F84CE-EDE6-6ED1-2EF0-DB5520723D2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107"/>
          <a:stretch/>
        </p:blipFill>
        <p:spPr>
          <a:xfrm>
            <a:off x="8523572" y="1380152"/>
            <a:ext cx="3668428" cy="207221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5B3F0DD-42DE-CC3C-6528-93667D7092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2635" y="1327204"/>
            <a:ext cx="3080937" cy="219320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803713C-566F-AE0C-48EA-C8BAC9EE77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1128" y="3639255"/>
            <a:ext cx="5629960" cy="2827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986309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18">
            <a:extLst>
              <a:ext uri="{FF2B5EF4-FFF2-40B4-BE49-F238E27FC236}">
                <a16:creationId xmlns:a16="http://schemas.microsoft.com/office/drawing/2014/main" id="{171A0313-5965-4201-8085-CAEC2BC90251}"/>
              </a:ext>
            </a:extLst>
          </p:cNvPr>
          <p:cNvSpPr/>
          <p:nvPr/>
        </p:nvSpPr>
        <p:spPr>
          <a:xfrm>
            <a:off x="6400260" y="1589757"/>
            <a:ext cx="5375179" cy="4318673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dirty="0">
              <a:latin typeface="微软雅黑" panose="020B0503020204020204" pitchFamily="82" charset="2"/>
              <a:ea typeface="微软雅黑" panose="020B0503020204020204" pitchFamily="82" charset="2"/>
              <a:sym typeface="+mn-ea"/>
            </a:endParaRPr>
          </a:p>
        </p:txBody>
      </p:sp>
      <p:sp>
        <p:nvSpPr>
          <p:cNvPr id="8" name="Shape18">
            <a:extLst>
              <a:ext uri="{FF2B5EF4-FFF2-40B4-BE49-F238E27FC236}">
                <a16:creationId xmlns:a16="http://schemas.microsoft.com/office/drawing/2014/main" id="{171A0313-5965-4201-8085-CAEC2BC90251}"/>
              </a:ext>
            </a:extLst>
          </p:cNvPr>
          <p:cNvSpPr/>
          <p:nvPr/>
        </p:nvSpPr>
        <p:spPr>
          <a:xfrm>
            <a:off x="215153" y="1589757"/>
            <a:ext cx="6023087" cy="4318673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dirty="0">
              <a:latin typeface="微软雅黑" panose="020B0503020204020204" pitchFamily="82" charset="2"/>
              <a:ea typeface="微软雅黑" panose="020B0503020204020204" pitchFamily="82" charset="2"/>
              <a:sym typeface="+mn-ea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80EA672-490F-C1C7-74DD-2BF35A17C1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120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47164233-7447-449F-BA0D-E765E2FF8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学习型索引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D68A974-6E11-2B68-0B24-EB8E15EDA2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1146" y="949570"/>
            <a:ext cx="10874188" cy="5005387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预测</a:t>
            </a:r>
            <a:r>
              <a:rPr lang="en-US" altLang="zh-CN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key</a:t>
            </a: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所在的页面位置</a:t>
            </a:r>
            <a:endParaRPr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endParaRPr kumimoji="1" lang="zh-CN" altLang="en-US" sz="28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5D86C7-9B35-416D-C0AB-8AF51C1221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D5D9478-C695-E5FA-1B9C-47EADF2BE7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4233" y="1675813"/>
            <a:ext cx="4437553" cy="4063479"/>
          </a:xfrm>
          <a:prstGeom prst="rect">
            <a:avLst/>
          </a:prstGeom>
        </p:spPr>
      </p:pic>
      <p:pic>
        <p:nvPicPr>
          <p:cNvPr id="7" name="Picture 7" descr="Diagram&#10;&#10;Description automatically generated">
            <a:extLst>
              <a:ext uri="{FF2B5EF4-FFF2-40B4-BE49-F238E27FC236}">
                <a16:creationId xmlns:a16="http://schemas.microsoft.com/office/drawing/2014/main" id="{106F49D5-8197-4FC7-C17A-3E2D8DBD74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238" y="2093831"/>
            <a:ext cx="5879248" cy="32909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90664236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3C35F35-0D0B-BDBC-478B-23D7223FD1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BDC00-B9E2-4EFD-9306-2934E87247C6}" type="slidenum">
              <a:rPr lang="zh-CN" altLang="en-US" smtClean="0">
                <a:latin typeface="微软雅黑" panose="020B0503020204020204" pitchFamily="82" charset="2"/>
                <a:ea typeface="微软雅黑" panose="020B0503020204020204" pitchFamily="82" charset="2"/>
              </a:rPr>
              <a:pPr/>
              <a:t>121</a:t>
            </a:fld>
            <a:endParaRPr lang="zh-CN" altLang="en-US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C01FBE5-2997-DA5A-E679-2665D9279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3600" dirty="0">
                <a:latin typeface="微软雅黑" panose="020B0503020204020204" pitchFamily="82" charset="2"/>
                <a:ea typeface="微软雅黑" panose="020B0503020204020204" pitchFamily="82" charset="2"/>
              </a:rPr>
              <a:t>小结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F725F9-5EC3-90CE-2C91-413426E802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数据库系统</a:t>
            </a:r>
            <a:r>
              <a:rPr lang="en-US" altLang="zh-CN">
                <a:latin typeface="微软雅黑" panose="020B0503020204020204" pitchFamily="82" charset="2"/>
                <a:ea typeface="微软雅黑" panose="020B0503020204020204" pitchFamily="82" charset="2"/>
              </a:rPr>
              <a:t>—</a:t>
            </a:r>
            <a:r>
              <a:rPr lang="zh-CN" altLang="en-US">
                <a:latin typeface="微软雅黑" panose="020B0503020204020204" pitchFamily="82" charset="2"/>
                <a:ea typeface="微软雅黑" panose="020B0503020204020204" pitchFamily="82" charset="2"/>
              </a:rPr>
              <a:t>索引</a:t>
            </a:r>
            <a:endParaRPr lang="en-US" altLang="zh-CN" sz="12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8" name="Shape18">
            <a:extLst>
              <a:ext uri="{FF2B5EF4-FFF2-40B4-BE49-F238E27FC236}">
                <a16:creationId xmlns:a16="http://schemas.microsoft.com/office/drawing/2014/main" id="{CBBA7BC4-1221-4F67-9AE4-C442EE92E7EB}"/>
              </a:ext>
            </a:extLst>
          </p:cNvPr>
          <p:cNvSpPr/>
          <p:nvPr/>
        </p:nvSpPr>
        <p:spPr>
          <a:xfrm>
            <a:off x="3220381" y="959402"/>
            <a:ext cx="5751236" cy="4936573"/>
          </a:xfrm>
          <a:prstGeom prst="roundRect">
            <a:avLst>
              <a:gd name="adj" fmla="val 9827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b="1" dirty="0">
              <a:latin typeface="OPPOSans M" panose="00020600040101010101" pitchFamily="18" charset="-122"/>
              <a:ea typeface="OPPOSans M" panose="00020600040101010101" pitchFamily="18" charset="-122"/>
              <a:sym typeface="+mn-ea"/>
            </a:endParaRPr>
          </a:p>
        </p:txBody>
      </p:sp>
      <p:sp>
        <p:nvSpPr>
          <p:cNvPr id="9" name="内容占位符 3">
            <a:extLst>
              <a:ext uri="{FF2B5EF4-FFF2-40B4-BE49-F238E27FC236}">
                <a16:creationId xmlns:a16="http://schemas.microsoft.com/office/drawing/2014/main" id="{02FE99B7-3960-4B65-8656-138FEFB2CB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8525" y="1455131"/>
            <a:ext cx="10874188" cy="5005387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索引概述</a:t>
            </a:r>
            <a:endParaRPr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zh-CN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B+</a:t>
            </a: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树索引</a:t>
            </a:r>
            <a:endParaRPr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zh-CN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B+</a:t>
            </a: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树并发控制</a:t>
            </a:r>
            <a:endParaRPr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哈希索引</a:t>
            </a:r>
            <a:endParaRPr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zh-CN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SkipList</a:t>
            </a: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跳表索引</a:t>
            </a:r>
            <a:endParaRPr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zh-CN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LSM</a:t>
            </a: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树索引</a:t>
            </a:r>
            <a:endParaRPr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位图索引</a:t>
            </a:r>
            <a:endParaRPr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sz="2400" b="1" dirty="0">
                <a:solidFill>
                  <a:srgbClr val="701988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多维索引</a:t>
            </a:r>
            <a:endParaRPr lang="en-US" altLang="zh-CN" sz="2400" b="1" dirty="0">
              <a:solidFill>
                <a:srgbClr val="701988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/>
            <a:r>
              <a:rPr lang="en-US" altLang="zh-CN" sz="2400" b="1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R</a:t>
            </a:r>
            <a:r>
              <a:rPr lang="zh-CN" altLang="en-US" sz="2400" b="1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树、</a:t>
            </a:r>
            <a:r>
              <a:rPr lang="en-US" altLang="zh-CN" sz="2400" b="1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KD</a:t>
            </a:r>
            <a:r>
              <a:rPr lang="zh-CN" altLang="en-US" sz="2400" b="1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树、</a:t>
            </a:r>
            <a:r>
              <a:rPr lang="en-US" altLang="zh-CN" sz="2400" b="1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Quadtree</a:t>
            </a:r>
            <a:r>
              <a:rPr lang="zh-CN" altLang="en-US" sz="2400" b="1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、</a:t>
            </a:r>
            <a:r>
              <a:rPr lang="en-US" altLang="zh-CN" sz="2400" b="1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Z</a:t>
            </a:r>
            <a:r>
              <a:rPr lang="zh-CN" altLang="en-US" sz="2400" b="1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曲线</a:t>
            </a:r>
            <a:endParaRPr kumimoji="1" lang="zh-CN" altLang="en-US" sz="2400" b="1" dirty="0">
              <a:solidFill>
                <a:srgbClr val="6F1787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113274833"/>
      </p:ext>
    </p:extLst>
  </p:cSld>
  <p:clrMapOvr>
    <a:masterClrMapping/>
  </p:clrMapOvr>
</p:sld>
</file>

<file path=ppt/theme/theme1.xml><?xml version="1.0" encoding="utf-8"?>
<a:theme xmlns:a="http://schemas.openxmlformats.org/drawingml/2006/main" name="2_973青年-李国良v0.1">
  <a:themeElements>
    <a:clrScheme name="Introductioin to Trec2007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Introductioin to Trec2007">
      <a:majorFont>
        <a:latin typeface="华文楷体"/>
        <a:ea typeface="华文楷体"/>
        <a:cs typeface=""/>
      </a:majorFont>
      <a:minorFont>
        <a:latin typeface="Times New Roman"/>
        <a:ea typeface="华文楷体"/>
        <a:cs typeface="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solidFill>
            <a:schemeClr val="accent2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 xmlns="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华文楷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solidFill>
            <a:schemeClr val="accent2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 xmlns="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华文楷体" pitchFamily="2" charset="-122"/>
          </a:defRPr>
        </a:defPPr>
      </a:lstStyle>
    </a:lnDef>
  </a:objectDefaults>
  <a:extraClrSchemeLst>
    <a:extraClrScheme>
      <a:clrScheme name="Introductioin to Trec2007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troductioin to Trec2007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ductioin to Trec2007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ductioin to Trec2007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ductioin to Trec2007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ductioin to Trec2007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ductioin to Trec2007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62162</TotalTime>
  <Words>7997</Words>
  <Application>Microsoft Macintosh PowerPoint</Application>
  <PresentationFormat>Widescreen</PresentationFormat>
  <Paragraphs>1605</Paragraphs>
  <Slides>121</Slides>
  <Notes>15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121</vt:i4>
      </vt:variant>
    </vt:vector>
  </HeadingPairs>
  <TitlesOfParts>
    <vt:vector size="134" baseType="lpstr">
      <vt:lpstr>-apple-system</vt:lpstr>
      <vt:lpstr>等线</vt:lpstr>
      <vt:lpstr>Microsoft YaHei</vt:lpstr>
      <vt:lpstr>Microsoft YaHei</vt:lpstr>
      <vt:lpstr>OPPOSans M</vt:lpstr>
      <vt:lpstr>SimHei</vt:lpstr>
      <vt:lpstr>华文楷体</vt:lpstr>
      <vt:lpstr>Arial</vt:lpstr>
      <vt:lpstr>Cambria Math</vt:lpstr>
      <vt:lpstr>Times New Roman</vt:lpstr>
      <vt:lpstr>Wingdings</vt:lpstr>
      <vt:lpstr>2_973青年-李国良v0.1</vt:lpstr>
      <vt:lpstr>Equation</vt:lpstr>
      <vt:lpstr>PowerPoint Presentation</vt:lpstr>
      <vt:lpstr>索引</vt:lpstr>
      <vt:lpstr>目录</vt:lpstr>
      <vt:lpstr>目录</vt:lpstr>
      <vt:lpstr>索引概述</vt:lpstr>
      <vt:lpstr>索引概述</vt:lpstr>
      <vt:lpstr>索引按照物理存储类型分类</vt:lpstr>
      <vt:lpstr>索引按照指针记录的粒度分类</vt:lpstr>
      <vt:lpstr>索引按照层数分类</vt:lpstr>
      <vt:lpstr>索引按照字段特性分类</vt:lpstr>
      <vt:lpstr>索引按照字段个数分类</vt:lpstr>
      <vt:lpstr>索引组织表</vt:lpstr>
      <vt:lpstr>索引类型</vt:lpstr>
      <vt:lpstr>目录</vt:lpstr>
      <vt:lpstr>目录</vt:lpstr>
      <vt:lpstr>B+树索引结构</vt:lpstr>
      <vt:lpstr>B+树索引结构</vt:lpstr>
      <vt:lpstr>目录</vt:lpstr>
      <vt:lpstr>查找算法</vt:lpstr>
      <vt:lpstr>查找算法</vt:lpstr>
      <vt:lpstr>目录</vt:lpstr>
      <vt:lpstr>插入算法</vt:lpstr>
      <vt:lpstr>插入算法</vt:lpstr>
      <vt:lpstr>插入算法</vt:lpstr>
      <vt:lpstr>插入算法</vt:lpstr>
      <vt:lpstr>插入算法</vt:lpstr>
      <vt:lpstr>目录</vt:lpstr>
      <vt:lpstr>删除算法</vt:lpstr>
      <vt:lpstr>删除算法</vt:lpstr>
      <vt:lpstr>删除算法</vt:lpstr>
      <vt:lpstr>删除算法</vt:lpstr>
      <vt:lpstr>删除算法</vt:lpstr>
      <vt:lpstr>删除算法</vt:lpstr>
      <vt:lpstr>删除算法</vt:lpstr>
      <vt:lpstr>删除算法</vt:lpstr>
      <vt:lpstr>目录</vt:lpstr>
      <vt:lpstr>目录</vt:lpstr>
      <vt:lpstr>B+树并发操作</vt:lpstr>
      <vt:lpstr>B+树并发处理：闩锁耦合</vt:lpstr>
      <vt:lpstr>闩锁耦合</vt:lpstr>
      <vt:lpstr>闩锁耦合</vt:lpstr>
      <vt:lpstr>闩锁耦合</vt:lpstr>
      <vt:lpstr>闩锁耦合</vt:lpstr>
      <vt:lpstr>闩锁耦合存在的问题</vt:lpstr>
      <vt:lpstr>自下而上的乐观锁</vt:lpstr>
      <vt:lpstr>B-link 树设计理念</vt:lpstr>
      <vt:lpstr>B-link 树设计理念</vt:lpstr>
      <vt:lpstr>B-link树结构</vt:lpstr>
      <vt:lpstr>B-link树查找操作</vt:lpstr>
      <vt:lpstr>B-link树插入操作：查找待插入节点</vt:lpstr>
      <vt:lpstr>B-link树插入操作：溢出分裂节点</vt:lpstr>
      <vt:lpstr>B-link树插入操作：案例</vt:lpstr>
      <vt:lpstr>B-link树插入操作：案例</vt:lpstr>
      <vt:lpstr>Bw树</vt:lpstr>
      <vt:lpstr>Bw树</vt:lpstr>
      <vt:lpstr>Bw树</vt:lpstr>
      <vt:lpstr>Bw树</vt:lpstr>
      <vt:lpstr>Bw树</vt:lpstr>
      <vt:lpstr>目录</vt:lpstr>
      <vt:lpstr>目录</vt:lpstr>
      <vt:lpstr>哈希函数</vt:lpstr>
      <vt:lpstr>哈希函数</vt:lpstr>
      <vt:lpstr>哈希表</vt:lpstr>
      <vt:lpstr>静态哈希表</vt:lpstr>
      <vt:lpstr>可扩展哈希表</vt:lpstr>
      <vt:lpstr>可扩展哈希表</vt:lpstr>
      <vt:lpstr>可扩展哈希表</vt:lpstr>
      <vt:lpstr>可扩展哈希表</vt:lpstr>
      <vt:lpstr>可扩展哈希表</vt:lpstr>
      <vt:lpstr>可扩展哈希表的问题</vt:lpstr>
      <vt:lpstr>线性哈希表</vt:lpstr>
      <vt:lpstr>线性哈希表</vt:lpstr>
      <vt:lpstr>线性哈希表</vt:lpstr>
      <vt:lpstr>一致性哈希</vt:lpstr>
      <vt:lpstr>一致性哈希</vt:lpstr>
      <vt:lpstr>一致性哈希</vt:lpstr>
      <vt:lpstr>一致性哈希</vt:lpstr>
      <vt:lpstr>目录</vt:lpstr>
      <vt:lpstr>目录</vt:lpstr>
      <vt:lpstr>SkipList 跳表</vt:lpstr>
      <vt:lpstr>SkipList 跳表</vt:lpstr>
      <vt:lpstr>SkipList 跳表</vt:lpstr>
      <vt:lpstr>SkipList 跳表</vt:lpstr>
      <vt:lpstr>SkipList 跳表</vt:lpstr>
      <vt:lpstr>目录</vt:lpstr>
      <vt:lpstr>目录</vt:lpstr>
      <vt:lpstr>LSM树索引</vt:lpstr>
      <vt:lpstr>2阶LSM树</vt:lpstr>
      <vt:lpstr>2阶LSM树滚动合并</vt:lpstr>
      <vt:lpstr>2阶LSM树滚动合并</vt:lpstr>
      <vt:lpstr>2阶LSM树滚动合并</vt:lpstr>
      <vt:lpstr>2阶LSM树索引删除与更新</vt:lpstr>
      <vt:lpstr>2阶LSM树分析</vt:lpstr>
      <vt:lpstr>多阶LSM树</vt:lpstr>
      <vt:lpstr>多阶LSM树</vt:lpstr>
      <vt:lpstr>LSM树优化</vt:lpstr>
      <vt:lpstr>布隆过滤器</vt:lpstr>
      <vt:lpstr>布隆过滤器</vt:lpstr>
      <vt:lpstr>分区优化</vt:lpstr>
      <vt:lpstr>LSM实例：LevelDB</vt:lpstr>
      <vt:lpstr>LSM与B+树对比</vt:lpstr>
      <vt:lpstr>目录</vt:lpstr>
      <vt:lpstr>目录</vt:lpstr>
      <vt:lpstr>位图索引</vt:lpstr>
      <vt:lpstr>位图索引</vt:lpstr>
      <vt:lpstr>位图索引</vt:lpstr>
      <vt:lpstr>位图索引应用</vt:lpstr>
      <vt:lpstr>目录</vt:lpstr>
      <vt:lpstr>目录</vt:lpstr>
      <vt:lpstr>多维索引</vt:lpstr>
      <vt:lpstr>网格文件</vt:lpstr>
      <vt:lpstr>四叉树（Quadtree）</vt:lpstr>
      <vt:lpstr>KD树</vt:lpstr>
      <vt:lpstr>R树</vt:lpstr>
      <vt:lpstr>点查、范围查</vt:lpstr>
      <vt:lpstr>KNN搜索</vt:lpstr>
      <vt:lpstr>Z曲线</vt:lpstr>
      <vt:lpstr>多维索引的对比</vt:lpstr>
      <vt:lpstr>高维索引</vt:lpstr>
      <vt:lpstr>学习型索引</vt:lpstr>
      <vt:lpstr>小结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zhouxuan19@mails.tsinghua.edu.cn</dc:creator>
  <cp:lastModifiedBy>4 paradigm</cp:lastModifiedBy>
  <cp:revision>2133</cp:revision>
  <dcterms:created xsi:type="dcterms:W3CDTF">2022-04-14T04:30:04Z</dcterms:created>
  <dcterms:modified xsi:type="dcterms:W3CDTF">2025-04-02T01:51:02Z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(3)TtEbazGzUuTs7rFIKK/8dgSLZ7OuJkLUOvqmRmD5q4rkKgjbFUgMNRWyS4vOwlBDAC1hcDHM
72MVhw11SGIX1YLJCeOTQT2+6XawB1fOKfKzYvlCPMcVL2+DY8osaQhzLlPmonYlQgRMjRfB
4pHgH0D7xvhHmj0xhlpy4OOw5MVJGkHJkzZCisF4sY6xPQQBLy5zvu3XNs3MCVFRbIRpao3T
Iqx6wKBEUzuj3eiY6Q</vt:lpwstr>
  </property>
  <property fmtid="{D5CDD505-2E9C-101B-9397-08002B2CF9AE}" pid="3" name="_2015_ms_pID_7253431">
    <vt:lpwstr>6oSE2GrIGZH0DaWJujc2rax9UmY0naKb3dqlUFC65+7H/FymcNiOd6
uiUaCQo9GuJQX66L/2zwqTEcCbSSyF9Cgh5BOXscSaeHgEmRLxJYtChOmJWiaOUh7fAy3fM3
r26VF0zsnC783tqGagR7NC2MIillnu7i25Ex8obt6WY7S4PZ5AHhGLMZ1QaAXSMK06FNZ2Ka
yC5TbHtFBAZYSf2uPIbDy4RPylhYtoJfxBMr</vt:lpwstr>
  </property>
  <property fmtid="{D5CDD505-2E9C-101B-9397-08002B2CF9AE}" pid="4" name="_2015_ms_pID_7253432">
    <vt:lpwstr>frxQZMLdRmAWa120S3ajx9I=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1690340388</vt:lpwstr>
  </property>
</Properties>
</file>