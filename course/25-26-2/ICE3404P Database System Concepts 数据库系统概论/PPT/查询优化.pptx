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1"/>
  </p:sldMasterIdLst>
  <p:notesMasterIdLst>
    <p:notesMasterId r:id="rId183"/>
  </p:notesMasterIdLst>
  <p:handoutMasterIdLst>
    <p:handoutMasterId r:id="rId184"/>
  </p:handoutMasterIdLst>
  <p:sldIdLst>
    <p:sldId id="256" r:id="rId2"/>
    <p:sldId id="395" r:id="rId3"/>
    <p:sldId id="275" r:id="rId4"/>
    <p:sldId id="277" r:id="rId5"/>
    <p:sldId id="276" r:id="rId6"/>
    <p:sldId id="279" r:id="rId7"/>
    <p:sldId id="419" r:id="rId8"/>
    <p:sldId id="420" r:id="rId9"/>
    <p:sldId id="2686" r:id="rId10"/>
    <p:sldId id="2687" r:id="rId11"/>
    <p:sldId id="2679" r:id="rId12"/>
    <p:sldId id="418" r:id="rId13"/>
    <p:sldId id="281" r:id="rId14"/>
    <p:sldId id="417" r:id="rId15"/>
    <p:sldId id="421" r:id="rId16"/>
    <p:sldId id="422" r:id="rId17"/>
    <p:sldId id="424" r:id="rId18"/>
    <p:sldId id="425" r:id="rId19"/>
    <p:sldId id="427" r:id="rId20"/>
    <p:sldId id="407" r:id="rId21"/>
    <p:sldId id="408" r:id="rId22"/>
    <p:sldId id="409" r:id="rId23"/>
    <p:sldId id="410" r:id="rId24"/>
    <p:sldId id="283" r:id="rId25"/>
    <p:sldId id="282" r:id="rId26"/>
    <p:sldId id="289" r:id="rId27"/>
    <p:sldId id="415" r:id="rId28"/>
    <p:sldId id="413" r:id="rId29"/>
    <p:sldId id="412" r:id="rId30"/>
    <p:sldId id="284" r:id="rId31"/>
    <p:sldId id="434" r:id="rId32"/>
    <p:sldId id="416" r:id="rId33"/>
    <p:sldId id="290" r:id="rId34"/>
    <p:sldId id="435" r:id="rId35"/>
    <p:sldId id="291" r:id="rId36"/>
    <p:sldId id="439" r:id="rId37"/>
    <p:sldId id="292" r:id="rId38"/>
    <p:sldId id="293" r:id="rId39"/>
    <p:sldId id="398" r:id="rId40"/>
    <p:sldId id="399" r:id="rId41"/>
    <p:sldId id="430" r:id="rId42"/>
    <p:sldId id="431" r:id="rId43"/>
    <p:sldId id="432" r:id="rId44"/>
    <p:sldId id="433" r:id="rId45"/>
    <p:sldId id="437" r:id="rId46"/>
    <p:sldId id="538" r:id="rId47"/>
    <p:sldId id="539" r:id="rId48"/>
    <p:sldId id="438" r:id="rId49"/>
    <p:sldId id="2699" r:id="rId50"/>
    <p:sldId id="294" r:id="rId51"/>
    <p:sldId id="295" r:id="rId52"/>
    <p:sldId id="297" r:id="rId53"/>
    <p:sldId id="443" r:id="rId54"/>
    <p:sldId id="298" r:id="rId55"/>
    <p:sldId id="299" r:id="rId56"/>
    <p:sldId id="300" r:id="rId57"/>
    <p:sldId id="301" r:id="rId58"/>
    <p:sldId id="302" r:id="rId59"/>
    <p:sldId id="304" r:id="rId60"/>
    <p:sldId id="305" r:id="rId61"/>
    <p:sldId id="306" r:id="rId62"/>
    <p:sldId id="307" r:id="rId63"/>
    <p:sldId id="308" r:id="rId64"/>
    <p:sldId id="531" r:id="rId65"/>
    <p:sldId id="532" r:id="rId66"/>
    <p:sldId id="533" r:id="rId67"/>
    <p:sldId id="534" r:id="rId68"/>
    <p:sldId id="309" r:id="rId69"/>
    <p:sldId id="310" r:id="rId70"/>
    <p:sldId id="311" r:id="rId71"/>
    <p:sldId id="312" r:id="rId72"/>
    <p:sldId id="313" r:id="rId73"/>
    <p:sldId id="445" r:id="rId74"/>
    <p:sldId id="315" r:id="rId75"/>
    <p:sldId id="446" r:id="rId76"/>
    <p:sldId id="316" r:id="rId77"/>
    <p:sldId id="317" r:id="rId78"/>
    <p:sldId id="318" r:id="rId79"/>
    <p:sldId id="320" r:id="rId80"/>
    <p:sldId id="321" r:id="rId81"/>
    <p:sldId id="322" r:id="rId82"/>
    <p:sldId id="323" r:id="rId83"/>
    <p:sldId id="324" r:id="rId84"/>
    <p:sldId id="325" r:id="rId85"/>
    <p:sldId id="326" r:id="rId86"/>
    <p:sldId id="327" r:id="rId87"/>
    <p:sldId id="328" r:id="rId88"/>
    <p:sldId id="329" r:id="rId89"/>
    <p:sldId id="330" r:id="rId90"/>
    <p:sldId id="331" r:id="rId91"/>
    <p:sldId id="332" r:id="rId92"/>
    <p:sldId id="333" r:id="rId93"/>
    <p:sldId id="400" r:id="rId94"/>
    <p:sldId id="401" r:id="rId95"/>
    <p:sldId id="535" r:id="rId96"/>
    <p:sldId id="537" r:id="rId97"/>
    <p:sldId id="2700" r:id="rId98"/>
    <p:sldId id="335" r:id="rId99"/>
    <p:sldId id="336" r:id="rId100"/>
    <p:sldId id="337" r:id="rId101"/>
    <p:sldId id="338" r:id="rId102"/>
    <p:sldId id="339" r:id="rId103"/>
    <p:sldId id="340" r:id="rId104"/>
    <p:sldId id="342" r:id="rId105"/>
    <p:sldId id="344" r:id="rId106"/>
    <p:sldId id="345" r:id="rId107"/>
    <p:sldId id="347" r:id="rId108"/>
    <p:sldId id="348" r:id="rId109"/>
    <p:sldId id="346" r:id="rId110"/>
    <p:sldId id="343" r:id="rId111"/>
    <p:sldId id="350" r:id="rId112"/>
    <p:sldId id="352" r:id="rId113"/>
    <p:sldId id="356" r:id="rId114"/>
    <p:sldId id="357" r:id="rId115"/>
    <p:sldId id="358" r:id="rId116"/>
    <p:sldId id="351" r:id="rId117"/>
    <p:sldId id="353" r:id="rId118"/>
    <p:sldId id="404" r:id="rId119"/>
    <p:sldId id="349" r:id="rId120"/>
    <p:sldId id="354" r:id="rId121"/>
    <p:sldId id="2702" r:id="rId122"/>
    <p:sldId id="364" r:id="rId123"/>
    <p:sldId id="2701" r:id="rId124"/>
    <p:sldId id="359" r:id="rId125"/>
    <p:sldId id="454" r:id="rId126"/>
    <p:sldId id="455" r:id="rId127"/>
    <p:sldId id="456" r:id="rId128"/>
    <p:sldId id="363" r:id="rId129"/>
    <p:sldId id="2684" r:id="rId130"/>
    <p:sldId id="483" r:id="rId131"/>
    <p:sldId id="371" r:id="rId132"/>
    <p:sldId id="360" r:id="rId133"/>
    <p:sldId id="361" r:id="rId134"/>
    <p:sldId id="472" r:id="rId135"/>
    <p:sldId id="453" r:id="rId136"/>
    <p:sldId id="458" r:id="rId137"/>
    <p:sldId id="479" r:id="rId138"/>
    <p:sldId id="367" r:id="rId139"/>
    <p:sldId id="480" r:id="rId140"/>
    <p:sldId id="459" r:id="rId141"/>
    <p:sldId id="481" r:id="rId142"/>
    <p:sldId id="463" r:id="rId143"/>
    <p:sldId id="482" r:id="rId144"/>
    <p:sldId id="369" r:id="rId145"/>
    <p:sldId id="370" r:id="rId146"/>
    <p:sldId id="492" r:id="rId147"/>
    <p:sldId id="2691" r:id="rId148"/>
    <p:sldId id="507" r:id="rId149"/>
    <p:sldId id="508" r:id="rId150"/>
    <p:sldId id="509" r:id="rId151"/>
    <p:sldId id="510" r:id="rId152"/>
    <p:sldId id="526" r:id="rId153"/>
    <p:sldId id="528" r:id="rId154"/>
    <p:sldId id="527" r:id="rId155"/>
    <p:sldId id="2698" r:id="rId156"/>
    <p:sldId id="511" r:id="rId157"/>
    <p:sldId id="2689" r:id="rId158"/>
    <p:sldId id="2694" r:id="rId159"/>
    <p:sldId id="2697" r:id="rId160"/>
    <p:sldId id="2693" r:id="rId161"/>
    <p:sldId id="2692" r:id="rId162"/>
    <p:sldId id="513" r:id="rId163"/>
    <p:sldId id="2695" r:id="rId164"/>
    <p:sldId id="2696" r:id="rId165"/>
    <p:sldId id="2690" r:id="rId166"/>
    <p:sldId id="512" r:id="rId167"/>
    <p:sldId id="514" r:id="rId168"/>
    <p:sldId id="2682" r:id="rId169"/>
    <p:sldId id="382" r:id="rId170"/>
    <p:sldId id="383" r:id="rId171"/>
    <p:sldId id="384" r:id="rId172"/>
    <p:sldId id="2683" r:id="rId173"/>
    <p:sldId id="385" r:id="rId174"/>
    <p:sldId id="387" r:id="rId175"/>
    <p:sldId id="388" r:id="rId176"/>
    <p:sldId id="390" r:id="rId177"/>
    <p:sldId id="391" r:id="rId178"/>
    <p:sldId id="392" r:id="rId179"/>
    <p:sldId id="393" r:id="rId180"/>
    <p:sldId id="396" r:id="rId181"/>
    <p:sldId id="2685" r:id="rId1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BE43E1-2CBB-F241-87DA-B951F11DD743}">
          <p14:sldIdLst>
            <p14:sldId id="256"/>
            <p14:sldId id="395"/>
            <p14:sldId id="275"/>
            <p14:sldId id="277"/>
            <p14:sldId id="276"/>
            <p14:sldId id="279"/>
            <p14:sldId id="419"/>
            <p14:sldId id="420"/>
            <p14:sldId id="2686"/>
            <p14:sldId id="2687"/>
            <p14:sldId id="2679"/>
            <p14:sldId id="418"/>
            <p14:sldId id="281"/>
            <p14:sldId id="417"/>
            <p14:sldId id="421"/>
            <p14:sldId id="422"/>
            <p14:sldId id="424"/>
            <p14:sldId id="425"/>
            <p14:sldId id="427"/>
            <p14:sldId id="407"/>
            <p14:sldId id="408"/>
            <p14:sldId id="409"/>
            <p14:sldId id="410"/>
            <p14:sldId id="283"/>
            <p14:sldId id="282"/>
            <p14:sldId id="289"/>
            <p14:sldId id="415"/>
            <p14:sldId id="413"/>
            <p14:sldId id="412"/>
            <p14:sldId id="284"/>
            <p14:sldId id="434"/>
            <p14:sldId id="416"/>
            <p14:sldId id="290"/>
            <p14:sldId id="435"/>
            <p14:sldId id="291"/>
            <p14:sldId id="439"/>
            <p14:sldId id="292"/>
            <p14:sldId id="293"/>
            <p14:sldId id="398"/>
            <p14:sldId id="399"/>
            <p14:sldId id="430"/>
            <p14:sldId id="431"/>
            <p14:sldId id="432"/>
            <p14:sldId id="433"/>
            <p14:sldId id="437"/>
            <p14:sldId id="538"/>
            <p14:sldId id="539"/>
            <p14:sldId id="438"/>
            <p14:sldId id="2699"/>
            <p14:sldId id="294"/>
            <p14:sldId id="295"/>
            <p14:sldId id="297"/>
            <p14:sldId id="443"/>
            <p14:sldId id="298"/>
            <p14:sldId id="299"/>
            <p14:sldId id="300"/>
            <p14:sldId id="301"/>
            <p14:sldId id="302"/>
            <p14:sldId id="304"/>
            <p14:sldId id="305"/>
            <p14:sldId id="306"/>
            <p14:sldId id="307"/>
            <p14:sldId id="308"/>
            <p14:sldId id="531"/>
            <p14:sldId id="532"/>
            <p14:sldId id="533"/>
            <p14:sldId id="534"/>
            <p14:sldId id="309"/>
            <p14:sldId id="310"/>
            <p14:sldId id="311"/>
            <p14:sldId id="312"/>
            <p14:sldId id="313"/>
            <p14:sldId id="445"/>
            <p14:sldId id="315"/>
            <p14:sldId id="446"/>
            <p14:sldId id="316"/>
            <p14:sldId id="317"/>
            <p14:sldId id="318"/>
            <p14:sldId id="320"/>
            <p14:sldId id="321"/>
            <p14:sldId id="322"/>
            <p14:sldId id="323"/>
            <p14:sldId id="324"/>
            <p14:sldId id="325"/>
            <p14:sldId id="326"/>
            <p14:sldId id="327"/>
            <p14:sldId id="328"/>
            <p14:sldId id="329"/>
            <p14:sldId id="330"/>
            <p14:sldId id="331"/>
            <p14:sldId id="332"/>
            <p14:sldId id="333"/>
            <p14:sldId id="400"/>
            <p14:sldId id="401"/>
            <p14:sldId id="535"/>
            <p14:sldId id="537"/>
            <p14:sldId id="2700"/>
            <p14:sldId id="335"/>
            <p14:sldId id="336"/>
            <p14:sldId id="337"/>
            <p14:sldId id="338"/>
            <p14:sldId id="339"/>
            <p14:sldId id="340"/>
            <p14:sldId id="342"/>
            <p14:sldId id="344"/>
            <p14:sldId id="345"/>
            <p14:sldId id="347"/>
            <p14:sldId id="348"/>
            <p14:sldId id="346"/>
            <p14:sldId id="343"/>
            <p14:sldId id="350"/>
            <p14:sldId id="352"/>
            <p14:sldId id="356"/>
            <p14:sldId id="357"/>
            <p14:sldId id="358"/>
            <p14:sldId id="351"/>
            <p14:sldId id="353"/>
            <p14:sldId id="404"/>
            <p14:sldId id="349"/>
            <p14:sldId id="354"/>
            <p14:sldId id="2702"/>
            <p14:sldId id="364"/>
            <p14:sldId id="2701"/>
            <p14:sldId id="359"/>
            <p14:sldId id="454"/>
            <p14:sldId id="455"/>
            <p14:sldId id="456"/>
            <p14:sldId id="363"/>
            <p14:sldId id="2684"/>
            <p14:sldId id="483"/>
            <p14:sldId id="371"/>
            <p14:sldId id="360"/>
            <p14:sldId id="361"/>
            <p14:sldId id="472"/>
            <p14:sldId id="453"/>
            <p14:sldId id="458"/>
            <p14:sldId id="479"/>
            <p14:sldId id="367"/>
            <p14:sldId id="480"/>
            <p14:sldId id="459"/>
            <p14:sldId id="481"/>
            <p14:sldId id="463"/>
            <p14:sldId id="482"/>
            <p14:sldId id="369"/>
            <p14:sldId id="370"/>
            <p14:sldId id="492"/>
            <p14:sldId id="2691"/>
            <p14:sldId id="507"/>
            <p14:sldId id="508"/>
            <p14:sldId id="509"/>
            <p14:sldId id="510"/>
            <p14:sldId id="526"/>
            <p14:sldId id="528"/>
            <p14:sldId id="527"/>
            <p14:sldId id="2698"/>
            <p14:sldId id="511"/>
            <p14:sldId id="2689"/>
            <p14:sldId id="2694"/>
            <p14:sldId id="2697"/>
            <p14:sldId id="2693"/>
            <p14:sldId id="2692"/>
            <p14:sldId id="513"/>
            <p14:sldId id="2695"/>
            <p14:sldId id="2696"/>
            <p14:sldId id="2690"/>
            <p14:sldId id="512"/>
            <p14:sldId id="514"/>
            <p14:sldId id="2682"/>
            <p14:sldId id="382"/>
            <p14:sldId id="383"/>
            <p14:sldId id="384"/>
            <p14:sldId id="2683"/>
            <p14:sldId id="385"/>
            <p14:sldId id="387"/>
            <p14:sldId id="388"/>
            <p14:sldId id="390"/>
            <p14:sldId id="391"/>
            <p14:sldId id="392"/>
            <p14:sldId id="393"/>
            <p14:sldId id="396"/>
            <p14:sldId id="268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743481"/>
    <a:srgbClr val="701988"/>
    <a:srgbClr val="D9D9D9"/>
    <a:srgbClr val="0432FF"/>
    <a:srgbClr val="CD3300"/>
    <a:srgbClr val="BDD8EE"/>
    <a:srgbClr val="E9F6FD"/>
    <a:srgbClr val="FF7E79"/>
    <a:srgbClr val="FF86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AF606853-7671-496A-8E4F-DF71F8EC918B}" styleName="深色样式 1 - 强调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7CE84F3-28C3-443E-9E96-99CF82512B78}" styleName="深色样式 1 - 强调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27" autoAdjust="0"/>
    <p:restoredTop sz="92946" autoAdjust="0"/>
  </p:normalViewPr>
  <p:slideViewPr>
    <p:cSldViewPr snapToGrid="0" snapToObjects="1">
      <p:cViewPr varScale="1">
        <p:scale>
          <a:sx n="117" d="100"/>
          <a:sy n="117" d="100"/>
        </p:scale>
        <p:origin x="1000" y="168"/>
      </p:cViewPr>
      <p:guideLst>
        <p:guide orient="horz" pos="2160"/>
        <p:guide pos="3840"/>
      </p:guideLst>
    </p:cSldViewPr>
  </p:slideViewPr>
  <p:notesTextViewPr>
    <p:cViewPr>
      <p:scale>
        <a:sx n="125" d="100"/>
        <a:sy n="125" d="100"/>
      </p:scale>
      <p:origin x="0" y="0"/>
    </p:cViewPr>
  </p:notesTextViewPr>
  <p:sorterViewPr>
    <p:cViewPr>
      <p:scale>
        <a:sx n="80" d="100"/>
        <a:sy n="80" d="100"/>
      </p:scale>
      <p:origin x="0" y="0"/>
    </p:cViewPr>
  </p:sorterViewPr>
  <p:notesViewPr>
    <p:cSldViewPr snapToGrid="0" snapToObjects="1">
      <p:cViewPr varScale="1">
        <p:scale>
          <a:sx n="123" d="100"/>
          <a:sy n="123" d="100"/>
        </p:scale>
        <p:origin x="4974" y="9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116589F-D427-F04A-91D2-2AD451DC08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001085BB-6BB3-2147-AD5B-1A56B9C9B1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87AFB1-FC2E-A841-AABB-8627E0910947}" type="datetimeFigureOut">
              <a:rPr kumimoji="1" lang="zh-CN" altLang="en-US" smtClean="0"/>
              <a:t>2026/3/13</a:t>
            </a:fld>
            <a:endParaRPr kumimoji="1" lang="zh-CN" altLang="en-US"/>
          </a:p>
        </p:txBody>
      </p:sp>
      <p:sp>
        <p:nvSpPr>
          <p:cNvPr id="4" name="页脚占位符 3">
            <a:extLst>
              <a:ext uri="{FF2B5EF4-FFF2-40B4-BE49-F238E27FC236}">
                <a16:creationId xmlns:a16="http://schemas.microsoft.com/office/drawing/2014/main" id="{B64C79B2-FF71-F345-830D-9C5BA8B64E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F34E76-BC21-0A45-A642-1AA614B3E1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C95495-7EA9-3D41-A717-E01872EB964D}" type="slidenum">
              <a:rPr kumimoji="1" lang="zh-CN" altLang="en-US" smtClean="0"/>
              <a:t>‹#›</a:t>
            </a:fld>
            <a:endParaRPr kumimoji="1" lang="zh-CN" altLang="en-US"/>
          </a:p>
        </p:txBody>
      </p:sp>
    </p:spTree>
    <p:extLst>
      <p:ext uri="{BB962C8B-B14F-4D97-AF65-F5344CB8AC3E}">
        <p14:creationId xmlns:p14="http://schemas.microsoft.com/office/powerpoint/2010/main" val="327012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A5006-524B-774E-9EF8-7C98BABD4FCD}" type="datetimeFigureOut">
              <a:t>3/13/26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FA5C0-9868-CE46-A0FF-56EEF184B354}" type="slidenum">
              <a:t>‹#›</a:t>
            </a:fld>
            <a:endParaRPr kumimoji="1" lang="zh-CN" altLang="en-US"/>
          </a:p>
        </p:txBody>
      </p:sp>
    </p:spTree>
    <p:extLst>
      <p:ext uri="{BB962C8B-B14F-4D97-AF65-F5344CB8AC3E}">
        <p14:creationId xmlns:p14="http://schemas.microsoft.com/office/powerpoint/2010/main" val="834877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a:t>
            </a:fld>
            <a:endParaRPr kumimoji="1" lang="zh-CN" altLang="en-US"/>
          </a:p>
        </p:txBody>
      </p:sp>
    </p:spTree>
    <p:extLst>
      <p:ext uri="{BB962C8B-B14F-4D97-AF65-F5344CB8AC3E}">
        <p14:creationId xmlns:p14="http://schemas.microsoft.com/office/powerpoint/2010/main" val="3588338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effectLst/>
            </a:endParaRPr>
          </a:p>
          <a:p>
            <a:r>
              <a:rPr lang="en-US" altLang="zh-CN" sz="1200" kern="1200" dirty="0">
                <a:solidFill>
                  <a:schemeClr val="tx1"/>
                </a:solidFill>
                <a:effectLst/>
                <a:latin typeface="+mn-lt"/>
                <a:ea typeface="+mn-ea"/>
                <a:cs typeface="+mn-cs"/>
              </a:rPr>
              <a:t>Register(RID, date, place, VID)</a:t>
            </a:r>
            <a:r>
              <a:rPr lang="zh-CN" altLang="zh-CN" dirty="0">
                <a:effectLst/>
              </a:rPr>
              <a:t> </a:t>
            </a:r>
            <a:endParaRPr lang="en-US" altLang="zh-CN" dirty="0">
              <a:effectLst/>
            </a:endParaRPr>
          </a:p>
          <a:p>
            <a:r>
              <a:rPr lang="en-US" altLang="zh-CN" sz="1200" kern="1200" dirty="0">
                <a:solidFill>
                  <a:schemeClr val="tx1"/>
                </a:solidFill>
                <a:effectLst/>
                <a:latin typeface="+mn-lt"/>
                <a:ea typeface="+mn-ea"/>
                <a:cs typeface="+mn-cs"/>
              </a:rPr>
              <a:t>Vehicle(ID, license, color)</a:t>
            </a:r>
            <a:r>
              <a:rPr lang="zh-CN" altLang="zh-CN" dirty="0">
                <a:effectLst/>
              </a:rPr>
              <a:t> </a:t>
            </a:r>
            <a:endParaRPr lang="en-US" altLang="zh-CN" dirty="0">
              <a:effectLst/>
            </a:endParaRPr>
          </a:p>
          <a:p>
            <a:r>
              <a:rPr lang="zh-CN" altLang="zh-CN" sz="1200" kern="1200" dirty="0">
                <a:solidFill>
                  <a:schemeClr val="tx1"/>
                </a:solidFill>
                <a:effectLst/>
                <a:latin typeface="+mn-lt"/>
                <a:ea typeface="+mn-ea"/>
                <a:cs typeface="+mn-cs"/>
              </a:rPr>
              <a:t>获取所有注册地在北京的汽车的车牌号和颜色</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a:t>
            </a:fld>
            <a:endParaRPr kumimoji="1" lang="zh-CN" altLang="en-US"/>
          </a:p>
        </p:txBody>
      </p:sp>
    </p:spTree>
    <p:extLst>
      <p:ext uri="{BB962C8B-B14F-4D97-AF65-F5344CB8AC3E}">
        <p14:creationId xmlns:p14="http://schemas.microsoft.com/office/powerpoint/2010/main" val="247232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对于给定的</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查询，从众多候选执行计划中选择出执行效率最高的执行计划的过程</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a:t>
            </a:fld>
            <a:endParaRPr kumimoji="1" lang="zh-CN" altLang="en-US"/>
          </a:p>
        </p:txBody>
      </p:sp>
    </p:spTree>
    <p:extLst>
      <p:ext uri="{BB962C8B-B14F-4D97-AF65-F5344CB8AC3E}">
        <p14:creationId xmlns:p14="http://schemas.microsoft.com/office/powerpoint/2010/main" val="1965049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solidFill>
                  <a:srgbClr val="000000"/>
                </a:solidFill>
                <a:effectLst/>
                <a:latin typeface="Monaco" pitchFamily="2" charset="0"/>
              </a:rPr>
              <a:t>\Pi_{\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Sno</a:t>
            </a:r>
            <a:r>
              <a:rPr lang="fr-FR" altLang="zh-CN" dirty="0">
                <a:solidFill>
                  <a:srgbClr val="000000"/>
                </a:solidFill>
                <a:effectLst/>
                <a:latin typeface="Monaco" pitchFamily="2" charset="0"/>
              </a:rPr>
              <a:t>, </a:t>
            </a:r>
            <a:r>
              <a:rPr lang="fr-FR" altLang="zh-CN" dirty="0" err="1">
                <a:solidFill>
                  <a:srgbClr val="000000"/>
                </a:solidFill>
                <a:effectLst/>
                <a:latin typeface="Monaco" pitchFamily="2" charset="0"/>
              </a:rPr>
              <a:t>Sname</a:t>
            </a:r>
            <a:r>
              <a:rPr lang="fr-FR" altLang="zh-CN" dirty="0">
                <a:solidFill>
                  <a:srgbClr val="000000"/>
                </a:solidFill>
                <a:effectLst/>
                <a:latin typeface="Monaco" pitchFamily="2" charset="0"/>
              </a:rPr>
              <a:t>, Grade}}(\sigma_{\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Cno</a:t>
            </a:r>
            <a:r>
              <a:rPr lang="fr-FR" altLang="zh-CN" dirty="0">
                <a:solidFill>
                  <a:srgbClr val="000000"/>
                </a:solidFill>
                <a:effectLst/>
                <a:latin typeface="Monaco" pitchFamily="2" charset="0"/>
              </a:rPr>
              <a:t>=``1"}\wedge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SC.Sno</a:t>
            </a:r>
            <a:r>
              <a:rPr lang="fr-FR" altLang="zh-CN" dirty="0">
                <a:solidFill>
                  <a:srgbClr val="000000"/>
                </a:solidFill>
                <a:effectLst/>
                <a:latin typeface="Monaco" pitchFamily="2" charset="0"/>
              </a:rPr>
              <a:t>} =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Student.Sno</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{SC}\times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a:t>
            </a:r>
            <a:r>
              <a:rPr lang="fr-FR" altLang="zh-CN" dirty="0">
                <a:solidFill>
                  <a:srgbClr val="000000"/>
                </a:solidFill>
                <a:effectLst/>
                <a:latin typeface="Monaco" pitchFamily="2" charset="0"/>
              </a:rPr>
              <a:t>}))</a:t>
            </a:r>
          </a:p>
          <a:p>
            <a:endParaRPr lang="fr-FR" altLang="zh-CN" dirty="0">
              <a:solidFill>
                <a:srgbClr val="000000"/>
              </a:solidFill>
              <a:effectLst/>
              <a:latin typeface="Monaco" pitchFamily="2" charset="0"/>
            </a:endParaRPr>
          </a:p>
          <a:p>
            <a:r>
              <a:rPr lang="fr-FR" altLang="zh-CN" dirty="0">
                <a:solidFill>
                  <a:srgbClr val="000000"/>
                </a:solidFill>
                <a:effectLst/>
                <a:latin typeface="Monaco" pitchFamily="2" charset="0"/>
              </a:rPr>
              <a:t>\Pi_{\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Sno</a:t>
            </a:r>
            <a:r>
              <a:rPr lang="fr-FR" altLang="zh-CN" dirty="0">
                <a:solidFill>
                  <a:srgbClr val="000000"/>
                </a:solidFill>
                <a:effectLst/>
                <a:latin typeface="Monaco" pitchFamily="2" charset="0"/>
              </a:rPr>
              <a:t>, </a:t>
            </a:r>
            <a:r>
              <a:rPr lang="fr-FR" altLang="zh-CN" dirty="0" err="1">
                <a:solidFill>
                  <a:srgbClr val="000000"/>
                </a:solidFill>
                <a:effectLst/>
                <a:latin typeface="Monaco" pitchFamily="2" charset="0"/>
              </a:rPr>
              <a:t>Sname</a:t>
            </a:r>
            <a:r>
              <a:rPr lang="fr-FR" altLang="zh-CN" dirty="0">
                <a:solidFill>
                  <a:srgbClr val="000000"/>
                </a:solidFill>
                <a:effectLst/>
                <a:latin typeface="Monaco" pitchFamily="2" charset="0"/>
              </a:rPr>
              <a:t>, Grade}}( (\sigma_{\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Cno</a:t>
            </a:r>
            <a:r>
              <a:rPr lang="fr-FR" altLang="zh-CN" dirty="0">
                <a:solidFill>
                  <a:srgbClr val="000000"/>
                </a:solidFill>
                <a:effectLst/>
                <a:latin typeface="Monaco" pitchFamily="2" charset="0"/>
              </a:rPr>
              <a:t>=``1"}}\</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{SC})\</a:t>
            </a:r>
            <a:r>
              <a:rPr lang="fr-FR" altLang="zh-CN" dirty="0" err="1">
                <a:solidFill>
                  <a:srgbClr val="000000"/>
                </a:solidFill>
                <a:effectLst/>
                <a:latin typeface="Monaco" pitchFamily="2" charset="0"/>
              </a:rPr>
              <a:t>bowtie</a:t>
            </a:r>
            <a:r>
              <a:rPr lang="fr-FR" altLang="zh-CN" dirty="0">
                <a:solidFill>
                  <a:srgbClr val="000000"/>
                </a:solidFill>
                <a:effectLst/>
                <a:latin typeface="Monaco" pitchFamily="2" charset="0"/>
              </a:rPr>
              <a:t>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a:t>
            </a:r>
            <a:r>
              <a:rPr lang="fr-FR" altLang="zh-CN" dirty="0">
                <a:solidFill>
                  <a:srgbClr val="000000"/>
                </a:solidFill>
                <a:effectLst/>
                <a:latin typeface="Monaco" pitchFamily="2" charset="0"/>
              </a:rPr>
              <a:t>})</a:t>
            </a:r>
          </a:p>
          <a:p>
            <a:endParaRPr lang="fr-FR" altLang="zh-CN" dirty="0">
              <a:solidFill>
                <a:srgbClr val="000000"/>
              </a:solidFill>
              <a:effectLst/>
              <a:latin typeface="Monaco" pitchFamily="2" charset="0"/>
            </a:endParaRPr>
          </a:p>
          <a:p>
            <a:endParaRPr lang="fr-FR" altLang="zh-CN" dirty="0">
              <a:solidFill>
                <a:srgbClr val="000000"/>
              </a:solidFill>
              <a:effectLst/>
              <a:latin typeface="Monaco" pitchFamily="2" charset="0"/>
            </a:endParaRPr>
          </a:p>
        </p:txBody>
      </p:sp>
      <p:sp>
        <p:nvSpPr>
          <p:cNvPr id="4" name="灯片编号占位符 3"/>
          <p:cNvSpPr>
            <a:spLocks noGrp="1"/>
          </p:cNvSpPr>
          <p:nvPr>
            <p:ph type="sldNum" sz="quarter" idx="5"/>
          </p:nvPr>
        </p:nvSpPr>
        <p:spPr/>
        <p:txBody>
          <a:bodyPr/>
          <a:lstStyle/>
          <a:p>
            <a:fld id="{FE4FA5C0-9868-CE46-A0FF-56EEF184B354}" type="slidenum">
              <a:rPr lang="en-US" altLang="zh-CN" smtClean="0"/>
              <a:t>4</a:t>
            </a:fld>
            <a:endParaRPr kumimoji="1" lang="zh-CN" altLang="en-US"/>
          </a:p>
        </p:txBody>
      </p:sp>
    </p:spTree>
    <p:extLst>
      <p:ext uri="{BB962C8B-B14F-4D97-AF65-F5344CB8AC3E}">
        <p14:creationId xmlns:p14="http://schemas.microsoft.com/office/powerpoint/2010/main" val="3755957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对于给定的</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查询，从众多候选执行计划中选择出执行效率最高的执行计划的过程</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5</a:t>
            </a:fld>
            <a:endParaRPr kumimoji="1" lang="zh-CN" altLang="en-US"/>
          </a:p>
        </p:txBody>
      </p:sp>
    </p:spTree>
    <p:extLst>
      <p:ext uri="{BB962C8B-B14F-4D97-AF65-F5344CB8AC3E}">
        <p14:creationId xmlns:p14="http://schemas.microsoft.com/office/powerpoint/2010/main" val="4258907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对于给定的</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查询，从众多候选执行计划中选择出执行效率最高的执行计划的过程</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a:t>
            </a:fld>
            <a:endParaRPr kumimoji="1" lang="zh-CN" altLang="en-US"/>
          </a:p>
        </p:txBody>
      </p:sp>
    </p:spTree>
    <p:extLst>
      <p:ext uri="{BB962C8B-B14F-4D97-AF65-F5344CB8AC3E}">
        <p14:creationId xmlns:p14="http://schemas.microsoft.com/office/powerpoint/2010/main" val="929144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对于给定的</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查询，从众多候选执行计划中选择出执行效率最高的执行计划的过程</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a:t>
            </a:fld>
            <a:endParaRPr kumimoji="1" lang="zh-CN" altLang="en-US"/>
          </a:p>
        </p:txBody>
      </p:sp>
    </p:spTree>
    <p:extLst>
      <p:ext uri="{BB962C8B-B14F-4D97-AF65-F5344CB8AC3E}">
        <p14:creationId xmlns:p14="http://schemas.microsoft.com/office/powerpoint/2010/main" val="429417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对于给定的</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查询，从众多候选执行计划中选择出执行效率最高的执行计划的过程</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a:t>
            </a:fld>
            <a:endParaRPr kumimoji="1" lang="zh-CN" altLang="en-US"/>
          </a:p>
        </p:txBody>
      </p:sp>
    </p:spTree>
    <p:extLst>
      <p:ext uri="{BB962C8B-B14F-4D97-AF65-F5344CB8AC3E}">
        <p14:creationId xmlns:p14="http://schemas.microsoft.com/office/powerpoint/2010/main" val="2757233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按照一系列对于关系代数表达式的等价规则</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对关系代数表达式进行等价转换，以此实现执行效率的提高</a:t>
            </a:r>
            <a:r>
              <a:rPr lang="zh-CN" altLang="zh-CN" dirty="0">
                <a:effectLst/>
              </a:rPr>
              <a:t> </a:t>
            </a:r>
            <a:endParaRPr lang="en-US" altLang="zh-CN" dirty="0">
              <a:effectLst/>
            </a:endParaRPr>
          </a:p>
          <a:p>
            <a:endParaRPr kumimoji="1"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关系表达式的</a:t>
            </a:r>
            <a:r>
              <a:rPr lang="zh-CN" altLang="zh-CN" sz="1200" b="1" kern="1200" dirty="0">
                <a:solidFill>
                  <a:schemeClr val="tx1"/>
                </a:solidFill>
                <a:effectLst/>
                <a:latin typeface="+mn-lt"/>
                <a:ea typeface="+mn-ea"/>
                <a:cs typeface="+mn-cs"/>
              </a:rPr>
              <a:t>等价</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equivalent</a:t>
            </a:r>
            <a:r>
              <a:rPr lang="zh-CN" altLang="zh-CN" sz="1200" kern="1200" dirty="0">
                <a:solidFill>
                  <a:schemeClr val="tx1"/>
                </a:solidFill>
                <a:effectLst/>
                <a:latin typeface="+mn-lt"/>
                <a:ea typeface="+mn-ea"/>
                <a:cs typeface="+mn-cs"/>
              </a:rPr>
              <a:t>）被定义为：对于两个关系代数表达式，如果使用相同的关系对表达式中的关系进行替换，总能得到完全相同的结果，则称这两个关系表达式等价。</a:t>
            </a:r>
          </a:p>
          <a:p>
            <a:endParaRPr kumimoji="1" lang="en-US" altLang="zh-CN" dirty="0"/>
          </a:p>
          <a:p>
            <a:endParaRPr kumimoji="1" lang="en-US" altLang="zh-CN" dirty="0"/>
          </a:p>
          <a:p>
            <a:endParaRPr kumimoji="1" lang="en-US" altLang="zh-CN" dirty="0"/>
          </a:p>
          <a:p>
            <a:r>
              <a:rPr lang="zh-CN" altLang="zh-CN" sz="1200" b="1" kern="1200" dirty="0">
                <a:solidFill>
                  <a:schemeClr val="tx1"/>
                </a:solidFill>
                <a:effectLst/>
                <a:latin typeface="+mn-lt"/>
                <a:ea typeface="+mn-ea"/>
                <a:cs typeface="+mn-cs"/>
              </a:rPr>
              <a:t>等价规则</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equivalence rule</a:t>
            </a:r>
            <a:r>
              <a:rPr lang="zh-CN" altLang="zh-CN" sz="1200" kern="1200" dirty="0">
                <a:solidFill>
                  <a:schemeClr val="tx1"/>
                </a:solidFill>
                <a:effectLst/>
                <a:latin typeface="+mn-lt"/>
                <a:ea typeface="+mn-ea"/>
                <a:cs typeface="+mn-cs"/>
              </a:rPr>
              <a:t>）用于指出哪些不同形式的关系表达式是等价的</a:t>
            </a:r>
            <a:r>
              <a:rPr lang="zh-CN" altLang="zh-CN" dirty="0">
                <a:effectLst/>
              </a:rPr>
              <a:t> </a:t>
            </a:r>
            <a:endParaRPr lang="en-US" altLang="zh-CN" dirty="0">
              <a:effectLst/>
            </a:endParaRPr>
          </a:p>
          <a:p>
            <a:endParaRPr kumimoji="1" lang="en-US" altLang="zh-CN" dirty="0">
              <a:effectLst/>
            </a:endParaRPr>
          </a:p>
          <a:p>
            <a:endParaRPr kumimoji="1"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通过调整关系代数运算的顺序，来最小化每步运算要处理的行数，从而提高运算效率。</a:t>
            </a:r>
            <a:r>
              <a:rPr lang="zh-CN" altLang="zh-CN" sz="1050" dirty="0"/>
              <a:t> </a:t>
            </a:r>
            <a:endParaRPr lang="en-US" altLang="zh-CN" sz="1050" dirty="0"/>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a:t>
            </a:fld>
            <a:endParaRPr kumimoji="1" lang="zh-CN" altLang="en-US"/>
          </a:p>
        </p:txBody>
      </p:sp>
    </p:spTree>
    <p:extLst>
      <p:ext uri="{BB962C8B-B14F-4D97-AF65-F5344CB8AC3E}">
        <p14:creationId xmlns:p14="http://schemas.microsoft.com/office/powerpoint/2010/main" val="1152908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等价规则</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equivalence rule</a:t>
            </a:r>
            <a:r>
              <a:rPr lang="zh-CN" altLang="zh-CN" sz="1200" kern="1200" dirty="0">
                <a:solidFill>
                  <a:schemeClr val="tx1"/>
                </a:solidFill>
                <a:effectLst/>
                <a:latin typeface="+mn-lt"/>
                <a:ea typeface="+mn-ea"/>
                <a:cs typeface="+mn-cs"/>
              </a:rPr>
              <a:t>）用于指出哪些不同形式的关系表达式是等价的</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a:t>
            </a:fld>
            <a:endParaRPr kumimoji="1" lang="zh-CN" altLang="en-US"/>
          </a:p>
        </p:txBody>
      </p:sp>
    </p:spTree>
    <p:extLst>
      <p:ext uri="{BB962C8B-B14F-4D97-AF65-F5344CB8AC3E}">
        <p14:creationId xmlns:p14="http://schemas.microsoft.com/office/powerpoint/2010/main" val="4278263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等价规则</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equivalence rule</a:t>
            </a:r>
            <a:r>
              <a:rPr lang="zh-CN" altLang="zh-CN" sz="1200" kern="1200" dirty="0">
                <a:solidFill>
                  <a:schemeClr val="tx1"/>
                </a:solidFill>
                <a:effectLst/>
                <a:latin typeface="+mn-lt"/>
                <a:ea typeface="+mn-ea"/>
                <a:cs typeface="+mn-cs"/>
              </a:rPr>
              <a:t>）用于指出哪些不同形式的关系表达式是等价的</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a:t>
            </a:fld>
            <a:endParaRPr kumimoji="1" lang="zh-CN" altLang="en-US"/>
          </a:p>
        </p:txBody>
      </p:sp>
    </p:spTree>
    <p:extLst>
      <p:ext uri="{BB962C8B-B14F-4D97-AF65-F5344CB8AC3E}">
        <p14:creationId xmlns:p14="http://schemas.microsoft.com/office/powerpoint/2010/main" val="3526728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等价规则</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equivalence rule</a:t>
            </a:r>
            <a:r>
              <a:rPr lang="zh-CN" altLang="zh-CN" sz="1200" kern="1200" dirty="0">
                <a:solidFill>
                  <a:schemeClr val="tx1"/>
                </a:solidFill>
                <a:effectLst/>
                <a:latin typeface="+mn-lt"/>
                <a:ea typeface="+mn-ea"/>
                <a:cs typeface="+mn-cs"/>
              </a:rPr>
              <a:t>）用于指出哪些不同形式的关系表达式是等价的</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a:t>
            </a:fld>
            <a:endParaRPr kumimoji="1" lang="zh-CN" altLang="en-US"/>
          </a:p>
        </p:txBody>
      </p:sp>
    </p:spTree>
    <p:extLst>
      <p:ext uri="{BB962C8B-B14F-4D97-AF65-F5344CB8AC3E}">
        <p14:creationId xmlns:p14="http://schemas.microsoft.com/office/powerpoint/2010/main" val="699433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solidFill>
                  <a:srgbClr val="000000"/>
                </a:solidFill>
                <a:effectLst/>
                <a:latin typeface="Monaco" pitchFamily="2" charset="0"/>
              </a:rPr>
              <a:t>\Pi_{\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Sno</a:t>
            </a:r>
            <a:r>
              <a:rPr lang="fr-FR" altLang="zh-CN" dirty="0">
                <a:solidFill>
                  <a:srgbClr val="000000"/>
                </a:solidFill>
                <a:effectLst/>
                <a:latin typeface="Monaco" pitchFamily="2" charset="0"/>
              </a:rPr>
              <a:t>, </a:t>
            </a:r>
            <a:r>
              <a:rPr lang="fr-FR" altLang="zh-CN" dirty="0" err="1">
                <a:solidFill>
                  <a:srgbClr val="000000"/>
                </a:solidFill>
                <a:effectLst/>
                <a:latin typeface="Monaco" pitchFamily="2" charset="0"/>
              </a:rPr>
              <a:t>Sname</a:t>
            </a:r>
            <a:r>
              <a:rPr lang="fr-FR" altLang="zh-CN" dirty="0">
                <a:solidFill>
                  <a:srgbClr val="000000"/>
                </a:solidFill>
                <a:effectLst/>
                <a:latin typeface="Monaco" pitchFamily="2" charset="0"/>
              </a:rPr>
              <a:t>, Grade}}(\sigma_{\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Cno</a:t>
            </a:r>
            <a:r>
              <a:rPr lang="fr-FR" altLang="zh-CN" dirty="0">
                <a:solidFill>
                  <a:srgbClr val="000000"/>
                </a:solidFill>
                <a:effectLst/>
                <a:latin typeface="Monaco" pitchFamily="2" charset="0"/>
              </a:rPr>
              <a:t>=``1"}\wedge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SC.Sno</a:t>
            </a:r>
            <a:r>
              <a:rPr lang="fr-FR" altLang="zh-CN" dirty="0">
                <a:solidFill>
                  <a:srgbClr val="000000"/>
                </a:solidFill>
                <a:effectLst/>
                <a:latin typeface="Monaco" pitchFamily="2" charset="0"/>
              </a:rPr>
              <a:t>} =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Student.Sno</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{SC}\times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a:t>
            </a:r>
            <a:r>
              <a:rPr lang="fr-FR" altLang="zh-CN" dirty="0">
                <a:solidFill>
                  <a:srgbClr val="000000"/>
                </a:solidFill>
                <a:effectLst/>
                <a:latin typeface="Monaco" pitchFamily="2" charset="0"/>
              </a:rPr>
              <a:t>}))</a:t>
            </a:r>
          </a:p>
          <a:p>
            <a:br>
              <a:rPr lang="fr-FR" altLang="zh-CN" dirty="0">
                <a:solidFill>
                  <a:srgbClr val="000000"/>
                </a:solidFill>
                <a:effectLst/>
                <a:latin typeface="Monaco" pitchFamily="2" charset="0"/>
              </a:rPr>
            </a:br>
            <a:endParaRPr lang="fr-FR" altLang="zh-CN" dirty="0">
              <a:solidFill>
                <a:srgbClr val="000000"/>
              </a:solidFill>
              <a:effectLst/>
              <a:latin typeface="Monaco" pitchFamily="2" charset="0"/>
            </a:endParaRPr>
          </a:p>
          <a:p>
            <a:br>
              <a:rPr lang="fr-FR" altLang="zh-CN" dirty="0">
                <a:solidFill>
                  <a:srgbClr val="000000"/>
                </a:solidFill>
                <a:effectLst/>
                <a:latin typeface="Monaco" pitchFamily="2" charset="0"/>
              </a:rPr>
            </a:br>
            <a:endParaRPr lang="fr-FR" altLang="zh-CN" dirty="0">
              <a:solidFill>
                <a:srgbClr val="000000"/>
              </a:solidFill>
              <a:effectLst/>
              <a:latin typeface="Monaco" pitchFamily="2" charset="0"/>
            </a:endParaRPr>
          </a:p>
        </p:txBody>
      </p:sp>
      <p:sp>
        <p:nvSpPr>
          <p:cNvPr id="4" name="灯片编号占位符 3"/>
          <p:cNvSpPr>
            <a:spLocks noGrp="1"/>
          </p:cNvSpPr>
          <p:nvPr>
            <p:ph type="sldNum" sz="quarter" idx="5"/>
          </p:nvPr>
        </p:nvSpPr>
        <p:spPr/>
        <p:txBody>
          <a:bodyPr/>
          <a:lstStyle/>
          <a:p>
            <a:fld id="{FE4FA5C0-9868-CE46-A0FF-56EEF184B354}" type="slidenum">
              <a:rPr lang="en-US" altLang="zh-CN" smtClean="0"/>
              <a:t>16</a:t>
            </a:fld>
            <a:endParaRPr kumimoji="1" lang="zh-CN" altLang="en-US"/>
          </a:p>
        </p:txBody>
      </p:sp>
    </p:spTree>
    <p:extLst>
      <p:ext uri="{BB962C8B-B14F-4D97-AF65-F5344CB8AC3E}">
        <p14:creationId xmlns:p14="http://schemas.microsoft.com/office/powerpoint/2010/main" val="2776517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solidFill>
                  <a:srgbClr val="000000"/>
                </a:solidFill>
                <a:effectLst/>
                <a:latin typeface="Monaco" pitchFamily="2" charset="0"/>
              </a:rPr>
              <a:t>\Pi_{\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Sno</a:t>
            </a:r>
            <a:r>
              <a:rPr lang="fr-FR" altLang="zh-CN" dirty="0">
                <a:solidFill>
                  <a:srgbClr val="000000"/>
                </a:solidFill>
                <a:effectLst/>
                <a:latin typeface="Monaco" pitchFamily="2" charset="0"/>
              </a:rPr>
              <a:t>, </a:t>
            </a:r>
            <a:r>
              <a:rPr lang="fr-FR" altLang="zh-CN" dirty="0" err="1">
                <a:solidFill>
                  <a:srgbClr val="000000"/>
                </a:solidFill>
                <a:effectLst/>
                <a:latin typeface="Monaco" pitchFamily="2" charset="0"/>
              </a:rPr>
              <a:t>Sname</a:t>
            </a:r>
            <a:r>
              <a:rPr lang="fr-FR" altLang="zh-CN" dirty="0">
                <a:solidFill>
                  <a:srgbClr val="000000"/>
                </a:solidFill>
                <a:effectLst/>
                <a:latin typeface="Monaco" pitchFamily="2" charset="0"/>
              </a:rPr>
              <a:t>, Grade}}(\sigma_{\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SC.Sno</a:t>
            </a:r>
            <a:r>
              <a:rPr lang="fr-FR" altLang="zh-CN" dirty="0">
                <a:solidFill>
                  <a:srgbClr val="000000"/>
                </a:solidFill>
                <a:effectLst/>
                <a:latin typeface="Monaco" pitchFamily="2" charset="0"/>
              </a:rPr>
              <a:t>} =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Student.Sno</a:t>
            </a:r>
            <a:r>
              <a:rPr lang="fr-FR" altLang="zh-CN" dirty="0">
                <a:solidFill>
                  <a:srgbClr val="000000"/>
                </a:solidFill>
                <a:effectLst/>
                <a:latin typeface="Monaco" pitchFamily="2" charset="0"/>
              </a:rPr>
              <a:t>}}(\sigma_{\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Cno</a:t>
            </a:r>
            <a:r>
              <a:rPr lang="fr-FR" altLang="zh-CN" dirty="0">
                <a:solidFill>
                  <a:srgbClr val="000000"/>
                </a:solidFill>
                <a:effectLst/>
                <a:latin typeface="Monaco" pitchFamily="2" charset="0"/>
              </a:rPr>
              <a:t>=``1"}}(\</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{SC}\times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a:t>
            </a:r>
            <a:r>
              <a:rPr lang="fr-FR" altLang="zh-CN" dirty="0">
                <a:solidFill>
                  <a:srgbClr val="000000"/>
                </a:solidFill>
                <a:effectLst/>
                <a:latin typeface="Monaco" pitchFamily="2" charset="0"/>
              </a:rPr>
              <a:t>})))</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17</a:t>
            </a:fld>
            <a:endParaRPr kumimoji="1" lang="zh-CN" altLang="en-US"/>
          </a:p>
        </p:txBody>
      </p:sp>
    </p:spTree>
    <p:extLst>
      <p:ext uri="{BB962C8B-B14F-4D97-AF65-F5344CB8AC3E}">
        <p14:creationId xmlns:p14="http://schemas.microsoft.com/office/powerpoint/2010/main" val="3388434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dirty="0">
                <a:solidFill>
                  <a:srgbClr val="000000"/>
                </a:solidFill>
                <a:effectLst/>
                <a:latin typeface="Monaco" pitchFamily="2" charset="0"/>
              </a:rPr>
              <a:t>\Pi_{\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Sno</a:t>
            </a:r>
            <a:r>
              <a:rPr lang="fr-FR" altLang="zh-CN" dirty="0">
                <a:solidFill>
                  <a:srgbClr val="000000"/>
                </a:solidFill>
                <a:effectLst/>
                <a:latin typeface="Monaco" pitchFamily="2" charset="0"/>
              </a:rPr>
              <a:t>, </a:t>
            </a:r>
            <a:r>
              <a:rPr lang="fr-FR" altLang="zh-CN" dirty="0" err="1">
                <a:solidFill>
                  <a:srgbClr val="000000"/>
                </a:solidFill>
                <a:effectLst/>
                <a:latin typeface="Monaco" pitchFamily="2" charset="0"/>
              </a:rPr>
              <a:t>Sname</a:t>
            </a:r>
            <a:r>
              <a:rPr lang="fr-FR" altLang="zh-CN" dirty="0">
                <a:solidFill>
                  <a:srgbClr val="000000"/>
                </a:solidFill>
                <a:effectLst/>
                <a:latin typeface="Monaco" pitchFamily="2" charset="0"/>
              </a:rPr>
              <a:t>, Grade}}(\sigma_{\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SC.Sno</a:t>
            </a:r>
            <a:r>
              <a:rPr lang="fr-FR" altLang="zh-CN" dirty="0">
                <a:solidFill>
                  <a:srgbClr val="000000"/>
                </a:solidFill>
                <a:effectLst/>
                <a:latin typeface="Monaco" pitchFamily="2" charset="0"/>
              </a:rPr>
              <a:t>} =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Student.Sno</a:t>
            </a:r>
            <a:r>
              <a:rPr lang="fr-FR" altLang="zh-CN" dirty="0">
                <a:solidFill>
                  <a:srgbClr val="000000"/>
                </a:solidFill>
                <a:effectLst/>
                <a:latin typeface="Monaco" pitchFamily="2" charset="0"/>
              </a:rPr>
              <a:t>}}(\sigma_{\</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Cno</a:t>
            </a:r>
            <a:r>
              <a:rPr lang="fr-FR" altLang="zh-CN" dirty="0">
                <a:solidFill>
                  <a:srgbClr val="000000"/>
                </a:solidFill>
                <a:effectLst/>
                <a:latin typeface="Monaco" pitchFamily="2" charset="0"/>
              </a:rPr>
              <a:t>=``1"}}(\</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{SC})\times \</a:t>
            </a:r>
            <a:r>
              <a:rPr lang="fr-FR" altLang="zh-CN" dirty="0" err="1">
                <a:solidFill>
                  <a:srgbClr val="000000"/>
                </a:solidFill>
                <a:effectLst/>
                <a:latin typeface="Monaco" pitchFamily="2" charset="0"/>
              </a:rPr>
              <a:t>rm</a:t>
            </a: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Student</a:t>
            </a:r>
            <a:r>
              <a:rPr lang="fr-FR" altLang="zh-CN" dirty="0">
                <a:solidFill>
                  <a:srgbClr val="000000"/>
                </a:solidFill>
                <a:effectLst/>
                <a:latin typeface="Monaco" pitchFamily="2" charset="0"/>
              </a:rPr>
              <a:t>}))</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18</a:t>
            </a:fld>
            <a:endParaRPr kumimoji="1" lang="zh-CN" altLang="en-US"/>
          </a:p>
        </p:txBody>
      </p:sp>
    </p:spTree>
    <p:extLst>
      <p:ext uri="{BB962C8B-B14F-4D97-AF65-F5344CB8AC3E}">
        <p14:creationId xmlns:p14="http://schemas.microsoft.com/office/powerpoint/2010/main" val="2532407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等价规则</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equivalence rule</a:t>
            </a:r>
            <a:r>
              <a:rPr lang="zh-CN" altLang="zh-CN" sz="1200" kern="1200" dirty="0">
                <a:solidFill>
                  <a:schemeClr val="tx1"/>
                </a:solidFill>
                <a:effectLst/>
                <a:latin typeface="+mn-lt"/>
                <a:ea typeface="+mn-ea"/>
                <a:cs typeface="+mn-cs"/>
              </a:rPr>
              <a:t>）用于指出哪些不同形式的关系表达式是等价的</a:t>
            </a:r>
            <a:r>
              <a:rPr lang="zh-CN" altLang="zh-CN" dirty="0">
                <a:effectLst/>
              </a:rPr>
              <a:t> </a:t>
            </a:r>
            <a:endParaRPr lang="en-US" altLang="zh-CN" dirty="0">
              <a:effectLst/>
            </a:endParaRPr>
          </a:p>
          <a:p>
            <a:endParaRPr kumimoji="1"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dirty="0">
                <a:solidFill>
                  <a:srgbClr val="000000"/>
                </a:solidFill>
                <a:effectLst/>
                <a:latin typeface="Monaco" pitchFamily="2" charset="0"/>
              </a:rPr>
              <a:t>\</a:t>
            </a:r>
            <a:r>
              <a:rPr lang="fr-FR" altLang="zh-CN" dirty="0" err="1">
                <a:solidFill>
                  <a:srgbClr val="000000"/>
                </a:solidFill>
                <a:effectLst/>
                <a:latin typeface="Monaco" pitchFamily="2" charset="0"/>
              </a:rPr>
              <a:t>bowtie</a:t>
            </a:r>
            <a:endParaRPr lang="fr-FR" altLang="zh-CN" dirty="0">
              <a:solidFill>
                <a:srgbClr val="000000"/>
              </a:solidFill>
              <a:effectLst/>
              <a:latin typeface="Monaco" pitchFamily="2" charset="0"/>
            </a:endParaRPr>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19</a:t>
            </a:fld>
            <a:endParaRPr kumimoji="1" lang="zh-CN" altLang="en-US"/>
          </a:p>
        </p:txBody>
      </p:sp>
    </p:spTree>
    <p:extLst>
      <p:ext uri="{BB962C8B-B14F-4D97-AF65-F5344CB8AC3E}">
        <p14:creationId xmlns:p14="http://schemas.microsoft.com/office/powerpoint/2010/main" val="79139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20</a:t>
            </a:fld>
            <a:endParaRPr kumimoji="1" lang="zh-CN" altLang="en-US"/>
          </a:p>
        </p:txBody>
      </p:sp>
    </p:spTree>
    <p:extLst>
      <p:ext uri="{BB962C8B-B14F-4D97-AF65-F5344CB8AC3E}">
        <p14:creationId xmlns:p14="http://schemas.microsoft.com/office/powerpoint/2010/main" val="1670575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21</a:t>
            </a:fld>
            <a:endParaRPr kumimoji="1" lang="zh-CN" altLang="en-US"/>
          </a:p>
        </p:txBody>
      </p:sp>
    </p:spTree>
    <p:extLst>
      <p:ext uri="{BB962C8B-B14F-4D97-AF65-F5344CB8AC3E}">
        <p14:creationId xmlns:p14="http://schemas.microsoft.com/office/powerpoint/2010/main" val="23680349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22</a:t>
            </a:fld>
            <a:endParaRPr kumimoji="1" lang="zh-CN" altLang="en-US"/>
          </a:p>
        </p:txBody>
      </p:sp>
    </p:spTree>
    <p:extLst>
      <p:ext uri="{BB962C8B-B14F-4D97-AF65-F5344CB8AC3E}">
        <p14:creationId xmlns:p14="http://schemas.microsoft.com/office/powerpoint/2010/main" val="2480624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23</a:t>
            </a:fld>
            <a:endParaRPr kumimoji="1" lang="zh-CN" altLang="en-US"/>
          </a:p>
        </p:txBody>
      </p:sp>
    </p:spTree>
    <p:extLst>
      <p:ext uri="{BB962C8B-B14F-4D97-AF65-F5344CB8AC3E}">
        <p14:creationId xmlns:p14="http://schemas.microsoft.com/office/powerpoint/2010/main" val="2969613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等价规则</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equivalence rule</a:t>
            </a:r>
            <a:r>
              <a:rPr lang="zh-CN" altLang="zh-CN" sz="1200" kern="1200" dirty="0">
                <a:solidFill>
                  <a:schemeClr val="tx1"/>
                </a:solidFill>
                <a:effectLst/>
                <a:latin typeface="+mn-lt"/>
                <a:ea typeface="+mn-ea"/>
                <a:cs typeface="+mn-cs"/>
              </a:rPr>
              <a:t>）用于指出哪些不同形式的关系表达式是等价的</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24</a:t>
            </a:fld>
            <a:endParaRPr kumimoji="1" lang="zh-CN" altLang="en-US"/>
          </a:p>
        </p:txBody>
      </p:sp>
    </p:spTree>
    <p:extLst>
      <p:ext uri="{BB962C8B-B14F-4D97-AF65-F5344CB8AC3E}">
        <p14:creationId xmlns:p14="http://schemas.microsoft.com/office/powerpoint/2010/main" val="23107525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等价规则</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equivalence rule</a:t>
            </a:r>
            <a:r>
              <a:rPr lang="zh-CN" altLang="zh-CN" sz="1200" kern="1200" dirty="0">
                <a:solidFill>
                  <a:schemeClr val="tx1"/>
                </a:solidFill>
                <a:effectLst/>
                <a:latin typeface="+mn-lt"/>
                <a:ea typeface="+mn-ea"/>
                <a:cs typeface="+mn-cs"/>
              </a:rPr>
              <a:t>）用于指出哪些不同形式的关系表达式是等价的</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25</a:t>
            </a:fld>
            <a:endParaRPr kumimoji="1" lang="zh-CN" altLang="en-US"/>
          </a:p>
        </p:txBody>
      </p:sp>
    </p:spTree>
    <p:extLst>
      <p:ext uri="{BB962C8B-B14F-4D97-AF65-F5344CB8AC3E}">
        <p14:creationId xmlns:p14="http://schemas.microsoft.com/office/powerpoint/2010/main" val="1336504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绝大多数时候，将选择操作在表达式树中尽可能下推，也就是更早地执行选择运算，可以更早地对中间关系的大小进行缩减，从而减少后续磁盘读取以及运算次数，由此达到加速查询执行的目的。</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26</a:t>
            </a:fld>
            <a:endParaRPr kumimoji="1" lang="zh-CN" altLang="en-US"/>
          </a:p>
        </p:txBody>
      </p:sp>
    </p:spTree>
    <p:extLst>
      <p:ext uri="{BB962C8B-B14F-4D97-AF65-F5344CB8AC3E}">
        <p14:creationId xmlns:p14="http://schemas.microsoft.com/office/powerpoint/2010/main" val="6321050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27</a:t>
            </a:fld>
            <a:endParaRPr kumimoji="1" lang="zh-CN" altLang="en-US"/>
          </a:p>
        </p:txBody>
      </p:sp>
    </p:spTree>
    <p:extLst>
      <p:ext uri="{BB962C8B-B14F-4D97-AF65-F5344CB8AC3E}">
        <p14:creationId xmlns:p14="http://schemas.microsoft.com/office/powerpoint/2010/main" val="1018361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28</a:t>
            </a:fld>
            <a:endParaRPr kumimoji="1" lang="zh-CN" altLang="en-US"/>
          </a:p>
        </p:txBody>
      </p:sp>
    </p:spTree>
    <p:extLst>
      <p:ext uri="{BB962C8B-B14F-4D97-AF65-F5344CB8AC3E}">
        <p14:creationId xmlns:p14="http://schemas.microsoft.com/office/powerpoint/2010/main" val="3913546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29</a:t>
            </a:fld>
            <a:endParaRPr kumimoji="1" lang="zh-CN" altLang="en-US"/>
          </a:p>
        </p:txBody>
      </p:sp>
    </p:spTree>
    <p:extLst>
      <p:ext uri="{BB962C8B-B14F-4D97-AF65-F5344CB8AC3E}">
        <p14:creationId xmlns:p14="http://schemas.microsoft.com/office/powerpoint/2010/main" val="434359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30</a:t>
            </a:fld>
            <a:endParaRPr kumimoji="1" lang="zh-CN" altLang="en-US"/>
          </a:p>
        </p:txBody>
      </p:sp>
    </p:spTree>
    <p:extLst>
      <p:ext uri="{BB962C8B-B14F-4D97-AF65-F5344CB8AC3E}">
        <p14:creationId xmlns:p14="http://schemas.microsoft.com/office/powerpoint/2010/main" val="4811798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对应哪个规则写过来</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绝大多数时候，将选择操作在表达式树中尽可能下推，也就是更早地执行选择运算，可以更早地对中间关系的大小进行缩减，从而减少后续磁盘读取以及运算次数，由此达到加速查询执行的目的。</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31</a:t>
            </a:fld>
            <a:endParaRPr kumimoji="1" lang="zh-CN" altLang="en-US"/>
          </a:p>
        </p:txBody>
      </p:sp>
    </p:spTree>
    <p:extLst>
      <p:ext uri="{BB962C8B-B14F-4D97-AF65-F5344CB8AC3E}">
        <p14:creationId xmlns:p14="http://schemas.microsoft.com/office/powerpoint/2010/main" val="262013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Todo</a:t>
            </a:r>
            <a:r>
              <a:rPr kumimoji="1" lang="en-US" altLang="zh-CN" dirty="0"/>
              <a:t>:</a:t>
            </a:r>
            <a:r>
              <a:rPr kumimoji="1" lang="zh-CN" altLang="en-US" dirty="0"/>
              <a:t> 加一个 更好的下推例子</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32</a:t>
            </a:fld>
            <a:endParaRPr kumimoji="1" lang="zh-CN" altLang="en-US"/>
          </a:p>
        </p:txBody>
      </p:sp>
    </p:spTree>
    <p:extLst>
      <p:ext uri="{BB962C8B-B14F-4D97-AF65-F5344CB8AC3E}">
        <p14:creationId xmlns:p14="http://schemas.microsoft.com/office/powerpoint/2010/main" val="2724042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mn-lt"/>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33</a:t>
            </a:fld>
            <a:endParaRPr kumimoji="1" lang="zh-CN" altLang="en-US"/>
          </a:p>
        </p:txBody>
      </p:sp>
    </p:spTree>
    <p:extLst>
      <p:ext uri="{BB962C8B-B14F-4D97-AF65-F5344CB8AC3E}">
        <p14:creationId xmlns:p14="http://schemas.microsoft.com/office/powerpoint/2010/main" val="13763800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mn-lt"/>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35</a:t>
            </a:fld>
            <a:endParaRPr kumimoji="1" lang="zh-CN" altLang="en-US"/>
          </a:p>
        </p:txBody>
      </p:sp>
    </p:spTree>
    <p:extLst>
      <p:ext uri="{BB962C8B-B14F-4D97-AF65-F5344CB8AC3E}">
        <p14:creationId xmlns:p14="http://schemas.microsoft.com/office/powerpoint/2010/main" val="21883022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规则写在下面</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36</a:t>
            </a:fld>
            <a:endParaRPr kumimoji="1" lang="zh-CN" altLang="en-US"/>
          </a:p>
        </p:txBody>
      </p:sp>
    </p:spTree>
    <p:extLst>
      <p:ext uri="{BB962C8B-B14F-4D97-AF65-F5344CB8AC3E}">
        <p14:creationId xmlns:p14="http://schemas.microsoft.com/office/powerpoint/2010/main" val="15201257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37</a:t>
            </a:fld>
            <a:endParaRPr kumimoji="1" lang="zh-CN" altLang="en-US"/>
          </a:p>
        </p:txBody>
      </p:sp>
    </p:spTree>
    <p:extLst>
      <p:ext uri="{BB962C8B-B14F-4D97-AF65-F5344CB8AC3E}">
        <p14:creationId xmlns:p14="http://schemas.microsoft.com/office/powerpoint/2010/main" val="10298283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38</a:t>
            </a:fld>
            <a:endParaRPr kumimoji="1" lang="zh-CN" altLang="en-US"/>
          </a:p>
        </p:txBody>
      </p:sp>
    </p:spTree>
    <p:extLst>
      <p:ext uri="{BB962C8B-B14F-4D97-AF65-F5344CB8AC3E}">
        <p14:creationId xmlns:p14="http://schemas.microsoft.com/office/powerpoint/2010/main" val="13160841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40</a:t>
            </a:fld>
            <a:endParaRPr kumimoji="1" lang="zh-CN" altLang="en-US"/>
          </a:p>
        </p:txBody>
      </p:sp>
    </p:spTree>
    <p:extLst>
      <p:ext uri="{BB962C8B-B14F-4D97-AF65-F5344CB8AC3E}">
        <p14:creationId xmlns:p14="http://schemas.microsoft.com/office/powerpoint/2010/main" val="195326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41</a:t>
            </a:fld>
            <a:endParaRPr kumimoji="1" lang="zh-CN" altLang="en-US"/>
          </a:p>
        </p:txBody>
      </p:sp>
    </p:spTree>
    <p:extLst>
      <p:ext uri="{BB962C8B-B14F-4D97-AF65-F5344CB8AC3E}">
        <p14:creationId xmlns:p14="http://schemas.microsoft.com/office/powerpoint/2010/main" val="463385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42</a:t>
            </a:fld>
            <a:endParaRPr kumimoji="1" lang="zh-CN" altLang="en-US"/>
          </a:p>
        </p:txBody>
      </p:sp>
    </p:spTree>
    <p:extLst>
      <p:ext uri="{BB962C8B-B14F-4D97-AF65-F5344CB8AC3E}">
        <p14:creationId xmlns:p14="http://schemas.microsoft.com/office/powerpoint/2010/main" val="3204206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43</a:t>
            </a:fld>
            <a:endParaRPr kumimoji="1" lang="zh-CN" altLang="en-US"/>
          </a:p>
        </p:txBody>
      </p:sp>
    </p:spTree>
    <p:extLst>
      <p:ext uri="{BB962C8B-B14F-4D97-AF65-F5344CB8AC3E}">
        <p14:creationId xmlns:p14="http://schemas.microsoft.com/office/powerpoint/2010/main" val="35439263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44</a:t>
            </a:fld>
            <a:endParaRPr kumimoji="1" lang="zh-CN" altLang="en-US"/>
          </a:p>
        </p:txBody>
      </p:sp>
    </p:spTree>
    <p:extLst>
      <p:ext uri="{BB962C8B-B14F-4D97-AF65-F5344CB8AC3E}">
        <p14:creationId xmlns:p14="http://schemas.microsoft.com/office/powerpoint/2010/main" val="932990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45</a:t>
            </a:fld>
            <a:endParaRPr kumimoji="1" lang="zh-CN" altLang="en-US"/>
          </a:p>
        </p:txBody>
      </p:sp>
    </p:spTree>
    <p:extLst>
      <p:ext uri="{BB962C8B-B14F-4D97-AF65-F5344CB8AC3E}">
        <p14:creationId xmlns:p14="http://schemas.microsoft.com/office/powerpoint/2010/main" val="36395969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46</a:t>
            </a:fld>
            <a:endParaRPr kumimoji="1" lang="zh-CN" altLang="en-US"/>
          </a:p>
        </p:txBody>
      </p:sp>
    </p:spTree>
    <p:extLst>
      <p:ext uri="{BB962C8B-B14F-4D97-AF65-F5344CB8AC3E}">
        <p14:creationId xmlns:p14="http://schemas.microsoft.com/office/powerpoint/2010/main" val="9670790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47</a:t>
            </a:fld>
            <a:endParaRPr kumimoji="1" lang="zh-CN" altLang="en-US"/>
          </a:p>
        </p:txBody>
      </p:sp>
    </p:spTree>
    <p:extLst>
      <p:ext uri="{BB962C8B-B14F-4D97-AF65-F5344CB8AC3E}">
        <p14:creationId xmlns:p14="http://schemas.microsoft.com/office/powerpoint/2010/main" val="26713875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48</a:t>
            </a:fld>
            <a:endParaRPr kumimoji="1" lang="zh-CN" altLang="en-US"/>
          </a:p>
        </p:txBody>
      </p:sp>
    </p:spTree>
    <p:extLst>
      <p:ext uri="{BB962C8B-B14F-4D97-AF65-F5344CB8AC3E}">
        <p14:creationId xmlns:p14="http://schemas.microsoft.com/office/powerpoint/2010/main" val="27793933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50</a:t>
            </a:fld>
            <a:endParaRPr kumimoji="1" lang="zh-CN" altLang="en-US"/>
          </a:p>
        </p:txBody>
      </p:sp>
    </p:spTree>
    <p:extLst>
      <p:ext uri="{BB962C8B-B14F-4D97-AF65-F5344CB8AC3E}">
        <p14:creationId xmlns:p14="http://schemas.microsoft.com/office/powerpoint/2010/main" val="25905054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51</a:t>
            </a:fld>
            <a:endParaRPr kumimoji="1" lang="zh-CN" altLang="en-US"/>
          </a:p>
        </p:txBody>
      </p:sp>
    </p:spTree>
    <p:extLst>
      <p:ext uri="{BB962C8B-B14F-4D97-AF65-F5344CB8AC3E}">
        <p14:creationId xmlns:p14="http://schemas.microsoft.com/office/powerpoint/2010/main" val="29708597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颜色</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52</a:t>
            </a:fld>
            <a:endParaRPr kumimoji="1" lang="zh-CN" altLang="en-US"/>
          </a:p>
        </p:txBody>
      </p:sp>
    </p:spTree>
    <p:extLst>
      <p:ext uri="{BB962C8B-B14F-4D97-AF65-F5344CB8AC3E}">
        <p14:creationId xmlns:p14="http://schemas.microsoft.com/office/powerpoint/2010/main" val="4368566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对比一下好坏 优劣</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lang="en-US" altLang="zh-CN" dirty="0">
                  <a:effectLst/>
                </a:endParaRPr>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53</a:t>
            </a:fld>
            <a:endParaRPr kumimoji="1" lang="zh-CN" altLang="en-US"/>
          </a:p>
        </p:txBody>
      </p:sp>
    </p:spTree>
    <p:extLst>
      <p:ext uri="{BB962C8B-B14F-4D97-AF65-F5344CB8AC3E}">
        <p14:creationId xmlns:p14="http://schemas.microsoft.com/office/powerpoint/2010/main" val="36833475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对比一下好坏 优劣</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54</a:t>
            </a:fld>
            <a:endParaRPr kumimoji="1" lang="zh-CN" altLang="en-US"/>
          </a:p>
        </p:txBody>
      </p:sp>
    </p:spTree>
    <p:extLst>
      <p:ext uri="{BB962C8B-B14F-4D97-AF65-F5344CB8AC3E}">
        <p14:creationId xmlns:p14="http://schemas.microsoft.com/office/powerpoint/2010/main" val="20304978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55</a:t>
            </a:fld>
            <a:endParaRPr kumimoji="1" lang="zh-CN" altLang="en-US"/>
          </a:p>
        </p:txBody>
      </p:sp>
    </p:spTree>
    <p:extLst>
      <p:ext uri="{BB962C8B-B14F-4D97-AF65-F5344CB8AC3E}">
        <p14:creationId xmlns:p14="http://schemas.microsoft.com/office/powerpoint/2010/main" val="29555376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56</a:t>
            </a:fld>
            <a:endParaRPr kumimoji="1" lang="zh-CN" altLang="en-US"/>
          </a:p>
        </p:txBody>
      </p:sp>
    </p:spTree>
    <p:extLst>
      <p:ext uri="{BB962C8B-B14F-4D97-AF65-F5344CB8AC3E}">
        <p14:creationId xmlns:p14="http://schemas.microsoft.com/office/powerpoint/2010/main" val="13382712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lang="en-US" altLang="zh-CN" dirty="0">
                  <a:effectLst/>
                </a:endParaRPr>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57</a:t>
            </a:fld>
            <a:endParaRPr kumimoji="1" lang="zh-CN" altLang="en-US"/>
          </a:p>
        </p:txBody>
      </p:sp>
    </p:spTree>
    <p:extLst>
      <p:ext uri="{BB962C8B-B14F-4D97-AF65-F5344CB8AC3E}">
        <p14:creationId xmlns:p14="http://schemas.microsoft.com/office/powerpoint/2010/main" val="36439773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58</a:t>
            </a:fld>
            <a:endParaRPr kumimoji="1" lang="zh-CN" altLang="en-US"/>
          </a:p>
        </p:txBody>
      </p:sp>
    </p:spTree>
    <p:extLst>
      <p:ext uri="{BB962C8B-B14F-4D97-AF65-F5344CB8AC3E}">
        <p14:creationId xmlns:p14="http://schemas.microsoft.com/office/powerpoint/2010/main" val="4833241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59</a:t>
            </a:fld>
            <a:endParaRPr kumimoji="1" lang="zh-CN" altLang="en-US"/>
          </a:p>
        </p:txBody>
      </p:sp>
    </p:spTree>
    <p:extLst>
      <p:ext uri="{BB962C8B-B14F-4D97-AF65-F5344CB8AC3E}">
        <p14:creationId xmlns:p14="http://schemas.microsoft.com/office/powerpoint/2010/main" val="2791069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60</a:t>
            </a:fld>
            <a:endParaRPr kumimoji="1" lang="zh-CN" altLang="en-US"/>
          </a:p>
        </p:txBody>
      </p:sp>
    </p:spTree>
    <p:extLst>
      <p:ext uri="{BB962C8B-B14F-4D97-AF65-F5344CB8AC3E}">
        <p14:creationId xmlns:p14="http://schemas.microsoft.com/office/powerpoint/2010/main" val="2506096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61</a:t>
            </a:fld>
            <a:endParaRPr kumimoji="1" lang="zh-CN" altLang="en-US"/>
          </a:p>
        </p:txBody>
      </p:sp>
    </p:spTree>
    <p:extLst>
      <p:ext uri="{BB962C8B-B14F-4D97-AF65-F5344CB8AC3E}">
        <p14:creationId xmlns:p14="http://schemas.microsoft.com/office/powerpoint/2010/main" val="22802096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62</a:t>
            </a:fld>
            <a:endParaRPr kumimoji="1" lang="zh-CN" altLang="en-US"/>
          </a:p>
        </p:txBody>
      </p:sp>
    </p:spTree>
    <p:extLst>
      <p:ext uri="{BB962C8B-B14F-4D97-AF65-F5344CB8AC3E}">
        <p14:creationId xmlns:p14="http://schemas.microsoft.com/office/powerpoint/2010/main" val="29870577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63</a:t>
            </a:fld>
            <a:endParaRPr kumimoji="1" lang="zh-CN" altLang="en-US"/>
          </a:p>
        </p:txBody>
      </p:sp>
    </p:spTree>
    <p:extLst>
      <p:ext uri="{BB962C8B-B14F-4D97-AF65-F5344CB8AC3E}">
        <p14:creationId xmlns:p14="http://schemas.microsoft.com/office/powerpoint/2010/main" val="34264082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lang="en-US" altLang="zh-CN" sz="1200" kern="1200" dirty="0">
              <a:solidFill>
                <a:schemeClr val="tx1"/>
              </a:solidFill>
              <a:effectLst/>
              <a:latin typeface="+mn-lt"/>
              <a:ea typeface="+mn-ea"/>
              <a:cs typeface="+mn-cs"/>
            </a:endParaRPr>
          </a:p>
          <a:p>
            <a:endParaRPr kumimoji="1" lang="en-US" altLang="zh-CN" sz="120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64</a:t>
            </a:fld>
            <a:endParaRPr kumimoji="1" lang="zh-CN" altLang="en-US"/>
          </a:p>
        </p:txBody>
      </p:sp>
    </p:spTree>
    <p:extLst>
      <p:ext uri="{BB962C8B-B14F-4D97-AF65-F5344CB8AC3E}">
        <p14:creationId xmlns:p14="http://schemas.microsoft.com/office/powerpoint/2010/main" val="34338650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65</a:t>
            </a:fld>
            <a:endParaRPr kumimoji="1" lang="zh-CN" altLang="en-US"/>
          </a:p>
        </p:txBody>
      </p:sp>
    </p:spTree>
    <p:extLst>
      <p:ext uri="{BB962C8B-B14F-4D97-AF65-F5344CB8AC3E}">
        <p14:creationId xmlns:p14="http://schemas.microsoft.com/office/powerpoint/2010/main" val="20273445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66</a:t>
            </a:fld>
            <a:endParaRPr kumimoji="1" lang="zh-CN" altLang="en-US"/>
          </a:p>
        </p:txBody>
      </p:sp>
    </p:spTree>
    <p:extLst>
      <p:ext uri="{BB962C8B-B14F-4D97-AF65-F5344CB8AC3E}">
        <p14:creationId xmlns:p14="http://schemas.microsoft.com/office/powerpoint/2010/main" val="38093804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67</a:t>
            </a:fld>
            <a:endParaRPr kumimoji="1" lang="zh-CN" altLang="en-US"/>
          </a:p>
        </p:txBody>
      </p:sp>
    </p:spTree>
    <p:extLst>
      <p:ext uri="{BB962C8B-B14F-4D97-AF65-F5344CB8AC3E}">
        <p14:creationId xmlns:p14="http://schemas.microsoft.com/office/powerpoint/2010/main" val="39889291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68</a:t>
            </a:fld>
            <a:endParaRPr kumimoji="1" lang="zh-CN" altLang="en-US"/>
          </a:p>
        </p:txBody>
      </p:sp>
    </p:spTree>
    <p:extLst>
      <p:ext uri="{BB962C8B-B14F-4D97-AF65-F5344CB8AC3E}">
        <p14:creationId xmlns:p14="http://schemas.microsoft.com/office/powerpoint/2010/main" val="20398635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69</a:t>
            </a:fld>
            <a:endParaRPr kumimoji="1" lang="zh-CN" altLang="en-US"/>
          </a:p>
        </p:txBody>
      </p:sp>
    </p:spTree>
    <p:extLst>
      <p:ext uri="{BB962C8B-B14F-4D97-AF65-F5344CB8AC3E}">
        <p14:creationId xmlns:p14="http://schemas.microsoft.com/office/powerpoint/2010/main" val="39035638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70</a:t>
            </a:fld>
            <a:endParaRPr kumimoji="1" lang="zh-CN" altLang="en-US"/>
          </a:p>
        </p:txBody>
      </p:sp>
    </p:spTree>
    <p:extLst>
      <p:ext uri="{BB962C8B-B14F-4D97-AF65-F5344CB8AC3E}">
        <p14:creationId xmlns:p14="http://schemas.microsoft.com/office/powerpoint/2010/main" val="16264963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71</a:t>
            </a:fld>
            <a:endParaRPr kumimoji="1" lang="zh-CN" altLang="en-US"/>
          </a:p>
        </p:txBody>
      </p:sp>
    </p:spTree>
    <p:extLst>
      <p:ext uri="{BB962C8B-B14F-4D97-AF65-F5344CB8AC3E}">
        <p14:creationId xmlns:p14="http://schemas.microsoft.com/office/powerpoint/2010/main" val="34344732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mc:Choice>
        <mc:Fallback xmlns="">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Cambria Math" panose="02040503050406030204" pitchFamily="18" charset="0"/>
                    <a:ea typeface="+mn-ea"/>
                    <a:cs typeface="+mn-cs"/>
                  </a:rPr>
                  <a:t>𝑆</a:t>
                </a:r>
                <a:r>
                  <a:rPr lang="zh-CN" altLang="zh-CN" sz="1200" kern="1200" dirty="0">
                    <a:solidFill>
                      <a:schemeClr val="tx1"/>
                    </a:solidFill>
                    <a:effectLst/>
                    <a:latin typeface="+mn-lt"/>
                    <a:ea typeface="+mn-ea"/>
                    <a:cs typeface="+mn-cs"/>
                  </a:rPr>
                  <a:t>表示投影的属性集合</a:t>
                </a:r>
                <a:r>
                  <a:rPr lang="zh-CN" altLang="zh-CN" dirty="0">
                    <a:effectLst/>
                  </a:rPr>
                  <a:t> </a:t>
                </a:r>
                <a:endParaRPr kumimoji="1" lang="zh-CN" altLang="en-US" dirty="0"/>
              </a:p>
            </p:txBody>
          </p:sp>
        </mc:Fallback>
      </mc:AlternateContent>
      <p:sp>
        <p:nvSpPr>
          <p:cNvPr id="4" name="灯片编号占位符 3"/>
          <p:cNvSpPr>
            <a:spLocks noGrp="1"/>
          </p:cNvSpPr>
          <p:nvPr>
            <p:ph type="sldNum" sz="quarter" idx="5"/>
          </p:nvPr>
        </p:nvSpPr>
        <p:spPr/>
        <p:txBody>
          <a:bodyPr/>
          <a:lstStyle/>
          <a:p>
            <a:fld id="{FE4FA5C0-9868-CE46-A0FF-56EEF184B354}" type="slidenum">
              <a:rPr lang="en-US" altLang="zh-CN" smtClean="0"/>
              <a:t>72</a:t>
            </a:fld>
            <a:endParaRPr kumimoji="1" lang="zh-CN" altLang="en-US"/>
          </a:p>
        </p:txBody>
      </p:sp>
    </p:spTree>
    <p:extLst>
      <p:ext uri="{BB962C8B-B14F-4D97-AF65-F5344CB8AC3E}">
        <p14:creationId xmlns:p14="http://schemas.microsoft.com/office/powerpoint/2010/main" val="17882758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73</a:t>
            </a:fld>
            <a:endParaRPr kumimoji="1" lang="zh-CN" altLang="en-US"/>
          </a:p>
        </p:txBody>
      </p:sp>
    </p:spTree>
    <p:extLst>
      <p:ext uri="{BB962C8B-B14F-4D97-AF65-F5344CB8AC3E}">
        <p14:creationId xmlns:p14="http://schemas.microsoft.com/office/powerpoint/2010/main" val="28423399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74</a:t>
            </a:fld>
            <a:endParaRPr kumimoji="1" lang="zh-CN" altLang="en-US"/>
          </a:p>
        </p:txBody>
      </p:sp>
    </p:spTree>
    <p:extLst>
      <p:ext uri="{BB962C8B-B14F-4D97-AF65-F5344CB8AC3E}">
        <p14:creationId xmlns:p14="http://schemas.microsoft.com/office/powerpoint/2010/main" val="7405435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75</a:t>
            </a:fld>
            <a:endParaRPr kumimoji="1" lang="zh-CN" altLang="en-US"/>
          </a:p>
        </p:txBody>
      </p:sp>
    </p:spTree>
    <p:extLst>
      <p:ext uri="{BB962C8B-B14F-4D97-AF65-F5344CB8AC3E}">
        <p14:creationId xmlns:p14="http://schemas.microsoft.com/office/powerpoint/2010/main" val="32234371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76</a:t>
            </a:fld>
            <a:endParaRPr kumimoji="1" lang="zh-CN" altLang="en-US"/>
          </a:p>
        </p:txBody>
      </p:sp>
    </p:spTree>
    <p:extLst>
      <p:ext uri="{BB962C8B-B14F-4D97-AF65-F5344CB8AC3E}">
        <p14:creationId xmlns:p14="http://schemas.microsoft.com/office/powerpoint/2010/main" val="7405435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两个关系在单属性上连接</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77</a:t>
            </a:fld>
            <a:endParaRPr kumimoji="1" lang="zh-CN" altLang="en-US"/>
          </a:p>
        </p:txBody>
      </p:sp>
    </p:spTree>
    <p:extLst>
      <p:ext uri="{BB962C8B-B14F-4D97-AF65-F5344CB8AC3E}">
        <p14:creationId xmlns:p14="http://schemas.microsoft.com/office/powerpoint/2010/main" val="420379187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79</a:t>
            </a:fld>
            <a:endParaRPr kumimoji="1" lang="zh-CN" altLang="en-US"/>
          </a:p>
        </p:txBody>
      </p:sp>
    </p:spTree>
    <p:extLst>
      <p:ext uri="{BB962C8B-B14F-4D97-AF65-F5344CB8AC3E}">
        <p14:creationId xmlns:p14="http://schemas.microsoft.com/office/powerpoint/2010/main" val="18179299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todo</a:t>
            </a:r>
            <a:r>
              <a:rPr kumimoji="1" lang="en-US" altLang="zh-CN" dirty="0"/>
              <a:t> </a:t>
            </a:r>
            <a:r>
              <a:rPr kumimoji="1" lang="zh-CN" altLang="en-US" dirty="0"/>
              <a:t>表位置不变</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80</a:t>
            </a:fld>
            <a:endParaRPr kumimoji="1" lang="zh-CN" altLang="en-US"/>
          </a:p>
        </p:txBody>
      </p:sp>
    </p:spTree>
    <p:extLst>
      <p:ext uri="{BB962C8B-B14F-4D97-AF65-F5344CB8AC3E}">
        <p14:creationId xmlns:p14="http://schemas.microsoft.com/office/powerpoint/2010/main" val="423802158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81</a:t>
            </a:fld>
            <a:endParaRPr kumimoji="1" lang="zh-CN" altLang="en-US"/>
          </a:p>
        </p:txBody>
      </p:sp>
    </p:spTree>
    <p:extLst>
      <p:ext uri="{BB962C8B-B14F-4D97-AF65-F5344CB8AC3E}">
        <p14:creationId xmlns:p14="http://schemas.microsoft.com/office/powerpoint/2010/main" val="181746682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82</a:t>
            </a:fld>
            <a:endParaRPr kumimoji="1" lang="zh-CN" altLang="en-US"/>
          </a:p>
        </p:txBody>
      </p:sp>
    </p:spTree>
    <p:extLst>
      <p:ext uri="{BB962C8B-B14F-4D97-AF65-F5344CB8AC3E}">
        <p14:creationId xmlns:p14="http://schemas.microsoft.com/office/powerpoint/2010/main" val="2943556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83</a:t>
            </a:fld>
            <a:endParaRPr kumimoji="1" lang="zh-CN" altLang="en-US"/>
          </a:p>
        </p:txBody>
      </p:sp>
    </p:spTree>
    <p:extLst>
      <p:ext uri="{BB962C8B-B14F-4D97-AF65-F5344CB8AC3E}">
        <p14:creationId xmlns:p14="http://schemas.microsoft.com/office/powerpoint/2010/main" val="30691328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84</a:t>
            </a:fld>
            <a:endParaRPr kumimoji="1" lang="zh-CN" altLang="en-US"/>
          </a:p>
        </p:txBody>
      </p:sp>
    </p:spTree>
    <p:extLst>
      <p:ext uri="{BB962C8B-B14F-4D97-AF65-F5344CB8AC3E}">
        <p14:creationId xmlns:p14="http://schemas.microsoft.com/office/powerpoint/2010/main" val="394193737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85</a:t>
            </a:fld>
            <a:endParaRPr kumimoji="1" lang="zh-CN" altLang="en-US"/>
          </a:p>
        </p:txBody>
      </p:sp>
    </p:spTree>
    <p:extLst>
      <p:ext uri="{BB962C8B-B14F-4D97-AF65-F5344CB8AC3E}">
        <p14:creationId xmlns:p14="http://schemas.microsoft.com/office/powerpoint/2010/main" val="289944059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86</a:t>
            </a:fld>
            <a:endParaRPr kumimoji="1" lang="zh-CN" altLang="en-US"/>
          </a:p>
        </p:txBody>
      </p:sp>
    </p:spTree>
    <p:extLst>
      <p:ext uri="{BB962C8B-B14F-4D97-AF65-F5344CB8AC3E}">
        <p14:creationId xmlns:p14="http://schemas.microsoft.com/office/powerpoint/2010/main" val="160041813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87</a:t>
            </a:fld>
            <a:endParaRPr kumimoji="1" lang="zh-CN" altLang="en-US"/>
          </a:p>
        </p:txBody>
      </p:sp>
    </p:spTree>
    <p:extLst>
      <p:ext uri="{BB962C8B-B14F-4D97-AF65-F5344CB8AC3E}">
        <p14:creationId xmlns:p14="http://schemas.microsoft.com/office/powerpoint/2010/main" val="360459608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88</a:t>
            </a:fld>
            <a:endParaRPr kumimoji="1" lang="zh-CN" altLang="en-US"/>
          </a:p>
        </p:txBody>
      </p:sp>
    </p:spTree>
    <p:extLst>
      <p:ext uri="{BB962C8B-B14F-4D97-AF65-F5344CB8AC3E}">
        <p14:creationId xmlns:p14="http://schemas.microsoft.com/office/powerpoint/2010/main" val="73576086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89</a:t>
            </a:fld>
            <a:endParaRPr kumimoji="1" lang="zh-CN" altLang="en-US"/>
          </a:p>
        </p:txBody>
      </p:sp>
    </p:spTree>
    <p:extLst>
      <p:ext uri="{BB962C8B-B14F-4D97-AF65-F5344CB8AC3E}">
        <p14:creationId xmlns:p14="http://schemas.microsoft.com/office/powerpoint/2010/main" val="131182280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90</a:t>
            </a:fld>
            <a:endParaRPr kumimoji="1" lang="zh-CN" altLang="en-US"/>
          </a:p>
        </p:txBody>
      </p:sp>
    </p:spTree>
    <p:extLst>
      <p:ext uri="{BB962C8B-B14F-4D97-AF65-F5344CB8AC3E}">
        <p14:creationId xmlns:p14="http://schemas.microsoft.com/office/powerpoint/2010/main" val="11393974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todo</a:t>
            </a:r>
            <a:r>
              <a:rPr kumimoji="1" lang="zh-CN" altLang="en-US" dirty="0"/>
              <a:t>：是后缀还是前缀</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91</a:t>
            </a:fld>
            <a:endParaRPr kumimoji="1" lang="zh-CN" altLang="en-US"/>
          </a:p>
        </p:txBody>
      </p:sp>
    </p:spTree>
    <p:extLst>
      <p:ext uri="{BB962C8B-B14F-4D97-AF65-F5344CB8AC3E}">
        <p14:creationId xmlns:p14="http://schemas.microsoft.com/office/powerpoint/2010/main" val="26005779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92</a:t>
            </a:fld>
            <a:endParaRPr kumimoji="1" lang="zh-CN" altLang="en-US"/>
          </a:p>
        </p:txBody>
      </p:sp>
    </p:spTree>
    <p:extLst>
      <p:ext uri="{BB962C8B-B14F-4D97-AF65-F5344CB8AC3E}">
        <p14:creationId xmlns:p14="http://schemas.microsoft.com/office/powerpoint/2010/main" val="290488964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93</a:t>
            </a:fld>
            <a:endParaRPr kumimoji="1" lang="zh-CN" altLang="en-US"/>
          </a:p>
        </p:txBody>
      </p:sp>
    </p:spTree>
    <p:extLst>
      <p:ext uri="{BB962C8B-B14F-4D97-AF65-F5344CB8AC3E}">
        <p14:creationId xmlns:p14="http://schemas.microsoft.com/office/powerpoint/2010/main" val="256623696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94</a:t>
            </a:fld>
            <a:endParaRPr kumimoji="1" lang="zh-CN" altLang="en-US"/>
          </a:p>
        </p:txBody>
      </p:sp>
    </p:spTree>
    <p:extLst>
      <p:ext uri="{BB962C8B-B14F-4D97-AF65-F5344CB8AC3E}">
        <p14:creationId xmlns:p14="http://schemas.microsoft.com/office/powerpoint/2010/main" val="177988534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95</a:t>
            </a:fld>
            <a:endParaRPr kumimoji="1" lang="zh-CN" altLang="en-US"/>
          </a:p>
        </p:txBody>
      </p:sp>
    </p:spTree>
    <p:extLst>
      <p:ext uri="{BB962C8B-B14F-4D97-AF65-F5344CB8AC3E}">
        <p14:creationId xmlns:p14="http://schemas.microsoft.com/office/powerpoint/2010/main" val="257470892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96</a:t>
            </a:fld>
            <a:endParaRPr kumimoji="1" lang="zh-CN" altLang="en-US"/>
          </a:p>
        </p:txBody>
      </p:sp>
    </p:spTree>
    <p:extLst>
      <p:ext uri="{BB962C8B-B14F-4D97-AF65-F5344CB8AC3E}">
        <p14:creationId xmlns:p14="http://schemas.microsoft.com/office/powerpoint/2010/main" val="137155800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98</a:t>
            </a:fld>
            <a:endParaRPr kumimoji="1" lang="zh-CN" altLang="en-US"/>
          </a:p>
        </p:txBody>
      </p:sp>
    </p:spTree>
    <p:extLst>
      <p:ext uri="{BB962C8B-B14F-4D97-AF65-F5344CB8AC3E}">
        <p14:creationId xmlns:p14="http://schemas.microsoft.com/office/powerpoint/2010/main" val="159681841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99</a:t>
            </a:fld>
            <a:endParaRPr kumimoji="1" lang="zh-CN" altLang="en-US"/>
          </a:p>
        </p:txBody>
      </p:sp>
    </p:spTree>
    <p:extLst>
      <p:ext uri="{BB962C8B-B14F-4D97-AF65-F5344CB8AC3E}">
        <p14:creationId xmlns:p14="http://schemas.microsoft.com/office/powerpoint/2010/main" val="80245437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100</a:t>
            </a:fld>
            <a:endParaRPr kumimoji="1" lang="zh-CN" altLang="en-US"/>
          </a:p>
        </p:txBody>
      </p:sp>
    </p:spTree>
    <p:extLst>
      <p:ext uri="{BB962C8B-B14F-4D97-AF65-F5344CB8AC3E}">
        <p14:creationId xmlns:p14="http://schemas.microsoft.com/office/powerpoint/2010/main" val="65981436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101</a:t>
            </a:fld>
            <a:endParaRPr kumimoji="1" lang="zh-CN" altLang="en-US"/>
          </a:p>
        </p:txBody>
      </p:sp>
    </p:spTree>
    <p:extLst>
      <p:ext uri="{BB962C8B-B14F-4D97-AF65-F5344CB8AC3E}">
        <p14:creationId xmlns:p14="http://schemas.microsoft.com/office/powerpoint/2010/main" val="39592259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102</a:t>
            </a:fld>
            <a:endParaRPr kumimoji="1" lang="zh-CN" altLang="en-US"/>
          </a:p>
        </p:txBody>
      </p:sp>
    </p:spTree>
    <p:extLst>
      <p:ext uri="{BB962C8B-B14F-4D97-AF65-F5344CB8AC3E}">
        <p14:creationId xmlns:p14="http://schemas.microsoft.com/office/powerpoint/2010/main" val="36417093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103</a:t>
            </a:fld>
            <a:endParaRPr kumimoji="1" lang="zh-CN" altLang="en-US"/>
          </a:p>
        </p:txBody>
      </p:sp>
    </p:spTree>
    <p:extLst>
      <p:ext uri="{BB962C8B-B14F-4D97-AF65-F5344CB8AC3E}">
        <p14:creationId xmlns:p14="http://schemas.microsoft.com/office/powerpoint/2010/main" val="387873696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104</a:t>
            </a:fld>
            <a:endParaRPr kumimoji="1" lang="zh-CN" altLang="en-US"/>
          </a:p>
        </p:txBody>
      </p:sp>
    </p:spTree>
    <p:extLst>
      <p:ext uri="{BB962C8B-B14F-4D97-AF65-F5344CB8AC3E}">
        <p14:creationId xmlns:p14="http://schemas.microsoft.com/office/powerpoint/2010/main" val="134077724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105</a:t>
            </a:fld>
            <a:endParaRPr kumimoji="1" lang="zh-CN" altLang="en-US"/>
          </a:p>
        </p:txBody>
      </p:sp>
    </p:spTree>
    <p:extLst>
      <p:ext uri="{BB962C8B-B14F-4D97-AF65-F5344CB8AC3E}">
        <p14:creationId xmlns:p14="http://schemas.microsoft.com/office/powerpoint/2010/main" val="82037510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106</a:t>
            </a:fld>
            <a:endParaRPr kumimoji="1" lang="zh-CN" altLang="en-US"/>
          </a:p>
        </p:txBody>
      </p:sp>
    </p:spTree>
    <p:extLst>
      <p:ext uri="{BB962C8B-B14F-4D97-AF65-F5344CB8AC3E}">
        <p14:creationId xmlns:p14="http://schemas.microsoft.com/office/powerpoint/2010/main" val="47852523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107</a:t>
            </a:fld>
            <a:endParaRPr kumimoji="1" lang="zh-CN" altLang="en-US"/>
          </a:p>
        </p:txBody>
      </p:sp>
    </p:spTree>
    <p:extLst>
      <p:ext uri="{BB962C8B-B14F-4D97-AF65-F5344CB8AC3E}">
        <p14:creationId xmlns:p14="http://schemas.microsoft.com/office/powerpoint/2010/main" val="152542380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800000</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108</a:t>
            </a:fld>
            <a:endParaRPr kumimoji="1" lang="zh-CN" altLang="en-US"/>
          </a:p>
        </p:txBody>
      </p:sp>
    </p:spTree>
    <p:extLst>
      <p:ext uri="{BB962C8B-B14F-4D97-AF65-F5344CB8AC3E}">
        <p14:creationId xmlns:p14="http://schemas.microsoft.com/office/powerpoint/2010/main" val="106670523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109</a:t>
            </a:fld>
            <a:endParaRPr kumimoji="1" lang="zh-CN" altLang="en-US"/>
          </a:p>
        </p:txBody>
      </p:sp>
    </p:spTree>
    <p:extLst>
      <p:ext uri="{BB962C8B-B14F-4D97-AF65-F5344CB8AC3E}">
        <p14:creationId xmlns:p14="http://schemas.microsoft.com/office/powerpoint/2010/main" val="106914362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110</a:t>
            </a:fld>
            <a:endParaRPr kumimoji="1" lang="zh-CN" altLang="en-US"/>
          </a:p>
        </p:txBody>
      </p:sp>
    </p:spTree>
    <p:extLst>
      <p:ext uri="{BB962C8B-B14F-4D97-AF65-F5344CB8AC3E}">
        <p14:creationId xmlns:p14="http://schemas.microsoft.com/office/powerpoint/2010/main" val="302293175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111</a:t>
            </a:fld>
            <a:endParaRPr kumimoji="1" lang="zh-CN" altLang="en-US"/>
          </a:p>
        </p:txBody>
      </p:sp>
    </p:spTree>
    <p:extLst>
      <p:ext uri="{BB962C8B-B14F-4D97-AF65-F5344CB8AC3E}">
        <p14:creationId xmlns:p14="http://schemas.microsoft.com/office/powerpoint/2010/main" val="388569552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112</a:t>
            </a:fld>
            <a:endParaRPr kumimoji="1" lang="zh-CN" altLang="en-US"/>
          </a:p>
        </p:txBody>
      </p:sp>
    </p:spTree>
    <p:extLst>
      <p:ext uri="{BB962C8B-B14F-4D97-AF65-F5344CB8AC3E}">
        <p14:creationId xmlns:p14="http://schemas.microsoft.com/office/powerpoint/2010/main" val="254635829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113</a:t>
            </a:fld>
            <a:endParaRPr kumimoji="1" lang="zh-CN" altLang="en-US"/>
          </a:p>
        </p:txBody>
      </p:sp>
    </p:spTree>
    <p:extLst>
      <p:ext uri="{BB962C8B-B14F-4D97-AF65-F5344CB8AC3E}">
        <p14:creationId xmlns:p14="http://schemas.microsoft.com/office/powerpoint/2010/main" val="245989918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114</a:t>
            </a:fld>
            <a:endParaRPr kumimoji="1" lang="zh-CN" altLang="en-US"/>
          </a:p>
        </p:txBody>
      </p:sp>
    </p:spTree>
    <p:extLst>
      <p:ext uri="{BB962C8B-B14F-4D97-AF65-F5344CB8AC3E}">
        <p14:creationId xmlns:p14="http://schemas.microsoft.com/office/powerpoint/2010/main" val="290069399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115</a:t>
            </a:fld>
            <a:endParaRPr kumimoji="1" lang="zh-CN" altLang="en-US"/>
          </a:p>
        </p:txBody>
      </p:sp>
    </p:spTree>
    <p:extLst>
      <p:ext uri="{BB962C8B-B14F-4D97-AF65-F5344CB8AC3E}">
        <p14:creationId xmlns:p14="http://schemas.microsoft.com/office/powerpoint/2010/main" val="118489236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116</a:t>
            </a:fld>
            <a:endParaRPr kumimoji="1" lang="zh-CN" altLang="en-US"/>
          </a:p>
        </p:txBody>
      </p:sp>
    </p:spTree>
    <p:extLst>
      <p:ext uri="{BB962C8B-B14F-4D97-AF65-F5344CB8AC3E}">
        <p14:creationId xmlns:p14="http://schemas.microsoft.com/office/powerpoint/2010/main" val="90122960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117</a:t>
            </a:fld>
            <a:endParaRPr kumimoji="1" lang="zh-CN" altLang="en-US"/>
          </a:p>
        </p:txBody>
      </p:sp>
    </p:spTree>
    <p:extLst>
      <p:ext uri="{BB962C8B-B14F-4D97-AF65-F5344CB8AC3E}">
        <p14:creationId xmlns:p14="http://schemas.microsoft.com/office/powerpoint/2010/main" val="385288786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todo</a:t>
            </a:r>
            <a:r>
              <a:rPr kumimoji="1" lang="zh-CN" altLang="en-US" dirty="0"/>
              <a:t>： 这俩东西的目的 为啥有</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118</a:t>
            </a:fld>
            <a:endParaRPr kumimoji="1" lang="zh-CN" altLang="en-US"/>
          </a:p>
        </p:txBody>
      </p:sp>
    </p:spTree>
    <p:extLst>
      <p:ext uri="{BB962C8B-B14F-4D97-AF65-F5344CB8AC3E}">
        <p14:creationId xmlns:p14="http://schemas.microsoft.com/office/powerpoint/2010/main" val="20407970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119</a:t>
            </a:fld>
            <a:endParaRPr kumimoji="1" lang="zh-CN" altLang="en-US"/>
          </a:p>
        </p:txBody>
      </p:sp>
    </p:spTree>
    <p:extLst>
      <p:ext uri="{BB962C8B-B14F-4D97-AF65-F5344CB8AC3E}">
        <p14:creationId xmlns:p14="http://schemas.microsoft.com/office/powerpoint/2010/main" val="317883494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122</a:t>
            </a:fld>
            <a:endParaRPr kumimoji="1" lang="zh-CN" altLang="en-US"/>
          </a:p>
        </p:txBody>
      </p:sp>
    </p:spTree>
    <p:extLst>
      <p:ext uri="{BB962C8B-B14F-4D97-AF65-F5344CB8AC3E}">
        <p14:creationId xmlns:p14="http://schemas.microsoft.com/office/powerpoint/2010/main" val="357287880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124</a:t>
            </a:fld>
            <a:endParaRPr kumimoji="1" lang="zh-CN" altLang="en-US"/>
          </a:p>
        </p:txBody>
      </p:sp>
    </p:spTree>
    <p:extLst>
      <p:ext uri="{BB962C8B-B14F-4D97-AF65-F5344CB8AC3E}">
        <p14:creationId xmlns:p14="http://schemas.microsoft.com/office/powerpoint/2010/main" val="154475359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125</a:t>
            </a:fld>
            <a:endParaRPr kumimoji="1" lang="zh-CN" altLang="en-US"/>
          </a:p>
        </p:txBody>
      </p:sp>
    </p:spTree>
    <p:extLst>
      <p:ext uri="{BB962C8B-B14F-4D97-AF65-F5344CB8AC3E}">
        <p14:creationId xmlns:p14="http://schemas.microsoft.com/office/powerpoint/2010/main" val="68260537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126</a:t>
            </a:fld>
            <a:endParaRPr kumimoji="1" lang="zh-CN" altLang="en-US"/>
          </a:p>
        </p:txBody>
      </p:sp>
    </p:spTree>
    <p:extLst>
      <p:ext uri="{BB962C8B-B14F-4D97-AF65-F5344CB8AC3E}">
        <p14:creationId xmlns:p14="http://schemas.microsoft.com/office/powerpoint/2010/main" val="425839032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127</a:t>
            </a:fld>
            <a:endParaRPr kumimoji="1" lang="zh-CN" altLang="en-US"/>
          </a:p>
        </p:txBody>
      </p:sp>
    </p:spTree>
    <p:extLst>
      <p:ext uri="{BB962C8B-B14F-4D97-AF65-F5344CB8AC3E}">
        <p14:creationId xmlns:p14="http://schemas.microsoft.com/office/powerpoint/2010/main" val="284760353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128</a:t>
            </a:fld>
            <a:endParaRPr kumimoji="1" lang="zh-CN" altLang="en-US"/>
          </a:p>
        </p:txBody>
      </p:sp>
    </p:spTree>
    <p:extLst>
      <p:ext uri="{BB962C8B-B14F-4D97-AF65-F5344CB8AC3E}">
        <p14:creationId xmlns:p14="http://schemas.microsoft.com/office/powerpoint/2010/main" val="23563762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129</a:t>
            </a:fld>
            <a:endParaRPr kumimoji="1" lang="zh-CN" altLang="en-US"/>
          </a:p>
        </p:txBody>
      </p:sp>
    </p:spTree>
    <p:extLst>
      <p:ext uri="{BB962C8B-B14F-4D97-AF65-F5344CB8AC3E}">
        <p14:creationId xmlns:p14="http://schemas.microsoft.com/office/powerpoint/2010/main" val="18732919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130</a:t>
            </a:fld>
            <a:endParaRPr kumimoji="1" lang="zh-CN" altLang="en-US"/>
          </a:p>
        </p:txBody>
      </p:sp>
    </p:spTree>
    <p:extLst>
      <p:ext uri="{BB962C8B-B14F-4D97-AF65-F5344CB8AC3E}">
        <p14:creationId xmlns:p14="http://schemas.microsoft.com/office/powerpoint/2010/main" val="40733132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131</a:t>
            </a:fld>
            <a:endParaRPr kumimoji="1" lang="zh-CN" altLang="en-US"/>
          </a:p>
        </p:txBody>
      </p:sp>
    </p:spTree>
    <p:extLst>
      <p:ext uri="{BB962C8B-B14F-4D97-AF65-F5344CB8AC3E}">
        <p14:creationId xmlns:p14="http://schemas.microsoft.com/office/powerpoint/2010/main" val="118609338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highlight>
                  <a:srgbClr val="FFFF00"/>
                </a:highlight>
              </a:rPr>
              <a:t>自底向上</a:t>
            </a:r>
            <a:r>
              <a:rPr kumimoji="1" lang="en-US" altLang="zh-CN" dirty="0">
                <a:highlight>
                  <a:srgbClr val="FFFF00"/>
                </a:highlight>
              </a:rPr>
              <a:t>/ </a:t>
            </a:r>
            <a:r>
              <a:rPr kumimoji="1" lang="zh-CN" altLang="en-US" dirty="0">
                <a:highlight>
                  <a:srgbClr val="FFFF00"/>
                </a:highlight>
              </a:rPr>
              <a:t>自顶向下 </a:t>
            </a:r>
            <a:r>
              <a:rPr kumimoji="1" lang="en-US" altLang="zh-CN" dirty="0" err="1">
                <a:highlight>
                  <a:srgbClr val="FFFF00"/>
                </a:highlight>
              </a:rPr>
              <a:t>highlevel</a:t>
            </a:r>
            <a:r>
              <a:rPr kumimoji="1" lang="zh-CN" altLang="en-US" dirty="0">
                <a:highlight>
                  <a:srgbClr val="FFFF00"/>
                </a:highlight>
              </a:rPr>
              <a:t>的图</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132</a:t>
            </a:fld>
            <a:endParaRPr kumimoji="1" lang="zh-CN" altLang="en-US"/>
          </a:p>
        </p:txBody>
      </p:sp>
    </p:spTree>
    <p:extLst>
      <p:ext uri="{BB962C8B-B14F-4D97-AF65-F5344CB8AC3E}">
        <p14:creationId xmlns:p14="http://schemas.microsoft.com/office/powerpoint/2010/main" val="51577712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333333"/>
                </a:solidFill>
                <a:effectLst/>
                <a:latin typeface="Arial" panose="020B0604020202020204" pitchFamily="34" charset="0"/>
              </a:rPr>
              <a:t>①、②、③、④、⑤、⑥、⑦、⑧、⑨、⑩</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133</a:t>
            </a:fld>
            <a:endParaRPr kumimoji="1" lang="zh-CN" altLang="en-US"/>
          </a:p>
        </p:txBody>
      </p:sp>
    </p:spTree>
    <p:extLst>
      <p:ext uri="{BB962C8B-B14F-4D97-AF65-F5344CB8AC3E}">
        <p14:creationId xmlns:p14="http://schemas.microsoft.com/office/powerpoint/2010/main" val="56771518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134</a:t>
            </a:fld>
            <a:endParaRPr kumimoji="1" lang="zh-CN" altLang="en-US"/>
          </a:p>
        </p:txBody>
      </p:sp>
    </p:spTree>
    <p:extLst>
      <p:ext uri="{BB962C8B-B14F-4D97-AF65-F5344CB8AC3E}">
        <p14:creationId xmlns:p14="http://schemas.microsoft.com/office/powerpoint/2010/main" val="34789788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135</a:t>
            </a:fld>
            <a:endParaRPr kumimoji="1" lang="zh-CN" altLang="en-US"/>
          </a:p>
        </p:txBody>
      </p:sp>
    </p:spTree>
    <p:extLst>
      <p:ext uri="{BB962C8B-B14F-4D97-AF65-F5344CB8AC3E}">
        <p14:creationId xmlns:p14="http://schemas.microsoft.com/office/powerpoint/2010/main" val="57257075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136</a:t>
            </a:fld>
            <a:endParaRPr kumimoji="1" lang="zh-CN" altLang="en-US"/>
          </a:p>
        </p:txBody>
      </p:sp>
    </p:spTree>
    <p:extLst>
      <p:ext uri="{BB962C8B-B14F-4D97-AF65-F5344CB8AC3E}">
        <p14:creationId xmlns:p14="http://schemas.microsoft.com/office/powerpoint/2010/main" val="419735518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137</a:t>
            </a:fld>
            <a:endParaRPr kumimoji="1" lang="zh-CN" altLang="en-US"/>
          </a:p>
        </p:txBody>
      </p:sp>
    </p:spTree>
    <p:extLst>
      <p:ext uri="{BB962C8B-B14F-4D97-AF65-F5344CB8AC3E}">
        <p14:creationId xmlns:p14="http://schemas.microsoft.com/office/powerpoint/2010/main" val="77449701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todo</a:t>
            </a:r>
            <a:r>
              <a:rPr kumimoji="1" lang="zh-CN" altLang="en-US" dirty="0"/>
              <a:t>：加上模拟退火，两个小图</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138</a:t>
            </a:fld>
            <a:endParaRPr kumimoji="1" lang="zh-CN" altLang="en-US"/>
          </a:p>
        </p:txBody>
      </p:sp>
    </p:spTree>
    <p:extLst>
      <p:ext uri="{BB962C8B-B14F-4D97-AF65-F5344CB8AC3E}">
        <p14:creationId xmlns:p14="http://schemas.microsoft.com/office/powerpoint/2010/main" val="420341746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139</a:t>
            </a:fld>
            <a:endParaRPr kumimoji="1" lang="zh-CN" altLang="en-US"/>
          </a:p>
        </p:txBody>
      </p:sp>
    </p:spTree>
    <p:extLst>
      <p:ext uri="{BB962C8B-B14F-4D97-AF65-F5344CB8AC3E}">
        <p14:creationId xmlns:p14="http://schemas.microsoft.com/office/powerpoint/2010/main" val="195334779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140</a:t>
            </a:fld>
            <a:endParaRPr kumimoji="1" lang="zh-CN" altLang="en-US"/>
          </a:p>
        </p:txBody>
      </p:sp>
    </p:spTree>
    <p:extLst>
      <p:ext uri="{BB962C8B-B14F-4D97-AF65-F5344CB8AC3E}">
        <p14:creationId xmlns:p14="http://schemas.microsoft.com/office/powerpoint/2010/main" val="174889689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141</a:t>
            </a:fld>
            <a:endParaRPr kumimoji="1" lang="zh-CN" altLang="en-US"/>
          </a:p>
        </p:txBody>
      </p:sp>
    </p:spTree>
    <p:extLst>
      <p:ext uri="{BB962C8B-B14F-4D97-AF65-F5344CB8AC3E}">
        <p14:creationId xmlns:p14="http://schemas.microsoft.com/office/powerpoint/2010/main" val="246152456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142</a:t>
            </a:fld>
            <a:endParaRPr kumimoji="1" lang="zh-CN" altLang="en-US"/>
          </a:p>
        </p:txBody>
      </p:sp>
    </p:spTree>
    <p:extLst>
      <p:ext uri="{BB962C8B-B14F-4D97-AF65-F5344CB8AC3E}">
        <p14:creationId xmlns:p14="http://schemas.microsoft.com/office/powerpoint/2010/main" val="67552552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143</a:t>
            </a:fld>
            <a:endParaRPr kumimoji="1" lang="zh-CN" altLang="en-US"/>
          </a:p>
        </p:txBody>
      </p:sp>
    </p:spTree>
    <p:extLst>
      <p:ext uri="{BB962C8B-B14F-4D97-AF65-F5344CB8AC3E}">
        <p14:creationId xmlns:p14="http://schemas.microsoft.com/office/powerpoint/2010/main" val="306603024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144</a:t>
            </a:fld>
            <a:endParaRPr kumimoji="1" lang="zh-CN" altLang="en-US"/>
          </a:p>
        </p:txBody>
      </p:sp>
    </p:spTree>
    <p:extLst>
      <p:ext uri="{BB962C8B-B14F-4D97-AF65-F5344CB8AC3E}">
        <p14:creationId xmlns:p14="http://schemas.microsoft.com/office/powerpoint/2010/main" val="2485613605"/>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todo</a:t>
            </a:r>
            <a:r>
              <a:rPr kumimoji="1" lang="en-US" altLang="zh-CN" dirty="0"/>
              <a:t>: volcano</a:t>
            </a:r>
            <a:r>
              <a:rPr kumimoji="1" lang="zh-CN" altLang="en-US" dirty="0"/>
              <a:t>去掉   调研下他为啥叫</a:t>
            </a:r>
            <a:r>
              <a:rPr kumimoji="1" lang="en-US" altLang="zh-CN" dirty="0"/>
              <a:t>volcano</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145</a:t>
            </a:fld>
            <a:endParaRPr kumimoji="1" lang="zh-CN" altLang="en-US"/>
          </a:p>
        </p:txBody>
      </p:sp>
    </p:spTree>
    <p:extLst>
      <p:ext uri="{BB962C8B-B14F-4D97-AF65-F5344CB8AC3E}">
        <p14:creationId xmlns:p14="http://schemas.microsoft.com/office/powerpoint/2010/main" val="54179174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146</a:t>
            </a:fld>
            <a:endParaRPr kumimoji="1" lang="zh-CN" altLang="en-US"/>
          </a:p>
        </p:txBody>
      </p:sp>
    </p:spTree>
    <p:extLst>
      <p:ext uri="{BB962C8B-B14F-4D97-AF65-F5344CB8AC3E}">
        <p14:creationId xmlns:p14="http://schemas.microsoft.com/office/powerpoint/2010/main" val="226400344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147</a:t>
            </a:fld>
            <a:endParaRPr kumimoji="1" lang="zh-CN" altLang="en-US"/>
          </a:p>
        </p:txBody>
      </p:sp>
    </p:spTree>
    <p:extLst>
      <p:ext uri="{BB962C8B-B14F-4D97-AF65-F5344CB8AC3E}">
        <p14:creationId xmlns:p14="http://schemas.microsoft.com/office/powerpoint/2010/main" val="106093824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148</a:t>
            </a:fld>
            <a:endParaRPr kumimoji="1" lang="zh-CN" altLang="en-US"/>
          </a:p>
        </p:txBody>
      </p:sp>
    </p:spTree>
    <p:extLst>
      <p:ext uri="{BB962C8B-B14F-4D97-AF65-F5344CB8AC3E}">
        <p14:creationId xmlns:p14="http://schemas.microsoft.com/office/powerpoint/2010/main" val="2157676207"/>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149</a:t>
            </a:fld>
            <a:endParaRPr kumimoji="1" lang="zh-CN" altLang="en-US"/>
          </a:p>
        </p:txBody>
      </p:sp>
    </p:spTree>
    <p:extLst>
      <p:ext uri="{BB962C8B-B14F-4D97-AF65-F5344CB8AC3E}">
        <p14:creationId xmlns:p14="http://schemas.microsoft.com/office/powerpoint/2010/main" val="262597448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150</a:t>
            </a:fld>
            <a:endParaRPr kumimoji="1" lang="zh-CN" altLang="en-US"/>
          </a:p>
        </p:txBody>
      </p:sp>
    </p:spTree>
    <p:extLst>
      <p:ext uri="{BB962C8B-B14F-4D97-AF65-F5344CB8AC3E}">
        <p14:creationId xmlns:p14="http://schemas.microsoft.com/office/powerpoint/2010/main" val="163585226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151</a:t>
            </a:fld>
            <a:endParaRPr kumimoji="1" lang="zh-CN" altLang="en-US"/>
          </a:p>
        </p:txBody>
      </p:sp>
    </p:spTree>
    <p:extLst>
      <p:ext uri="{BB962C8B-B14F-4D97-AF65-F5344CB8AC3E}">
        <p14:creationId xmlns:p14="http://schemas.microsoft.com/office/powerpoint/2010/main" val="3736922154"/>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152</a:t>
            </a:fld>
            <a:endParaRPr kumimoji="1" lang="zh-CN" altLang="en-US"/>
          </a:p>
        </p:txBody>
      </p:sp>
    </p:spTree>
    <p:extLst>
      <p:ext uri="{BB962C8B-B14F-4D97-AF65-F5344CB8AC3E}">
        <p14:creationId xmlns:p14="http://schemas.microsoft.com/office/powerpoint/2010/main" val="208819143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153</a:t>
            </a:fld>
            <a:endParaRPr kumimoji="1" lang="zh-CN" altLang="en-US"/>
          </a:p>
        </p:txBody>
      </p:sp>
    </p:spTree>
    <p:extLst>
      <p:ext uri="{BB962C8B-B14F-4D97-AF65-F5344CB8AC3E}">
        <p14:creationId xmlns:p14="http://schemas.microsoft.com/office/powerpoint/2010/main" val="121507993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154</a:t>
            </a:fld>
            <a:endParaRPr kumimoji="1" lang="zh-CN" altLang="en-US"/>
          </a:p>
        </p:txBody>
      </p:sp>
    </p:spTree>
    <p:extLst>
      <p:ext uri="{BB962C8B-B14F-4D97-AF65-F5344CB8AC3E}">
        <p14:creationId xmlns:p14="http://schemas.microsoft.com/office/powerpoint/2010/main" val="372904060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0" dirty="0">
                <a:latin typeface="+mj-ea"/>
                <a:ea typeface="+mj-ea"/>
              </a:rPr>
              <a:t>强加</a:t>
            </a:r>
            <a:r>
              <a:rPr lang="en-US" altLang="zh-CN" sz="1200" kern="0" dirty="0">
                <a:latin typeface="+mj-ea"/>
                <a:ea typeface="+mj-ea"/>
              </a:rPr>
              <a:t>enforcer</a:t>
            </a:r>
            <a:r>
              <a:rPr lang="zh-CN" altLang="en-US" sz="1200" kern="0" dirty="0">
                <a:latin typeface="+mj-ea"/>
                <a:ea typeface="+mj-ea"/>
              </a:rPr>
              <a:t>：顺序</a:t>
            </a:r>
            <a:endParaRPr lang="en-US" altLang="zh-CN" sz="1200" kern="0" dirty="0">
              <a:latin typeface="+mj-ea"/>
              <a:ea typeface="+mj-ea"/>
            </a:endParaRPr>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156</a:t>
            </a:fld>
            <a:endParaRPr kumimoji="1" lang="zh-CN" altLang="en-US"/>
          </a:p>
        </p:txBody>
      </p:sp>
    </p:spTree>
    <p:extLst>
      <p:ext uri="{BB962C8B-B14F-4D97-AF65-F5344CB8AC3E}">
        <p14:creationId xmlns:p14="http://schemas.microsoft.com/office/powerpoint/2010/main" val="135595329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157</a:t>
            </a:fld>
            <a:endParaRPr kumimoji="1" lang="zh-CN" altLang="en-US"/>
          </a:p>
        </p:txBody>
      </p:sp>
    </p:spTree>
    <p:extLst>
      <p:ext uri="{BB962C8B-B14F-4D97-AF65-F5344CB8AC3E}">
        <p14:creationId xmlns:p14="http://schemas.microsoft.com/office/powerpoint/2010/main" val="429107169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162</a:t>
            </a:fld>
            <a:endParaRPr kumimoji="1" lang="zh-CN" altLang="en-US"/>
          </a:p>
        </p:txBody>
      </p:sp>
    </p:spTree>
    <p:extLst>
      <p:ext uri="{BB962C8B-B14F-4D97-AF65-F5344CB8AC3E}">
        <p14:creationId xmlns:p14="http://schemas.microsoft.com/office/powerpoint/2010/main" val="141193293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166</a:t>
            </a:fld>
            <a:endParaRPr kumimoji="1" lang="zh-CN" altLang="en-US"/>
          </a:p>
        </p:txBody>
      </p:sp>
    </p:spTree>
    <p:extLst>
      <p:ext uri="{BB962C8B-B14F-4D97-AF65-F5344CB8AC3E}">
        <p14:creationId xmlns:p14="http://schemas.microsoft.com/office/powerpoint/2010/main" val="2167049637"/>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167</a:t>
            </a:fld>
            <a:endParaRPr kumimoji="1" lang="zh-CN" altLang="en-US"/>
          </a:p>
        </p:txBody>
      </p:sp>
    </p:spTree>
    <p:extLst>
      <p:ext uri="{BB962C8B-B14F-4D97-AF65-F5344CB8AC3E}">
        <p14:creationId xmlns:p14="http://schemas.microsoft.com/office/powerpoint/2010/main" val="340898915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168</a:t>
            </a:fld>
            <a:endParaRPr kumimoji="1" lang="zh-CN" altLang="en-US"/>
          </a:p>
        </p:txBody>
      </p:sp>
    </p:spTree>
    <p:extLst>
      <p:ext uri="{BB962C8B-B14F-4D97-AF65-F5344CB8AC3E}">
        <p14:creationId xmlns:p14="http://schemas.microsoft.com/office/powerpoint/2010/main" val="452784238"/>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169</a:t>
            </a:fld>
            <a:endParaRPr kumimoji="1" lang="zh-CN" altLang="en-US"/>
          </a:p>
        </p:txBody>
      </p:sp>
    </p:spTree>
    <p:extLst>
      <p:ext uri="{BB962C8B-B14F-4D97-AF65-F5344CB8AC3E}">
        <p14:creationId xmlns:p14="http://schemas.microsoft.com/office/powerpoint/2010/main" val="253007949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170</a:t>
            </a:fld>
            <a:endParaRPr kumimoji="1" lang="zh-CN" altLang="en-US"/>
          </a:p>
        </p:txBody>
      </p:sp>
    </p:spTree>
    <p:extLst>
      <p:ext uri="{BB962C8B-B14F-4D97-AF65-F5344CB8AC3E}">
        <p14:creationId xmlns:p14="http://schemas.microsoft.com/office/powerpoint/2010/main" val="254725241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改成真实的例子。</a:t>
            </a:r>
          </a:p>
        </p:txBody>
      </p:sp>
      <p:sp>
        <p:nvSpPr>
          <p:cNvPr id="4" name="灯片编号占位符 3"/>
          <p:cNvSpPr>
            <a:spLocks noGrp="1"/>
          </p:cNvSpPr>
          <p:nvPr>
            <p:ph type="sldNum" sz="quarter" idx="5"/>
          </p:nvPr>
        </p:nvSpPr>
        <p:spPr/>
        <p:txBody>
          <a:bodyPr/>
          <a:lstStyle/>
          <a:p>
            <a:fld id="{FE4FA5C0-9868-CE46-A0FF-56EEF184B354}" type="slidenum">
              <a:rPr lang="en-US" altLang="zh-CN" smtClean="0"/>
              <a:t>171</a:t>
            </a:fld>
            <a:endParaRPr kumimoji="1" lang="zh-CN" altLang="en-US"/>
          </a:p>
        </p:txBody>
      </p:sp>
    </p:spTree>
    <p:extLst>
      <p:ext uri="{BB962C8B-B14F-4D97-AF65-F5344CB8AC3E}">
        <p14:creationId xmlns:p14="http://schemas.microsoft.com/office/powerpoint/2010/main" val="117693643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173</a:t>
            </a:fld>
            <a:endParaRPr kumimoji="1" lang="zh-CN" altLang="en-US"/>
          </a:p>
        </p:txBody>
      </p:sp>
    </p:spTree>
    <p:extLst>
      <p:ext uri="{BB962C8B-B14F-4D97-AF65-F5344CB8AC3E}">
        <p14:creationId xmlns:p14="http://schemas.microsoft.com/office/powerpoint/2010/main" val="2090771098"/>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174</a:t>
            </a:fld>
            <a:endParaRPr kumimoji="1" lang="zh-CN" altLang="en-US"/>
          </a:p>
        </p:txBody>
      </p:sp>
    </p:spTree>
    <p:extLst>
      <p:ext uri="{BB962C8B-B14F-4D97-AF65-F5344CB8AC3E}">
        <p14:creationId xmlns:p14="http://schemas.microsoft.com/office/powerpoint/2010/main" val="3176600323"/>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175</a:t>
            </a:fld>
            <a:endParaRPr kumimoji="1" lang="zh-CN" altLang="en-US"/>
          </a:p>
        </p:txBody>
      </p:sp>
    </p:spTree>
    <p:extLst>
      <p:ext uri="{BB962C8B-B14F-4D97-AF65-F5344CB8AC3E}">
        <p14:creationId xmlns:p14="http://schemas.microsoft.com/office/powerpoint/2010/main" val="123126878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176</a:t>
            </a:fld>
            <a:endParaRPr kumimoji="1" lang="zh-CN" altLang="en-US"/>
          </a:p>
        </p:txBody>
      </p:sp>
    </p:spTree>
    <p:extLst>
      <p:ext uri="{BB962C8B-B14F-4D97-AF65-F5344CB8AC3E}">
        <p14:creationId xmlns:p14="http://schemas.microsoft.com/office/powerpoint/2010/main" val="3015060412"/>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177</a:t>
            </a:fld>
            <a:endParaRPr kumimoji="1" lang="zh-CN" altLang="en-US"/>
          </a:p>
        </p:txBody>
      </p:sp>
    </p:spTree>
    <p:extLst>
      <p:ext uri="{BB962C8B-B14F-4D97-AF65-F5344CB8AC3E}">
        <p14:creationId xmlns:p14="http://schemas.microsoft.com/office/powerpoint/2010/main" val="1653548463"/>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178</a:t>
            </a:fld>
            <a:endParaRPr kumimoji="1" lang="zh-CN" altLang="en-US"/>
          </a:p>
        </p:txBody>
      </p:sp>
    </p:spTree>
    <p:extLst>
      <p:ext uri="{BB962C8B-B14F-4D97-AF65-F5344CB8AC3E}">
        <p14:creationId xmlns:p14="http://schemas.microsoft.com/office/powerpoint/2010/main" val="370915158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179</a:t>
            </a:fld>
            <a:endParaRPr kumimoji="1" lang="zh-CN" altLang="en-US"/>
          </a:p>
        </p:txBody>
      </p:sp>
    </p:spTree>
    <p:extLst>
      <p:ext uri="{BB962C8B-B14F-4D97-AF65-F5344CB8AC3E}">
        <p14:creationId xmlns:p14="http://schemas.microsoft.com/office/powerpoint/2010/main" val="1797390554"/>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effectLst/>
            </a:endParaRPr>
          </a:p>
          <a:p>
            <a:r>
              <a:rPr lang="en-US" altLang="zh-CN" sz="1200" kern="1200" dirty="0">
                <a:solidFill>
                  <a:schemeClr val="tx1"/>
                </a:solidFill>
                <a:effectLst/>
                <a:latin typeface="+mn-lt"/>
                <a:ea typeface="+mn-ea"/>
                <a:cs typeface="+mn-cs"/>
              </a:rPr>
              <a:t>Register(RID, date, place, VID)</a:t>
            </a:r>
            <a:r>
              <a:rPr lang="zh-CN" altLang="zh-CN" dirty="0">
                <a:effectLst/>
              </a:rPr>
              <a:t> </a:t>
            </a:r>
            <a:endParaRPr lang="en-US" altLang="zh-CN" dirty="0">
              <a:effectLst/>
            </a:endParaRPr>
          </a:p>
          <a:p>
            <a:r>
              <a:rPr lang="en-US" altLang="zh-CN" sz="1200" kern="1200" dirty="0">
                <a:solidFill>
                  <a:schemeClr val="tx1"/>
                </a:solidFill>
                <a:effectLst/>
                <a:latin typeface="+mn-lt"/>
                <a:ea typeface="+mn-ea"/>
                <a:cs typeface="+mn-cs"/>
              </a:rPr>
              <a:t>Vehicle(ID, license, color)</a:t>
            </a:r>
            <a:r>
              <a:rPr lang="zh-CN" altLang="zh-CN" dirty="0">
                <a:effectLst/>
              </a:rPr>
              <a:t> </a:t>
            </a:r>
            <a:endParaRPr lang="en-US" altLang="zh-CN" dirty="0">
              <a:effectLst/>
            </a:endParaRPr>
          </a:p>
          <a:p>
            <a:r>
              <a:rPr lang="zh-CN" altLang="zh-CN" sz="1200" kern="1200" dirty="0">
                <a:solidFill>
                  <a:schemeClr val="tx1"/>
                </a:solidFill>
                <a:effectLst/>
                <a:latin typeface="+mn-lt"/>
                <a:ea typeface="+mn-ea"/>
                <a:cs typeface="+mn-cs"/>
              </a:rPr>
              <a:t>获取所有注册地在北京的汽车的车牌号和颜色</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180</a:t>
            </a:fld>
            <a:endParaRPr kumimoji="1" lang="zh-CN" altLang="en-US"/>
          </a:p>
        </p:txBody>
      </p:sp>
    </p:spTree>
    <p:extLst>
      <p:ext uri="{BB962C8B-B14F-4D97-AF65-F5344CB8AC3E}">
        <p14:creationId xmlns:p14="http://schemas.microsoft.com/office/powerpoint/2010/main" val="3405465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j-ea"/>
                <a:ea typeface="+mj-ea"/>
              </a:defRPr>
            </a:lvl1pPr>
          </a:lstStyle>
          <a:p>
            <a:r>
              <a:rPr kumimoji="1" lang="zh-CN" altLang="en-US" dirty="0"/>
              <a:t>单击此处编辑母版标题样式</a:t>
            </a:r>
          </a:p>
        </p:txBody>
      </p:sp>
      <p:sp>
        <p:nvSpPr>
          <p:cNvPr id="3" name="内容占位符 2"/>
          <p:cNvSpPr>
            <a:spLocks noGrp="1"/>
          </p:cNvSpPr>
          <p:nvPr>
            <p:ph idx="1"/>
          </p:nvPr>
        </p:nvSpPr>
        <p:spPr>
          <a:xfrm>
            <a:off x="304800" y="1201270"/>
            <a:ext cx="11456894" cy="4876801"/>
          </a:xfrm>
        </p:spPr>
        <p:txBody>
          <a:bodyPr/>
          <a:lstStyle>
            <a:lvl1pPr>
              <a:defRPr>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页脚占位符 4"/>
          <p:cNvSpPr>
            <a:spLocks noGrp="1"/>
          </p:cNvSpPr>
          <p:nvPr>
            <p:ph type="ftr" sz="quarter" idx="11"/>
          </p:nvPr>
        </p:nvSpPr>
        <p:spPr>
          <a:xfrm>
            <a:off x="4038600" y="6356350"/>
            <a:ext cx="4114800" cy="501650"/>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dirty="0"/>
              <a:t>数据库系统</a:t>
            </a:r>
            <a:r>
              <a:rPr kumimoji="1" lang="en-US" altLang="zh-CN" dirty="0"/>
              <a:t>—</a:t>
            </a:r>
            <a:r>
              <a:rPr kumimoji="1" lang="zh-CN" altLang="en-US" dirty="0"/>
              <a:t>优化器</a:t>
            </a:r>
          </a:p>
        </p:txBody>
      </p:sp>
      <p:sp>
        <p:nvSpPr>
          <p:cNvPr id="6" name="灯片编号占位符 5"/>
          <p:cNvSpPr>
            <a:spLocks noGrp="1"/>
          </p:cNvSpPr>
          <p:nvPr>
            <p:ph type="sldNum" sz="quarter" idx="12"/>
          </p:nvPr>
        </p:nvSpPr>
        <p:spPr/>
        <p:txBody>
          <a:bodyPr/>
          <a:lstStyle>
            <a:lvl1pPr>
              <a:defRPr>
                <a:latin typeface="+mj-ea"/>
                <a:ea typeface="+mj-ea"/>
              </a:defRPr>
            </a:lvl1pPr>
          </a:lstStyle>
          <a:p>
            <a:fld id="{4B0D34C0-35A8-654C-9FBA-7B4E017BD630}" type="slidenum">
              <a:rPr lang="en-US" altLang="zh-CN" smtClean="0"/>
              <a:pPr/>
              <a:t>‹#›</a:t>
            </a:fld>
            <a:endParaRPr kumimoji="1" lang="zh-CN" altLang="en-US" dirty="0"/>
          </a:p>
        </p:txBody>
      </p:sp>
    </p:spTree>
    <p:extLst>
      <p:ext uri="{BB962C8B-B14F-4D97-AF65-F5344CB8AC3E}">
        <p14:creationId xmlns:p14="http://schemas.microsoft.com/office/powerpoint/2010/main" val="252939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A43A6EF-72EA-BF49-9572-4A36487CB914}"/>
              </a:ext>
            </a:extLst>
          </p:cNvPr>
          <p:cNvSpPr>
            <a:spLocks noGrp="1"/>
          </p:cNvSpPr>
          <p:nvPr>
            <p:ph type="sldNum" sz="quarter" idx="10"/>
          </p:nvPr>
        </p:nvSpPr>
        <p:spPr/>
        <p:txBody>
          <a:bodyPr/>
          <a:lstStyle>
            <a:lvl1pPr>
              <a:defRPr>
                <a:latin typeface="+mj-ea"/>
                <a:ea typeface="+mj-ea"/>
              </a:defRPr>
            </a:lvl1pPr>
          </a:lstStyle>
          <a:p>
            <a:fld id="{87BBDC00-B9E2-4EFD-9306-2934E87247C6}" type="slidenum">
              <a:rPr lang="zh-CN" altLang="en-US" smtClean="0"/>
              <a:pPr/>
              <a:t>‹#›</a:t>
            </a:fld>
            <a:endParaRPr lang="zh-CN" altLang="en-US" dirty="0"/>
          </a:p>
        </p:txBody>
      </p:sp>
      <p:sp>
        <p:nvSpPr>
          <p:cNvPr id="5" name="Rectangle 7">
            <a:extLst>
              <a:ext uri="{FF2B5EF4-FFF2-40B4-BE49-F238E27FC236}">
                <a16:creationId xmlns:a16="http://schemas.microsoft.com/office/drawing/2014/main" id="{A0DC9526-AEAB-C547-9BBC-659D55C0F681}"/>
              </a:ext>
            </a:extLst>
          </p:cNvPr>
          <p:cNvSpPr>
            <a:spLocks noGrp="1" noChangeArrowheads="1"/>
          </p:cNvSpPr>
          <p:nvPr>
            <p:ph type="title"/>
          </p:nvPr>
        </p:nvSpPr>
        <p:spPr bwMode="auto">
          <a:xfrm>
            <a:off x="1050551" y="109584"/>
            <a:ext cx="10090897"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8" name="Rectangle 4">
            <a:extLst>
              <a:ext uri="{FF2B5EF4-FFF2-40B4-BE49-F238E27FC236}">
                <a16:creationId xmlns:a16="http://schemas.microsoft.com/office/drawing/2014/main" id="{E17AFDEE-BBF8-634D-A3D6-F4ABC9CB6190}"/>
              </a:ext>
            </a:extLst>
          </p:cNvPr>
          <p:cNvSpPr>
            <a:spLocks noGrp="1" noChangeArrowheads="1"/>
          </p:cNvSpPr>
          <p:nvPr>
            <p:ph idx="1"/>
          </p:nvPr>
        </p:nvSpPr>
        <p:spPr bwMode="auto">
          <a:xfrm>
            <a:off x="457200" y="1125538"/>
            <a:ext cx="10874188"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9" name="Rectangle 6">
            <a:extLst>
              <a:ext uri="{FF2B5EF4-FFF2-40B4-BE49-F238E27FC236}">
                <a16:creationId xmlns:a16="http://schemas.microsoft.com/office/drawing/2014/main" id="{E0A0153D-2D6F-DA49-B92D-436E519A825E}"/>
              </a:ext>
            </a:extLst>
          </p:cNvPr>
          <p:cNvSpPr>
            <a:spLocks noGrp="1" noChangeArrowheads="1"/>
          </p:cNvSpPr>
          <p:nvPr>
            <p:ph type="ftr" sz="quarter" idx="3"/>
          </p:nvPr>
        </p:nvSpPr>
        <p:spPr bwMode="auto">
          <a:xfrm>
            <a:off x="4090567" y="6548437"/>
            <a:ext cx="3852862"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atin typeface="+mj-ea"/>
                <a:ea typeface="+mj-ea"/>
                <a:cs typeface="+mn-cs"/>
              </a:defRPr>
            </a:lvl1pPr>
          </a:lstStyle>
          <a:p>
            <a:pPr>
              <a:defRPr/>
            </a:pPr>
            <a:r>
              <a:rPr lang="zh-CN" altLang="en-US" dirty="0"/>
              <a:t>数据库系统</a:t>
            </a:r>
            <a:r>
              <a:rPr lang="en-US" altLang="zh-CN" dirty="0"/>
              <a:t>—</a:t>
            </a:r>
            <a:r>
              <a:rPr lang="zh-CN" altLang="en-US" dirty="0"/>
              <a:t>优化器</a:t>
            </a:r>
            <a:endParaRPr lang="en-US" altLang="zh-CN" dirty="0"/>
          </a:p>
        </p:txBody>
      </p:sp>
    </p:spTree>
    <p:extLst>
      <p:ext uri="{BB962C8B-B14F-4D97-AF65-F5344CB8AC3E}">
        <p14:creationId xmlns:p14="http://schemas.microsoft.com/office/powerpoint/2010/main" val="14909748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7"/>
          <p:cNvSpPr>
            <a:spLocks noGrp="1" noChangeArrowheads="1"/>
          </p:cNvSpPr>
          <p:nvPr>
            <p:ph type="title"/>
          </p:nvPr>
        </p:nvSpPr>
        <p:spPr bwMode="auto">
          <a:xfrm>
            <a:off x="971550" y="53752"/>
            <a:ext cx="10090897"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4104" name="Rectangle 8"/>
          <p:cNvSpPr>
            <a:spLocks noGrp="1" noChangeArrowheads="1"/>
          </p:cNvSpPr>
          <p:nvPr>
            <p:ph type="body" idx="1"/>
          </p:nvPr>
        </p:nvSpPr>
        <p:spPr bwMode="auto">
          <a:xfrm>
            <a:off x="304800" y="1201270"/>
            <a:ext cx="11456894" cy="55400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Rectangle 11"/>
          <p:cNvSpPr>
            <a:spLocks noGrp="1" noChangeArrowheads="1"/>
          </p:cNvSpPr>
          <p:nvPr>
            <p:ph type="sldNum" sz="quarter" idx="4"/>
          </p:nvPr>
        </p:nvSpPr>
        <p:spPr>
          <a:xfrm>
            <a:off x="11571088" y="6517146"/>
            <a:ext cx="765605" cy="476250"/>
          </a:xfrm>
          <a:prstGeom prst="rect">
            <a:avLst/>
          </a:prstGeom>
          <a:ln/>
        </p:spPr>
        <p:txBody>
          <a:bodyPr/>
          <a:lstStyle>
            <a:lvl1pPr>
              <a:defRPr/>
            </a:lvl1pPr>
          </a:lstStyle>
          <a:p>
            <a:fld id="{87BBDC00-B9E2-4EFD-9306-2934E87247C6}" type="slidenum">
              <a:rPr lang="zh-CN" altLang="en-US" smtClean="0"/>
              <a:pPr/>
              <a:t>‹#›</a:t>
            </a:fld>
            <a:endParaRPr lang="zh-CN" altLang="en-US"/>
          </a:p>
        </p:txBody>
      </p:sp>
    </p:spTree>
    <p:extLst>
      <p:ext uri="{BB962C8B-B14F-4D97-AF65-F5344CB8AC3E}">
        <p14:creationId xmlns:p14="http://schemas.microsoft.com/office/powerpoint/2010/main" val="1687947087"/>
      </p:ext>
    </p:extLst>
  </p:cSld>
  <p:clrMap bg1="lt1" tx1="dk1" bg2="lt2" tx2="dk2" accent1="accent1" accent2="accent2" accent3="accent3" accent4="accent4" accent5="accent5" accent6="accent6" hlink="hlink" folHlink="folHlink"/>
  <p:sldLayoutIdLst>
    <p:sldLayoutId id="2147483705" r:id="rId1"/>
    <p:sldLayoutId id="2147483704" r:id="rId2"/>
  </p:sldLayoutIdLst>
  <p:hf hdr="0" dt="0"/>
  <p:txStyles>
    <p:titleStyle>
      <a:lvl1pPr algn="ctr" rtl="0" eaLnBrk="1" fontAlgn="base" hangingPunct="1">
        <a:spcBef>
          <a:spcPct val="0"/>
        </a:spcBef>
        <a:spcAft>
          <a:spcPct val="0"/>
        </a:spcAft>
        <a:defRPr kumimoji="1" sz="4800" b="1" i="0">
          <a:solidFill>
            <a:schemeClr val="tx2"/>
          </a:solidFill>
          <a:effectLst/>
          <a:latin typeface="+mj-ea"/>
          <a:ea typeface="+mj-ea"/>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p:titleStyle>
    <p:bodyStyle>
      <a:lvl1pPr marL="316531" indent="-316531" algn="l" rtl="0" eaLnBrk="1" fontAlgn="base" hangingPunct="1">
        <a:spcBef>
          <a:spcPct val="20000"/>
        </a:spcBef>
        <a:spcAft>
          <a:spcPct val="0"/>
        </a:spcAft>
        <a:buFont typeface="Wingdings" charset="2"/>
        <a:buChar char="p"/>
        <a:defRPr kumimoji="1" sz="2400" b="0">
          <a:solidFill>
            <a:schemeClr val="tx1"/>
          </a:solidFill>
          <a:effectLst/>
          <a:latin typeface="+mj-ea"/>
          <a:ea typeface="+mj-ea"/>
          <a:cs typeface="Arial"/>
        </a:defRPr>
      </a:lvl1pPr>
      <a:lvl2pPr marL="685817" indent="-263776" algn="l" rtl="0" eaLnBrk="1" fontAlgn="base" hangingPunct="1">
        <a:spcBef>
          <a:spcPct val="20000"/>
        </a:spcBef>
        <a:spcAft>
          <a:spcPct val="0"/>
        </a:spcAft>
        <a:buChar char="–"/>
        <a:defRPr kumimoji="1" sz="2000" b="0">
          <a:solidFill>
            <a:schemeClr val="tx1"/>
          </a:solidFill>
          <a:effectLst/>
          <a:latin typeface="+mj-ea"/>
          <a:ea typeface="+mj-ea"/>
          <a:cs typeface="Arial"/>
        </a:defRPr>
      </a:lvl2pPr>
      <a:lvl3pPr marL="1055103" indent="-211021" algn="l" rtl="0" eaLnBrk="1" fontAlgn="base" hangingPunct="1">
        <a:spcBef>
          <a:spcPct val="20000"/>
        </a:spcBef>
        <a:spcAft>
          <a:spcPct val="0"/>
        </a:spcAft>
        <a:buChar char="•"/>
        <a:defRPr kumimoji="1" sz="1800" b="0">
          <a:solidFill>
            <a:schemeClr val="tx1"/>
          </a:solidFill>
          <a:effectLst/>
          <a:latin typeface="+mj-ea"/>
          <a:ea typeface="+mj-ea"/>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image" Target="../media/image18.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20.png"/><Relationship Id="rId5" Type="http://schemas.openxmlformats.org/officeDocument/2006/relationships/image" Target="../media/image36.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4.png"/><Relationship Id="rId7"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0.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41.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7.png"/><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60.jpg"/><Relationship Id="rId4" Type="http://schemas.openxmlformats.org/officeDocument/2006/relationships/image" Target="../media/image75.png"/></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760.png"/></Relationships>
</file>

<file path=ppt/slides/_rels/slide6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6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7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74.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100.png"/></Relationships>
</file>

<file path=ppt/slides/_rels/slide7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8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08.jpg"/></Relationships>
</file>

<file path=ppt/slides/_rels/slide9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109.jpg"/></Relationships>
</file>

<file path=ppt/slides/_rels/slide92.xml.rels><?xml version="1.0" encoding="UTF-8" standalone="yes"?>
<Relationships xmlns="http://schemas.openxmlformats.org/package/2006/relationships"><Relationship Id="rId3" Type="http://schemas.openxmlformats.org/officeDocument/2006/relationships/image" Target="../media/image1110.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10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1170.png"/></Relationships>
</file>

<file path=ppt/slides/_rels/slide10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0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97.xml"/><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12.jpg"/></Relationships>
</file>

<file path=ppt/slides/_rels/slide106.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07.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0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220.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310.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142.png"/><Relationship Id="rId4" Type="http://schemas.openxmlformats.org/officeDocument/2006/relationships/image" Target="../media/image112.jpg"/></Relationships>
</file>

<file path=ppt/slides/_rels/slide11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112.jpg"/><Relationship Id="rId4" Type="http://schemas.openxmlformats.org/officeDocument/2006/relationships/image" Target="../media/image144.png"/></Relationships>
</file>

<file path=ppt/slides/_rels/slide115.xml.rels><?xml version="1.0" encoding="UTF-8" standalone="yes"?>
<Relationships xmlns="http://schemas.openxmlformats.org/package/2006/relationships"><Relationship Id="rId3" Type="http://schemas.openxmlformats.org/officeDocument/2006/relationships/image" Target="../media/image1320.png"/><Relationship Id="rId2" Type="http://schemas.openxmlformats.org/officeDocument/2006/relationships/notesSlide" Target="../notesSlides/notesSlide107.xml"/><Relationship Id="rId1" Type="http://schemas.openxmlformats.org/officeDocument/2006/relationships/slideLayout" Target="../slideLayouts/slideLayout2.xml"/><Relationship Id="rId5" Type="http://schemas.openxmlformats.org/officeDocument/2006/relationships/image" Target="../media/image147.png"/><Relationship Id="rId4" Type="http://schemas.openxmlformats.org/officeDocument/2006/relationships/image" Target="../media/image118.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9.jp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12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9.jp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136.xml.rels><?xml version="1.0" encoding="UTF-8" standalone="yes"?>
<Relationships xmlns="http://schemas.openxmlformats.org/package/2006/relationships"><Relationship Id="rId3" Type="http://schemas.openxmlformats.org/officeDocument/2006/relationships/image" Target="../media/image146.png"/><Relationship Id="rId7" Type="http://schemas.openxmlformats.org/officeDocument/2006/relationships/image" Target="../media/image151.png"/><Relationship Id="rId2" Type="http://schemas.openxmlformats.org/officeDocument/2006/relationships/notesSlide" Target="../notesSlides/notesSlide125.xml"/><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36.xml"/><Relationship Id="rId1" Type="http://schemas.openxmlformats.org/officeDocument/2006/relationships/slideLayout" Target="../slideLayouts/slideLayout2.xml"/><Relationship Id="rId5" Type="http://schemas.openxmlformats.org/officeDocument/2006/relationships/image" Target="../media/image155.png"/><Relationship Id="rId4" Type="http://schemas.openxmlformats.org/officeDocument/2006/relationships/image" Target="../media/image154.png"/></Relationships>
</file>

<file path=ppt/slides/_rels/slide148.xml.rels><?xml version="1.0" encoding="UTF-8" standalone="yes"?>
<Relationships xmlns="http://schemas.openxmlformats.org/package/2006/relationships"><Relationship Id="rId3" Type="http://schemas.openxmlformats.org/officeDocument/2006/relationships/image" Target="../media/image1590.png"/><Relationship Id="rId2" Type="http://schemas.openxmlformats.org/officeDocument/2006/relationships/notesSlide" Target="../notesSlides/notesSlide137.xml"/><Relationship Id="rId1" Type="http://schemas.openxmlformats.org/officeDocument/2006/relationships/slideLayout" Target="../slideLayouts/slideLayout2.xml"/><Relationship Id="rId5" Type="http://schemas.openxmlformats.org/officeDocument/2006/relationships/image" Target="../media/image157.emf"/><Relationship Id="rId4" Type="http://schemas.openxmlformats.org/officeDocument/2006/relationships/image" Target="../media/image156.emf"/></Relationships>
</file>

<file path=ppt/slides/_rels/slide149.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42.xml"/><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15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43.xml"/><Relationship Id="rId1" Type="http://schemas.openxmlformats.org/officeDocument/2006/relationships/slideLayout" Target="../slideLayouts/slideLayout2.xml"/><Relationship Id="rId5" Type="http://schemas.openxmlformats.org/officeDocument/2006/relationships/image" Target="../media/image155.png"/><Relationship Id="rId4" Type="http://schemas.openxmlformats.org/officeDocument/2006/relationships/image" Target="../media/image159.png"/></Relationships>
</file>

<file path=ppt/slides/_rels/slide15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44.xml"/><Relationship Id="rId1" Type="http://schemas.openxmlformats.org/officeDocument/2006/relationships/slideLayout" Target="../slideLayouts/slideLayout2.xml"/><Relationship Id="rId4" Type="http://schemas.openxmlformats.org/officeDocument/2006/relationships/image" Target="../media/image162.jpg"/></Relationships>
</file>

<file path=ppt/slides/_rels/slide15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46.xml"/><Relationship Id="rId1" Type="http://schemas.openxmlformats.org/officeDocument/2006/relationships/slideLayout" Target="../slideLayouts/slideLayout2.xml"/><Relationship Id="rId4" Type="http://schemas.openxmlformats.org/officeDocument/2006/relationships/image" Target="../media/image166.png"/></Relationships>
</file>

<file path=ppt/slides/_rels/slide163.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54.xml"/><Relationship Id="rId1" Type="http://schemas.openxmlformats.org/officeDocument/2006/relationships/slideLayout" Target="../slideLayouts/slideLayout2.xml"/><Relationship Id="rId4" Type="http://schemas.openxmlformats.org/officeDocument/2006/relationships/image" Target="../media/image172.png"/></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690.pn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5DC9D51-77CB-597A-C0FE-9277D5456EA2}"/>
              </a:ext>
            </a:extLst>
          </p:cNvPr>
          <p:cNvSpPr>
            <a:spLocks noGrp="1"/>
          </p:cNvSpPr>
          <p:nvPr>
            <p:ph type="sldNum" sz="quarter" idx="10"/>
          </p:nvPr>
        </p:nvSpPr>
        <p:spPr/>
        <p:txBody>
          <a:bodyPr/>
          <a:lstStyle/>
          <a:p>
            <a:fld id="{4B0D34C0-35A8-654C-9FBA-7B4E017BD630}" type="slidenum">
              <a:rPr lang="en-US" altLang="zh-CN" smtClean="0"/>
              <a:t>1</a:t>
            </a:fld>
            <a:endParaRPr kumimoji="1" lang="zh-CN" altLang="en-US"/>
          </a:p>
        </p:txBody>
      </p:sp>
      <p:sp>
        <p:nvSpPr>
          <p:cNvPr id="3" name="页脚占位符 2">
            <a:extLst>
              <a:ext uri="{FF2B5EF4-FFF2-40B4-BE49-F238E27FC236}">
                <a16:creationId xmlns:a16="http://schemas.microsoft.com/office/drawing/2014/main" id="{AFB8C73B-D6B4-CEF2-953F-8369DCFE8E5D}"/>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11" name="Shape1">
            <a:extLst>
              <a:ext uri="{FF2B5EF4-FFF2-40B4-BE49-F238E27FC236}">
                <a16:creationId xmlns:a16="http://schemas.microsoft.com/office/drawing/2014/main" id="{9CF2E228-02D7-4B8A-A1B1-12885E06E5EC}"/>
              </a:ext>
            </a:extLst>
          </p:cNvPr>
          <p:cNvSpPr/>
          <p:nvPr/>
        </p:nvSpPr>
        <p:spPr>
          <a:xfrm flipH="1">
            <a:off x="2866227" y="2210582"/>
            <a:ext cx="4950343" cy="1218418"/>
          </a:xfrm>
          <a:prstGeom prst="roundRect">
            <a:avLst>
              <a:gd name="adj" fmla="val 50000"/>
            </a:avLst>
          </a:prstGeom>
          <a:gradFill>
            <a:gsLst>
              <a:gs pos="0">
                <a:srgbClr val="6F1787"/>
              </a:gs>
              <a:gs pos="100000">
                <a:schemeClr val="bg1">
                  <a:alpha val="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latin typeface="微软雅黑" panose="020B0503020204020204" pitchFamily="82" charset="2"/>
              <a:ea typeface="微软雅黑" panose="020B0503020204020204" pitchFamily="82" charset="2"/>
              <a:cs typeface="思源黑体 CN Light" panose="020B0300000000000000" charset="-122"/>
            </a:endParaRPr>
          </a:p>
        </p:txBody>
      </p:sp>
      <p:sp>
        <p:nvSpPr>
          <p:cNvPr id="12" name="文本框 11">
            <a:extLst>
              <a:ext uri="{FF2B5EF4-FFF2-40B4-BE49-F238E27FC236}">
                <a16:creationId xmlns:a16="http://schemas.microsoft.com/office/drawing/2014/main" id="{FC8E13AB-48F2-42C3-8BAE-02D8FC16B36D}"/>
              </a:ext>
            </a:extLst>
          </p:cNvPr>
          <p:cNvSpPr txBox="1"/>
          <p:nvPr/>
        </p:nvSpPr>
        <p:spPr>
          <a:xfrm>
            <a:off x="2880198" y="2311960"/>
            <a:ext cx="6673377" cy="1015663"/>
          </a:xfrm>
          <a:prstGeom prst="rect">
            <a:avLst/>
          </a:prstGeom>
          <a:noFill/>
        </p:spPr>
        <p:txBody>
          <a:bodyPr wrap="square" rtlCol="0">
            <a:spAutoFit/>
          </a:bodyPr>
          <a:lstStyle/>
          <a:p>
            <a:pPr algn="ctr"/>
            <a:r>
              <a:rPr kumimoji="1" lang="zh-CN" altLang="en-US" sz="6000" b="1" dirty="0">
                <a:latin typeface="微软雅黑" panose="020B0503020204020204" pitchFamily="82" charset="2"/>
                <a:ea typeface="微软雅黑" panose="020B0503020204020204" pitchFamily="82" charset="2"/>
              </a:rPr>
              <a:t>查询优化</a:t>
            </a:r>
          </a:p>
        </p:txBody>
      </p:sp>
    </p:spTree>
    <p:extLst>
      <p:ext uri="{BB962C8B-B14F-4D97-AF65-F5344CB8AC3E}">
        <p14:creationId xmlns:p14="http://schemas.microsoft.com/office/powerpoint/2010/main" val="141081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EED26D2E-7A3F-4F10-BD9D-CEBB2C6CD655}"/>
              </a:ext>
            </a:extLst>
          </p:cNvPr>
          <p:cNvSpPr/>
          <p:nvPr/>
        </p:nvSpPr>
        <p:spPr>
          <a:xfrm>
            <a:off x="1230431" y="3140438"/>
            <a:ext cx="9628346" cy="309939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8641CD36-67C4-1958-DA5E-AE66287D432E}"/>
              </a:ext>
            </a:extLst>
          </p:cNvPr>
          <p:cNvSpPr>
            <a:spLocks noGrp="1"/>
          </p:cNvSpPr>
          <p:nvPr>
            <p:ph type="sldNum" sz="quarter" idx="10"/>
          </p:nvPr>
        </p:nvSpPr>
        <p:spPr/>
        <p:txBody>
          <a:bodyPr/>
          <a:lstStyle/>
          <a:p>
            <a:fld id="{4B0D34C0-35A8-654C-9FBA-7B4E017BD630}" type="slidenum">
              <a:rPr lang="en-US" altLang="zh-CN" smtClean="0"/>
              <a:t>2</a:t>
            </a:fld>
            <a:endParaRPr kumimoji="1" lang="zh-CN" altLang="en-US" dirty="0"/>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查询优化流程</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458000" y="1126800"/>
            <a:ext cx="9544780" cy="5005387"/>
          </a:xfrm>
        </p:spPr>
        <p:txBody>
          <a:bodyPr/>
          <a:lstStyle/>
          <a:p>
            <a:pPr>
              <a:lnSpc>
                <a:spcPct val="150000"/>
              </a:lnSpc>
              <a:buFont typeface="Wingdings" panose="05000000000000000000" pitchFamily="2" charset="2"/>
              <a:buChar char="Ø"/>
            </a:pPr>
            <a:r>
              <a:rPr lang="zh-CN" altLang="en-US" sz="2000" b="1" kern="1200" dirty="0">
                <a:solidFill>
                  <a:srgbClr val="701988"/>
                </a:solidFill>
              </a:rPr>
              <a:t>学生表 </a:t>
            </a:r>
            <a:r>
              <a:rPr lang="en-US" altLang="zh-CN" sz="2000" kern="1200" dirty="0">
                <a:solidFill>
                  <a:srgbClr val="701988"/>
                </a:solidFill>
              </a:rPr>
              <a:t>Student(</a:t>
            </a:r>
            <a:r>
              <a:rPr lang="en-US" altLang="zh-CN" sz="2000" kern="1200" dirty="0" err="1">
                <a:solidFill>
                  <a:srgbClr val="701988"/>
                </a:solidFill>
              </a:rPr>
              <a:t>Sno</a:t>
            </a:r>
            <a:r>
              <a:rPr lang="en-US" altLang="zh-CN" sz="2000" kern="1200" dirty="0">
                <a:solidFill>
                  <a:srgbClr val="701988"/>
                </a:solidFill>
              </a:rPr>
              <a:t> ,</a:t>
            </a:r>
            <a:r>
              <a:rPr lang="en-US" altLang="zh-CN" sz="2000" kern="1200" dirty="0" err="1">
                <a:solidFill>
                  <a:srgbClr val="701988"/>
                </a:solidFill>
              </a:rPr>
              <a:t>Sname</a:t>
            </a:r>
            <a:r>
              <a:rPr lang="en-US" altLang="zh-CN" sz="2000" kern="1200" dirty="0">
                <a:solidFill>
                  <a:srgbClr val="701988"/>
                </a:solidFill>
              </a:rPr>
              <a:t>, </a:t>
            </a:r>
            <a:r>
              <a:rPr lang="en-US" altLang="zh-CN" sz="2000" kern="1200" dirty="0" err="1">
                <a:solidFill>
                  <a:srgbClr val="701988"/>
                </a:solidFill>
              </a:rPr>
              <a:t>Sgender</a:t>
            </a:r>
            <a:r>
              <a:rPr lang="en-US" altLang="zh-CN" sz="2000" kern="1200" dirty="0">
                <a:solidFill>
                  <a:srgbClr val="701988"/>
                </a:solidFill>
              </a:rPr>
              <a:t>, Sage, </a:t>
            </a:r>
            <a:r>
              <a:rPr lang="en-US" altLang="zh-CN" sz="2000" kern="1200" dirty="0" err="1">
                <a:solidFill>
                  <a:srgbClr val="701988"/>
                </a:solidFill>
              </a:rPr>
              <a:t>Sdept</a:t>
            </a:r>
            <a:r>
              <a:rPr lang="en-US" altLang="zh-CN" sz="2000" kern="1200" dirty="0">
                <a:solidFill>
                  <a:srgbClr val="701988"/>
                </a:solidFill>
              </a:rPr>
              <a:t>)</a:t>
            </a:r>
            <a:r>
              <a:rPr lang="zh-CN" altLang="zh-CN" sz="2000" dirty="0">
                <a:solidFill>
                  <a:srgbClr val="701988"/>
                </a:solidFill>
              </a:rPr>
              <a:t> </a:t>
            </a:r>
            <a:endParaRPr lang="en-US" altLang="zh-CN" sz="2000" kern="1200" dirty="0">
              <a:solidFill>
                <a:srgbClr val="701988"/>
              </a:solidFill>
            </a:endParaRPr>
          </a:p>
          <a:p>
            <a:pPr>
              <a:lnSpc>
                <a:spcPct val="150000"/>
              </a:lnSpc>
              <a:buFont typeface="Wingdings" panose="05000000000000000000" pitchFamily="2" charset="2"/>
              <a:buChar char="Ø"/>
            </a:pPr>
            <a:r>
              <a:rPr lang="zh-CN" altLang="en-US" sz="2000" b="1" kern="1200" dirty="0">
                <a:solidFill>
                  <a:srgbClr val="701988"/>
                </a:solidFill>
              </a:rPr>
              <a:t>学生选课表 </a:t>
            </a:r>
            <a:r>
              <a:rPr lang="en-US" altLang="zh-CN" sz="2000" kern="1200" dirty="0">
                <a:solidFill>
                  <a:srgbClr val="701988"/>
                </a:solidFill>
              </a:rPr>
              <a:t>SC(</a:t>
            </a:r>
            <a:r>
              <a:rPr lang="en-US" altLang="zh-CN" sz="2000" kern="1200" dirty="0" err="1">
                <a:solidFill>
                  <a:srgbClr val="701988"/>
                </a:solidFill>
              </a:rPr>
              <a:t>Sno</a:t>
            </a:r>
            <a:r>
              <a:rPr lang="en-US" altLang="zh-CN" sz="2000" kern="1200" dirty="0">
                <a:solidFill>
                  <a:srgbClr val="701988"/>
                </a:solidFill>
              </a:rPr>
              <a:t>, </a:t>
            </a:r>
            <a:r>
              <a:rPr lang="en-US" altLang="zh-CN" sz="2000" kern="1200" dirty="0" err="1">
                <a:solidFill>
                  <a:srgbClr val="701988"/>
                </a:solidFill>
              </a:rPr>
              <a:t>Cno</a:t>
            </a:r>
            <a:r>
              <a:rPr lang="en-US" altLang="zh-CN" sz="2000" kern="1200" dirty="0">
                <a:solidFill>
                  <a:srgbClr val="701988"/>
                </a:solidFill>
              </a:rPr>
              <a:t>, Grade)</a:t>
            </a:r>
            <a:r>
              <a:rPr lang="zh-CN" altLang="zh-CN" sz="2000" dirty="0">
                <a:solidFill>
                  <a:srgbClr val="701988"/>
                </a:solidFill>
              </a:rPr>
              <a:t> </a:t>
            </a:r>
            <a:endParaRPr lang="en-US" altLang="zh-CN" sz="2000" dirty="0">
              <a:solidFill>
                <a:srgbClr val="701988"/>
              </a:solidFill>
            </a:endParaRPr>
          </a:p>
          <a:p>
            <a:pPr>
              <a:lnSpc>
                <a:spcPct val="150000"/>
              </a:lnSpc>
              <a:buFont typeface="Wingdings" panose="05000000000000000000" pitchFamily="2" charset="2"/>
              <a:buChar char="Ø"/>
            </a:pPr>
            <a:r>
              <a:rPr lang="zh-CN" altLang="en-US" sz="2000" b="1" dirty="0">
                <a:solidFill>
                  <a:srgbClr val="701988"/>
                </a:solidFill>
              </a:rPr>
              <a:t>查询</a:t>
            </a:r>
            <a:r>
              <a:rPr lang="zh-CN" altLang="en-US" sz="2000" dirty="0">
                <a:solidFill>
                  <a:srgbClr val="701988"/>
                </a:solidFill>
              </a:rPr>
              <a:t>：</a:t>
            </a:r>
            <a:r>
              <a:rPr lang="zh-CN" altLang="zh-CN" sz="2000" kern="1200" dirty="0">
                <a:solidFill>
                  <a:srgbClr val="701988"/>
                </a:solidFill>
              </a:rPr>
              <a:t>获取</a:t>
            </a:r>
            <a:r>
              <a:rPr lang="zh-CN" altLang="en-US" sz="2000" kern="1200" dirty="0">
                <a:solidFill>
                  <a:srgbClr val="701988"/>
                </a:solidFill>
              </a:rPr>
              <a:t>选修了</a:t>
            </a:r>
            <a:r>
              <a:rPr lang="en-US" altLang="zh-CN" sz="2000" kern="1200" dirty="0">
                <a:solidFill>
                  <a:srgbClr val="701988"/>
                </a:solidFill>
              </a:rPr>
              <a:t>1</a:t>
            </a:r>
            <a:r>
              <a:rPr lang="zh-CN" altLang="en-US" sz="2000" kern="1200" dirty="0">
                <a:solidFill>
                  <a:srgbClr val="701988"/>
                </a:solidFill>
              </a:rPr>
              <a:t>号课程的学生学号、姓名及成绩</a:t>
            </a:r>
            <a:endParaRPr lang="zh-CN" altLang="en-US" sz="2000" dirty="0">
              <a:solidFill>
                <a:srgbClr val="701988"/>
              </a:solidFill>
            </a:endParaRPr>
          </a:p>
          <a:p>
            <a:pPr marL="0" indent="0">
              <a:buNone/>
            </a:pPr>
            <a:r>
              <a:rPr lang="zh-CN" altLang="zh-CN" sz="2400" dirty="0"/>
              <a:t> </a:t>
            </a:r>
            <a:endParaRPr kumimoji="1" lang="zh-CN" altLang="en-US" sz="2400" dirty="0"/>
          </a:p>
        </p:txBody>
      </p:sp>
      <p:sp>
        <p:nvSpPr>
          <p:cNvPr id="5" name="页脚占位符 4">
            <a:extLst>
              <a:ext uri="{FF2B5EF4-FFF2-40B4-BE49-F238E27FC236}">
                <a16:creationId xmlns:a16="http://schemas.microsoft.com/office/drawing/2014/main" id="{EB3E65B8-90B0-26C4-4D36-CFAB9FCB253C}"/>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pic>
        <p:nvPicPr>
          <p:cNvPr id="8" name="图片 7">
            <a:extLst>
              <a:ext uri="{FF2B5EF4-FFF2-40B4-BE49-F238E27FC236}">
                <a16:creationId xmlns:a16="http://schemas.microsoft.com/office/drawing/2014/main" id="{5BB1490E-6A89-B764-8B87-433ECED0DAB6}"/>
              </a:ext>
            </a:extLst>
          </p:cNvPr>
          <p:cNvPicPr>
            <a:picLocks noChangeAspect="1"/>
          </p:cNvPicPr>
          <p:nvPr/>
        </p:nvPicPr>
        <p:blipFill>
          <a:blip r:embed="rId3"/>
          <a:stretch>
            <a:fillRect/>
          </a:stretch>
        </p:blipFill>
        <p:spPr>
          <a:xfrm>
            <a:off x="1795088" y="3276432"/>
            <a:ext cx="8449096" cy="2805816"/>
          </a:xfrm>
          <a:prstGeom prst="rect">
            <a:avLst/>
          </a:prstGeom>
        </p:spPr>
      </p:pic>
      <p:sp>
        <p:nvSpPr>
          <p:cNvPr id="9" name="文本框 8">
            <a:extLst>
              <a:ext uri="{FF2B5EF4-FFF2-40B4-BE49-F238E27FC236}">
                <a16:creationId xmlns:a16="http://schemas.microsoft.com/office/drawing/2014/main" id="{9D2BA93E-7F0C-F750-C83F-E17E59BA54DE}"/>
              </a:ext>
            </a:extLst>
          </p:cNvPr>
          <p:cNvSpPr txBox="1"/>
          <p:nvPr/>
        </p:nvSpPr>
        <p:spPr>
          <a:xfrm>
            <a:off x="4323759" y="5935307"/>
            <a:ext cx="1055065" cy="338554"/>
          </a:xfrm>
          <a:prstGeom prst="rect">
            <a:avLst/>
          </a:prstGeom>
          <a:noFill/>
        </p:spPr>
        <p:txBody>
          <a:bodyPr wrap="square">
            <a:spAutoFit/>
          </a:bodyPr>
          <a:lstStyle/>
          <a:p>
            <a:r>
              <a:rPr lang="zh-CN" altLang="en-US" sz="1600" dirty="0"/>
              <a:t>统计信息</a:t>
            </a:r>
          </a:p>
        </p:txBody>
      </p:sp>
    </p:spTree>
    <p:extLst>
      <p:ext uri="{BB962C8B-B14F-4D97-AF65-F5344CB8AC3E}">
        <p14:creationId xmlns:p14="http://schemas.microsoft.com/office/powerpoint/2010/main" val="4202955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18">
            <a:extLst>
              <a:ext uri="{FF2B5EF4-FFF2-40B4-BE49-F238E27FC236}">
                <a16:creationId xmlns:a16="http://schemas.microsoft.com/office/drawing/2014/main" id="{EED26D2E-7A3F-4F10-BD9D-CEBB2C6CD655}"/>
              </a:ext>
            </a:extLst>
          </p:cNvPr>
          <p:cNvSpPr/>
          <p:nvPr/>
        </p:nvSpPr>
        <p:spPr>
          <a:xfrm>
            <a:off x="2121585" y="1491521"/>
            <a:ext cx="7944307" cy="445208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81F59F88-D304-8808-A509-B70BB5D66C3D}"/>
              </a:ext>
            </a:extLst>
          </p:cNvPr>
          <p:cNvSpPr>
            <a:spLocks noGrp="1"/>
          </p:cNvSpPr>
          <p:nvPr>
            <p:ph type="sldNum" sz="quarter" idx="10"/>
          </p:nvPr>
        </p:nvSpPr>
        <p:spPr/>
        <p:txBody>
          <a:bodyPr/>
          <a:lstStyle/>
          <a:p>
            <a:fld id="{4B0D34C0-35A8-654C-9FBA-7B4E017BD630}" type="slidenum">
              <a:rPr lang="en-US" altLang="zh-CN" smtClean="0"/>
              <a:t>3</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1050551" y="109584"/>
            <a:ext cx="10090897" cy="678470"/>
          </a:xfrm>
        </p:spPr>
        <p:txBody>
          <a:bodyPr/>
          <a:lstStyle/>
          <a:p>
            <a:r>
              <a:rPr kumimoji="1" lang="en-US" altLang="zh-CN" dirty="0"/>
              <a:t>1</a:t>
            </a:r>
            <a:r>
              <a:rPr kumimoji="1" lang="zh-CN" altLang="en-US" dirty="0"/>
              <a:t>、逻辑优化（查询重写）</a:t>
            </a:r>
          </a:p>
        </p:txBody>
      </p:sp>
      <p:sp>
        <p:nvSpPr>
          <p:cNvPr id="4" name="页脚占位符 3">
            <a:extLst>
              <a:ext uri="{FF2B5EF4-FFF2-40B4-BE49-F238E27FC236}">
                <a16:creationId xmlns:a16="http://schemas.microsoft.com/office/drawing/2014/main" id="{429A1B36-B724-0119-1AB1-C0E718FDC8A8}"/>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grpSp>
        <p:nvGrpSpPr>
          <p:cNvPr id="17" name="组合 16"/>
          <p:cNvGrpSpPr/>
          <p:nvPr/>
        </p:nvGrpSpPr>
        <p:grpSpPr>
          <a:xfrm>
            <a:off x="3085805" y="1663923"/>
            <a:ext cx="6033283" cy="4115030"/>
            <a:chOff x="2371345" y="1290392"/>
            <a:chExt cx="7418529" cy="4989929"/>
          </a:xfrm>
        </p:grpSpPr>
        <p:sp>
          <p:nvSpPr>
            <p:cNvPr id="12" name="矩形 11">
              <a:extLst>
                <a:ext uri="{FF2B5EF4-FFF2-40B4-BE49-F238E27FC236}">
                  <a16:creationId xmlns:a16="http://schemas.microsoft.com/office/drawing/2014/main" id="{51F3C783-4C52-AF7B-EB27-13E9BB64852C}"/>
                </a:ext>
              </a:extLst>
            </p:cNvPr>
            <p:cNvSpPr/>
            <p:nvPr/>
          </p:nvSpPr>
          <p:spPr bwMode="auto">
            <a:xfrm>
              <a:off x="2371346" y="3018739"/>
              <a:ext cx="2293753" cy="461665"/>
            </a:xfrm>
            <a:prstGeom prst="rect">
              <a:avLst/>
            </a:prstGeom>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dirty="0">
                  <a:solidFill>
                    <a:srgbClr val="743481"/>
                  </a:solidFill>
                  <a:latin typeface="+mj-ea"/>
                  <a:ea typeface="+mj-ea"/>
                </a:rPr>
                <a:t>逻辑优化</a:t>
              </a:r>
              <a:endParaRPr kumimoji="1" lang="zh-CN" altLang="en-US" b="0" i="0" u="none" strike="noStrike" cap="none" normalizeH="0" baseline="0" dirty="0">
                <a:ln>
                  <a:noFill/>
                </a:ln>
                <a:solidFill>
                  <a:srgbClr val="743481"/>
                </a:solidFill>
                <a:effectLst/>
                <a:latin typeface="+mj-ea"/>
                <a:ea typeface="+mj-ea"/>
              </a:endParaRPr>
            </a:p>
          </p:txBody>
        </p:sp>
        <p:sp>
          <p:nvSpPr>
            <p:cNvPr id="13" name="矩形 12">
              <a:extLst>
                <a:ext uri="{FF2B5EF4-FFF2-40B4-BE49-F238E27FC236}">
                  <a16:creationId xmlns:a16="http://schemas.microsoft.com/office/drawing/2014/main" id="{6FB4DD4D-37AD-730C-F377-2C5A5930B02C}"/>
                </a:ext>
              </a:extLst>
            </p:cNvPr>
            <p:cNvSpPr/>
            <p:nvPr/>
          </p:nvSpPr>
          <p:spPr bwMode="auto">
            <a:xfrm>
              <a:off x="2371348" y="4103026"/>
              <a:ext cx="2293753" cy="461665"/>
            </a:xfrm>
            <a:prstGeom prst="rect">
              <a:avLst/>
            </a:prstGeom>
            <a:ln>
              <a:solidFill>
                <a:schemeClr val="tx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dirty="0">
                  <a:latin typeface="+mj-ea"/>
                  <a:ea typeface="+mj-ea"/>
                </a:rPr>
                <a:t>物理优化</a:t>
              </a:r>
              <a:endParaRPr kumimoji="1" lang="zh-CN" altLang="en-US" b="0" i="0" u="none" strike="noStrike" cap="none" normalizeH="0" baseline="0" dirty="0">
                <a:ln>
                  <a:noFill/>
                </a:ln>
                <a:solidFill>
                  <a:schemeClr val="tx1"/>
                </a:solidFill>
                <a:effectLst/>
                <a:latin typeface="+mj-ea"/>
                <a:ea typeface="+mj-ea"/>
              </a:endParaRPr>
            </a:p>
          </p:txBody>
        </p:sp>
        <p:sp>
          <p:nvSpPr>
            <p:cNvPr id="14" name="矩形 13">
              <a:extLst>
                <a:ext uri="{FF2B5EF4-FFF2-40B4-BE49-F238E27FC236}">
                  <a16:creationId xmlns:a16="http://schemas.microsoft.com/office/drawing/2014/main" id="{0220C193-4237-7EE9-DE5E-740146762FC5}"/>
                </a:ext>
              </a:extLst>
            </p:cNvPr>
            <p:cNvSpPr/>
            <p:nvPr/>
          </p:nvSpPr>
          <p:spPr bwMode="auto">
            <a:xfrm>
              <a:off x="2371345" y="5187312"/>
              <a:ext cx="2293753" cy="461665"/>
            </a:xfrm>
            <a:prstGeom prst="rect">
              <a:avLst/>
            </a:prstGeom>
            <a:ln>
              <a:solidFill>
                <a:schemeClr val="tx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dirty="0">
                  <a:latin typeface="+mj-ea"/>
                  <a:ea typeface="+mj-ea"/>
                </a:rPr>
                <a:t>查询执行</a:t>
              </a:r>
              <a:endParaRPr kumimoji="1" lang="zh-CN" altLang="en-US" b="0" i="0" u="none" strike="noStrike" cap="none" normalizeH="0" baseline="0" dirty="0">
                <a:ln>
                  <a:noFill/>
                </a:ln>
                <a:solidFill>
                  <a:schemeClr val="tx1"/>
                </a:solidFill>
                <a:effectLst/>
                <a:latin typeface="+mj-ea"/>
                <a:ea typeface="+mj-ea"/>
              </a:endParaRPr>
            </a:p>
          </p:txBody>
        </p:sp>
        <p:sp>
          <p:nvSpPr>
            <p:cNvPr id="15" name="矩形 14">
              <a:extLst>
                <a:ext uri="{FF2B5EF4-FFF2-40B4-BE49-F238E27FC236}">
                  <a16:creationId xmlns:a16="http://schemas.microsoft.com/office/drawing/2014/main" id="{6A40384A-458F-EE33-CD20-8DF38C3E9AD7}"/>
                </a:ext>
              </a:extLst>
            </p:cNvPr>
            <p:cNvSpPr/>
            <p:nvPr/>
          </p:nvSpPr>
          <p:spPr bwMode="auto">
            <a:xfrm>
              <a:off x="2371348" y="1934453"/>
              <a:ext cx="2293753" cy="461665"/>
            </a:xfrm>
            <a:prstGeom prst="rect">
              <a:avLst/>
            </a:prstGeom>
            <a:ln>
              <a:solidFill>
                <a:schemeClr val="tx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dirty="0">
                  <a:latin typeface="+mj-ea"/>
                  <a:ea typeface="+mj-ea"/>
                </a:rPr>
                <a:t>查询解析</a:t>
              </a:r>
              <a:endParaRPr kumimoji="1" lang="zh-CN" altLang="en-US" b="0" i="0" u="none" strike="noStrike" cap="none" normalizeH="0" baseline="0" dirty="0">
                <a:ln>
                  <a:noFill/>
                </a:ln>
                <a:solidFill>
                  <a:schemeClr val="tx1"/>
                </a:solidFill>
                <a:effectLst/>
                <a:latin typeface="+mj-ea"/>
                <a:ea typeface="+mj-ea"/>
              </a:endParaRPr>
            </a:p>
          </p:txBody>
        </p:sp>
        <p:sp>
          <p:nvSpPr>
            <p:cNvPr id="16" name="文本框 15">
              <a:extLst>
                <a:ext uri="{FF2B5EF4-FFF2-40B4-BE49-F238E27FC236}">
                  <a16:creationId xmlns:a16="http://schemas.microsoft.com/office/drawing/2014/main" id="{FF482F31-4B7C-17F7-39E4-502B2A4A08CE}"/>
                </a:ext>
              </a:extLst>
            </p:cNvPr>
            <p:cNvSpPr txBox="1"/>
            <p:nvPr/>
          </p:nvSpPr>
          <p:spPr>
            <a:xfrm>
              <a:off x="3595706" y="2519227"/>
              <a:ext cx="903488" cy="376963"/>
            </a:xfrm>
            <a:prstGeom prst="rect">
              <a:avLst/>
            </a:prstGeom>
            <a:noFill/>
          </p:spPr>
          <p:txBody>
            <a:bodyPr wrap="none" rtlCol="0">
              <a:spAutoFit/>
            </a:bodyPr>
            <a:lstStyle/>
            <a:p>
              <a:r>
                <a:rPr kumimoji="1" lang="zh-CN" altLang="en-US" sz="1600" dirty="0">
                  <a:latin typeface="+mj-ea"/>
                  <a:ea typeface="+mj-ea"/>
                </a:rPr>
                <a:t>查询树</a:t>
              </a:r>
            </a:p>
          </p:txBody>
        </p:sp>
        <p:cxnSp>
          <p:nvCxnSpPr>
            <p:cNvPr id="18" name="直线箭头连接符 17">
              <a:extLst>
                <a:ext uri="{FF2B5EF4-FFF2-40B4-BE49-F238E27FC236}">
                  <a16:creationId xmlns:a16="http://schemas.microsoft.com/office/drawing/2014/main" id="{E2E5AB3B-F9AF-2CA3-91AC-36C6D542D502}"/>
                </a:ext>
              </a:extLst>
            </p:cNvPr>
            <p:cNvCxnSpPr>
              <a:cxnSpLocks/>
            </p:cNvCxnSpPr>
            <p:nvPr/>
          </p:nvCxnSpPr>
          <p:spPr bwMode="auto">
            <a:xfrm>
              <a:off x="3518218" y="2579129"/>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1" name="文本框 20">
              <a:extLst>
                <a:ext uri="{FF2B5EF4-FFF2-40B4-BE49-F238E27FC236}">
                  <a16:creationId xmlns:a16="http://schemas.microsoft.com/office/drawing/2014/main" id="{F03986D3-6923-C09F-2BDA-D6B98EFEA63A}"/>
                </a:ext>
              </a:extLst>
            </p:cNvPr>
            <p:cNvSpPr txBox="1"/>
            <p:nvPr/>
          </p:nvSpPr>
          <p:spPr>
            <a:xfrm>
              <a:off x="3595706" y="3637826"/>
              <a:ext cx="1598479" cy="376963"/>
            </a:xfrm>
            <a:prstGeom prst="rect">
              <a:avLst/>
            </a:prstGeom>
            <a:noFill/>
          </p:spPr>
          <p:txBody>
            <a:bodyPr wrap="none" rtlCol="0">
              <a:spAutoFit/>
            </a:bodyPr>
            <a:lstStyle/>
            <a:p>
              <a:r>
                <a:rPr kumimoji="1" lang="zh-CN" altLang="en-US" sz="1600" dirty="0">
                  <a:latin typeface="+mj-ea"/>
                  <a:ea typeface="+mj-ea"/>
                </a:rPr>
                <a:t>逻辑执行计划</a:t>
              </a:r>
            </a:p>
          </p:txBody>
        </p:sp>
        <p:cxnSp>
          <p:nvCxnSpPr>
            <p:cNvPr id="22" name="直线箭头连接符 21">
              <a:extLst>
                <a:ext uri="{FF2B5EF4-FFF2-40B4-BE49-F238E27FC236}">
                  <a16:creationId xmlns:a16="http://schemas.microsoft.com/office/drawing/2014/main" id="{17201465-C8D4-4DDB-046A-9346BC40E8FC}"/>
                </a:ext>
              </a:extLst>
            </p:cNvPr>
            <p:cNvCxnSpPr>
              <a:cxnSpLocks/>
            </p:cNvCxnSpPr>
            <p:nvPr/>
          </p:nvCxnSpPr>
          <p:spPr bwMode="auto">
            <a:xfrm>
              <a:off x="3518218" y="3697728"/>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3" name="文本框 22">
              <a:extLst>
                <a:ext uri="{FF2B5EF4-FFF2-40B4-BE49-F238E27FC236}">
                  <a16:creationId xmlns:a16="http://schemas.microsoft.com/office/drawing/2014/main" id="{ED5A023B-464B-F98B-7D0A-7CF1EFDEDB22}"/>
                </a:ext>
              </a:extLst>
            </p:cNvPr>
            <p:cNvSpPr txBox="1"/>
            <p:nvPr/>
          </p:nvSpPr>
          <p:spPr>
            <a:xfrm>
              <a:off x="3595706" y="4713391"/>
              <a:ext cx="1598479" cy="376963"/>
            </a:xfrm>
            <a:prstGeom prst="rect">
              <a:avLst/>
            </a:prstGeom>
            <a:noFill/>
          </p:spPr>
          <p:txBody>
            <a:bodyPr wrap="none" rtlCol="0">
              <a:spAutoFit/>
            </a:bodyPr>
            <a:lstStyle/>
            <a:p>
              <a:r>
                <a:rPr kumimoji="1" lang="zh-CN" altLang="en-US" sz="1600" dirty="0">
                  <a:latin typeface="+mj-ea"/>
                  <a:ea typeface="+mj-ea"/>
                </a:rPr>
                <a:t>物理执行计划</a:t>
              </a:r>
            </a:p>
          </p:txBody>
        </p:sp>
        <p:cxnSp>
          <p:nvCxnSpPr>
            <p:cNvPr id="24" name="直线箭头连接符 23">
              <a:extLst>
                <a:ext uri="{FF2B5EF4-FFF2-40B4-BE49-F238E27FC236}">
                  <a16:creationId xmlns:a16="http://schemas.microsoft.com/office/drawing/2014/main" id="{5236E538-A467-4D3A-5BCF-1475C6673638}"/>
                </a:ext>
              </a:extLst>
            </p:cNvPr>
            <p:cNvCxnSpPr>
              <a:cxnSpLocks/>
            </p:cNvCxnSpPr>
            <p:nvPr/>
          </p:nvCxnSpPr>
          <p:spPr bwMode="auto">
            <a:xfrm>
              <a:off x="3518218" y="4773293"/>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5" name="文本框 24">
              <a:extLst>
                <a:ext uri="{FF2B5EF4-FFF2-40B4-BE49-F238E27FC236}">
                  <a16:creationId xmlns:a16="http://schemas.microsoft.com/office/drawing/2014/main" id="{A84C3A3C-E43D-51D0-CD00-6DC144BB96DE}"/>
                </a:ext>
              </a:extLst>
            </p:cNvPr>
            <p:cNvSpPr txBox="1"/>
            <p:nvPr/>
          </p:nvSpPr>
          <p:spPr>
            <a:xfrm>
              <a:off x="3582346" y="5840711"/>
              <a:ext cx="1135151" cy="376963"/>
            </a:xfrm>
            <a:prstGeom prst="rect">
              <a:avLst/>
            </a:prstGeom>
            <a:noFill/>
          </p:spPr>
          <p:txBody>
            <a:bodyPr wrap="none" rtlCol="0">
              <a:spAutoFit/>
            </a:bodyPr>
            <a:lstStyle/>
            <a:p>
              <a:r>
                <a:rPr kumimoji="1" lang="zh-CN" altLang="en-US" sz="1600" dirty="0">
                  <a:latin typeface="+mj-ea"/>
                  <a:ea typeface="+mj-ea"/>
                </a:rPr>
                <a:t>查询结果</a:t>
              </a:r>
            </a:p>
          </p:txBody>
        </p:sp>
        <p:cxnSp>
          <p:nvCxnSpPr>
            <p:cNvPr id="26" name="直线箭头连接符 25">
              <a:extLst>
                <a:ext uri="{FF2B5EF4-FFF2-40B4-BE49-F238E27FC236}">
                  <a16:creationId xmlns:a16="http://schemas.microsoft.com/office/drawing/2014/main" id="{99B75340-B38D-D79B-764E-16AD993F9F63}"/>
                </a:ext>
              </a:extLst>
            </p:cNvPr>
            <p:cNvCxnSpPr>
              <a:cxnSpLocks/>
            </p:cNvCxnSpPr>
            <p:nvPr/>
          </p:nvCxnSpPr>
          <p:spPr bwMode="auto">
            <a:xfrm>
              <a:off x="3504858" y="5900613"/>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7" name="左大括号 26">
              <a:extLst>
                <a:ext uri="{FF2B5EF4-FFF2-40B4-BE49-F238E27FC236}">
                  <a16:creationId xmlns:a16="http://schemas.microsoft.com/office/drawing/2014/main" id="{2A67DB6D-825A-E850-FD99-216FADE05EDA}"/>
                </a:ext>
              </a:extLst>
            </p:cNvPr>
            <p:cNvSpPr/>
            <p:nvPr/>
          </p:nvSpPr>
          <p:spPr bwMode="auto">
            <a:xfrm>
              <a:off x="5407707" y="1290392"/>
              <a:ext cx="788246" cy="4076053"/>
            </a:xfrm>
            <a:prstGeom prst="leftBrace">
              <a:avLst>
                <a:gd name="adj1" fmla="val 33333"/>
                <a:gd name="adj2" fmla="val 50000"/>
              </a:avLst>
            </a:prstGeom>
            <a:no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CD3300"/>
                </a:solidFill>
                <a:effectLst/>
                <a:latin typeface="Times New Roman" pitchFamily="18" charset="0"/>
                <a:ea typeface="华文楷体" pitchFamily="2" charset="-122"/>
              </a:endParaRPr>
            </a:p>
          </p:txBody>
        </p:sp>
        <p:sp>
          <p:nvSpPr>
            <p:cNvPr id="28" name="矩形 27">
              <a:extLst>
                <a:ext uri="{FF2B5EF4-FFF2-40B4-BE49-F238E27FC236}">
                  <a16:creationId xmlns:a16="http://schemas.microsoft.com/office/drawing/2014/main" id="{92976DBC-F903-96F6-0938-18C4286A137C}"/>
                </a:ext>
              </a:extLst>
            </p:cNvPr>
            <p:cNvSpPr/>
            <p:nvPr/>
          </p:nvSpPr>
          <p:spPr bwMode="auto">
            <a:xfrm>
              <a:off x="6294966" y="3035370"/>
              <a:ext cx="3494908" cy="461665"/>
            </a:xfrm>
            <a:prstGeom prst="rect">
              <a:avLst/>
            </a:prstGeom>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kumimoji="1" lang="zh-CN" altLang="en-US" dirty="0">
                  <a:solidFill>
                    <a:srgbClr val="743481"/>
                  </a:solidFill>
                  <a:latin typeface="+mj-ea"/>
                  <a:ea typeface="+mj-ea"/>
                </a:rPr>
                <a:t>逻辑计划</a:t>
              </a:r>
            </a:p>
          </p:txBody>
        </p:sp>
        <p:sp>
          <p:nvSpPr>
            <p:cNvPr id="29" name="矩形 28">
              <a:extLst>
                <a:ext uri="{FF2B5EF4-FFF2-40B4-BE49-F238E27FC236}">
                  <a16:creationId xmlns:a16="http://schemas.microsoft.com/office/drawing/2014/main" id="{A8022D60-EBFF-8DCE-AF86-0A08C9BA31D0}"/>
                </a:ext>
              </a:extLst>
            </p:cNvPr>
            <p:cNvSpPr/>
            <p:nvPr/>
          </p:nvSpPr>
          <p:spPr bwMode="auto">
            <a:xfrm>
              <a:off x="6294966" y="4553825"/>
              <a:ext cx="3494908" cy="461665"/>
            </a:xfrm>
            <a:prstGeom prst="rect">
              <a:avLst/>
            </a:prstGeom>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b="0" i="0" u="none" strike="noStrike" cap="none" normalizeH="0" baseline="0" dirty="0">
                  <a:ln>
                    <a:noFill/>
                  </a:ln>
                  <a:solidFill>
                    <a:srgbClr val="743481"/>
                  </a:solidFill>
                  <a:effectLst/>
                  <a:latin typeface="+mj-ea"/>
                  <a:ea typeface="+mj-ea"/>
                </a:rPr>
                <a:t>“最优”逻辑计划</a:t>
              </a:r>
            </a:p>
          </p:txBody>
        </p:sp>
        <p:sp>
          <p:nvSpPr>
            <p:cNvPr id="30" name="矩形 29">
              <a:extLst>
                <a:ext uri="{FF2B5EF4-FFF2-40B4-BE49-F238E27FC236}">
                  <a16:creationId xmlns:a16="http://schemas.microsoft.com/office/drawing/2014/main" id="{74C3EDFD-3CB2-8D82-7839-705FF9E57B97}"/>
                </a:ext>
              </a:extLst>
            </p:cNvPr>
            <p:cNvSpPr/>
            <p:nvPr/>
          </p:nvSpPr>
          <p:spPr bwMode="auto">
            <a:xfrm>
              <a:off x="6294966" y="1545786"/>
              <a:ext cx="3494908" cy="461665"/>
            </a:xfrm>
            <a:prstGeom prst="rect">
              <a:avLst/>
            </a:prstGeom>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b="0" i="0" u="none" strike="noStrike" cap="none" normalizeH="0" baseline="0" dirty="0">
                  <a:ln>
                    <a:noFill/>
                  </a:ln>
                  <a:solidFill>
                    <a:srgbClr val="743481"/>
                  </a:solidFill>
                  <a:effectLst/>
                  <a:latin typeface="+mj-ea"/>
                  <a:ea typeface="+mj-ea"/>
                </a:rPr>
                <a:t>初始逻辑计划</a:t>
              </a:r>
            </a:p>
          </p:txBody>
        </p:sp>
        <p:sp>
          <p:nvSpPr>
            <p:cNvPr id="31" name="文本框 30">
              <a:extLst>
                <a:ext uri="{FF2B5EF4-FFF2-40B4-BE49-F238E27FC236}">
                  <a16:creationId xmlns:a16="http://schemas.microsoft.com/office/drawing/2014/main" id="{106573A3-EF57-A65E-2CD1-D812D61835DB}"/>
                </a:ext>
              </a:extLst>
            </p:cNvPr>
            <p:cNvSpPr txBox="1"/>
            <p:nvPr/>
          </p:nvSpPr>
          <p:spPr>
            <a:xfrm>
              <a:off x="8141411" y="2338724"/>
              <a:ext cx="1570975" cy="376963"/>
            </a:xfrm>
            <a:prstGeom prst="rect">
              <a:avLst/>
            </a:prstGeom>
            <a:noFill/>
            <a:ln>
              <a:noFill/>
            </a:ln>
          </p:spPr>
          <p:txBody>
            <a:bodyPr wrap="square" rtlCol="0">
              <a:spAutoFit/>
            </a:bodyPr>
            <a:lstStyle/>
            <a:p>
              <a:r>
                <a:rPr kumimoji="1" lang="zh-CN" altLang="en-US" sz="1600" dirty="0">
                  <a:solidFill>
                    <a:srgbClr val="743481"/>
                  </a:solidFill>
                  <a:latin typeface="+mj-ea"/>
                  <a:ea typeface="+mj-ea"/>
                </a:rPr>
                <a:t>重写规则</a:t>
              </a:r>
            </a:p>
          </p:txBody>
        </p:sp>
        <p:cxnSp>
          <p:nvCxnSpPr>
            <p:cNvPr id="34" name="直线箭头连接符 33">
              <a:extLst>
                <a:ext uri="{FF2B5EF4-FFF2-40B4-BE49-F238E27FC236}">
                  <a16:creationId xmlns:a16="http://schemas.microsoft.com/office/drawing/2014/main" id="{64245F35-43E8-EBFB-3C15-0B127B84CCC4}"/>
                </a:ext>
              </a:extLst>
            </p:cNvPr>
            <p:cNvCxnSpPr>
              <a:cxnSpLocks/>
            </p:cNvCxnSpPr>
            <p:nvPr/>
          </p:nvCxnSpPr>
          <p:spPr bwMode="auto">
            <a:xfrm>
              <a:off x="8042420" y="3692322"/>
              <a:ext cx="0" cy="830507"/>
            </a:xfrm>
            <a:prstGeom prst="straightConnector1">
              <a:avLst/>
            </a:prstGeom>
            <a:noFill/>
            <a:ln w="38100" cap="flat" cmpd="sng" algn="ctr">
              <a:solidFill>
                <a:srgbClr val="74348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 name="直线箭头连接符 38">
              <a:extLst>
                <a:ext uri="{FF2B5EF4-FFF2-40B4-BE49-F238E27FC236}">
                  <a16:creationId xmlns:a16="http://schemas.microsoft.com/office/drawing/2014/main" id="{39CDF432-F296-2895-AFA2-B0B269709B6D}"/>
                </a:ext>
              </a:extLst>
            </p:cNvPr>
            <p:cNvCxnSpPr>
              <a:cxnSpLocks/>
            </p:cNvCxnSpPr>
            <p:nvPr/>
          </p:nvCxnSpPr>
          <p:spPr bwMode="auto">
            <a:xfrm>
              <a:off x="8042420" y="2172734"/>
              <a:ext cx="0" cy="830507"/>
            </a:xfrm>
            <a:prstGeom prst="straightConnector1">
              <a:avLst/>
            </a:prstGeom>
            <a:noFill/>
            <a:ln w="38100" cap="flat" cmpd="sng" algn="ctr">
              <a:solidFill>
                <a:srgbClr val="74348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9" name="文本框 78">
              <a:extLst>
                <a:ext uri="{FF2B5EF4-FFF2-40B4-BE49-F238E27FC236}">
                  <a16:creationId xmlns:a16="http://schemas.microsoft.com/office/drawing/2014/main" id="{00C2F630-1A22-86C8-B7D3-4349863990ED}"/>
                </a:ext>
              </a:extLst>
            </p:cNvPr>
            <p:cNvSpPr txBox="1"/>
            <p:nvPr/>
          </p:nvSpPr>
          <p:spPr>
            <a:xfrm>
              <a:off x="3561240" y="1421134"/>
              <a:ext cx="1113433" cy="376963"/>
            </a:xfrm>
            <a:prstGeom prst="rect">
              <a:avLst/>
            </a:prstGeom>
            <a:noFill/>
          </p:spPr>
          <p:txBody>
            <a:bodyPr wrap="none" rtlCol="0">
              <a:spAutoFit/>
            </a:bodyPr>
            <a:lstStyle/>
            <a:p>
              <a:r>
                <a:rPr kumimoji="1" lang="en-US" altLang="zh-CN" sz="1600" dirty="0">
                  <a:latin typeface="+mj-ea"/>
                  <a:ea typeface="+mj-ea"/>
                </a:rPr>
                <a:t>SQL</a:t>
              </a:r>
              <a:r>
                <a:rPr kumimoji="1" lang="zh-CN" altLang="en-US" sz="1600" dirty="0">
                  <a:latin typeface="+mj-ea"/>
                  <a:ea typeface="+mj-ea"/>
                </a:rPr>
                <a:t>查询</a:t>
              </a:r>
            </a:p>
          </p:txBody>
        </p:sp>
        <p:cxnSp>
          <p:nvCxnSpPr>
            <p:cNvPr id="80" name="直线箭头连接符 79">
              <a:extLst>
                <a:ext uri="{FF2B5EF4-FFF2-40B4-BE49-F238E27FC236}">
                  <a16:creationId xmlns:a16="http://schemas.microsoft.com/office/drawing/2014/main" id="{275D30A8-934C-BF45-11EE-9257143AC89A}"/>
                </a:ext>
              </a:extLst>
            </p:cNvPr>
            <p:cNvCxnSpPr>
              <a:cxnSpLocks/>
            </p:cNvCxnSpPr>
            <p:nvPr/>
          </p:nvCxnSpPr>
          <p:spPr bwMode="auto">
            <a:xfrm>
              <a:off x="3483752" y="1481036"/>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103408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18">
            <a:extLst>
              <a:ext uri="{FF2B5EF4-FFF2-40B4-BE49-F238E27FC236}">
                <a16:creationId xmlns:a16="http://schemas.microsoft.com/office/drawing/2014/main" id="{EED26D2E-7A3F-4F10-BD9D-CEBB2C6CD655}"/>
              </a:ext>
            </a:extLst>
          </p:cNvPr>
          <p:cNvSpPr/>
          <p:nvPr/>
        </p:nvSpPr>
        <p:spPr>
          <a:xfrm>
            <a:off x="1611444" y="1633928"/>
            <a:ext cx="8979108" cy="379251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26115D46-F439-331B-9105-E6C937B0EDE2}"/>
              </a:ext>
            </a:extLst>
          </p:cNvPr>
          <p:cNvSpPr>
            <a:spLocks noGrp="1"/>
          </p:cNvSpPr>
          <p:nvPr>
            <p:ph type="sldNum" sz="quarter" idx="10"/>
          </p:nvPr>
        </p:nvSpPr>
        <p:spPr/>
        <p:txBody>
          <a:bodyPr/>
          <a:lstStyle/>
          <a:p>
            <a:fld id="{4B0D34C0-35A8-654C-9FBA-7B4E017BD630}" type="slidenum">
              <a:rPr lang="en-US" altLang="zh-CN" smtClean="0"/>
              <a:t>4</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1</a:t>
            </a:r>
            <a:r>
              <a:rPr kumimoji="1" lang="zh-CN" altLang="en-US" dirty="0"/>
              <a:t>、逻辑优化（查询重写）</a:t>
            </a:r>
          </a:p>
        </p:txBody>
      </p:sp>
      <p:sp>
        <p:nvSpPr>
          <p:cNvPr id="7" name="页脚占位符 6">
            <a:extLst>
              <a:ext uri="{FF2B5EF4-FFF2-40B4-BE49-F238E27FC236}">
                <a16:creationId xmlns:a16="http://schemas.microsoft.com/office/drawing/2014/main" id="{84E59C09-C173-426D-DAC7-1C3D5EC7FCAB}"/>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grpSp>
        <p:nvGrpSpPr>
          <p:cNvPr id="11" name="组合 10"/>
          <p:cNvGrpSpPr/>
          <p:nvPr/>
        </p:nvGrpSpPr>
        <p:grpSpPr>
          <a:xfrm>
            <a:off x="1768840" y="1859621"/>
            <a:ext cx="8649325" cy="3362170"/>
            <a:chOff x="0" y="1235794"/>
            <a:chExt cx="11877388" cy="4616984"/>
          </a:xfrm>
        </p:grpSpPr>
        <p:pic>
          <p:nvPicPr>
            <p:cNvPr id="8" name="图片 7">
              <a:extLst>
                <a:ext uri="{FF2B5EF4-FFF2-40B4-BE49-F238E27FC236}">
                  <a16:creationId xmlns:a16="http://schemas.microsoft.com/office/drawing/2014/main" id="{B2F55B08-6A1C-FD19-B1AB-02FF1AA9B967}"/>
                </a:ext>
              </a:extLst>
            </p:cNvPr>
            <p:cNvPicPr>
              <a:picLocks noChangeAspect="1"/>
            </p:cNvPicPr>
            <p:nvPr/>
          </p:nvPicPr>
          <p:blipFill>
            <a:blip r:embed="rId3"/>
            <a:stretch>
              <a:fillRect/>
            </a:stretch>
          </p:blipFill>
          <p:spPr>
            <a:xfrm>
              <a:off x="0" y="1270532"/>
              <a:ext cx="5479485" cy="3498666"/>
            </a:xfrm>
            <a:prstGeom prst="rect">
              <a:avLst/>
            </a:prstGeom>
          </p:spPr>
        </p:pic>
        <p:sp>
          <p:nvSpPr>
            <p:cNvPr id="9" name="右箭头 8">
              <a:extLst>
                <a:ext uri="{FF2B5EF4-FFF2-40B4-BE49-F238E27FC236}">
                  <a16:creationId xmlns:a16="http://schemas.microsoft.com/office/drawing/2014/main" id="{5EA5CC89-DF09-3C6A-4A5D-4C4F1162D9BC}"/>
                </a:ext>
              </a:extLst>
            </p:cNvPr>
            <p:cNvSpPr/>
            <p:nvPr/>
          </p:nvSpPr>
          <p:spPr bwMode="auto">
            <a:xfrm>
              <a:off x="5640405" y="2666190"/>
              <a:ext cx="600651" cy="488482"/>
            </a:xfrm>
            <a:prstGeom prst="rightArrow">
              <a:avLst/>
            </a:prstGeom>
            <a:noFill/>
            <a:ln w="38100" cap="flat" cmpd="sng" algn="ctr">
              <a:solidFill>
                <a:schemeClr val="tx1">
                  <a:lumMod val="50000"/>
                  <a:lumOff val="50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10" name="图片 9">
              <a:extLst>
                <a:ext uri="{FF2B5EF4-FFF2-40B4-BE49-F238E27FC236}">
                  <a16:creationId xmlns:a16="http://schemas.microsoft.com/office/drawing/2014/main" id="{93F052AB-47FA-095D-E52C-5FF682695965}"/>
                </a:ext>
              </a:extLst>
            </p:cNvPr>
            <p:cNvPicPr>
              <a:picLocks noChangeAspect="1"/>
            </p:cNvPicPr>
            <p:nvPr/>
          </p:nvPicPr>
          <p:blipFill>
            <a:blip r:embed="rId4"/>
            <a:stretch>
              <a:fillRect/>
            </a:stretch>
          </p:blipFill>
          <p:spPr>
            <a:xfrm>
              <a:off x="6551598" y="1235794"/>
              <a:ext cx="5325790" cy="3607079"/>
            </a:xfrm>
            <a:prstGeom prst="rect">
              <a:avLst/>
            </a:prstGeom>
          </p:spPr>
        </p:pic>
        <p:pic>
          <p:nvPicPr>
            <p:cNvPr id="4" name="图片 3">
              <a:extLst>
                <a:ext uri="{FF2B5EF4-FFF2-40B4-BE49-F238E27FC236}">
                  <a16:creationId xmlns:a16="http://schemas.microsoft.com/office/drawing/2014/main" id="{14AD9460-24D9-CB2E-E3D8-09CDC878FA16}"/>
                </a:ext>
              </a:extLst>
            </p:cNvPr>
            <p:cNvPicPr>
              <a:picLocks noChangeAspect="1"/>
            </p:cNvPicPr>
            <p:nvPr/>
          </p:nvPicPr>
          <p:blipFill>
            <a:blip r:embed="rId5"/>
            <a:stretch>
              <a:fillRect/>
            </a:stretch>
          </p:blipFill>
          <p:spPr>
            <a:xfrm>
              <a:off x="1917827" y="4942051"/>
              <a:ext cx="7772400" cy="315546"/>
            </a:xfrm>
            <a:prstGeom prst="rect">
              <a:avLst/>
            </a:prstGeom>
          </p:spPr>
        </p:pic>
        <p:sp>
          <p:nvSpPr>
            <p:cNvPr id="5" name="右箭头 4">
              <a:extLst>
                <a:ext uri="{FF2B5EF4-FFF2-40B4-BE49-F238E27FC236}">
                  <a16:creationId xmlns:a16="http://schemas.microsoft.com/office/drawing/2014/main" id="{A4E99C28-45E1-30E8-241D-827E76C8F4B7}"/>
                </a:ext>
              </a:extLst>
            </p:cNvPr>
            <p:cNvSpPr/>
            <p:nvPr/>
          </p:nvSpPr>
          <p:spPr bwMode="auto">
            <a:xfrm>
              <a:off x="1327413" y="5483945"/>
              <a:ext cx="285813" cy="232439"/>
            </a:xfrm>
            <a:prstGeom prst="rightArrow">
              <a:avLst/>
            </a:prstGeom>
            <a:noFill/>
            <a:ln w="38100" cap="flat" cmpd="sng" algn="ctr">
              <a:solidFill>
                <a:schemeClr val="tx1">
                  <a:lumMod val="50000"/>
                  <a:lumOff val="50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6" name="图片 5">
              <a:extLst>
                <a:ext uri="{FF2B5EF4-FFF2-40B4-BE49-F238E27FC236}">
                  <a16:creationId xmlns:a16="http://schemas.microsoft.com/office/drawing/2014/main" id="{2F20CA8E-06E3-DCF7-9A8E-B8704DCFE7C6}"/>
                </a:ext>
              </a:extLst>
            </p:cNvPr>
            <p:cNvPicPr>
              <a:picLocks noChangeAspect="1"/>
            </p:cNvPicPr>
            <p:nvPr/>
          </p:nvPicPr>
          <p:blipFill>
            <a:blip r:embed="rId6"/>
            <a:stretch>
              <a:fillRect/>
            </a:stretch>
          </p:blipFill>
          <p:spPr>
            <a:xfrm>
              <a:off x="1917828" y="5533233"/>
              <a:ext cx="5533176" cy="319545"/>
            </a:xfrm>
            <a:prstGeom prst="rect">
              <a:avLst/>
            </a:prstGeom>
          </p:spPr>
        </p:pic>
      </p:grpSp>
    </p:spTree>
    <p:extLst>
      <p:ext uri="{BB962C8B-B14F-4D97-AF65-F5344CB8AC3E}">
        <p14:creationId xmlns:p14="http://schemas.microsoft.com/office/powerpoint/2010/main" val="296382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18">
            <a:extLst>
              <a:ext uri="{FF2B5EF4-FFF2-40B4-BE49-F238E27FC236}">
                <a16:creationId xmlns:a16="http://schemas.microsoft.com/office/drawing/2014/main" id="{EED26D2E-7A3F-4F10-BD9D-CEBB2C6CD655}"/>
              </a:ext>
            </a:extLst>
          </p:cNvPr>
          <p:cNvSpPr/>
          <p:nvPr/>
        </p:nvSpPr>
        <p:spPr>
          <a:xfrm>
            <a:off x="2121585" y="1491521"/>
            <a:ext cx="7944307" cy="445208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0C4232A6-4B4F-FA9C-2E6E-96F70B0C9E4C}"/>
              </a:ext>
            </a:extLst>
          </p:cNvPr>
          <p:cNvSpPr>
            <a:spLocks noGrp="1"/>
          </p:cNvSpPr>
          <p:nvPr>
            <p:ph type="sldNum" sz="quarter" idx="10"/>
          </p:nvPr>
        </p:nvSpPr>
        <p:spPr/>
        <p:txBody>
          <a:bodyPr/>
          <a:lstStyle/>
          <a:p>
            <a:fld id="{4B0D34C0-35A8-654C-9FBA-7B4E017BD630}" type="slidenum">
              <a:rPr lang="en-US" altLang="zh-CN" smtClean="0"/>
              <a:t>5</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2</a:t>
            </a:r>
            <a:r>
              <a:rPr kumimoji="1" lang="zh-CN" altLang="en-US" dirty="0"/>
              <a:t>、物理优化</a:t>
            </a:r>
          </a:p>
        </p:txBody>
      </p:sp>
      <p:sp>
        <p:nvSpPr>
          <p:cNvPr id="4" name="页脚占位符 3">
            <a:extLst>
              <a:ext uri="{FF2B5EF4-FFF2-40B4-BE49-F238E27FC236}">
                <a16:creationId xmlns:a16="http://schemas.microsoft.com/office/drawing/2014/main" id="{5ED5430C-C5DE-8BB8-6EDE-183AAC8FF489}"/>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grpSp>
        <p:nvGrpSpPr>
          <p:cNvPr id="5" name="组合 4"/>
          <p:cNvGrpSpPr/>
          <p:nvPr/>
        </p:nvGrpSpPr>
        <p:grpSpPr>
          <a:xfrm>
            <a:off x="3186600" y="1608137"/>
            <a:ext cx="6049384" cy="4120217"/>
            <a:chOff x="2729403" y="1246637"/>
            <a:chExt cx="7107703" cy="4841035"/>
          </a:xfrm>
        </p:grpSpPr>
        <p:sp>
          <p:nvSpPr>
            <p:cNvPr id="20" name="矩形 19">
              <a:extLst>
                <a:ext uri="{FF2B5EF4-FFF2-40B4-BE49-F238E27FC236}">
                  <a16:creationId xmlns:a16="http://schemas.microsoft.com/office/drawing/2014/main" id="{932FA097-0922-A197-9B06-584E313100C7}"/>
                </a:ext>
              </a:extLst>
            </p:cNvPr>
            <p:cNvSpPr/>
            <p:nvPr/>
          </p:nvSpPr>
          <p:spPr bwMode="auto">
            <a:xfrm>
              <a:off x="2729404" y="2826090"/>
              <a:ext cx="2293753" cy="470108"/>
            </a:xfrm>
            <a:prstGeom prst="rect">
              <a:avLst/>
            </a:prstGeom>
            <a:ln>
              <a:solidFill>
                <a:schemeClr val="tx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kumimoji="1" lang="zh-CN" altLang="en-US" sz="2000" dirty="0">
                  <a:latin typeface="+mj-ea"/>
                  <a:ea typeface="+mj-ea"/>
                </a:rPr>
                <a:t>逻辑优化</a:t>
              </a:r>
            </a:p>
          </p:txBody>
        </p:sp>
        <p:sp>
          <p:nvSpPr>
            <p:cNvPr id="21" name="矩形 20">
              <a:extLst>
                <a:ext uri="{FF2B5EF4-FFF2-40B4-BE49-F238E27FC236}">
                  <a16:creationId xmlns:a16="http://schemas.microsoft.com/office/drawing/2014/main" id="{06CE5FCD-285A-2394-5CD8-114EF4E09778}"/>
                </a:ext>
              </a:extLst>
            </p:cNvPr>
            <p:cNvSpPr/>
            <p:nvPr/>
          </p:nvSpPr>
          <p:spPr bwMode="auto">
            <a:xfrm>
              <a:off x="2729407" y="3910377"/>
              <a:ext cx="2293753" cy="470108"/>
            </a:xfrm>
            <a:prstGeom prst="rect">
              <a:avLst/>
            </a:prstGeom>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kumimoji="1" lang="zh-CN" altLang="en-US" sz="2000" dirty="0">
                  <a:solidFill>
                    <a:srgbClr val="743481"/>
                  </a:solidFill>
                  <a:latin typeface="+mj-ea"/>
                  <a:ea typeface="+mj-ea"/>
                </a:rPr>
                <a:t>物理优化</a:t>
              </a:r>
            </a:p>
          </p:txBody>
        </p:sp>
        <p:sp>
          <p:nvSpPr>
            <p:cNvPr id="22" name="矩形 21">
              <a:extLst>
                <a:ext uri="{FF2B5EF4-FFF2-40B4-BE49-F238E27FC236}">
                  <a16:creationId xmlns:a16="http://schemas.microsoft.com/office/drawing/2014/main" id="{48A1EB77-A666-820D-44EB-A3B6E00F7DD5}"/>
                </a:ext>
              </a:extLst>
            </p:cNvPr>
            <p:cNvSpPr/>
            <p:nvPr/>
          </p:nvSpPr>
          <p:spPr bwMode="auto">
            <a:xfrm>
              <a:off x="2729403" y="4994663"/>
              <a:ext cx="2293753" cy="470108"/>
            </a:xfrm>
            <a:prstGeom prst="rect">
              <a:avLst/>
            </a:prstGeom>
            <a:ln>
              <a:solidFill>
                <a:schemeClr val="tx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dirty="0">
                  <a:latin typeface="+mj-ea"/>
                  <a:ea typeface="+mj-ea"/>
                </a:rPr>
                <a:t>查询执行</a:t>
              </a:r>
              <a:endParaRPr kumimoji="1" lang="zh-CN" altLang="en-US" sz="2000" b="0" i="0" u="none" strike="noStrike" cap="none" normalizeH="0" baseline="0" dirty="0">
                <a:ln>
                  <a:noFill/>
                </a:ln>
                <a:solidFill>
                  <a:schemeClr val="tx1"/>
                </a:solidFill>
                <a:effectLst/>
                <a:latin typeface="+mj-ea"/>
                <a:ea typeface="+mj-ea"/>
              </a:endParaRPr>
            </a:p>
          </p:txBody>
        </p:sp>
        <p:sp>
          <p:nvSpPr>
            <p:cNvPr id="23" name="矩形 22">
              <a:extLst>
                <a:ext uri="{FF2B5EF4-FFF2-40B4-BE49-F238E27FC236}">
                  <a16:creationId xmlns:a16="http://schemas.microsoft.com/office/drawing/2014/main" id="{76A5E1F2-DD30-698D-48DB-924BD2515502}"/>
                </a:ext>
              </a:extLst>
            </p:cNvPr>
            <p:cNvSpPr/>
            <p:nvPr/>
          </p:nvSpPr>
          <p:spPr bwMode="auto">
            <a:xfrm>
              <a:off x="2729407" y="1741804"/>
              <a:ext cx="2293753" cy="470108"/>
            </a:xfrm>
            <a:prstGeom prst="rect">
              <a:avLst/>
            </a:prstGeom>
            <a:ln>
              <a:solidFill>
                <a:schemeClr val="tx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dirty="0">
                  <a:latin typeface="+mj-ea"/>
                  <a:ea typeface="+mj-ea"/>
                </a:rPr>
                <a:t>查询解析</a:t>
              </a:r>
              <a:endParaRPr kumimoji="1" lang="zh-CN" altLang="en-US" sz="2000" b="0" i="0" u="none" strike="noStrike" cap="none" normalizeH="0" baseline="0" dirty="0">
                <a:ln>
                  <a:noFill/>
                </a:ln>
                <a:solidFill>
                  <a:schemeClr val="tx1"/>
                </a:solidFill>
                <a:effectLst/>
                <a:latin typeface="+mj-ea"/>
                <a:ea typeface="+mj-ea"/>
              </a:endParaRPr>
            </a:p>
          </p:txBody>
        </p:sp>
        <p:sp>
          <p:nvSpPr>
            <p:cNvPr id="24" name="文本框 23">
              <a:extLst>
                <a:ext uri="{FF2B5EF4-FFF2-40B4-BE49-F238E27FC236}">
                  <a16:creationId xmlns:a16="http://schemas.microsoft.com/office/drawing/2014/main" id="{839118DD-DAB6-43A9-CAF5-8D370690E38B}"/>
                </a:ext>
              </a:extLst>
            </p:cNvPr>
            <p:cNvSpPr txBox="1"/>
            <p:nvPr/>
          </p:nvSpPr>
          <p:spPr>
            <a:xfrm>
              <a:off x="3953764" y="2326577"/>
              <a:ext cx="940215" cy="397783"/>
            </a:xfrm>
            <a:prstGeom prst="rect">
              <a:avLst/>
            </a:prstGeom>
            <a:noFill/>
          </p:spPr>
          <p:txBody>
            <a:bodyPr wrap="none" rtlCol="0">
              <a:spAutoFit/>
            </a:bodyPr>
            <a:lstStyle/>
            <a:p>
              <a:r>
                <a:rPr kumimoji="1" lang="zh-CN" altLang="en-US" sz="1600" dirty="0">
                  <a:latin typeface="+mj-ea"/>
                  <a:ea typeface="+mj-ea"/>
                </a:rPr>
                <a:t>查询树</a:t>
              </a:r>
            </a:p>
          </p:txBody>
        </p:sp>
        <p:cxnSp>
          <p:nvCxnSpPr>
            <p:cNvPr id="25" name="直线箭头连接符 24">
              <a:extLst>
                <a:ext uri="{FF2B5EF4-FFF2-40B4-BE49-F238E27FC236}">
                  <a16:creationId xmlns:a16="http://schemas.microsoft.com/office/drawing/2014/main" id="{09B3267E-D0CC-D733-9CFE-9B8C57E023FB}"/>
                </a:ext>
              </a:extLst>
            </p:cNvPr>
            <p:cNvCxnSpPr>
              <a:cxnSpLocks/>
            </p:cNvCxnSpPr>
            <p:nvPr/>
          </p:nvCxnSpPr>
          <p:spPr bwMode="auto">
            <a:xfrm>
              <a:off x="3876276" y="2386480"/>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6" name="文本框 25">
              <a:extLst>
                <a:ext uri="{FF2B5EF4-FFF2-40B4-BE49-F238E27FC236}">
                  <a16:creationId xmlns:a16="http://schemas.microsoft.com/office/drawing/2014/main" id="{AE545CD9-7C1C-DA98-53E3-8ECAAE597927}"/>
                </a:ext>
              </a:extLst>
            </p:cNvPr>
            <p:cNvSpPr txBox="1"/>
            <p:nvPr/>
          </p:nvSpPr>
          <p:spPr>
            <a:xfrm>
              <a:off x="3953764" y="3445177"/>
              <a:ext cx="1663456" cy="397783"/>
            </a:xfrm>
            <a:prstGeom prst="rect">
              <a:avLst/>
            </a:prstGeom>
            <a:noFill/>
          </p:spPr>
          <p:txBody>
            <a:bodyPr wrap="none" rtlCol="0">
              <a:spAutoFit/>
            </a:bodyPr>
            <a:lstStyle/>
            <a:p>
              <a:r>
                <a:rPr kumimoji="1" lang="zh-CN" altLang="en-US" sz="1600" dirty="0">
                  <a:latin typeface="+mj-ea"/>
                  <a:ea typeface="+mj-ea"/>
                </a:rPr>
                <a:t>逻辑执行计划</a:t>
              </a:r>
            </a:p>
          </p:txBody>
        </p:sp>
        <p:cxnSp>
          <p:nvCxnSpPr>
            <p:cNvPr id="27" name="直线箭头连接符 26">
              <a:extLst>
                <a:ext uri="{FF2B5EF4-FFF2-40B4-BE49-F238E27FC236}">
                  <a16:creationId xmlns:a16="http://schemas.microsoft.com/office/drawing/2014/main" id="{3D0E18DB-993B-0970-406D-68432A1B5B77}"/>
                </a:ext>
              </a:extLst>
            </p:cNvPr>
            <p:cNvCxnSpPr>
              <a:cxnSpLocks/>
            </p:cNvCxnSpPr>
            <p:nvPr/>
          </p:nvCxnSpPr>
          <p:spPr bwMode="auto">
            <a:xfrm>
              <a:off x="3876276" y="3505079"/>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8" name="文本框 27">
              <a:extLst>
                <a:ext uri="{FF2B5EF4-FFF2-40B4-BE49-F238E27FC236}">
                  <a16:creationId xmlns:a16="http://schemas.microsoft.com/office/drawing/2014/main" id="{A81F4860-427F-6627-F151-1416B051036B}"/>
                </a:ext>
              </a:extLst>
            </p:cNvPr>
            <p:cNvSpPr txBox="1"/>
            <p:nvPr/>
          </p:nvSpPr>
          <p:spPr>
            <a:xfrm>
              <a:off x="3953764" y="4520742"/>
              <a:ext cx="1663456" cy="397783"/>
            </a:xfrm>
            <a:prstGeom prst="rect">
              <a:avLst/>
            </a:prstGeom>
            <a:noFill/>
          </p:spPr>
          <p:txBody>
            <a:bodyPr wrap="none" rtlCol="0">
              <a:spAutoFit/>
            </a:bodyPr>
            <a:lstStyle/>
            <a:p>
              <a:r>
                <a:rPr kumimoji="1" lang="zh-CN" altLang="en-US" sz="1600" dirty="0">
                  <a:latin typeface="+mj-ea"/>
                  <a:ea typeface="+mj-ea"/>
                </a:rPr>
                <a:t>物理执行计划</a:t>
              </a:r>
            </a:p>
          </p:txBody>
        </p:sp>
        <p:cxnSp>
          <p:nvCxnSpPr>
            <p:cNvPr id="29" name="直线箭头连接符 28">
              <a:extLst>
                <a:ext uri="{FF2B5EF4-FFF2-40B4-BE49-F238E27FC236}">
                  <a16:creationId xmlns:a16="http://schemas.microsoft.com/office/drawing/2014/main" id="{9FA5B993-6AD6-3657-50E1-A4F3769BA770}"/>
                </a:ext>
              </a:extLst>
            </p:cNvPr>
            <p:cNvCxnSpPr>
              <a:cxnSpLocks/>
            </p:cNvCxnSpPr>
            <p:nvPr/>
          </p:nvCxnSpPr>
          <p:spPr bwMode="auto">
            <a:xfrm>
              <a:off x="3876276" y="4580644"/>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0" name="文本框 29">
              <a:extLst>
                <a:ext uri="{FF2B5EF4-FFF2-40B4-BE49-F238E27FC236}">
                  <a16:creationId xmlns:a16="http://schemas.microsoft.com/office/drawing/2014/main" id="{2AE3CBD6-E89C-A5AE-9B50-27B33094D240}"/>
                </a:ext>
              </a:extLst>
            </p:cNvPr>
            <p:cNvSpPr txBox="1"/>
            <p:nvPr/>
          </p:nvSpPr>
          <p:spPr>
            <a:xfrm>
              <a:off x="3940404" y="5648062"/>
              <a:ext cx="1181295" cy="397783"/>
            </a:xfrm>
            <a:prstGeom prst="rect">
              <a:avLst/>
            </a:prstGeom>
            <a:noFill/>
          </p:spPr>
          <p:txBody>
            <a:bodyPr wrap="none" rtlCol="0">
              <a:spAutoFit/>
            </a:bodyPr>
            <a:lstStyle/>
            <a:p>
              <a:r>
                <a:rPr kumimoji="1" lang="zh-CN" altLang="en-US" sz="1600" dirty="0">
                  <a:latin typeface="+mj-ea"/>
                  <a:ea typeface="+mj-ea"/>
                </a:rPr>
                <a:t>查询结果</a:t>
              </a:r>
            </a:p>
          </p:txBody>
        </p:sp>
        <p:cxnSp>
          <p:nvCxnSpPr>
            <p:cNvPr id="31" name="直线箭头连接符 30">
              <a:extLst>
                <a:ext uri="{FF2B5EF4-FFF2-40B4-BE49-F238E27FC236}">
                  <a16:creationId xmlns:a16="http://schemas.microsoft.com/office/drawing/2014/main" id="{2FD2D930-DE33-E391-7726-8DF982C6A1C9}"/>
                </a:ext>
              </a:extLst>
            </p:cNvPr>
            <p:cNvCxnSpPr>
              <a:cxnSpLocks/>
            </p:cNvCxnSpPr>
            <p:nvPr/>
          </p:nvCxnSpPr>
          <p:spPr bwMode="auto">
            <a:xfrm>
              <a:off x="3862916" y="5707964"/>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2" name="左大括号 31">
              <a:extLst>
                <a:ext uri="{FF2B5EF4-FFF2-40B4-BE49-F238E27FC236}">
                  <a16:creationId xmlns:a16="http://schemas.microsoft.com/office/drawing/2014/main" id="{9B6F22EA-B483-B514-DAE2-80D192D7B25E}"/>
                </a:ext>
              </a:extLst>
            </p:cNvPr>
            <p:cNvSpPr/>
            <p:nvPr/>
          </p:nvSpPr>
          <p:spPr bwMode="auto">
            <a:xfrm>
              <a:off x="5749989" y="2447474"/>
              <a:ext cx="612000" cy="2556000"/>
            </a:xfrm>
            <a:prstGeom prst="leftBrace">
              <a:avLst>
                <a:gd name="adj1" fmla="val 33333"/>
                <a:gd name="adj2" fmla="val 50000"/>
              </a:avLst>
            </a:prstGeom>
            <a:no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rgbClr val="CD3300"/>
                </a:solidFill>
                <a:effectLst/>
                <a:latin typeface="Times New Roman" pitchFamily="18" charset="0"/>
                <a:ea typeface="华文楷体" pitchFamily="2" charset="-122"/>
              </a:endParaRPr>
            </a:p>
          </p:txBody>
        </p:sp>
        <p:sp>
          <p:nvSpPr>
            <p:cNvPr id="39" name="矩形 38">
              <a:extLst>
                <a:ext uri="{FF2B5EF4-FFF2-40B4-BE49-F238E27FC236}">
                  <a16:creationId xmlns:a16="http://schemas.microsoft.com/office/drawing/2014/main" id="{5EA874FD-B2BC-E91D-5456-CA09B6B79B1B}"/>
                </a:ext>
              </a:extLst>
            </p:cNvPr>
            <p:cNvSpPr/>
            <p:nvPr/>
          </p:nvSpPr>
          <p:spPr>
            <a:xfrm>
              <a:off x="6365544" y="2439529"/>
              <a:ext cx="3471562" cy="2639834"/>
            </a:xfrm>
            <a:prstGeom prst="rect">
              <a:avLst/>
            </a:prstGeom>
          </p:spPr>
          <p:txBody>
            <a:bodyPr wrap="none">
              <a:spAutoFit/>
            </a:bodyPr>
            <a:lstStyle/>
            <a:p>
              <a:pPr marL="457200" indent="-457200" fontAlgn="base">
                <a:spcBef>
                  <a:spcPct val="50000"/>
                </a:spcBef>
                <a:spcAft>
                  <a:spcPct val="0"/>
                </a:spcAft>
                <a:buFont typeface="Wingdings" pitchFamily="2" charset="2"/>
                <a:buChar char="p"/>
              </a:pPr>
              <a:r>
                <a:rPr kumimoji="1" lang="zh-CN" altLang="en-US" sz="2000" b="1" dirty="0">
                  <a:solidFill>
                    <a:srgbClr val="743481"/>
                  </a:solidFill>
                  <a:latin typeface="+mj-ea"/>
                  <a:ea typeface="+mj-ea"/>
                </a:rPr>
                <a:t>枚举候选物理计划</a:t>
              </a:r>
              <a:endParaRPr kumimoji="1" lang="en-US" altLang="zh-CN" sz="2000" b="1" dirty="0">
                <a:solidFill>
                  <a:srgbClr val="743481"/>
                </a:solidFill>
                <a:latin typeface="+mj-ea"/>
                <a:ea typeface="+mj-ea"/>
              </a:endParaRPr>
            </a:p>
            <a:p>
              <a:pPr marL="457200" indent="-457200" fontAlgn="base">
                <a:spcBef>
                  <a:spcPct val="50000"/>
                </a:spcBef>
                <a:spcAft>
                  <a:spcPct val="0"/>
                </a:spcAft>
                <a:buFont typeface="Wingdings" pitchFamily="2" charset="2"/>
                <a:buChar char="p"/>
              </a:pPr>
              <a:endParaRPr kumimoji="1" lang="en-US" altLang="zh-CN" sz="2000" b="1" dirty="0">
                <a:solidFill>
                  <a:srgbClr val="743481"/>
                </a:solidFill>
                <a:latin typeface="+mj-ea"/>
                <a:ea typeface="+mj-ea"/>
              </a:endParaRPr>
            </a:p>
            <a:p>
              <a:pPr marL="457200" indent="-457200" fontAlgn="base">
                <a:spcBef>
                  <a:spcPct val="50000"/>
                </a:spcBef>
                <a:spcAft>
                  <a:spcPct val="0"/>
                </a:spcAft>
                <a:buFont typeface="Wingdings" pitchFamily="2" charset="2"/>
                <a:buChar char="p"/>
              </a:pPr>
              <a:r>
                <a:rPr kumimoji="1" lang="zh-CN" altLang="en-US" sz="2000" b="1" dirty="0">
                  <a:solidFill>
                    <a:srgbClr val="743481"/>
                  </a:solidFill>
                  <a:latin typeface="+mj-ea"/>
                  <a:ea typeface="+mj-ea"/>
                </a:rPr>
                <a:t>计算每个计划的代价</a:t>
              </a:r>
              <a:endParaRPr kumimoji="1" lang="en-US" altLang="zh-CN" sz="2000" b="1" dirty="0">
                <a:solidFill>
                  <a:srgbClr val="743481"/>
                </a:solidFill>
                <a:latin typeface="+mj-ea"/>
                <a:ea typeface="+mj-ea"/>
              </a:endParaRPr>
            </a:p>
            <a:p>
              <a:pPr marL="457200" indent="-457200" fontAlgn="base">
                <a:spcBef>
                  <a:spcPct val="50000"/>
                </a:spcBef>
                <a:spcAft>
                  <a:spcPct val="0"/>
                </a:spcAft>
                <a:buFont typeface="Wingdings" pitchFamily="2" charset="2"/>
                <a:buChar char="p"/>
              </a:pPr>
              <a:endParaRPr kumimoji="1" lang="en-US" altLang="zh-CN" sz="2000" b="1" dirty="0">
                <a:solidFill>
                  <a:srgbClr val="743481"/>
                </a:solidFill>
                <a:latin typeface="+mj-ea"/>
                <a:ea typeface="+mj-ea"/>
              </a:endParaRPr>
            </a:p>
            <a:p>
              <a:pPr marL="457200" indent="-457200" fontAlgn="base">
                <a:spcBef>
                  <a:spcPct val="50000"/>
                </a:spcBef>
                <a:spcAft>
                  <a:spcPct val="0"/>
                </a:spcAft>
                <a:buFont typeface="Wingdings" pitchFamily="2" charset="2"/>
                <a:buChar char="p"/>
              </a:pPr>
              <a:r>
                <a:rPr kumimoji="1" lang="zh-CN" altLang="en-US" sz="2000" b="1" dirty="0">
                  <a:solidFill>
                    <a:srgbClr val="743481"/>
                  </a:solidFill>
                  <a:latin typeface="+mj-ea"/>
                  <a:ea typeface="+mj-ea"/>
                </a:rPr>
                <a:t>选择代价最小的计划</a:t>
              </a:r>
            </a:p>
          </p:txBody>
        </p:sp>
        <p:sp>
          <p:nvSpPr>
            <p:cNvPr id="40" name="文本框 39">
              <a:extLst>
                <a:ext uri="{FF2B5EF4-FFF2-40B4-BE49-F238E27FC236}">
                  <a16:creationId xmlns:a16="http://schemas.microsoft.com/office/drawing/2014/main" id="{2B9A60BD-3C59-968A-330D-E936E3EB2782}"/>
                </a:ext>
              </a:extLst>
            </p:cNvPr>
            <p:cNvSpPr txBox="1"/>
            <p:nvPr/>
          </p:nvSpPr>
          <p:spPr>
            <a:xfrm>
              <a:off x="3940404" y="1246637"/>
              <a:ext cx="1158694" cy="397783"/>
            </a:xfrm>
            <a:prstGeom prst="rect">
              <a:avLst/>
            </a:prstGeom>
            <a:noFill/>
          </p:spPr>
          <p:txBody>
            <a:bodyPr wrap="none" rtlCol="0">
              <a:spAutoFit/>
            </a:bodyPr>
            <a:lstStyle/>
            <a:p>
              <a:r>
                <a:rPr kumimoji="1" lang="en-US" altLang="zh-CN" sz="1600" dirty="0">
                  <a:latin typeface="+mj-ea"/>
                  <a:ea typeface="+mj-ea"/>
                </a:rPr>
                <a:t>SQL</a:t>
              </a:r>
              <a:r>
                <a:rPr kumimoji="1" lang="zh-CN" altLang="en-US" sz="1600" dirty="0">
                  <a:latin typeface="+mj-ea"/>
                  <a:ea typeface="+mj-ea"/>
                </a:rPr>
                <a:t>查询</a:t>
              </a:r>
            </a:p>
          </p:txBody>
        </p:sp>
        <p:cxnSp>
          <p:nvCxnSpPr>
            <p:cNvPr id="41" name="直线箭头连接符 40">
              <a:extLst>
                <a:ext uri="{FF2B5EF4-FFF2-40B4-BE49-F238E27FC236}">
                  <a16:creationId xmlns:a16="http://schemas.microsoft.com/office/drawing/2014/main" id="{0BCBD2E3-868E-5732-9442-DBDBF657DEF7}"/>
                </a:ext>
              </a:extLst>
            </p:cNvPr>
            <p:cNvCxnSpPr>
              <a:cxnSpLocks/>
            </p:cNvCxnSpPr>
            <p:nvPr/>
          </p:nvCxnSpPr>
          <p:spPr bwMode="auto">
            <a:xfrm>
              <a:off x="3862916" y="1306539"/>
              <a:ext cx="0" cy="379708"/>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4233815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EED26D2E-7A3F-4F10-BD9D-CEBB2C6CD655}"/>
              </a:ext>
            </a:extLst>
          </p:cNvPr>
          <p:cNvSpPr/>
          <p:nvPr/>
        </p:nvSpPr>
        <p:spPr>
          <a:xfrm>
            <a:off x="1139254" y="2248524"/>
            <a:ext cx="9930984" cy="27057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101408E9-B384-7749-7908-80616C73387E}"/>
              </a:ext>
            </a:extLst>
          </p:cNvPr>
          <p:cNvSpPr>
            <a:spLocks noGrp="1"/>
          </p:cNvSpPr>
          <p:nvPr>
            <p:ph type="sldNum" sz="quarter" idx="10"/>
          </p:nvPr>
        </p:nvSpPr>
        <p:spPr/>
        <p:txBody>
          <a:bodyPr/>
          <a:lstStyle/>
          <a:p>
            <a:fld id="{4B0D34C0-35A8-654C-9FBA-7B4E017BD630}" type="slidenum">
              <a:rPr lang="en-US" altLang="zh-CN" smtClean="0"/>
              <a:t>6</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2</a:t>
            </a:r>
            <a:r>
              <a:rPr kumimoji="1" lang="zh-CN" altLang="en-US" dirty="0"/>
              <a:t>、物理优化</a:t>
            </a:r>
          </a:p>
        </p:txBody>
      </p:sp>
      <p:sp>
        <p:nvSpPr>
          <p:cNvPr id="3" name="页脚占位符 2">
            <a:extLst>
              <a:ext uri="{FF2B5EF4-FFF2-40B4-BE49-F238E27FC236}">
                <a16:creationId xmlns:a16="http://schemas.microsoft.com/office/drawing/2014/main" id="{C1222A25-5943-115E-2480-43A24CED1A59}"/>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pic>
        <p:nvPicPr>
          <p:cNvPr id="8" name="图片 7">
            <a:extLst>
              <a:ext uri="{FF2B5EF4-FFF2-40B4-BE49-F238E27FC236}">
                <a16:creationId xmlns:a16="http://schemas.microsoft.com/office/drawing/2014/main" id="{B1315E70-7CDB-0F56-DF11-182765C84CC9}"/>
              </a:ext>
            </a:extLst>
          </p:cNvPr>
          <p:cNvPicPr>
            <a:picLocks noChangeAspect="1"/>
          </p:cNvPicPr>
          <p:nvPr/>
        </p:nvPicPr>
        <p:blipFill>
          <a:blip r:embed="rId3"/>
          <a:stretch>
            <a:fillRect/>
          </a:stretch>
        </p:blipFill>
        <p:spPr>
          <a:xfrm>
            <a:off x="1469038" y="2542675"/>
            <a:ext cx="3139329" cy="2126222"/>
          </a:xfrm>
          <a:prstGeom prst="rect">
            <a:avLst/>
          </a:prstGeom>
        </p:spPr>
      </p:pic>
      <p:pic>
        <p:nvPicPr>
          <p:cNvPr id="9" name="图片 8">
            <a:extLst>
              <a:ext uri="{FF2B5EF4-FFF2-40B4-BE49-F238E27FC236}">
                <a16:creationId xmlns:a16="http://schemas.microsoft.com/office/drawing/2014/main" id="{533D2A6C-6BDC-1D6C-DA75-E79FA4409D2B}"/>
              </a:ext>
            </a:extLst>
          </p:cNvPr>
          <p:cNvPicPr>
            <a:picLocks noChangeAspect="1"/>
          </p:cNvPicPr>
          <p:nvPr/>
        </p:nvPicPr>
        <p:blipFill>
          <a:blip r:embed="rId4"/>
          <a:stretch>
            <a:fillRect/>
          </a:stretch>
        </p:blipFill>
        <p:spPr>
          <a:xfrm>
            <a:off x="5453438" y="2560542"/>
            <a:ext cx="5189586" cy="2068313"/>
          </a:xfrm>
          <a:prstGeom prst="rect">
            <a:avLst/>
          </a:prstGeom>
        </p:spPr>
      </p:pic>
      <p:sp>
        <p:nvSpPr>
          <p:cNvPr id="7" name="右箭头 6">
            <a:extLst>
              <a:ext uri="{FF2B5EF4-FFF2-40B4-BE49-F238E27FC236}">
                <a16:creationId xmlns:a16="http://schemas.microsoft.com/office/drawing/2014/main" id="{77203225-3C0E-8AA7-66F9-45122811E63B}"/>
              </a:ext>
            </a:extLst>
          </p:cNvPr>
          <p:cNvSpPr/>
          <p:nvPr/>
        </p:nvSpPr>
        <p:spPr bwMode="auto">
          <a:xfrm>
            <a:off x="4824944" y="3410686"/>
            <a:ext cx="434339" cy="353228"/>
          </a:xfrm>
          <a:prstGeom prst="rightArrow">
            <a:avLst/>
          </a:prstGeom>
          <a:solidFill>
            <a:srgbClr val="002060"/>
          </a:solid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2364713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EC0B3D31-69CB-9B56-DBC3-E997980AD1A8}"/>
              </a:ext>
            </a:extLst>
          </p:cNvPr>
          <p:cNvSpPr/>
          <p:nvPr/>
        </p:nvSpPr>
        <p:spPr>
          <a:xfrm>
            <a:off x="587375" y="3496971"/>
            <a:ext cx="7140056" cy="2215991"/>
          </a:xfrm>
          <a:prstGeom prst="rect">
            <a:avLst/>
          </a:prstGeom>
        </p:spPr>
        <p:txBody>
          <a:bodyPr wrap="square">
            <a:spAutoFit/>
          </a:bodyPr>
          <a:lstStyle/>
          <a:p>
            <a:pPr marL="342900" indent="-342900">
              <a:lnSpc>
                <a:spcPct val="150000"/>
              </a:lnSpc>
              <a:buFont typeface="Wingdings" panose="05000000000000000000" pitchFamily="2" charset="2"/>
              <a:buChar char="Ø"/>
            </a:pPr>
            <a:r>
              <a:rPr kumimoji="1" lang="zh-CN" altLang="en-US" sz="2000" b="1" dirty="0">
                <a:solidFill>
                  <a:srgbClr val="701988"/>
                </a:solidFill>
                <a:latin typeface="+mj-ea"/>
                <a:ea typeface="+mj-ea"/>
                <a:cs typeface="Arial"/>
              </a:rPr>
              <a:t>物理优化：</a:t>
            </a:r>
            <a:endParaRPr kumimoji="1" lang="en-US" altLang="zh-CN" sz="2000" b="1" dirty="0">
              <a:solidFill>
                <a:srgbClr val="701988"/>
              </a:solidFill>
              <a:latin typeface="+mj-ea"/>
              <a:ea typeface="+mj-ea"/>
              <a:cs typeface="Arial"/>
            </a:endParaRPr>
          </a:p>
          <a:p>
            <a:pPr marL="800100" lvl="1" indent="-342900">
              <a:lnSpc>
                <a:spcPct val="150000"/>
              </a:lnSpc>
              <a:buFont typeface="Arial" panose="020B0604020202020204" pitchFamily="34" charset="0"/>
              <a:buChar char="•"/>
            </a:pPr>
            <a:r>
              <a:rPr lang="zh-CN" altLang="zh-CN" kern="100" dirty="0">
                <a:effectLst/>
                <a:latin typeface="+mj-ea"/>
                <a:ea typeface="+mj-ea"/>
                <a:cs typeface="Times New Roman" panose="02020603050405020304" pitchFamily="18" charset="0"/>
              </a:rPr>
              <a:t>找出</a:t>
            </a:r>
            <a:r>
              <a:rPr lang="zh-CN" altLang="en-US" kern="100" dirty="0">
                <a:effectLst/>
                <a:latin typeface="+mj-ea"/>
                <a:ea typeface="+mj-ea"/>
                <a:cs typeface="Times New Roman" panose="02020603050405020304" pitchFamily="18" charset="0"/>
              </a:rPr>
              <a:t>代价最小的算法来执行计划</a:t>
            </a:r>
            <a:endParaRPr lang="en-US" altLang="zh-CN" kern="100" dirty="0">
              <a:effectLst/>
              <a:latin typeface="+mj-ea"/>
              <a:ea typeface="+mj-ea"/>
              <a:cs typeface="Times New Roman" panose="02020603050405020304" pitchFamily="18" charset="0"/>
            </a:endParaRPr>
          </a:p>
          <a:p>
            <a:pPr marL="800100" lvl="1" indent="-342900">
              <a:lnSpc>
                <a:spcPct val="150000"/>
              </a:lnSpc>
              <a:buFont typeface="Arial" panose="020B0604020202020204" pitchFamily="34" charset="0"/>
              <a:buChar char="•"/>
            </a:pPr>
            <a:r>
              <a:rPr lang="zh-CN" altLang="en-US" kern="100" dirty="0">
                <a:latin typeface="+mj-ea"/>
                <a:ea typeface="+mj-ea"/>
                <a:cs typeface="Times New Roman" panose="02020603050405020304" pitchFamily="18" charset="0"/>
              </a:rPr>
              <a:t>基于物理参数（如缓存大小等）</a:t>
            </a:r>
            <a:r>
              <a:rPr lang="zh-CN" altLang="zh-CN" kern="100" dirty="0">
                <a:latin typeface="+mj-ea"/>
                <a:ea typeface="+mj-ea"/>
                <a:cs typeface="Times New Roman" panose="02020603050405020304" pitchFamily="18" charset="0"/>
              </a:rPr>
              <a:t>估计数据库的数据规模（如数据块大小等）</a:t>
            </a:r>
            <a:r>
              <a:rPr lang="zh-CN" altLang="en-US" kern="100" dirty="0">
                <a:latin typeface="+mj-ea"/>
                <a:ea typeface="+mj-ea"/>
                <a:cs typeface="Times New Roman" panose="02020603050405020304" pitchFamily="18" charset="0"/>
              </a:rPr>
              <a:t>，从而</a:t>
            </a:r>
            <a:r>
              <a:rPr lang="zh-CN" altLang="zh-CN" kern="100" dirty="0">
                <a:latin typeface="+mj-ea"/>
                <a:ea typeface="+mj-ea"/>
                <a:cs typeface="Times New Roman" panose="02020603050405020304" pitchFamily="18" charset="0"/>
              </a:rPr>
              <a:t>估计计划执行的代价，并从众多候选计划中</a:t>
            </a:r>
            <a:r>
              <a:rPr lang="zh-CN" altLang="zh-CN" kern="100" dirty="0">
                <a:solidFill>
                  <a:srgbClr val="743481"/>
                </a:solidFill>
                <a:latin typeface="+mj-ea"/>
                <a:ea typeface="+mj-ea"/>
                <a:cs typeface="Times New Roman" panose="02020603050405020304" pitchFamily="18" charset="0"/>
              </a:rPr>
              <a:t>选择代价最小的计划</a:t>
            </a:r>
            <a:endParaRPr lang="zh-CN" altLang="en-US" kern="100" dirty="0">
              <a:solidFill>
                <a:srgbClr val="743481"/>
              </a:solidFill>
              <a:latin typeface="+mj-ea"/>
              <a:ea typeface="+mj-ea"/>
              <a:cs typeface="Times New Roman" panose="02020603050405020304" pitchFamily="18" charset="0"/>
            </a:endParaRPr>
          </a:p>
        </p:txBody>
      </p:sp>
      <p:sp>
        <p:nvSpPr>
          <p:cNvPr id="4" name="灯片编号占位符 3">
            <a:extLst>
              <a:ext uri="{FF2B5EF4-FFF2-40B4-BE49-F238E27FC236}">
                <a16:creationId xmlns:a16="http://schemas.microsoft.com/office/drawing/2014/main" id="{101408E9-B384-7749-7908-80616C73387E}"/>
              </a:ext>
            </a:extLst>
          </p:cNvPr>
          <p:cNvSpPr>
            <a:spLocks noGrp="1"/>
          </p:cNvSpPr>
          <p:nvPr>
            <p:ph type="sldNum" sz="quarter" idx="10"/>
          </p:nvPr>
        </p:nvSpPr>
        <p:spPr/>
        <p:txBody>
          <a:bodyPr/>
          <a:lstStyle/>
          <a:p>
            <a:fld id="{4B0D34C0-35A8-654C-9FBA-7B4E017BD630}" type="slidenum">
              <a:rPr lang="en-US" altLang="zh-CN" smtClean="0"/>
              <a:t>7</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2</a:t>
            </a:r>
            <a:r>
              <a:rPr lang="zh-CN" altLang="en-US" dirty="0"/>
              <a:t>、物理优化</a:t>
            </a:r>
            <a:endParaRPr kumimoji="1" lang="zh-CN" altLang="en-US" dirty="0"/>
          </a:p>
        </p:txBody>
      </p:sp>
      <p:sp>
        <p:nvSpPr>
          <p:cNvPr id="5" name="页脚占位符 4">
            <a:extLst>
              <a:ext uri="{FF2B5EF4-FFF2-40B4-BE49-F238E27FC236}">
                <a16:creationId xmlns:a16="http://schemas.microsoft.com/office/drawing/2014/main" id="{AECE805A-9C1F-20C7-3CA8-6E05646E988F}"/>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3" name="圆角矩形 2">
            <a:extLst>
              <a:ext uri="{FF2B5EF4-FFF2-40B4-BE49-F238E27FC236}">
                <a16:creationId xmlns:a16="http://schemas.microsoft.com/office/drawing/2014/main" id="{D6975B72-3ACC-8DED-2B95-B59EB8B0057E}"/>
              </a:ext>
            </a:extLst>
          </p:cNvPr>
          <p:cNvSpPr/>
          <p:nvPr/>
        </p:nvSpPr>
        <p:spPr bwMode="auto">
          <a:xfrm>
            <a:off x="9399952" y="1487904"/>
            <a:ext cx="1664555" cy="382771"/>
          </a:xfrm>
          <a:prstGeom prst="roundRect">
            <a:avLst/>
          </a:prstGeom>
          <a:solidFill>
            <a:schemeClr val="bg1"/>
          </a:solidFill>
          <a:ln w="6350" cap="flat" cmpd="sng" algn="ctr">
            <a:solidFill>
              <a:schemeClr val="tx1"/>
            </a:solidFill>
            <a:prstDash val="solid"/>
            <a:round/>
            <a:headEnd type="none" w="med" len="med"/>
            <a:tailEnd type="none" w="med" len="med"/>
          </a:ln>
          <a:effectLst>
            <a:outerShdw blurRad="50800" dist="38100" dir="2700000" algn="tl" rotWithShape="0">
              <a:prstClr val="black">
                <a:alpha val="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mj-ea"/>
                <a:ea typeface="+mj-ea"/>
              </a:rPr>
              <a:t>SQL</a:t>
            </a:r>
            <a:r>
              <a:rPr kumimoji="1" lang="zh-CN" altLang="en-US" sz="1600" b="1" i="0" u="none" strike="noStrike" cap="none" normalizeH="0" baseline="0" dirty="0">
                <a:ln>
                  <a:noFill/>
                </a:ln>
                <a:solidFill>
                  <a:schemeClr val="tx1"/>
                </a:solidFill>
                <a:effectLst/>
                <a:latin typeface="+mj-ea"/>
                <a:ea typeface="+mj-ea"/>
              </a:rPr>
              <a:t>查询</a:t>
            </a:r>
          </a:p>
        </p:txBody>
      </p:sp>
      <p:sp>
        <p:nvSpPr>
          <p:cNvPr id="11" name="圆角矩形 10">
            <a:extLst>
              <a:ext uri="{FF2B5EF4-FFF2-40B4-BE49-F238E27FC236}">
                <a16:creationId xmlns:a16="http://schemas.microsoft.com/office/drawing/2014/main" id="{ACBA9CA6-2548-F4C2-F44A-F3FF36FC2B0F}"/>
              </a:ext>
            </a:extLst>
          </p:cNvPr>
          <p:cNvSpPr/>
          <p:nvPr/>
        </p:nvSpPr>
        <p:spPr bwMode="auto">
          <a:xfrm>
            <a:off x="9221671" y="2375826"/>
            <a:ext cx="2021118" cy="783193"/>
          </a:xfrm>
          <a:prstGeom prst="roundRect">
            <a:avLst/>
          </a:prstGeom>
          <a:solidFill>
            <a:schemeClr val="bg1"/>
          </a:solidFill>
          <a:ln w="6350" cap="flat" cmpd="sng" algn="ctr">
            <a:solidFill>
              <a:schemeClr val="tx1"/>
            </a:solidFill>
            <a:prstDash val="solid"/>
            <a:round/>
            <a:headEnd type="none" w="med" len="med"/>
            <a:tailEnd type="none" w="med" len="med"/>
          </a:ln>
          <a:effectLst>
            <a:outerShdw blurRad="50800" dist="38100" dir="2700000" algn="tl" rotWithShape="0">
              <a:prstClr val="black">
                <a:alpha val="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kumimoji="1" lang="zh-CN" altLang="en-US" sz="1600" b="1" dirty="0">
                <a:latin typeface="+mj-ea"/>
                <a:ea typeface="+mj-ea"/>
              </a:rPr>
              <a:t>逻辑算子</a:t>
            </a:r>
            <a:endParaRPr kumimoji="1" lang="en-US" altLang="zh-CN" sz="1600" b="1" dirty="0">
              <a:latin typeface="+mj-ea"/>
              <a:ea typeface="+mj-ea"/>
            </a:endParaRPr>
          </a:p>
          <a:p>
            <a:pPr algn="ctr" fontAlgn="base">
              <a:spcBef>
                <a:spcPct val="50000"/>
              </a:spcBef>
              <a:spcAft>
                <a:spcPct val="0"/>
              </a:spcAft>
            </a:pPr>
            <a:r>
              <a:rPr kumimoji="1" lang="zh-CN" altLang="en-US" sz="1600" dirty="0">
                <a:latin typeface="+mj-ea"/>
                <a:ea typeface="+mj-ea"/>
              </a:rPr>
              <a:t>查询重写</a:t>
            </a:r>
            <a:endParaRPr kumimoji="1" lang="en-US" altLang="zh-CN" sz="1600" dirty="0">
              <a:latin typeface="+mj-ea"/>
              <a:ea typeface="+mj-ea"/>
            </a:endParaRPr>
          </a:p>
        </p:txBody>
      </p:sp>
      <p:sp>
        <p:nvSpPr>
          <p:cNvPr id="12" name="圆角矩形 11">
            <a:extLst>
              <a:ext uri="{FF2B5EF4-FFF2-40B4-BE49-F238E27FC236}">
                <a16:creationId xmlns:a16="http://schemas.microsoft.com/office/drawing/2014/main" id="{11A893E6-417D-0550-3DAB-C6AAA29DACAE}"/>
              </a:ext>
            </a:extLst>
          </p:cNvPr>
          <p:cNvSpPr/>
          <p:nvPr/>
        </p:nvSpPr>
        <p:spPr bwMode="auto">
          <a:xfrm>
            <a:off x="9221671" y="3740587"/>
            <a:ext cx="2021118" cy="1191816"/>
          </a:xfrm>
          <a:prstGeom prst="roundRect">
            <a:avLst/>
          </a:prstGeom>
          <a:solidFill>
            <a:schemeClr val="bg1"/>
          </a:solidFill>
          <a:ln w="6350" cap="flat" cmpd="sng" algn="ctr">
            <a:solidFill>
              <a:schemeClr val="tx1"/>
            </a:solidFill>
            <a:prstDash val="solid"/>
            <a:round/>
            <a:headEnd type="none" w="med" len="med"/>
            <a:tailEnd type="none" w="med" len="med"/>
          </a:ln>
          <a:effectLst>
            <a:outerShdw blurRad="50800" dist="38100" dir="2700000" algn="tl" rotWithShape="0">
              <a:prstClr val="black">
                <a:alpha val="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kumimoji="1" lang="zh-CN" altLang="en-US" sz="1600" b="1" dirty="0">
                <a:latin typeface="+mj-ea"/>
                <a:ea typeface="+mj-ea"/>
              </a:rPr>
              <a:t>物理算子</a:t>
            </a:r>
            <a:endParaRPr kumimoji="1" lang="en-US" altLang="zh-CN" sz="1600" b="1" dirty="0">
              <a:latin typeface="+mj-ea"/>
              <a:ea typeface="+mj-ea"/>
            </a:endParaRPr>
          </a:p>
          <a:p>
            <a:pPr algn="ctr" fontAlgn="base">
              <a:spcBef>
                <a:spcPct val="50000"/>
              </a:spcBef>
              <a:spcAft>
                <a:spcPct val="0"/>
              </a:spcAft>
            </a:pPr>
            <a:r>
              <a:rPr kumimoji="1" lang="zh-CN" altLang="en-US" sz="1600" dirty="0">
                <a:latin typeface="+mj-ea"/>
                <a:ea typeface="+mj-ea"/>
              </a:rPr>
              <a:t>连接顺序选择</a:t>
            </a:r>
            <a:endParaRPr kumimoji="1" lang="en-US" altLang="zh-CN" sz="1600" dirty="0">
              <a:latin typeface="+mj-ea"/>
              <a:ea typeface="+mj-ea"/>
            </a:endParaRPr>
          </a:p>
          <a:p>
            <a:pPr algn="ctr" fontAlgn="base">
              <a:spcBef>
                <a:spcPct val="50000"/>
              </a:spcBef>
              <a:spcAft>
                <a:spcPct val="0"/>
              </a:spcAft>
            </a:pPr>
            <a:r>
              <a:rPr kumimoji="1" lang="zh-CN" altLang="en-US" sz="1600" dirty="0">
                <a:latin typeface="+mj-ea"/>
                <a:ea typeface="+mj-ea"/>
              </a:rPr>
              <a:t>物理算子选择</a:t>
            </a:r>
            <a:endParaRPr kumimoji="1" lang="en-US" altLang="zh-CN" sz="1600" dirty="0">
              <a:latin typeface="+mj-ea"/>
              <a:ea typeface="+mj-ea"/>
            </a:endParaRPr>
          </a:p>
        </p:txBody>
      </p:sp>
      <p:sp>
        <p:nvSpPr>
          <p:cNvPr id="14" name="圆角矩形 13">
            <a:extLst>
              <a:ext uri="{FF2B5EF4-FFF2-40B4-BE49-F238E27FC236}">
                <a16:creationId xmlns:a16="http://schemas.microsoft.com/office/drawing/2014/main" id="{86289635-2636-DA60-E51A-49EFC98A0360}"/>
              </a:ext>
            </a:extLst>
          </p:cNvPr>
          <p:cNvSpPr/>
          <p:nvPr/>
        </p:nvSpPr>
        <p:spPr bwMode="auto">
          <a:xfrm>
            <a:off x="9399952" y="5484909"/>
            <a:ext cx="1664555" cy="382771"/>
          </a:xfrm>
          <a:prstGeom prst="roundRect">
            <a:avLst/>
          </a:prstGeom>
          <a:solidFill>
            <a:schemeClr val="bg1"/>
          </a:solidFill>
          <a:ln w="6350" cap="flat" cmpd="sng" algn="ctr">
            <a:solidFill>
              <a:schemeClr val="tx1"/>
            </a:solidFill>
            <a:prstDash val="solid"/>
            <a:round/>
            <a:headEnd type="none" w="med" len="med"/>
            <a:tailEnd type="none" w="med" len="med"/>
          </a:ln>
          <a:effectLst>
            <a:outerShdw blurRad="50800" dist="38100" dir="2700000" algn="tl" rotWithShape="0">
              <a:prstClr val="black">
                <a:alpha val="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查询执行</a:t>
            </a:r>
          </a:p>
        </p:txBody>
      </p:sp>
      <p:sp>
        <p:nvSpPr>
          <p:cNvPr id="15" name="下箭头 14">
            <a:extLst>
              <a:ext uri="{FF2B5EF4-FFF2-40B4-BE49-F238E27FC236}">
                <a16:creationId xmlns:a16="http://schemas.microsoft.com/office/drawing/2014/main" id="{D4739D70-EBB5-2EE7-8E3B-4967A810FE18}"/>
              </a:ext>
            </a:extLst>
          </p:cNvPr>
          <p:cNvSpPr/>
          <p:nvPr/>
        </p:nvSpPr>
        <p:spPr bwMode="auto">
          <a:xfrm>
            <a:off x="10140679" y="2108472"/>
            <a:ext cx="183101" cy="206831"/>
          </a:xfrm>
          <a:prstGeom prst="down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6" name="下箭头 15">
            <a:extLst>
              <a:ext uri="{FF2B5EF4-FFF2-40B4-BE49-F238E27FC236}">
                <a16:creationId xmlns:a16="http://schemas.microsoft.com/office/drawing/2014/main" id="{5882FCFA-CA8D-FA86-7B2A-51B161822933}"/>
              </a:ext>
            </a:extLst>
          </p:cNvPr>
          <p:cNvSpPr/>
          <p:nvPr/>
        </p:nvSpPr>
        <p:spPr bwMode="auto">
          <a:xfrm>
            <a:off x="10140679" y="3439459"/>
            <a:ext cx="183101" cy="206831"/>
          </a:xfrm>
          <a:prstGeom prst="down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7" name="下箭头 16">
            <a:extLst>
              <a:ext uri="{FF2B5EF4-FFF2-40B4-BE49-F238E27FC236}">
                <a16:creationId xmlns:a16="http://schemas.microsoft.com/office/drawing/2014/main" id="{D3D25907-AE5E-F29A-7F06-2CC44BF6BC62}"/>
              </a:ext>
            </a:extLst>
          </p:cNvPr>
          <p:cNvSpPr/>
          <p:nvPr/>
        </p:nvSpPr>
        <p:spPr bwMode="auto">
          <a:xfrm>
            <a:off x="10153821" y="5184938"/>
            <a:ext cx="183101" cy="206831"/>
          </a:xfrm>
          <a:prstGeom prst="down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8" name="圆柱体 17">
            <a:extLst>
              <a:ext uri="{FF2B5EF4-FFF2-40B4-BE49-F238E27FC236}">
                <a16:creationId xmlns:a16="http://schemas.microsoft.com/office/drawing/2014/main" id="{441E3525-2880-3F0C-F456-6015ED721DE8}"/>
              </a:ext>
            </a:extLst>
          </p:cNvPr>
          <p:cNvSpPr/>
          <p:nvPr/>
        </p:nvSpPr>
        <p:spPr bwMode="auto">
          <a:xfrm>
            <a:off x="5619615" y="3380681"/>
            <a:ext cx="1474445" cy="587216"/>
          </a:xfrm>
          <a:prstGeom prst="can">
            <a:avLst/>
          </a:prstGeom>
          <a:solidFill>
            <a:srgbClr val="743481"/>
          </a:solidFill>
          <a:ln>
            <a:no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b="0" i="0" u="none" strike="noStrike" cap="none" normalizeH="0" baseline="0" dirty="0">
                <a:ln>
                  <a:noFill/>
                </a:ln>
                <a:solidFill>
                  <a:schemeClr val="bg1"/>
                </a:solidFill>
                <a:effectLst/>
                <a:latin typeface="+mj-ea"/>
                <a:ea typeface="+mj-ea"/>
              </a:rPr>
              <a:t>统计信息</a:t>
            </a:r>
          </a:p>
        </p:txBody>
      </p:sp>
      <p:cxnSp>
        <p:nvCxnSpPr>
          <p:cNvPr id="20" name="直线箭头连接符 19">
            <a:extLst>
              <a:ext uri="{FF2B5EF4-FFF2-40B4-BE49-F238E27FC236}">
                <a16:creationId xmlns:a16="http://schemas.microsoft.com/office/drawing/2014/main" id="{55085847-6B92-B81A-F2FF-7EF56BA47D4B}"/>
              </a:ext>
            </a:extLst>
          </p:cNvPr>
          <p:cNvCxnSpPr/>
          <p:nvPr/>
        </p:nvCxnSpPr>
        <p:spPr bwMode="auto">
          <a:xfrm flipV="1">
            <a:off x="8617175" y="3061144"/>
            <a:ext cx="574271" cy="515270"/>
          </a:xfrm>
          <a:prstGeom prst="straightConnector1">
            <a:avLst/>
          </a:prstGeom>
          <a:noFill/>
          <a:ln w="38100" cap="flat" cmpd="sng" algn="ctr">
            <a:solidFill>
              <a:schemeClr val="tx1"/>
            </a:solidFill>
            <a:prstDash val="solid"/>
            <a:round/>
            <a:headEnd type="triangle"/>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1" name="直线箭头连接符 20">
            <a:extLst>
              <a:ext uri="{FF2B5EF4-FFF2-40B4-BE49-F238E27FC236}">
                <a16:creationId xmlns:a16="http://schemas.microsoft.com/office/drawing/2014/main" id="{2A2D8725-CDF4-922E-1995-7AAF539BECBD}"/>
              </a:ext>
            </a:extLst>
          </p:cNvPr>
          <p:cNvCxnSpPr>
            <a:cxnSpLocks/>
          </p:cNvCxnSpPr>
          <p:nvPr/>
        </p:nvCxnSpPr>
        <p:spPr bwMode="auto">
          <a:xfrm>
            <a:off x="8617175" y="3831074"/>
            <a:ext cx="574271" cy="466075"/>
          </a:xfrm>
          <a:prstGeom prst="straightConnector1">
            <a:avLst/>
          </a:prstGeom>
          <a:noFill/>
          <a:ln w="38100" cap="flat" cmpd="sng" algn="ctr">
            <a:solidFill>
              <a:schemeClr val="tx1"/>
            </a:solidFill>
            <a:prstDash val="solid"/>
            <a:round/>
            <a:headEnd type="triangle"/>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矩形 23">
            <a:extLst>
              <a:ext uri="{FF2B5EF4-FFF2-40B4-BE49-F238E27FC236}">
                <a16:creationId xmlns:a16="http://schemas.microsoft.com/office/drawing/2014/main" id="{EFF4746D-461A-0FF5-B022-F5DB7BC2A857}"/>
              </a:ext>
            </a:extLst>
          </p:cNvPr>
          <p:cNvSpPr/>
          <p:nvPr/>
        </p:nvSpPr>
        <p:spPr>
          <a:xfrm>
            <a:off x="587374" y="1457322"/>
            <a:ext cx="7207511" cy="1384995"/>
          </a:xfrm>
          <a:prstGeom prst="rect">
            <a:avLst/>
          </a:prstGeom>
        </p:spPr>
        <p:txBody>
          <a:bodyPr wrap="square">
            <a:spAutoFit/>
          </a:bodyPr>
          <a:lstStyle/>
          <a:p>
            <a:pPr marL="342900" indent="-342900">
              <a:lnSpc>
                <a:spcPct val="150000"/>
              </a:lnSpc>
              <a:buFont typeface="Wingdings" panose="05000000000000000000" pitchFamily="2" charset="2"/>
              <a:buChar char="Ø"/>
            </a:pPr>
            <a:r>
              <a:rPr kumimoji="1" lang="zh-CN" altLang="en-US" sz="2000" b="1" dirty="0">
                <a:solidFill>
                  <a:srgbClr val="701988"/>
                </a:solidFill>
                <a:latin typeface="+mj-ea"/>
                <a:ea typeface="+mj-ea"/>
                <a:cs typeface="Arial"/>
              </a:rPr>
              <a:t>逻辑优化：</a:t>
            </a:r>
            <a:endParaRPr kumimoji="1" lang="en-US" altLang="zh-CN" sz="2000" b="1" dirty="0">
              <a:solidFill>
                <a:srgbClr val="701988"/>
              </a:solidFill>
              <a:latin typeface="+mj-ea"/>
              <a:ea typeface="+mj-ea"/>
              <a:cs typeface="Arial"/>
            </a:endParaRPr>
          </a:p>
          <a:p>
            <a:pPr marL="800100" lvl="1" indent="-342900">
              <a:lnSpc>
                <a:spcPct val="150000"/>
              </a:lnSpc>
              <a:buFont typeface="Arial" panose="020B0604020202020204" pitchFamily="34" charset="0"/>
              <a:buChar char="•"/>
            </a:pPr>
            <a:r>
              <a:rPr lang="zh-CN" altLang="zh-CN" kern="100" dirty="0">
                <a:effectLst/>
                <a:latin typeface="+mj-ea"/>
                <a:ea typeface="+mj-ea"/>
                <a:cs typeface="Times New Roman" panose="02020603050405020304" pitchFamily="18" charset="0"/>
              </a:rPr>
              <a:t>找出</a:t>
            </a:r>
            <a:r>
              <a:rPr lang="zh-CN" altLang="en-US" kern="100" dirty="0">
                <a:effectLst/>
                <a:latin typeface="+mj-ea"/>
                <a:ea typeface="+mj-ea"/>
                <a:cs typeface="Times New Roman" panose="02020603050405020304" pitchFamily="18" charset="0"/>
              </a:rPr>
              <a:t>比</a:t>
            </a:r>
            <a:r>
              <a:rPr lang="zh-CN" altLang="zh-CN" kern="100" dirty="0">
                <a:effectLst/>
                <a:latin typeface="+mj-ea"/>
                <a:ea typeface="+mj-ea"/>
                <a:cs typeface="Times New Roman" panose="02020603050405020304" pitchFamily="18" charset="0"/>
              </a:rPr>
              <a:t>原始</a:t>
            </a:r>
            <a:r>
              <a:rPr lang="zh-CN" altLang="en-US" kern="100" dirty="0">
                <a:effectLst/>
                <a:latin typeface="+mj-ea"/>
                <a:ea typeface="+mj-ea"/>
                <a:cs typeface="Times New Roman" panose="02020603050405020304" pitchFamily="18" charset="0"/>
              </a:rPr>
              <a:t>计划</a:t>
            </a:r>
            <a:r>
              <a:rPr lang="zh-CN" altLang="zh-CN" kern="100" dirty="0">
                <a:effectLst/>
                <a:latin typeface="+mj-ea"/>
                <a:ea typeface="+mj-ea"/>
                <a:cs typeface="Times New Roman" panose="02020603050405020304" pitchFamily="18" charset="0"/>
              </a:rPr>
              <a:t>更高效的等价</a:t>
            </a:r>
            <a:r>
              <a:rPr lang="zh-CN" altLang="en-US" kern="100" dirty="0">
                <a:effectLst/>
                <a:latin typeface="+mj-ea"/>
                <a:ea typeface="+mj-ea"/>
                <a:cs typeface="Times New Roman" panose="02020603050405020304" pitchFamily="18" charset="0"/>
              </a:rPr>
              <a:t>计划</a:t>
            </a:r>
            <a:endParaRPr lang="en-US" altLang="zh-CN" kern="100" dirty="0">
              <a:effectLst/>
              <a:latin typeface="+mj-ea"/>
              <a:ea typeface="+mj-ea"/>
              <a:cs typeface="Times New Roman" panose="02020603050405020304" pitchFamily="18" charset="0"/>
            </a:endParaRPr>
          </a:p>
          <a:p>
            <a:pPr marL="800100" lvl="1" indent="-342900">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通过调整关系代数运算顺序来</a:t>
            </a:r>
            <a:r>
              <a:rPr lang="zh-CN" altLang="zh-CN" kern="100" dirty="0">
                <a:solidFill>
                  <a:srgbClr val="743481"/>
                </a:solidFill>
                <a:latin typeface="+mj-ea"/>
                <a:ea typeface="+mj-ea"/>
                <a:cs typeface="Times New Roman" panose="02020603050405020304" pitchFamily="18" charset="0"/>
              </a:rPr>
              <a:t>最小化每步运算要处理的行数</a:t>
            </a:r>
            <a:endParaRPr lang="zh-CN" altLang="en-US" kern="100" dirty="0">
              <a:solidFill>
                <a:srgbClr val="743481"/>
              </a:solidFill>
              <a:latin typeface="+mj-ea"/>
              <a:ea typeface="+mj-ea"/>
              <a:cs typeface="Times New Roman" panose="02020603050405020304" pitchFamily="18" charset="0"/>
            </a:endParaRPr>
          </a:p>
        </p:txBody>
      </p:sp>
      <p:sp>
        <p:nvSpPr>
          <p:cNvPr id="6" name="圆角矩形 5">
            <a:extLst>
              <a:ext uri="{FF2B5EF4-FFF2-40B4-BE49-F238E27FC236}">
                <a16:creationId xmlns:a16="http://schemas.microsoft.com/office/drawing/2014/main" id="{16882C83-8135-203D-FE62-5C114D5C02A2}"/>
              </a:ext>
            </a:extLst>
          </p:cNvPr>
          <p:cNvSpPr/>
          <p:nvPr/>
        </p:nvSpPr>
        <p:spPr bwMode="auto">
          <a:xfrm>
            <a:off x="7511895" y="3504490"/>
            <a:ext cx="1105280" cy="382771"/>
          </a:xfrm>
          <a:prstGeom prst="roundRect">
            <a:avLst/>
          </a:prstGeom>
          <a:solidFill>
            <a:schemeClr val="bg1"/>
          </a:solidFill>
          <a:ln w="6350" cap="flat" cmpd="sng" algn="ctr">
            <a:solidFill>
              <a:schemeClr val="tx1"/>
            </a:solidFill>
            <a:prstDash val="solid"/>
            <a:round/>
            <a:headEnd type="none" w="med" len="med"/>
            <a:tailEnd type="none" w="med" len="med"/>
          </a:ln>
          <a:effectLst>
            <a:outerShdw blurRad="50800" dist="38100" dir="2700000" algn="tl" rotWithShape="0">
              <a:prstClr val="black">
                <a:alpha val="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mj-ea"/>
                <a:ea typeface="+mj-ea"/>
              </a:rPr>
              <a:t>代价估计</a:t>
            </a:r>
          </a:p>
        </p:txBody>
      </p:sp>
      <p:cxnSp>
        <p:nvCxnSpPr>
          <p:cNvPr id="7" name="直线箭头连接符 6">
            <a:extLst>
              <a:ext uri="{FF2B5EF4-FFF2-40B4-BE49-F238E27FC236}">
                <a16:creationId xmlns:a16="http://schemas.microsoft.com/office/drawing/2014/main" id="{7F60A64D-1A4F-666F-812C-A0C0C37BDDF7}"/>
              </a:ext>
            </a:extLst>
          </p:cNvPr>
          <p:cNvCxnSpPr>
            <a:cxnSpLocks/>
            <a:endCxn id="6" idx="1"/>
          </p:cNvCxnSpPr>
          <p:nvPr/>
        </p:nvCxnSpPr>
        <p:spPr bwMode="auto">
          <a:xfrm>
            <a:off x="7082118" y="3695875"/>
            <a:ext cx="429777" cy="1"/>
          </a:xfrm>
          <a:prstGeom prst="straightConnector1">
            <a:avLst/>
          </a:prstGeom>
          <a:noFill/>
          <a:ln w="38100" cap="flat" cmpd="sng" algn="ctr">
            <a:solidFill>
              <a:schemeClr val="tx1"/>
            </a:solidFill>
            <a:prstDash val="solid"/>
            <a:round/>
            <a:headEnd type="triangle"/>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99507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EED26D2E-7A3F-4F10-BD9D-CEBB2C6CD655}"/>
              </a:ext>
            </a:extLst>
          </p:cNvPr>
          <p:cNvSpPr/>
          <p:nvPr/>
        </p:nvSpPr>
        <p:spPr>
          <a:xfrm>
            <a:off x="1139254" y="1888039"/>
            <a:ext cx="9930984" cy="311478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101408E9-B384-7749-7908-80616C73387E}"/>
              </a:ext>
            </a:extLst>
          </p:cNvPr>
          <p:cNvSpPr>
            <a:spLocks noGrp="1"/>
          </p:cNvSpPr>
          <p:nvPr>
            <p:ph type="sldNum" sz="quarter" idx="10"/>
          </p:nvPr>
        </p:nvSpPr>
        <p:spPr/>
        <p:txBody>
          <a:bodyPr/>
          <a:lstStyle/>
          <a:p>
            <a:fld id="{4B0D34C0-35A8-654C-9FBA-7B4E017BD630}" type="slidenum">
              <a:rPr lang="en-US" altLang="zh-CN" smtClean="0"/>
              <a:t>8</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sz="4400" dirty="0"/>
              <a:t>2</a:t>
            </a:r>
            <a:r>
              <a:rPr lang="zh-CN" altLang="en-US" sz="4400" dirty="0"/>
              <a:t>、物理优化</a:t>
            </a:r>
            <a:endParaRPr kumimoji="1" lang="zh-CN" altLang="en-US" sz="4400" dirty="0"/>
          </a:p>
        </p:txBody>
      </p:sp>
      <p:sp>
        <p:nvSpPr>
          <p:cNvPr id="3" name="页脚占位符 2">
            <a:extLst>
              <a:ext uri="{FF2B5EF4-FFF2-40B4-BE49-F238E27FC236}">
                <a16:creationId xmlns:a16="http://schemas.microsoft.com/office/drawing/2014/main" id="{44A48AFC-0553-A7F5-2530-4E6289A0C369}"/>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grpSp>
        <p:nvGrpSpPr>
          <p:cNvPr id="7" name="组合 6"/>
          <p:cNvGrpSpPr/>
          <p:nvPr/>
        </p:nvGrpSpPr>
        <p:grpSpPr>
          <a:xfrm>
            <a:off x="1568830" y="2082870"/>
            <a:ext cx="9054339" cy="2626472"/>
            <a:chOff x="1144738" y="2091020"/>
            <a:chExt cx="10277191" cy="2981195"/>
          </a:xfrm>
        </p:grpSpPr>
        <p:sp>
          <p:nvSpPr>
            <p:cNvPr id="24" name="矩形 23">
              <a:extLst>
                <a:ext uri="{FF2B5EF4-FFF2-40B4-BE49-F238E27FC236}">
                  <a16:creationId xmlns:a16="http://schemas.microsoft.com/office/drawing/2014/main" id="{EFF4746D-461A-0FF5-B022-F5DB7BC2A857}"/>
                </a:ext>
              </a:extLst>
            </p:cNvPr>
            <p:cNvSpPr/>
            <p:nvPr/>
          </p:nvSpPr>
          <p:spPr>
            <a:xfrm>
              <a:off x="1751196" y="4618067"/>
              <a:ext cx="3211483" cy="454148"/>
            </a:xfrm>
            <a:prstGeom prst="rect">
              <a:avLst/>
            </a:prstGeom>
          </p:spPr>
          <p:txBody>
            <a:bodyPr wrap="square">
              <a:spAutoFit/>
            </a:bodyPr>
            <a:lstStyle/>
            <a:p>
              <a:r>
                <a:rPr lang="zh-CN" altLang="en-US" sz="2000" b="1" dirty="0">
                  <a:latin typeface="+mj-ea"/>
                  <a:ea typeface="+mj-ea"/>
                </a:rPr>
                <a:t>最优逻辑计划</a:t>
              </a:r>
              <a:endParaRPr lang="en-US" altLang="zh-CN" sz="2000" b="1" dirty="0">
                <a:latin typeface="+mj-ea"/>
                <a:ea typeface="+mj-ea"/>
              </a:endParaRPr>
            </a:p>
          </p:txBody>
        </p:sp>
        <p:sp>
          <p:nvSpPr>
            <p:cNvPr id="25" name="矩形 24">
              <a:extLst>
                <a:ext uri="{FF2B5EF4-FFF2-40B4-BE49-F238E27FC236}">
                  <a16:creationId xmlns:a16="http://schemas.microsoft.com/office/drawing/2014/main" id="{EC0B3D31-69CB-9B56-DBC3-E997980AD1A8}"/>
                </a:ext>
              </a:extLst>
            </p:cNvPr>
            <p:cNvSpPr/>
            <p:nvPr/>
          </p:nvSpPr>
          <p:spPr>
            <a:xfrm>
              <a:off x="7515424" y="4616005"/>
              <a:ext cx="2057907" cy="454148"/>
            </a:xfrm>
            <a:prstGeom prst="rect">
              <a:avLst/>
            </a:prstGeom>
          </p:spPr>
          <p:txBody>
            <a:bodyPr wrap="square">
              <a:spAutoFit/>
            </a:bodyPr>
            <a:lstStyle/>
            <a:p>
              <a:r>
                <a:rPr lang="zh-CN" altLang="en-US" sz="2000" b="1" dirty="0">
                  <a:latin typeface="+mj-ea"/>
                  <a:ea typeface="+mj-ea"/>
                </a:rPr>
                <a:t>物理计划</a:t>
              </a:r>
              <a:endParaRPr lang="en-US" altLang="zh-CN" sz="2000" b="1" dirty="0">
                <a:latin typeface="+mj-ea"/>
                <a:ea typeface="+mj-ea"/>
              </a:endParaRPr>
            </a:p>
          </p:txBody>
        </p:sp>
        <p:pic>
          <p:nvPicPr>
            <p:cNvPr id="5" name="图片 4">
              <a:extLst>
                <a:ext uri="{FF2B5EF4-FFF2-40B4-BE49-F238E27FC236}">
                  <a16:creationId xmlns:a16="http://schemas.microsoft.com/office/drawing/2014/main" id="{3E8E465C-B7B1-9FC4-04BE-B0C93DC4E715}"/>
                </a:ext>
              </a:extLst>
            </p:cNvPr>
            <p:cNvPicPr>
              <a:picLocks noChangeAspect="1"/>
            </p:cNvPicPr>
            <p:nvPr/>
          </p:nvPicPr>
          <p:blipFill>
            <a:blip r:embed="rId3"/>
            <a:stretch>
              <a:fillRect/>
            </a:stretch>
          </p:blipFill>
          <p:spPr>
            <a:xfrm>
              <a:off x="1144738" y="2091020"/>
              <a:ext cx="3530600" cy="2425700"/>
            </a:xfrm>
            <a:prstGeom prst="rect">
              <a:avLst/>
            </a:prstGeom>
          </p:spPr>
        </p:pic>
        <p:pic>
          <p:nvPicPr>
            <p:cNvPr id="6" name="图片 5">
              <a:extLst>
                <a:ext uri="{FF2B5EF4-FFF2-40B4-BE49-F238E27FC236}">
                  <a16:creationId xmlns:a16="http://schemas.microsoft.com/office/drawing/2014/main" id="{F2B68D15-2100-9533-0372-CDF8F16D91B5}"/>
                </a:ext>
              </a:extLst>
            </p:cNvPr>
            <p:cNvPicPr>
              <a:picLocks noChangeAspect="1"/>
            </p:cNvPicPr>
            <p:nvPr/>
          </p:nvPicPr>
          <p:blipFill>
            <a:blip r:embed="rId4"/>
            <a:stretch>
              <a:fillRect/>
            </a:stretch>
          </p:blipFill>
          <p:spPr>
            <a:xfrm>
              <a:off x="5335052" y="2091020"/>
              <a:ext cx="6086877" cy="2333303"/>
            </a:xfrm>
            <a:prstGeom prst="rect">
              <a:avLst/>
            </a:prstGeom>
          </p:spPr>
        </p:pic>
      </p:grpSp>
    </p:spTree>
    <p:extLst>
      <p:ext uri="{BB962C8B-B14F-4D97-AF65-F5344CB8AC3E}">
        <p14:creationId xmlns:p14="http://schemas.microsoft.com/office/powerpoint/2010/main" val="105860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578D849-FF67-383E-FF6A-EF10CF4F0F61}"/>
              </a:ext>
            </a:extLst>
          </p:cNvPr>
          <p:cNvPicPr>
            <a:picLocks noChangeAspect="1"/>
          </p:cNvPicPr>
          <p:nvPr/>
        </p:nvPicPr>
        <p:blipFill>
          <a:blip r:embed="rId2"/>
          <a:stretch>
            <a:fillRect/>
          </a:stretch>
        </p:blipFill>
        <p:spPr>
          <a:xfrm>
            <a:off x="1651580" y="3076061"/>
            <a:ext cx="9489868" cy="3441085"/>
          </a:xfrm>
          <a:prstGeom prst="rect">
            <a:avLst/>
          </a:prstGeom>
        </p:spPr>
      </p:pic>
      <p:sp>
        <p:nvSpPr>
          <p:cNvPr id="2" name="灯片编号占位符 1">
            <a:extLst>
              <a:ext uri="{FF2B5EF4-FFF2-40B4-BE49-F238E27FC236}">
                <a16:creationId xmlns:a16="http://schemas.microsoft.com/office/drawing/2014/main" id="{4BDDC0AC-C71A-1D15-48FA-EB1AB44BBFC4}"/>
              </a:ext>
            </a:extLst>
          </p:cNvPr>
          <p:cNvSpPr>
            <a:spLocks noGrp="1"/>
          </p:cNvSpPr>
          <p:nvPr>
            <p:ph type="sldNum" sz="quarter" idx="10"/>
          </p:nvPr>
        </p:nvSpPr>
        <p:spPr/>
        <p:txBody>
          <a:bodyPr/>
          <a:lstStyle/>
          <a:p>
            <a:fld id="{87BBDC00-B9E2-4EFD-9306-2934E87247C6}" type="slidenum">
              <a:rPr lang="zh-CN" altLang="en-US" smtClean="0"/>
              <a:pPr/>
              <a:t>9</a:t>
            </a:fld>
            <a:endParaRPr lang="zh-CN" altLang="en-US" dirty="0"/>
          </a:p>
        </p:txBody>
      </p:sp>
      <p:sp>
        <p:nvSpPr>
          <p:cNvPr id="3" name="标题 2">
            <a:extLst>
              <a:ext uri="{FF2B5EF4-FFF2-40B4-BE49-F238E27FC236}">
                <a16:creationId xmlns:a16="http://schemas.microsoft.com/office/drawing/2014/main" id="{5FAD2C0B-35BB-7E3A-DE3D-28FDBAE9BB0D}"/>
              </a:ext>
            </a:extLst>
          </p:cNvPr>
          <p:cNvSpPr>
            <a:spLocks noGrp="1"/>
          </p:cNvSpPr>
          <p:nvPr>
            <p:ph type="title"/>
          </p:nvPr>
        </p:nvSpPr>
        <p:spPr/>
        <p:txBody>
          <a:bodyPr/>
          <a:lstStyle/>
          <a:p>
            <a:r>
              <a:rPr kumimoji="1" lang="en-US" altLang="zh-CN" sz="4400" dirty="0"/>
              <a:t>2</a:t>
            </a:r>
            <a:r>
              <a:rPr lang="zh-CN" altLang="en-US" sz="4400" dirty="0"/>
              <a:t>、物理优化</a:t>
            </a:r>
            <a:endParaRPr kumimoji="1" lang="zh-CN" altLang="en-US" sz="4400" dirty="0"/>
          </a:p>
        </p:txBody>
      </p:sp>
      <p:sp>
        <p:nvSpPr>
          <p:cNvPr id="4" name="内容占位符 3">
            <a:extLst>
              <a:ext uri="{FF2B5EF4-FFF2-40B4-BE49-F238E27FC236}">
                <a16:creationId xmlns:a16="http://schemas.microsoft.com/office/drawing/2014/main" id="{AC7135C2-E365-B195-BF1A-866688932F1B}"/>
              </a:ext>
            </a:extLst>
          </p:cNvPr>
          <p:cNvSpPr>
            <a:spLocks noGrp="1"/>
          </p:cNvSpPr>
          <p:nvPr>
            <p:ph idx="1"/>
          </p:nvPr>
        </p:nvSpPr>
        <p:spPr>
          <a:xfrm>
            <a:off x="457200" y="1017961"/>
            <a:ext cx="10874188" cy="5005387"/>
          </a:xfrm>
        </p:spPr>
        <p:txBody>
          <a:bodyPr/>
          <a:lstStyle/>
          <a:p>
            <a:r>
              <a:rPr kumimoji="1" lang="zh-CN" altLang="en-US" dirty="0"/>
              <a:t>不同连接顺序和物理算子代价不同，选择代价最小的连接顺序和物理算子</a:t>
            </a:r>
            <a:endParaRPr kumimoji="1" lang="en-US" altLang="zh-CN" dirty="0"/>
          </a:p>
          <a:p>
            <a:pPr marL="879241" lvl="1" indent="-457200">
              <a:buFont typeface="+mj-ea"/>
              <a:buAutoNum type="circleNumDbPlain"/>
            </a:pPr>
            <a:r>
              <a:rPr lang="zh-CN" altLang="en-US" sz="2400" b="1" dirty="0">
                <a:solidFill>
                  <a:srgbClr val="0000FF"/>
                </a:solidFill>
              </a:rPr>
              <a:t>基数估计</a:t>
            </a:r>
            <a:endParaRPr lang="en-US" altLang="zh-CN" sz="2400" b="1" dirty="0">
              <a:solidFill>
                <a:srgbClr val="0000FF"/>
              </a:solidFill>
            </a:endParaRPr>
          </a:p>
          <a:p>
            <a:pPr marL="879241" lvl="1" indent="-457200">
              <a:buFont typeface="+mj-ea"/>
              <a:buAutoNum type="circleNumDbPlain"/>
            </a:pPr>
            <a:r>
              <a:rPr lang="zh-CN" altLang="en-US" sz="2400" b="1" dirty="0">
                <a:solidFill>
                  <a:srgbClr val="0000FF"/>
                </a:solidFill>
              </a:rPr>
              <a:t>代价估计</a:t>
            </a:r>
            <a:endParaRPr lang="en-US" altLang="zh-CN" sz="2400" b="1" dirty="0">
              <a:solidFill>
                <a:srgbClr val="0000FF"/>
              </a:solidFill>
            </a:endParaRPr>
          </a:p>
          <a:p>
            <a:pPr marL="879241" lvl="1" indent="-457200">
              <a:buFont typeface="+mj-ea"/>
              <a:buAutoNum type="circleNumDbPlain"/>
            </a:pPr>
            <a:r>
              <a:rPr lang="zh-CN" altLang="en-US" sz="2400" b="1" dirty="0">
                <a:solidFill>
                  <a:srgbClr val="0000FF"/>
                </a:solidFill>
              </a:rPr>
              <a:t>连接顺序选择（</a:t>
            </a:r>
            <a:r>
              <a:rPr lang="en-US" altLang="zh-CN" sz="2400" b="1" dirty="0">
                <a:solidFill>
                  <a:srgbClr val="0000FF"/>
                </a:solidFill>
              </a:rPr>
              <a:t>NP</a:t>
            </a:r>
            <a:r>
              <a:rPr lang="zh-CN" altLang="en-US" sz="2400" b="1" dirty="0">
                <a:solidFill>
                  <a:srgbClr val="0000FF"/>
                </a:solidFill>
              </a:rPr>
              <a:t>问题）</a:t>
            </a:r>
            <a:endParaRPr lang="en-US" altLang="zh-CN" sz="2400" b="1" dirty="0">
              <a:solidFill>
                <a:srgbClr val="0000FF"/>
              </a:solidFill>
            </a:endParaRPr>
          </a:p>
          <a:p>
            <a:pPr marL="879241" lvl="1" indent="-457200">
              <a:buFont typeface="+mj-ea"/>
              <a:buAutoNum type="circleNumDbPlain"/>
            </a:pPr>
            <a:r>
              <a:rPr kumimoji="1" lang="zh-CN" altLang="en-US" sz="2400" b="1" dirty="0">
                <a:solidFill>
                  <a:srgbClr val="0000FF"/>
                </a:solidFill>
              </a:rPr>
              <a:t>物理算子选择</a:t>
            </a:r>
          </a:p>
        </p:txBody>
      </p:sp>
      <p:sp>
        <p:nvSpPr>
          <p:cNvPr id="5" name="页脚占位符 4">
            <a:extLst>
              <a:ext uri="{FF2B5EF4-FFF2-40B4-BE49-F238E27FC236}">
                <a16:creationId xmlns:a16="http://schemas.microsoft.com/office/drawing/2014/main" id="{9F66EC52-AB48-0F7A-0694-1BA3768781C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spTree>
    <p:extLst>
      <p:ext uri="{BB962C8B-B14F-4D97-AF65-F5344CB8AC3E}">
        <p14:creationId xmlns:p14="http://schemas.microsoft.com/office/powerpoint/2010/main" val="3770883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9A8FA078-6DB3-9B69-45FC-553613BAC1B2}"/>
              </a:ext>
            </a:extLst>
          </p:cNvPr>
          <p:cNvPicPr>
            <a:picLocks noChangeAspect="1"/>
          </p:cNvPicPr>
          <p:nvPr/>
        </p:nvPicPr>
        <p:blipFill rotWithShape="1">
          <a:blip r:embed="rId2"/>
          <a:srcRect l="34742" r="33699" b="30580"/>
          <a:stretch/>
        </p:blipFill>
        <p:spPr>
          <a:xfrm>
            <a:off x="7280299" y="3716820"/>
            <a:ext cx="3809360" cy="3038451"/>
          </a:xfrm>
          <a:prstGeom prst="rect">
            <a:avLst/>
          </a:prstGeom>
        </p:spPr>
      </p:pic>
      <p:sp>
        <p:nvSpPr>
          <p:cNvPr id="2" name="灯片编号占位符 1">
            <a:extLst>
              <a:ext uri="{FF2B5EF4-FFF2-40B4-BE49-F238E27FC236}">
                <a16:creationId xmlns:a16="http://schemas.microsoft.com/office/drawing/2014/main" id="{150EBDF0-78DC-BE9D-437E-745A2D95C8DC}"/>
              </a:ext>
            </a:extLst>
          </p:cNvPr>
          <p:cNvSpPr>
            <a:spLocks noGrp="1"/>
          </p:cNvSpPr>
          <p:nvPr>
            <p:ph type="sldNum" sz="quarter" idx="10"/>
          </p:nvPr>
        </p:nvSpPr>
        <p:spPr/>
        <p:txBody>
          <a:bodyPr/>
          <a:lstStyle/>
          <a:p>
            <a:fld id="{87BBDC00-B9E2-4EFD-9306-2934E87247C6}" type="slidenum">
              <a:rPr lang="zh-CN" altLang="en-US" smtClean="0"/>
              <a:pPr/>
              <a:t>10</a:t>
            </a:fld>
            <a:endParaRPr lang="zh-CN" altLang="en-US" dirty="0"/>
          </a:p>
        </p:txBody>
      </p:sp>
      <p:sp>
        <p:nvSpPr>
          <p:cNvPr id="3" name="标题 2">
            <a:extLst>
              <a:ext uri="{FF2B5EF4-FFF2-40B4-BE49-F238E27FC236}">
                <a16:creationId xmlns:a16="http://schemas.microsoft.com/office/drawing/2014/main" id="{F16D73F8-2C3E-6283-4D5C-091BCDA94968}"/>
              </a:ext>
            </a:extLst>
          </p:cNvPr>
          <p:cNvSpPr>
            <a:spLocks noGrp="1"/>
          </p:cNvSpPr>
          <p:nvPr>
            <p:ph type="title"/>
          </p:nvPr>
        </p:nvSpPr>
        <p:spPr/>
        <p:txBody>
          <a:bodyPr/>
          <a:lstStyle/>
          <a:p>
            <a:r>
              <a:rPr kumimoji="1" lang="en-US" altLang="zh-CN" dirty="0"/>
              <a:t>3</a:t>
            </a:r>
            <a:r>
              <a:rPr kumimoji="1" lang="zh-CN" altLang="en-US" dirty="0"/>
              <a:t>、物化视图</a:t>
            </a:r>
          </a:p>
        </p:txBody>
      </p:sp>
      <p:sp>
        <p:nvSpPr>
          <p:cNvPr id="4" name="内容占位符 3">
            <a:extLst>
              <a:ext uri="{FF2B5EF4-FFF2-40B4-BE49-F238E27FC236}">
                <a16:creationId xmlns:a16="http://schemas.microsoft.com/office/drawing/2014/main" id="{EC097CA3-B652-E92E-FD15-C568324F7B37}"/>
              </a:ext>
            </a:extLst>
          </p:cNvPr>
          <p:cNvSpPr>
            <a:spLocks noGrp="1"/>
          </p:cNvSpPr>
          <p:nvPr>
            <p:ph idx="1"/>
          </p:nvPr>
        </p:nvSpPr>
        <p:spPr/>
        <p:txBody>
          <a:bodyPr/>
          <a:lstStyle/>
          <a:p>
            <a:r>
              <a:rPr lang="zh-CN" altLang="en-US" sz="2800" dirty="0"/>
              <a:t>将频繁的子查询物化为视图</a:t>
            </a:r>
            <a:endParaRPr lang="en-US" altLang="zh-CN" sz="2800" dirty="0"/>
          </a:p>
          <a:p>
            <a:r>
              <a:rPr kumimoji="1" lang="zh-CN" altLang="en-US" sz="2800" dirty="0"/>
              <a:t>利用视图来提升查询速度</a:t>
            </a:r>
            <a:endParaRPr kumimoji="1" lang="en-US" altLang="zh-CN" sz="2800" dirty="0"/>
          </a:p>
          <a:p>
            <a:pPr lvl="1"/>
            <a:r>
              <a:rPr lang="zh-CN" altLang="en-US" sz="2400" dirty="0"/>
              <a:t>物化视图生成</a:t>
            </a:r>
            <a:endParaRPr lang="en-US" altLang="zh-CN" sz="2400" dirty="0"/>
          </a:p>
          <a:p>
            <a:pPr lvl="1"/>
            <a:r>
              <a:rPr kumimoji="1" lang="zh-CN" altLang="en-US" sz="2400" dirty="0"/>
              <a:t>利用物化视图查询优化</a:t>
            </a:r>
            <a:endParaRPr kumimoji="1" lang="en-US" altLang="zh-CN" sz="2400" dirty="0"/>
          </a:p>
          <a:p>
            <a:pPr lvl="1"/>
            <a:r>
              <a:rPr lang="zh-CN" altLang="en-US" sz="2400" dirty="0"/>
              <a:t>物化视图更新</a:t>
            </a:r>
            <a:endParaRPr kumimoji="1" lang="zh-CN" altLang="en-US" sz="2400" dirty="0"/>
          </a:p>
        </p:txBody>
      </p:sp>
      <p:sp>
        <p:nvSpPr>
          <p:cNvPr id="5" name="页脚占位符 4">
            <a:extLst>
              <a:ext uri="{FF2B5EF4-FFF2-40B4-BE49-F238E27FC236}">
                <a16:creationId xmlns:a16="http://schemas.microsoft.com/office/drawing/2014/main" id="{2D9E7C9A-AE86-54DE-D682-34B850E217D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pic>
        <p:nvPicPr>
          <p:cNvPr id="6" name="图片 5">
            <a:extLst>
              <a:ext uri="{FF2B5EF4-FFF2-40B4-BE49-F238E27FC236}">
                <a16:creationId xmlns:a16="http://schemas.microsoft.com/office/drawing/2014/main" id="{84E56EF0-17A1-B55C-B001-3DAFF37C209B}"/>
              </a:ext>
            </a:extLst>
          </p:cNvPr>
          <p:cNvPicPr>
            <a:picLocks noChangeAspect="1"/>
          </p:cNvPicPr>
          <p:nvPr/>
        </p:nvPicPr>
        <p:blipFill rotWithShape="1">
          <a:blip r:embed="rId2"/>
          <a:srcRect r="67599" b="18429"/>
          <a:stretch/>
        </p:blipFill>
        <p:spPr>
          <a:xfrm>
            <a:off x="3350305" y="3543789"/>
            <a:ext cx="3074770" cy="2806946"/>
          </a:xfrm>
          <a:prstGeom prst="rect">
            <a:avLst/>
          </a:prstGeom>
        </p:spPr>
      </p:pic>
      <p:sp>
        <p:nvSpPr>
          <p:cNvPr id="7" name="矩形 6">
            <a:extLst>
              <a:ext uri="{FF2B5EF4-FFF2-40B4-BE49-F238E27FC236}">
                <a16:creationId xmlns:a16="http://schemas.microsoft.com/office/drawing/2014/main" id="{FE04FE46-EB47-422F-60D7-48ADAA4A5B19}"/>
              </a:ext>
            </a:extLst>
          </p:cNvPr>
          <p:cNvSpPr/>
          <p:nvPr/>
        </p:nvSpPr>
        <p:spPr bwMode="auto">
          <a:xfrm>
            <a:off x="3350305" y="5052508"/>
            <a:ext cx="1476838" cy="1338743"/>
          </a:xfrm>
          <a:prstGeom prst="rect">
            <a:avLst/>
          </a:prstGeom>
          <a:noFill/>
          <a:ln>
            <a:prstDash val="dash"/>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9" name="矩形 8">
            <a:extLst>
              <a:ext uri="{FF2B5EF4-FFF2-40B4-BE49-F238E27FC236}">
                <a16:creationId xmlns:a16="http://schemas.microsoft.com/office/drawing/2014/main" id="{86FEFE45-3E3E-B239-6599-52EE8ADE1298}"/>
              </a:ext>
            </a:extLst>
          </p:cNvPr>
          <p:cNvSpPr/>
          <p:nvPr/>
        </p:nvSpPr>
        <p:spPr bwMode="auto">
          <a:xfrm>
            <a:off x="7280299" y="4812440"/>
            <a:ext cx="1597932" cy="1475671"/>
          </a:xfrm>
          <a:prstGeom prst="rect">
            <a:avLst/>
          </a:prstGeom>
          <a:noFill/>
          <a:ln>
            <a:prstDash val="dash"/>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3236236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3582296" y="1124935"/>
            <a:ext cx="4492102" cy="494237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3918046" y="1394931"/>
            <a:ext cx="3381802" cy="3551771"/>
          </a:xfrm>
        </p:spPr>
        <p:txBody>
          <a:bodyPr/>
          <a:lstStyle/>
          <a:p>
            <a:pPr marL="457200" indent="-457200">
              <a:lnSpc>
                <a:spcPct val="150000"/>
              </a:lnSpc>
              <a:buFont typeface="+mj-lt"/>
              <a:buAutoNum type="arabicPeriod"/>
            </a:pPr>
            <a:r>
              <a:rPr lang="zh-CN" altLang="en-US" b="1" dirty="0">
                <a:solidFill>
                  <a:srgbClr val="743481"/>
                </a:solidFill>
              </a:rPr>
              <a:t>逻辑优化</a:t>
            </a:r>
            <a:r>
              <a:rPr lang="en-US" altLang="zh-CN" b="1" dirty="0">
                <a:solidFill>
                  <a:srgbClr val="743481"/>
                </a:solidFill>
              </a:rPr>
              <a:t>(</a:t>
            </a:r>
            <a:r>
              <a:rPr lang="zh-CN" altLang="en-US" b="1" dirty="0">
                <a:solidFill>
                  <a:srgbClr val="743481"/>
                </a:solidFill>
              </a:rPr>
              <a:t>查询重写</a:t>
            </a:r>
            <a:r>
              <a:rPr lang="en-US" altLang="zh-CN" b="1" dirty="0">
                <a:solidFill>
                  <a:srgbClr val="743481"/>
                </a:solidFill>
              </a:rPr>
              <a:t>)</a:t>
            </a:r>
          </a:p>
          <a:p>
            <a:pPr marL="457200" indent="-457200">
              <a:lnSpc>
                <a:spcPct val="150000"/>
              </a:lnSpc>
              <a:buFont typeface="+mj-lt"/>
              <a:buAutoNum type="arabicPeriod"/>
            </a:pPr>
            <a:r>
              <a:rPr lang="zh-CN" altLang="en-US" dirty="0"/>
              <a:t>物理优化</a:t>
            </a:r>
            <a:endParaRPr lang="en-US" altLang="zh-CN" dirty="0"/>
          </a:p>
          <a:p>
            <a:pPr marL="826486" lvl="1" indent="-457200">
              <a:lnSpc>
                <a:spcPct val="150000"/>
              </a:lnSpc>
              <a:buFont typeface="Wingdings" pitchFamily="2" charset="2"/>
              <a:buChar char="l"/>
            </a:pPr>
            <a:r>
              <a:rPr lang="zh-CN" altLang="en-US" sz="2400" dirty="0"/>
              <a:t>代价估计</a:t>
            </a:r>
            <a:endParaRPr lang="en-US" altLang="zh-CN" sz="2400" dirty="0"/>
          </a:p>
          <a:p>
            <a:pPr marL="826486" lvl="1" indent="-457200">
              <a:lnSpc>
                <a:spcPct val="150000"/>
              </a:lnSpc>
              <a:buFont typeface="Wingdings" pitchFamily="2" charset="2"/>
              <a:buChar char="l"/>
            </a:pPr>
            <a:r>
              <a:rPr lang="zh-CN" altLang="en-US" sz="2400" dirty="0"/>
              <a:t>连接顺序选择</a:t>
            </a:r>
            <a:endParaRPr lang="en-US" altLang="zh-CN" sz="2400" dirty="0"/>
          </a:p>
          <a:p>
            <a:pPr marL="826486" lvl="1" indent="-457200">
              <a:lnSpc>
                <a:spcPct val="150000"/>
              </a:lnSpc>
              <a:buFont typeface="Wingdings" pitchFamily="2" charset="2"/>
              <a:buChar char="l"/>
            </a:pPr>
            <a:r>
              <a:rPr lang="zh-CN" altLang="en-US" sz="2400" dirty="0"/>
              <a:t>物理算子选择</a:t>
            </a:r>
            <a:endParaRPr lang="en-US" altLang="zh-CN" sz="2400" dirty="0"/>
          </a:p>
          <a:p>
            <a:pPr marL="457200" indent="-457200">
              <a:lnSpc>
                <a:spcPct val="150000"/>
              </a:lnSpc>
              <a:buFont typeface="+mj-lt"/>
              <a:buAutoNum type="arabicPeriod"/>
            </a:pPr>
            <a:r>
              <a:rPr lang="zh-CN" altLang="en-US" dirty="0"/>
              <a:t>优化器系统</a:t>
            </a:r>
            <a:endParaRPr lang="en-US" altLang="zh-CN" dirty="0"/>
          </a:p>
          <a:p>
            <a:pPr marL="457200" indent="-457200">
              <a:lnSpc>
                <a:spcPct val="150000"/>
              </a:lnSpc>
              <a:buFont typeface="+mj-lt"/>
              <a:buAutoNum type="arabicPeriod"/>
            </a:pPr>
            <a:r>
              <a:rPr lang="zh-CN" altLang="en-US" dirty="0"/>
              <a:t>物化视图 </a:t>
            </a:r>
          </a:p>
          <a:p>
            <a:pPr marL="514350" indent="-514350">
              <a:lnSpc>
                <a:spcPct val="150000"/>
              </a:lnSpc>
              <a:buFont typeface="+mj-lt"/>
              <a:buAutoNum type="arabicPeriod"/>
            </a:pPr>
            <a:endParaRPr lang="zh-CN" altLang="en-US" dirty="0"/>
          </a:p>
          <a:p>
            <a:pPr marL="514350" indent="-514350">
              <a:lnSpc>
                <a:spcPct val="150000"/>
              </a:lnSpc>
              <a:buFont typeface="+mj-lt"/>
              <a:buAutoNum type="arabicPeriod"/>
            </a:pPr>
            <a:endParaRPr lang="zh-CN" altLang="en-US" dirty="0"/>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53752"/>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2" name="页脚占位符 1">
            <a:extLst>
              <a:ext uri="{FF2B5EF4-FFF2-40B4-BE49-F238E27FC236}">
                <a16:creationId xmlns:a16="http://schemas.microsoft.com/office/drawing/2014/main" id="{1D284E60-CE14-ED1D-4912-BC1F24D092C0}"/>
              </a:ext>
            </a:extLst>
          </p:cNvPr>
          <p:cNvSpPr>
            <a:spLocks noGrp="1"/>
          </p:cNvSpPr>
          <p:nvPr>
            <p:ph type="ftr" sz="quarter" idx="11"/>
          </p:nvPr>
        </p:nvSpPr>
        <p:spPr/>
        <p:txBody>
          <a:bodyPr/>
          <a:lstStyle/>
          <a:p>
            <a:r>
              <a:rPr kumimoji="1" lang="zh-CN" altLang="en-US">
                <a:latin typeface="微软雅黑" panose="020B0503020204020204" pitchFamily="82" charset="2"/>
                <a:ea typeface="微软雅黑" panose="020B0503020204020204" pitchFamily="82" charset="2"/>
              </a:rPr>
              <a:t>数据库系统</a:t>
            </a:r>
            <a:r>
              <a:rPr kumimoji="1" lang="en-US" altLang="zh-CN">
                <a:latin typeface="微软雅黑" panose="020B0503020204020204" pitchFamily="82" charset="2"/>
                <a:ea typeface="微软雅黑" panose="020B0503020204020204" pitchFamily="82" charset="2"/>
              </a:rPr>
              <a:t>-</a:t>
            </a:r>
            <a:r>
              <a:rPr kumimoji="1" lang="zh-CN" altLang="en-US">
                <a:latin typeface="微软雅黑" panose="020B0503020204020204" pitchFamily="82" charset="2"/>
                <a:ea typeface="微软雅黑" panose="020B0503020204020204" pitchFamily="82" charset="2"/>
              </a:rPr>
              <a:t>存储系统</a:t>
            </a:r>
            <a:endParaRPr kumimoji="1" lang="zh-CN" altLang="en-US" dirty="0">
              <a:latin typeface="微软雅黑" panose="020B0503020204020204" pitchFamily="82" charset="2"/>
              <a:ea typeface="微软雅黑" panose="020B0503020204020204" pitchFamily="82" charset="2"/>
            </a:endParaRPr>
          </a:p>
        </p:txBody>
      </p:sp>
      <p:sp>
        <p:nvSpPr>
          <p:cNvPr id="4" name="灯片编号占位符 3">
            <a:extLst>
              <a:ext uri="{FF2B5EF4-FFF2-40B4-BE49-F238E27FC236}">
                <a16:creationId xmlns:a16="http://schemas.microsoft.com/office/drawing/2014/main" id="{C5B50267-C9DE-C0E9-C2B8-D7C9F2F05430}"/>
              </a:ext>
            </a:extLst>
          </p:cNvPr>
          <p:cNvSpPr>
            <a:spLocks noGrp="1"/>
          </p:cNvSpPr>
          <p:nvPr>
            <p:ph type="sldNum" sz="quarter" idx="12"/>
          </p:nvPr>
        </p:nvSpPr>
        <p:spPr/>
        <p:txBody>
          <a:bodyPr/>
          <a:lstStyle/>
          <a:p>
            <a:fld id="{4B0D34C0-35A8-654C-9FBA-7B4E017BD630}" type="slidenum">
              <a:rPr lang="en-US" altLang="zh-CN" smtClean="0">
                <a:latin typeface="微软雅黑" panose="020B0503020204020204" pitchFamily="82" charset="2"/>
                <a:ea typeface="微软雅黑" panose="020B0503020204020204" pitchFamily="82" charset="2"/>
              </a:rPr>
              <a:t>11</a:t>
            </a:fld>
            <a:endParaRPr kumimoji="1" lang="zh-CN" altLang="en-US">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1863671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EED26D2E-7A3F-4F10-BD9D-CEBB2C6CD655}"/>
              </a:ext>
            </a:extLst>
          </p:cNvPr>
          <p:cNvSpPr/>
          <p:nvPr/>
        </p:nvSpPr>
        <p:spPr>
          <a:xfrm>
            <a:off x="1139254" y="3997603"/>
            <a:ext cx="9930984" cy="138329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77E20BFF-E395-0CD5-ED5E-99A6222DE128}"/>
              </a:ext>
            </a:extLst>
          </p:cNvPr>
          <p:cNvSpPr>
            <a:spLocks noGrp="1"/>
          </p:cNvSpPr>
          <p:nvPr>
            <p:ph type="sldNum" sz="quarter" idx="10"/>
          </p:nvPr>
        </p:nvSpPr>
        <p:spPr/>
        <p:txBody>
          <a:bodyPr/>
          <a:lstStyle/>
          <a:p>
            <a:fld id="{4B0D34C0-35A8-654C-9FBA-7B4E017BD630}" type="slidenum">
              <a:rPr lang="en-US" altLang="zh-CN" smtClean="0"/>
              <a:t>12</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查询重写</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008000" y="1126800"/>
            <a:ext cx="10334077" cy="5005387"/>
          </a:xfrm>
        </p:spPr>
        <p:txBody>
          <a:bodyPr/>
          <a:lstStyle/>
          <a:p>
            <a:pPr>
              <a:lnSpc>
                <a:spcPct val="150000"/>
              </a:lnSpc>
              <a:buFont typeface="Wingdings" panose="05000000000000000000" pitchFamily="2" charset="2"/>
              <a:buChar char="Ø"/>
            </a:pPr>
            <a:r>
              <a:rPr lang="zh-CN" altLang="zh-CN" sz="2000" b="1" kern="1200" dirty="0">
                <a:solidFill>
                  <a:srgbClr val="701988"/>
                </a:solidFill>
              </a:rPr>
              <a:t>查询</a:t>
            </a:r>
            <a:r>
              <a:rPr lang="zh-CN" altLang="en-US" sz="2000" b="1" kern="1200" dirty="0">
                <a:solidFill>
                  <a:srgbClr val="701988"/>
                </a:solidFill>
              </a:rPr>
              <a:t>重写</a:t>
            </a:r>
            <a:r>
              <a:rPr lang="en-US" altLang="zh-CN" sz="2000" b="1" kern="1200" dirty="0">
                <a:solidFill>
                  <a:srgbClr val="701988"/>
                </a:solidFill>
              </a:rPr>
              <a:t>(query rewrite)</a:t>
            </a:r>
            <a:r>
              <a:rPr lang="zh-CN" altLang="en-US" sz="2000" b="1" kern="1200" dirty="0">
                <a:solidFill>
                  <a:srgbClr val="701988"/>
                </a:solidFill>
              </a:rPr>
              <a:t>：</a:t>
            </a:r>
            <a:r>
              <a:rPr lang="zh-CN" altLang="zh-CN" sz="2000" kern="1200" dirty="0"/>
              <a:t>按照一系列关系代数表达式的</a:t>
            </a:r>
            <a:r>
              <a:rPr lang="zh-CN" altLang="zh-CN" sz="2000" b="1" kern="1200" dirty="0">
                <a:solidFill>
                  <a:srgbClr val="743481"/>
                </a:solidFill>
              </a:rPr>
              <a:t>等价规则</a:t>
            </a:r>
            <a:r>
              <a:rPr lang="zh-CN" altLang="en-US" sz="2000" kern="1200" dirty="0"/>
              <a:t>，</a:t>
            </a:r>
            <a:r>
              <a:rPr lang="zh-CN" altLang="zh-CN" sz="2000" kern="1200" dirty="0"/>
              <a:t>对</a:t>
            </a:r>
            <a:r>
              <a:rPr lang="zh-CN" altLang="en-US" sz="2000" kern="1200" dirty="0"/>
              <a:t>查询的</a:t>
            </a:r>
            <a:r>
              <a:rPr lang="zh-CN" altLang="zh-CN" sz="2000" kern="1200" dirty="0"/>
              <a:t>关系代数表达式进行</a:t>
            </a:r>
            <a:r>
              <a:rPr lang="zh-CN" altLang="zh-CN" sz="2000" b="1" kern="1200" dirty="0">
                <a:solidFill>
                  <a:srgbClr val="743481"/>
                </a:solidFill>
              </a:rPr>
              <a:t>等价转换</a:t>
            </a:r>
            <a:r>
              <a:rPr lang="zh-CN" altLang="zh-CN" sz="2000" kern="1200" dirty="0"/>
              <a:t>，</a:t>
            </a:r>
            <a:r>
              <a:rPr lang="zh-CN" altLang="en-US" sz="2000" kern="1200" dirty="0"/>
              <a:t>从而提高查询</a:t>
            </a:r>
            <a:r>
              <a:rPr lang="zh-CN" altLang="zh-CN" sz="2000" kern="1200" dirty="0"/>
              <a:t>执行效率</a:t>
            </a:r>
            <a:endParaRPr lang="en-US" altLang="zh-CN" sz="2000" dirty="0"/>
          </a:p>
          <a:p>
            <a:pPr>
              <a:lnSpc>
                <a:spcPct val="150000"/>
              </a:lnSpc>
              <a:buFont typeface="Wingdings" panose="05000000000000000000" pitchFamily="2" charset="2"/>
              <a:buChar char="Ø"/>
            </a:pPr>
            <a:r>
              <a:rPr lang="zh-CN" altLang="zh-CN" sz="2000" b="1" kern="1200" dirty="0">
                <a:solidFill>
                  <a:srgbClr val="701988"/>
                </a:solidFill>
              </a:rPr>
              <a:t>关系表达式的等价（</a:t>
            </a:r>
            <a:r>
              <a:rPr lang="en-US" altLang="zh-CN" sz="2000" b="1" kern="1200" dirty="0">
                <a:solidFill>
                  <a:srgbClr val="701988"/>
                </a:solidFill>
              </a:rPr>
              <a:t>equivalent</a:t>
            </a:r>
            <a:r>
              <a:rPr lang="zh-CN" altLang="zh-CN" sz="2000" b="1" kern="1200" dirty="0">
                <a:solidFill>
                  <a:srgbClr val="701988"/>
                </a:solidFill>
              </a:rPr>
              <a:t>）：</a:t>
            </a:r>
            <a:r>
              <a:rPr lang="zh-CN" altLang="zh-CN" sz="2000" kern="1200" dirty="0"/>
              <a:t>对于两个关系代数表达式，如果使用相同的关系对表达式中的关系进行替换，总能得到</a:t>
            </a:r>
            <a:r>
              <a:rPr lang="zh-CN" altLang="zh-CN" sz="2000" b="1" kern="1200" dirty="0">
                <a:solidFill>
                  <a:srgbClr val="743481"/>
                </a:solidFill>
              </a:rPr>
              <a:t>完全相同的结果</a:t>
            </a:r>
            <a:r>
              <a:rPr lang="zh-CN" altLang="zh-CN" sz="2000" kern="1200" dirty="0"/>
              <a:t>，则称这两个关系表达式</a:t>
            </a:r>
            <a:r>
              <a:rPr lang="zh-CN" altLang="zh-CN" sz="2000" b="1" kern="1200" dirty="0">
                <a:solidFill>
                  <a:srgbClr val="743481"/>
                </a:solidFill>
              </a:rPr>
              <a:t>等价</a:t>
            </a:r>
            <a:endParaRPr lang="en-US" altLang="zh-CN" sz="2000" kern="1200" dirty="0">
              <a:solidFill>
                <a:srgbClr val="743481"/>
              </a:solidFill>
            </a:endParaRPr>
          </a:p>
          <a:p>
            <a:pPr>
              <a:lnSpc>
                <a:spcPct val="150000"/>
              </a:lnSpc>
              <a:buFont typeface="Wingdings" pitchFamily="2" charset="2"/>
              <a:buChar char="p"/>
            </a:pPr>
            <a:endParaRPr lang="en-US" altLang="zh-CN" kern="1200" dirty="0"/>
          </a:p>
          <a:p>
            <a:pPr marL="0" indent="0">
              <a:lnSpc>
                <a:spcPct val="150000"/>
              </a:lnSpc>
              <a:buNone/>
            </a:pPr>
            <a:endParaRPr lang="en-US" altLang="zh-CN" kern="1200" dirty="0"/>
          </a:p>
          <a:p>
            <a:pPr>
              <a:lnSpc>
                <a:spcPct val="150000"/>
              </a:lnSpc>
              <a:buFont typeface="Wingdings" pitchFamily="2" charset="2"/>
              <a:buChar char="p"/>
            </a:pPr>
            <a:endParaRPr lang="en-US" altLang="zh-CN" kern="1200" dirty="0"/>
          </a:p>
          <a:p>
            <a:pPr marL="0" indent="0">
              <a:lnSpc>
                <a:spcPct val="150000"/>
              </a:lnSpc>
              <a:buNone/>
            </a:pPr>
            <a:endParaRPr lang="en-US" altLang="zh-CN" kern="1200" dirty="0"/>
          </a:p>
          <a:p>
            <a:pPr>
              <a:lnSpc>
                <a:spcPct val="150000"/>
              </a:lnSpc>
              <a:buFont typeface="Wingdings" pitchFamily="2" charset="2"/>
              <a:buChar char="p"/>
            </a:pPr>
            <a:endParaRPr lang="zh-CN" altLang="zh-CN" kern="1200" dirty="0"/>
          </a:p>
          <a:p>
            <a:pPr>
              <a:lnSpc>
                <a:spcPct val="150000"/>
              </a:lnSpc>
              <a:buFont typeface="Wingdings" pitchFamily="2" charset="2"/>
              <a:buChar char="p"/>
            </a:pPr>
            <a:endParaRPr lang="zh-CN" altLang="en-US" dirty="0"/>
          </a:p>
          <a:p>
            <a:pPr>
              <a:lnSpc>
                <a:spcPct val="150000"/>
              </a:lnSpc>
              <a:buFont typeface="Wingdings" pitchFamily="2" charset="2"/>
              <a:buChar char="p"/>
            </a:pPr>
            <a:endParaRPr lang="zh-CN" altLang="zh-CN" dirty="0"/>
          </a:p>
          <a:p>
            <a:pPr marL="0" indent="0">
              <a:lnSpc>
                <a:spcPct val="150000"/>
              </a:lnSpc>
              <a:buNone/>
            </a:pPr>
            <a:endParaRPr lang="en-US" altLang="zh-CN" dirty="0"/>
          </a:p>
          <a:p>
            <a:pPr marL="0" indent="0">
              <a:lnSpc>
                <a:spcPct val="150000"/>
              </a:lnSpc>
              <a:buNone/>
            </a:pPr>
            <a:endParaRPr lang="en-US" altLang="zh-CN" dirty="0"/>
          </a:p>
          <a:p>
            <a:pPr>
              <a:lnSpc>
                <a:spcPct val="150000"/>
              </a:lnSpc>
              <a:buFont typeface="Wingdings" pitchFamily="2" charset="2"/>
              <a:buChar char="l"/>
            </a:pPr>
            <a:endParaRPr lang="en-US" altLang="zh-CN" dirty="0"/>
          </a:p>
        </p:txBody>
      </p:sp>
      <p:sp>
        <p:nvSpPr>
          <p:cNvPr id="5" name="页脚占位符 4">
            <a:extLst>
              <a:ext uri="{FF2B5EF4-FFF2-40B4-BE49-F238E27FC236}">
                <a16:creationId xmlns:a16="http://schemas.microsoft.com/office/drawing/2014/main" id="{853F09BA-4107-72A3-A4A3-90D3F80806EF}"/>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7A27F316-BD33-5435-6B48-A4A248236440}"/>
                  </a:ext>
                </a:extLst>
              </p:cNvPr>
              <p:cNvSpPr/>
              <p:nvPr/>
            </p:nvSpPr>
            <p:spPr>
              <a:xfrm>
                <a:off x="3069912" y="3997603"/>
                <a:ext cx="6502401" cy="1133965"/>
              </a:xfrm>
              <a:prstGeom prst="rect">
                <a:avLst/>
              </a:prstGeom>
            </p:spPr>
            <p:txBody>
              <a:bodyPr wrap="square">
                <a:spAutoFit/>
              </a:bodyPr>
              <a:lstStyle/>
              <a:p>
                <a:pPr marL="342900" lvl="0" indent="-342900" algn="just">
                  <a:lnSpc>
                    <a:spcPct val="150000"/>
                  </a:lnSpc>
                  <a:buFont typeface="宋体" panose="02010600030101010101" pitchFamily="2" charset="-122"/>
                  <a:buChar char="·"/>
                </a:pP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1</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2</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2</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1</m:t>
                        </m:r>
                      </m:sub>
                    </m:sSub>
                  </m:oMath>
                </a14:m>
                <a:endParaRPr lang="zh-CN" altLang="zh-CN" sz="2400" kern="100" dirty="0">
                  <a:latin typeface="+mj-ea"/>
                  <a:ea typeface="+mj-ea"/>
                  <a:cs typeface="Times New Roman" panose="02020603050405020304" pitchFamily="18" charset="0"/>
                </a:endParaRPr>
              </a:p>
              <a:p>
                <a:pPr marL="342900" lvl="0" indent="-342900" algn="just">
                  <a:lnSpc>
                    <a:spcPct val="150000"/>
                  </a:lnSpc>
                  <a:buFont typeface="宋体" panose="02010600030101010101" pitchFamily="2" charset="-122"/>
                  <a:buChar char="·"/>
                </a:pP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m:t>
                        </m:r>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1</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2</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3</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1</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2</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3</m:t>
                        </m:r>
                      </m:sub>
                    </m:sSub>
                    <m:r>
                      <a:rPr lang="en-US" altLang="zh-CN" sz="2400" i="1" kern="100">
                        <a:latin typeface="Cambria Math" panose="02040503050406030204" pitchFamily="18" charset="0"/>
                        <a:ea typeface="+mj-ea"/>
                        <a:cs typeface="Times New Roman" panose="02020603050405020304" pitchFamily="18" charset="0"/>
                      </a:rPr>
                      <m:t>)</m:t>
                    </m:r>
                  </m:oMath>
                </a14:m>
                <a:endParaRPr lang="zh-CN" altLang="zh-CN" sz="2400" kern="100" dirty="0">
                  <a:latin typeface="+mj-ea"/>
                  <a:ea typeface="+mj-ea"/>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xmlns:a14="http://schemas.microsoft.com/office/drawing/2010/main" xmlns="" id="{7A27F316-BD33-5435-6B48-A4A248236440}"/>
                  </a:ext>
                </a:extLst>
              </p:cNvPr>
              <p:cNvSpPr>
                <a:spLocks noRot="1" noChangeAspect="1" noMove="1" noResize="1" noEditPoints="1" noAdjustHandles="1" noChangeArrowheads="1" noChangeShapeType="1" noTextEdit="1"/>
              </p:cNvSpPr>
              <p:nvPr/>
            </p:nvSpPr>
            <p:spPr>
              <a:xfrm>
                <a:off x="3069912" y="3997603"/>
                <a:ext cx="6502401" cy="1133965"/>
              </a:xfrm>
              <a:prstGeom prst="rect">
                <a:avLst/>
              </a:prstGeom>
              <a:blipFill rotWithShape="0">
                <a:blip r:embed="rId3"/>
                <a:stretch>
                  <a:fillRect l="-1032" b="-7527"/>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F055F819-361A-B286-A698-175021136F9E}"/>
              </a:ext>
            </a:extLst>
          </p:cNvPr>
          <p:cNvSpPr/>
          <p:nvPr/>
        </p:nvSpPr>
        <p:spPr>
          <a:xfrm>
            <a:off x="1957107" y="4102920"/>
            <a:ext cx="1112805" cy="461665"/>
          </a:xfrm>
          <a:prstGeom prst="rect">
            <a:avLst/>
          </a:prstGeom>
        </p:spPr>
        <p:txBody>
          <a:bodyPr wrap="none">
            <a:spAutoFit/>
          </a:bodyPr>
          <a:lstStyle/>
          <a:p>
            <a:r>
              <a:rPr lang="zh-CN" altLang="en-US" sz="2400" b="1" dirty="0">
                <a:latin typeface="+mj-ea"/>
                <a:ea typeface="+mj-ea"/>
              </a:rPr>
              <a:t>例如：</a:t>
            </a:r>
          </a:p>
        </p:txBody>
      </p:sp>
    </p:spTree>
    <p:extLst>
      <p:ext uri="{BB962C8B-B14F-4D97-AF65-F5344CB8AC3E}">
        <p14:creationId xmlns:p14="http://schemas.microsoft.com/office/powerpoint/2010/main" val="870162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1270357" y="2743195"/>
            <a:ext cx="9649687" cy="336950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E90D0C5E-DD6F-27B5-33B4-A6448CD62CC1}"/>
              </a:ext>
            </a:extLst>
          </p:cNvPr>
          <p:cNvSpPr>
            <a:spLocks noGrp="1"/>
          </p:cNvSpPr>
          <p:nvPr>
            <p:ph type="sldNum" sz="quarter" idx="10"/>
          </p:nvPr>
        </p:nvSpPr>
        <p:spPr/>
        <p:txBody>
          <a:bodyPr/>
          <a:lstStyle/>
          <a:p>
            <a:fld id="{4B0D34C0-35A8-654C-9FBA-7B4E017BD630}" type="slidenum">
              <a:rPr lang="en-US" altLang="zh-CN" smtClean="0"/>
              <a:t>13</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查询重写</a:t>
            </a:r>
          </a:p>
        </p:txBody>
      </p:sp>
      <p:sp>
        <p:nvSpPr>
          <p:cNvPr id="4" name="页脚占位符 3">
            <a:extLst>
              <a:ext uri="{FF2B5EF4-FFF2-40B4-BE49-F238E27FC236}">
                <a16:creationId xmlns:a16="http://schemas.microsoft.com/office/drawing/2014/main" id="{ADE70B78-682F-71BE-9E06-B850500C41E7}"/>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6" name="矩形 5">
            <a:extLst>
              <a:ext uri="{FF2B5EF4-FFF2-40B4-BE49-F238E27FC236}">
                <a16:creationId xmlns:a16="http://schemas.microsoft.com/office/drawing/2014/main" id="{87CD6565-9BFD-48CF-AC32-CE8899FEF6E1}"/>
              </a:ext>
            </a:extLst>
          </p:cNvPr>
          <p:cNvSpPr/>
          <p:nvPr/>
        </p:nvSpPr>
        <p:spPr>
          <a:xfrm>
            <a:off x="1008000" y="1126800"/>
            <a:ext cx="10271276" cy="1477328"/>
          </a:xfrm>
          <a:prstGeom prst="rect">
            <a:avLst/>
          </a:prstGeom>
        </p:spPr>
        <p:txBody>
          <a:bodyPr wrap="square">
            <a:spAutoFit/>
          </a:bodyPr>
          <a:lstStyle/>
          <a:p>
            <a:pPr marL="342900" indent="-342900">
              <a:lnSpc>
                <a:spcPct val="150000"/>
              </a:lnSpc>
              <a:buFont typeface="Wingdings" panose="05000000000000000000" pitchFamily="2" charset="2"/>
              <a:buChar char="Ø"/>
            </a:pPr>
            <a:r>
              <a:rPr kumimoji="1" lang="zh-CN" altLang="zh-CN" sz="2000" b="1" dirty="0">
                <a:solidFill>
                  <a:srgbClr val="701988"/>
                </a:solidFill>
                <a:latin typeface="+mj-ea"/>
                <a:ea typeface="+mj-ea"/>
                <a:cs typeface="Arial"/>
              </a:rPr>
              <a:t>等价规则</a:t>
            </a:r>
            <a:r>
              <a:rPr kumimoji="1" lang="en-US" altLang="zh-CN" sz="2000" b="1" dirty="0">
                <a:solidFill>
                  <a:srgbClr val="701988"/>
                </a:solidFill>
                <a:latin typeface="+mj-ea"/>
                <a:ea typeface="+mj-ea"/>
                <a:cs typeface="Arial"/>
              </a:rPr>
              <a:t>(equivalence rule)</a:t>
            </a:r>
            <a:r>
              <a:rPr kumimoji="1" lang="zh-CN" altLang="en-US" sz="2000" b="1" dirty="0">
                <a:solidFill>
                  <a:srgbClr val="701988"/>
                </a:solidFill>
                <a:latin typeface="+mj-ea"/>
                <a:ea typeface="+mj-ea"/>
                <a:cs typeface="Arial"/>
              </a:rPr>
              <a:t>：</a:t>
            </a:r>
            <a:r>
              <a:rPr lang="zh-CN" altLang="zh-CN" sz="2000" dirty="0">
                <a:latin typeface="+mj-ea"/>
                <a:ea typeface="+mj-ea"/>
              </a:rPr>
              <a:t>指出哪些不同形式的关系表达式是等价的 </a:t>
            </a:r>
            <a:endParaRPr lang="en-US" altLang="zh-CN" sz="2000" dirty="0">
              <a:latin typeface="+mj-ea"/>
              <a:ea typeface="+mj-ea"/>
            </a:endParaRPr>
          </a:p>
          <a:p>
            <a:pPr marL="342900" indent="-342900">
              <a:lnSpc>
                <a:spcPct val="150000"/>
              </a:lnSpc>
              <a:buFont typeface="Wingdings" panose="05000000000000000000" pitchFamily="2" charset="2"/>
              <a:buChar char="Ø"/>
            </a:pPr>
            <a:r>
              <a:rPr kumimoji="1" lang="zh-CN" altLang="en-US" sz="2000" b="1" dirty="0">
                <a:solidFill>
                  <a:srgbClr val="701988"/>
                </a:solidFill>
                <a:latin typeface="+mj-ea"/>
                <a:ea typeface="+mj-ea"/>
                <a:cs typeface="Arial"/>
              </a:rPr>
              <a:t>核心思想：</a:t>
            </a:r>
            <a:r>
              <a:rPr lang="zh-CN" altLang="zh-CN" sz="2000" dirty="0">
                <a:latin typeface="+mj-ea"/>
                <a:ea typeface="+mj-ea"/>
              </a:rPr>
              <a:t>通过调整关系代数运算的顺序，来</a:t>
            </a:r>
            <a:r>
              <a:rPr lang="zh-CN" altLang="zh-CN" sz="2000" b="1" dirty="0">
                <a:solidFill>
                  <a:srgbClr val="743481"/>
                </a:solidFill>
                <a:latin typeface="+mj-ea"/>
                <a:ea typeface="+mj-ea"/>
              </a:rPr>
              <a:t>最小化每步运算要处理的行数</a:t>
            </a:r>
            <a:r>
              <a:rPr lang="zh-CN" altLang="zh-CN" sz="2000" dirty="0">
                <a:latin typeface="+mj-ea"/>
                <a:ea typeface="+mj-ea"/>
              </a:rPr>
              <a:t>，从而提高运算效率。 </a:t>
            </a:r>
            <a:endParaRPr lang="en-US" altLang="zh-CN" sz="2000" dirty="0">
              <a:latin typeface="+mj-ea"/>
              <a:ea typeface="+mj-ea"/>
            </a:endParaRPr>
          </a:p>
        </p:txBody>
      </p:sp>
      <p:pic>
        <p:nvPicPr>
          <p:cNvPr id="11" name="图片 10">
            <a:extLst>
              <a:ext uri="{FF2B5EF4-FFF2-40B4-BE49-F238E27FC236}">
                <a16:creationId xmlns:a16="http://schemas.microsoft.com/office/drawing/2014/main" id="{2EF6DC66-47BF-DC1E-B485-655B73CE0F8D}"/>
              </a:ext>
            </a:extLst>
          </p:cNvPr>
          <p:cNvPicPr>
            <a:picLocks noChangeAspect="1"/>
          </p:cNvPicPr>
          <p:nvPr/>
        </p:nvPicPr>
        <p:blipFill>
          <a:blip r:embed="rId3"/>
          <a:stretch>
            <a:fillRect/>
          </a:stretch>
        </p:blipFill>
        <p:spPr>
          <a:xfrm>
            <a:off x="2146155" y="2953405"/>
            <a:ext cx="7894660" cy="3121144"/>
          </a:xfrm>
          <a:prstGeom prst="rect">
            <a:avLst/>
          </a:prstGeom>
        </p:spPr>
      </p:pic>
    </p:spTree>
    <p:extLst>
      <p:ext uri="{BB962C8B-B14F-4D97-AF65-F5344CB8AC3E}">
        <p14:creationId xmlns:p14="http://schemas.microsoft.com/office/powerpoint/2010/main" val="1820116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18">
            <a:extLst>
              <a:ext uri="{FF2B5EF4-FFF2-40B4-BE49-F238E27FC236}">
                <a16:creationId xmlns:a16="http://schemas.microsoft.com/office/drawing/2014/main" id="{0FF52922-3D42-4412-80D4-E8608AC407DF}"/>
              </a:ext>
            </a:extLst>
          </p:cNvPr>
          <p:cNvSpPr/>
          <p:nvPr/>
        </p:nvSpPr>
        <p:spPr>
          <a:xfrm>
            <a:off x="1503764" y="4506110"/>
            <a:ext cx="9184469" cy="175401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4" name="Shape18">
            <a:extLst>
              <a:ext uri="{FF2B5EF4-FFF2-40B4-BE49-F238E27FC236}">
                <a16:creationId xmlns:a16="http://schemas.microsoft.com/office/drawing/2014/main" id="{0FF52922-3D42-4412-80D4-E8608AC407DF}"/>
              </a:ext>
            </a:extLst>
          </p:cNvPr>
          <p:cNvSpPr/>
          <p:nvPr/>
        </p:nvSpPr>
        <p:spPr>
          <a:xfrm>
            <a:off x="1515770" y="1547446"/>
            <a:ext cx="9184469" cy="224203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E90D0C5E-DD6F-27B5-33B4-A6448CD62CC1}"/>
              </a:ext>
            </a:extLst>
          </p:cNvPr>
          <p:cNvSpPr>
            <a:spLocks noGrp="1"/>
          </p:cNvSpPr>
          <p:nvPr>
            <p:ph type="sldNum" sz="quarter" idx="10"/>
          </p:nvPr>
        </p:nvSpPr>
        <p:spPr/>
        <p:txBody>
          <a:bodyPr/>
          <a:lstStyle/>
          <a:p>
            <a:fld id="{4B0D34C0-35A8-654C-9FBA-7B4E017BD630}" type="slidenum">
              <a:rPr lang="en-US" altLang="zh-CN" smtClean="0"/>
              <a:t>14</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查询重写</a:t>
            </a:r>
          </a:p>
        </p:txBody>
      </p:sp>
      <p:sp>
        <p:nvSpPr>
          <p:cNvPr id="5" name="页脚占位符 4">
            <a:extLst>
              <a:ext uri="{FF2B5EF4-FFF2-40B4-BE49-F238E27FC236}">
                <a16:creationId xmlns:a16="http://schemas.microsoft.com/office/drawing/2014/main" id="{9230C9AD-D374-0B9E-A608-F2E2F760BF48}"/>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6" name="矩形 5">
            <a:extLst>
              <a:ext uri="{FF2B5EF4-FFF2-40B4-BE49-F238E27FC236}">
                <a16:creationId xmlns:a16="http://schemas.microsoft.com/office/drawing/2014/main" id="{87CD6565-9BFD-48CF-AC32-CE8899FEF6E1}"/>
              </a:ext>
            </a:extLst>
          </p:cNvPr>
          <p:cNvSpPr/>
          <p:nvPr/>
        </p:nvSpPr>
        <p:spPr>
          <a:xfrm>
            <a:off x="586745" y="1112192"/>
            <a:ext cx="11509002" cy="3416320"/>
          </a:xfrm>
          <a:prstGeom prst="rect">
            <a:avLst/>
          </a:prstGeom>
        </p:spPr>
        <p:txBody>
          <a:bodyPr wrap="square">
            <a:spAutoFit/>
          </a:bodyPr>
          <a:lstStyle/>
          <a:p>
            <a:r>
              <a:rPr lang="en-US" altLang="zh-CN" sz="2000" b="1" dirty="0">
                <a:solidFill>
                  <a:srgbClr val="701988"/>
                </a:solidFill>
                <a:latin typeface="+mj-ea"/>
                <a:ea typeface="+mj-ea"/>
              </a:rPr>
              <a:t>1.</a:t>
            </a:r>
            <a:r>
              <a:rPr lang="zh-CN" altLang="en-US" sz="2000" b="1" dirty="0">
                <a:solidFill>
                  <a:srgbClr val="701988"/>
                </a:solidFill>
                <a:latin typeface="+mj-ea"/>
                <a:ea typeface="+mj-ea"/>
              </a:rPr>
              <a:t>基于规则</a:t>
            </a:r>
            <a:endParaRPr lang="en-US" altLang="zh-CN" sz="2000" b="1" dirty="0">
              <a:solidFill>
                <a:srgbClr val="701988"/>
              </a:solidFill>
              <a:latin typeface="+mj-ea"/>
              <a:ea typeface="+mj-ea"/>
            </a:endParaRPr>
          </a:p>
          <a:p>
            <a:endParaRPr lang="en-US" altLang="zh-CN" sz="2400" b="1" dirty="0">
              <a:latin typeface="+mj-ea"/>
              <a:ea typeface="+mj-ea"/>
            </a:endParaRPr>
          </a:p>
          <a:p>
            <a:endParaRPr lang="en-US" altLang="zh-CN" sz="2400" b="1" dirty="0">
              <a:latin typeface="+mj-ea"/>
              <a:ea typeface="+mj-ea"/>
            </a:endParaRPr>
          </a:p>
          <a:p>
            <a:endParaRPr lang="en-US" altLang="zh-CN" sz="2400" b="1" dirty="0">
              <a:latin typeface="+mj-ea"/>
              <a:ea typeface="+mj-ea"/>
            </a:endParaRPr>
          </a:p>
          <a:p>
            <a:endParaRPr lang="en-US" altLang="zh-CN" sz="2400" b="1" dirty="0">
              <a:latin typeface="+mj-ea"/>
              <a:ea typeface="+mj-ea"/>
            </a:endParaRPr>
          </a:p>
          <a:p>
            <a:endParaRPr lang="en-US" altLang="zh-CN" sz="2400" b="1" dirty="0">
              <a:latin typeface="+mj-ea"/>
              <a:ea typeface="+mj-ea"/>
            </a:endParaRPr>
          </a:p>
          <a:p>
            <a:endParaRPr lang="en-US" altLang="zh-CN" sz="2400" b="1" dirty="0">
              <a:latin typeface="+mj-ea"/>
              <a:ea typeface="+mj-ea"/>
            </a:endParaRPr>
          </a:p>
          <a:p>
            <a:endParaRPr lang="en-US" altLang="zh-CN" sz="2400" b="1" dirty="0">
              <a:latin typeface="+mj-ea"/>
              <a:ea typeface="+mj-ea"/>
            </a:endParaRPr>
          </a:p>
          <a:p>
            <a:r>
              <a:rPr lang="en-US" altLang="zh-CN" sz="2000" b="1" dirty="0">
                <a:solidFill>
                  <a:srgbClr val="701988"/>
                </a:solidFill>
                <a:latin typeface="+mj-ea"/>
                <a:ea typeface="+mj-ea"/>
              </a:rPr>
              <a:t>2.</a:t>
            </a:r>
            <a:r>
              <a:rPr lang="zh-CN" altLang="en-US" sz="2000" b="1" dirty="0">
                <a:solidFill>
                  <a:srgbClr val="701988"/>
                </a:solidFill>
                <a:latin typeface="+mj-ea"/>
                <a:ea typeface="+mj-ea"/>
              </a:rPr>
              <a:t>基于代价：</a:t>
            </a:r>
            <a:r>
              <a:rPr lang="zh-CN" altLang="en-US" sz="2000" dirty="0">
                <a:latin typeface="+mj-ea"/>
                <a:ea typeface="+mj-ea"/>
              </a:rPr>
              <a:t>按照代价重写</a:t>
            </a:r>
            <a:endParaRPr lang="en-US" altLang="zh-CN" sz="2000" dirty="0">
              <a:latin typeface="+mj-ea"/>
              <a:ea typeface="+mj-ea"/>
            </a:endParaRPr>
          </a:p>
        </p:txBody>
      </p:sp>
      <p:pic>
        <p:nvPicPr>
          <p:cNvPr id="10" name="图片 9">
            <a:extLst>
              <a:ext uri="{FF2B5EF4-FFF2-40B4-BE49-F238E27FC236}">
                <a16:creationId xmlns:a16="http://schemas.microsoft.com/office/drawing/2014/main" id="{F23B885C-D775-1C70-C733-F9E63F18E45A}"/>
              </a:ext>
            </a:extLst>
          </p:cNvPr>
          <p:cNvPicPr>
            <a:picLocks noChangeAspect="1"/>
          </p:cNvPicPr>
          <p:nvPr/>
        </p:nvPicPr>
        <p:blipFill>
          <a:blip r:embed="rId3"/>
          <a:stretch>
            <a:fillRect/>
          </a:stretch>
        </p:blipFill>
        <p:spPr>
          <a:xfrm>
            <a:off x="1709199" y="4674167"/>
            <a:ext cx="4003725" cy="1408883"/>
          </a:xfrm>
          <a:prstGeom prst="rect">
            <a:avLst/>
          </a:prstGeom>
        </p:spPr>
      </p:pic>
      <p:pic>
        <p:nvPicPr>
          <p:cNvPr id="12" name="图片 11">
            <a:extLst>
              <a:ext uri="{FF2B5EF4-FFF2-40B4-BE49-F238E27FC236}">
                <a16:creationId xmlns:a16="http://schemas.microsoft.com/office/drawing/2014/main" id="{8D4FF6B3-DA5F-8A43-D6F6-CD10C0CB6D9B}"/>
              </a:ext>
            </a:extLst>
          </p:cNvPr>
          <p:cNvPicPr>
            <a:picLocks noChangeAspect="1"/>
          </p:cNvPicPr>
          <p:nvPr/>
        </p:nvPicPr>
        <p:blipFill>
          <a:blip r:embed="rId4"/>
          <a:stretch>
            <a:fillRect/>
          </a:stretch>
        </p:blipFill>
        <p:spPr>
          <a:xfrm>
            <a:off x="6360172" y="4674167"/>
            <a:ext cx="3953678" cy="1408883"/>
          </a:xfrm>
          <a:prstGeom prst="rect">
            <a:avLst/>
          </a:prstGeom>
        </p:spPr>
      </p:pic>
      <p:sp>
        <p:nvSpPr>
          <p:cNvPr id="13" name="右箭头 12">
            <a:extLst>
              <a:ext uri="{FF2B5EF4-FFF2-40B4-BE49-F238E27FC236}">
                <a16:creationId xmlns:a16="http://schemas.microsoft.com/office/drawing/2014/main" id="{40FF2B21-E79A-3BEB-2417-A731BBC03AFA}"/>
              </a:ext>
            </a:extLst>
          </p:cNvPr>
          <p:cNvSpPr/>
          <p:nvPr/>
        </p:nvSpPr>
        <p:spPr bwMode="auto">
          <a:xfrm>
            <a:off x="5871410" y="5176873"/>
            <a:ext cx="365760" cy="356135"/>
          </a:xfrm>
          <a:prstGeom prst="rightArrow">
            <a:avLst/>
          </a:prstGeom>
          <a:noFill/>
          <a:ln w="38100" cap="flat" cmpd="sng" algn="ctr">
            <a:solidFill>
              <a:schemeClr val="tx1">
                <a:lumMod val="50000"/>
                <a:lumOff val="50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4" name="图片 3">
            <a:extLst>
              <a:ext uri="{FF2B5EF4-FFF2-40B4-BE49-F238E27FC236}">
                <a16:creationId xmlns:a16="http://schemas.microsoft.com/office/drawing/2014/main" id="{37D379E3-12DA-F9EC-107D-AC5DA0CBE071}"/>
              </a:ext>
            </a:extLst>
          </p:cNvPr>
          <p:cNvPicPr>
            <a:picLocks noChangeAspect="1"/>
          </p:cNvPicPr>
          <p:nvPr/>
        </p:nvPicPr>
        <p:blipFill>
          <a:blip r:embed="rId5"/>
          <a:stretch>
            <a:fillRect/>
          </a:stretch>
        </p:blipFill>
        <p:spPr>
          <a:xfrm>
            <a:off x="2253947" y="1778012"/>
            <a:ext cx="3036948" cy="1939099"/>
          </a:xfrm>
          <a:prstGeom prst="rect">
            <a:avLst/>
          </a:prstGeom>
        </p:spPr>
      </p:pic>
      <p:sp>
        <p:nvSpPr>
          <p:cNvPr id="7" name="右箭头 6">
            <a:extLst>
              <a:ext uri="{FF2B5EF4-FFF2-40B4-BE49-F238E27FC236}">
                <a16:creationId xmlns:a16="http://schemas.microsoft.com/office/drawing/2014/main" id="{A9D0EB23-BDA5-28BD-59F5-25F0AB2FA65F}"/>
              </a:ext>
            </a:extLst>
          </p:cNvPr>
          <p:cNvSpPr/>
          <p:nvPr/>
        </p:nvSpPr>
        <p:spPr bwMode="auto">
          <a:xfrm>
            <a:off x="6001901" y="2756030"/>
            <a:ext cx="339814" cy="268942"/>
          </a:xfrm>
          <a:prstGeom prst="rightArrow">
            <a:avLst/>
          </a:prstGeom>
          <a:noFill/>
          <a:ln w="38100" cap="flat" cmpd="sng" algn="ctr">
            <a:solidFill>
              <a:schemeClr val="tx1">
                <a:lumMod val="50000"/>
                <a:lumOff val="50000"/>
              </a:schemeClr>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11" name="图片 10">
            <a:extLst>
              <a:ext uri="{FF2B5EF4-FFF2-40B4-BE49-F238E27FC236}">
                <a16:creationId xmlns:a16="http://schemas.microsoft.com/office/drawing/2014/main" id="{05EFAA26-3A95-F588-B249-7AEECACFA479}"/>
              </a:ext>
            </a:extLst>
          </p:cNvPr>
          <p:cNvPicPr>
            <a:picLocks noChangeAspect="1"/>
          </p:cNvPicPr>
          <p:nvPr/>
        </p:nvPicPr>
        <p:blipFill>
          <a:blip r:embed="rId6"/>
          <a:stretch>
            <a:fillRect/>
          </a:stretch>
        </p:blipFill>
        <p:spPr>
          <a:xfrm>
            <a:off x="7070305" y="1660231"/>
            <a:ext cx="3036948" cy="2056880"/>
          </a:xfrm>
          <a:prstGeom prst="rect">
            <a:avLst/>
          </a:prstGeom>
        </p:spPr>
      </p:pic>
    </p:spTree>
    <p:extLst>
      <p:ext uri="{BB962C8B-B14F-4D97-AF65-F5344CB8AC3E}">
        <p14:creationId xmlns:p14="http://schemas.microsoft.com/office/powerpoint/2010/main" val="54057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90D0C5E-DD6F-27B5-33B4-A6448CD62CC1}"/>
              </a:ext>
            </a:extLst>
          </p:cNvPr>
          <p:cNvSpPr>
            <a:spLocks noGrp="1"/>
          </p:cNvSpPr>
          <p:nvPr>
            <p:ph type="sldNum" sz="quarter" idx="10"/>
          </p:nvPr>
        </p:nvSpPr>
        <p:spPr/>
        <p:txBody>
          <a:bodyPr/>
          <a:lstStyle/>
          <a:p>
            <a:fld id="{4B0D34C0-35A8-654C-9FBA-7B4E017BD630}" type="slidenum">
              <a:rPr lang="en-US" altLang="zh-CN" smtClean="0"/>
              <a:t>15</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重写规则概览</a:t>
            </a:r>
          </a:p>
        </p:txBody>
      </p:sp>
      <p:sp>
        <p:nvSpPr>
          <p:cNvPr id="5" name="页脚占位符 4">
            <a:extLst>
              <a:ext uri="{FF2B5EF4-FFF2-40B4-BE49-F238E27FC236}">
                <a16:creationId xmlns:a16="http://schemas.microsoft.com/office/drawing/2014/main" id="{49E984DA-BB02-8705-F4C5-FC8913C5811E}"/>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7CD6565-9BFD-48CF-AC32-CE8899FEF6E1}"/>
                  </a:ext>
                </a:extLst>
              </p:cNvPr>
              <p:cNvSpPr/>
              <p:nvPr/>
            </p:nvSpPr>
            <p:spPr>
              <a:xfrm>
                <a:off x="1458000" y="1126800"/>
                <a:ext cx="11509002" cy="4345420"/>
              </a:xfrm>
              <a:prstGeom prst="rect">
                <a:avLst/>
              </a:prstGeom>
            </p:spPr>
            <p:txBody>
              <a:bodyPr wrap="square">
                <a:spAutoFit/>
              </a:bodyPr>
              <a:lstStyle/>
              <a:p>
                <a:pPr marL="457200" indent="-457200">
                  <a:lnSpc>
                    <a:spcPct val="150000"/>
                  </a:lnSpc>
                  <a:buFont typeface="Wingdings" pitchFamily="2" charset="2"/>
                  <a:buChar char="Ø"/>
                </a:pPr>
                <a:r>
                  <a:rPr kumimoji="1" lang="zh-CN" altLang="en-US" sz="2000" b="1" dirty="0">
                    <a:solidFill>
                      <a:srgbClr val="701988"/>
                    </a:solidFill>
                    <a:latin typeface="+mj-ea"/>
                    <a:ea typeface="+mj-ea"/>
                    <a:cs typeface="Arial"/>
                  </a:rPr>
                  <a:t>下推谓词</a:t>
                </a:r>
                <a:r>
                  <a:rPr kumimoji="1" lang="en-US" altLang="zh-CN" sz="2000" b="1" dirty="0">
                    <a:solidFill>
                      <a:srgbClr val="701988"/>
                    </a:solidFill>
                    <a:latin typeface="+mj-ea"/>
                    <a:ea typeface="+mj-ea"/>
                    <a:cs typeface="Arial"/>
                  </a:rPr>
                  <a:t>:</a:t>
                </a:r>
                <a:r>
                  <a:rPr kumimoji="1" lang="zh-CN" altLang="zh-CN" sz="2000" b="1" dirty="0">
                    <a:solidFill>
                      <a:srgbClr val="701988"/>
                    </a:solidFill>
                    <a:latin typeface="+mj-ea"/>
                    <a:ea typeface="+mj-ea"/>
                    <a:cs typeface="Arial"/>
                  </a:rPr>
                  <a:t> </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𝜎</m:t>
                        </m:r>
                      </m:e>
                      <m:sub>
                        <m:r>
                          <a:rPr lang="en-US" altLang="zh-CN" sz="2000" i="1">
                            <a:latin typeface="Cambria Math" panose="02040503050406030204" pitchFamily="18" charset="0"/>
                            <a:ea typeface="+mj-ea"/>
                          </a:rPr>
                          <m:t>𝑝</m:t>
                        </m:r>
                      </m:sub>
                    </m:sSub>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e>
                    </m:d>
                    <m:r>
                      <a:rPr lang="en-US" altLang="zh-CN" sz="2000" i="1">
                        <a:latin typeface="Cambria Math" panose="02040503050406030204" pitchFamily="18" charset="0"/>
                        <a:ea typeface="+mj-ea"/>
                      </a:rPr>
                      <m:t>= </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𝜎</m:t>
                        </m:r>
                      </m:e>
                      <m:sub>
                        <m:r>
                          <a:rPr lang="en-US" altLang="zh-CN" sz="2000" i="1">
                            <a:latin typeface="Cambria Math" panose="02040503050406030204" pitchFamily="18" charset="0"/>
                            <a:ea typeface="+mj-ea"/>
                          </a:rPr>
                          <m:t>𝑝</m:t>
                        </m:r>
                      </m:sub>
                    </m:sSub>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e>
                    </m:d>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oMath>
                </a14:m>
                <a:endParaRPr lang="en-US" altLang="zh-CN" sz="2000" b="1" dirty="0">
                  <a:latin typeface="+mj-ea"/>
                  <a:ea typeface="+mj-ea"/>
                </a:endParaRPr>
              </a:p>
              <a:p>
                <a:pPr marL="457200" indent="-457200">
                  <a:lnSpc>
                    <a:spcPct val="150000"/>
                  </a:lnSpc>
                  <a:buFont typeface="Wingdings" pitchFamily="2" charset="2"/>
                  <a:buChar char="Ø"/>
                </a:pPr>
                <a:r>
                  <a:rPr kumimoji="1" lang="zh-CN" altLang="en-US" sz="2000" b="1" dirty="0">
                    <a:solidFill>
                      <a:srgbClr val="701988"/>
                    </a:solidFill>
                    <a:latin typeface="+mj-ea"/>
                    <a:ea typeface="+mj-ea"/>
                    <a:cs typeface="Arial"/>
                  </a:rPr>
                  <a:t>尽早做投影</a:t>
                </a:r>
                <a:r>
                  <a:rPr kumimoji="1" lang="en-US" altLang="zh-CN" sz="2000" b="1" dirty="0">
                    <a:solidFill>
                      <a:srgbClr val="701988"/>
                    </a:solidFill>
                    <a:latin typeface="+mj-ea"/>
                    <a:ea typeface="+mj-ea"/>
                    <a:cs typeface="Arial"/>
                  </a:rPr>
                  <a:t>:</a:t>
                </a:r>
                <a14:m>
                  <m:oMath xmlns:m="http://schemas.openxmlformats.org/officeDocument/2006/math">
                    <m:r>
                      <m:rPr>
                        <m:sty m:val="p"/>
                      </m:rPr>
                      <a:rPr lang="en-US" altLang="zh-CN" sz="2000" kern="100">
                        <a:latin typeface="Cambria Math" panose="02040503050406030204" pitchFamily="18" charset="0"/>
                        <a:ea typeface="+mj-ea"/>
                        <a:cs typeface="Times New Roman" panose="02020603050405020304" pitchFamily="18" charset="0"/>
                      </a:rPr>
                      <m:t>Π</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e>
                    </m:d>
                    <m:r>
                      <a:rPr lang="en-US" altLang="zh-CN" sz="2000" i="1">
                        <a:latin typeface="Cambria Math" panose="02040503050406030204" pitchFamily="18" charset="0"/>
                        <a:ea typeface="+mj-ea"/>
                      </a:rPr>
                      <m:t>=</m:t>
                    </m:r>
                    <m:r>
                      <m:rPr>
                        <m:sty m:val="p"/>
                      </m:rPr>
                      <a:rPr lang="en-US" altLang="zh-CN" sz="2000" kern="100">
                        <a:latin typeface="Cambria Math" panose="02040503050406030204" pitchFamily="18" charset="0"/>
                        <a:ea typeface="+mj-ea"/>
                        <a:cs typeface="Times New Roman" panose="02020603050405020304" pitchFamily="18" charset="0"/>
                      </a:rPr>
                      <m:t>Π</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e>
                    </m:d>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m:rPr>
                            <m:sty m:val="p"/>
                          </m:rPr>
                          <a:rPr lang="en-US" altLang="zh-CN" sz="2000" kern="100">
                            <a:latin typeface="Cambria Math" panose="02040503050406030204" pitchFamily="18" charset="0"/>
                            <a:ea typeface="+mj-ea"/>
                            <a:cs typeface="Times New Roman" panose="02020603050405020304" pitchFamily="18" charset="0"/>
                          </a:rPr>
                          <m:t>Π</m:t>
                        </m:r>
                        <m:r>
                          <a:rPr lang="en-US" altLang="zh-CN" sz="2000" b="0" i="1" kern="100" smtClean="0">
                            <a:latin typeface="Cambria Math" panose="02040503050406030204" pitchFamily="18" charset="0"/>
                            <a:ea typeface="+mj-ea"/>
                            <a:cs typeface="Times New Roman" panose="02020603050405020304" pitchFamily="18" charset="0"/>
                          </a:rPr>
                          <m:t>(</m:t>
                        </m:r>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r>
                      <a:rPr lang="en-US" altLang="zh-CN" sz="2000" b="0" i="1" smtClean="0">
                        <a:latin typeface="Cambria Math" panose="02040503050406030204" pitchFamily="18" charset="0"/>
                        <a:ea typeface="+mj-ea"/>
                      </a:rPr>
                      <m:t>)</m:t>
                    </m:r>
                  </m:oMath>
                </a14:m>
                <a:endParaRPr lang="en-US" altLang="zh-CN" sz="2000" b="1" dirty="0">
                  <a:latin typeface="+mj-ea"/>
                  <a:ea typeface="+mj-ea"/>
                </a:endParaRPr>
              </a:p>
              <a:p>
                <a:pPr marL="457200" indent="-457200">
                  <a:lnSpc>
                    <a:spcPct val="150000"/>
                  </a:lnSpc>
                  <a:buFont typeface="Wingdings" pitchFamily="2" charset="2"/>
                  <a:buChar char="Ø"/>
                </a:pPr>
                <a:r>
                  <a:rPr kumimoji="1" lang="zh-CN" altLang="en-US" sz="2000" b="1" dirty="0">
                    <a:solidFill>
                      <a:srgbClr val="701988"/>
                    </a:solidFill>
                    <a:latin typeface="+mj-ea"/>
                    <a:ea typeface="+mj-ea"/>
                    <a:cs typeface="Arial"/>
                  </a:rPr>
                  <a:t>尽可能避免笛卡尔积</a:t>
                </a:r>
                <a:r>
                  <a:rPr kumimoji="1" lang="en-US" altLang="zh-CN" sz="2000" b="1" dirty="0">
                    <a:solidFill>
                      <a:srgbClr val="701988"/>
                    </a:solidFill>
                    <a:latin typeface="+mj-ea"/>
                    <a:ea typeface="+mj-ea"/>
                    <a:cs typeface="Arial"/>
                  </a:rPr>
                  <a:t>:</a:t>
                </a:r>
                <a:r>
                  <a:rPr kumimoji="1" lang="zh-CN" altLang="zh-CN" sz="2000" b="1" dirty="0">
                    <a:solidFill>
                      <a:srgbClr val="701988"/>
                    </a:solidFill>
                    <a:latin typeface="+mj-ea"/>
                    <a:ea typeface="+mj-ea"/>
                    <a:cs typeface="Arial"/>
                  </a:rPr>
                  <a:t> </a:t>
                </a:r>
                <a14:m>
                  <m:oMath xmlns:m="http://schemas.openxmlformats.org/officeDocument/2006/math">
                    <m:sSub>
                      <m:sSubPr>
                        <m:ctrlPr>
                          <a:rPr lang="zh-CN" altLang="zh-CN" sz="2000" i="1">
                            <a:latin typeface="Cambria Math" panose="02040503050406030204" pitchFamily="18" charset="0"/>
                            <a:ea typeface="+mj-ea"/>
                          </a:rPr>
                        </m:ctrlPr>
                      </m:sSub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𝜎</m:t>
                            </m:r>
                          </m:e>
                          <m:sub>
                            <m:r>
                              <a:rPr lang="en-US" altLang="zh-CN" sz="2000" i="1">
                                <a:latin typeface="Cambria Math" panose="02040503050406030204" pitchFamily="18" charset="0"/>
                                <a:ea typeface="+mj-ea"/>
                              </a:rPr>
                              <m:t>𝑝</m:t>
                            </m:r>
                          </m:sub>
                        </m:sSub>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e>
                        </m:d>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m:t>
                        </m:r>
                      </m:e>
                      <m:sub>
                        <m:r>
                          <a:rPr lang="en-US" altLang="zh-CN" sz="2000" i="1">
                            <a:latin typeface="Cambria Math" panose="02040503050406030204" pitchFamily="18" charset="0"/>
                            <a:ea typeface="+mj-ea"/>
                          </a:rPr>
                          <m:t>𝑝</m:t>
                        </m:r>
                      </m:sub>
                    </m:sSub>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oMath>
                </a14:m>
                <a:endParaRPr lang="en-US" altLang="zh-CN" sz="2000" b="1" dirty="0">
                  <a:latin typeface="+mj-ea"/>
                  <a:ea typeface="+mj-ea"/>
                </a:endParaRPr>
              </a:p>
              <a:p>
                <a:pPr marL="457200" indent="-457200">
                  <a:lnSpc>
                    <a:spcPct val="150000"/>
                  </a:lnSpc>
                  <a:buFont typeface="Wingdings" pitchFamily="2" charset="2"/>
                  <a:buChar char="Ø"/>
                </a:pPr>
                <a:r>
                  <a:rPr kumimoji="1" lang="zh-CN" altLang="en-US" sz="2000" b="1" dirty="0">
                    <a:solidFill>
                      <a:srgbClr val="701988"/>
                    </a:solidFill>
                    <a:latin typeface="+mj-ea"/>
                    <a:ea typeface="+mj-ea"/>
                    <a:cs typeface="Arial"/>
                  </a:rPr>
                  <a:t>常数折叠</a:t>
                </a:r>
                <a:r>
                  <a:rPr kumimoji="1" lang="en-US" altLang="zh-CN" sz="2000" b="1" dirty="0">
                    <a:solidFill>
                      <a:srgbClr val="701988"/>
                    </a:solidFill>
                    <a:latin typeface="+mj-ea"/>
                    <a:ea typeface="+mj-ea"/>
                    <a:cs typeface="Arial"/>
                  </a:rPr>
                  <a:t>/</a:t>
                </a:r>
                <a:r>
                  <a:rPr kumimoji="1" lang="zh-CN" altLang="en-US" sz="2000" b="1" dirty="0">
                    <a:solidFill>
                      <a:srgbClr val="701988"/>
                    </a:solidFill>
                    <a:latin typeface="+mj-ea"/>
                    <a:ea typeface="+mj-ea"/>
                    <a:cs typeface="Arial"/>
                  </a:rPr>
                  <a:t>常数传播</a:t>
                </a:r>
                <a:r>
                  <a:rPr kumimoji="1" lang="en-US" altLang="zh-CN" sz="2000" b="1" dirty="0">
                    <a:solidFill>
                      <a:srgbClr val="701988"/>
                    </a:solidFill>
                    <a:latin typeface="+mj-ea"/>
                    <a:ea typeface="+mj-ea"/>
                    <a:cs typeface="Arial"/>
                  </a:rPr>
                  <a:t>:</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rPr>
                  <a:t>A=B</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rPr>
                  <a:t>and</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rPr>
                  <a:t>A</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rPr>
                  <a:t>&gt;</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rPr>
                  <a:t>5</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sym typeface="Wingdings" pitchFamily="2" charset="2"/>
                  </a:rPr>
                  <a:t></a:t>
                </a:r>
                <a:r>
                  <a:rPr kumimoji="1" lang="zh-CN" altLang="en-US" sz="2000" b="1" dirty="0">
                    <a:solidFill>
                      <a:srgbClr val="701988"/>
                    </a:solidFill>
                    <a:latin typeface="+mj-ea"/>
                    <a:ea typeface="+mj-ea"/>
                    <a:cs typeface="Arial"/>
                    <a:sym typeface="Wingdings" pitchFamily="2" charset="2"/>
                  </a:rPr>
                  <a:t> </a:t>
                </a:r>
                <a:r>
                  <a:rPr kumimoji="1" lang="en-US" altLang="zh-CN" sz="2000" b="1" dirty="0">
                    <a:solidFill>
                      <a:srgbClr val="701988"/>
                    </a:solidFill>
                    <a:latin typeface="+mj-ea"/>
                    <a:ea typeface="+mj-ea"/>
                    <a:cs typeface="Arial"/>
                    <a:sym typeface="Wingdings" pitchFamily="2" charset="2"/>
                  </a:rPr>
                  <a:t>B</a:t>
                </a:r>
                <a:r>
                  <a:rPr kumimoji="1" lang="zh-CN" altLang="en-US" sz="2000" b="1" dirty="0">
                    <a:solidFill>
                      <a:srgbClr val="701988"/>
                    </a:solidFill>
                    <a:latin typeface="+mj-ea"/>
                    <a:ea typeface="+mj-ea"/>
                    <a:cs typeface="Arial"/>
                    <a:sym typeface="Wingdings" pitchFamily="2" charset="2"/>
                  </a:rPr>
                  <a:t> </a:t>
                </a:r>
                <a:r>
                  <a:rPr kumimoji="1" lang="en-US" altLang="zh-CN" sz="2000" b="1" dirty="0">
                    <a:solidFill>
                      <a:srgbClr val="701988"/>
                    </a:solidFill>
                    <a:latin typeface="+mj-ea"/>
                    <a:ea typeface="+mj-ea"/>
                    <a:cs typeface="Arial"/>
                    <a:sym typeface="Wingdings" pitchFamily="2" charset="2"/>
                  </a:rPr>
                  <a:t>&gt;</a:t>
                </a:r>
                <a:r>
                  <a:rPr kumimoji="1" lang="zh-CN" altLang="en-US" sz="2000" b="1" dirty="0">
                    <a:solidFill>
                      <a:srgbClr val="701988"/>
                    </a:solidFill>
                    <a:latin typeface="+mj-ea"/>
                    <a:ea typeface="+mj-ea"/>
                    <a:cs typeface="Arial"/>
                    <a:sym typeface="Wingdings" pitchFamily="2" charset="2"/>
                  </a:rPr>
                  <a:t> </a:t>
                </a:r>
                <a:r>
                  <a:rPr kumimoji="1" lang="en-US" altLang="zh-CN" sz="2000" b="1" dirty="0">
                    <a:solidFill>
                      <a:srgbClr val="701988"/>
                    </a:solidFill>
                    <a:latin typeface="+mj-ea"/>
                    <a:ea typeface="+mj-ea"/>
                    <a:cs typeface="Arial"/>
                    <a:sym typeface="Wingdings" pitchFamily="2" charset="2"/>
                  </a:rPr>
                  <a:t>5</a:t>
                </a:r>
                <a:endParaRPr kumimoji="1" lang="en-US" altLang="zh-CN" sz="2000" b="1" dirty="0">
                  <a:solidFill>
                    <a:srgbClr val="701988"/>
                  </a:solidFill>
                  <a:latin typeface="+mj-ea"/>
                  <a:ea typeface="+mj-ea"/>
                  <a:cs typeface="Arial"/>
                </a:endParaRPr>
              </a:p>
              <a:p>
                <a:pPr marL="457200" indent="-457200">
                  <a:lnSpc>
                    <a:spcPct val="150000"/>
                  </a:lnSpc>
                  <a:buFont typeface="Wingdings" pitchFamily="2" charset="2"/>
                  <a:buChar char="Ø"/>
                </a:pPr>
                <a:r>
                  <a:rPr kumimoji="1" lang="zh-CN" altLang="en-US" sz="2000" b="1" dirty="0">
                    <a:solidFill>
                      <a:srgbClr val="701988"/>
                    </a:solidFill>
                    <a:latin typeface="+mj-ea"/>
                    <a:ea typeface="+mj-ea"/>
                    <a:cs typeface="Arial"/>
                  </a:rPr>
                  <a:t>去除非必要谓词</a:t>
                </a:r>
                <a:r>
                  <a:rPr kumimoji="1" lang="en-US" altLang="zh-CN" sz="2000" b="1" dirty="0">
                    <a:solidFill>
                      <a:srgbClr val="701988"/>
                    </a:solidFill>
                    <a:latin typeface="+mj-ea"/>
                    <a:ea typeface="+mj-ea"/>
                    <a:cs typeface="Arial"/>
                  </a:rPr>
                  <a:t>:</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rPr>
                  <a:t>max(distinct</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rPr>
                  <a:t>A)</a:t>
                </a:r>
                <a:r>
                  <a:rPr kumimoji="1" lang="zh-CN" altLang="en-US" sz="2000" b="1" dirty="0">
                    <a:solidFill>
                      <a:srgbClr val="701988"/>
                    </a:solidFill>
                    <a:latin typeface="+mj-ea"/>
                    <a:ea typeface="+mj-ea"/>
                    <a:cs typeface="Arial"/>
                  </a:rPr>
                  <a:t> </a:t>
                </a:r>
                <a:r>
                  <a:rPr kumimoji="1" lang="en-US" altLang="zh-CN" sz="2000" b="1" dirty="0">
                    <a:solidFill>
                      <a:srgbClr val="701988"/>
                    </a:solidFill>
                    <a:latin typeface="+mj-ea"/>
                    <a:ea typeface="+mj-ea"/>
                    <a:cs typeface="Arial"/>
                    <a:sym typeface="Wingdings" pitchFamily="2" charset="2"/>
                  </a:rPr>
                  <a:t></a:t>
                </a:r>
                <a:r>
                  <a:rPr kumimoji="1" lang="zh-CN" altLang="en-US" sz="2000" b="1" dirty="0">
                    <a:solidFill>
                      <a:srgbClr val="701988"/>
                    </a:solidFill>
                    <a:latin typeface="+mj-ea"/>
                    <a:ea typeface="+mj-ea"/>
                    <a:cs typeface="Arial"/>
                    <a:sym typeface="Wingdings" pitchFamily="2" charset="2"/>
                  </a:rPr>
                  <a:t> </a:t>
                </a:r>
                <a:r>
                  <a:rPr kumimoji="1" lang="en-US" altLang="zh-CN" sz="2000" b="1" dirty="0">
                    <a:solidFill>
                      <a:srgbClr val="701988"/>
                    </a:solidFill>
                    <a:latin typeface="+mj-ea"/>
                    <a:ea typeface="+mj-ea"/>
                    <a:cs typeface="Arial"/>
                    <a:sym typeface="Wingdings" pitchFamily="2" charset="2"/>
                  </a:rPr>
                  <a:t>max(A)</a:t>
                </a:r>
              </a:p>
              <a:p>
                <a:pPr marL="457200" indent="-457200">
                  <a:lnSpc>
                    <a:spcPct val="150000"/>
                  </a:lnSpc>
                  <a:buFont typeface="Wingdings" pitchFamily="2" charset="2"/>
                  <a:buChar char="Ø"/>
                </a:pPr>
                <a:r>
                  <a:rPr kumimoji="1" lang="zh-CN" altLang="en-US" sz="2000" b="1" dirty="0">
                    <a:solidFill>
                      <a:srgbClr val="701988"/>
                    </a:solidFill>
                    <a:latin typeface="+mj-ea"/>
                    <a:ea typeface="+mj-ea"/>
                    <a:cs typeface="Arial"/>
                  </a:rPr>
                  <a:t>使用左深连接树</a:t>
                </a:r>
                <a:endParaRPr kumimoji="1" lang="en-US" altLang="zh-CN" sz="2000" b="1" dirty="0">
                  <a:solidFill>
                    <a:srgbClr val="701988"/>
                  </a:solidFill>
                  <a:latin typeface="+mj-ea"/>
                  <a:ea typeface="+mj-ea"/>
                  <a:cs typeface="Arial"/>
                </a:endParaRPr>
              </a:p>
              <a:p>
                <a:pPr marL="457200" indent="-457200">
                  <a:lnSpc>
                    <a:spcPct val="150000"/>
                  </a:lnSpc>
                  <a:buFont typeface="Wingdings" pitchFamily="2" charset="2"/>
                  <a:buChar char="Ø"/>
                </a:pPr>
                <a:r>
                  <a:rPr kumimoji="1" lang="zh-CN" altLang="en-US" sz="2000" b="1" dirty="0">
                    <a:solidFill>
                      <a:srgbClr val="701988"/>
                    </a:solidFill>
                    <a:latin typeface="+mj-ea"/>
                    <a:ea typeface="+mj-ea"/>
                    <a:cs typeface="Arial"/>
                  </a:rPr>
                  <a:t>将子查询转换为连接</a:t>
                </a:r>
                <a:endParaRPr kumimoji="1" lang="en-US" altLang="zh-CN" sz="2000" b="1" dirty="0">
                  <a:solidFill>
                    <a:srgbClr val="701988"/>
                  </a:solidFill>
                  <a:latin typeface="+mj-ea"/>
                  <a:ea typeface="+mj-ea"/>
                  <a:cs typeface="Arial"/>
                </a:endParaRPr>
              </a:p>
              <a:p>
                <a:pPr marL="457200" indent="-457200">
                  <a:lnSpc>
                    <a:spcPct val="150000"/>
                  </a:lnSpc>
                  <a:buFont typeface="Wingdings" pitchFamily="2" charset="2"/>
                  <a:buChar char="Ø"/>
                </a:pPr>
                <a:r>
                  <a:rPr kumimoji="1" lang="en-US" altLang="zh-CN" sz="2000" b="1" dirty="0">
                    <a:solidFill>
                      <a:srgbClr val="701988"/>
                    </a:solidFill>
                    <a:latin typeface="+mj-ea"/>
                    <a:ea typeface="+mj-ea"/>
                    <a:cs typeface="Arial"/>
                  </a:rPr>
                  <a:t>……</a:t>
                </a:r>
              </a:p>
              <a:p>
                <a:pPr>
                  <a:lnSpc>
                    <a:spcPct val="150000"/>
                  </a:lnSpc>
                </a:pPr>
                <a:endParaRPr lang="en-US" altLang="zh-CN" sz="2400" b="1" dirty="0">
                  <a:latin typeface="+mj-ea"/>
                  <a:ea typeface="+mj-ea"/>
                </a:endParaRPr>
              </a:p>
            </p:txBody>
          </p:sp>
        </mc:Choice>
        <mc:Fallback xmlns="">
          <p:sp>
            <p:nvSpPr>
              <p:cNvPr id="6" name="矩形 5">
                <a:extLst>
                  <a:ext uri="{FF2B5EF4-FFF2-40B4-BE49-F238E27FC236}">
                    <a16:creationId xmlns:a16="http://schemas.microsoft.com/office/drawing/2014/main" xmlns:a14="http://schemas.microsoft.com/office/drawing/2010/main" xmlns="" id="{87CD6565-9BFD-48CF-AC32-CE8899FEF6E1}"/>
                  </a:ext>
                </a:extLst>
              </p:cNvPr>
              <p:cNvSpPr>
                <a:spLocks noRot="1" noChangeAspect="1" noMove="1" noResize="1" noEditPoints="1" noAdjustHandles="1" noChangeArrowheads="1" noChangeShapeType="1" noTextEdit="1"/>
              </p:cNvSpPr>
              <p:nvPr/>
            </p:nvSpPr>
            <p:spPr>
              <a:xfrm>
                <a:off x="1458000" y="1126800"/>
                <a:ext cx="11509002" cy="4345420"/>
              </a:xfrm>
              <a:prstGeom prst="rect">
                <a:avLst/>
              </a:prstGeom>
              <a:blipFill rotWithShape="0">
                <a:blip r:embed="rId3"/>
                <a:stretch>
                  <a:fillRect l="-477"/>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B5824A9-B94C-7B2E-AB08-C46EBE879671}"/>
              </a:ext>
            </a:extLst>
          </p:cNvPr>
          <p:cNvSpPr txBox="1"/>
          <p:nvPr/>
        </p:nvSpPr>
        <p:spPr>
          <a:xfrm>
            <a:off x="2168695" y="5731693"/>
            <a:ext cx="8669351" cy="461665"/>
          </a:xfrm>
          <a:prstGeom prst="rect">
            <a:avLst/>
          </a:prstGeom>
          <a:solidFill>
            <a:srgbClr val="743481"/>
          </a:solidFill>
          <a:ln>
            <a:solidFill>
              <a:srgbClr val="743481"/>
            </a:solidFill>
          </a:ln>
        </p:spPr>
        <p:txBody>
          <a:bodyPr wrap="square" rtlCol="0">
            <a:spAutoFit/>
          </a:bodyPr>
          <a:lstStyle/>
          <a:p>
            <a:pPr algn="ctr"/>
            <a:r>
              <a:rPr kumimoji="1" lang="zh-CN" altLang="en-US" sz="2400" dirty="0">
                <a:solidFill>
                  <a:schemeClr val="bg1"/>
                </a:solidFill>
                <a:latin typeface="+mj-ea"/>
                <a:ea typeface="+mj-ea"/>
              </a:rPr>
              <a:t>查询重写对于提高查询执行效率至关重要！</a:t>
            </a:r>
          </a:p>
        </p:txBody>
      </p:sp>
    </p:spTree>
    <p:extLst>
      <p:ext uri="{BB962C8B-B14F-4D97-AF65-F5344CB8AC3E}">
        <p14:creationId xmlns:p14="http://schemas.microsoft.com/office/powerpoint/2010/main" val="3798451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0FF52922-3D42-4412-80D4-E8608AC407DF}"/>
              </a:ext>
            </a:extLst>
          </p:cNvPr>
          <p:cNvSpPr/>
          <p:nvPr/>
        </p:nvSpPr>
        <p:spPr>
          <a:xfrm>
            <a:off x="1679331" y="1829517"/>
            <a:ext cx="4012221" cy="281425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E90D0C5E-DD6F-27B5-33B4-A6448CD62CC1}"/>
              </a:ext>
            </a:extLst>
          </p:cNvPr>
          <p:cNvSpPr>
            <a:spLocks noGrp="1"/>
          </p:cNvSpPr>
          <p:nvPr>
            <p:ph type="sldNum" sz="quarter" idx="10"/>
          </p:nvPr>
        </p:nvSpPr>
        <p:spPr/>
        <p:txBody>
          <a:bodyPr/>
          <a:lstStyle/>
          <a:p>
            <a:fld id="{4B0D34C0-35A8-654C-9FBA-7B4E017BD630}" type="slidenum">
              <a:rPr lang="en-US" altLang="zh-CN" smtClean="0"/>
              <a:t>16</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一个查询重写实例（</a:t>
            </a:r>
            <a:r>
              <a:rPr kumimoji="1" lang="en-US" altLang="zh-CN" dirty="0"/>
              <a:t>1</a:t>
            </a:r>
            <a:r>
              <a:rPr kumimoji="1" lang="zh-CN" altLang="en-US" dirty="0"/>
              <a:t>）</a:t>
            </a:r>
          </a:p>
        </p:txBody>
      </p:sp>
      <p:sp>
        <p:nvSpPr>
          <p:cNvPr id="4" name="页脚占位符 3">
            <a:extLst>
              <a:ext uri="{FF2B5EF4-FFF2-40B4-BE49-F238E27FC236}">
                <a16:creationId xmlns:a16="http://schemas.microsoft.com/office/drawing/2014/main" id="{918C244A-2559-05AE-8AB6-F7AD7B045DC2}"/>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pic>
        <p:nvPicPr>
          <p:cNvPr id="11" name="图片 10">
            <a:extLst>
              <a:ext uri="{FF2B5EF4-FFF2-40B4-BE49-F238E27FC236}">
                <a16:creationId xmlns:a16="http://schemas.microsoft.com/office/drawing/2014/main" id="{1A68C39B-DD9D-1A5A-AEBC-FD373B0344FA}"/>
              </a:ext>
            </a:extLst>
          </p:cNvPr>
          <p:cNvPicPr>
            <a:picLocks noChangeAspect="1"/>
          </p:cNvPicPr>
          <p:nvPr/>
        </p:nvPicPr>
        <p:blipFill>
          <a:blip r:embed="rId3"/>
          <a:stretch>
            <a:fillRect/>
          </a:stretch>
        </p:blipFill>
        <p:spPr>
          <a:xfrm>
            <a:off x="6452303" y="1829517"/>
            <a:ext cx="4392338" cy="2814252"/>
          </a:xfrm>
          <a:prstGeom prst="rect">
            <a:avLst/>
          </a:prstGeom>
        </p:spPr>
      </p:pic>
      <p:sp>
        <p:nvSpPr>
          <p:cNvPr id="14" name="矩形 13">
            <a:extLst>
              <a:ext uri="{FF2B5EF4-FFF2-40B4-BE49-F238E27FC236}">
                <a16:creationId xmlns:a16="http://schemas.microsoft.com/office/drawing/2014/main" id="{34CF6BBD-BCC4-61D5-5A27-B9D71C2AECB3}"/>
              </a:ext>
            </a:extLst>
          </p:cNvPr>
          <p:cNvSpPr/>
          <p:nvPr/>
        </p:nvSpPr>
        <p:spPr>
          <a:xfrm>
            <a:off x="7372099" y="4818181"/>
            <a:ext cx="2457700" cy="461665"/>
          </a:xfrm>
          <a:prstGeom prst="rect">
            <a:avLst/>
          </a:prstGeom>
        </p:spPr>
        <p:txBody>
          <a:bodyPr wrap="square">
            <a:spAutoFit/>
          </a:bodyPr>
          <a:lstStyle/>
          <a:p>
            <a:r>
              <a:rPr lang="zh-CN" altLang="en-US" sz="2400" b="1" dirty="0">
                <a:latin typeface="+mj-ea"/>
                <a:ea typeface="+mj-ea"/>
              </a:rPr>
              <a:t>最初的逻辑计划</a:t>
            </a:r>
            <a:endParaRPr lang="en-US" altLang="zh-CN" sz="2400" b="1" dirty="0">
              <a:latin typeface="+mj-ea"/>
              <a:ea typeface="+mj-ea"/>
            </a:endParaRPr>
          </a:p>
        </p:txBody>
      </p:sp>
      <p:pic>
        <p:nvPicPr>
          <p:cNvPr id="16" name="图片 15">
            <a:extLst>
              <a:ext uri="{FF2B5EF4-FFF2-40B4-BE49-F238E27FC236}">
                <a16:creationId xmlns:a16="http://schemas.microsoft.com/office/drawing/2014/main" id="{9F05E61F-6E3B-681F-4510-355F624E4136}"/>
              </a:ext>
            </a:extLst>
          </p:cNvPr>
          <p:cNvPicPr>
            <a:picLocks noChangeAspect="1"/>
          </p:cNvPicPr>
          <p:nvPr/>
        </p:nvPicPr>
        <p:blipFill>
          <a:blip r:embed="rId4"/>
          <a:stretch>
            <a:fillRect/>
          </a:stretch>
        </p:blipFill>
        <p:spPr>
          <a:xfrm>
            <a:off x="2029803" y="2395518"/>
            <a:ext cx="3365610" cy="1583165"/>
          </a:xfrm>
          <a:prstGeom prst="rect">
            <a:avLst/>
          </a:prstGeom>
        </p:spPr>
      </p:pic>
      <p:sp>
        <p:nvSpPr>
          <p:cNvPr id="17" name="右箭头 16">
            <a:extLst>
              <a:ext uri="{FF2B5EF4-FFF2-40B4-BE49-F238E27FC236}">
                <a16:creationId xmlns:a16="http://schemas.microsoft.com/office/drawing/2014/main" id="{79F2B66A-84FE-476C-B050-7BB15094ECFC}"/>
              </a:ext>
            </a:extLst>
          </p:cNvPr>
          <p:cNvSpPr/>
          <p:nvPr/>
        </p:nvSpPr>
        <p:spPr bwMode="auto">
          <a:xfrm>
            <a:off x="5838739" y="2913545"/>
            <a:ext cx="502193" cy="483085"/>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8" name="矩形 17">
            <a:extLst>
              <a:ext uri="{FF2B5EF4-FFF2-40B4-BE49-F238E27FC236}">
                <a16:creationId xmlns:a16="http://schemas.microsoft.com/office/drawing/2014/main" id="{0CD87FF2-8BE9-4B95-3FFE-1146E4A7E3ED}"/>
              </a:ext>
            </a:extLst>
          </p:cNvPr>
          <p:cNvSpPr/>
          <p:nvPr/>
        </p:nvSpPr>
        <p:spPr>
          <a:xfrm>
            <a:off x="1050551" y="5522122"/>
            <a:ext cx="1942589" cy="461665"/>
          </a:xfrm>
          <a:prstGeom prst="rect">
            <a:avLst/>
          </a:prstGeom>
        </p:spPr>
        <p:txBody>
          <a:bodyPr wrap="square">
            <a:spAutoFit/>
          </a:bodyPr>
          <a:lstStyle/>
          <a:p>
            <a:r>
              <a:rPr lang="zh-CN" altLang="en-US" sz="2400" b="1" dirty="0">
                <a:latin typeface="+mj-ea"/>
                <a:ea typeface="+mj-ea"/>
              </a:rPr>
              <a:t>关系代数：</a:t>
            </a:r>
            <a:endParaRPr lang="en-US" altLang="zh-CN" sz="2400" b="1" dirty="0">
              <a:latin typeface="+mj-ea"/>
              <a:ea typeface="+mj-ea"/>
            </a:endParaRPr>
          </a:p>
        </p:txBody>
      </p:sp>
      <p:pic>
        <p:nvPicPr>
          <p:cNvPr id="19" name="图片 18">
            <a:extLst>
              <a:ext uri="{FF2B5EF4-FFF2-40B4-BE49-F238E27FC236}">
                <a16:creationId xmlns:a16="http://schemas.microsoft.com/office/drawing/2014/main" id="{0632CEE8-C55C-5C5F-8FC5-70C952CED6D7}"/>
              </a:ext>
            </a:extLst>
          </p:cNvPr>
          <p:cNvPicPr>
            <a:picLocks noChangeAspect="1"/>
          </p:cNvPicPr>
          <p:nvPr/>
        </p:nvPicPr>
        <p:blipFill>
          <a:blip r:embed="rId5"/>
          <a:stretch>
            <a:fillRect/>
          </a:stretch>
        </p:blipFill>
        <p:spPr>
          <a:xfrm>
            <a:off x="2703715" y="5603732"/>
            <a:ext cx="8867373" cy="360000"/>
          </a:xfrm>
          <a:prstGeom prst="rect">
            <a:avLst/>
          </a:prstGeom>
        </p:spPr>
      </p:pic>
    </p:spTree>
    <p:extLst>
      <p:ext uri="{BB962C8B-B14F-4D97-AF65-F5344CB8AC3E}">
        <p14:creationId xmlns:p14="http://schemas.microsoft.com/office/powerpoint/2010/main" val="951759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90D0C5E-DD6F-27B5-33B4-A6448CD62CC1}"/>
              </a:ext>
            </a:extLst>
          </p:cNvPr>
          <p:cNvSpPr>
            <a:spLocks noGrp="1"/>
          </p:cNvSpPr>
          <p:nvPr>
            <p:ph type="sldNum" sz="quarter" idx="10"/>
          </p:nvPr>
        </p:nvSpPr>
        <p:spPr/>
        <p:txBody>
          <a:bodyPr/>
          <a:lstStyle/>
          <a:p>
            <a:fld id="{4B0D34C0-35A8-654C-9FBA-7B4E017BD630}" type="slidenum">
              <a:rPr lang="en-US" altLang="zh-CN" smtClean="0"/>
              <a:t>17</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一个查询重写实例（</a:t>
            </a:r>
            <a:r>
              <a:rPr lang="en-US" altLang="zh-CN" dirty="0"/>
              <a:t>2</a:t>
            </a:r>
            <a:r>
              <a:rPr kumimoji="1" lang="zh-CN" altLang="en-US" dirty="0"/>
              <a:t>）</a:t>
            </a:r>
          </a:p>
        </p:txBody>
      </p:sp>
      <p:sp>
        <p:nvSpPr>
          <p:cNvPr id="6" name="页脚占位符 5">
            <a:extLst>
              <a:ext uri="{FF2B5EF4-FFF2-40B4-BE49-F238E27FC236}">
                <a16:creationId xmlns:a16="http://schemas.microsoft.com/office/drawing/2014/main" id="{91E9FCFA-8CD1-0881-B01C-BFC017C1FF29}"/>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pic>
        <p:nvPicPr>
          <p:cNvPr id="4" name="图片 3">
            <a:extLst>
              <a:ext uri="{FF2B5EF4-FFF2-40B4-BE49-F238E27FC236}">
                <a16:creationId xmlns:a16="http://schemas.microsoft.com/office/drawing/2014/main" id="{3B4D122F-1ECF-6BAE-E809-6F6398F6C97E}"/>
              </a:ext>
            </a:extLst>
          </p:cNvPr>
          <p:cNvPicPr>
            <a:picLocks noChangeAspect="1"/>
          </p:cNvPicPr>
          <p:nvPr/>
        </p:nvPicPr>
        <p:blipFill>
          <a:blip r:embed="rId3"/>
          <a:stretch>
            <a:fillRect/>
          </a:stretch>
        </p:blipFill>
        <p:spPr>
          <a:xfrm>
            <a:off x="1841726" y="2098846"/>
            <a:ext cx="4560837" cy="2922213"/>
          </a:xfrm>
          <a:prstGeom prst="rect">
            <a:avLst/>
          </a:prstGeom>
        </p:spPr>
      </p:pic>
      <p:sp>
        <p:nvSpPr>
          <p:cNvPr id="5" name="右箭头 4">
            <a:extLst>
              <a:ext uri="{FF2B5EF4-FFF2-40B4-BE49-F238E27FC236}">
                <a16:creationId xmlns:a16="http://schemas.microsoft.com/office/drawing/2014/main" id="{41D8775B-6DE2-F66E-8B82-AD5FBEB11E63}"/>
              </a:ext>
            </a:extLst>
          </p:cNvPr>
          <p:cNvSpPr/>
          <p:nvPr/>
        </p:nvSpPr>
        <p:spPr bwMode="auto">
          <a:xfrm>
            <a:off x="6808172" y="3284728"/>
            <a:ext cx="502193" cy="483085"/>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0BFBA6C-D651-29F9-1158-7D114A46BCBA}"/>
                  </a:ext>
                </a:extLst>
              </p:cNvPr>
              <p:cNvSpPr txBox="1"/>
              <p:nvPr/>
            </p:nvSpPr>
            <p:spPr>
              <a:xfrm>
                <a:off x="2570635" y="1052760"/>
                <a:ext cx="6892726" cy="552972"/>
              </a:xfrm>
              <a:prstGeom prst="rect">
                <a:avLst/>
              </a:prstGeom>
              <a:solidFill>
                <a:srgbClr val="701988"/>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en-US" sz="2000" kern="100" dirty="0">
                    <a:solidFill>
                      <a:schemeClr val="bg1"/>
                    </a:solidFill>
                    <a:latin typeface="+mj-ea"/>
                    <a:ea typeface="+mj-ea"/>
                    <a:cs typeface="Times New Roman" panose="02020603050405020304" pitchFamily="18" charset="0"/>
                  </a:rPr>
                  <a:t>使用重写规则：</a:t>
                </a:r>
                <a14:m>
                  <m:oMath xmlns:m="http://schemas.openxmlformats.org/officeDocument/2006/math">
                    <m:sSub>
                      <m:sSubPr>
                        <m:ctrlPr>
                          <a:rPr lang="zh-CN" altLang="zh-CN" sz="2000" i="1" kern="100" smtClean="0">
                            <a:solidFill>
                              <a:schemeClr val="bg1"/>
                            </a:solidFill>
                            <a:latin typeface="Cambria Math" panose="02040503050406030204" pitchFamily="18" charset="0"/>
                            <a:ea typeface="+mj-ea"/>
                            <a:cs typeface="Times New Roman" panose="02020603050405020304" pitchFamily="18" charset="0"/>
                          </a:rPr>
                        </m:ctrlPr>
                      </m:sSubPr>
                      <m:e>
                        <m:r>
                          <a:rPr lang="en-US" altLang="zh-CN" sz="2000" i="1" kern="100">
                            <a:solidFill>
                              <a:schemeClr val="bg1"/>
                            </a:solidFill>
                            <a:latin typeface="Cambria Math" panose="02040503050406030204" pitchFamily="18" charset="0"/>
                            <a:ea typeface="+mj-ea"/>
                            <a:cs typeface="Times New Roman" panose="02020603050405020304" pitchFamily="18" charset="0"/>
                          </a:rPr>
                          <m:t>𝜎</m:t>
                        </m:r>
                      </m:e>
                      <m:sub>
                        <m:sSub>
                          <m:sSub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sSubPr>
                          <m:e>
                            <m:r>
                              <a:rPr lang="en-US" altLang="zh-CN" sz="2000" i="1" kern="100">
                                <a:solidFill>
                                  <a:schemeClr val="bg1"/>
                                </a:solidFill>
                                <a:latin typeface="Cambria Math" panose="02040503050406030204" pitchFamily="18" charset="0"/>
                                <a:ea typeface="+mj-ea"/>
                                <a:cs typeface="Times New Roman" panose="02020603050405020304" pitchFamily="18" charset="0"/>
                              </a:rPr>
                              <m:t>𝑝</m:t>
                            </m:r>
                          </m:e>
                          <m:sub>
                            <m:r>
                              <a:rPr lang="en-US" altLang="zh-CN" sz="2000" i="1" kern="100">
                                <a:solidFill>
                                  <a:schemeClr val="bg1"/>
                                </a:solidFill>
                                <a:latin typeface="Cambria Math" panose="02040503050406030204" pitchFamily="18" charset="0"/>
                                <a:ea typeface="+mj-ea"/>
                                <a:cs typeface="Times New Roman" panose="02020603050405020304" pitchFamily="18" charset="0"/>
                              </a:rPr>
                              <m:t>1</m:t>
                            </m:r>
                          </m:sub>
                        </m:sSub>
                        <m:r>
                          <a:rPr lang="en-US" altLang="zh-CN" sz="2000" i="1" kern="100">
                            <a:solidFill>
                              <a:schemeClr val="bg1"/>
                            </a:solidFill>
                            <a:latin typeface="Cambria Math" panose="02040503050406030204" pitchFamily="18" charset="0"/>
                            <a:ea typeface="+mj-ea"/>
                            <a:cs typeface="Times New Roman" panose="02020603050405020304" pitchFamily="18" charset="0"/>
                          </a:rPr>
                          <m:t> ⋀ </m:t>
                        </m:r>
                        <m:sSub>
                          <m:sSub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sSubPr>
                          <m:e>
                            <m:r>
                              <a:rPr lang="en-US" altLang="zh-CN" sz="2000" i="1" kern="100">
                                <a:solidFill>
                                  <a:schemeClr val="bg1"/>
                                </a:solidFill>
                                <a:latin typeface="Cambria Math" panose="02040503050406030204" pitchFamily="18" charset="0"/>
                                <a:ea typeface="+mj-ea"/>
                                <a:cs typeface="Times New Roman" panose="02020603050405020304" pitchFamily="18" charset="0"/>
                              </a:rPr>
                              <m:t>𝑝</m:t>
                            </m:r>
                          </m:e>
                          <m:sub>
                            <m:r>
                              <a:rPr lang="en-US" altLang="zh-CN" sz="2000" i="1" kern="100">
                                <a:solidFill>
                                  <a:schemeClr val="bg1"/>
                                </a:solidFill>
                                <a:latin typeface="Cambria Math" panose="02040503050406030204" pitchFamily="18" charset="0"/>
                                <a:ea typeface="+mj-ea"/>
                                <a:cs typeface="Times New Roman" panose="02020603050405020304" pitchFamily="18" charset="0"/>
                              </a:rPr>
                              <m:t>2</m:t>
                            </m:r>
                          </m:sub>
                        </m:sSub>
                      </m:sub>
                    </m:sSub>
                    <m:r>
                      <a:rPr lang="en-US" altLang="zh-CN" sz="2000" i="1" kern="100">
                        <a:solidFill>
                          <a:schemeClr val="bg1"/>
                        </a:solidFill>
                        <a:latin typeface="Cambria Math" panose="02040503050406030204" pitchFamily="18" charset="0"/>
                        <a:ea typeface="+mj-ea"/>
                        <a:cs typeface="Times New Roman" panose="02020603050405020304" pitchFamily="18" charset="0"/>
                      </a:rPr>
                      <m:t>(</m:t>
                    </m:r>
                    <m:r>
                      <a:rPr lang="en-US" altLang="zh-CN" sz="2000" i="1" kern="100">
                        <a:solidFill>
                          <a:schemeClr val="bg1"/>
                        </a:solidFill>
                        <a:latin typeface="Cambria Math" panose="02040503050406030204" pitchFamily="18" charset="0"/>
                        <a:ea typeface="+mj-ea"/>
                        <a:cs typeface="Times New Roman" panose="02020603050405020304" pitchFamily="18" charset="0"/>
                      </a:rPr>
                      <m:t>𝑅</m:t>
                    </m:r>
                    <m:r>
                      <a:rPr lang="en-US" altLang="zh-CN" sz="2000" i="1" kern="100">
                        <a:solidFill>
                          <a:schemeClr val="bg1"/>
                        </a:solidFill>
                        <a:latin typeface="Cambria Math" panose="02040503050406030204" pitchFamily="18" charset="0"/>
                        <a:ea typeface="+mj-ea"/>
                        <a:cs typeface="Times New Roman" panose="02020603050405020304" pitchFamily="18" charset="0"/>
                      </a:rPr>
                      <m:t>)= </m:t>
                    </m:r>
                    <m:sSub>
                      <m:sSub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sSubPr>
                      <m:e>
                        <m:r>
                          <a:rPr lang="en-US" altLang="zh-CN" sz="2000" i="1" kern="100">
                            <a:solidFill>
                              <a:schemeClr val="bg1"/>
                            </a:solidFill>
                            <a:latin typeface="Cambria Math" panose="02040503050406030204" pitchFamily="18" charset="0"/>
                            <a:ea typeface="+mj-ea"/>
                            <a:cs typeface="Times New Roman" panose="02020603050405020304" pitchFamily="18" charset="0"/>
                          </a:rPr>
                          <m:t>𝜎</m:t>
                        </m:r>
                      </m:e>
                      <m:sub>
                        <m:sSub>
                          <m:sSub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sSubPr>
                          <m:e>
                            <m:r>
                              <a:rPr lang="en-US" altLang="zh-CN" sz="2000" i="1" kern="100">
                                <a:solidFill>
                                  <a:schemeClr val="bg1"/>
                                </a:solidFill>
                                <a:latin typeface="Cambria Math" panose="02040503050406030204" pitchFamily="18" charset="0"/>
                                <a:ea typeface="+mj-ea"/>
                                <a:cs typeface="Times New Roman" panose="02020603050405020304" pitchFamily="18" charset="0"/>
                              </a:rPr>
                              <m:t>𝑝</m:t>
                            </m:r>
                          </m:e>
                          <m:sub>
                            <m:r>
                              <a:rPr lang="en-US" altLang="zh-CN" sz="2000" i="1" kern="100">
                                <a:solidFill>
                                  <a:schemeClr val="bg1"/>
                                </a:solidFill>
                                <a:latin typeface="Cambria Math" panose="02040503050406030204" pitchFamily="18" charset="0"/>
                                <a:ea typeface="+mj-ea"/>
                                <a:cs typeface="Times New Roman" panose="02020603050405020304" pitchFamily="18" charset="0"/>
                              </a:rPr>
                              <m:t>1</m:t>
                            </m:r>
                          </m:sub>
                        </m:sSub>
                      </m:sub>
                    </m:sSub>
                    <m:d>
                      <m:d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dPr>
                      <m:e>
                        <m:sSub>
                          <m:sSub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sSubPr>
                          <m:e>
                            <m:r>
                              <a:rPr lang="en-US" altLang="zh-CN" sz="2000" i="1" kern="100">
                                <a:solidFill>
                                  <a:schemeClr val="bg1"/>
                                </a:solidFill>
                                <a:latin typeface="Cambria Math" panose="02040503050406030204" pitchFamily="18" charset="0"/>
                                <a:ea typeface="+mj-ea"/>
                                <a:cs typeface="Times New Roman" panose="02020603050405020304" pitchFamily="18" charset="0"/>
                              </a:rPr>
                              <m:t>𝜎</m:t>
                            </m:r>
                          </m:e>
                          <m:sub>
                            <m:sSub>
                              <m:sSub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sSubPr>
                              <m:e>
                                <m:r>
                                  <a:rPr lang="en-US" altLang="zh-CN" sz="2000" i="1" kern="100">
                                    <a:solidFill>
                                      <a:schemeClr val="bg1"/>
                                    </a:solidFill>
                                    <a:latin typeface="Cambria Math" panose="02040503050406030204" pitchFamily="18" charset="0"/>
                                    <a:ea typeface="+mj-ea"/>
                                    <a:cs typeface="Times New Roman" panose="02020603050405020304" pitchFamily="18" charset="0"/>
                                  </a:rPr>
                                  <m:t>𝑝</m:t>
                                </m:r>
                              </m:e>
                              <m:sub>
                                <m:r>
                                  <a:rPr lang="en-US" altLang="zh-CN" sz="2000" i="1" kern="100">
                                    <a:solidFill>
                                      <a:schemeClr val="bg1"/>
                                    </a:solidFill>
                                    <a:latin typeface="Cambria Math" panose="02040503050406030204" pitchFamily="18" charset="0"/>
                                    <a:ea typeface="+mj-ea"/>
                                    <a:cs typeface="Times New Roman" panose="02020603050405020304" pitchFamily="18" charset="0"/>
                                  </a:rPr>
                                  <m:t>2</m:t>
                                </m:r>
                              </m:sub>
                            </m:sSub>
                          </m:sub>
                        </m:sSub>
                        <m:d>
                          <m:dPr>
                            <m:ctrlPr>
                              <a:rPr lang="zh-CN" altLang="zh-CN" sz="2000" i="1" kern="100">
                                <a:solidFill>
                                  <a:schemeClr val="bg1"/>
                                </a:solidFill>
                                <a:latin typeface="Cambria Math" panose="02040503050406030204" pitchFamily="18" charset="0"/>
                                <a:ea typeface="+mj-ea"/>
                                <a:cs typeface="Times New Roman" panose="02020603050405020304" pitchFamily="18" charset="0"/>
                              </a:rPr>
                            </m:ctrlPr>
                          </m:dPr>
                          <m:e>
                            <m:r>
                              <a:rPr lang="en-US" altLang="zh-CN" sz="2000" i="1" kern="100">
                                <a:solidFill>
                                  <a:schemeClr val="bg1"/>
                                </a:solidFill>
                                <a:latin typeface="Cambria Math" panose="02040503050406030204" pitchFamily="18" charset="0"/>
                                <a:ea typeface="+mj-ea"/>
                                <a:cs typeface="Times New Roman" panose="02020603050405020304" pitchFamily="18" charset="0"/>
                              </a:rPr>
                              <m:t>𝑅</m:t>
                            </m:r>
                          </m:e>
                        </m:d>
                      </m:e>
                    </m:d>
                  </m:oMath>
                </a14:m>
                <a:endParaRPr lang="zh-CN" altLang="en-US" sz="2000" dirty="0">
                  <a:latin typeface="+mj-ea"/>
                  <a:ea typeface="+mj-ea"/>
                </a:endParaRPr>
              </a:p>
            </p:txBody>
          </p:sp>
        </mc:Choice>
        <mc:Fallback xmlns="">
          <p:sp>
            <p:nvSpPr>
              <p:cNvPr id="7" name="文本框 6">
                <a:extLst>
                  <a:ext uri="{FF2B5EF4-FFF2-40B4-BE49-F238E27FC236}">
                    <a16:creationId xmlns:a16="http://schemas.microsoft.com/office/drawing/2014/main" xmlns:a14="http://schemas.microsoft.com/office/drawing/2010/main" xmlns="" id="{60BFBA6C-D651-29F9-1158-7D114A46BCBA}"/>
                  </a:ext>
                </a:extLst>
              </p:cNvPr>
              <p:cNvSpPr txBox="1">
                <a:spLocks noRot="1" noChangeAspect="1" noMove="1" noResize="1" noEditPoints="1" noAdjustHandles="1" noChangeArrowheads="1" noChangeShapeType="1" noTextEdit="1"/>
              </p:cNvSpPr>
              <p:nvPr/>
            </p:nvSpPr>
            <p:spPr>
              <a:xfrm>
                <a:off x="2570635" y="1052760"/>
                <a:ext cx="6892726" cy="552972"/>
              </a:xfrm>
              <a:prstGeom prst="rect">
                <a:avLst/>
              </a:prstGeom>
              <a:blipFill rotWithShape="0">
                <a:blip r:embed="rId4"/>
                <a:stretch>
                  <a:fillRect/>
                </a:stretch>
              </a:blipFill>
              <a:ln>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A5C3EC66-7940-99DD-CB0F-938365260562}"/>
              </a:ext>
            </a:extLst>
          </p:cNvPr>
          <p:cNvPicPr>
            <a:picLocks noChangeAspect="1"/>
          </p:cNvPicPr>
          <p:nvPr/>
        </p:nvPicPr>
        <p:blipFill>
          <a:blip r:embed="rId5"/>
          <a:stretch>
            <a:fillRect/>
          </a:stretch>
        </p:blipFill>
        <p:spPr>
          <a:xfrm>
            <a:off x="7582097" y="2101720"/>
            <a:ext cx="2836616" cy="2982302"/>
          </a:xfrm>
          <a:prstGeom prst="rect">
            <a:avLst/>
          </a:prstGeom>
        </p:spPr>
      </p:pic>
      <p:sp>
        <p:nvSpPr>
          <p:cNvPr id="11" name="矩形 10">
            <a:extLst>
              <a:ext uri="{FF2B5EF4-FFF2-40B4-BE49-F238E27FC236}">
                <a16:creationId xmlns:a16="http://schemas.microsoft.com/office/drawing/2014/main" id="{750367C5-0F87-A89A-EDCF-9DA9C94DAC1C}"/>
              </a:ext>
            </a:extLst>
          </p:cNvPr>
          <p:cNvSpPr/>
          <p:nvPr/>
        </p:nvSpPr>
        <p:spPr>
          <a:xfrm>
            <a:off x="628046" y="5446809"/>
            <a:ext cx="1942589" cy="461665"/>
          </a:xfrm>
          <a:prstGeom prst="rect">
            <a:avLst/>
          </a:prstGeom>
        </p:spPr>
        <p:txBody>
          <a:bodyPr wrap="square">
            <a:spAutoFit/>
          </a:bodyPr>
          <a:lstStyle/>
          <a:p>
            <a:r>
              <a:rPr lang="zh-CN" altLang="en-US" sz="2400" b="1" dirty="0">
                <a:latin typeface="+mj-ea"/>
                <a:ea typeface="+mj-ea"/>
              </a:rPr>
              <a:t>关系代数：</a:t>
            </a:r>
            <a:endParaRPr lang="en-US" altLang="zh-CN" sz="2400" b="1" dirty="0">
              <a:latin typeface="+mj-ea"/>
              <a:ea typeface="+mj-ea"/>
            </a:endParaRPr>
          </a:p>
        </p:txBody>
      </p:sp>
      <p:pic>
        <p:nvPicPr>
          <p:cNvPr id="14" name="图片 13">
            <a:extLst>
              <a:ext uri="{FF2B5EF4-FFF2-40B4-BE49-F238E27FC236}">
                <a16:creationId xmlns:a16="http://schemas.microsoft.com/office/drawing/2014/main" id="{BBE9FB7B-A5B0-87AC-5989-5E2035750604}"/>
              </a:ext>
            </a:extLst>
          </p:cNvPr>
          <p:cNvPicPr>
            <a:picLocks noChangeAspect="1"/>
          </p:cNvPicPr>
          <p:nvPr/>
        </p:nvPicPr>
        <p:blipFill>
          <a:blip r:embed="rId6"/>
          <a:stretch>
            <a:fillRect/>
          </a:stretch>
        </p:blipFill>
        <p:spPr>
          <a:xfrm>
            <a:off x="2289391" y="5528419"/>
            <a:ext cx="9161065" cy="360000"/>
          </a:xfrm>
          <a:prstGeom prst="rect">
            <a:avLst/>
          </a:prstGeom>
        </p:spPr>
      </p:pic>
    </p:spTree>
    <p:extLst>
      <p:ext uri="{BB962C8B-B14F-4D97-AF65-F5344CB8AC3E}">
        <p14:creationId xmlns:p14="http://schemas.microsoft.com/office/powerpoint/2010/main" val="4025571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90D0C5E-DD6F-27B5-33B4-A6448CD62CC1}"/>
              </a:ext>
            </a:extLst>
          </p:cNvPr>
          <p:cNvSpPr>
            <a:spLocks noGrp="1"/>
          </p:cNvSpPr>
          <p:nvPr>
            <p:ph type="sldNum" sz="quarter" idx="10"/>
          </p:nvPr>
        </p:nvSpPr>
        <p:spPr/>
        <p:txBody>
          <a:bodyPr/>
          <a:lstStyle/>
          <a:p>
            <a:fld id="{4B0D34C0-35A8-654C-9FBA-7B4E017BD630}" type="slidenum">
              <a:rPr lang="en-US" altLang="zh-CN" smtClean="0"/>
              <a:t>18</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一个查询重写实例（</a:t>
            </a:r>
            <a:r>
              <a:rPr kumimoji="1" lang="en-US" altLang="zh-CN" dirty="0"/>
              <a:t>3</a:t>
            </a:r>
            <a:r>
              <a:rPr kumimoji="1" lang="zh-CN" altLang="en-US" dirty="0"/>
              <a:t>）</a:t>
            </a:r>
          </a:p>
        </p:txBody>
      </p:sp>
      <p:sp>
        <p:nvSpPr>
          <p:cNvPr id="4" name="页脚占位符 3">
            <a:extLst>
              <a:ext uri="{FF2B5EF4-FFF2-40B4-BE49-F238E27FC236}">
                <a16:creationId xmlns:a16="http://schemas.microsoft.com/office/drawing/2014/main" id="{F7DA0BDB-485D-1455-4962-91EB1CEA0A26}"/>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6" name="右箭头 5">
            <a:extLst>
              <a:ext uri="{FF2B5EF4-FFF2-40B4-BE49-F238E27FC236}">
                <a16:creationId xmlns:a16="http://schemas.microsoft.com/office/drawing/2014/main" id="{C44422DC-CA24-5B85-F8A8-B59D35FCFAD7}"/>
              </a:ext>
            </a:extLst>
          </p:cNvPr>
          <p:cNvSpPr/>
          <p:nvPr/>
        </p:nvSpPr>
        <p:spPr bwMode="auto">
          <a:xfrm>
            <a:off x="5844903" y="3319341"/>
            <a:ext cx="502193" cy="483085"/>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700AFDC-8DEB-BDBE-F067-5423FB5A254E}"/>
                  </a:ext>
                </a:extLst>
              </p:cNvPr>
              <p:cNvSpPr txBox="1"/>
              <p:nvPr/>
            </p:nvSpPr>
            <p:spPr>
              <a:xfrm>
                <a:off x="807476" y="1102881"/>
                <a:ext cx="10577045" cy="423770"/>
              </a:xfrm>
              <a:prstGeom prst="rect">
                <a:avLst/>
              </a:prstGeom>
              <a:solidFill>
                <a:srgbClr val="74348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en-US" sz="2000" kern="100" dirty="0">
                    <a:solidFill>
                      <a:schemeClr val="bg1"/>
                    </a:solidFill>
                    <a:latin typeface="+mj-ea"/>
                    <a:ea typeface="+mj-ea"/>
                    <a:cs typeface="Times New Roman" panose="02020603050405020304" pitchFamily="18" charset="0"/>
                  </a:rPr>
                  <a:t>使用重写规则：若</a:t>
                </a:r>
                <a14:m>
                  <m:oMath xmlns:m="http://schemas.openxmlformats.org/officeDocument/2006/math">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1</m:t>
                        </m:r>
                      </m:sub>
                    </m:sSub>
                  </m:oMath>
                </a14:m>
                <a:r>
                  <a:rPr lang="zh-CN" altLang="en-US" sz="2000" kern="100" dirty="0">
                    <a:solidFill>
                      <a:schemeClr val="bg1"/>
                    </a:solidFill>
                    <a:latin typeface="+mj-ea"/>
                    <a:ea typeface="+mj-ea"/>
                    <a:cs typeface="Times New Roman" panose="02020603050405020304" pitchFamily="18" charset="0"/>
                  </a:rPr>
                  <a:t>包含</a:t>
                </a:r>
                <a14:m>
                  <m:oMath xmlns:m="http://schemas.openxmlformats.org/officeDocument/2006/math">
                    <m:r>
                      <a:rPr lang="en-US" altLang="zh-CN" sz="2000" i="1">
                        <a:solidFill>
                          <a:schemeClr val="bg1"/>
                        </a:solidFill>
                        <a:latin typeface="Cambria Math" panose="02040503050406030204" pitchFamily="18" charset="0"/>
                        <a:ea typeface="+mj-ea"/>
                      </a:rPr>
                      <m:t>𝑝</m:t>
                    </m:r>
                  </m:oMath>
                </a14:m>
                <a:r>
                  <a:rPr lang="zh-CN" altLang="en-US" sz="2000" kern="100" dirty="0">
                    <a:solidFill>
                      <a:schemeClr val="bg1"/>
                    </a:solidFill>
                    <a:latin typeface="+mj-ea"/>
                    <a:ea typeface="+mj-ea"/>
                    <a:cs typeface="Times New Roman" panose="02020603050405020304" pitchFamily="18" charset="0"/>
                  </a:rPr>
                  <a:t>涉及的所有属性，</a:t>
                </a:r>
                <a14:m>
                  <m:oMath xmlns:m="http://schemas.openxmlformats.org/officeDocument/2006/math">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𝜎</m:t>
                        </m:r>
                      </m:e>
                      <m:sub>
                        <m:r>
                          <a:rPr lang="en-US" altLang="zh-CN" sz="2000" i="1">
                            <a:solidFill>
                              <a:schemeClr val="bg1"/>
                            </a:solidFill>
                            <a:latin typeface="Cambria Math" panose="02040503050406030204" pitchFamily="18" charset="0"/>
                            <a:ea typeface="+mj-ea"/>
                          </a:rPr>
                          <m:t>𝑝</m:t>
                        </m:r>
                      </m:sub>
                    </m:sSub>
                    <m:d>
                      <m:dPr>
                        <m:ctrlPr>
                          <a:rPr lang="zh-CN" altLang="zh-CN" sz="2000" i="1">
                            <a:solidFill>
                              <a:schemeClr val="bg1"/>
                            </a:solidFill>
                            <a:latin typeface="Cambria Math" panose="02040503050406030204" pitchFamily="18" charset="0"/>
                            <a:ea typeface="+mj-ea"/>
                          </a:rPr>
                        </m:ctrlPr>
                      </m:dPr>
                      <m:e>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1</m:t>
                            </m:r>
                          </m:sub>
                        </m:sSub>
                        <m:r>
                          <a:rPr lang="en-US" altLang="zh-CN" sz="2000" i="1">
                            <a:solidFill>
                              <a:schemeClr val="bg1"/>
                            </a:solidFill>
                            <a:latin typeface="Cambria Math" panose="02040503050406030204" pitchFamily="18" charset="0"/>
                            <a:ea typeface="+mj-ea"/>
                          </a:rPr>
                          <m:t>×</m:t>
                        </m:r>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2</m:t>
                            </m:r>
                          </m:sub>
                        </m:sSub>
                      </m:e>
                    </m:d>
                    <m:r>
                      <a:rPr lang="en-US" altLang="zh-CN" sz="2000" i="1">
                        <a:solidFill>
                          <a:schemeClr val="bg1"/>
                        </a:solidFill>
                        <a:latin typeface="Cambria Math" panose="02040503050406030204" pitchFamily="18" charset="0"/>
                        <a:ea typeface="+mj-ea"/>
                      </a:rPr>
                      <m:t>= </m:t>
                    </m:r>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𝜎</m:t>
                        </m:r>
                      </m:e>
                      <m:sub>
                        <m:r>
                          <a:rPr lang="en-US" altLang="zh-CN" sz="2000" i="1">
                            <a:solidFill>
                              <a:schemeClr val="bg1"/>
                            </a:solidFill>
                            <a:latin typeface="Cambria Math" panose="02040503050406030204" pitchFamily="18" charset="0"/>
                            <a:ea typeface="+mj-ea"/>
                          </a:rPr>
                          <m:t>𝑝</m:t>
                        </m:r>
                      </m:sub>
                    </m:sSub>
                    <m:d>
                      <m:dPr>
                        <m:ctrlPr>
                          <a:rPr lang="zh-CN" altLang="zh-CN" sz="2000" i="1">
                            <a:solidFill>
                              <a:schemeClr val="bg1"/>
                            </a:solidFill>
                            <a:latin typeface="Cambria Math" panose="02040503050406030204" pitchFamily="18" charset="0"/>
                            <a:ea typeface="+mj-ea"/>
                          </a:rPr>
                        </m:ctrlPr>
                      </m:dPr>
                      <m:e>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1</m:t>
                            </m:r>
                          </m:sub>
                        </m:sSub>
                      </m:e>
                    </m:d>
                    <m:r>
                      <a:rPr lang="en-US" altLang="zh-CN" sz="2000" i="1">
                        <a:solidFill>
                          <a:schemeClr val="bg1"/>
                        </a:solidFill>
                        <a:latin typeface="Cambria Math" panose="02040503050406030204" pitchFamily="18" charset="0"/>
                        <a:ea typeface="+mj-ea"/>
                      </a:rPr>
                      <m:t>×</m:t>
                    </m:r>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2</m:t>
                        </m:r>
                      </m:sub>
                    </m:sSub>
                  </m:oMath>
                </a14:m>
                <a:endParaRPr lang="zh-CN" altLang="en-US" sz="2000" dirty="0">
                  <a:latin typeface="+mj-ea"/>
                  <a:ea typeface="+mj-ea"/>
                </a:endParaRPr>
              </a:p>
            </p:txBody>
          </p:sp>
        </mc:Choice>
        <mc:Fallback xmlns="">
          <p:sp>
            <p:nvSpPr>
              <p:cNvPr id="9" name="文本框 8">
                <a:extLst>
                  <a:ext uri="{FF2B5EF4-FFF2-40B4-BE49-F238E27FC236}">
                    <a16:creationId xmlns:a16="http://schemas.microsoft.com/office/drawing/2014/main" xmlns:a14="http://schemas.microsoft.com/office/drawing/2010/main" xmlns="" id="{B700AFDC-8DEB-BDBE-F067-5423FB5A254E}"/>
                  </a:ext>
                </a:extLst>
              </p:cNvPr>
              <p:cNvSpPr txBox="1">
                <a:spLocks noRot="1" noChangeAspect="1" noMove="1" noResize="1" noEditPoints="1" noAdjustHandles="1" noChangeArrowheads="1" noChangeShapeType="1" noTextEdit="1"/>
              </p:cNvSpPr>
              <p:nvPr/>
            </p:nvSpPr>
            <p:spPr>
              <a:xfrm>
                <a:off x="807476" y="1102881"/>
                <a:ext cx="10577045" cy="423770"/>
              </a:xfrm>
              <a:prstGeom prst="rect">
                <a:avLst/>
              </a:prstGeom>
              <a:blipFill rotWithShape="0">
                <a:blip r:embed="rId3"/>
                <a:stretch>
                  <a:fillRect/>
                </a:stretch>
              </a:blipFill>
              <a:ln>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5D409E8E-C8FE-473A-66C8-C17032395076}"/>
              </a:ext>
            </a:extLst>
          </p:cNvPr>
          <p:cNvPicPr>
            <a:picLocks noChangeAspect="1"/>
          </p:cNvPicPr>
          <p:nvPr/>
        </p:nvPicPr>
        <p:blipFill>
          <a:blip r:embed="rId4"/>
          <a:stretch>
            <a:fillRect/>
          </a:stretch>
        </p:blipFill>
        <p:spPr>
          <a:xfrm>
            <a:off x="2736471" y="2096445"/>
            <a:ext cx="2839665" cy="2985509"/>
          </a:xfrm>
          <a:prstGeom prst="rect">
            <a:avLst/>
          </a:prstGeom>
        </p:spPr>
      </p:pic>
      <p:pic>
        <p:nvPicPr>
          <p:cNvPr id="12" name="图片 11">
            <a:extLst>
              <a:ext uri="{FF2B5EF4-FFF2-40B4-BE49-F238E27FC236}">
                <a16:creationId xmlns:a16="http://schemas.microsoft.com/office/drawing/2014/main" id="{1F871465-8A80-F260-9663-6E1190ECF354}"/>
              </a:ext>
            </a:extLst>
          </p:cNvPr>
          <p:cNvPicPr>
            <a:picLocks noChangeAspect="1"/>
          </p:cNvPicPr>
          <p:nvPr/>
        </p:nvPicPr>
        <p:blipFill>
          <a:blip r:embed="rId5"/>
          <a:stretch>
            <a:fillRect/>
          </a:stretch>
        </p:blipFill>
        <p:spPr>
          <a:xfrm>
            <a:off x="6545527" y="2096445"/>
            <a:ext cx="3217492" cy="2985509"/>
          </a:xfrm>
          <a:prstGeom prst="rect">
            <a:avLst/>
          </a:prstGeom>
        </p:spPr>
      </p:pic>
      <p:sp>
        <p:nvSpPr>
          <p:cNvPr id="13" name="矩形 12">
            <a:extLst>
              <a:ext uri="{FF2B5EF4-FFF2-40B4-BE49-F238E27FC236}">
                <a16:creationId xmlns:a16="http://schemas.microsoft.com/office/drawing/2014/main" id="{24736436-9867-480C-B319-DC9D6190D3B0}"/>
              </a:ext>
            </a:extLst>
          </p:cNvPr>
          <p:cNvSpPr/>
          <p:nvPr/>
        </p:nvSpPr>
        <p:spPr>
          <a:xfrm>
            <a:off x="616648" y="5461938"/>
            <a:ext cx="1942589" cy="461665"/>
          </a:xfrm>
          <a:prstGeom prst="rect">
            <a:avLst/>
          </a:prstGeom>
        </p:spPr>
        <p:txBody>
          <a:bodyPr wrap="square">
            <a:spAutoFit/>
          </a:bodyPr>
          <a:lstStyle/>
          <a:p>
            <a:r>
              <a:rPr lang="zh-CN" altLang="en-US" sz="2400" b="1" dirty="0">
                <a:latin typeface="+mj-ea"/>
                <a:ea typeface="+mj-ea"/>
              </a:rPr>
              <a:t>关系代数：</a:t>
            </a:r>
            <a:endParaRPr lang="en-US" altLang="zh-CN" sz="2400" b="1" dirty="0">
              <a:latin typeface="+mj-ea"/>
              <a:ea typeface="+mj-ea"/>
            </a:endParaRPr>
          </a:p>
        </p:txBody>
      </p:sp>
      <p:pic>
        <p:nvPicPr>
          <p:cNvPr id="15" name="图片 14">
            <a:extLst>
              <a:ext uri="{FF2B5EF4-FFF2-40B4-BE49-F238E27FC236}">
                <a16:creationId xmlns:a16="http://schemas.microsoft.com/office/drawing/2014/main" id="{60063143-3465-C172-8A62-29FFD640D382}"/>
              </a:ext>
            </a:extLst>
          </p:cNvPr>
          <p:cNvPicPr>
            <a:picLocks noChangeAspect="1"/>
          </p:cNvPicPr>
          <p:nvPr/>
        </p:nvPicPr>
        <p:blipFill>
          <a:blip r:embed="rId6"/>
          <a:stretch>
            <a:fillRect/>
          </a:stretch>
        </p:blipFill>
        <p:spPr>
          <a:xfrm>
            <a:off x="2410023" y="5512771"/>
            <a:ext cx="9161065" cy="360000"/>
          </a:xfrm>
          <a:prstGeom prst="rect">
            <a:avLst/>
          </a:prstGeom>
        </p:spPr>
      </p:pic>
    </p:spTree>
    <p:extLst>
      <p:ext uri="{BB962C8B-B14F-4D97-AF65-F5344CB8AC3E}">
        <p14:creationId xmlns:p14="http://schemas.microsoft.com/office/powerpoint/2010/main" val="2761709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90D0C5E-DD6F-27B5-33B4-A6448CD62CC1}"/>
              </a:ext>
            </a:extLst>
          </p:cNvPr>
          <p:cNvSpPr>
            <a:spLocks noGrp="1"/>
          </p:cNvSpPr>
          <p:nvPr>
            <p:ph type="sldNum" sz="quarter" idx="10"/>
          </p:nvPr>
        </p:nvSpPr>
        <p:spPr/>
        <p:txBody>
          <a:bodyPr/>
          <a:lstStyle/>
          <a:p>
            <a:fld id="{4B0D34C0-35A8-654C-9FBA-7B4E017BD630}" type="slidenum">
              <a:rPr lang="en-US" altLang="zh-CN" smtClean="0"/>
              <a:t>19</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一个查询重写实例（</a:t>
            </a:r>
            <a:r>
              <a:rPr lang="en-US" altLang="zh-CN" dirty="0"/>
              <a:t>4</a:t>
            </a:r>
            <a:r>
              <a:rPr kumimoji="1" lang="zh-CN" altLang="en-US" dirty="0"/>
              <a:t>）</a:t>
            </a:r>
          </a:p>
        </p:txBody>
      </p:sp>
      <p:sp>
        <p:nvSpPr>
          <p:cNvPr id="4" name="页脚占位符 3">
            <a:extLst>
              <a:ext uri="{FF2B5EF4-FFF2-40B4-BE49-F238E27FC236}">
                <a16:creationId xmlns:a16="http://schemas.microsoft.com/office/drawing/2014/main" id="{0E4BEA9F-7929-7490-35B8-7BF448F5E84E}"/>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6" name="右箭头 5">
            <a:extLst>
              <a:ext uri="{FF2B5EF4-FFF2-40B4-BE49-F238E27FC236}">
                <a16:creationId xmlns:a16="http://schemas.microsoft.com/office/drawing/2014/main" id="{C44422DC-CA24-5B85-F8A8-B59D35FCFAD7}"/>
              </a:ext>
            </a:extLst>
          </p:cNvPr>
          <p:cNvSpPr/>
          <p:nvPr/>
        </p:nvSpPr>
        <p:spPr bwMode="auto">
          <a:xfrm>
            <a:off x="5844903" y="3187457"/>
            <a:ext cx="502193" cy="483085"/>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033C2F9-57EB-82BA-A181-D97C1BEC7642}"/>
                  </a:ext>
                </a:extLst>
              </p:cNvPr>
              <p:cNvSpPr txBox="1"/>
              <p:nvPr/>
            </p:nvSpPr>
            <p:spPr>
              <a:xfrm>
                <a:off x="1608992" y="1155232"/>
                <a:ext cx="8968154" cy="423770"/>
              </a:xfrm>
              <a:prstGeom prst="rect">
                <a:avLst/>
              </a:prstGeom>
              <a:solidFill>
                <a:srgbClr val="74348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en-US" sz="2000" kern="100" dirty="0">
                    <a:solidFill>
                      <a:schemeClr val="bg1"/>
                    </a:solidFill>
                    <a:latin typeface="+mj-ea"/>
                    <a:ea typeface="+mj-ea"/>
                    <a:cs typeface="Times New Roman" panose="02020603050405020304" pitchFamily="18" charset="0"/>
                  </a:rPr>
                  <a:t>使用重写规则：</a:t>
                </a:r>
                <a14:m>
                  <m:oMath xmlns:m="http://schemas.openxmlformats.org/officeDocument/2006/math">
                    <m:sSub>
                      <m:sSubPr>
                        <m:ctrlPr>
                          <a:rPr lang="zh-CN" altLang="zh-CN" sz="2000" i="1">
                            <a:solidFill>
                              <a:schemeClr val="bg1"/>
                            </a:solidFill>
                            <a:latin typeface="Cambria Math" panose="02040503050406030204" pitchFamily="18" charset="0"/>
                            <a:ea typeface="+mj-ea"/>
                          </a:rPr>
                        </m:ctrlPr>
                      </m:sSubPr>
                      <m:e>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𝜎</m:t>
                            </m:r>
                          </m:e>
                          <m:sub>
                            <m:r>
                              <a:rPr lang="en-US" altLang="zh-CN" sz="2000" i="1">
                                <a:solidFill>
                                  <a:schemeClr val="bg1"/>
                                </a:solidFill>
                                <a:latin typeface="Cambria Math" panose="02040503050406030204" pitchFamily="18" charset="0"/>
                                <a:ea typeface="+mj-ea"/>
                              </a:rPr>
                              <m:t>𝑝</m:t>
                            </m:r>
                          </m:sub>
                        </m:sSub>
                        <m:d>
                          <m:dPr>
                            <m:ctrlPr>
                              <a:rPr lang="zh-CN" altLang="zh-CN" sz="2000" i="1">
                                <a:solidFill>
                                  <a:schemeClr val="bg1"/>
                                </a:solidFill>
                                <a:latin typeface="Cambria Math" panose="02040503050406030204" pitchFamily="18" charset="0"/>
                                <a:ea typeface="+mj-ea"/>
                              </a:rPr>
                            </m:ctrlPr>
                          </m:dPr>
                          <m:e>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1</m:t>
                                </m:r>
                              </m:sub>
                            </m:sSub>
                            <m:r>
                              <a:rPr lang="en-US" altLang="zh-CN" sz="2000" i="1">
                                <a:solidFill>
                                  <a:schemeClr val="bg1"/>
                                </a:solidFill>
                                <a:latin typeface="Cambria Math" panose="02040503050406030204" pitchFamily="18" charset="0"/>
                                <a:ea typeface="+mj-ea"/>
                              </a:rPr>
                              <m:t>×</m:t>
                            </m:r>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2</m:t>
                                </m:r>
                              </m:sub>
                            </m:sSub>
                          </m:e>
                        </m:d>
                        <m:r>
                          <a:rPr lang="en-US" altLang="zh-CN" sz="2000" i="1">
                            <a:solidFill>
                              <a:schemeClr val="bg1"/>
                            </a:solidFill>
                            <a:latin typeface="Cambria Math" panose="02040503050406030204" pitchFamily="18" charset="0"/>
                            <a:ea typeface="+mj-ea"/>
                          </a:rPr>
                          <m:t>=</m:t>
                        </m:r>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1</m:t>
                        </m:r>
                      </m:sub>
                    </m:sSub>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m:t>
                        </m:r>
                      </m:e>
                      <m:sub>
                        <m:r>
                          <a:rPr lang="en-US" altLang="zh-CN" sz="2000" i="1">
                            <a:solidFill>
                              <a:schemeClr val="bg1"/>
                            </a:solidFill>
                            <a:latin typeface="Cambria Math" panose="02040503050406030204" pitchFamily="18" charset="0"/>
                            <a:ea typeface="+mj-ea"/>
                          </a:rPr>
                          <m:t>𝑝</m:t>
                        </m:r>
                      </m:sub>
                    </m:sSub>
                    <m:sSub>
                      <m:sSubPr>
                        <m:ctrlPr>
                          <a:rPr lang="zh-CN" altLang="zh-CN" sz="2000" i="1">
                            <a:solidFill>
                              <a:schemeClr val="bg1"/>
                            </a:solidFill>
                            <a:latin typeface="Cambria Math" panose="02040503050406030204" pitchFamily="18" charset="0"/>
                            <a:ea typeface="+mj-ea"/>
                          </a:rPr>
                        </m:ctrlPr>
                      </m:sSubPr>
                      <m:e>
                        <m:r>
                          <a:rPr lang="en-US" altLang="zh-CN" sz="2000" i="1">
                            <a:solidFill>
                              <a:schemeClr val="bg1"/>
                            </a:solidFill>
                            <a:latin typeface="Cambria Math" panose="02040503050406030204" pitchFamily="18" charset="0"/>
                            <a:ea typeface="+mj-ea"/>
                          </a:rPr>
                          <m:t>𝑅</m:t>
                        </m:r>
                      </m:e>
                      <m:sub>
                        <m:r>
                          <a:rPr lang="en-US" altLang="zh-CN" sz="2000" i="1">
                            <a:solidFill>
                              <a:schemeClr val="bg1"/>
                            </a:solidFill>
                            <a:latin typeface="Cambria Math" panose="02040503050406030204" pitchFamily="18" charset="0"/>
                            <a:ea typeface="+mj-ea"/>
                          </a:rPr>
                          <m:t>2</m:t>
                        </m:r>
                      </m:sub>
                    </m:sSub>
                  </m:oMath>
                </a14:m>
                <a:endParaRPr lang="zh-CN" altLang="en-US" sz="2000" dirty="0">
                  <a:latin typeface="+mj-ea"/>
                  <a:ea typeface="+mj-ea"/>
                </a:endParaRPr>
              </a:p>
            </p:txBody>
          </p:sp>
        </mc:Choice>
        <mc:Fallback xmlns="">
          <p:sp>
            <p:nvSpPr>
              <p:cNvPr id="9" name="文本框 8">
                <a:extLst>
                  <a:ext uri="{FF2B5EF4-FFF2-40B4-BE49-F238E27FC236}">
                    <a16:creationId xmlns:a16="http://schemas.microsoft.com/office/drawing/2014/main" xmlns:a14="http://schemas.microsoft.com/office/drawing/2010/main" xmlns="" id="{A033C2F9-57EB-82BA-A181-D97C1BEC7642}"/>
                  </a:ext>
                </a:extLst>
              </p:cNvPr>
              <p:cNvSpPr txBox="1">
                <a:spLocks noRot="1" noChangeAspect="1" noMove="1" noResize="1" noEditPoints="1" noAdjustHandles="1" noChangeArrowheads="1" noChangeShapeType="1" noTextEdit="1"/>
              </p:cNvSpPr>
              <p:nvPr/>
            </p:nvSpPr>
            <p:spPr>
              <a:xfrm>
                <a:off x="1608992" y="1155232"/>
                <a:ext cx="8968154" cy="423770"/>
              </a:xfrm>
              <a:prstGeom prst="rect">
                <a:avLst/>
              </a:prstGeom>
              <a:blipFill rotWithShape="0">
                <a:blip r:embed="rId3"/>
                <a:stretch>
                  <a:fillRect/>
                </a:stretch>
              </a:blipFill>
              <a:ln>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6135F805-FF6E-F410-3364-A6B7CB4C42DD}"/>
              </a:ext>
            </a:extLst>
          </p:cNvPr>
          <p:cNvPicPr>
            <a:picLocks noChangeAspect="1"/>
          </p:cNvPicPr>
          <p:nvPr/>
        </p:nvPicPr>
        <p:blipFill>
          <a:blip r:embed="rId4"/>
          <a:stretch>
            <a:fillRect/>
          </a:stretch>
        </p:blipFill>
        <p:spPr>
          <a:xfrm>
            <a:off x="2390200" y="2029042"/>
            <a:ext cx="3199585" cy="2968893"/>
          </a:xfrm>
          <a:prstGeom prst="rect">
            <a:avLst/>
          </a:prstGeom>
        </p:spPr>
      </p:pic>
      <p:pic>
        <p:nvPicPr>
          <p:cNvPr id="11" name="图片 10">
            <a:extLst>
              <a:ext uri="{FF2B5EF4-FFF2-40B4-BE49-F238E27FC236}">
                <a16:creationId xmlns:a16="http://schemas.microsoft.com/office/drawing/2014/main" id="{08827808-B590-73CF-D8C5-6BC27E2A8E55}"/>
              </a:ext>
            </a:extLst>
          </p:cNvPr>
          <p:cNvPicPr>
            <a:picLocks noChangeAspect="1"/>
          </p:cNvPicPr>
          <p:nvPr/>
        </p:nvPicPr>
        <p:blipFill>
          <a:blip r:embed="rId5"/>
          <a:stretch>
            <a:fillRect/>
          </a:stretch>
        </p:blipFill>
        <p:spPr>
          <a:xfrm>
            <a:off x="6803910" y="2053315"/>
            <a:ext cx="2889681" cy="2884792"/>
          </a:xfrm>
          <a:prstGeom prst="rect">
            <a:avLst/>
          </a:prstGeom>
        </p:spPr>
      </p:pic>
      <p:sp>
        <p:nvSpPr>
          <p:cNvPr id="12" name="矩形 11">
            <a:extLst>
              <a:ext uri="{FF2B5EF4-FFF2-40B4-BE49-F238E27FC236}">
                <a16:creationId xmlns:a16="http://schemas.microsoft.com/office/drawing/2014/main" id="{9BCCAAF1-5AB2-6EE4-0325-F43CD3E7A5F4}"/>
              </a:ext>
            </a:extLst>
          </p:cNvPr>
          <p:cNvSpPr/>
          <p:nvPr/>
        </p:nvSpPr>
        <p:spPr>
          <a:xfrm>
            <a:off x="1217444" y="5303460"/>
            <a:ext cx="1942589" cy="461665"/>
          </a:xfrm>
          <a:prstGeom prst="rect">
            <a:avLst/>
          </a:prstGeom>
        </p:spPr>
        <p:txBody>
          <a:bodyPr wrap="square">
            <a:spAutoFit/>
          </a:bodyPr>
          <a:lstStyle/>
          <a:p>
            <a:r>
              <a:rPr lang="zh-CN" altLang="en-US" sz="2400" b="1" dirty="0">
                <a:latin typeface="+mj-ea"/>
                <a:ea typeface="+mj-ea"/>
              </a:rPr>
              <a:t>关系代数：</a:t>
            </a:r>
            <a:endParaRPr lang="en-US" altLang="zh-CN" sz="2400" b="1" dirty="0">
              <a:latin typeface="+mj-ea"/>
              <a:ea typeface="+mj-ea"/>
            </a:endParaRPr>
          </a:p>
        </p:txBody>
      </p:sp>
      <p:pic>
        <p:nvPicPr>
          <p:cNvPr id="14" name="图片 13">
            <a:extLst>
              <a:ext uri="{FF2B5EF4-FFF2-40B4-BE49-F238E27FC236}">
                <a16:creationId xmlns:a16="http://schemas.microsoft.com/office/drawing/2014/main" id="{71DDB3AB-4B54-CC9D-1E52-6C087B3929DD}"/>
              </a:ext>
            </a:extLst>
          </p:cNvPr>
          <p:cNvPicPr>
            <a:picLocks noChangeAspect="1"/>
          </p:cNvPicPr>
          <p:nvPr/>
        </p:nvPicPr>
        <p:blipFill>
          <a:blip r:embed="rId6"/>
          <a:stretch>
            <a:fillRect/>
          </a:stretch>
        </p:blipFill>
        <p:spPr>
          <a:xfrm>
            <a:off x="3086099" y="5278997"/>
            <a:ext cx="7772400" cy="448862"/>
          </a:xfrm>
          <a:prstGeom prst="rect">
            <a:avLst/>
          </a:prstGeom>
        </p:spPr>
      </p:pic>
    </p:spTree>
    <p:extLst>
      <p:ext uri="{BB962C8B-B14F-4D97-AF65-F5344CB8AC3E}">
        <p14:creationId xmlns:p14="http://schemas.microsoft.com/office/powerpoint/2010/main" val="276886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212D55C-0A94-1FE0-EB84-0B7760F393ED}"/>
              </a:ext>
            </a:extLst>
          </p:cNvPr>
          <p:cNvSpPr>
            <a:spLocks noGrp="1"/>
          </p:cNvSpPr>
          <p:nvPr>
            <p:ph type="sldNum" sz="quarter" idx="10"/>
          </p:nvPr>
        </p:nvSpPr>
        <p:spPr/>
        <p:txBody>
          <a:bodyPr/>
          <a:lstStyle/>
          <a:p>
            <a:fld id="{4B0D34C0-35A8-654C-9FBA-7B4E017BD630}" type="slidenum">
              <a:rPr lang="en-US" altLang="zh-CN" smtClean="0"/>
              <a:t>20</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查询重写规则</a:t>
            </a:r>
          </a:p>
        </p:txBody>
      </p:sp>
      <p:sp>
        <p:nvSpPr>
          <p:cNvPr id="3" name="页脚占位符 2">
            <a:extLst>
              <a:ext uri="{FF2B5EF4-FFF2-40B4-BE49-F238E27FC236}">
                <a16:creationId xmlns:a16="http://schemas.microsoft.com/office/drawing/2014/main" id="{767D19F9-0B93-544B-F0A1-4BB4E670990A}"/>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3E931817-0615-33DC-6708-430F9DB472A8}"/>
                  </a:ext>
                </a:extLst>
              </p:cNvPr>
              <p:cNvGraphicFramePr>
                <a:graphicFrameLocks noGrp="1"/>
              </p:cNvGraphicFramePr>
              <p:nvPr>
                <p:extLst>
                  <p:ext uri="{D42A27DB-BD31-4B8C-83A1-F6EECF244321}">
                    <p14:modId xmlns:p14="http://schemas.microsoft.com/office/powerpoint/2010/main" val="3619152748"/>
                  </p:ext>
                </p:extLst>
              </p:nvPr>
            </p:nvGraphicFramePr>
            <p:xfrm>
              <a:off x="2150150" y="1092631"/>
              <a:ext cx="8314267" cy="5006435"/>
            </p:xfrm>
            <a:graphic>
              <a:graphicData uri="http://schemas.openxmlformats.org/drawingml/2006/table">
                <a:tbl>
                  <a:tblPr firstRow="1" firstCol="1" bandRow="1">
                    <a:tableStyleId>{72833802-FEF1-4C79-8D5D-14CF1EAF98D9}</a:tableStyleId>
                  </a:tblPr>
                  <a:tblGrid>
                    <a:gridCol w="1046418">
                      <a:extLst>
                        <a:ext uri="{9D8B030D-6E8A-4147-A177-3AD203B41FA5}">
                          <a16:colId xmlns:a16="http://schemas.microsoft.com/office/drawing/2014/main" val="745489469"/>
                        </a:ext>
                      </a:extLst>
                    </a:gridCol>
                    <a:gridCol w="7267849">
                      <a:extLst>
                        <a:ext uri="{9D8B030D-6E8A-4147-A177-3AD203B41FA5}">
                          <a16:colId xmlns:a16="http://schemas.microsoft.com/office/drawing/2014/main" val="2947008462"/>
                        </a:ext>
                      </a:extLst>
                    </a:gridCol>
                  </a:tblGrid>
                  <a:tr h="578834">
                    <a:tc>
                      <a:txBody>
                        <a:bodyPr/>
                        <a:lstStyle/>
                        <a:p>
                          <a:pPr indent="127000" algn="ctr">
                            <a:lnSpc>
                              <a:spcPct val="150000"/>
                            </a:lnSpc>
                          </a:pPr>
                          <a:r>
                            <a:rPr lang="zh-CN" sz="2400" kern="100" dirty="0">
                              <a:effectLst/>
                              <a:latin typeface="+mj-ea"/>
                              <a:ea typeface="+mj-ea"/>
                            </a:rPr>
                            <a:t>序号</a:t>
                          </a:r>
                          <a:endParaRPr lang="zh-CN" sz="24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2400" kern="100" dirty="0">
                              <a:effectLst/>
                              <a:latin typeface="+mj-ea"/>
                              <a:ea typeface="+mj-ea"/>
                            </a:rPr>
                            <a:t>等价转换规则</a:t>
                          </a:r>
                          <a:endParaRPr lang="zh-CN" sz="24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294034595"/>
                      </a:ext>
                    </a:extLst>
                  </a:tr>
                  <a:tr h="380033">
                    <a:tc>
                      <a:txBody>
                        <a:bodyPr/>
                        <a:lstStyle/>
                        <a:p>
                          <a:pPr indent="127000" algn="ctr">
                            <a:lnSpc>
                              <a:spcPct val="150000"/>
                            </a:lnSpc>
                          </a:pPr>
                          <a:r>
                            <a:rPr lang="en-US" sz="2000" kern="100">
                              <a:effectLst/>
                              <a:latin typeface="+mj-ea"/>
                              <a:ea typeface="+mj-ea"/>
                            </a:rPr>
                            <a:t>1</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986689286"/>
                      </a:ext>
                    </a:extLst>
                  </a:tr>
                  <a:tr h="380033">
                    <a:tc>
                      <a:txBody>
                        <a:bodyPr/>
                        <a:lstStyle/>
                        <a:p>
                          <a:pPr indent="127000" algn="ctr">
                            <a:lnSpc>
                              <a:spcPct val="150000"/>
                            </a:lnSpc>
                          </a:pPr>
                          <a:r>
                            <a:rPr lang="en-US" sz="2000" kern="100">
                              <a:effectLst/>
                              <a:latin typeface="+mj-ea"/>
                              <a:ea typeface="+mj-ea"/>
                            </a:rPr>
                            <a:t>2</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m:t>
                                    </m:r>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916949430"/>
                      </a:ext>
                    </a:extLst>
                  </a:tr>
                  <a:tr h="380033">
                    <a:tc>
                      <a:txBody>
                        <a:bodyPr/>
                        <a:lstStyle/>
                        <a:p>
                          <a:pPr indent="127000" algn="ctr">
                            <a:lnSpc>
                              <a:spcPct val="150000"/>
                            </a:lnSpc>
                          </a:pPr>
                          <a:r>
                            <a:rPr lang="en-US" sz="2000" kern="100">
                              <a:effectLst/>
                              <a:latin typeface="+mj-ea"/>
                              <a:ea typeface="+mj-ea"/>
                            </a:rPr>
                            <a:t>3</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810111683"/>
                      </a:ext>
                    </a:extLst>
                  </a:tr>
                  <a:tr h="380033">
                    <a:tc>
                      <a:txBody>
                        <a:bodyPr/>
                        <a:lstStyle/>
                        <a:p>
                          <a:pPr indent="127000" algn="ctr">
                            <a:lnSpc>
                              <a:spcPct val="150000"/>
                            </a:lnSpc>
                          </a:pPr>
                          <a:r>
                            <a:rPr lang="en-US" sz="2000" kern="100">
                              <a:effectLst/>
                              <a:latin typeface="+mj-ea"/>
                              <a:ea typeface="+mj-ea"/>
                            </a:rPr>
                            <a:t>4</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m:t>
                                    </m:r>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033442925"/>
                      </a:ext>
                    </a:extLst>
                  </a:tr>
                  <a:tr h="380033">
                    <a:tc>
                      <a:txBody>
                        <a:bodyPr/>
                        <a:lstStyle/>
                        <a:p>
                          <a:pPr indent="127000" algn="ctr">
                            <a:lnSpc>
                              <a:spcPct val="150000"/>
                            </a:lnSpc>
                          </a:pPr>
                          <a:r>
                            <a:rPr lang="en-US" sz="2000" kern="100">
                              <a:effectLst/>
                              <a:latin typeface="+mj-ea"/>
                              <a:ea typeface="+mj-ea"/>
                            </a:rPr>
                            <a:t>5</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945210711"/>
                      </a:ext>
                    </a:extLst>
                  </a:tr>
                  <a:tr h="380033">
                    <a:tc>
                      <a:txBody>
                        <a:bodyPr/>
                        <a:lstStyle/>
                        <a:p>
                          <a:pPr indent="127000" algn="ctr">
                            <a:lnSpc>
                              <a:spcPct val="150000"/>
                            </a:lnSpc>
                          </a:pPr>
                          <a:r>
                            <a:rPr lang="en-US" sz="2000" kern="100">
                              <a:effectLst/>
                              <a:latin typeface="+mj-ea"/>
                              <a:ea typeface="+mj-ea"/>
                            </a:rPr>
                            <a:t>6</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m:t>
                                    </m:r>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56913382"/>
                      </a:ext>
                    </a:extLst>
                  </a:tr>
                  <a:tr h="380033">
                    <a:tc>
                      <a:txBody>
                        <a:bodyPr/>
                        <a:lstStyle/>
                        <a:p>
                          <a:pPr indent="127000" algn="ctr">
                            <a:lnSpc>
                              <a:spcPct val="150000"/>
                            </a:lnSpc>
                          </a:pPr>
                          <a:r>
                            <a:rPr lang="en-US" sz="2000" kern="100">
                              <a:effectLst/>
                              <a:latin typeface="+mj-ea"/>
                              <a:ea typeface="+mj-ea"/>
                            </a:rPr>
                            <a:t>7</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18455094"/>
                      </a:ext>
                    </a:extLst>
                  </a:tr>
                  <a:tr h="380033">
                    <a:tc>
                      <a:txBody>
                        <a:bodyPr/>
                        <a:lstStyle/>
                        <a:p>
                          <a:pPr indent="127000" algn="ctr">
                            <a:lnSpc>
                              <a:spcPct val="150000"/>
                            </a:lnSpc>
                          </a:pPr>
                          <a:r>
                            <a:rPr lang="en-US" sz="2000" kern="100">
                              <a:effectLst/>
                              <a:latin typeface="+mj-ea"/>
                              <a:ea typeface="+mj-ea"/>
                            </a:rPr>
                            <a:t>8</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m:t>
                                    </m:r>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2</m:t>
                                    </m:r>
                                  </m:sub>
                                </m:sSub>
                                <m:r>
                                  <a:rPr lang="en-US" sz="2000" kern="100">
                                    <a:effectLst/>
                                    <a:latin typeface="Cambria Math" panose="02040503050406030204" pitchFamily="18" charset="0"/>
                                    <a:ea typeface="+mj-ea"/>
                                  </a:rPr>
                                  <m:t>∩</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𝑅</m:t>
                                    </m:r>
                                  </m:e>
                                  <m:sub>
                                    <m:r>
                                      <a:rPr lang="en-US" sz="2000" kern="100">
                                        <a:effectLst/>
                                        <a:latin typeface="Cambria Math" panose="02040503050406030204" pitchFamily="18" charset="0"/>
                                        <a:ea typeface="+mj-ea"/>
                                      </a:rPr>
                                      <m:t>3</m:t>
                                    </m:r>
                                  </m:sub>
                                </m:sSub>
                                <m:r>
                                  <a:rPr lang="en-US" sz="2000" kern="100">
                                    <a:effectLst/>
                                    <a:latin typeface="Cambria Math" panose="02040503050406030204" pitchFamily="18" charset="0"/>
                                    <a:ea typeface="+mj-ea"/>
                                  </a:rPr>
                                  <m:t>)</m:t>
                                </m:r>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51978428"/>
                      </a:ext>
                    </a:extLst>
                  </a:tr>
                  <a:tr h="564930">
                    <a:tc>
                      <a:txBody>
                        <a:bodyPr/>
                        <a:lstStyle/>
                        <a:p>
                          <a:pPr indent="127000" algn="ctr">
                            <a:lnSpc>
                              <a:spcPct val="150000"/>
                            </a:lnSpc>
                          </a:pPr>
                          <a:r>
                            <a:rPr lang="en-US" sz="2000" kern="100">
                              <a:effectLst/>
                              <a:latin typeface="+mj-ea"/>
                              <a:ea typeface="+mj-ea"/>
                            </a:rPr>
                            <a:t>9</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𝜎</m:t>
                                    </m:r>
                                  </m:e>
                                  <m:sub>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𝑝</m:t>
                                        </m:r>
                                      </m:e>
                                      <m:sub>
                                        <m:r>
                                          <a:rPr lang="en-US" sz="2000" kern="100">
                                            <a:effectLst/>
                                            <a:latin typeface="Cambria Math" panose="02040503050406030204" pitchFamily="18" charset="0"/>
                                            <a:ea typeface="+mj-ea"/>
                                          </a:rPr>
                                          <m:t>1</m:t>
                                        </m:r>
                                      </m:sub>
                                    </m:sSub>
                                    <m:r>
                                      <a:rPr lang="en-US" sz="2000" kern="100">
                                        <a:effectLst/>
                                        <a:latin typeface="Cambria Math" panose="02040503050406030204" pitchFamily="18" charset="0"/>
                                        <a:ea typeface="+mj-ea"/>
                                      </a:rPr>
                                      <m:t> ⋀ </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𝑝</m:t>
                                        </m:r>
                                      </m:e>
                                      <m:sub>
                                        <m:r>
                                          <a:rPr lang="en-US" sz="2000" kern="100">
                                            <a:effectLst/>
                                            <a:latin typeface="Cambria Math" panose="02040503050406030204" pitchFamily="18" charset="0"/>
                                            <a:ea typeface="+mj-ea"/>
                                          </a:rPr>
                                          <m:t>2</m:t>
                                        </m:r>
                                      </m:sub>
                                    </m:sSub>
                                  </m:sub>
                                </m:sSub>
                                <m:r>
                                  <a:rPr lang="en-US" sz="2000" kern="100">
                                    <a:effectLst/>
                                    <a:latin typeface="Cambria Math" panose="02040503050406030204" pitchFamily="18" charset="0"/>
                                    <a:ea typeface="+mj-ea"/>
                                  </a:rPr>
                                  <m:t>(</m:t>
                                </m:r>
                                <m:r>
                                  <a:rPr lang="en-US" sz="2000" kern="100">
                                    <a:effectLst/>
                                    <a:latin typeface="Cambria Math" panose="02040503050406030204" pitchFamily="18" charset="0"/>
                                    <a:ea typeface="+mj-ea"/>
                                  </a:rPr>
                                  <m:t>𝑅</m:t>
                                </m:r>
                                <m:r>
                                  <a:rPr lang="en-US" sz="2000" kern="100">
                                    <a:effectLst/>
                                    <a:latin typeface="Cambria Math" panose="02040503050406030204" pitchFamily="18" charset="0"/>
                                    <a:ea typeface="+mj-ea"/>
                                  </a:rPr>
                                  <m:t>)= </m:t>
                                </m:r>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𝜎</m:t>
                                    </m:r>
                                  </m:e>
                                  <m:sub>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𝑝</m:t>
                                        </m:r>
                                      </m:e>
                                      <m:sub>
                                        <m:r>
                                          <a:rPr lang="en-US" sz="2000" kern="100">
                                            <a:effectLst/>
                                            <a:latin typeface="Cambria Math" panose="02040503050406030204" pitchFamily="18" charset="0"/>
                                            <a:ea typeface="+mj-ea"/>
                                          </a:rPr>
                                          <m:t>1</m:t>
                                        </m:r>
                                      </m:sub>
                                    </m:sSub>
                                  </m:sub>
                                </m:sSub>
                                <m:d>
                                  <m:dPr>
                                    <m:ctrlPr>
                                      <a:rPr lang="zh-CN" sz="2000" i="1" kern="100">
                                        <a:effectLst/>
                                        <a:latin typeface="Cambria Math" panose="02040503050406030204" pitchFamily="18" charset="0"/>
                                        <a:ea typeface="+mj-ea"/>
                                      </a:rPr>
                                    </m:ctrlPr>
                                  </m:dPr>
                                  <m:e>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𝜎</m:t>
                                        </m:r>
                                      </m:e>
                                      <m:sub>
                                        <m:sSub>
                                          <m:sSubPr>
                                            <m:ctrlPr>
                                              <a:rPr lang="zh-CN" sz="2000" i="1" kern="100">
                                                <a:effectLst/>
                                                <a:latin typeface="Cambria Math" panose="02040503050406030204" pitchFamily="18" charset="0"/>
                                                <a:ea typeface="+mj-ea"/>
                                              </a:rPr>
                                            </m:ctrlPr>
                                          </m:sSubPr>
                                          <m:e>
                                            <m:r>
                                              <a:rPr lang="en-US" sz="2000" kern="100">
                                                <a:effectLst/>
                                                <a:latin typeface="Cambria Math" panose="02040503050406030204" pitchFamily="18" charset="0"/>
                                                <a:ea typeface="+mj-ea"/>
                                              </a:rPr>
                                              <m:t>𝑝</m:t>
                                            </m:r>
                                          </m:e>
                                          <m:sub>
                                            <m:r>
                                              <a:rPr lang="en-US" sz="2000" kern="100">
                                                <a:effectLst/>
                                                <a:latin typeface="Cambria Math" panose="02040503050406030204" pitchFamily="18" charset="0"/>
                                                <a:ea typeface="+mj-ea"/>
                                              </a:rPr>
                                              <m:t>2</m:t>
                                            </m:r>
                                          </m:sub>
                                        </m:sSub>
                                      </m:sub>
                                    </m:sSub>
                                    <m:d>
                                      <m:dPr>
                                        <m:ctrlPr>
                                          <a:rPr lang="zh-CN" sz="2000" i="1" kern="100">
                                            <a:effectLst/>
                                            <a:latin typeface="Cambria Math" panose="02040503050406030204" pitchFamily="18" charset="0"/>
                                            <a:ea typeface="+mj-ea"/>
                                          </a:rPr>
                                        </m:ctrlPr>
                                      </m:dPr>
                                      <m:e>
                                        <m:r>
                                          <a:rPr lang="en-US" sz="2000" kern="100">
                                            <a:effectLst/>
                                            <a:latin typeface="Cambria Math" panose="02040503050406030204" pitchFamily="18" charset="0"/>
                                            <a:ea typeface="+mj-ea"/>
                                          </a:rPr>
                                          <m:t>𝑅</m:t>
                                        </m:r>
                                      </m:e>
                                    </m:d>
                                  </m:e>
                                </m:d>
                              </m:oMath>
                            </m:oMathPara>
                          </a14:m>
                          <a:endParaRPr lang="zh-CN" sz="20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568911287"/>
                      </a:ext>
                    </a:extLst>
                  </a:tr>
                </a:tbl>
              </a:graphicData>
            </a:graphic>
          </p:graphicFrame>
        </mc:Choice>
        <mc:Fallback xmlns="">
          <p:graphicFrame>
            <p:nvGraphicFramePr>
              <p:cNvPr id="7" name="表格 6">
                <a:extLst>
                  <a:ext uri="{FF2B5EF4-FFF2-40B4-BE49-F238E27FC236}">
                    <a16:creationId xmlns:a16="http://schemas.microsoft.com/office/drawing/2014/main" id="{3E931817-0615-33DC-6708-430F9DB472A8}"/>
                  </a:ext>
                </a:extLst>
              </p:cNvPr>
              <p:cNvGraphicFramePr>
                <a:graphicFrameLocks noGrp="1"/>
              </p:cNvGraphicFramePr>
              <p:nvPr>
                <p:extLst>
                  <p:ext uri="{D42A27DB-BD31-4B8C-83A1-F6EECF244321}">
                    <p14:modId xmlns:p14="http://schemas.microsoft.com/office/powerpoint/2010/main" val="3619152748"/>
                  </p:ext>
                </p:extLst>
              </p:nvPr>
            </p:nvGraphicFramePr>
            <p:xfrm>
              <a:off x="2150150" y="1092631"/>
              <a:ext cx="8314267" cy="5006435"/>
            </p:xfrm>
            <a:graphic>
              <a:graphicData uri="http://schemas.openxmlformats.org/drawingml/2006/table">
                <a:tbl>
                  <a:tblPr firstRow="1" firstCol="1" bandRow="1">
                    <a:tableStyleId>{72833802-FEF1-4C79-8D5D-14CF1EAF98D9}</a:tableStyleId>
                  </a:tblPr>
                  <a:tblGrid>
                    <a:gridCol w="1046418">
                      <a:extLst>
                        <a:ext uri="{9D8B030D-6E8A-4147-A177-3AD203B41FA5}">
                          <a16:colId xmlns:a16="http://schemas.microsoft.com/office/drawing/2014/main" val="745489469"/>
                        </a:ext>
                      </a:extLst>
                    </a:gridCol>
                    <a:gridCol w="7267849">
                      <a:extLst>
                        <a:ext uri="{9D8B030D-6E8A-4147-A177-3AD203B41FA5}">
                          <a16:colId xmlns:a16="http://schemas.microsoft.com/office/drawing/2014/main" val="2947008462"/>
                        </a:ext>
                      </a:extLst>
                    </a:gridCol>
                  </a:tblGrid>
                  <a:tr h="578834">
                    <a:tc>
                      <a:txBody>
                        <a:bodyPr/>
                        <a:lstStyle/>
                        <a:p>
                          <a:pPr indent="127000" algn="ctr">
                            <a:lnSpc>
                              <a:spcPct val="150000"/>
                            </a:lnSpc>
                          </a:pPr>
                          <a:r>
                            <a:rPr lang="zh-CN" sz="2400" kern="100" dirty="0">
                              <a:effectLst/>
                              <a:latin typeface="+mj-ea"/>
                              <a:ea typeface="+mj-ea"/>
                            </a:rPr>
                            <a:t>序号</a:t>
                          </a:r>
                          <a:endParaRPr lang="zh-CN" sz="24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2400" kern="100" dirty="0">
                              <a:effectLst/>
                              <a:latin typeface="+mj-ea"/>
                              <a:ea typeface="+mj-ea"/>
                            </a:rPr>
                            <a:t>等价转换规则</a:t>
                          </a:r>
                          <a:endParaRPr lang="zh-CN" sz="2400" kern="100" dirty="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294034595"/>
                      </a:ext>
                    </a:extLst>
                  </a:tr>
                  <a:tr h="466725">
                    <a:tc>
                      <a:txBody>
                        <a:bodyPr/>
                        <a:lstStyle/>
                        <a:p>
                          <a:pPr indent="127000" algn="ctr">
                            <a:lnSpc>
                              <a:spcPct val="150000"/>
                            </a:lnSpc>
                          </a:pPr>
                          <a:r>
                            <a:rPr lang="en-US" sz="2000" kern="100">
                              <a:effectLst/>
                              <a:latin typeface="+mj-ea"/>
                              <a:ea typeface="+mj-ea"/>
                            </a:rPr>
                            <a:t>1</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124675" r="-84" b="-846753"/>
                          </a:stretch>
                        </a:blipFill>
                      </a:tcPr>
                    </a:tc>
                    <a:extLst>
                      <a:ext uri="{0D108BD9-81ED-4DB2-BD59-A6C34878D82A}">
                        <a16:rowId xmlns:a16="http://schemas.microsoft.com/office/drawing/2014/main" val="3986689286"/>
                      </a:ext>
                    </a:extLst>
                  </a:tr>
                  <a:tr h="466725">
                    <a:tc>
                      <a:txBody>
                        <a:bodyPr/>
                        <a:lstStyle/>
                        <a:p>
                          <a:pPr indent="127000" algn="ctr">
                            <a:lnSpc>
                              <a:spcPct val="150000"/>
                            </a:lnSpc>
                          </a:pPr>
                          <a:r>
                            <a:rPr lang="en-US" sz="2000" kern="100">
                              <a:effectLst/>
                              <a:latin typeface="+mj-ea"/>
                              <a:ea typeface="+mj-ea"/>
                            </a:rPr>
                            <a:t>2</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227632" r="-84" b="-757895"/>
                          </a:stretch>
                        </a:blipFill>
                      </a:tcPr>
                    </a:tc>
                    <a:extLst>
                      <a:ext uri="{0D108BD9-81ED-4DB2-BD59-A6C34878D82A}">
                        <a16:rowId xmlns:a16="http://schemas.microsoft.com/office/drawing/2014/main" val="916949430"/>
                      </a:ext>
                    </a:extLst>
                  </a:tr>
                  <a:tr h="466725">
                    <a:tc>
                      <a:txBody>
                        <a:bodyPr/>
                        <a:lstStyle/>
                        <a:p>
                          <a:pPr indent="127000" algn="ctr">
                            <a:lnSpc>
                              <a:spcPct val="150000"/>
                            </a:lnSpc>
                          </a:pPr>
                          <a:r>
                            <a:rPr lang="en-US" sz="2000" kern="100">
                              <a:effectLst/>
                              <a:latin typeface="+mj-ea"/>
                              <a:ea typeface="+mj-ea"/>
                            </a:rPr>
                            <a:t>3</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323377" r="-84" b="-648052"/>
                          </a:stretch>
                        </a:blipFill>
                      </a:tcPr>
                    </a:tc>
                    <a:extLst>
                      <a:ext uri="{0D108BD9-81ED-4DB2-BD59-A6C34878D82A}">
                        <a16:rowId xmlns:a16="http://schemas.microsoft.com/office/drawing/2014/main" val="810111683"/>
                      </a:ext>
                    </a:extLst>
                  </a:tr>
                  <a:tr h="466725">
                    <a:tc>
                      <a:txBody>
                        <a:bodyPr/>
                        <a:lstStyle/>
                        <a:p>
                          <a:pPr indent="127000" algn="ctr">
                            <a:lnSpc>
                              <a:spcPct val="150000"/>
                            </a:lnSpc>
                          </a:pPr>
                          <a:r>
                            <a:rPr lang="en-US" sz="2000" kern="100">
                              <a:effectLst/>
                              <a:latin typeface="+mj-ea"/>
                              <a:ea typeface="+mj-ea"/>
                            </a:rPr>
                            <a:t>4</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423377" r="-84" b="-548052"/>
                          </a:stretch>
                        </a:blipFill>
                      </a:tcPr>
                    </a:tc>
                    <a:extLst>
                      <a:ext uri="{0D108BD9-81ED-4DB2-BD59-A6C34878D82A}">
                        <a16:rowId xmlns:a16="http://schemas.microsoft.com/office/drawing/2014/main" val="3033442925"/>
                      </a:ext>
                    </a:extLst>
                  </a:tr>
                  <a:tr h="466725">
                    <a:tc>
                      <a:txBody>
                        <a:bodyPr/>
                        <a:lstStyle/>
                        <a:p>
                          <a:pPr indent="127000" algn="ctr">
                            <a:lnSpc>
                              <a:spcPct val="150000"/>
                            </a:lnSpc>
                          </a:pPr>
                          <a:r>
                            <a:rPr lang="en-US" sz="2000" kern="100">
                              <a:effectLst/>
                              <a:latin typeface="+mj-ea"/>
                              <a:ea typeface="+mj-ea"/>
                            </a:rPr>
                            <a:t>5</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530263" r="-84" b="-455263"/>
                          </a:stretch>
                        </a:blipFill>
                      </a:tcPr>
                    </a:tc>
                    <a:extLst>
                      <a:ext uri="{0D108BD9-81ED-4DB2-BD59-A6C34878D82A}">
                        <a16:rowId xmlns:a16="http://schemas.microsoft.com/office/drawing/2014/main" val="2945210711"/>
                      </a:ext>
                    </a:extLst>
                  </a:tr>
                  <a:tr h="466725">
                    <a:tc>
                      <a:txBody>
                        <a:bodyPr/>
                        <a:lstStyle/>
                        <a:p>
                          <a:pPr indent="127000" algn="ctr">
                            <a:lnSpc>
                              <a:spcPct val="150000"/>
                            </a:lnSpc>
                          </a:pPr>
                          <a:r>
                            <a:rPr lang="en-US" sz="2000" kern="100">
                              <a:effectLst/>
                              <a:latin typeface="+mj-ea"/>
                              <a:ea typeface="+mj-ea"/>
                            </a:rPr>
                            <a:t>6</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622078" r="-84" b="-349351"/>
                          </a:stretch>
                        </a:blipFill>
                      </a:tcPr>
                    </a:tc>
                    <a:extLst>
                      <a:ext uri="{0D108BD9-81ED-4DB2-BD59-A6C34878D82A}">
                        <a16:rowId xmlns:a16="http://schemas.microsoft.com/office/drawing/2014/main" val="2456913382"/>
                      </a:ext>
                    </a:extLst>
                  </a:tr>
                  <a:tr h="466725">
                    <a:tc>
                      <a:txBody>
                        <a:bodyPr/>
                        <a:lstStyle/>
                        <a:p>
                          <a:pPr indent="127000" algn="ctr">
                            <a:lnSpc>
                              <a:spcPct val="150000"/>
                            </a:lnSpc>
                          </a:pPr>
                          <a:r>
                            <a:rPr lang="en-US" sz="2000" kern="100">
                              <a:effectLst/>
                              <a:latin typeface="+mj-ea"/>
                              <a:ea typeface="+mj-ea"/>
                            </a:rPr>
                            <a:t>7</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731579" r="-84" b="-253947"/>
                          </a:stretch>
                        </a:blipFill>
                      </a:tcPr>
                    </a:tc>
                    <a:extLst>
                      <a:ext uri="{0D108BD9-81ED-4DB2-BD59-A6C34878D82A}">
                        <a16:rowId xmlns:a16="http://schemas.microsoft.com/office/drawing/2014/main" val="2418455094"/>
                      </a:ext>
                    </a:extLst>
                  </a:tr>
                  <a:tr h="466725">
                    <a:tc>
                      <a:txBody>
                        <a:bodyPr/>
                        <a:lstStyle/>
                        <a:p>
                          <a:pPr indent="127000" algn="ctr">
                            <a:lnSpc>
                              <a:spcPct val="150000"/>
                            </a:lnSpc>
                          </a:pPr>
                          <a:r>
                            <a:rPr lang="en-US" sz="2000" kern="100">
                              <a:effectLst/>
                              <a:latin typeface="+mj-ea"/>
                              <a:ea typeface="+mj-ea"/>
                            </a:rPr>
                            <a:t>8</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820779" r="-84" b="-150649"/>
                          </a:stretch>
                        </a:blipFill>
                      </a:tcPr>
                    </a:tc>
                    <a:extLst>
                      <a:ext uri="{0D108BD9-81ED-4DB2-BD59-A6C34878D82A}">
                        <a16:rowId xmlns:a16="http://schemas.microsoft.com/office/drawing/2014/main" val="51978428"/>
                      </a:ext>
                    </a:extLst>
                  </a:tr>
                  <a:tr h="693801">
                    <a:tc>
                      <a:txBody>
                        <a:bodyPr/>
                        <a:lstStyle/>
                        <a:p>
                          <a:pPr indent="127000" algn="ctr">
                            <a:lnSpc>
                              <a:spcPct val="150000"/>
                            </a:lnSpc>
                          </a:pPr>
                          <a:r>
                            <a:rPr lang="en-US" sz="2000" kern="100">
                              <a:effectLst/>
                              <a:latin typeface="+mj-ea"/>
                              <a:ea typeface="+mj-ea"/>
                            </a:rPr>
                            <a:t>9</a:t>
                          </a:r>
                          <a:endParaRPr lang="zh-CN" sz="2000" kern="100">
                            <a:effectLst/>
                            <a:latin typeface="+mj-ea"/>
                            <a:ea typeface="+mj-ea"/>
                            <a:cs typeface="Times New Roman" panose="02020603050405020304" pitchFamily="18" charset="0"/>
                          </a:endParaRPr>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417" t="-621930" r="-84" b="-1754"/>
                          </a:stretch>
                        </a:blipFill>
                      </a:tcPr>
                    </a:tc>
                    <a:extLst>
                      <a:ext uri="{0D108BD9-81ED-4DB2-BD59-A6C34878D82A}">
                        <a16:rowId xmlns:a16="http://schemas.microsoft.com/office/drawing/2014/main" val="2568911287"/>
                      </a:ext>
                    </a:extLst>
                  </a:tr>
                </a:tbl>
              </a:graphicData>
            </a:graphic>
          </p:graphicFrame>
        </mc:Fallback>
      </mc:AlternateContent>
    </p:spTree>
    <p:extLst>
      <p:ext uri="{BB962C8B-B14F-4D97-AF65-F5344CB8AC3E}">
        <p14:creationId xmlns:p14="http://schemas.microsoft.com/office/powerpoint/2010/main" val="3502754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212D55C-0A94-1FE0-EB84-0B7760F393ED}"/>
              </a:ext>
            </a:extLst>
          </p:cNvPr>
          <p:cNvSpPr>
            <a:spLocks noGrp="1"/>
          </p:cNvSpPr>
          <p:nvPr>
            <p:ph type="sldNum" sz="quarter" idx="10"/>
          </p:nvPr>
        </p:nvSpPr>
        <p:spPr/>
        <p:txBody>
          <a:bodyPr/>
          <a:lstStyle/>
          <a:p>
            <a:fld id="{4B0D34C0-35A8-654C-9FBA-7B4E017BD630}" type="slidenum">
              <a:rPr lang="en-US" altLang="zh-CN" smtClean="0"/>
              <a:t>21</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查询重写规则</a:t>
            </a:r>
          </a:p>
        </p:txBody>
      </p:sp>
      <p:sp>
        <p:nvSpPr>
          <p:cNvPr id="3" name="页脚占位符 2">
            <a:extLst>
              <a:ext uri="{FF2B5EF4-FFF2-40B4-BE49-F238E27FC236}">
                <a16:creationId xmlns:a16="http://schemas.microsoft.com/office/drawing/2014/main" id="{2083BBE2-7796-7032-CE1B-6026E7373BCE}"/>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3E931817-0615-33DC-6708-430F9DB472A8}"/>
                  </a:ext>
                </a:extLst>
              </p:cNvPr>
              <p:cNvGraphicFramePr>
                <a:graphicFrameLocks noGrp="1"/>
              </p:cNvGraphicFramePr>
              <p:nvPr>
                <p:extLst>
                  <p:ext uri="{D42A27DB-BD31-4B8C-83A1-F6EECF244321}">
                    <p14:modId xmlns:p14="http://schemas.microsoft.com/office/powerpoint/2010/main" val="535649101"/>
                  </p:ext>
                </p:extLst>
              </p:nvPr>
            </p:nvGraphicFramePr>
            <p:xfrm>
              <a:off x="981331" y="1288892"/>
              <a:ext cx="10280681" cy="4597339"/>
            </p:xfrm>
            <a:graphic>
              <a:graphicData uri="http://schemas.openxmlformats.org/drawingml/2006/table">
                <a:tbl>
                  <a:tblPr firstRow="1" firstCol="1" bandRow="1">
                    <a:tableStyleId>{72833802-FEF1-4C79-8D5D-14CF1EAF98D9}</a:tableStyleId>
                  </a:tblPr>
                  <a:tblGrid>
                    <a:gridCol w="1293907">
                      <a:extLst>
                        <a:ext uri="{9D8B030D-6E8A-4147-A177-3AD203B41FA5}">
                          <a16:colId xmlns:a16="http://schemas.microsoft.com/office/drawing/2014/main" val="745489469"/>
                        </a:ext>
                      </a:extLst>
                    </a:gridCol>
                    <a:gridCol w="8986774">
                      <a:extLst>
                        <a:ext uri="{9D8B030D-6E8A-4147-A177-3AD203B41FA5}">
                          <a16:colId xmlns:a16="http://schemas.microsoft.com/office/drawing/2014/main" val="2947008462"/>
                        </a:ext>
                      </a:extLst>
                    </a:gridCol>
                  </a:tblGrid>
                  <a:tr h="138430">
                    <a:tc>
                      <a:txBody>
                        <a:bodyPr/>
                        <a:lstStyle/>
                        <a:p>
                          <a:pPr indent="127000" algn="ctr">
                            <a:lnSpc>
                              <a:spcPct val="150000"/>
                            </a:lnSpc>
                          </a:pPr>
                          <a:r>
                            <a:rPr lang="zh-CN" sz="1800" kern="100" dirty="0">
                              <a:effectLst/>
                              <a:latin typeface="+mj-ea"/>
                              <a:ea typeface="+mj-ea"/>
                            </a:rPr>
                            <a:t>序号</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1800" kern="100" dirty="0">
                              <a:effectLst/>
                              <a:latin typeface="+mj-ea"/>
                              <a:ea typeface="+mj-ea"/>
                            </a:rPr>
                            <a:t>等价转换规则</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294034595"/>
                      </a:ext>
                    </a:extLst>
                  </a:tr>
                  <a:tr h="138430">
                    <a:tc>
                      <a:txBody>
                        <a:bodyPr/>
                        <a:lstStyle/>
                        <a:p>
                          <a:pPr indent="127000" algn="ctr">
                            <a:lnSpc>
                              <a:spcPct val="150000"/>
                            </a:lnSpc>
                          </a:pPr>
                          <a:r>
                            <a:rPr lang="en-US" sz="1800" kern="100" dirty="0">
                              <a:effectLst/>
                              <a:latin typeface="+mj-ea"/>
                              <a:ea typeface="+mj-ea"/>
                            </a:rPr>
                            <a:t>10</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 ⋀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2</m:t>
                                        </m:r>
                                      </m:sub>
                                    </m:sSub>
                                  </m:sub>
                                </m:sSub>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2</m:t>
                                        </m:r>
                                      </m:sub>
                                    </m:sSub>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1</m:t>
                                            </m:r>
                                          </m:sub>
                                        </m:sSub>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e>
                                </m:d>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986689286"/>
                      </a:ext>
                    </a:extLst>
                  </a:tr>
                  <a:tr h="138430">
                    <a:tc>
                      <a:txBody>
                        <a:bodyPr/>
                        <a:lstStyle/>
                        <a:p>
                          <a:pPr indent="127000" algn="ctr">
                            <a:lnSpc>
                              <a:spcPct val="150000"/>
                            </a:lnSpc>
                          </a:pPr>
                          <a:r>
                            <a:rPr lang="en-US" sz="1800" kern="100">
                              <a:effectLst/>
                              <a:latin typeface="+mj-ea"/>
                              <a:ea typeface="+mj-ea"/>
                            </a:rPr>
                            <a:t>11</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r>
                            <a:rPr lang="zh-CN" altLang="en-US" sz="1800" kern="100" dirty="0">
                              <a:effectLst/>
                              <a:latin typeface="+mj-ea"/>
                              <a:ea typeface="+mj-ea"/>
                            </a:rPr>
                            <a:t>当</a:t>
                          </a:r>
                          <a14:m>
                            <m:oMath xmlns:m="http://schemas.openxmlformats.org/officeDocument/2006/math">
                              <m:r>
                                <a:rPr lang="en-US" altLang="zh-CN" sz="1800" kern="100" smtClean="0">
                                  <a:effectLst/>
                                  <a:latin typeface="Cambria Math" panose="02040503050406030204" pitchFamily="18" charset="0"/>
                                  <a:ea typeface="+mj-ea"/>
                                </a:rPr>
                                <m:t>𝑅</m:t>
                              </m:r>
                            </m:oMath>
                          </a14:m>
                          <a:r>
                            <a:rPr lang="zh-CN" altLang="en-US" sz="1800" kern="100" dirty="0">
                              <a:effectLst/>
                              <a:latin typeface="+mj-ea"/>
                              <a:ea typeface="+mj-ea"/>
                            </a:rPr>
                            <a:t>为集合时</a:t>
                          </a:r>
                          <a14:m>
                            <m:oMath xmlns:m="http://schemas.openxmlformats.org/officeDocument/2006/math">
                              <m:sSub>
                                <m:sSubPr>
                                  <m:ctrlPr>
                                    <a:rPr lang="zh-CN" sz="1800" i="1" kern="100">
                                      <a:effectLst/>
                                      <a:latin typeface="Cambria Math" panose="02040503050406030204" pitchFamily="18" charset="0"/>
                                      <a:ea typeface="+mj-ea"/>
                                    </a:rPr>
                                  </m:ctrlPr>
                                </m:sSubPr>
                                <m:e>
                                  <m:r>
                                    <a:rPr lang="zh-CN"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𝜎</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 ⋁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2</m:t>
                                      </m:r>
                                    </m:sub>
                                  </m:sSub>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1</m:t>
                                      </m:r>
                                    </m:sub>
                                  </m:sSub>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𝑝</m:t>
                                      </m:r>
                                    </m:e>
                                    <m:sub>
                                      <m:r>
                                        <a:rPr lang="en-US" sz="1800" kern="100">
                                          <a:effectLst/>
                                          <a:latin typeface="Cambria Math" panose="02040503050406030204" pitchFamily="18" charset="0"/>
                                          <a:ea typeface="+mj-ea"/>
                                        </a:rPr>
                                        <m:t>2</m:t>
                                      </m:r>
                                    </m:sub>
                                  </m:sSub>
                                </m:sub>
                              </m:sSub>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916949430"/>
                      </a:ext>
                    </a:extLst>
                  </a:tr>
                  <a:tr h="138430">
                    <a:tc>
                      <a:txBody>
                        <a:bodyPr/>
                        <a:lstStyle/>
                        <a:p>
                          <a:pPr indent="127000" algn="ctr">
                            <a:lnSpc>
                              <a:spcPct val="150000"/>
                            </a:lnSpc>
                          </a:pPr>
                          <a:r>
                            <a:rPr lang="en-US" sz="1800" kern="100">
                              <a:effectLst/>
                              <a:latin typeface="+mj-ea"/>
                              <a:ea typeface="+mj-ea"/>
                            </a:rPr>
                            <a:t>12</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810111683"/>
                      </a:ext>
                    </a:extLst>
                  </a:tr>
                  <a:tr h="138430">
                    <a:tc>
                      <a:txBody>
                        <a:bodyPr/>
                        <a:lstStyle/>
                        <a:p>
                          <a:pPr indent="127000" algn="ctr">
                            <a:lnSpc>
                              <a:spcPct val="150000"/>
                            </a:lnSpc>
                          </a:pPr>
                          <a:r>
                            <a:rPr lang="en-US" sz="1800" kern="100">
                              <a:effectLst/>
                              <a:latin typeface="+mj-ea"/>
                              <a:ea typeface="+mj-ea"/>
                            </a:rPr>
                            <a:t>13</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033442925"/>
                      </a:ext>
                    </a:extLst>
                  </a:tr>
                  <a:tr h="138430">
                    <a:tc>
                      <a:txBody>
                        <a:bodyPr/>
                        <a:lstStyle/>
                        <a:p>
                          <a:pPr indent="127000" algn="ctr">
                            <a:lnSpc>
                              <a:spcPct val="150000"/>
                            </a:lnSpc>
                          </a:pPr>
                          <a:r>
                            <a:rPr lang="en-US" sz="1800" kern="100">
                              <a:effectLst/>
                              <a:latin typeface="+mj-ea"/>
                              <a:ea typeface="+mj-ea"/>
                            </a:rPr>
                            <a:t>14</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393700"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945210711"/>
                      </a:ext>
                    </a:extLst>
                  </a:tr>
                  <a:tr h="138430">
                    <a:tc>
                      <a:txBody>
                        <a:bodyPr/>
                        <a:lstStyle/>
                        <a:p>
                          <a:pPr indent="127000" algn="ctr">
                            <a:lnSpc>
                              <a:spcPct val="150000"/>
                            </a:lnSpc>
                          </a:pPr>
                          <a:r>
                            <a:rPr lang="en-US" sz="1800" kern="100">
                              <a:effectLst/>
                              <a:latin typeface="+mj-ea"/>
                              <a:ea typeface="+mj-ea"/>
                            </a:rPr>
                            <a:t>15</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sz="1800" kern="100" dirty="0">
                              <a:effectLst/>
                              <a:latin typeface="+mj-ea"/>
                              <a:ea typeface="+mj-ea"/>
                            </a:rPr>
                            <a:t>若关系</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oMath>
                          </a14:m>
                          <a:r>
                            <a:rPr lang="zh-CN" sz="1800" kern="100" dirty="0">
                              <a:effectLst/>
                              <a:latin typeface="+mj-ea"/>
                              <a:ea typeface="+mj-ea"/>
                            </a:rPr>
                            <a:t>包含选择条件</a:t>
                          </a:r>
                          <a14:m>
                            <m:oMath xmlns:m="http://schemas.openxmlformats.org/officeDocument/2006/math">
                              <m:r>
                                <a:rPr lang="en-US" sz="1800" kern="100">
                                  <a:effectLst/>
                                  <a:latin typeface="Cambria Math" panose="02040503050406030204" pitchFamily="18" charset="0"/>
                                  <a:ea typeface="+mj-ea"/>
                                </a:rPr>
                                <m:t>𝑝</m:t>
                              </m:r>
                            </m:oMath>
                          </a14:m>
                          <a:r>
                            <a:rPr lang="zh-CN" sz="1800" kern="100" dirty="0">
                              <a:effectLst/>
                              <a:latin typeface="+mj-ea"/>
                              <a:ea typeface="+mj-ea"/>
                            </a:rPr>
                            <a:t>涉及的所有属性，</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56913382"/>
                      </a:ext>
                    </a:extLst>
                  </a:tr>
                  <a:tr h="138430">
                    <a:tc>
                      <a:txBody>
                        <a:bodyPr/>
                        <a:lstStyle/>
                        <a:p>
                          <a:pPr indent="127000" algn="ctr">
                            <a:lnSpc>
                              <a:spcPct val="150000"/>
                            </a:lnSpc>
                          </a:pPr>
                          <a:r>
                            <a:rPr lang="en-US" sz="1800" kern="100">
                              <a:effectLst/>
                              <a:latin typeface="+mj-ea"/>
                              <a:ea typeface="+mj-ea"/>
                            </a:rPr>
                            <a:t>16</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altLang="zh-CN" sz="1800" kern="100" dirty="0">
                              <a:effectLst/>
                              <a:latin typeface="+mj-ea"/>
                              <a:ea typeface="+mj-ea"/>
                            </a:rPr>
                            <a:t>若关系</a:t>
                          </a:r>
                          <a14:m>
                            <m:oMath xmlns:m="http://schemas.openxmlformats.org/officeDocument/2006/math">
                              <m:sSub>
                                <m:sSubPr>
                                  <m:ctrlPr>
                                    <a:rPr lang="zh-CN" altLang="zh-CN" sz="1800" i="1" kern="100">
                                      <a:effectLst/>
                                      <a:latin typeface="Cambria Math" panose="02040503050406030204" pitchFamily="18" charset="0"/>
                                      <a:ea typeface="+mj-ea"/>
                                    </a:rPr>
                                  </m:ctrlPr>
                                </m:sSubPr>
                                <m:e>
                                  <m:r>
                                    <a:rPr lang="en-US" altLang="zh-CN" sz="1800" kern="100">
                                      <a:effectLst/>
                                      <a:latin typeface="Cambria Math" panose="02040503050406030204" pitchFamily="18" charset="0"/>
                                      <a:ea typeface="+mj-ea"/>
                                    </a:rPr>
                                    <m:t>𝑅</m:t>
                                  </m:r>
                                </m:e>
                                <m:sub>
                                  <m:r>
                                    <a:rPr lang="en-US" altLang="zh-CN" sz="1800" kern="100">
                                      <a:effectLst/>
                                      <a:latin typeface="Cambria Math" panose="02040503050406030204" pitchFamily="18" charset="0"/>
                                      <a:ea typeface="+mj-ea"/>
                                    </a:rPr>
                                    <m:t>1</m:t>
                                  </m:r>
                                </m:sub>
                              </m:sSub>
                            </m:oMath>
                          </a14:m>
                          <a:r>
                            <a:rPr lang="zh-CN" altLang="zh-CN" sz="1800" kern="100" dirty="0">
                              <a:effectLst/>
                              <a:latin typeface="+mj-ea"/>
                              <a:ea typeface="+mj-ea"/>
                            </a:rPr>
                            <a:t>包含选择条件</a:t>
                          </a:r>
                          <a14:m>
                            <m:oMath xmlns:m="http://schemas.openxmlformats.org/officeDocument/2006/math">
                              <m:r>
                                <a:rPr lang="en-US" altLang="zh-CN" sz="1800" kern="100">
                                  <a:effectLst/>
                                  <a:latin typeface="Cambria Math" panose="02040503050406030204" pitchFamily="18" charset="0"/>
                                  <a:ea typeface="+mj-ea"/>
                                </a:rPr>
                                <m:t>𝑝</m:t>
                              </m:r>
                            </m:oMath>
                          </a14:m>
                          <a:r>
                            <a:rPr lang="zh-CN" altLang="zh-CN" sz="1800" kern="100" dirty="0">
                              <a:effectLst/>
                              <a:latin typeface="+mj-ea"/>
                              <a:ea typeface="+mj-ea"/>
                            </a:rPr>
                            <a:t>涉及的所有属性，</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18455094"/>
                      </a:ext>
                    </a:extLst>
                  </a:tr>
                  <a:tr h="138430">
                    <a:tc>
                      <a:txBody>
                        <a:bodyPr/>
                        <a:lstStyle/>
                        <a:p>
                          <a:pPr indent="127000" algn="ctr">
                            <a:lnSpc>
                              <a:spcPct val="150000"/>
                            </a:lnSpc>
                          </a:pPr>
                          <a:r>
                            <a:rPr lang="en-US" sz="1800" kern="100">
                              <a:effectLst/>
                              <a:latin typeface="+mj-ea"/>
                              <a:ea typeface="+mj-ea"/>
                            </a:rPr>
                            <a:t>17</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altLang="zh-CN" sz="1800" kern="100" dirty="0">
                              <a:effectLst/>
                              <a:latin typeface="+mj-ea"/>
                              <a:ea typeface="+mj-ea"/>
                            </a:rPr>
                            <a:t>若关系</a:t>
                          </a:r>
                          <a14:m>
                            <m:oMath xmlns:m="http://schemas.openxmlformats.org/officeDocument/2006/math">
                              <m:sSub>
                                <m:sSubPr>
                                  <m:ctrlPr>
                                    <a:rPr lang="zh-CN" altLang="zh-CN" sz="1800" i="1" kern="100">
                                      <a:effectLst/>
                                      <a:latin typeface="Cambria Math" panose="02040503050406030204" pitchFamily="18" charset="0"/>
                                      <a:ea typeface="+mj-ea"/>
                                    </a:rPr>
                                  </m:ctrlPr>
                                </m:sSubPr>
                                <m:e>
                                  <m:r>
                                    <a:rPr lang="en-US" altLang="zh-CN" sz="1800" kern="100">
                                      <a:effectLst/>
                                      <a:latin typeface="Cambria Math" panose="02040503050406030204" pitchFamily="18" charset="0"/>
                                      <a:ea typeface="+mj-ea"/>
                                    </a:rPr>
                                    <m:t>𝑅</m:t>
                                  </m:r>
                                </m:e>
                                <m:sub>
                                  <m:r>
                                    <a:rPr lang="en-US" altLang="zh-CN" sz="1800" kern="100">
                                      <a:effectLst/>
                                      <a:latin typeface="Cambria Math" panose="02040503050406030204" pitchFamily="18" charset="0"/>
                                      <a:ea typeface="+mj-ea"/>
                                    </a:rPr>
                                    <m:t>1</m:t>
                                  </m:r>
                                </m:sub>
                              </m:sSub>
                            </m:oMath>
                          </a14:m>
                          <a:r>
                            <a:rPr lang="zh-CN" altLang="zh-CN" sz="1800" kern="100" dirty="0">
                              <a:effectLst/>
                              <a:latin typeface="+mj-ea"/>
                              <a:ea typeface="+mj-ea"/>
                            </a:rPr>
                            <a:t>包含选择条件</a:t>
                          </a:r>
                          <a14:m>
                            <m:oMath xmlns:m="http://schemas.openxmlformats.org/officeDocument/2006/math">
                              <m:r>
                                <a:rPr lang="en-US" altLang="zh-CN" sz="1800" kern="100">
                                  <a:effectLst/>
                                  <a:latin typeface="Cambria Math" panose="02040503050406030204" pitchFamily="18" charset="0"/>
                                  <a:ea typeface="+mj-ea"/>
                                </a:rPr>
                                <m:t>𝑝</m:t>
                              </m:r>
                            </m:oMath>
                          </a14:m>
                          <a:r>
                            <a:rPr lang="zh-CN" altLang="zh-CN" sz="1800" kern="100" dirty="0">
                              <a:effectLst/>
                              <a:latin typeface="+mj-ea"/>
                              <a:ea typeface="+mj-ea"/>
                            </a:rPr>
                            <a:t>涉及的所有属性，</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51978428"/>
                      </a:ext>
                    </a:extLst>
                  </a:tr>
                  <a:tr h="0">
                    <a:tc>
                      <a:txBody>
                        <a:bodyPr/>
                        <a:lstStyle/>
                        <a:p>
                          <a:pPr indent="127000" algn="ctr">
                            <a:lnSpc>
                              <a:spcPct val="150000"/>
                            </a:lnSpc>
                          </a:pPr>
                          <a:r>
                            <a:rPr lang="en-US" sz="1800" kern="100" dirty="0">
                              <a:effectLst/>
                              <a:latin typeface="+mj-ea"/>
                              <a:ea typeface="+mj-ea"/>
                            </a:rPr>
                            <a:t>18</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sz="1800" kern="100" dirty="0">
                              <a:effectLst/>
                              <a:latin typeface="+mj-ea"/>
                              <a:ea typeface="+mj-ea"/>
                            </a:rPr>
                            <a:t>若</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2</m:t>
                                  </m:r>
                                </m:sub>
                              </m:sSub>
                            </m:oMath>
                          </a14:m>
                          <a:r>
                            <a:rPr lang="zh-CN" sz="1800" kern="100" dirty="0">
                              <a:effectLst/>
                              <a:latin typeface="+mj-ea"/>
                              <a:ea typeface="+mj-ea"/>
                            </a:rPr>
                            <a:t>且都是关系</a:t>
                          </a:r>
                          <a:r>
                            <a:rPr lang="en-US" sz="1800" kern="100" dirty="0">
                              <a:effectLst/>
                              <a:latin typeface="+mj-ea"/>
                              <a:ea typeface="+mj-ea"/>
                            </a:rPr>
                            <a:t>R</a:t>
                          </a:r>
                          <a:r>
                            <a:rPr lang="zh-CN" sz="1800" kern="100" dirty="0">
                              <a:effectLst/>
                              <a:latin typeface="+mj-ea"/>
                              <a:ea typeface="+mj-ea"/>
                            </a:rPr>
                            <a:t>的属性，</a:t>
                          </a:r>
                          <a14:m>
                            <m:oMath xmlns:m="http://schemas.openxmlformats.org/officeDocument/2006/math">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1</m:t>
                                      </m:r>
                                    </m:sub>
                                  </m:sSub>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2</m:t>
                                          </m:r>
                                        </m:sub>
                                      </m:sSub>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1</m:t>
                                      </m:r>
                                    </m:sub>
                                  </m:sSub>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r>
                                <a:rPr lang="en-US" sz="1800" kern="100">
                                  <a:effectLst/>
                                  <a:latin typeface="Cambria Math" panose="02040503050406030204" pitchFamily="18" charset="0"/>
                                  <a:ea typeface="+mj-ea"/>
                                </a:rPr>
                                <m:t> </m:t>
                              </m:r>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568911287"/>
                      </a:ext>
                    </a:extLst>
                  </a:tr>
                </a:tbl>
              </a:graphicData>
            </a:graphic>
          </p:graphicFrame>
        </mc:Choice>
        <mc:Fallback xmlns="">
          <p:graphicFrame>
            <p:nvGraphicFramePr>
              <p:cNvPr id="7" name="表格 6">
                <a:extLst>
                  <a:ext uri="{FF2B5EF4-FFF2-40B4-BE49-F238E27FC236}">
                    <a16:creationId xmlns:a16="http://schemas.microsoft.com/office/drawing/2014/main" xmlns:a14="http://schemas.microsoft.com/office/drawing/2010/main" xmlns="" id="{3E931817-0615-33DC-6708-430F9DB472A8}"/>
                  </a:ext>
                </a:extLst>
              </p:cNvPr>
              <p:cNvGraphicFramePr>
                <a:graphicFrameLocks noGrp="1"/>
              </p:cNvGraphicFramePr>
              <p:nvPr>
                <p:extLst>
                  <p:ext uri="{D42A27DB-BD31-4B8C-83A1-F6EECF244321}">
                    <p14:modId xmlns:p14="http://schemas.microsoft.com/office/powerpoint/2010/main" val="535649101"/>
                  </p:ext>
                </p:extLst>
              </p:nvPr>
            </p:nvGraphicFramePr>
            <p:xfrm>
              <a:off x="981331" y="1288892"/>
              <a:ext cx="10280681" cy="4597339"/>
            </p:xfrm>
            <a:graphic>
              <a:graphicData uri="http://schemas.openxmlformats.org/drawingml/2006/table">
                <a:tbl>
                  <a:tblPr firstRow="1" firstCol="1" bandRow="1">
                    <a:tableStyleId>{72833802-FEF1-4C79-8D5D-14CF1EAF98D9}</a:tableStyleId>
                  </a:tblPr>
                  <a:tblGrid>
                    <a:gridCol w="1293907">
                      <a:extLst>
                        <a:ext uri="{9D8B030D-6E8A-4147-A177-3AD203B41FA5}">
                          <a16:colId xmlns:a16="http://schemas.microsoft.com/office/drawing/2014/main" xmlns:a14="http://schemas.microsoft.com/office/drawing/2010/main" xmlns="" val="745489469"/>
                        </a:ext>
                      </a:extLst>
                    </a:gridCol>
                    <a:gridCol w="8986774">
                      <a:extLst>
                        <a:ext uri="{9D8B030D-6E8A-4147-A177-3AD203B41FA5}">
                          <a16:colId xmlns:a16="http://schemas.microsoft.com/office/drawing/2014/main" xmlns:a14="http://schemas.microsoft.com/office/drawing/2010/main" xmlns="" val="2947008462"/>
                        </a:ext>
                      </a:extLst>
                    </a:gridCol>
                  </a:tblGrid>
                  <a:tr h="372555">
                    <a:tc>
                      <a:txBody>
                        <a:bodyPr/>
                        <a:lstStyle/>
                        <a:p>
                          <a:pPr indent="127000" algn="ctr">
                            <a:lnSpc>
                              <a:spcPct val="150000"/>
                            </a:lnSpc>
                          </a:pPr>
                          <a:r>
                            <a:rPr lang="zh-CN" sz="1800" kern="100" dirty="0">
                              <a:effectLst/>
                              <a:latin typeface="+mj-ea"/>
                              <a:ea typeface="+mj-ea"/>
                            </a:rPr>
                            <a:t>序号</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1800" kern="100" dirty="0">
                              <a:effectLst/>
                              <a:latin typeface="+mj-ea"/>
                              <a:ea typeface="+mj-ea"/>
                            </a:rPr>
                            <a:t>等价转换规则</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xmlns:a14="http://schemas.microsoft.com/office/drawing/2010/main" xmlns="" val="2294034595"/>
                      </a:ext>
                    </a:extLst>
                  </a:tr>
                  <a:tr h="625348">
                    <a:tc>
                      <a:txBody>
                        <a:bodyPr/>
                        <a:lstStyle/>
                        <a:p>
                          <a:pPr indent="127000" algn="ctr">
                            <a:lnSpc>
                              <a:spcPct val="150000"/>
                            </a:lnSpc>
                          </a:pPr>
                          <a:r>
                            <a:rPr lang="en-US" sz="1800" kern="100" dirty="0">
                              <a:effectLst/>
                              <a:latin typeface="+mj-ea"/>
                              <a:ea typeface="+mj-ea"/>
                            </a:rPr>
                            <a:t>10</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60194" r="-68" b="-584466"/>
                          </a:stretch>
                        </a:blipFill>
                      </a:tcPr>
                    </a:tc>
                    <a:extLst>
                      <a:ext uri="{0D108BD9-81ED-4DB2-BD59-A6C34878D82A}">
                        <a16:rowId xmlns:a16="http://schemas.microsoft.com/office/drawing/2014/main" xmlns:a14="http://schemas.microsoft.com/office/drawing/2010/main" xmlns="" val="3986689286"/>
                      </a:ext>
                    </a:extLst>
                  </a:tr>
                  <a:tr h="419164">
                    <a:tc>
                      <a:txBody>
                        <a:bodyPr/>
                        <a:lstStyle/>
                        <a:p>
                          <a:pPr indent="127000" algn="ctr">
                            <a:lnSpc>
                              <a:spcPct val="150000"/>
                            </a:lnSpc>
                          </a:pPr>
                          <a:r>
                            <a:rPr lang="en-US" sz="1800" kern="100">
                              <a:effectLst/>
                              <a:latin typeface="+mj-ea"/>
                              <a:ea typeface="+mj-ea"/>
                            </a:rPr>
                            <a:t>11</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239130" r="-68" b="-772464"/>
                          </a:stretch>
                        </a:blipFill>
                      </a:tcPr>
                    </a:tc>
                    <a:extLst>
                      <a:ext uri="{0D108BD9-81ED-4DB2-BD59-A6C34878D82A}">
                        <a16:rowId xmlns:a16="http://schemas.microsoft.com/office/drawing/2014/main" xmlns:a14="http://schemas.microsoft.com/office/drawing/2010/main" xmlns="" val="916949430"/>
                      </a:ext>
                    </a:extLst>
                  </a:tr>
                  <a:tr h="452819">
                    <a:tc>
                      <a:txBody>
                        <a:bodyPr/>
                        <a:lstStyle/>
                        <a:p>
                          <a:pPr indent="127000" algn="ctr">
                            <a:lnSpc>
                              <a:spcPct val="150000"/>
                            </a:lnSpc>
                          </a:pPr>
                          <a:r>
                            <a:rPr lang="en-US" sz="1800" kern="100">
                              <a:effectLst/>
                              <a:latin typeface="+mj-ea"/>
                              <a:ea typeface="+mj-ea"/>
                            </a:rPr>
                            <a:t>12</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316216" r="-68" b="-620270"/>
                          </a:stretch>
                        </a:blipFill>
                      </a:tcPr>
                    </a:tc>
                    <a:extLst>
                      <a:ext uri="{0D108BD9-81ED-4DB2-BD59-A6C34878D82A}">
                        <a16:rowId xmlns:a16="http://schemas.microsoft.com/office/drawing/2014/main" xmlns:a14="http://schemas.microsoft.com/office/drawing/2010/main" xmlns="" val="810111683"/>
                      </a:ext>
                    </a:extLst>
                  </a:tr>
                  <a:tr h="452819">
                    <a:tc>
                      <a:txBody>
                        <a:bodyPr/>
                        <a:lstStyle/>
                        <a:p>
                          <a:pPr indent="127000" algn="ctr">
                            <a:lnSpc>
                              <a:spcPct val="150000"/>
                            </a:lnSpc>
                          </a:pPr>
                          <a:r>
                            <a:rPr lang="en-US" sz="1800" kern="100">
                              <a:effectLst/>
                              <a:latin typeface="+mj-ea"/>
                              <a:ea typeface="+mj-ea"/>
                            </a:rPr>
                            <a:t>13</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416216" r="-68" b="-520270"/>
                          </a:stretch>
                        </a:blipFill>
                      </a:tcPr>
                    </a:tc>
                    <a:extLst>
                      <a:ext uri="{0D108BD9-81ED-4DB2-BD59-A6C34878D82A}">
                        <a16:rowId xmlns:a16="http://schemas.microsoft.com/office/drawing/2014/main" xmlns:a14="http://schemas.microsoft.com/office/drawing/2010/main" xmlns="" val="3033442925"/>
                      </a:ext>
                    </a:extLst>
                  </a:tr>
                  <a:tr h="452819">
                    <a:tc>
                      <a:txBody>
                        <a:bodyPr/>
                        <a:lstStyle/>
                        <a:p>
                          <a:pPr indent="127000" algn="ctr">
                            <a:lnSpc>
                              <a:spcPct val="150000"/>
                            </a:lnSpc>
                          </a:pPr>
                          <a:r>
                            <a:rPr lang="en-US" sz="1800" kern="100">
                              <a:effectLst/>
                              <a:latin typeface="+mj-ea"/>
                              <a:ea typeface="+mj-ea"/>
                            </a:rPr>
                            <a:t>14</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509333" r="-68" b="-413333"/>
                          </a:stretch>
                        </a:blipFill>
                      </a:tcPr>
                    </a:tc>
                    <a:extLst>
                      <a:ext uri="{0D108BD9-81ED-4DB2-BD59-A6C34878D82A}">
                        <a16:rowId xmlns:a16="http://schemas.microsoft.com/office/drawing/2014/main" xmlns:a14="http://schemas.microsoft.com/office/drawing/2010/main" xmlns="" val="2945210711"/>
                      </a:ext>
                    </a:extLst>
                  </a:tr>
                  <a:tr h="415925">
                    <a:tc>
                      <a:txBody>
                        <a:bodyPr/>
                        <a:lstStyle/>
                        <a:p>
                          <a:pPr indent="127000" algn="ctr">
                            <a:lnSpc>
                              <a:spcPct val="150000"/>
                            </a:lnSpc>
                          </a:pPr>
                          <a:r>
                            <a:rPr lang="en-US" sz="1800" kern="100">
                              <a:effectLst/>
                              <a:latin typeface="+mj-ea"/>
                              <a:ea typeface="+mj-ea"/>
                            </a:rPr>
                            <a:t>15</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672059" r="-68" b="-355882"/>
                          </a:stretch>
                        </a:blipFill>
                      </a:tcPr>
                    </a:tc>
                    <a:extLst>
                      <a:ext uri="{0D108BD9-81ED-4DB2-BD59-A6C34878D82A}">
                        <a16:rowId xmlns:a16="http://schemas.microsoft.com/office/drawing/2014/main" xmlns:a14="http://schemas.microsoft.com/office/drawing/2010/main" xmlns="" val="2456913382"/>
                      </a:ext>
                    </a:extLst>
                  </a:tr>
                  <a:tr h="415925">
                    <a:tc>
                      <a:txBody>
                        <a:bodyPr/>
                        <a:lstStyle/>
                        <a:p>
                          <a:pPr indent="127000" algn="ctr">
                            <a:lnSpc>
                              <a:spcPct val="150000"/>
                            </a:lnSpc>
                          </a:pPr>
                          <a:r>
                            <a:rPr lang="en-US" sz="1800" kern="100">
                              <a:effectLst/>
                              <a:latin typeface="+mj-ea"/>
                              <a:ea typeface="+mj-ea"/>
                            </a:rPr>
                            <a:t>16</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772059" r="-68" b="-255882"/>
                          </a:stretch>
                        </a:blipFill>
                      </a:tcPr>
                    </a:tc>
                    <a:extLst>
                      <a:ext uri="{0D108BD9-81ED-4DB2-BD59-A6C34878D82A}">
                        <a16:rowId xmlns:a16="http://schemas.microsoft.com/office/drawing/2014/main" xmlns:a14="http://schemas.microsoft.com/office/drawing/2010/main" xmlns="" val="2418455094"/>
                      </a:ext>
                    </a:extLst>
                  </a:tr>
                  <a:tr h="415925">
                    <a:tc>
                      <a:txBody>
                        <a:bodyPr/>
                        <a:lstStyle/>
                        <a:p>
                          <a:pPr indent="127000" algn="ctr">
                            <a:lnSpc>
                              <a:spcPct val="150000"/>
                            </a:lnSpc>
                          </a:pPr>
                          <a:r>
                            <a:rPr lang="en-US" sz="1800" kern="100">
                              <a:effectLst/>
                              <a:latin typeface="+mj-ea"/>
                              <a:ea typeface="+mj-ea"/>
                            </a:rPr>
                            <a:t>17</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859420" r="-68" b="-152174"/>
                          </a:stretch>
                        </a:blipFill>
                      </a:tcPr>
                    </a:tc>
                    <a:extLst>
                      <a:ext uri="{0D108BD9-81ED-4DB2-BD59-A6C34878D82A}">
                        <a16:rowId xmlns:a16="http://schemas.microsoft.com/office/drawing/2014/main" xmlns:a14="http://schemas.microsoft.com/office/drawing/2010/main" xmlns="" val="51978428"/>
                      </a:ext>
                    </a:extLst>
                  </a:tr>
                  <a:tr h="574040">
                    <a:tc>
                      <a:txBody>
                        <a:bodyPr/>
                        <a:lstStyle/>
                        <a:p>
                          <a:pPr indent="127000" algn="ctr">
                            <a:lnSpc>
                              <a:spcPct val="150000"/>
                            </a:lnSpc>
                          </a:pPr>
                          <a:r>
                            <a:rPr lang="en-US" sz="1800" kern="100" dirty="0">
                              <a:effectLst/>
                              <a:latin typeface="+mj-ea"/>
                              <a:ea typeface="+mj-ea"/>
                            </a:rPr>
                            <a:t>18</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363" t="-704255" r="-68" b="-11702"/>
                          </a:stretch>
                        </a:blipFill>
                      </a:tcPr>
                    </a:tc>
                    <a:extLst>
                      <a:ext uri="{0D108BD9-81ED-4DB2-BD59-A6C34878D82A}">
                        <a16:rowId xmlns:a16="http://schemas.microsoft.com/office/drawing/2014/main" xmlns:a14="http://schemas.microsoft.com/office/drawing/2010/main" xmlns="" val="2568911287"/>
                      </a:ext>
                    </a:extLst>
                  </a:tr>
                </a:tbl>
              </a:graphicData>
            </a:graphic>
          </p:graphicFrame>
        </mc:Fallback>
      </mc:AlternateContent>
    </p:spTree>
    <p:extLst>
      <p:ext uri="{BB962C8B-B14F-4D97-AF65-F5344CB8AC3E}">
        <p14:creationId xmlns:p14="http://schemas.microsoft.com/office/powerpoint/2010/main" val="672208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212D55C-0A94-1FE0-EB84-0B7760F393ED}"/>
              </a:ext>
            </a:extLst>
          </p:cNvPr>
          <p:cNvSpPr>
            <a:spLocks noGrp="1"/>
          </p:cNvSpPr>
          <p:nvPr>
            <p:ph type="sldNum" sz="quarter" idx="10"/>
          </p:nvPr>
        </p:nvSpPr>
        <p:spPr/>
        <p:txBody>
          <a:bodyPr/>
          <a:lstStyle/>
          <a:p>
            <a:fld id="{4B0D34C0-35A8-654C-9FBA-7B4E017BD630}" type="slidenum">
              <a:rPr lang="en-US" altLang="zh-CN" smtClean="0"/>
              <a:t>22</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查询重写规则</a:t>
            </a:r>
          </a:p>
        </p:txBody>
      </p:sp>
      <p:sp>
        <p:nvSpPr>
          <p:cNvPr id="3" name="页脚占位符 2">
            <a:extLst>
              <a:ext uri="{FF2B5EF4-FFF2-40B4-BE49-F238E27FC236}">
                <a16:creationId xmlns:a16="http://schemas.microsoft.com/office/drawing/2014/main" id="{5F8FD258-B53C-50CF-B198-FEFDA1D022EC}"/>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3E931817-0615-33DC-6708-430F9DB472A8}"/>
                  </a:ext>
                </a:extLst>
              </p:cNvPr>
              <p:cNvGraphicFramePr>
                <a:graphicFrameLocks noGrp="1"/>
              </p:cNvGraphicFramePr>
              <p:nvPr>
                <p:extLst>
                  <p:ext uri="{D42A27DB-BD31-4B8C-83A1-F6EECF244321}">
                    <p14:modId xmlns:p14="http://schemas.microsoft.com/office/powerpoint/2010/main" val="4125965729"/>
                  </p:ext>
                </p:extLst>
              </p:nvPr>
            </p:nvGraphicFramePr>
            <p:xfrm>
              <a:off x="1002541" y="1201021"/>
              <a:ext cx="10186916" cy="4844227"/>
            </p:xfrm>
            <a:graphic>
              <a:graphicData uri="http://schemas.openxmlformats.org/drawingml/2006/table">
                <a:tbl>
                  <a:tblPr firstRow="1" firstCol="1" bandRow="1">
                    <a:tableStyleId>{72833802-FEF1-4C79-8D5D-14CF1EAF98D9}</a:tableStyleId>
                  </a:tblPr>
                  <a:tblGrid>
                    <a:gridCol w="1282107">
                      <a:extLst>
                        <a:ext uri="{9D8B030D-6E8A-4147-A177-3AD203B41FA5}">
                          <a16:colId xmlns:a16="http://schemas.microsoft.com/office/drawing/2014/main" val="745489469"/>
                        </a:ext>
                      </a:extLst>
                    </a:gridCol>
                    <a:gridCol w="8904809">
                      <a:extLst>
                        <a:ext uri="{9D8B030D-6E8A-4147-A177-3AD203B41FA5}">
                          <a16:colId xmlns:a16="http://schemas.microsoft.com/office/drawing/2014/main" val="2947008462"/>
                        </a:ext>
                      </a:extLst>
                    </a:gridCol>
                  </a:tblGrid>
                  <a:tr h="458703">
                    <a:tc>
                      <a:txBody>
                        <a:bodyPr/>
                        <a:lstStyle/>
                        <a:p>
                          <a:pPr indent="127000" algn="ctr">
                            <a:lnSpc>
                              <a:spcPct val="150000"/>
                            </a:lnSpc>
                          </a:pPr>
                          <a:r>
                            <a:rPr lang="zh-CN" sz="1800" kern="100" dirty="0">
                              <a:effectLst/>
                              <a:latin typeface="+mj-ea"/>
                              <a:ea typeface="+mj-ea"/>
                            </a:rPr>
                            <a:t>序号</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1800" kern="100" dirty="0">
                              <a:effectLst/>
                              <a:latin typeface="+mj-ea"/>
                              <a:ea typeface="+mj-ea"/>
                            </a:rPr>
                            <a:t>等价转换规则</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294034595"/>
                      </a:ext>
                    </a:extLst>
                  </a:tr>
                  <a:tr h="554311">
                    <a:tc>
                      <a:txBody>
                        <a:bodyPr/>
                        <a:lstStyle/>
                        <a:p>
                          <a:pPr indent="127000" algn="ctr">
                            <a:lnSpc>
                              <a:spcPct val="150000"/>
                            </a:lnSpc>
                          </a:pPr>
                          <a:r>
                            <a:rPr lang="en-US" sz="1800" kern="100" dirty="0">
                              <a:effectLst/>
                              <a:latin typeface="+mj-ea"/>
                              <a:ea typeface="+mj-ea"/>
                            </a:rPr>
                            <a:t>19</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sz="1800" kern="100" dirty="0">
                              <a:effectLst/>
                              <a:latin typeface="+mj-ea"/>
                              <a:ea typeface="+mj-ea"/>
                            </a:rPr>
                            <a:t>若选择条件</a:t>
                          </a:r>
                          <a14:m>
                            <m:oMath xmlns:m="http://schemas.openxmlformats.org/officeDocument/2006/math">
                              <m:r>
                                <a:rPr lang="en-US" sz="1800" b="0" kern="100" smtClean="0">
                                  <a:effectLst/>
                                  <a:latin typeface="Cambria Math" panose="02040503050406030204" pitchFamily="18" charset="0"/>
                                  <a:ea typeface="+mj-ea"/>
                                </a:rPr>
                                <m:t>𝑝</m:t>
                              </m:r>
                            </m:oMath>
                          </a14:m>
                          <a:r>
                            <a:rPr lang="zh-CN" sz="1800" kern="100" dirty="0">
                              <a:effectLst/>
                              <a:latin typeface="+mj-ea"/>
                              <a:ea typeface="+mj-ea"/>
                            </a:rPr>
                            <a:t>只涉及投影</a:t>
                          </a:r>
                          <a14:m>
                            <m:oMath xmlns:m="http://schemas.openxmlformats.org/officeDocument/2006/math">
                              <m:r>
                                <a:rPr lang="en-US" sz="1800" kern="100">
                                  <a:effectLst/>
                                  <a:latin typeface="Cambria Math" panose="02040503050406030204" pitchFamily="18" charset="0"/>
                                  <a:ea typeface="+mj-ea"/>
                                </a:rPr>
                                <m:t>𝑆</m:t>
                              </m:r>
                            </m:oMath>
                          </a14:m>
                          <a:r>
                            <a:rPr lang="zh-CN" sz="1800" kern="100" dirty="0">
                              <a:effectLst/>
                              <a:latin typeface="+mj-ea"/>
                              <a:ea typeface="+mj-ea"/>
                            </a:rPr>
                            <a:t>中的属性，</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b="0" kern="100" smtClean="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r>
                                        <a:rPr lang="en-US" sz="1800" kern="100">
                                          <a:effectLst/>
                                          <a:latin typeface="Cambria Math" panose="02040503050406030204" pitchFamily="18" charset="0"/>
                                          <a:ea typeface="+mj-ea"/>
                                        </a:rPr>
                                        <m:t>𝑆</m:t>
                                      </m:r>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r>
                                    <a:rPr lang="en-US" sz="1800" kern="100">
                                      <a:effectLst/>
                                      <a:latin typeface="Cambria Math" panose="02040503050406030204" pitchFamily="18" charset="0"/>
                                      <a:ea typeface="+mj-ea"/>
                                    </a:rPr>
                                    <m:t>𝑆</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b="0" kern="100" smtClean="0">
                                      <a:effectLst/>
                                      <a:latin typeface="Cambria Math" panose="02040503050406030204" pitchFamily="18" charset="0"/>
                                      <a:ea typeface="+mj-ea"/>
                                    </a:rPr>
                                    <m:t>𝑝</m:t>
                                  </m:r>
                                </m:sub>
                              </m:sSub>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986689286"/>
                      </a:ext>
                    </a:extLst>
                  </a:tr>
                  <a:tr h="616260">
                    <a:tc>
                      <a:txBody>
                        <a:bodyPr/>
                        <a:lstStyle/>
                        <a:p>
                          <a:pPr indent="127000" algn="ctr">
                            <a:lnSpc>
                              <a:spcPct val="150000"/>
                            </a:lnSpc>
                          </a:pPr>
                          <a:r>
                            <a:rPr lang="en-US" sz="1800" kern="100">
                              <a:effectLst/>
                              <a:latin typeface="+mj-ea"/>
                              <a:ea typeface="+mj-ea"/>
                            </a:rPr>
                            <a:t>20</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 xmlns:m="http://schemas.openxmlformats.org/officeDocument/2006/math">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2</m:t>
                                      </m:r>
                                    </m:sub>
                                  </m:sSub>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1</m:t>
                                      </m:r>
                                    </m:sub>
                                  </m:sSub>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2</m:t>
                                      </m:r>
                                    </m:sub>
                                  </m:sSub>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m:t>
                              </m:r>
                            </m:oMath>
                          </a14:m>
                          <a:r>
                            <a:rPr lang="en-US" sz="1800" kern="100" dirty="0">
                              <a:effectLst/>
                              <a:latin typeface="+mj-ea"/>
                              <a:ea typeface="+mj-ea"/>
                            </a:rPr>
                            <a:t> </a:t>
                          </a:r>
                          <a:r>
                            <a:rPr lang="zh-CN" sz="1800" kern="100" dirty="0">
                              <a:effectLst/>
                              <a:latin typeface="+mj-ea"/>
                              <a:ea typeface="+mj-ea"/>
                            </a:rPr>
                            <a:t>其中投影属性集合</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1</m:t>
                                  </m:r>
                                </m:sub>
                              </m:sSub>
                            </m:oMath>
                          </a14:m>
                          <a:r>
                            <a:rPr lang="zh-CN" sz="1800" kern="100" dirty="0">
                              <a:effectLst/>
                              <a:latin typeface="+mj-ea"/>
                              <a:ea typeface="+mj-ea"/>
                            </a:rPr>
                            <a:t>和</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𝑆</m:t>
                                  </m:r>
                                </m:e>
                                <m:sub>
                                  <m:r>
                                    <a:rPr lang="en-US" sz="1800" kern="100">
                                      <a:effectLst/>
                                      <a:latin typeface="Cambria Math" panose="02040503050406030204" pitchFamily="18" charset="0"/>
                                      <a:ea typeface="+mj-ea"/>
                                    </a:rPr>
                                    <m:t>2</m:t>
                                  </m:r>
                                </m:sub>
                              </m:sSub>
                            </m:oMath>
                          </a14:m>
                          <a:r>
                            <a:rPr lang="zh-CN" sz="1800" kern="100" dirty="0">
                              <a:effectLst/>
                              <a:latin typeface="+mj-ea"/>
                              <a:ea typeface="+mj-ea"/>
                            </a:rPr>
                            <a:t>分别是</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oMath>
                          </a14:m>
                          <a:r>
                            <a:rPr lang="zh-CN" sz="1800" kern="100" dirty="0">
                              <a:effectLst/>
                              <a:latin typeface="+mj-ea"/>
                              <a:ea typeface="+mj-ea"/>
                            </a:rPr>
                            <a:t>和</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a14:m>
                          <a:r>
                            <a:rPr lang="zh-CN" sz="1800" kern="100" dirty="0">
                              <a:effectLst/>
                              <a:latin typeface="+mj-ea"/>
                              <a:ea typeface="+mj-ea"/>
                            </a:rPr>
                            <a:t>中的属性</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916949430"/>
                      </a:ext>
                    </a:extLst>
                  </a:tr>
                  <a:tr h="541823">
                    <a:tc>
                      <a:txBody>
                        <a:bodyPr/>
                        <a:lstStyle/>
                        <a:p>
                          <a:pPr indent="127000" algn="ctr">
                            <a:lnSpc>
                              <a:spcPct val="150000"/>
                            </a:lnSpc>
                          </a:pPr>
                          <a:r>
                            <a:rPr lang="en-US" sz="1800" kern="100">
                              <a:effectLst/>
                              <a:latin typeface="+mj-ea"/>
                              <a:ea typeface="+mj-ea"/>
                            </a:rPr>
                            <a:t>21</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r>
                                      <a:rPr lang="en-US" sz="1800" kern="100">
                                        <a:effectLst/>
                                        <a:latin typeface="Cambria Math" panose="02040503050406030204" pitchFamily="18" charset="0"/>
                                        <a:ea typeface="+mj-ea"/>
                                      </a:rPr>
                                      <m:t>𝑆</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r>
                                      <a:rPr lang="en-US" sz="1800" kern="100">
                                        <a:effectLst/>
                                        <a:latin typeface="Cambria Math" panose="02040503050406030204" pitchFamily="18" charset="0"/>
                                        <a:ea typeface="+mj-ea"/>
                                      </a:rPr>
                                      <m:t>𝑆</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r>
                                      <a:rPr lang="en-US" sz="1800" kern="100">
                                        <a:effectLst/>
                                        <a:latin typeface="Cambria Math" panose="02040503050406030204" pitchFamily="18" charset="0"/>
                                        <a:ea typeface="+mj-ea"/>
                                      </a:rPr>
                                      <m:t>𝑆</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m:t>
                                </m:r>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810111683"/>
                      </a:ext>
                    </a:extLst>
                  </a:tr>
                  <a:tr h="582847">
                    <a:tc>
                      <a:txBody>
                        <a:bodyPr/>
                        <a:lstStyle/>
                        <a:p>
                          <a:pPr indent="127000" algn="ctr">
                            <a:lnSpc>
                              <a:spcPct val="150000"/>
                            </a:lnSpc>
                          </a:pPr>
                          <a:r>
                            <a:rPr lang="en-US" sz="1800" kern="100">
                              <a:effectLst/>
                              <a:latin typeface="+mj-ea"/>
                              <a:ea typeface="+mj-ea"/>
                            </a:rPr>
                            <a:t>22</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altLang="zh-CN" sz="1800" i="1" kern="100" smtClean="0">
                                        <a:effectLst/>
                                        <a:latin typeface="Cambria Math" panose="02040503050406030204" pitchFamily="18" charset="0"/>
                                        <a:ea typeface="+mj-ea"/>
                                      </a:rPr>
                                    </m:ctrlPr>
                                  </m:sSubPr>
                                  <m:e>
                                    <m:r>
                                      <a:rPr lang="en-US" altLang="zh-CN" sz="1800" kern="100">
                                        <a:effectLst/>
                                        <a:latin typeface="Cambria Math" panose="02040503050406030204" pitchFamily="18" charset="0"/>
                                        <a:ea typeface="+mj-ea"/>
                                      </a:rPr>
                                      <m:t>𝜎</m:t>
                                    </m:r>
                                  </m:e>
                                  <m:sub>
                                    <m:r>
                                      <a:rPr lang="en-US" altLang="zh-CN" sz="1800" kern="100">
                                        <a:effectLst/>
                                        <a:latin typeface="Cambria Math" panose="02040503050406030204" pitchFamily="18" charset="0"/>
                                        <a:ea typeface="+mj-ea"/>
                                      </a:rPr>
                                      <m:t>𝑝</m:t>
                                    </m:r>
                                  </m:sub>
                                </m:sSub>
                                <m:d>
                                  <m:dPr>
                                    <m:ctrlPr>
                                      <a:rPr lang="zh-CN" altLang="zh-CN" sz="1800" i="1" kern="100">
                                        <a:effectLst/>
                                        <a:latin typeface="Cambria Math" panose="02040503050406030204" pitchFamily="18" charset="0"/>
                                        <a:ea typeface="+mj-ea"/>
                                      </a:rPr>
                                    </m:ctrlPr>
                                  </m:dPr>
                                  <m:e>
                                    <m:sSub>
                                      <m:sSubPr>
                                        <m:ctrlPr>
                                          <a:rPr lang="zh-CN" altLang="zh-CN" sz="1800" i="1" kern="100">
                                            <a:effectLst/>
                                            <a:latin typeface="Cambria Math" panose="02040503050406030204" pitchFamily="18" charset="0"/>
                                            <a:ea typeface="+mj-ea"/>
                                          </a:rPr>
                                        </m:ctrlPr>
                                      </m:sSubPr>
                                      <m:e>
                                        <m:r>
                                          <a:rPr lang="en-US" altLang="zh-CN" sz="1800" kern="100">
                                            <a:effectLst/>
                                            <a:latin typeface="Cambria Math" panose="02040503050406030204" pitchFamily="18" charset="0"/>
                                            <a:ea typeface="+mj-ea"/>
                                          </a:rPr>
                                          <m:t>𝑅</m:t>
                                        </m:r>
                                      </m:e>
                                      <m:sub>
                                        <m:r>
                                          <a:rPr lang="en-US" altLang="zh-CN" sz="1800" kern="100">
                                            <a:effectLst/>
                                            <a:latin typeface="Cambria Math" panose="02040503050406030204" pitchFamily="18" charset="0"/>
                                            <a:ea typeface="+mj-ea"/>
                                          </a:rPr>
                                          <m:t>1</m:t>
                                        </m:r>
                                      </m:sub>
                                    </m:sSub>
                                    <m:r>
                                      <a:rPr lang="en-US" altLang="zh-CN" sz="1800" kern="100">
                                        <a:effectLst/>
                                        <a:latin typeface="Cambria Math" panose="02040503050406030204" pitchFamily="18" charset="0"/>
                                        <a:ea typeface="+mj-ea"/>
                                      </a:rPr>
                                      <m:t>×</m:t>
                                    </m:r>
                                    <m:sSub>
                                      <m:sSubPr>
                                        <m:ctrlPr>
                                          <a:rPr lang="zh-CN" altLang="zh-CN" sz="1800" i="1" kern="100">
                                            <a:effectLst/>
                                            <a:latin typeface="Cambria Math" panose="02040503050406030204" pitchFamily="18" charset="0"/>
                                            <a:ea typeface="+mj-ea"/>
                                          </a:rPr>
                                        </m:ctrlPr>
                                      </m:sSubPr>
                                      <m:e>
                                        <m:r>
                                          <a:rPr lang="en-US" altLang="zh-CN" sz="1800" kern="100">
                                            <a:effectLst/>
                                            <a:latin typeface="Cambria Math" panose="02040503050406030204" pitchFamily="18" charset="0"/>
                                            <a:ea typeface="+mj-ea"/>
                                          </a:rPr>
                                          <m:t>𝑅</m:t>
                                        </m:r>
                                      </m:e>
                                      <m:sub>
                                        <m:r>
                                          <a:rPr lang="en-US" altLang="zh-CN" sz="1800" kern="100">
                                            <a:effectLst/>
                                            <a:latin typeface="Cambria Math" panose="02040503050406030204" pitchFamily="18" charset="0"/>
                                            <a:ea typeface="+mj-ea"/>
                                          </a:rPr>
                                          <m:t>2</m:t>
                                        </m:r>
                                      </m:sub>
                                    </m:sSub>
                                  </m:e>
                                </m:d>
                                <m:r>
                                  <a:rPr lang="en-US" altLang="zh-CN" sz="1800" b="0" i="1" kern="100" smtClean="0">
                                    <a:effectLst/>
                                    <a:latin typeface="Cambria Math" panose="02040503050406030204" pitchFamily="18" charset="0"/>
                                    <a:ea typeface="+mj-ea"/>
                                  </a:rPr>
                                  <m:t>=</m:t>
                                </m:r>
                                <m:r>
                                  <a:rPr lang="zh-CN" altLang="en-US" sz="1800" b="0" i="1" kern="100" smtClean="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m:t>
                                    </m:r>
                                  </m:e>
                                  <m:sub>
                                    <m:r>
                                      <a:rPr lang="en-US" sz="1800" kern="100">
                                        <a:effectLst/>
                                        <a:latin typeface="Cambria Math" panose="02040503050406030204" pitchFamily="18" charset="0"/>
                                        <a:ea typeface="+mj-ea"/>
                                      </a:rPr>
                                      <m:t>𝑝</m:t>
                                    </m:r>
                                  </m:sub>
                                </m:s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033442925"/>
                      </a:ext>
                    </a:extLst>
                  </a:tr>
                  <a:tr h="534908">
                    <a:tc>
                      <a:txBody>
                        <a:bodyPr/>
                        <a:lstStyle/>
                        <a:p>
                          <a:pPr indent="127000" algn="ctr">
                            <a:lnSpc>
                              <a:spcPct val="150000"/>
                            </a:lnSpc>
                          </a:pPr>
                          <a:r>
                            <a:rPr lang="en-US" sz="1800" kern="100" dirty="0">
                              <a:effectLst/>
                              <a:latin typeface="+mj-ea"/>
                              <a:ea typeface="+mj-ea"/>
                            </a:rPr>
                            <a:t>23</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sz="1800" kern="100" dirty="0">
                              <a:effectLst/>
                              <a:latin typeface="+mj-ea"/>
                              <a:ea typeface="+mj-ea"/>
                            </a:rPr>
                            <a:t>等值连接</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r>
                                        <m:rPr>
                                          <m:sty m:val="p"/>
                                        </m:rPr>
                                        <a:rPr lang="en-US" sz="1800" kern="100">
                                          <a:effectLst/>
                                          <a:latin typeface="Cambria Math" panose="02040503050406030204" pitchFamily="18" charset="0"/>
                                          <a:ea typeface="+mj-ea"/>
                                        </a:rPr>
                                        <m:t>S</m:t>
                                      </m:r>
                                    </m:sub>
                                  </m:sSub>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m:t>
                              </m:r>
                            </m:oMath>
                          </a14:m>
                          <a:r>
                            <a:rPr lang="zh-CN" sz="1800" kern="100" dirty="0">
                              <a:effectLst/>
                              <a:latin typeface="+mj-ea"/>
                              <a:ea typeface="+mj-ea"/>
                            </a:rPr>
                            <a:t>，其中</a:t>
                          </a:r>
                          <a14:m>
                            <m:oMath xmlns:m="http://schemas.openxmlformats.org/officeDocument/2006/math">
                              <m:r>
                                <a:rPr lang="en-US" sz="1800" kern="100">
                                  <a:effectLst/>
                                  <a:latin typeface="Cambria Math" panose="02040503050406030204" pitchFamily="18" charset="0"/>
                                  <a:ea typeface="+mj-ea"/>
                                </a:rPr>
                                <m:t>𝑆</m:t>
                              </m:r>
                            </m:oMath>
                          </a14:m>
                          <a:r>
                            <a:rPr lang="zh-CN" sz="1800" kern="100" dirty="0">
                              <a:effectLst/>
                              <a:latin typeface="+mj-ea"/>
                              <a:ea typeface="+mj-ea"/>
                            </a:rPr>
                            <a:t>为</a:t>
                          </a: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a14:m>
                          <a:r>
                            <a:rPr lang="zh-CN" sz="1800" kern="100" dirty="0">
                              <a:effectLst/>
                              <a:latin typeface="+mj-ea"/>
                              <a:ea typeface="+mj-ea"/>
                            </a:rPr>
                            <a:t>属性的并集</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945210711"/>
                      </a:ext>
                    </a:extLst>
                  </a:tr>
                  <a:tr h="471729">
                    <a:tc>
                      <a:txBody>
                        <a:bodyPr/>
                        <a:lstStyle/>
                        <a:p>
                          <a:pPr indent="127000" algn="ctr">
                            <a:lnSpc>
                              <a:spcPct val="150000"/>
                            </a:lnSpc>
                          </a:pPr>
                          <a:r>
                            <a:rPr lang="en-US" sz="1800" kern="100">
                              <a:effectLst/>
                              <a:latin typeface="+mj-ea"/>
                              <a:ea typeface="+mj-ea"/>
                            </a:rPr>
                            <a:t>24</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sz="1800" kern="100" dirty="0">
                              <a:effectLst/>
                              <a:latin typeface="+mj-ea"/>
                              <a:ea typeface="+mj-ea"/>
                            </a:rPr>
                            <a:t>对于没有重复元素的关系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a:t>
                          </a:r>
                          <a14:m>
                            <m:oMath xmlns:m="http://schemas.openxmlformats.org/officeDocument/2006/math">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56913382"/>
                      </a:ext>
                    </a:extLst>
                  </a:tr>
                  <a:tr h="541823">
                    <a:tc>
                      <a:txBody>
                        <a:bodyPr/>
                        <a:lstStyle/>
                        <a:p>
                          <a:pPr indent="127000" algn="ctr">
                            <a:lnSpc>
                              <a:spcPct val="150000"/>
                            </a:lnSpc>
                          </a:pPr>
                          <a:r>
                            <a:rPr lang="en-US" sz="1800" kern="100">
                              <a:effectLst/>
                              <a:latin typeface="+mj-ea"/>
                              <a:ea typeface="+mj-ea"/>
                            </a:rPr>
                            <a:t>25</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m:t>
                                </m:r>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18455094"/>
                      </a:ext>
                    </a:extLst>
                  </a:tr>
                  <a:tr h="541823">
                    <a:tc>
                      <a:txBody>
                        <a:bodyPr/>
                        <a:lstStyle/>
                        <a:p>
                          <a:pPr indent="127000" algn="ctr">
                            <a:lnSpc>
                              <a:spcPct val="150000"/>
                            </a:lnSpc>
                          </a:pPr>
                          <a:r>
                            <a:rPr lang="en-US" sz="1800" kern="100">
                              <a:effectLst/>
                              <a:latin typeface="+mj-ea"/>
                              <a:ea typeface="+mj-ea"/>
                            </a:rPr>
                            <a:t>26</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m:t>
                                </m:r>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51978428"/>
                      </a:ext>
                    </a:extLst>
                  </a:tr>
                </a:tbl>
              </a:graphicData>
            </a:graphic>
          </p:graphicFrame>
        </mc:Choice>
        <mc:Fallback xmlns="">
          <p:graphicFrame>
            <p:nvGraphicFramePr>
              <p:cNvPr id="7" name="表格 6">
                <a:extLst>
                  <a:ext uri="{FF2B5EF4-FFF2-40B4-BE49-F238E27FC236}">
                    <a16:creationId xmlns:a16="http://schemas.microsoft.com/office/drawing/2014/main" xmlns:a14="http://schemas.microsoft.com/office/drawing/2010/main" xmlns="" id="{3E931817-0615-33DC-6708-430F9DB472A8}"/>
                  </a:ext>
                </a:extLst>
              </p:cNvPr>
              <p:cNvGraphicFramePr>
                <a:graphicFrameLocks noGrp="1"/>
              </p:cNvGraphicFramePr>
              <p:nvPr>
                <p:extLst>
                  <p:ext uri="{D42A27DB-BD31-4B8C-83A1-F6EECF244321}">
                    <p14:modId xmlns:p14="http://schemas.microsoft.com/office/powerpoint/2010/main" val="4125965729"/>
                  </p:ext>
                </p:extLst>
              </p:nvPr>
            </p:nvGraphicFramePr>
            <p:xfrm>
              <a:off x="1002541" y="1201021"/>
              <a:ext cx="10186916" cy="4844227"/>
            </p:xfrm>
            <a:graphic>
              <a:graphicData uri="http://schemas.openxmlformats.org/drawingml/2006/table">
                <a:tbl>
                  <a:tblPr firstRow="1" firstCol="1" bandRow="1">
                    <a:tableStyleId>{72833802-FEF1-4C79-8D5D-14CF1EAF98D9}</a:tableStyleId>
                  </a:tblPr>
                  <a:tblGrid>
                    <a:gridCol w="1282107">
                      <a:extLst>
                        <a:ext uri="{9D8B030D-6E8A-4147-A177-3AD203B41FA5}">
                          <a16:colId xmlns:a16="http://schemas.microsoft.com/office/drawing/2014/main" xmlns:a14="http://schemas.microsoft.com/office/drawing/2010/main" xmlns="" val="745489469"/>
                        </a:ext>
                      </a:extLst>
                    </a:gridCol>
                    <a:gridCol w="8904809">
                      <a:extLst>
                        <a:ext uri="{9D8B030D-6E8A-4147-A177-3AD203B41FA5}">
                          <a16:colId xmlns:a16="http://schemas.microsoft.com/office/drawing/2014/main" xmlns:a14="http://schemas.microsoft.com/office/drawing/2010/main" xmlns="" val="2947008462"/>
                        </a:ext>
                      </a:extLst>
                    </a:gridCol>
                  </a:tblGrid>
                  <a:tr h="458703">
                    <a:tc>
                      <a:txBody>
                        <a:bodyPr/>
                        <a:lstStyle/>
                        <a:p>
                          <a:pPr indent="127000" algn="ctr">
                            <a:lnSpc>
                              <a:spcPct val="150000"/>
                            </a:lnSpc>
                          </a:pPr>
                          <a:r>
                            <a:rPr lang="zh-CN" sz="1800" kern="100" dirty="0">
                              <a:effectLst/>
                              <a:latin typeface="+mj-ea"/>
                              <a:ea typeface="+mj-ea"/>
                            </a:rPr>
                            <a:t>序号</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1800" kern="100" dirty="0">
                              <a:effectLst/>
                              <a:latin typeface="+mj-ea"/>
                              <a:ea typeface="+mj-ea"/>
                            </a:rPr>
                            <a:t>等价转换规则</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xmlns:a14="http://schemas.microsoft.com/office/drawing/2010/main" xmlns="" val="2294034595"/>
                      </a:ext>
                    </a:extLst>
                  </a:tr>
                  <a:tr h="554311">
                    <a:tc>
                      <a:txBody>
                        <a:bodyPr/>
                        <a:lstStyle/>
                        <a:p>
                          <a:pPr indent="127000" algn="ctr">
                            <a:lnSpc>
                              <a:spcPct val="150000"/>
                            </a:lnSpc>
                          </a:pPr>
                          <a:r>
                            <a:rPr lang="en-US" sz="1800" kern="100" dirty="0">
                              <a:effectLst/>
                              <a:latin typeface="+mj-ea"/>
                              <a:ea typeface="+mj-ea"/>
                            </a:rPr>
                            <a:t>19</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83516" r="-68" b="-692308"/>
                          </a:stretch>
                        </a:blipFill>
                      </a:tcPr>
                    </a:tc>
                    <a:extLst>
                      <a:ext uri="{0D108BD9-81ED-4DB2-BD59-A6C34878D82A}">
                        <a16:rowId xmlns:a16="http://schemas.microsoft.com/office/drawing/2014/main" xmlns:a14="http://schemas.microsoft.com/office/drawing/2010/main" xmlns="" val="3986689286"/>
                      </a:ext>
                    </a:extLst>
                  </a:tr>
                  <a:tr h="616260">
                    <a:tc>
                      <a:txBody>
                        <a:bodyPr/>
                        <a:lstStyle/>
                        <a:p>
                          <a:pPr indent="127000" algn="ctr">
                            <a:lnSpc>
                              <a:spcPct val="150000"/>
                            </a:lnSpc>
                          </a:pPr>
                          <a:r>
                            <a:rPr lang="en-US" sz="1800" kern="100">
                              <a:effectLst/>
                              <a:latin typeface="+mj-ea"/>
                              <a:ea typeface="+mj-ea"/>
                            </a:rPr>
                            <a:t>20</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165347" r="-68" b="-523762"/>
                          </a:stretch>
                        </a:blipFill>
                      </a:tcPr>
                    </a:tc>
                    <a:extLst>
                      <a:ext uri="{0D108BD9-81ED-4DB2-BD59-A6C34878D82A}">
                        <a16:rowId xmlns:a16="http://schemas.microsoft.com/office/drawing/2014/main" xmlns:a14="http://schemas.microsoft.com/office/drawing/2010/main" xmlns="" val="916949430"/>
                      </a:ext>
                    </a:extLst>
                  </a:tr>
                  <a:tr h="541823">
                    <a:tc>
                      <a:txBody>
                        <a:bodyPr/>
                        <a:lstStyle/>
                        <a:p>
                          <a:pPr indent="127000" algn="ctr">
                            <a:lnSpc>
                              <a:spcPct val="150000"/>
                            </a:lnSpc>
                          </a:pPr>
                          <a:r>
                            <a:rPr lang="en-US" sz="1800" kern="100">
                              <a:effectLst/>
                              <a:latin typeface="+mj-ea"/>
                              <a:ea typeface="+mj-ea"/>
                            </a:rPr>
                            <a:t>21</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301124" r="-68" b="-494382"/>
                          </a:stretch>
                        </a:blipFill>
                      </a:tcPr>
                    </a:tc>
                    <a:extLst>
                      <a:ext uri="{0D108BD9-81ED-4DB2-BD59-A6C34878D82A}">
                        <a16:rowId xmlns:a16="http://schemas.microsoft.com/office/drawing/2014/main" xmlns:a14="http://schemas.microsoft.com/office/drawing/2010/main" xmlns="" val="810111683"/>
                      </a:ext>
                    </a:extLst>
                  </a:tr>
                  <a:tr h="582847">
                    <a:tc>
                      <a:txBody>
                        <a:bodyPr/>
                        <a:lstStyle/>
                        <a:p>
                          <a:pPr indent="127000" algn="ctr">
                            <a:lnSpc>
                              <a:spcPct val="150000"/>
                            </a:lnSpc>
                          </a:pPr>
                          <a:r>
                            <a:rPr lang="en-US" sz="1800" kern="100">
                              <a:effectLst/>
                              <a:latin typeface="+mj-ea"/>
                              <a:ea typeface="+mj-ea"/>
                            </a:rPr>
                            <a:t>22</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371875" r="-68" b="-358333"/>
                          </a:stretch>
                        </a:blipFill>
                      </a:tcPr>
                    </a:tc>
                    <a:extLst>
                      <a:ext uri="{0D108BD9-81ED-4DB2-BD59-A6C34878D82A}">
                        <a16:rowId xmlns:a16="http://schemas.microsoft.com/office/drawing/2014/main" xmlns:a14="http://schemas.microsoft.com/office/drawing/2010/main" xmlns="" val="3033442925"/>
                      </a:ext>
                    </a:extLst>
                  </a:tr>
                  <a:tr h="534908">
                    <a:tc>
                      <a:txBody>
                        <a:bodyPr/>
                        <a:lstStyle/>
                        <a:p>
                          <a:pPr indent="127000" algn="ctr">
                            <a:lnSpc>
                              <a:spcPct val="150000"/>
                            </a:lnSpc>
                          </a:pPr>
                          <a:r>
                            <a:rPr lang="en-US" sz="1800" kern="100" dirty="0">
                              <a:effectLst/>
                              <a:latin typeface="+mj-ea"/>
                              <a:ea typeface="+mj-ea"/>
                            </a:rPr>
                            <a:t>23</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514773" r="-68" b="-290909"/>
                          </a:stretch>
                        </a:blipFill>
                      </a:tcPr>
                    </a:tc>
                    <a:extLst>
                      <a:ext uri="{0D108BD9-81ED-4DB2-BD59-A6C34878D82A}">
                        <a16:rowId xmlns:a16="http://schemas.microsoft.com/office/drawing/2014/main" xmlns:a14="http://schemas.microsoft.com/office/drawing/2010/main" xmlns="" val="2945210711"/>
                      </a:ext>
                    </a:extLst>
                  </a:tr>
                  <a:tr h="471729">
                    <a:tc>
                      <a:txBody>
                        <a:bodyPr/>
                        <a:lstStyle/>
                        <a:p>
                          <a:pPr indent="127000" algn="ctr">
                            <a:lnSpc>
                              <a:spcPct val="150000"/>
                            </a:lnSpc>
                          </a:pPr>
                          <a:r>
                            <a:rPr lang="en-US" sz="1800" kern="100">
                              <a:effectLst/>
                              <a:latin typeface="+mj-ea"/>
                              <a:ea typeface="+mj-ea"/>
                            </a:rPr>
                            <a:t>24</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702597" r="-68" b="-232468"/>
                          </a:stretch>
                        </a:blipFill>
                      </a:tcPr>
                    </a:tc>
                    <a:extLst>
                      <a:ext uri="{0D108BD9-81ED-4DB2-BD59-A6C34878D82A}">
                        <a16:rowId xmlns:a16="http://schemas.microsoft.com/office/drawing/2014/main" xmlns:a14="http://schemas.microsoft.com/office/drawing/2010/main" xmlns="" val="2456913382"/>
                      </a:ext>
                    </a:extLst>
                  </a:tr>
                  <a:tr h="541823">
                    <a:tc>
                      <a:txBody>
                        <a:bodyPr/>
                        <a:lstStyle/>
                        <a:p>
                          <a:pPr indent="127000" algn="ctr">
                            <a:lnSpc>
                              <a:spcPct val="150000"/>
                            </a:lnSpc>
                          </a:pPr>
                          <a:r>
                            <a:rPr lang="en-US" sz="1800" kern="100">
                              <a:effectLst/>
                              <a:latin typeface="+mj-ea"/>
                              <a:ea typeface="+mj-ea"/>
                            </a:rPr>
                            <a:t>25</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694382" r="-68" b="-101124"/>
                          </a:stretch>
                        </a:blipFill>
                      </a:tcPr>
                    </a:tc>
                    <a:extLst>
                      <a:ext uri="{0D108BD9-81ED-4DB2-BD59-A6C34878D82A}">
                        <a16:rowId xmlns:a16="http://schemas.microsoft.com/office/drawing/2014/main" xmlns:a14="http://schemas.microsoft.com/office/drawing/2010/main" xmlns="" val="2418455094"/>
                      </a:ext>
                    </a:extLst>
                  </a:tr>
                  <a:tr h="541823">
                    <a:tc>
                      <a:txBody>
                        <a:bodyPr/>
                        <a:lstStyle/>
                        <a:p>
                          <a:pPr indent="127000" algn="ctr">
                            <a:lnSpc>
                              <a:spcPct val="150000"/>
                            </a:lnSpc>
                          </a:pPr>
                          <a:r>
                            <a:rPr lang="en-US" sz="1800" kern="100">
                              <a:effectLst/>
                              <a:latin typeface="+mj-ea"/>
                              <a:ea typeface="+mj-ea"/>
                            </a:rPr>
                            <a:t>26</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3"/>
                          <a:stretch>
                            <a:fillRect l="-14432" t="-794382" r="-68" b="-1124"/>
                          </a:stretch>
                        </a:blipFill>
                      </a:tcPr>
                    </a:tc>
                    <a:extLst>
                      <a:ext uri="{0D108BD9-81ED-4DB2-BD59-A6C34878D82A}">
                        <a16:rowId xmlns:a16="http://schemas.microsoft.com/office/drawing/2014/main" xmlns:a14="http://schemas.microsoft.com/office/drawing/2010/main" xmlns="" val="51978428"/>
                      </a:ext>
                    </a:extLst>
                  </a:tr>
                </a:tbl>
              </a:graphicData>
            </a:graphic>
          </p:graphicFrame>
        </mc:Fallback>
      </mc:AlternateContent>
    </p:spTree>
    <p:extLst>
      <p:ext uri="{BB962C8B-B14F-4D97-AF65-F5344CB8AC3E}">
        <p14:creationId xmlns:p14="http://schemas.microsoft.com/office/powerpoint/2010/main" val="4136850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212D55C-0A94-1FE0-EB84-0B7760F393ED}"/>
              </a:ext>
            </a:extLst>
          </p:cNvPr>
          <p:cNvSpPr>
            <a:spLocks noGrp="1"/>
          </p:cNvSpPr>
          <p:nvPr>
            <p:ph type="sldNum" sz="quarter" idx="10"/>
          </p:nvPr>
        </p:nvSpPr>
        <p:spPr/>
        <p:txBody>
          <a:bodyPr/>
          <a:lstStyle/>
          <a:p>
            <a:fld id="{4B0D34C0-35A8-654C-9FBA-7B4E017BD630}" type="slidenum">
              <a:rPr lang="en-US" altLang="zh-CN" smtClean="0"/>
              <a:t>23</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查询重写规则</a:t>
            </a:r>
          </a:p>
        </p:txBody>
      </p:sp>
      <p:sp>
        <p:nvSpPr>
          <p:cNvPr id="3" name="页脚占位符 2">
            <a:extLst>
              <a:ext uri="{FF2B5EF4-FFF2-40B4-BE49-F238E27FC236}">
                <a16:creationId xmlns:a16="http://schemas.microsoft.com/office/drawing/2014/main" id="{0BA2308E-D227-AA20-067E-67CCB44079E9}"/>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3E931817-0615-33DC-6708-430F9DB472A8}"/>
                  </a:ext>
                </a:extLst>
              </p:cNvPr>
              <p:cNvGraphicFramePr>
                <a:graphicFrameLocks noGrp="1"/>
              </p:cNvGraphicFramePr>
              <p:nvPr>
                <p:extLst>
                  <p:ext uri="{D42A27DB-BD31-4B8C-83A1-F6EECF244321}">
                    <p14:modId xmlns:p14="http://schemas.microsoft.com/office/powerpoint/2010/main" val="257479169"/>
                  </p:ext>
                </p:extLst>
              </p:nvPr>
            </p:nvGraphicFramePr>
            <p:xfrm>
              <a:off x="934871" y="1600500"/>
              <a:ext cx="10334314" cy="3065196"/>
            </p:xfrm>
            <a:graphic>
              <a:graphicData uri="http://schemas.openxmlformats.org/drawingml/2006/table">
                <a:tbl>
                  <a:tblPr firstRow="1" firstCol="1" bandRow="1">
                    <a:tableStyleId>{72833802-FEF1-4C79-8D5D-14CF1EAF98D9}</a:tableStyleId>
                  </a:tblPr>
                  <a:tblGrid>
                    <a:gridCol w="1300658">
                      <a:extLst>
                        <a:ext uri="{9D8B030D-6E8A-4147-A177-3AD203B41FA5}">
                          <a16:colId xmlns:a16="http://schemas.microsoft.com/office/drawing/2014/main" val="745489469"/>
                        </a:ext>
                      </a:extLst>
                    </a:gridCol>
                    <a:gridCol w="9033656">
                      <a:extLst>
                        <a:ext uri="{9D8B030D-6E8A-4147-A177-3AD203B41FA5}">
                          <a16:colId xmlns:a16="http://schemas.microsoft.com/office/drawing/2014/main" val="2947008462"/>
                        </a:ext>
                      </a:extLst>
                    </a:gridCol>
                  </a:tblGrid>
                  <a:tr h="436131">
                    <a:tc>
                      <a:txBody>
                        <a:bodyPr/>
                        <a:lstStyle/>
                        <a:p>
                          <a:pPr indent="127000" algn="ctr">
                            <a:lnSpc>
                              <a:spcPct val="150000"/>
                            </a:lnSpc>
                          </a:pPr>
                          <a:r>
                            <a:rPr lang="zh-CN" sz="1800" kern="100" dirty="0">
                              <a:effectLst/>
                              <a:latin typeface="+mj-ea"/>
                              <a:ea typeface="+mj-ea"/>
                            </a:rPr>
                            <a:t>序号</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1800" kern="100" dirty="0">
                              <a:effectLst/>
                              <a:latin typeface="+mj-ea"/>
                              <a:ea typeface="+mj-ea"/>
                            </a:rPr>
                            <a:t>等价转换规则</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294034595"/>
                      </a:ext>
                    </a:extLst>
                  </a:tr>
                  <a:tr h="527034">
                    <a:tc>
                      <a:txBody>
                        <a:bodyPr/>
                        <a:lstStyle/>
                        <a:p>
                          <a:pPr indent="127000" algn="ctr">
                            <a:lnSpc>
                              <a:spcPct val="150000"/>
                            </a:lnSpc>
                          </a:pPr>
                          <a:r>
                            <a:rPr lang="en-US" sz="1800" kern="100" dirty="0">
                              <a:effectLst/>
                              <a:latin typeface="+mj-ea"/>
                              <a:ea typeface="+mj-ea"/>
                            </a:rPr>
                            <a:t>27</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m:t>
                                    </m:r>
                                  </m:e>
                                  <m:sub>
                                    <m:r>
                                      <a:rPr lang="en-US" sz="1800" kern="100">
                                        <a:effectLst/>
                                        <a:latin typeface="Cambria Math" panose="02040503050406030204" pitchFamily="18" charset="0"/>
                                        <a:ea typeface="+mj-ea"/>
                                      </a:rPr>
                                      <m:t>𝑝</m:t>
                                    </m:r>
                                  </m:sub>
                                </m:s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 </m:t>
                                </m:r>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m:t>
                                    </m:r>
                                  </m:e>
                                  <m:sub>
                                    <m:r>
                                      <a:rPr lang="en-US" sz="1800" kern="100">
                                        <a:effectLst/>
                                        <a:latin typeface="Cambria Math" panose="02040503050406030204" pitchFamily="18" charset="0"/>
                                        <a:ea typeface="+mj-ea"/>
                                      </a:rPr>
                                      <m:t>𝑝</m:t>
                                    </m:r>
                                  </m:sub>
                                </m:sSub>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m:t>
                                </m:r>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986689286"/>
                      </a:ext>
                    </a:extLst>
                  </a:tr>
                  <a:tr h="515161">
                    <a:tc>
                      <a:txBody>
                        <a:bodyPr/>
                        <a:lstStyle/>
                        <a:p>
                          <a:pPr indent="127000" algn="ctr">
                            <a:lnSpc>
                              <a:spcPct val="150000"/>
                            </a:lnSpc>
                          </a:pPr>
                          <a:r>
                            <a:rPr lang="en-US" sz="1800" kern="100" dirty="0">
                              <a:effectLst/>
                              <a:latin typeface="+mj-ea"/>
                              <a:ea typeface="+mj-ea"/>
                            </a:rPr>
                            <a:t>28</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 xmlns:m="http://schemas.openxmlformats.org/officeDocument/2006/math">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𝜎</m:t>
                                  </m:r>
                                </m:e>
                                <m:sub>
                                  <m:r>
                                    <a:rPr lang="en-US" sz="1800" kern="100">
                                      <a:effectLst/>
                                      <a:latin typeface="Cambria Math" panose="02040503050406030204" pitchFamily="18" charset="0"/>
                                      <a:ea typeface="+mj-ea"/>
                                    </a:rPr>
                                    <m:t>𝑝</m:t>
                                  </m:r>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e>
                              </m:d>
                            </m:oMath>
                          </a14:m>
                          <a:r>
                            <a:rPr lang="en-US" sz="1800" kern="100" dirty="0">
                              <a:effectLst/>
                              <a:latin typeface="+mj-ea"/>
                              <a:ea typeface="+mj-ea"/>
                            </a:rPr>
                            <a:t>)</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810111683"/>
                      </a:ext>
                    </a:extLst>
                  </a:tr>
                  <a:tr h="554166">
                    <a:tc>
                      <a:txBody>
                        <a:bodyPr/>
                        <a:lstStyle/>
                        <a:p>
                          <a:pPr indent="127000" algn="ctr">
                            <a:lnSpc>
                              <a:spcPct val="150000"/>
                            </a:lnSpc>
                          </a:pPr>
                          <a:r>
                            <a:rPr lang="en-US" sz="1800" kern="100">
                              <a:effectLst/>
                              <a:latin typeface="+mj-ea"/>
                              <a:ea typeface="+mj-ea"/>
                            </a:rPr>
                            <a:t>29</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e>
                                </m:d>
                                <m:r>
                                  <a:rPr lang="en-US" sz="1800" kern="100">
                                    <a:effectLst/>
                                    <a:latin typeface="Cambria Math" panose="02040503050406030204" pitchFamily="18" charset="0"/>
                                    <a:ea typeface="+mj-ea"/>
                                  </a:rPr>
                                  <m:t>= </m:t>
                                </m:r>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𝛿</m:t>
                                </m:r>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1</m:t>
                                        </m:r>
                                      </m:sub>
                                    </m:sSub>
                                  </m:e>
                                </m:d>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𝑅</m:t>
                                    </m:r>
                                  </m:e>
                                  <m:sub>
                                    <m:r>
                                      <a:rPr lang="en-US" sz="1800" kern="100">
                                        <a:effectLst/>
                                        <a:latin typeface="Cambria Math" panose="02040503050406030204" pitchFamily="18" charset="0"/>
                                        <a:ea typeface="+mj-ea"/>
                                      </a:rPr>
                                      <m:t>2</m:t>
                                    </m:r>
                                  </m:sub>
                                </m:sSub>
                              </m:oMath>
                            </m:oMathPara>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033442925"/>
                      </a:ext>
                    </a:extLst>
                  </a:tr>
                  <a:tr h="508586">
                    <a:tc>
                      <a:txBody>
                        <a:bodyPr/>
                        <a:lstStyle/>
                        <a:p>
                          <a:pPr indent="127000" algn="ctr">
                            <a:lnSpc>
                              <a:spcPct val="150000"/>
                            </a:lnSpc>
                          </a:pPr>
                          <a:r>
                            <a:rPr lang="en-US" sz="1800" kern="100">
                              <a:effectLst/>
                              <a:latin typeface="+mj-ea"/>
                              <a:ea typeface="+mj-ea"/>
                            </a:rPr>
                            <a:t>30</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zh-CN" sz="1800" kern="100" dirty="0">
                              <a:effectLst/>
                              <a:latin typeface="+mj-ea"/>
                              <a:ea typeface="+mj-ea"/>
                            </a:rPr>
                            <a:t>当聚集函数</a:t>
                          </a:r>
                          <a:r>
                            <a:rPr lang="en-US" altLang="zh-CN" sz="1800" kern="100" dirty="0">
                              <a:effectLst/>
                              <a:latin typeface="+mj-ea"/>
                              <a:ea typeface="+mj-ea"/>
                            </a:rPr>
                            <a:t>C</a:t>
                          </a:r>
                          <a:r>
                            <a:rPr lang="zh-CN" sz="1800" kern="100" dirty="0">
                              <a:effectLst/>
                              <a:latin typeface="+mj-ea"/>
                              <a:ea typeface="+mj-ea"/>
                            </a:rPr>
                            <a:t>是取最小值或取最大值时，</a:t>
                          </a:r>
                          <a14:m>
                            <m:oMath xmlns:m="http://schemas.openxmlformats.org/officeDocument/2006/math">
                              <m:r>
                                <a:rPr lang="en-US" sz="1800" kern="100">
                                  <a:effectLst/>
                                  <a:latin typeface="Cambria Math" panose="02040503050406030204" pitchFamily="18" charset="0"/>
                                  <a:ea typeface="+mj-ea"/>
                                </a:rPr>
                                <m:t>𝛿</m:t>
                              </m:r>
                              <m:r>
                                <a:rPr lang="en-US" sz="1800" kern="100">
                                  <a:effectLst/>
                                  <a:latin typeface="Cambria Math" panose="02040503050406030204" pitchFamily="18" charset="0"/>
                                  <a:ea typeface="+mj-ea"/>
                                </a:rPr>
                                <m:t>(</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𝒢</m:t>
                                  </m:r>
                                </m:e>
                                <m:sub>
                                  <m:r>
                                    <a:rPr lang="en-US" sz="1800" kern="100">
                                      <a:effectLst/>
                                      <a:latin typeface="Cambria Math" panose="02040503050406030204" pitchFamily="18" charset="0"/>
                                      <a:ea typeface="+mj-ea"/>
                                    </a:rPr>
                                    <m:t>𝐶</m:t>
                                  </m:r>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𝒢</m:t>
                                  </m:r>
                                </m:e>
                                <m:sub>
                                  <m:r>
                                    <a:rPr lang="en-US" sz="1800" kern="100">
                                      <a:effectLst/>
                                      <a:latin typeface="Cambria Math" panose="02040503050406030204" pitchFamily="18" charset="0"/>
                                      <a:ea typeface="+mj-ea"/>
                                    </a:rPr>
                                    <m:t>𝐶</m:t>
                                  </m:r>
                                </m:sub>
                              </m:sSub>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oMath>
                          </a14:m>
                          <a:r>
                            <a:rPr lang="en-US" sz="1800" kern="100" dirty="0">
                              <a:effectLst/>
                              <a:latin typeface="+mj-ea"/>
                              <a:ea typeface="+mj-ea"/>
                            </a:rPr>
                            <a:t>)</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945210711"/>
                      </a:ext>
                    </a:extLst>
                  </a:tr>
                  <a:tr h="524118">
                    <a:tc>
                      <a:txBody>
                        <a:bodyPr/>
                        <a:lstStyle/>
                        <a:p>
                          <a:pPr indent="127000" algn="ctr">
                            <a:lnSpc>
                              <a:spcPct val="150000"/>
                            </a:lnSpc>
                          </a:pPr>
                          <a:r>
                            <a:rPr lang="en-US" sz="1800" kern="100">
                              <a:effectLst/>
                              <a:latin typeface="+mj-ea"/>
                              <a:ea typeface="+mj-ea"/>
                            </a:rPr>
                            <a:t>31</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14:m>
                            <m:oMath xmlns:m="http://schemas.openxmlformats.org/officeDocument/2006/math">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𝒢</m:t>
                                  </m:r>
                                </m:e>
                                <m:sub>
                                  <m:r>
                                    <a:rPr lang="en-US" sz="1800" kern="100">
                                      <a:effectLst/>
                                      <a:latin typeface="Cambria Math" panose="02040503050406030204" pitchFamily="18" charset="0"/>
                                      <a:ea typeface="+mj-ea"/>
                                    </a:rPr>
                                    <m:t>𝐶</m:t>
                                  </m:r>
                                </m:sub>
                              </m:sSub>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 </m:t>
                              </m:r>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𝒢</m:t>
                                  </m:r>
                                </m:e>
                                <m:sub>
                                  <m:r>
                                    <a:rPr lang="en-US" sz="1800" kern="100">
                                      <a:effectLst/>
                                      <a:latin typeface="Cambria Math" panose="02040503050406030204" pitchFamily="18" charset="0"/>
                                      <a:ea typeface="+mj-ea"/>
                                    </a:rPr>
                                    <m:t>𝐶</m:t>
                                  </m:r>
                                </m:sub>
                              </m:sSub>
                              <m:d>
                                <m:dPr>
                                  <m:ctrlPr>
                                    <a:rPr lang="zh-CN" sz="1800" i="1" kern="100">
                                      <a:effectLst/>
                                      <a:latin typeface="Cambria Math" panose="02040503050406030204" pitchFamily="18" charset="0"/>
                                      <a:ea typeface="+mj-ea"/>
                                    </a:rPr>
                                  </m:ctrlPr>
                                </m:dPr>
                                <m:e>
                                  <m:sSub>
                                    <m:sSubPr>
                                      <m:ctrlPr>
                                        <a:rPr lang="zh-CN" sz="1800" i="1" kern="100">
                                          <a:effectLst/>
                                          <a:latin typeface="Cambria Math" panose="02040503050406030204" pitchFamily="18" charset="0"/>
                                          <a:ea typeface="+mj-ea"/>
                                        </a:rPr>
                                      </m:ctrlPr>
                                    </m:sSubPr>
                                    <m:e>
                                      <m:r>
                                        <a:rPr lang="en-US" sz="1800" kern="100">
                                          <a:effectLst/>
                                          <a:latin typeface="Cambria Math" panose="02040503050406030204" pitchFamily="18" charset="0"/>
                                          <a:ea typeface="+mj-ea"/>
                                        </a:rPr>
                                        <m:t>𝛱</m:t>
                                      </m:r>
                                    </m:e>
                                    <m:sub>
                                      <m:r>
                                        <a:rPr lang="en-US" sz="1800" kern="100">
                                          <a:effectLst/>
                                          <a:latin typeface="Cambria Math" panose="02040503050406030204" pitchFamily="18" charset="0"/>
                                          <a:ea typeface="+mj-ea"/>
                                        </a:rPr>
                                        <m:t>𝑆</m:t>
                                      </m:r>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e>
                              </m:d>
                            </m:oMath>
                          </a14:m>
                          <a:r>
                            <a:rPr lang="zh-CN" sz="1800" kern="100" dirty="0">
                              <a:effectLst/>
                              <a:latin typeface="+mj-ea"/>
                              <a:ea typeface="+mj-ea"/>
                            </a:rPr>
                            <a:t>，其中</a:t>
                          </a:r>
                          <a14:m>
                            <m:oMath xmlns:m="http://schemas.openxmlformats.org/officeDocument/2006/math">
                              <m:r>
                                <a:rPr lang="en-US" sz="1800" kern="100">
                                  <a:effectLst/>
                                  <a:latin typeface="Cambria Math" panose="02040503050406030204" pitchFamily="18" charset="0"/>
                                  <a:ea typeface="+mj-ea"/>
                                </a:rPr>
                                <m:t>𝐶</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𝑆</m:t>
                              </m:r>
                            </m:oMath>
                          </a14:m>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56913382"/>
                      </a:ext>
                    </a:extLst>
                  </a:tr>
                </a:tbl>
              </a:graphicData>
            </a:graphic>
          </p:graphicFrame>
        </mc:Choice>
        <mc:Fallback xmlns="">
          <p:graphicFrame>
            <p:nvGraphicFramePr>
              <p:cNvPr id="7" name="表格 6">
                <a:extLst>
                  <a:ext uri="{FF2B5EF4-FFF2-40B4-BE49-F238E27FC236}">
                    <a16:creationId xmlns:a16="http://schemas.microsoft.com/office/drawing/2014/main" id="{3E931817-0615-33DC-6708-430F9DB472A8}"/>
                  </a:ext>
                </a:extLst>
              </p:cNvPr>
              <p:cNvGraphicFramePr>
                <a:graphicFrameLocks noGrp="1"/>
              </p:cNvGraphicFramePr>
              <p:nvPr>
                <p:extLst>
                  <p:ext uri="{D42A27DB-BD31-4B8C-83A1-F6EECF244321}">
                    <p14:modId xmlns:p14="http://schemas.microsoft.com/office/powerpoint/2010/main" val="257479169"/>
                  </p:ext>
                </p:extLst>
              </p:nvPr>
            </p:nvGraphicFramePr>
            <p:xfrm>
              <a:off x="934871" y="1600500"/>
              <a:ext cx="10334314" cy="3065196"/>
            </p:xfrm>
            <a:graphic>
              <a:graphicData uri="http://schemas.openxmlformats.org/drawingml/2006/table">
                <a:tbl>
                  <a:tblPr firstRow="1" firstCol="1" bandRow="1">
                    <a:tableStyleId>{72833802-FEF1-4C79-8D5D-14CF1EAF98D9}</a:tableStyleId>
                  </a:tblPr>
                  <a:tblGrid>
                    <a:gridCol w="1300658">
                      <a:extLst>
                        <a:ext uri="{9D8B030D-6E8A-4147-A177-3AD203B41FA5}">
                          <a16:colId xmlns:a16="http://schemas.microsoft.com/office/drawing/2014/main" val="745489469"/>
                        </a:ext>
                      </a:extLst>
                    </a:gridCol>
                    <a:gridCol w="9033656">
                      <a:extLst>
                        <a:ext uri="{9D8B030D-6E8A-4147-A177-3AD203B41FA5}">
                          <a16:colId xmlns:a16="http://schemas.microsoft.com/office/drawing/2014/main" val="2947008462"/>
                        </a:ext>
                      </a:extLst>
                    </a:gridCol>
                  </a:tblGrid>
                  <a:tr h="436131">
                    <a:tc>
                      <a:txBody>
                        <a:bodyPr/>
                        <a:lstStyle/>
                        <a:p>
                          <a:pPr indent="127000" algn="ctr">
                            <a:lnSpc>
                              <a:spcPct val="150000"/>
                            </a:lnSpc>
                          </a:pPr>
                          <a:r>
                            <a:rPr lang="zh-CN" sz="1800" kern="100" dirty="0">
                              <a:effectLst/>
                              <a:latin typeface="+mj-ea"/>
                              <a:ea typeface="+mj-ea"/>
                            </a:rPr>
                            <a:t>序号</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1800" kern="100" dirty="0">
                              <a:effectLst/>
                              <a:latin typeface="+mj-ea"/>
                              <a:ea typeface="+mj-ea"/>
                            </a:rPr>
                            <a:t>等价转换规则</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294034595"/>
                      </a:ext>
                    </a:extLst>
                  </a:tr>
                  <a:tr h="527034">
                    <a:tc>
                      <a:txBody>
                        <a:bodyPr/>
                        <a:lstStyle/>
                        <a:p>
                          <a:pPr indent="127000" algn="ctr">
                            <a:lnSpc>
                              <a:spcPct val="150000"/>
                            </a:lnSpc>
                          </a:pPr>
                          <a:r>
                            <a:rPr lang="en-US" sz="1800" kern="100" dirty="0">
                              <a:effectLst/>
                              <a:latin typeface="+mj-ea"/>
                              <a:ea typeface="+mj-ea"/>
                            </a:rPr>
                            <a:t>27</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607" t="-83333" r="-140" b="-400000"/>
                          </a:stretch>
                        </a:blipFill>
                      </a:tcPr>
                    </a:tc>
                    <a:extLst>
                      <a:ext uri="{0D108BD9-81ED-4DB2-BD59-A6C34878D82A}">
                        <a16:rowId xmlns:a16="http://schemas.microsoft.com/office/drawing/2014/main" val="3986689286"/>
                      </a:ext>
                    </a:extLst>
                  </a:tr>
                  <a:tr h="515161">
                    <a:tc>
                      <a:txBody>
                        <a:bodyPr/>
                        <a:lstStyle/>
                        <a:p>
                          <a:pPr indent="127000" algn="ctr">
                            <a:lnSpc>
                              <a:spcPct val="150000"/>
                            </a:lnSpc>
                          </a:pPr>
                          <a:r>
                            <a:rPr lang="en-US" sz="1800" kern="100" dirty="0">
                              <a:effectLst/>
                              <a:latin typeface="+mj-ea"/>
                              <a:ea typeface="+mj-ea"/>
                            </a:rPr>
                            <a:t>28</a:t>
                          </a:r>
                          <a:endParaRPr lang="zh-CN" sz="1800" kern="100" dirty="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607" t="-187805" r="-140" b="-309756"/>
                          </a:stretch>
                        </a:blipFill>
                      </a:tcPr>
                    </a:tc>
                    <a:extLst>
                      <a:ext uri="{0D108BD9-81ED-4DB2-BD59-A6C34878D82A}">
                        <a16:rowId xmlns:a16="http://schemas.microsoft.com/office/drawing/2014/main" val="810111683"/>
                      </a:ext>
                    </a:extLst>
                  </a:tr>
                  <a:tr h="554166">
                    <a:tc>
                      <a:txBody>
                        <a:bodyPr/>
                        <a:lstStyle/>
                        <a:p>
                          <a:pPr indent="127000" algn="ctr">
                            <a:lnSpc>
                              <a:spcPct val="150000"/>
                            </a:lnSpc>
                          </a:pPr>
                          <a:r>
                            <a:rPr lang="en-US" sz="1800" kern="100">
                              <a:effectLst/>
                              <a:latin typeface="+mj-ea"/>
                              <a:ea typeface="+mj-ea"/>
                            </a:rPr>
                            <a:t>29</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607" t="-274419" r="-140" b="-195349"/>
                          </a:stretch>
                        </a:blipFill>
                      </a:tcPr>
                    </a:tc>
                    <a:extLst>
                      <a:ext uri="{0D108BD9-81ED-4DB2-BD59-A6C34878D82A}">
                        <a16:rowId xmlns:a16="http://schemas.microsoft.com/office/drawing/2014/main" val="3033442925"/>
                      </a:ext>
                    </a:extLst>
                  </a:tr>
                  <a:tr h="508586">
                    <a:tc>
                      <a:txBody>
                        <a:bodyPr/>
                        <a:lstStyle/>
                        <a:p>
                          <a:pPr indent="127000" algn="ctr">
                            <a:lnSpc>
                              <a:spcPct val="150000"/>
                            </a:lnSpc>
                          </a:pPr>
                          <a:r>
                            <a:rPr lang="en-US" sz="1800" kern="100">
                              <a:effectLst/>
                              <a:latin typeface="+mj-ea"/>
                              <a:ea typeface="+mj-ea"/>
                            </a:rPr>
                            <a:t>30</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607" t="-392683" r="-140" b="-104878"/>
                          </a:stretch>
                        </a:blipFill>
                      </a:tcPr>
                    </a:tc>
                    <a:extLst>
                      <a:ext uri="{0D108BD9-81ED-4DB2-BD59-A6C34878D82A}">
                        <a16:rowId xmlns:a16="http://schemas.microsoft.com/office/drawing/2014/main" val="2945210711"/>
                      </a:ext>
                    </a:extLst>
                  </a:tr>
                  <a:tr h="524118">
                    <a:tc>
                      <a:txBody>
                        <a:bodyPr/>
                        <a:lstStyle/>
                        <a:p>
                          <a:pPr indent="127000" algn="ctr">
                            <a:lnSpc>
                              <a:spcPct val="150000"/>
                            </a:lnSpc>
                          </a:pPr>
                          <a:r>
                            <a:rPr lang="en-US" sz="1800" kern="100">
                              <a:effectLst/>
                              <a:latin typeface="+mj-ea"/>
                              <a:ea typeface="+mj-ea"/>
                            </a:rPr>
                            <a:t>31</a:t>
                          </a:r>
                          <a:endParaRPr lang="zh-CN" sz="1800" kern="100">
                            <a:effectLst/>
                            <a:latin typeface="+mj-ea"/>
                            <a:ea typeface="+mj-ea"/>
                            <a:cs typeface="Times New Roman" panose="02020603050405020304" pitchFamily="18" charset="0"/>
                          </a:endParaRPr>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endParaRPr lang="zh-CN"/>
                        </a:p>
                      </a:txBody>
                      <a:tcPr marL="68580" marR="68580" marT="9525" marB="0">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4607" t="-492683" r="-140" b="-4878"/>
                          </a:stretch>
                        </a:blipFill>
                      </a:tcPr>
                    </a:tc>
                    <a:extLst>
                      <a:ext uri="{0D108BD9-81ED-4DB2-BD59-A6C34878D82A}">
                        <a16:rowId xmlns:a16="http://schemas.microsoft.com/office/drawing/2014/main" val="2456913382"/>
                      </a:ext>
                    </a:extLst>
                  </a:tr>
                </a:tbl>
              </a:graphicData>
            </a:graphic>
          </p:graphicFrame>
        </mc:Fallback>
      </mc:AlternateContent>
    </p:spTree>
    <p:extLst>
      <p:ext uri="{BB962C8B-B14F-4D97-AF65-F5344CB8AC3E}">
        <p14:creationId xmlns:p14="http://schemas.microsoft.com/office/powerpoint/2010/main" val="2526677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1559730" y="2804208"/>
            <a:ext cx="8938285" cy="284924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D09F00F5-58C6-94BE-907C-3A1C6D02E09E}"/>
              </a:ext>
            </a:extLst>
          </p:cNvPr>
          <p:cNvSpPr>
            <a:spLocks noGrp="1"/>
          </p:cNvSpPr>
          <p:nvPr>
            <p:ph type="sldNum" sz="quarter" idx="10"/>
          </p:nvPr>
        </p:nvSpPr>
        <p:spPr/>
        <p:txBody>
          <a:bodyPr/>
          <a:lstStyle/>
          <a:p>
            <a:fld id="{4B0D34C0-35A8-654C-9FBA-7B4E017BD630}" type="slidenum">
              <a:rPr lang="en-US" altLang="zh-CN" smtClean="0"/>
              <a:t>24</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交换律与结合律</a:t>
            </a:r>
          </a:p>
        </p:txBody>
      </p:sp>
      <p:sp>
        <p:nvSpPr>
          <p:cNvPr id="4" name="页脚占位符 3">
            <a:extLst>
              <a:ext uri="{FF2B5EF4-FFF2-40B4-BE49-F238E27FC236}">
                <a16:creationId xmlns:a16="http://schemas.microsoft.com/office/drawing/2014/main" id="{36EC86FE-FC62-B8E1-C30C-53485928F4EE}"/>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79074D8-4799-E8EC-8D06-D1A771EDDED5}"/>
                  </a:ext>
                </a:extLst>
              </p:cNvPr>
              <p:cNvSpPr txBox="1"/>
              <p:nvPr/>
            </p:nvSpPr>
            <p:spPr>
              <a:xfrm>
                <a:off x="1854180" y="1011324"/>
                <a:ext cx="10482513" cy="1422954"/>
              </a:xfrm>
              <a:prstGeom prst="rect">
                <a:avLst/>
              </a:prstGeom>
              <a:noFill/>
            </p:spPr>
            <p:txBody>
              <a:bodyPr wrap="square">
                <a:spAutoFit/>
              </a:bodyPr>
              <a:lstStyle/>
              <a:p>
                <a:pPr marL="342900" lvl="0" indent="-342900" algn="just">
                  <a:lnSpc>
                    <a:spcPct val="150000"/>
                  </a:lnSpc>
                  <a:buFont typeface="Wingdings" panose="05000000000000000000" pitchFamily="2" charset="2"/>
                  <a:buChar char="Ø"/>
                </a:pPr>
                <a:r>
                  <a:rPr kumimoji="1" lang="zh-CN" altLang="en-US" sz="2000" b="1" dirty="0">
                    <a:solidFill>
                      <a:srgbClr val="701988"/>
                    </a:solidFill>
                    <a:latin typeface="+mj-ea"/>
                    <a:ea typeface="+mj-ea"/>
                    <a:cs typeface="Arial"/>
                  </a:rPr>
                  <a:t>交换律：</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oMath>
                </a14:m>
                <a:endParaRPr lang="zh-CN" altLang="zh-CN" sz="2000"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kumimoji="1" lang="zh-CN" altLang="en-US" sz="2000" b="1" dirty="0">
                    <a:solidFill>
                      <a:srgbClr val="701988"/>
                    </a:solidFill>
                    <a:latin typeface="+mj-ea"/>
                    <a:ea typeface="+mj-ea"/>
                    <a:cs typeface="Arial"/>
                  </a:rPr>
                  <a:t>结合律：</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oMath>
                </a14:m>
                <a:endParaRPr lang="en-US" altLang="zh-CN" sz="2000"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kumimoji="1" lang="zh-CN" altLang="en-US" sz="2000" b="1" dirty="0">
                    <a:solidFill>
                      <a:srgbClr val="701988"/>
                    </a:solidFill>
                    <a:latin typeface="+mj-ea"/>
                    <a:ea typeface="+mj-ea"/>
                    <a:cs typeface="Arial"/>
                  </a:rPr>
                  <a:t>也适用于笛卡尔积、并运算、交运算</a:t>
                </a:r>
                <a:endParaRPr kumimoji="1" lang="zh-CN" altLang="zh-CN" sz="2000" b="1" dirty="0">
                  <a:solidFill>
                    <a:srgbClr val="701988"/>
                  </a:solidFill>
                  <a:latin typeface="+mj-ea"/>
                  <a:ea typeface="+mj-ea"/>
                  <a:cs typeface="Arial"/>
                </a:endParaRPr>
              </a:p>
            </p:txBody>
          </p:sp>
        </mc:Choice>
        <mc:Fallback xmlns="">
          <p:sp>
            <p:nvSpPr>
              <p:cNvPr id="5" name="文本框 4">
                <a:extLst>
                  <a:ext uri="{FF2B5EF4-FFF2-40B4-BE49-F238E27FC236}">
                    <a16:creationId xmlns:a16="http://schemas.microsoft.com/office/drawing/2014/main" xmlns:a14="http://schemas.microsoft.com/office/drawing/2010/main" xmlns="" id="{279074D8-4799-E8EC-8D06-D1A771EDDED5}"/>
                  </a:ext>
                </a:extLst>
              </p:cNvPr>
              <p:cNvSpPr txBox="1">
                <a:spLocks noRot="1" noChangeAspect="1" noMove="1" noResize="1" noEditPoints="1" noAdjustHandles="1" noChangeArrowheads="1" noChangeShapeType="1" noTextEdit="1"/>
              </p:cNvSpPr>
              <p:nvPr/>
            </p:nvSpPr>
            <p:spPr>
              <a:xfrm>
                <a:off x="1854180" y="1011324"/>
                <a:ext cx="10482513" cy="1422954"/>
              </a:xfrm>
              <a:prstGeom prst="rect">
                <a:avLst/>
              </a:prstGeom>
              <a:blipFill rotWithShape="0">
                <a:blip r:embed="rId3"/>
                <a:stretch>
                  <a:fillRect l="-523" b="-6867"/>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4EAAF4F-E863-48DA-97AF-02C5BC9E303F}"/>
              </a:ext>
            </a:extLst>
          </p:cNvPr>
          <p:cNvPicPr>
            <a:picLocks noChangeAspect="1"/>
          </p:cNvPicPr>
          <p:nvPr/>
        </p:nvPicPr>
        <p:blipFill>
          <a:blip r:embed="rId4"/>
          <a:stretch>
            <a:fillRect/>
          </a:stretch>
        </p:blipFill>
        <p:spPr>
          <a:xfrm>
            <a:off x="2328961" y="2856960"/>
            <a:ext cx="7316197" cy="2712152"/>
          </a:xfrm>
          <a:prstGeom prst="rect">
            <a:avLst/>
          </a:prstGeom>
        </p:spPr>
      </p:pic>
    </p:spTree>
    <p:extLst>
      <p:ext uri="{BB962C8B-B14F-4D97-AF65-F5344CB8AC3E}">
        <p14:creationId xmlns:p14="http://schemas.microsoft.com/office/powerpoint/2010/main" val="3793599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0FF52922-3D42-4412-80D4-E8608AC407DF}"/>
              </a:ext>
            </a:extLst>
          </p:cNvPr>
          <p:cNvSpPr/>
          <p:nvPr/>
        </p:nvSpPr>
        <p:spPr>
          <a:xfrm>
            <a:off x="6557468" y="3827905"/>
            <a:ext cx="4339908" cy="224203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9" name="Shape18">
            <a:extLst>
              <a:ext uri="{FF2B5EF4-FFF2-40B4-BE49-F238E27FC236}">
                <a16:creationId xmlns:a16="http://schemas.microsoft.com/office/drawing/2014/main" id="{0FF52922-3D42-4412-80D4-E8608AC407DF}"/>
              </a:ext>
            </a:extLst>
          </p:cNvPr>
          <p:cNvSpPr/>
          <p:nvPr/>
        </p:nvSpPr>
        <p:spPr>
          <a:xfrm>
            <a:off x="6557468" y="1186960"/>
            <a:ext cx="4339908" cy="224203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8" name="Shape18">
            <a:extLst>
              <a:ext uri="{FF2B5EF4-FFF2-40B4-BE49-F238E27FC236}">
                <a16:creationId xmlns:a16="http://schemas.microsoft.com/office/drawing/2014/main" id="{0FF52922-3D42-4412-80D4-E8608AC407DF}"/>
              </a:ext>
            </a:extLst>
          </p:cNvPr>
          <p:cNvSpPr/>
          <p:nvPr/>
        </p:nvSpPr>
        <p:spPr>
          <a:xfrm>
            <a:off x="1279144" y="3827907"/>
            <a:ext cx="4339908" cy="224203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7" name="Shape18">
            <a:extLst>
              <a:ext uri="{FF2B5EF4-FFF2-40B4-BE49-F238E27FC236}">
                <a16:creationId xmlns:a16="http://schemas.microsoft.com/office/drawing/2014/main" id="{0FF52922-3D42-4412-80D4-E8608AC407DF}"/>
              </a:ext>
            </a:extLst>
          </p:cNvPr>
          <p:cNvSpPr/>
          <p:nvPr/>
        </p:nvSpPr>
        <p:spPr>
          <a:xfrm>
            <a:off x="1279144" y="1186961"/>
            <a:ext cx="4339908" cy="224203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5" name="灯片编号占位符 4">
            <a:extLst>
              <a:ext uri="{FF2B5EF4-FFF2-40B4-BE49-F238E27FC236}">
                <a16:creationId xmlns:a16="http://schemas.microsoft.com/office/drawing/2014/main" id="{7C37B39A-FFE1-00DC-2A40-43F4C40161F7}"/>
              </a:ext>
            </a:extLst>
          </p:cNvPr>
          <p:cNvSpPr>
            <a:spLocks noGrp="1"/>
          </p:cNvSpPr>
          <p:nvPr>
            <p:ph type="sldNum" sz="quarter" idx="10"/>
          </p:nvPr>
        </p:nvSpPr>
        <p:spPr/>
        <p:txBody>
          <a:bodyPr/>
          <a:lstStyle/>
          <a:p>
            <a:fld id="{4B0D34C0-35A8-654C-9FBA-7B4E017BD630}" type="slidenum">
              <a:rPr lang="en-US" altLang="zh-CN" smtClean="0"/>
              <a:t>25</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交换律与结合律</a:t>
            </a:r>
          </a:p>
        </p:txBody>
      </p:sp>
      <p:sp>
        <p:nvSpPr>
          <p:cNvPr id="6" name="页脚占位符 5">
            <a:extLst>
              <a:ext uri="{FF2B5EF4-FFF2-40B4-BE49-F238E27FC236}">
                <a16:creationId xmlns:a16="http://schemas.microsoft.com/office/drawing/2014/main" id="{19EDD0EB-2DAD-69E7-6514-250ED7C2D07A}"/>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3244B002-E6FA-884F-A662-3FDF088F5310}"/>
                  </a:ext>
                </a:extLst>
              </p:cNvPr>
              <p:cNvSpPr/>
              <p:nvPr/>
            </p:nvSpPr>
            <p:spPr>
              <a:xfrm>
                <a:off x="1393499" y="1476478"/>
                <a:ext cx="4980912" cy="4247317"/>
              </a:xfrm>
              <a:prstGeom prst="rect">
                <a:avLst/>
              </a:prstGeom>
            </p:spPr>
            <p:txBody>
              <a:bodyPr wrap="square">
                <a:spAutoFit/>
              </a:bodyPr>
              <a:lstStyle/>
              <a:p>
                <a:pPr indent="266700" algn="just">
                  <a:lnSpc>
                    <a:spcPct val="150000"/>
                  </a:lnSpc>
                </a:pPr>
                <a:r>
                  <a:rPr lang="zh-CN" altLang="zh-CN" sz="2000" kern="100" dirty="0">
                    <a:latin typeface="+mj-ea"/>
                    <a:ea typeface="+mj-ea"/>
                    <a:cs typeface="Times New Roman" panose="02020603050405020304" pitchFamily="18" charset="0"/>
                  </a:rPr>
                  <a:t>对于</a:t>
                </a:r>
                <a:r>
                  <a:rPr lang="zh-CN" altLang="zh-CN" sz="2000" b="1" kern="100" dirty="0">
                    <a:solidFill>
                      <a:srgbClr val="701988"/>
                    </a:solidFill>
                    <a:latin typeface="+mj-ea"/>
                    <a:ea typeface="+mj-ea"/>
                    <a:cs typeface="Times New Roman" panose="02020603050405020304" pitchFamily="18" charset="0"/>
                  </a:rPr>
                  <a:t>笛卡尔积</a:t>
                </a:r>
                <a:r>
                  <a:rPr lang="zh-CN" altLang="zh-CN" sz="2000" kern="100" dirty="0">
                    <a:latin typeface="+mj-ea"/>
                    <a:ea typeface="+mj-ea"/>
                    <a:cs typeface="Times New Roman" panose="02020603050405020304" pitchFamily="18" charset="0"/>
                  </a:rPr>
                  <a:t>运算：</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oMath>
                </a14:m>
                <a:endParaRPr lang="zh-CN" altLang="zh-CN" sz="2000"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oMath>
                </a14:m>
                <a:endParaRPr lang="en-US" altLang="zh-CN" sz="2000" kern="100" dirty="0">
                  <a:latin typeface="+mj-ea"/>
                  <a:ea typeface="+mj-ea"/>
                  <a:cs typeface="Times New Roman" panose="02020603050405020304" pitchFamily="18" charset="0"/>
                </a:endParaRPr>
              </a:p>
              <a:p>
                <a:pPr lvl="0" algn="just">
                  <a:lnSpc>
                    <a:spcPct val="150000"/>
                  </a:lnSpc>
                </a:pPr>
                <a:endParaRPr lang="zh-CN" altLang="zh-CN" sz="2000" kern="100" dirty="0">
                  <a:latin typeface="+mj-ea"/>
                  <a:ea typeface="+mj-ea"/>
                  <a:cs typeface="Times New Roman" panose="02020603050405020304" pitchFamily="18" charset="0"/>
                </a:endParaRPr>
              </a:p>
              <a:p>
                <a:pPr marL="139700" indent="127000" algn="just">
                  <a:lnSpc>
                    <a:spcPct val="150000"/>
                  </a:lnSpc>
                </a:pPr>
                <a:endParaRPr lang="en-US" altLang="zh-CN" sz="2000" kern="100" dirty="0">
                  <a:latin typeface="+mj-ea"/>
                  <a:ea typeface="+mj-ea"/>
                  <a:cs typeface="Times New Roman" panose="02020603050405020304" pitchFamily="18" charset="0"/>
                </a:endParaRPr>
              </a:p>
              <a:p>
                <a:pPr marL="139700" indent="127000" algn="just">
                  <a:lnSpc>
                    <a:spcPct val="150000"/>
                  </a:lnSpc>
                </a:pPr>
                <a:endParaRPr lang="en-US" altLang="zh-CN" sz="2000" kern="100" dirty="0">
                  <a:latin typeface="+mj-ea"/>
                  <a:ea typeface="+mj-ea"/>
                  <a:cs typeface="Times New Roman" panose="02020603050405020304" pitchFamily="18" charset="0"/>
                </a:endParaRPr>
              </a:p>
              <a:p>
                <a:pPr marL="139700" indent="127000" algn="just">
                  <a:lnSpc>
                    <a:spcPct val="150000"/>
                  </a:lnSpc>
                </a:pPr>
                <a:r>
                  <a:rPr lang="zh-CN" altLang="zh-CN" sz="2000" kern="100" dirty="0">
                    <a:latin typeface="+mj-ea"/>
                    <a:ea typeface="+mj-ea"/>
                    <a:cs typeface="Times New Roman" panose="02020603050405020304" pitchFamily="18" charset="0"/>
                  </a:rPr>
                  <a:t>对于</a:t>
                </a:r>
                <a:r>
                  <a:rPr lang="zh-CN" altLang="zh-CN" sz="2000" b="1" kern="100" dirty="0">
                    <a:solidFill>
                      <a:srgbClr val="701988"/>
                    </a:solidFill>
                    <a:latin typeface="+mj-ea"/>
                    <a:ea typeface="+mj-ea"/>
                    <a:cs typeface="Times New Roman" panose="02020603050405020304" pitchFamily="18" charset="0"/>
                  </a:rPr>
                  <a:t>连接</a:t>
                </a:r>
                <a:r>
                  <a:rPr lang="zh-CN" altLang="zh-CN" sz="2000" kern="100" dirty="0">
                    <a:latin typeface="+mj-ea"/>
                    <a:ea typeface="+mj-ea"/>
                    <a:cs typeface="Times New Roman" panose="02020603050405020304" pitchFamily="18" charset="0"/>
                  </a:rPr>
                  <a:t>运算：</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oMath>
                </a14:m>
                <a:endParaRPr lang="zh-CN" altLang="zh-CN" sz="2000"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oMath>
                </a14:m>
                <a:endParaRPr lang="zh-CN" altLang="zh-CN" sz="2000" kern="100" dirty="0">
                  <a:latin typeface="+mj-ea"/>
                  <a:ea typeface="+mj-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xmlns:a14="http://schemas.microsoft.com/office/drawing/2010/main" xmlns="" id="{3244B002-E6FA-884F-A662-3FDF088F5310}"/>
                  </a:ext>
                </a:extLst>
              </p:cNvPr>
              <p:cNvSpPr>
                <a:spLocks noRot="1" noChangeAspect="1" noMove="1" noResize="1" noEditPoints="1" noAdjustHandles="1" noChangeArrowheads="1" noChangeShapeType="1" noTextEdit="1"/>
              </p:cNvSpPr>
              <p:nvPr/>
            </p:nvSpPr>
            <p:spPr>
              <a:xfrm>
                <a:off x="1393499" y="1476478"/>
                <a:ext cx="4980912" cy="4247317"/>
              </a:xfrm>
              <a:prstGeom prst="rect">
                <a:avLst/>
              </a:prstGeom>
              <a:blipFill rotWithShape="0">
                <a:blip r:embed="rId3"/>
                <a:stretch>
                  <a:fillRect l="-1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9AEC215-3AD1-E7A4-98CF-A6E183985C3F}"/>
                  </a:ext>
                </a:extLst>
              </p:cNvPr>
              <p:cNvSpPr/>
              <p:nvPr/>
            </p:nvSpPr>
            <p:spPr>
              <a:xfrm>
                <a:off x="6636538" y="1491411"/>
                <a:ext cx="6096000" cy="4247317"/>
              </a:xfrm>
              <a:prstGeom prst="rect">
                <a:avLst/>
              </a:prstGeom>
            </p:spPr>
            <p:txBody>
              <a:bodyPr>
                <a:spAutoFit/>
              </a:bodyPr>
              <a:lstStyle/>
              <a:p>
                <a:pPr marL="139700" indent="127000" algn="just">
                  <a:lnSpc>
                    <a:spcPct val="150000"/>
                  </a:lnSpc>
                </a:pPr>
                <a:r>
                  <a:rPr lang="zh-CN" altLang="zh-CN" sz="2000" kern="100" dirty="0">
                    <a:latin typeface="+mj-ea"/>
                    <a:ea typeface="+mj-ea"/>
                    <a:cs typeface="Times New Roman" panose="02020603050405020304" pitchFamily="18" charset="0"/>
                  </a:rPr>
                  <a:t>对于</a:t>
                </a:r>
                <a:r>
                  <a:rPr lang="zh-CN" altLang="zh-CN" sz="2000" b="1" kern="100" dirty="0">
                    <a:solidFill>
                      <a:srgbClr val="701988"/>
                    </a:solidFill>
                    <a:latin typeface="+mj-ea"/>
                    <a:ea typeface="+mj-ea"/>
                    <a:cs typeface="Times New Roman" panose="02020603050405020304" pitchFamily="18" charset="0"/>
                  </a:rPr>
                  <a:t>并</a:t>
                </a:r>
                <a:r>
                  <a:rPr lang="zh-CN" altLang="zh-CN" sz="2000" kern="100" dirty="0">
                    <a:latin typeface="+mj-ea"/>
                    <a:ea typeface="+mj-ea"/>
                    <a:cs typeface="Times New Roman" panose="02020603050405020304" pitchFamily="18" charset="0"/>
                  </a:rPr>
                  <a:t>运算：</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oMath>
                </a14:m>
                <a:endParaRPr lang="zh-CN" altLang="zh-CN" sz="2000"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oMath>
                </a14:m>
                <a:endParaRPr lang="zh-CN" altLang="zh-CN" sz="2000" kern="100" dirty="0">
                  <a:latin typeface="+mj-ea"/>
                  <a:ea typeface="+mj-ea"/>
                  <a:cs typeface="Times New Roman" panose="02020603050405020304" pitchFamily="18" charset="0"/>
                </a:endParaRPr>
              </a:p>
              <a:p>
                <a:pPr marL="482600" indent="-342900" algn="just">
                  <a:lnSpc>
                    <a:spcPct val="150000"/>
                  </a:lnSpc>
                  <a:buFont typeface="Wingdings" panose="05000000000000000000" pitchFamily="2" charset="2"/>
                  <a:buChar char="Ø"/>
                </a:pPr>
                <a:endParaRPr lang="en-US" altLang="zh-CN" sz="2000" kern="100" dirty="0">
                  <a:latin typeface="+mj-ea"/>
                  <a:ea typeface="+mj-ea"/>
                  <a:cs typeface="Times New Roman" panose="02020603050405020304" pitchFamily="18" charset="0"/>
                </a:endParaRPr>
              </a:p>
              <a:p>
                <a:pPr marL="482600" indent="-342900" algn="just">
                  <a:lnSpc>
                    <a:spcPct val="150000"/>
                  </a:lnSpc>
                  <a:buFont typeface="Wingdings" panose="05000000000000000000" pitchFamily="2" charset="2"/>
                  <a:buChar char="Ø"/>
                </a:pPr>
                <a:endParaRPr lang="en-US" altLang="zh-CN" sz="2000" kern="100" dirty="0">
                  <a:latin typeface="+mj-ea"/>
                  <a:ea typeface="+mj-ea"/>
                  <a:cs typeface="Times New Roman" panose="02020603050405020304" pitchFamily="18" charset="0"/>
                </a:endParaRPr>
              </a:p>
              <a:p>
                <a:pPr marL="482600" indent="-342900" algn="just">
                  <a:lnSpc>
                    <a:spcPct val="150000"/>
                  </a:lnSpc>
                  <a:buFont typeface="Wingdings" panose="05000000000000000000" pitchFamily="2" charset="2"/>
                  <a:buChar char="Ø"/>
                </a:pPr>
                <a:endParaRPr lang="en-US" altLang="zh-CN" sz="2000" kern="100" dirty="0">
                  <a:latin typeface="+mj-ea"/>
                  <a:ea typeface="+mj-ea"/>
                  <a:cs typeface="Times New Roman" panose="02020603050405020304" pitchFamily="18" charset="0"/>
                </a:endParaRPr>
              </a:p>
              <a:p>
                <a:pPr marL="482600" indent="-342900" algn="just">
                  <a:lnSpc>
                    <a:spcPct val="150000"/>
                  </a:lnSpc>
                  <a:buFont typeface="Wingdings" panose="05000000000000000000" pitchFamily="2" charset="2"/>
                  <a:buChar char="Ø"/>
                </a:pPr>
                <a:r>
                  <a:rPr lang="zh-CN" altLang="zh-CN" sz="2000" kern="100" dirty="0">
                    <a:latin typeface="+mj-ea"/>
                    <a:ea typeface="+mj-ea"/>
                    <a:cs typeface="Times New Roman" panose="02020603050405020304" pitchFamily="18" charset="0"/>
                  </a:rPr>
                  <a:t>对于</a:t>
                </a:r>
                <a:r>
                  <a:rPr lang="zh-CN" altLang="zh-CN" sz="2000" b="1" kern="100" dirty="0">
                    <a:solidFill>
                      <a:srgbClr val="701988"/>
                    </a:solidFill>
                    <a:latin typeface="+mj-ea"/>
                    <a:ea typeface="+mj-ea"/>
                    <a:cs typeface="Times New Roman" panose="02020603050405020304" pitchFamily="18" charset="0"/>
                  </a:rPr>
                  <a:t>交</a:t>
                </a:r>
                <a:r>
                  <a:rPr lang="zh-CN" altLang="zh-CN" sz="2000" kern="100" dirty="0">
                    <a:latin typeface="+mj-ea"/>
                    <a:ea typeface="+mj-ea"/>
                    <a:cs typeface="Times New Roman" panose="02020603050405020304" pitchFamily="18" charset="0"/>
                  </a:rPr>
                  <a:t>运算：</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oMath>
                </a14:m>
                <a:endParaRPr lang="zh-CN" altLang="zh-CN" sz="2000"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2</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𝑅</m:t>
                        </m:r>
                      </m:e>
                      <m:sub>
                        <m:r>
                          <a:rPr lang="en-US" altLang="zh-CN" sz="2000" i="1" kern="100">
                            <a:latin typeface="Cambria Math" panose="02040503050406030204" pitchFamily="18" charset="0"/>
                            <a:ea typeface="+mj-ea"/>
                            <a:cs typeface="Times New Roman" panose="02020603050405020304" pitchFamily="18" charset="0"/>
                          </a:rPr>
                          <m:t>3</m:t>
                        </m:r>
                      </m:sub>
                    </m:sSub>
                    <m:r>
                      <a:rPr lang="en-US" altLang="zh-CN" sz="2000" i="1" kern="100">
                        <a:latin typeface="Cambria Math" panose="02040503050406030204" pitchFamily="18" charset="0"/>
                        <a:ea typeface="+mj-ea"/>
                        <a:cs typeface="Times New Roman" panose="02020603050405020304" pitchFamily="18" charset="0"/>
                      </a:rPr>
                      <m:t>)</m:t>
                    </m:r>
                  </m:oMath>
                </a14:m>
                <a:endParaRPr lang="zh-CN" altLang="zh-CN" sz="2000" kern="100" dirty="0">
                  <a:latin typeface="+mj-ea"/>
                  <a:ea typeface="+mj-ea"/>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xmlns:a14="http://schemas.microsoft.com/office/drawing/2010/main" xmlns="" id="{89AEC215-3AD1-E7A4-98CF-A6E183985C3F}"/>
                  </a:ext>
                </a:extLst>
              </p:cNvPr>
              <p:cNvSpPr>
                <a:spLocks noRot="1" noChangeAspect="1" noMove="1" noResize="1" noEditPoints="1" noAdjustHandles="1" noChangeArrowheads="1" noChangeShapeType="1" noTextEdit="1"/>
              </p:cNvSpPr>
              <p:nvPr/>
            </p:nvSpPr>
            <p:spPr>
              <a:xfrm>
                <a:off x="6636538" y="1491411"/>
                <a:ext cx="6096000" cy="4247317"/>
              </a:xfrm>
              <a:prstGeom prst="rect">
                <a:avLst/>
              </a:prstGeom>
              <a:blipFill rotWithShape="0">
                <a:blip r:embed="rId4"/>
                <a:stretch>
                  <a:fillRect l="-9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163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2549769" y="2596560"/>
            <a:ext cx="6849208" cy="344340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pic>
        <p:nvPicPr>
          <p:cNvPr id="6" name="图片 5">
            <a:extLst>
              <a:ext uri="{FF2B5EF4-FFF2-40B4-BE49-F238E27FC236}">
                <a16:creationId xmlns:a16="http://schemas.microsoft.com/office/drawing/2014/main" id="{BA38DCA2-8D65-DE6E-F546-1B95DB1DAA05}"/>
              </a:ext>
            </a:extLst>
          </p:cNvPr>
          <p:cNvPicPr>
            <a:picLocks noChangeAspect="1"/>
          </p:cNvPicPr>
          <p:nvPr/>
        </p:nvPicPr>
        <p:blipFill>
          <a:blip r:embed="rId3"/>
          <a:srcRect/>
          <a:stretch/>
        </p:blipFill>
        <p:spPr>
          <a:xfrm>
            <a:off x="3000246" y="2875085"/>
            <a:ext cx="5937123" cy="2950678"/>
          </a:xfrm>
          <a:prstGeom prst="rect">
            <a:avLst/>
          </a:prstGeom>
        </p:spPr>
      </p:pic>
      <p:sp>
        <p:nvSpPr>
          <p:cNvPr id="5" name="灯片编号占位符 4">
            <a:extLst>
              <a:ext uri="{FF2B5EF4-FFF2-40B4-BE49-F238E27FC236}">
                <a16:creationId xmlns:a16="http://schemas.microsoft.com/office/drawing/2014/main" id="{64AAEC92-FD47-B412-C4B2-B6F1733EFC3B}"/>
              </a:ext>
            </a:extLst>
          </p:cNvPr>
          <p:cNvSpPr>
            <a:spLocks noGrp="1"/>
          </p:cNvSpPr>
          <p:nvPr>
            <p:ph type="sldNum" sz="quarter" idx="10"/>
          </p:nvPr>
        </p:nvSpPr>
        <p:spPr/>
        <p:txBody>
          <a:bodyPr/>
          <a:lstStyle/>
          <a:p>
            <a:fld id="{4B0D34C0-35A8-654C-9FBA-7B4E017BD630}" type="slidenum">
              <a:rPr lang="en-US" altLang="zh-CN" smtClean="0"/>
              <a:t>26</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选择下推</a:t>
            </a:r>
          </a:p>
        </p:txBody>
      </p:sp>
      <p:sp>
        <p:nvSpPr>
          <p:cNvPr id="4" name="页脚占位符 3">
            <a:extLst>
              <a:ext uri="{FF2B5EF4-FFF2-40B4-BE49-F238E27FC236}">
                <a16:creationId xmlns:a16="http://schemas.microsoft.com/office/drawing/2014/main" id="{5CC567FF-A6C9-0D34-79CE-F589F665ECD3}"/>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3" name="矩形 2">
            <a:extLst>
              <a:ext uri="{FF2B5EF4-FFF2-40B4-BE49-F238E27FC236}">
                <a16:creationId xmlns:a16="http://schemas.microsoft.com/office/drawing/2014/main" id="{6072DA63-0309-D2C5-0777-4ABBDE68CABF}"/>
              </a:ext>
            </a:extLst>
          </p:cNvPr>
          <p:cNvSpPr/>
          <p:nvPr/>
        </p:nvSpPr>
        <p:spPr>
          <a:xfrm>
            <a:off x="1008000" y="1126800"/>
            <a:ext cx="11017251" cy="961289"/>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000" dirty="0">
                <a:latin typeface="+mj-ea"/>
                <a:ea typeface="+mj-ea"/>
              </a:rPr>
              <a:t>将选择运算尽可能</a:t>
            </a:r>
            <a:r>
              <a:rPr lang="zh-CN" altLang="en-US" sz="2000" b="1" dirty="0">
                <a:solidFill>
                  <a:srgbClr val="701988"/>
                </a:solidFill>
                <a:latin typeface="+mj-ea"/>
                <a:ea typeface="+mj-ea"/>
              </a:rPr>
              <a:t>下推</a:t>
            </a:r>
            <a:r>
              <a:rPr lang="zh-CN" altLang="en-US" sz="2000" dirty="0">
                <a:latin typeface="+mj-ea"/>
                <a:ea typeface="+mj-ea"/>
              </a:rPr>
              <a:t>，一般可以对中间关系的大小进行缩减，从而减少后续磁盘读取以及运算次数，由此达到加速查询执行的目的。</a:t>
            </a:r>
          </a:p>
        </p:txBody>
      </p:sp>
    </p:spTree>
    <p:extLst>
      <p:ext uri="{BB962C8B-B14F-4D97-AF65-F5344CB8AC3E}">
        <p14:creationId xmlns:p14="http://schemas.microsoft.com/office/powerpoint/2010/main" val="849332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421651B-3011-D654-2C07-0B227BB2DE9B}"/>
              </a:ext>
            </a:extLst>
          </p:cNvPr>
          <p:cNvSpPr>
            <a:spLocks noGrp="1"/>
          </p:cNvSpPr>
          <p:nvPr>
            <p:ph type="sldNum" sz="quarter" idx="10"/>
          </p:nvPr>
        </p:nvSpPr>
        <p:spPr/>
        <p:txBody>
          <a:bodyPr/>
          <a:lstStyle/>
          <a:p>
            <a:fld id="{4B0D34C0-35A8-654C-9FBA-7B4E017BD630}" type="slidenum">
              <a:rPr lang="en-US" altLang="zh-CN" smtClean="0"/>
              <a:t>27</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选择下推</a:t>
            </a:r>
            <a:r>
              <a:rPr lang="zh-CN" altLang="en-US" dirty="0"/>
              <a:t>示例（</a:t>
            </a:r>
            <a:r>
              <a:rPr lang="en-US" altLang="zh-CN" dirty="0"/>
              <a:t>1</a:t>
            </a:r>
            <a:r>
              <a:rPr lang="zh-CN" altLang="en-US" dirty="0"/>
              <a:t>）</a:t>
            </a:r>
            <a:endParaRPr kumimoji="1" lang="zh-CN" altLang="en-US" dirty="0"/>
          </a:p>
        </p:txBody>
      </p:sp>
      <p:sp>
        <p:nvSpPr>
          <p:cNvPr id="8" name="页脚占位符 7">
            <a:extLst>
              <a:ext uri="{FF2B5EF4-FFF2-40B4-BE49-F238E27FC236}">
                <a16:creationId xmlns:a16="http://schemas.microsoft.com/office/drawing/2014/main" id="{4F8A6813-87EE-A637-E232-9C6D796F5CD4}"/>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pic>
        <p:nvPicPr>
          <p:cNvPr id="5" name="图片 4">
            <a:extLst>
              <a:ext uri="{FF2B5EF4-FFF2-40B4-BE49-F238E27FC236}">
                <a16:creationId xmlns:a16="http://schemas.microsoft.com/office/drawing/2014/main" id="{06D8A47B-4152-CFBD-FE57-2C493A7B3EC4}"/>
              </a:ext>
            </a:extLst>
          </p:cNvPr>
          <p:cNvPicPr>
            <a:picLocks noChangeAspect="1"/>
          </p:cNvPicPr>
          <p:nvPr/>
        </p:nvPicPr>
        <p:blipFill>
          <a:blip r:embed="rId3"/>
          <a:stretch>
            <a:fillRect/>
          </a:stretch>
        </p:blipFill>
        <p:spPr>
          <a:xfrm>
            <a:off x="226959" y="3314911"/>
            <a:ext cx="2927841" cy="1298694"/>
          </a:xfrm>
          <a:prstGeom prst="rect">
            <a:avLst/>
          </a:prstGeom>
        </p:spPr>
      </p:pic>
      <p:sp>
        <p:nvSpPr>
          <p:cNvPr id="7" name="文本框 6">
            <a:extLst>
              <a:ext uri="{FF2B5EF4-FFF2-40B4-BE49-F238E27FC236}">
                <a16:creationId xmlns:a16="http://schemas.microsoft.com/office/drawing/2014/main" id="{F29B1151-D2BF-55E1-90C9-E06C0F98E253}"/>
              </a:ext>
            </a:extLst>
          </p:cNvPr>
          <p:cNvSpPr txBox="1"/>
          <p:nvPr/>
        </p:nvSpPr>
        <p:spPr>
          <a:xfrm>
            <a:off x="1962122" y="2004994"/>
            <a:ext cx="8650417" cy="961289"/>
          </a:xfrm>
          <a:prstGeom prst="rect">
            <a:avLst/>
          </a:prstGeom>
          <a:noFill/>
        </p:spPr>
        <p:txBody>
          <a:bodyPr wrap="square">
            <a:spAutoFit/>
          </a:bodyPr>
          <a:lstStyle/>
          <a:p>
            <a:pPr marL="342900" indent="-342900">
              <a:lnSpc>
                <a:spcPct val="150000"/>
              </a:lnSpc>
              <a:buFont typeface="Arial" panose="020B0604020202020204" pitchFamily="34" charset="0"/>
              <a:buChar char="•"/>
            </a:pPr>
            <a:r>
              <a:rPr kumimoji="1" lang="zh-CN" altLang="en-US" sz="2000" b="1" dirty="0">
                <a:solidFill>
                  <a:srgbClr val="701988"/>
                </a:solidFill>
                <a:latin typeface="+mj-ea"/>
                <a:ea typeface="+mj-ea"/>
                <a:cs typeface="Arial"/>
              </a:rPr>
              <a:t>学生表 </a:t>
            </a:r>
            <a:r>
              <a:rPr kumimoji="1" lang="en-US" altLang="zh-CN" sz="2000" b="1" dirty="0">
                <a:solidFill>
                  <a:srgbClr val="701988"/>
                </a:solidFill>
                <a:latin typeface="+mj-ea"/>
                <a:ea typeface="+mj-ea"/>
                <a:cs typeface="Arial"/>
              </a:rPr>
              <a:t>Student(</a:t>
            </a:r>
            <a:r>
              <a:rPr kumimoji="1" lang="en-US" altLang="zh-CN" sz="2000" b="1" dirty="0" err="1">
                <a:solidFill>
                  <a:srgbClr val="701988"/>
                </a:solidFill>
                <a:latin typeface="+mj-ea"/>
                <a:ea typeface="+mj-ea"/>
                <a:cs typeface="Arial"/>
              </a:rPr>
              <a:t>Sno</a:t>
            </a:r>
            <a:r>
              <a:rPr kumimoji="1" lang="en-US" altLang="zh-CN" sz="2000" b="1" dirty="0">
                <a:solidFill>
                  <a:srgbClr val="701988"/>
                </a:solidFill>
                <a:latin typeface="+mj-ea"/>
                <a:ea typeface="+mj-ea"/>
                <a:cs typeface="Arial"/>
              </a:rPr>
              <a:t> ,</a:t>
            </a:r>
            <a:r>
              <a:rPr kumimoji="1" lang="en-US" altLang="zh-CN" sz="2000" b="1" dirty="0" err="1">
                <a:solidFill>
                  <a:srgbClr val="701988"/>
                </a:solidFill>
                <a:latin typeface="+mj-ea"/>
                <a:ea typeface="+mj-ea"/>
                <a:cs typeface="Arial"/>
              </a:rPr>
              <a:t>Sname</a:t>
            </a:r>
            <a:r>
              <a:rPr kumimoji="1" lang="en-US" altLang="zh-CN" sz="2000" b="1" dirty="0">
                <a:solidFill>
                  <a:srgbClr val="701988"/>
                </a:solidFill>
                <a:latin typeface="+mj-ea"/>
                <a:ea typeface="+mj-ea"/>
                <a:cs typeface="Arial"/>
              </a:rPr>
              <a:t>, </a:t>
            </a:r>
            <a:r>
              <a:rPr kumimoji="1" lang="en-US" altLang="zh-CN" sz="2000" b="1" dirty="0" err="1">
                <a:solidFill>
                  <a:srgbClr val="701988"/>
                </a:solidFill>
                <a:latin typeface="+mj-ea"/>
                <a:ea typeface="+mj-ea"/>
                <a:cs typeface="Arial"/>
              </a:rPr>
              <a:t>Sgender</a:t>
            </a:r>
            <a:r>
              <a:rPr kumimoji="1" lang="en-US" altLang="zh-CN" sz="2000" b="1" dirty="0">
                <a:solidFill>
                  <a:srgbClr val="701988"/>
                </a:solidFill>
                <a:latin typeface="+mj-ea"/>
                <a:ea typeface="+mj-ea"/>
                <a:cs typeface="Arial"/>
              </a:rPr>
              <a:t>, Sage, </a:t>
            </a:r>
            <a:r>
              <a:rPr kumimoji="1" lang="en-US" altLang="zh-CN" sz="2000" b="1" dirty="0" err="1">
                <a:solidFill>
                  <a:srgbClr val="701988"/>
                </a:solidFill>
                <a:latin typeface="+mj-ea"/>
                <a:ea typeface="+mj-ea"/>
                <a:cs typeface="Arial"/>
              </a:rPr>
              <a:t>Sdept</a:t>
            </a:r>
            <a:r>
              <a:rPr kumimoji="1" lang="en-US" altLang="zh-CN" sz="2000" b="1" dirty="0">
                <a:solidFill>
                  <a:srgbClr val="701988"/>
                </a:solidFill>
                <a:latin typeface="+mj-ea"/>
                <a:ea typeface="+mj-ea"/>
                <a:cs typeface="Arial"/>
              </a:rPr>
              <a:t>)</a:t>
            </a:r>
            <a:r>
              <a:rPr kumimoji="1" lang="zh-CN" altLang="zh-CN" sz="2000" b="1" dirty="0">
                <a:solidFill>
                  <a:srgbClr val="701988"/>
                </a:solidFill>
                <a:latin typeface="+mj-ea"/>
                <a:ea typeface="+mj-ea"/>
                <a:cs typeface="Arial"/>
              </a:rPr>
              <a:t> </a:t>
            </a:r>
            <a:endParaRPr kumimoji="1" lang="en-US" altLang="zh-CN" sz="2000" b="1" dirty="0">
              <a:solidFill>
                <a:srgbClr val="701988"/>
              </a:solidFill>
              <a:latin typeface="+mj-ea"/>
              <a:ea typeface="+mj-ea"/>
              <a:cs typeface="Arial"/>
            </a:endParaRPr>
          </a:p>
          <a:p>
            <a:pPr marL="342900" indent="-342900">
              <a:lnSpc>
                <a:spcPct val="150000"/>
              </a:lnSpc>
              <a:buFont typeface="Arial" panose="020B0604020202020204" pitchFamily="34" charset="0"/>
              <a:buChar char="•"/>
            </a:pPr>
            <a:r>
              <a:rPr kumimoji="1" lang="zh-CN" altLang="en-US" sz="2000" b="1" dirty="0">
                <a:solidFill>
                  <a:srgbClr val="701988"/>
                </a:solidFill>
                <a:latin typeface="+mj-ea"/>
                <a:ea typeface="+mj-ea"/>
                <a:cs typeface="Arial"/>
              </a:rPr>
              <a:t>学生选课表 </a:t>
            </a:r>
            <a:r>
              <a:rPr kumimoji="1" lang="en-US" altLang="zh-CN" sz="2000" b="1" dirty="0">
                <a:solidFill>
                  <a:srgbClr val="701988"/>
                </a:solidFill>
                <a:latin typeface="+mj-ea"/>
                <a:ea typeface="+mj-ea"/>
                <a:cs typeface="Arial"/>
              </a:rPr>
              <a:t>SC(</a:t>
            </a:r>
            <a:r>
              <a:rPr kumimoji="1" lang="en-US" altLang="zh-CN" sz="2000" b="1" dirty="0" err="1">
                <a:solidFill>
                  <a:srgbClr val="701988"/>
                </a:solidFill>
                <a:latin typeface="+mj-ea"/>
                <a:ea typeface="+mj-ea"/>
                <a:cs typeface="Arial"/>
              </a:rPr>
              <a:t>Sno</a:t>
            </a:r>
            <a:r>
              <a:rPr kumimoji="1" lang="en-US" altLang="zh-CN" sz="2000" b="1" dirty="0">
                <a:solidFill>
                  <a:srgbClr val="701988"/>
                </a:solidFill>
                <a:latin typeface="+mj-ea"/>
                <a:ea typeface="+mj-ea"/>
                <a:cs typeface="Arial"/>
              </a:rPr>
              <a:t>, </a:t>
            </a:r>
            <a:r>
              <a:rPr kumimoji="1" lang="en-US" altLang="zh-CN" sz="2000" b="1" dirty="0" err="1">
                <a:solidFill>
                  <a:srgbClr val="701988"/>
                </a:solidFill>
                <a:latin typeface="+mj-ea"/>
                <a:ea typeface="+mj-ea"/>
                <a:cs typeface="Arial"/>
              </a:rPr>
              <a:t>Cno</a:t>
            </a:r>
            <a:r>
              <a:rPr kumimoji="1" lang="en-US" altLang="zh-CN" sz="2000" b="1" dirty="0">
                <a:solidFill>
                  <a:srgbClr val="701988"/>
                </a:solidFill>
                <a:latin typeface="+mj-ea"/>
                <a:ea typeface="+mj-ea"/>
                <a:cs typeface="Arial"/>
              </a:rPr>
              <a:t>, Grade)</a:t>
            </a:r>
            <a:r>
              <a:rPr kumimoji="1" lang="zh-CN" altLang="zh-CN" sz="2000" b="1" dirty="0">
                <a:solidFill>
                  <a:srgbClr val="701988"/>
                </a:solidFill>
                <a:latin typeface="+mj-ea"/>
                <a:ea typeface="+mj-ea"/>
                <a:cs typeface="Arial"/>
              </a:rPr>
              <a:t> </a:t>
            </a:r>
            <a:endParaRPr kumimoji="1" lang="en-US" altLang="zh-CN" sz="2000" b="1" dirty="0">
              <a:solidFill>
                <a:srgbClr val="701988"/>
              </a:solidFill>
              <a:latin typeface="+mj-ea"/>
              <a:ea typeface="+mj-ea"/>
              <a:cs typeface="Arial"/>
            </a:endParaRPr>
          </a:p>
        </p:txBody>
      </p:sp>
      <p:sp>
        <p:nvSpPr>
          <p:cNvPr id="12" name="文本框 11">
            <a:extLst>
              <a:ext uri="{FF2B5EF4-FFF2-40B4-BE49-F238E27FC236}">
                <a16:creationId xmlns:a16="http://schemas.microsoft.com/office/drawing/2014/main" id="{9A4BE977-4560-5992-1215-9882B61187E0}"/>
              </a:ext>
            </a:extLst>
          </p:cNvPr>
          <p:cNvSpPr txBox="1"/>
          <p:nvPr/>
        </p:nvSpPr>
        <p:spPr>
          <a:xfrm>
            <a:off x="1419103" y="5481702"/>
            <a:ext cx="1099216" cy="400110"/>
          </a:xfrm>
          <a:prstGeom prst="rect">
            <a:avLst/>
          </a:prstGeom>
          <a:noFill/>
        </p:spPr>
        <p:txBody>
          <a:bodyPr wrap="square">
            <a:spAutoFit/>
          </a:bodyPr>
          <a:lstStyle/>
          <a:p>
            <a:r>
              <a:rPr lang="en-US" altLang="zh-CN" sz="2000" b="1" dirty="0">
                <a:latin typeface="+mj-ea"/>
                <a:ea typeface="+mj-ea"/>
              </a:rPr>
              <a:t>SQL</a:t>
            </a:r>
            <a:endParaRPr lang="zh-CN" altLang="en-US" sz="2000" dirty="0">
              <a:latin typeface="+mj-ea"/>
              <a:ea typeface="+mj-ea"/>
            </a:endParaRPr>
          </a:p>
        </p:txBody>
      </p:sp>
      <p:sp>
        <p:nvSpPr>
          <p:cNvPr id="15" name="文本框 14">
            <a:extLst>
              <a:ext uri="{FF2B5EF4-FFF2-40B4-BE49-F238E27FC236}">
                <a16:creationId xmlns:a16="http://schemas.microsoft.com/office/drawing/2014/main" id="{5FB279CC-68D1-0467-5709-91DA448F9A3B}"/>
              </a:ext>
            </a:extLst>
          </p:cNvPr>
          <p:cNvSpPr txBox="1"/>
          <p:nvPr/>
        </p:nvSpPr>
        <p:spPr>
          <a:xfrm>
            <a:off x="10146747" y="5486004"/>
            <a:ext cx="1590982" cy="400110"/>
          </a:xfrm>
          <a:prstGeom prst="rect">
            <a:avLst/>
          </a:prstGeom>
          <a:noFill/>
        </p:spPr>
        <p:txBody>
          <a:bodyPr wrap="square">
            <a:spAutoFit/>
          </a:bodyPr>
          <a:lstStyle/>
          <a:p>
            <a:r>
              <a:rPr lang="zh-CN" altLang="en-US" sz="2000" b="1" dirty="0">
                <a:latin typeface="+mj-ea"/>
                <a:ea typeface="+mj-ea"/>
              </a:rPr>
              <a:t>逻辑计划树</a:t>
            </a:r>
            <a:endParaRPr lang="zh-CN" altLang="en-US" sz="2000" dirty="0">
              <a:latin typeface="+mj-ea"/>
              <a:ea typeface="+mj-ea"/>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9F20DA7-8417-6C9D-10F3-EBC2F3DECBD5}"/>
                  </a:ext>
                </a:extLst>
              </p:cNvPr>
              <p:cNvSpPr txBox="1"/>
              <p:nvPr/>
            </p:nvSpPr>
            <p:spPr>
              <a:xfrm>
                <a:off x="3311058" y="3670148"/>
                <a:ext cx="6172200"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solidFill>
                                <a:schemeClr val="tx1"/>
                              </a:solidFill>
                              <a:latin typeface="Cambria Math" panose="02040503050406030204" pitchFamily="18" charset="0"/>
                            </a:rPr>
                          </m:ctrlPr>
                        </m:sSubPr>
                        <m:e>
                          <m:r>
                            <m:rPr>
                              <m:sty m:val="p"/>
                            </m:rPr>
                            <a:rPr lang="zh-CN" altLang="en-US" sz="2400">
                              <a:solidFill>
                                <a:schemeClr val="tx1"/>
                              </a:solidFill>
                              <a:latin typeface="Cambria Math" panose="02040503050406030204" pitchFamily="18" charset="0"/>
                            </a:rPr>
                            <m:t>Π</m:t>
                          </m:r>
                        </m:e>
                        <m:sub>
                          <m:r>
                            <m:rPr>
                              <m:sty m:val="p"/>
                            </m:rPr>
                            <a:rPr lang="zh-CN" altLang="en-US" sz="2400" i="0">
                              <a:solidFill>
                                <a:schemeClr val="tx1"/>
                              </a:solidFill>
                              <a:latin typeface="Cambria Math" panose="02040503050406030204" pitchFamily="18" charset="0"/>
                            </a:rPr>
                            <m:t>Sno</m:t>
                          </m:r>
                          <m:r>
                            <a:rPr lang="zh-CN" altLang="en-US" sz="2400" i="0">
                              <a:solidFill>
                                <a:schemeClr val="tx1"/>
                              </a:solidFill>
                              <a:latin typeface="Cambria Math" panose="02040503050406030204" pitchFamily="18" charset="0"/>
                            </a:rPr>
                            <m:t>,   </m:t>
                          </m:r>
                          <m:r>
                            <m:rPr>
                              <m:sty m:val="p"/>
                            </m:rPr>
                            <a:rPr lang="zh-CN" altLang="en-US" sz="2400" i="0">
                              <a:solidFill>
                                <a:schemeClr val="tx1"/>
                              </a:solidFill>
                              <a:latin typeface="Cambria Math" panose="02040503050406030204" pitchFamily="18" charset="0"/>
                            </a:rPr>
                            <m:t>Sname</m:t>
                          </m:r>
                          <m:r>
                            <a:rPr lang="zh-CN" altLang="en-US" sz="2400" i="0">
                              <a:solidFill>
                                <a:schemeClr val="tx1"/>
                              </a:solidFill>
                              <a:latin typeface="Cambria Math" panose="02040503050406030204" pitchFamily="18" charset="0"/>
                            </a:rPr>
                            <m:t>,   </m:t>
                          </m:r>
                          <m:r>
                            <m:rPr>
                              <m:sty m:val="p"/>
                            </m:rPr>
                            <a:rPr lang="zh-CN" altLang="en-US" sz="2400" i="0">
                              <a:solidFill>
                                <a:schemeClr val="tx1"/>
                              </a:solidFill>
                              <a:latin typeface="Cambria Math" panose="02040503050406030204" pitchFamily="18" charset="0"/>
                            </a:rPr>
                            <m:t>Grade</m:t>
                          </m:r>
                        </m:sub>
                      </m:sSub>
                      <m:d>
                        <m:dPr>
                          <m:ctrlPr>
                            <a:rPr lang="zh-CN" altLang="en-US" sz="2400" i="1">
                              <a:solidFill>
                                <a:schemeClr val="tx1"/>
                              </a:solidFill>
                              <a:latin typeface="Cambria Math" panose="02040503050406030204" pitchFamily="18" charset="0"/>
                            </a:rPr>
                          </m:ctrlPr>
                        </m:dPr>
                        <m:e>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𝜎</m:t>
                              </m:r>
                            </m:e>
                            <m:sub>
                              <m:r>
                                <a:rPr lang="zh-CN" altLang="en-US" sz="2400" i="0">
                                  <a:solidFill>
                                    <a:schemeClr val="tx1"/>
                                  </a:solidFill>
                                  <a:latin typeface="Cambria Math" panose="02040503050406030204" pitchFamily="18" charset="0"/>
                                </a:rPr>
                                <m:t> </m:t>
                              </m:r>
                              <m:r>
                                <m:rPr>
                                  <m:sty m:val="p"/>
                                </m:rPr>
                                <a:rPr lang="zh-CN" altLang="en-US" sz="2400" i="0">
                                  <a:solidFill>
                                    <a:schemeClr val="tx1"/>
                                  </a:solidFill>
                                  <a:latin typeface="Cambria Math" panose="02040503050406030204" pitchFamily="18" charset="0"/>
                                </a:rPr>
                                <m:t>Cno</m:t>
                              </m:r>
                              <m:r>
                                <a:rPr lang="zh-CN" altLang="en-US" sz="2400" i="0">
                                  <a:solidFill>
                                    <a:schemeClr val="tx1"/>
                                  </a:solidFill>
                                  <a:latin typeface="Cambria Math" panose="02040503050406030204" pitchFamily="18" charset="0"/>
                                </a:rPr>
                                <m:t>="1"  </m:t>
                              </m:r>
                            </m:sub>
                          </m:sSub>
                          <m:d>
                            <m:dPr>
                              <m:ctrlPr>
                                <a:rPr lang="zh-CN" altLang="en-US" sz="2400" i="1">
                                  <a:solidFill>
                                    <a:schemeClr val="tx1"/>
                                  </a:solidFill>
                                  <a:latin typeface="Cambria Math" panose="02040503050406030204" pitchFamily="18" charset="0"/>
                                </a:rPr>
                              </m:ctrlPr>
                            </m:dPr>
                            <m:e>
                              <m:r>
                                <m:rPr>
                                  <m:sty m:val="p"/>
                                </m:rPr>
                                <a:rPr lang="zh-CN" altLang="en-US" sz="2400" i="0">
                                  <a:solidFill>
                                    <a:schemeClr val="tx1"/>
                                  </a:solidFill>
                                  <a:latin typeface="Cambria Math" panose="02040503050406030204" pitchFamily="18" charset="0"/>
                                </a:rPr>
                                <m:t>SC</m:t>
                              </m:r>
                              <m:r>
                                <a:rPr lang="zh-CN" altLang="en-US" sz="2400" i="0">
                                  <a:solidFill>
                                    <a:schemeClr val="tx1"/>
                                  </a:solidFill>
                                  <a:latin typeface="Cambria Math" panose="02040503050406030204" pitchFamily="18" charset="0"/>
                                </a:rPr>
                                <m:t>⋈</m:t>
                              </m:r>
                              <m:r>
                                <m:rPr>
                                  <m:sty m:val="p"/>
                                </m:rPr>
                                <a:rPr lang="zh-CN" altLang="en-US" sz="2400" i="0">
                                  <a:solidFill>
                                    <a:schemeClr val="tx1"/>
                                  </a:solidFill>
                                  <a:latin typeface="Cambria Math" panose="02040503050406030204" pitchFamily="18" charset="0"/>
                                </a:rPr>
                                <m:t>Student</m:t>
                              </m:r>
                            </m:e>
                          </m:d>
                        </m:e>
                      </m:d>
                    </m:oMath>
                  </m:oMathPara>
                </a14:m>
                <a:endParaRPr lang="zh-CN" altLang="en-US" sz="2400" dirty="0">
                  <a:solidFill>
                    <a:schemeClr val="tx1"/>
                  </a:solidFill>
                </a:endParaRPr>
              </a:p>
            </p:txBody>
          </p:sp>
        </mc:Choice>
        <mc:Fallback xmlns="">
          <p:sp>
            <p:nvSpPr>
              <p:cNvPr id="20" name="文本框 19">
                <a:extLst>
                  <a:ext uri="{FF2B5EF4-FFF2-40B4-BE49-F238E27FC236}">
                    <a16:creationId xmlns:a16="http://schemas.microsoft.com/office/drawing/2014/main" xmlns:a14="http://schemas.microsoft.com/office/drawing/2010/main" xmlns="" id="{49F20DA7-8417-6C9D-10F3-EBC2F3DECBD5}"/>
                  </a:ext>
                </a:extLst>
              </p:cNvPr>
              <p:cNvSpPr txBox="1">
                <a:spLocks noRot="1" noChangeAspect="1" noMove="1" noResize="1" noEditPoints="1" noAdjustHandles="1" noChangeArrowheads="1" noChangeShapeType="1" noTextEdit="1"/>
              </p:cNvSpPr>
              <p:nvPr/>
            </p:nvSpPr>
            <p:spPr>
              <a:xfrm>
                <a:off x="3311058" y="3670148"/>
                <a:ext cx="6172200" cy="509178"/>
              </a:xfrm>
              <a:prstGeom prst="rect">
                <a:avLst/>
              </a:prstGeom>
              <a:blipFill rotWithShape="0">
                <a:blip r:embed="rId4"/>
                <a:stretch>
                  <a:fillRect/>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AE21B8D3-186C-49BA-BFFA-752F1BFB1203}"/>
              </a:ext>
            </a:extLst>
          </p:cNvPr>
          <p:cNvSpPr txBox="1"/>
          <p:nvPr/>
        </p:nvSpPr>
        <p:spPr>
          <a:xfrm>
            <a:off x="5181254" y="5481702"/>
            <a:ext cx="2386773" cy="400110"/>
          </a:xfrm>
          <a:prstGeom prst="rect">
            <a:avLst/>
          </a:prstGeom>
          <a:noFill/>
        </p:spPr>
        <p:txBody>
          <a:bodyPr wrap="square">
            <a:spAutoFit/>
          </a:bodyPr>
          <a:lstStyle/>
          <a:p>
            <a:r>
              <a:rPr lang="zh-CN" altLang="en-US" sz="2000" b="1" dirty="0">
                <a:latin typeface="+mj-ea"/>
                <a:ea typeface="+mj-ea"/>
              </a:rPr>
              <a:t>关系代数表达式</a:t>
            </a:r>
            <a:endParaRPr lang="zh-CN" altLang="en-US" sz="2000" dirty="0">
              <a:latin typeface="+mj-ea"/>
              <a:ea typeface="+mj-ea"/>
            </a:endParaRPr>
          </a:p>
        </p:txBody>
      </p:sp>
      <p:pic>
        <p:nvPicPr>
          <p:cNvPr id="22" name="图片 21">
            <a:extLst>
              <a:ext uri="{FF2B5EF4-FFF2-40B4-BE49-F238E27FC236}">
                <a16:creationId xmlns:a16="http://schemas.microsoft.com/office/drawing/2014/main" id="{5926492D-360E-1220-C5E9-C43250EEDEEE}"/>
              </a:ext>
            </a:extLst>
          </p:cNvPr>
          <p:cNvPicPr>
            <a:picLocks noChangeAspect="1"/>
          </p:cNvPicPr>
          <p:nvPr/>
        </p:nvPicPr>
        <p:blipFill>
          <a:blip r:embed="rId5"/>
          <a:stretch>
            <a:fillRect/>
          </a:stretch>
        </p:blipFill>
        <p:spPr>
          <a:xfrm>
            <a:off x="9463738" y="2938408"/>
            <a:ext cx="2543127" cy="2324950"/>
          </a:xfrm>
          <a:prstGeom prst="rect">
            <a:avLst/>
          </a:prstGeom>
        </p:spPr>
      </p:pic>
      <p:sp>
        <p:nvSpPr>
          <p:cNvPr id="4" name="右箭头 3">
            <a:extLst>
              <a:ext uri="{FF2B5EF4-FFF2-40B4-BE49-F238E27FC236}">
                <a16:creationId xmlns:a16="http://schemas.microsoft.com/office/drawing/2014/main" id="{26EE8BCE-BCD1-5362-C87D-A817F7C2E50D}"/>
              </a:ext>
            </a:extLst>
          </p:cNvPr>
          <p:cNvSpPr/>
          <p:nvPr/>
        </p:nvSpPr>
        <p:spPr bwMode="auto">
          <a:xfrm>
            <a:off x="3154800" y="3774425"/>
            <a:ext cx="312516" cy="30062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6" name="右箭头 5">
            <a:extLst>
              <a:ext uri="{FF2B5EF4-FFF2-40B4-BE49-F238E27FC236}">
                <a16:creationId xmlns:a16="http://schemas.microsoft.com/office/drawing/2014/main" id="{6EF82709-EE16-4AD6-48A8-6C855AA22C4C}"/>
              </a:ext>
            </a:extLst>
          </p:cNvPr>
          <p:cNvSpPr/>
          <p:nvPr/>
        </p:nvSpPr>
        <p:spPr bwMode="auto">
          <a:xfrm>
            <a:off x="9457246" y="3777483"/>
            <a:ext cx="312516" cy="30062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矩形 9"/>
          <p:cNvSpPr/>
          <p:nvPr/>
        </p:nvSpPr>
        <p:spPr>
          <a:xfrm>
            <a:off x="2045752" y="1046925"/>
            <a:ext cx="7342087" cy="369332"/>
          </a:xfrm>
          <a:prstGeom prst="rect">
            <a:avLst/>
          </a:prstGeom>
          <a:solidFill>
            <a:srgbClr val="701988"/>
          </a:solidFill>
        </p:spPr>
        <p:txBody>
          <a:bodyPr wrap="square">
            <a:spAutoFit/>
          </a:bodyPr>
          <a:lstStyle/>
          <a:p>
            <a:pPr algn="ctr"/>
            <a:r>
              <a:rPr lang="zh-CN" altLang="en-US" b="1" dirty="0">
                <a:solidFill>
                  <a:schemeClr val="bg1"/>
                </a:solidFill>
                <a:latin typeface="+mj-ea"/>
                <a:ea typeface="+mj-ea"/>
              </a:rPr>
              <a:t>查询</a:t>
            </a:r>
            <a:r>
              <a:rPr lang="zh-CN" altLang="en-US" dirty="0">
                <a:solidFill>
                  <a:schemeClr val="bg1"/>
                </a:solidFill>
                <a:latin typeface="+mj-ea"/>
                <a:ea typeface="+mj-ea"/>
              </a:rPr>
              <a:t>：</a:t>
            </a:r>
            <a:r>
              <a:rPr lang="zh-CN" altLang="zh-CN" dirty="0">
                <a:solidFill>
                  <a:schemeClr val="bg1"/>
                </a:solidFill>
                <a:latin typeface="+mj-ea"/>
                <a:ea typeface="+mj-ea"/>
              </a:rPr>
              <a:t>获取</a:t>
            </a:r>
            <a:r>
              <a:rPr lang="zh-CN" altLang="en-US" dirty="0">
                <a:solidFill>
                  <a:schemeClr val="bg1"/>
                </a:solidFill>
                <a:latin typeface="+mj-ea"/>
                <a:ea typeface="+mj-ea"/>
              </a:rPr>
              <a:t>选修了</a:t>
            </a:r>
            <a:r>
              <a:rPr lang="en-US" altLang="zh-CN" dirty="0">
                <a:solidFill>
                  <a:schemeClr val="bg1"/>
                </a:solidFill>
                <a:latin typeface="+mj-ea"/>
                <a:ea typeface="+mj-ea"/>
              </a:rPr>
              <a:t>1</a:t>
            </a:r>
            <a:r>
              <a:rPr lang="zh-CN" altLang="en-US" dirty="0">
                <a:solidFill>
                  <a:schemeClr val="bg1"/>
                </a:solidFill>
                <a:latin typeface="+mj-ea"/>
                <a:ea typeface="+mj-ea"/>
              </a:rPr>
              <a:t>号课程的学生学号、姓名及成绩</a:t>
            </a:r>
          </a:p>
        </p:txBody>
      </p:sp>
    </p:spTree>
    <p:extLst>
      <p:ext uri="{BB962C8B-B14F-4D97-AF65-F5344CB8AC3E}">
        <p14:creationId xmlns:p14="http://schemas.microsoft.com/office/powerpoint/2010/main" val="856175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421651B-3011-D654-2C07-0B227BB2DE9B}"/>
              </a:ext>
            </a:extLst>
          </p:cNvPr>
          <p:cNvSpPr>
            <a:spLocks noGrp="1"/>
          </p:cNvSpPr>
          <p:nvPr>
            <p:ph type="sldNum" sz="quarter" idx="10"/>
          </p:nvPr>
        </p:nvSpPr>
        <p:spPr/>
        <p:txBody>
          <a:bodyPr/>
          <a:lstStyle/>
          <a:p>
            <a:fld id="{4B0D34C0-35A8-654C-9FBA-7B4E017BD630}" type="slidenum">
              <a:rPr lang="en-US" altLang="zh-CN" smtClean="0"/>
              <a:t>28</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选择下推</a:t>
            </a:r>
            <a:r>
              <a:rPr lang="zh-CN" altLang="en-US" dirty="0"/>
              <a:t>示例（</a:t>
            </a:r>
            <a:r>
              <a:rPr lang="en-US" altLang="zh-CN" dirty="0"/>
              <a:t>2</a:t>
            </a:r>
            <a:r>
              <a:rPr lang="zh-CN" altLang="en-US" dirty="0"/>
              <a:t>）</a:t>
            </a:r>
            <a:endParaRPr kumimoji="1" lang="zh-CN" altLang="en-US" dirty="0"/>
          </a:p>
        </p:txBody>
      </p:sp>
      <p:sp>
        <p:nvSpPr>
          <p:cNvPr id="5" name="页脚占位符 4">
            <a:extLst>
              <a:ext uri="{FF2B5EF4-FFF2-40B4-BE49-F238E27FC236}">
                <a16:creationId xmlns:a16="http://schemas.microsoft.com/office/drawing/2014/main" id="{B7E332D7-4932-1C4B-1998-3A6BF756D269}"/>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E193A97-5023-99D8-D006-45A1A2F578F1}"/>
                  </a:ext>
                </a:extLst>
              </p:cNvPr>
              <p:cNvSpPr txBox="1"/>
              <p:nvPr/>
            </p:nvSpPr>
            <p:spPr>
              <a:xfrm>
                <a:off x="3959975" y="2980260"/>
                <a:ext cx="4107255" cy="4901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𝜎</m:t>
                          </m:r>
                        </m:e>
                        <m:sub>
                          <m:r>
                            <a:rPr lang="en-US" altLang="zh-CN" sz="2400" b="0" i="1" kern="100" smtClean="0">
                              <a:latin typeface="Cambria Math" panose="02040503050406030204" pitchFamily="18" charset="0"/>
                              <a:ea typeface="宋体" panose="02010600030101010101" pitchFamily="2" charset="-122"/>
                              <a:cs typeface="Times New Roman" panose="02020603050405020304" pitchFamily="18" charset="0"/>
                            </a:rPr>
                            <m:t>𝑝</m:t>
                          </m:r>
                        </m:sub>
                      </m:sSub>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𝜎</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sub>
                      </m:sSub>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oMath>
                  </m:oMathPara>
                </a14:m>
                <a:endParaRPr lang="zh-CN" altLang="en-US" sz="2400" dirty="0"/>
              </a:p>
            </p:txBody>
          </p:sp>
        </mc:Choice>
        <mc:Fallback xmlns="">
          <p:sp>
            <p:nvSpPr>
              <p:cNvPr id="10" name="文本框 9">
                <a:extLst>
                  <a:ext uri="{FF2B5EF4-FFF2-40B4-BE49-F238E27FC236}">
                    <a16:creationId xmlns:a16="http://schemas.microsoft.com/office/drawing/2014/main" xmlns:a14="http://schemas.microsoft.com/office/drawing/2010/main" xmlns="" id="{EE193A97-5023-99D8-D006-45A1A2F578F1}"/>
                  </a:ext>
                </a:extLst>
              </p:cNvPr>
              <p:cNvSpPr txBox="1">
                <a:spLocks noRot="1" noChangeAspect="1" noMove="1" noResize="1" noEditPoints="1" noAdjustHandles="1" noChangeArrowheads="1" noChangeShapeType="1" noTextEdit="1"/>
              </p:cNvSpPr>
              <p:nvPr/>
            </p:nvSpPr>
            <p:spPr>
              <a:xfrm>
                <a:off x="3959975" y="2980260"/>
                <a:ext cx="4107255" cy="490199"/>
              </a:xfrm>
              <a:prstGeom prst="rect">
                <a:avLst/>
              </a:prstGeom>
              <a:blipFill rotWithShape="0">
                <a:blip r:embed="rId3"/>
                <a:stretch>
                  <a:fillRect b="-6250"/>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147F1A13-F728-1F53-3C01-FF04389D276C}"/>
              </a:ext>
            </a:extLst>
          </p:cNvPr>
          <p:cNvSpPr/>
          <p:nvPr/>
        </p:nvSpPr>
        <p:spPr>
          <a:xfrm>
            <a:off x="4743443" y="2387756"/>
            <a:ext cx="2817271" cy="576248"/>
          </a:xfrm>
          <a:prstGeom prst="rect">
            <a:avLst/>
          </a:prstGeom>
        </p:spPr>
        <p:txBody>
          <a:bodyPr wrap="square">
            <a:spAutoFit/>
          </a:bodyPr>
          <a:lstStyle/>
          <a:p>
            <a:pPr lvl="0" algn="just">
              <a:lnSpc>
                <a:spcPct val="150000"/>
              </a:lnSpc>
            </a:pPr>
            <a:r>
              <a:rPr lang="zh-CN" altLang="en-US" sz="2400" kern="100" dirty="0">
                <a:latin typeface="+mj-ea"/>
                <a:ea typeface="+mj-ea"/>
                <a:cs typeface="Times New Roman" panose="02020603050405020304" pitchFamily="18" charset="0"/>
              </a:rPr>
              <a:t>利用等价规则：</a:t>
            </a:r>
            <a:endParaRPr lang="zh-CN" altLang="zh-CN" sz="2400" kern="100" dirty="0">
              <a:latin typeface="+mj-ea"/>
              <a:ea typeface="+mj-ea"/>
              <a:cs typeface="Times New Roman" panose="02020603050405020304" pitchFamily="18" charset="0"/>
            </a:endParaRPr>
          </a:p>
        </p:txBody>
      </p:sp>
      <p:sp>
        <p:nvSpPr>
          <p:cNvPr id="14" name="右箭头 13">
            <a:extLst>
              <a:ext uri="{FF2B5EF4-FFF2-40B4-BE49-F238E27FC236}">
                <a16:creationId xmlns:a16="http://schemas.microsoft.com/office/drawing/2014/main" id="{B305CF21-2ED9-BCFA-D5D7-2A28C8D2CBBE}"/>
              </a:ext>
            </a:extLst>
          </p:cNvPr>
          <p:cNvSpPr/>
          <p:nvPr/>
        </p:nvSpPr>
        <p:spPr bwMode="auto">
          <a:xfrm>
            <a:off x="3594885" y="3073570"/>
            <a:ext cx="346509" cy="325229"/>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6" name="右箭头 15">
            <a:extLst>
              <a:ext uri="{FF2B5EF4-FFF2-40B4-BE49-F238E27FC236}">
                <a16:creationId xmlns:a16="http://schemas.microsoft.com/office/drawing/2014/main" id="{66E9E576-84C0-2A1D-26A9-1BAE691BB489}"/>
              </a:ext>
            </a:extLst>
          </p:cNvPr>
          <p:cNvSpPr/>
          <p:nvPr/>
        </p:nvSpPr>
        <p:spPr bwMode="auto">
          <a:xfrm>
            <a:off x="8109044" y="3062746"/>
            <a:ext cx="346509" cy="325229"/>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nvGrpSpPr>
          <p:cNvPr id="6" name="组合 5"/>
          <p:cNvGrpSpPr/>
          <p:nvPr/>
        </p:nvGrpSpPr>
        <p:grpSpPr>
          <a:xfrm>
            <a:off x="918061" y="2240400"/>
            <a:ext cx="2544953" cy="2307354"/>
            <a:chOff x="404261" y="1776189"/>
            <a:chExt cx="3612547" cy="3275276"/>
          </a:xfrm>
        </p:grpSpPr>
        <p:pic>
          <p:nvPicPr>
            <p:cNvPr id="13" name="图片 12">
              <a:extLst>
                <a:ext uri="{FF2B5EF4-FFF2-40B4-BE49-F238E27FC236}">
                  <a16:creationId xmlns:a16="http://schemas.microsoft.com/office/drawing/2014/main" id="{612E985A-6862-3D12-D30A-35B08B9024CE}"/>
                </a:ext>
              </a:extLst>
            </p:cNvPr>
            <p:cNvPicPr>
              <a:picLocks noChangeAspect="1"/>
            </p:cNvPicPr>
            <p:nvPr/>
          </p:nvPicPr>
          <p:blipFill>
            <a:blip r:embed="rId4"/>
            <a:stretch>
              <a:fillRect/>
            </a:stretch>
          </p:blipFill>
          <p:spPr>
            <a:xfrm>
              <a:off x="404261" y="1776189"/>
              <a:ext cx="3612547" cy="3275276"/>
            </a:xfrm>
            <a:prstGeom prst="rect">
              <a:avLst/>
            </a:prstGeom>
          </p:spPr>
        </p:pic>
        <p:sp>
          <p:nvSpPr>
            <p:cNvPr id="18" name="矩形 17">
              <a:extLst>
                <a:ext uri="{FF2B5EF4-FFF2-40B4-BE49-F238E27FC236}">
                  <a16:creationId xmlns:a16="http://schemas.microsoft.com/office/drawing/2014/main" id="{700595D6-2406-148A-DB39-FC4CE9411A4F}"/>
                </a:ext>
              </a:extLst>
            </p:cNvPr>
            <p:cNvSpPr/>
            <p:nvPr/>
          </p:nvSpPr>
          <p:spPr bwMode="auto">
            <a:xfrm>
              <a:off x="1541067" y="2482755"/>
              <a:ext cx="1508536" cy="442762"/>
            </a:xfrm>
            <a:prstGeom prst="rect">
              <a:avLst/>
            </a:prstGeom>
            <a:noFill/>
            <a:ln w="38100" cap="flat" cmpd="sng" algn="ctr">
              <a:solidFill>
                <a:srgbClr val="743481"/>
              </a:solidFill>
              <a:prstDash val="lg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grpSp>
        <p:nvGrpSpPr>
          <p:cNvPr id="12" name="组合 11"/>
          <p:cNvGrpSpPr/>
          <p:nvPr/>
        </p:nvGrpSpPr>
        <p:grpSpPr>
          <a:xfrm>
            <a:off x="8747744" y="2244170"/>
            <a:ext cx="2509066" cy="2286656"/>
            <a:chOff x="8974178" y="2096117"/>
            <a:chExt cx="2509066" cy="2286656"/>
          </a:xfrm>
        </p:grpSpPr>
        <p:pic>
          <p:nvPicPr>
            <p:cNvPr id="22" name="图片 21">
              <a:extLst>
                <a:ext uri="{FF2B5EF4-FFF2-40B4-BE49-F238E27FC236}">
                  <a16:creationId xmlns:a16="http://schemas.microsoft.com/office/drawing/2014/main" id="{07B6FC02-68FA-9D32-92F7-4F3B69D6C1A7}"/>
                </a:ext>
              </a:extLst>
            </p:cNvPr>
            <p:cNvPicPr>
              <a:picLocks noChangeAspect="1"/>
            </p:cNvPicPr>
            <p:nvPr/>
          </p:nvPicPr>
          <p:blipFill>
            <a:blip r:embed="rId5"/>
            <a:stretch>
              <a:fillRect/>
            </a:stretch>
          </p:blipFill>
          <p:spPr>
            <a:xfrm>
              <a:off x="8974178" y="2096117"/>
              <a:ext cx="2509066" cy="2286656"/>
            </a:xfrm>
            <a:prstGeom prst="rect">
              <a:avLst/>
            </a:prstGeom>
            <a:ln>
              <a:noFill/>
            </a:ln>
          </p:spPr>
        </p:pic>
        <p:sp>
          <p:nvSpPr>
            <p:cNvPr id="19" name="矩形 18">
              <a:extLst>
                <a:ext uri="{FF2B5EF4-FFF2-40B4-BE49-F238E27FC236}">
                  <a16:creationId xmlns:a16="http://schemas.microsoft.com/office/drawing/2014/main" id="{24D356CC-1A7D-62A8-0B34-E82398B3014C}"/>
                </a:ext>
              </a:extLst>
            </p:cNvPr>
            <p:cNvSpPr/>
            <p:nvPr/>
          </p:nvSpPr>
          <p:spPr bwMode="auto">
            <a:xfrm>
              <a:off x="9274689" y="3354722"/>
              <a:ext cx="1226675" cy="360035"/>
            </a:xfrm>
            <a:prstGeom prst="rect">
              <a:avLst/>
            </a:prstGeom>
            <a:noFill/>
            <a:ln w="38100" cap="flat" cmpd="sng" algn="ctr">
              <a:solidFill>
                <a:srgbClr val="743481"/>
              </a:solidFill>
              <a:prstDash val="lg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395C8EC-EB1E-3957-D938-D08CE1DCCBE3}"/>
                  </a:ext>
                </a:extLst>
              </p:cNvPr>
              <p:cNvSpPr txBox="1"/>
              <p:nvPr/>
            </p:nvSpPr>
            <p:spPr>
              <a:xfrm>
                <a:off x="5932522" y="5307265"/>
                <a:ext cx="6499158"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zh-CN" altLang="en-US" i="0">
                              <a:solidFill>
                                <a:schemeClr val="tx1"/>
                              </a:solidFill>
                              <a:latin typeface="Cambria Math" panose="02040503050406030204" pitchFamily="18" charset="0"/>
                            </a:rPr>
                            <m:t>Sno</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Sname</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Grade</m:t>
                          </m:r>
                        </m:sub>
                      </m:sSub>
                      <m:d>
                        <m:dPr>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𝜎</m:t>
                              </m:r>
                            </m:e>
                            <m:sub>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Cno</m:t>
                              </m:r>
                              <m:r>
                                <a:rPr lang="zh-CN" altLang="en-US" i="0">
                                  <a:solidFill>
                                    <a:schemeClr val="tx1"/>
                                  </a:solidFill>
                                  <a:latin typeface="Cambria Math" panose="02040503050406030204" pitchFamily="18" charset="0"/>
                                </a:rPr>
                                <m:t>="1"  </m:t>
                              </m:r>
                            </m:sub>
                          </m:sSub>
                          <m:d>
                            <m:dPr>
                              <m:ctrlPr>
                                <a:rPr lang="zh-CN" altLang="en-US" i="1">
                                  <a:solidFill>
                                    <a:schemeClr val="tx1"/>
                                  </a:solidFill>
                                  <a:latin typeface="Cambria Math" panose="02040503050406030204" pitchFamily="18" charset="0"/>
                                </a:rPr>
                              </m:ctrlPr>
                            </m:dPr>
                            <m:e>
                              <m:sSub>
                                <m:sSubPr>
                                  <m:ctrlPr>
                                    <a:rPr lang="en-US" altLang="zh-CN"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en-US" altLang="zh-CN" i="0">
                                      <a:solidFill>
                                        <a:schemeClr val="tx1"/>
                                      </a:solidFill>
                                      <a:latin typeface="Cambria Math" panose="02040503050406030204" pitchFamily="18" charset="0"/>
                                    </a:rPr>
                                    <m:t>C</m:t>
                                  </m:r>
                                  <m:r>
                                    <m:rPr>
                                      <m:sty m:val="p"/>
                                    </m:rPr>
                                    <a:rPr lang="en-US" altLang="zh-CN" b="0" i="0" smtClean="0">
                                      <a:solidFill>
                                        <a:schemeClr val="tx1"/>
                                      </a:solidFill>
                                      <a:latin typeface="Cambria Math" panose="02040503050406030204" pitchFamily="18" charset="0"/>
                                    </a:rPr>
                                    <m:t>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Sno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Grade</m:t>
                                  </m:r>
                                </m:sub>
                              </m:sSub>
                              <m:r>
                                <m:rPr>
                                  <m:sty m:val="p"/>
                                </m:rPr>
                                <a:rPr lang="zh-CN" altLang="en-US" i="0">
                                  <a:solidFill>
                                    <a:schemeClr val="tx1"/>
                                  </a:solidFill>
                                  <a:latin typeface="Cambria Math" panose="02040503050406030204" pitchFamily="18" charset="0"/>
                                </a:rPr>
                                <m:t>SC</m:t>
                              </m:r>
                            </m:e>
                          </m:d>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Student</m:t>
                          </m:r>
                        </m:e>
                      </m:d>
                    </m:oMath>
                  </m:oMathPara>
                </a14:m>
                <a:endParaRPr lang="zh-CN" altLang="en-US" dirty="0">
                  <a:solidFill>
                    <a:schemeClr val="tx1"/>
                  </a:solidFill>
                </a:endParaRPr>
              </a:p>
            </p:txBody>
          </p:sp>
        </mc:Choice>
        <mc:Fallback xmlns="">
          <p:sp>
            <p:nvSpPr>
              <p:cNvPr id="7" name="文本框 6">
                <a:extLst>
                  <a:ext uri="{FF2B5EF4-FFF2-40B4-BE49-F238E27FC236}">
                    <a16:creationId xmlns:a16="http://schemas.microsoft.com/office/drawing/2014/main" id="{E395C8EC-EB1E-3957-D938-D08CE1DCCBE3}"/>
                  </a:ext>
                </a:extLst>
              </p:cNvPr>
              <p:cNvSpPr txBox="1">
                <a:spLocks noRot="1" noChangeAspect="1" noMove="1" noResize="1" noEditPoints="1" noAdjustHandles="1" noChangeArrowheads="1" noChangeShapeType="1" noTextEdit="1"/>
              </p:cNvSpPr>
              <p:nvPr/>
            </p:nvSpPr>
            <p:spPr>
              <a:xfrm>
                <a:off x="5932522" y="5307265"/>
                <a:ext cx="6499158" cy="404983"/>
              </a:xfrm>
              <a:prstGeom prst="rect">
                <a:avLst/>
              </a:prstGeom>
              <a:blipFill>
                <a:blip r:embed="rId6"/>
                <a:stretch>
                  <a:fillRect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7F5CB21-A151-50F9-0D84-54E7E36C53E2}"/>
                  </a:ext>
                </a:extLst>
              </p:cNvPr>
              <p:cNvSpPr txBox="1"/>
              <p:nvPr/>
            </p:nvSpPr>
            <p:spPr>
              <a:xfrm>
                <a:off x="-450762" y="5289297"/>
                <a:ext cx="6499157" cy="4744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836967"/>
                              </a:solidFill>
                              <a:latin typeface="Cambria Math" panose="02040503050406030204" pitchFamily="18" charset="0"/>
                            </a:rPr>
                          </m:ctrlPr>
                        </m:sSubPr>
                        <m:e>
                          <m:r>
                            <m:rPr>
                              <m:sty m:val="p"/>
                            </m:rPr>
                            <a:rPr lang="zh-CN" altLang="en-US" sz="2200">
                              <a:latin typeface="Cambria Math" panose="02040503050406030204" pitchFamily="18" charset="0"/>
                            </a:rPr>
                            <m:t>Π</m:t>
                          </m:r>
                        </m:e>
                        <m:sub>
                          <m:r>
                            <m:rPr>
                              <m:sty m:val="p"/>
                            </m:rPr>
                            <a:rPr lang="zh-CN" altLang="en-US" sz="2200" i="0">
                              <a:latin typeface="Cambria Math" panose="02040503050406030204" pitchFamily="18" charset="0"/>
                            </a:rPr>
                            <m:t>Sno</m:t>
                          </m:r>
                          <m:r>
                            <a:rPr lang="zh-CN" altLang="en-US" sz="2200" i="0">
                              <a:latin typeface="Cambria Math" panose="02040503050406030204" pitchFamily="18" charset="0"/>
                            </a:rPr>
                            <m:t>,   </m:t>
                          </m:r>
                          <m:r>
                            <m:rPr>
                              <m:sty m:val="p"/>
                            </m:rPr>
                            <a:rPr lang="zh-CN" altLang="en-US" sz="2200" i="0">
                              <a:latin typeface="Cambria Math" panose="02040503050406030204" pitchFamily="18" charset="0"/>
                            </a:rPr>
                            <m:t>Sname</m:t>
                          </m:r>
                          <m:r>
                            <a:rPr lang="zh-CN" altLang="en-US" sz="2200" i="0">
                              <a:latin typeface="Cambria Math" panose="02040503050406030204" pitchFamily="18" charset="0"/>
                            </a:rPr>
                            <m:t>,   </m:t>
                          </m:r>
                          <m:r>
                            <m:rPr>
                              <m:sty m:val="p"/>
                            </m:rPr>
                            <a:rPr lang="zh-CN" altLang="en-US" sz="2200" i="0">
                              <a:latin typeface="Cambria Math" panose="02040503050406030204" pitchFamily="18" charset="0"/>
                            </a:rPr>
                            <m:t>Grade</m:t>
                          </m:r>
                        </m:sub>
                      </m:sSub>
                      <m:d>
                        <m:dPr>
                          <m:ctrlPr>
                            <a:rPr lang="zh-CN" altLang="en-US" sz="2200" i="1">
                              <a:latin typeface="Cambria Math" panose="02040503050406030204" pitchFamily="18" charset="0"/>
                            </a:rPr>
                          </m:ctrlPr>
                        </m:dPr>
                        <m:e>
                          <m:sSub>
                            <m:sSubPr>
                              <m:ctrlPr>
                                <a:rPr lang="zh-CN" altLang="en-US" sz="2200" i="1">
                                  <a:solidFill>
                                    <a:srgbClr val="836967"/>
                                  </a:solidFill>
                                  <a:latin typeface="Cambria Math" panose="02040503050406030204" pitchFamily="18" charset="0"/>
                                </a:rPr>
                              </m:ctrlPr>
                            </m:sSubPr>
                            <m:e>
                              <m:r>
                                <a:rPr lang="zh-CN" altLang="en-US" sz="2200" i="1">
                                  <a:latin typeface="Cambria Math" panose="02040503050406030204" pitchFamily="18" charset="0"/>
                                </a:rPr>
                                <m:t>𝜎</m:t>
                              </m:r>
                            </m:e>
                            <m:sub>
                              <m:r>
                                <a:rPr lang="zh-CN" altLang="en-US" sz="2200" i="0">
                                  <a:latin typeface="Cambria Math" panose="02040503050406030204" pitchFamily="18" charset="0"/>
                                </a:rPr>
                                <m:t> </m:t>
                              </m:r>
                              <m:r>
                                <m:rPr>
                                  <m:sty m:val="p"/>
                                </m:rPr>
                                <a:rPr lang="zh-CN" altLang="en-US" sz="2200" i="0">
                                  <a:latin typeface="Cambria Math" panose="02040503050406030204" pitchFamily="18" charset="0"/>
                                </a:rPr>
                                <m:t>Cno</m:t>
                              </m:r>
                              <m:r>
                                <a:rPr lang="zh-CN" altLang="en-US" sz="2200" i="0">
                                  <a:latin typeface="Cambria Math" panose="02040503050406030204" pitchFamily="18" charset="0"/>
                                </a:rPr>
                                <m:t>="1"  </m:t>
                              </m:r>
                            </m:sub>
                          </m:sSub>
                          <m:d>
                            <m:dPr>
                              <m:ctrlPr>
                                <a:rPr lang="zh-CN" altLang="en-US" sz="2200" i="1">
                                  <a:solidFill>
                                    <a:srgbClr val="836967"/>
                                  </a:solidFill>
                                  <a:latin typeface="Cambria Math" panose="02040503050406030204" pitchFamily="18" charset="0"/>
                                </a:rPr>
                              </m:ctrlPr>
                            </m:dPr>
                            <m:e>
                              <m:r>
                                <m:rPr>
                                  <m:sty m:val="p"/>
                                </m:rPr>
                                <a:rPr lang="zh-CN" altLang="en-US" sz="2200" i="0">
                                  <a:latin typeface="Cambria Math" panose="02040503050406030204" pitchFamily="18" charset="0"/>
                                </a:rPr>
                                <m:t>SC</m:t>
                              </m:r>
                              <m:r>
                                <a:rPr lang="zh-CN" altLang="en-US" sz="2200" i="0">
                                  <a:latin typeface="Cambria Math" panose="02040503050406030204" pitchFamily="18" charset="0"/>
                                </a:rPr>
                                <m:t>⋈</m:t>
                              </m:r>
                              <m:r>
                                <m:rPr>
                                  <m:sty m:val="p"/>
                                </m:rPr>
                                <a:rPr lang="zh-CN" altLang="en-US" sz="2200" i="0">
                                  <a:latin typeface="Cambria Math" panose="02040503050406030204" pitchFamily="18" charset="0"/>
                                </a:rPr>
                                <m:t>Student</m:t>
                              </m:r>
                            </m:e>
                          </m:d>
                        </m:e>
                      </m:d>
                    </m:oMath>
                  </m:oMathPara>
                </a14:m>
                <a:endParaRPr lang="zh-CN" altLang="en-US" sz="2200" dirty="0"/>
              </a:p>
            </p:txBody>
          </p:sp>
        </mc:Choice>
        <mc:Fallback xmlns="">
          <p:sp>
            <p:nvSpPr>
              <p:cNvPr id="9" name="文本框 8">
                <a:extLst>
                  <a:ext uri="{FF2B5EF4-FFF2-40B4-BE49-F238E27FC236}">
                    <a16:creationId xmlns:a16="http://schemas.microsoft.com/office/drawing/2014/main" id="{17F5CB21-A151-50F9-0D84-54E7E36C53E2}"/>
                  </a:ext>
                </a:extLst>
              </p:cNvPr>
              <p:cNvSpPr txBox="1">
                <a:spLocks noRot="1" noChangeAspect="1" noMove="1" noResize="1" noEditPoints="1" noAdjustHandles="1" noChangeArrowheads="1" noChangeShapeType="1" noTextEdit="1"/>
              </p:cNvSpPr>
              <p:nvPr/>
            </p:nvSpPr>
            <p:spPr>
              <a:xfrm>
                <a:off x="-450762" y="5289297"/>
                <a:ext cx="6499157" cy="474489"/>
              </a:xfrm>
              <a:prstGeom prst="rect">
                <a:avLst/>
              </a:prstGeom>
              <a:blipFill>
                <a:blip r:embed="rId7"/>
                <a:stretch>
                  <a:fillRect b="-12821"/>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F980ACF2-6B5D-4342-81E3-17122638009C}"/>
              </a:ext>
            </a:extLst>
          </p:cNvPr>
          <p:cNvSpPr/>
          <p:nvPr/>
        </p:nvSpPr>
        <p:spPr bwMode="auto">
          <a:xfrm>
            <a:off x="111924" y="5230814"/>
            <a:ext cx="5373787" cy="605446"/>
          </a:xfrm>
          <a:prstGeom prst="rect">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1" name="矩形 20">
            <a:extLst>
              <a:ext uri="{FF2B5EF4-FFF2-40B4-BE49-F238E27FC236}">
                <a16:creationId xmlns:a16="http://schemas.microsoft.com/office/drawing/2014/main" id="{BD4FE6C7-B223-27BA-CB01-5F8F53107C38}"/>
              </a:ext>
            </a:extLst>
          </p:cNvPr>
          <p:cNvSpPr/>
          <p:nvPr/>
        </p:nvSpPr>
        <p:spPr bwMode="auto">
          <a:xfrm>
            <a:off x="6284125" y="5202448"/>
            <a:ext cx="5795952" cy="605446"/>
          </a:xfrm>
          <a:prstGeom prst="rect">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0" name="矩形 19"/>
          <p:cNvSpPr/>
          <p:nvPr/>
        </p:nvSpPr>
        <p:spPr>
          <a:xfrm>
            <a:off x="2045752" y="1046925"/>
            <a:ext cx="7342087" cy="369332"/>
          </a:xfrm>
          <a:prstGeom prst="rect">
            <a:avLst/>
          </a:prstGeom>
          <a:solidFill>
            <a:srgbClr val="701988"/>
          </a:solidFill>
        </p:spPr>
        <p:txBody>
          <a:bodyPr wrap="square">
            <a:spAutoFit/>
          </a:bodyPr>
          <a:lstStyle/>
          <a:p>
            <a:pPr algn="ctr"/>
            <a:r>
              <a:rPr lang="zh-CN" altLang="en-US" b="1" dirty="0">
                <a:solidFill>
                  <a:schemeClr val="bg1"/>
                </a:solidFill>
                <a:latin typeface="+mj-ea"/>
                <a:ea typeface="+mj-ea"/>
              </a:rPr>
              <a:t>查询</a:t>
            </a:r>
            <a:r>
              <a:rPr lang="zh-CN" altLang="en-US" dirty="0">
                <a:solidFill>
                  <a:schemeClr val="bg1"/>
                </a:solidFill>
                <a:latin typeface="+mj-ea"/>
                <a:ea typeface="+mj-ea"/>
              </a:rPr>
              <a:t>：</a:t>
            </a:r>
            <a:r>
              <a:rPr lang="zh-CN" altLang="zh-CN" dirty="0">
                <a:solidFill>
                  <a:schemeClr val="bg1"/>
                </a:solidFill>
                <a:latin typeface="+mj-ea"/>
                <a:ea typeface="+mj-ea"/>
              </a:rPr>
              <a:t>获取</a:t>
            </a:r>
            <a:r>
              <a:rPr lang="zh-CN" altLang="en-US" dirty="0">
                <a:solidFill>
                  <a:schemeClr val="bg1"/>
                </a:solidFill>
                <a:latin typeface="+mj-ea"/>
                <a:ea typeface="+mj-ea"/>
              </a:rPr>
              <a:t>选修了</a:t>
            </a:r>
            <a:r>
              <a:rPr lang="en-US" altLang="zh-CN" dirty="0">
                <a:solidFill>
                  <a:schemeClr val="bg1"/>
                </a:solidFill>
                <a:latin typeface="+mj-ea"/>
                <a:ea typeface="+mj-ea"/>
              </a:rPr>
              <a:t>1</a:t>
            </a:r>
            <a:r>
              <a:rPr lang="zh-CN" altLang="en-US" dirty="0">
                <a:solidFill>
                  <a:schemeClr val="bg1"/>
                </a:solidFill>
                <a:latin typeface="+mj-ea"/>
                <a:ea typeface="+mj-ea"/>
              </a:rPr>
              <a:t>号课程的学生学号、姓名及成绩</a:t>
            </a:r>
          </a:p>
        </p:txBody>
      </p:sp>
    </p:spTree>
    <p:extLst>
      <p:ext uri="{BB962C8B-B14F-4D97-AF65-F5344CB8AC3E}">
        <p14:creationId xmlns:p14="http://schemas.microsoft.com/office/powerpoint/2010/main" val="59838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421651B-3011-D654-2C07-0B227BB2DE9B}"/>
              </a:ext>
            </a:extLst>
          </p:cNvPr>
          <p:cNvSpPr>
            <a:spLocks noGrp="1"/>
          </p:cNvSpPr>
          <p:nvPr>
            <p:ph type="sldNum" sz="quarter" idx="10"/>
          </p:nvPr>
        </p:nvSpPr>
        <p:spPr/>
        <p:txBody>
          <a:bodyPr/>
          <a:lstStyle/>
          <a:p>
            <a:fld id="{4B0D34C0-35A8-654C-9FBA-7B4E017BD630}" type="slidenum">
              <a:rPr lang="en-US" altLang="zh-CN" smtClean="0"/>
              <a:t>29</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选择下推</a:t>
            </a:r>
            <a:r>
              <a:rPr lang="zh-CN" altLang="en-US" dirty="0"/>
              <a:t>示例（</a:t>
            </a:r>
            <a:r>
              <a:rPr lang="en-US" altLang="zh-CN" dirty="0"/>
              <a:t>3</a:t>
            </a:r>
            <a:r>
              <a:rPr lang="zh-CN" altLang="en-US" dirty="0"/>
              <a:t>）</a:t>
            </a:r>
            <a:endParaRPr kumimoji="1" lang="zh-CN" altLang="en-US" dirty="0"/>
          </a:p>
        </p:txBody>
      </p:sp>
      <p:sp>
        <p:nvSpPr>
          <p:cNvPr id="4" name="页脚占位符 3">
            <a:extLst>
              <a:ext uri="{FF2B5EF4-FFF2-40B4-BE49-F238E27FC236}">
                <a16:creationId xmlns:a16="http://schemas.microsoft.com/office/drawing/2014/main" id="{580E2F55-2F05-79DD-E8A5-EEDE324A654C}"/>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11" name="矩形 10">
            <a:extLst>
              <a:ext uri="{FF2B5EF4-FFF2-40B4-BE49-F238E27FC236}">
                <a16:creationId xmlns:a16="http://schemas.microsoft.com/office/drawing/2014/main" id="{147F1A13-F728-1F53-3C01-FF04389D276C}"/>
              </a:ext>
            </a:extLst>
          </p:cNvPr>
          <p:cNvSpPr/>
          <p:nvPr/>
        </p:nvSpPr>
        <p:spPr>
          <a:xfrm>
            <a:off x="4461751" y="2580569"/>
            <a:ext cx="2997787" cy="553998"/>
          </a:xfrm>
          <a:prstGeom prst="rect">
            <a:avLst/>
          </a:prstGeom>
        </p:spPr>
        <p:txBody>
          <a:bodyPr wrap="square">
            <a:spAutoFit/>
          </a:bodyPr>
          <a:lstStyle/>
          <a:p>
            <a:pPr lvl="0" algn="just">
              <a:lnSpc>
                <a:spcPct val="150000"/>
              </a:lnSpc>
            </a:pPr>
            <a:r>
              <a:rPr lang="zh-CN" altLang="en-US" sz="2000" kern="100" dirty="0">
                <a:latin typeface="+mj-ea"/>
                <a:ea typeface="+mj-ea"/>
                <a:cs typeface="Times New Roman" panose="02020603050405020304" pitchFamily="18" charset="0"/>
              </a:rPr>
              <a:t>利用等价规则：</a:t>
            </a:r>
            <a:endParaRPr lang="zh-CN" altLang="zh-CN" sz="2000" kern="100" dirty="0">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5080DE1-70EF-A35D-9480-152024997977}"/>
                  </a:ext>
                </a:extLst>
              </p:cNvPr>
              <p:cNvSpPr txBox="1"/>
              <p:nvPr/>
            </p:nvSpPr>
            <p:spPr>
              <a:xfrm>
                <a:off x="4436120" y="3125624"/>
                <a:ext cx="4637098" cy="1029962"/>
              </a:xfrm>
              <a:prstGeom prst="rect">
                <a:avLst/>
              </a:prstGeom>
              <a:noFill/>
            </p:spPr>
            <p:txBody>
              <a:bodyPr wrap="square">
                <a:spAutoFit/>
              </a:bodyPr>
              <a:lstStyle/>
              <a:p>
                <a:pPr>
                  <a:lnSpc>
                    <a:spcPct val="150000"/>
                  </a:lnSpc>
                </a:pPr>
                <a14:m>
                  <m:oMath xmlns:m="http://schemas.openxmlformats.org/officeDocument/2006/math">
                    <m:sSub>
                      <m:sSubPr>
                        <m:ctrlPr>
                          <a:rPr lang="zh-CN" altLang="zh-CN" sz="2000" i="1" kern="100" smtClean="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𝜎</m:t>
                        </m:r>
                      </m:e>
                      <m:sub>
                        <m:r>
                          <a:rPr lang="en-US" altLang="zh-CN" sz="2000" b="0" i="1" kern="100" smtClean="0">
                            <a:latin typeface="Cambria Math" panose="02040503050406030204" pitchFamily="18" charset="0"/>
                            <a:ea typeface="+mj-ea"/>
                            <a:cs typeface="Times New Roman" panose="02020603050405020304" pitchFamily="18" charset="0"/>
                          </a:rPr>
                          <m:t>𝑝</m:t>
                        </m:r>
                      </m:sub>
                    </m:sSub>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Π</m:t>
                            </m:r>
                          </m:e>
                          <m:sub>
                            <m:r>
                              <a:rPr lang="en-US" altLang="zh-CN" sz="2000" i="1" kern="100">
                                <a:latin typeface="Cambria Math" panose="02040503050406030204" pitchFamily="18" charset="0"/>
                                <a:ea typeface="+mj-ea"/>
                                <a:cs typeface="Times New Roman" panose="02020603050405020304" pitchFamily="18" charset="0"/>
                              </a:rPr>
                              <m:t>𝑆</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i="1" kern="100">
                                <a:latin typeface="Cambria Math" panose="02040503050406030204" pitchFamily="18" charset="0"/>
                                <a:ea typeface="+mj-ea"/>
                                <a:cs typeface="Times New Roman" panose="02020603050405020304" pitchFamily="18" charset="0"/>
                              </a:rPr>
                              <m:t>𝑅</m:t>
                            </m:r>
                          </m:e>
                        </m:d>
                      </m:e>
                    </m:d>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Π</m:t>
                        </m:r>
                      </m:e>
                      <m:sub>
                        <m:r>
                          <a:rPr lang="en-US" altLang="zh-CN" sz="2000" i="1" kern="100">
                            <a:latin typeface="Cambria Math" panose="02040503050406030204" pitchFamily="18" charset="0"/>
                            <a:ea typeface="+mj-ea"/>
                            <a:cs typeface="Times New Roman" panose="02020603050405020304" pitchFamily="18" charset="0"/>
                          </a:rPr>
                          <m:t>𝑆</m:t>
                        </m:r>
                      </m:sub>
                    </m:sSub>
                    <m:r>
                      <a:rPr lang="en-US" altLang="zh-CN" sz="2000" i="1"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𝜎</m:t>
                        </m:r>
                      </m:e>
                      <m:sub>
                        <m:r>
                          <a:rPr lang="en-US" altLang="zh-CN" sz="2000" b="0" i="1" kern="100" smtClean="0">
                            <a:latin typeface="Cambria Math" panose="02040503050406030204" pitchFamily="18" charset="0"/>
                            <a:ea typeface="+mj-ea"/>
                            <a:cs typeface="Times New Roman" panose="02020603050405020304" pitchFamily="18" charset="0"/>
                          </a:rPr>
                          <m:t>𝑝</m:t>
                        </m:r>
                      </m:sub>
                    </m:sSub>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𝑅</m:t>
                    </m:r>
                    <m:r>
                      <a:rPr lang="en-US" altLang="zh-CN" sz="2000" i="1" kern="100">
                        <a:latin typeface="Cambria Math" panose="02040503050406030204" pitchFamily="18" charset="0"/>
                        <a:ea typeface="+mj-ea"/>
                        <a:cs typeface="Times New Roman" panose="02020603050405020304" pitchFamily="18" charset="0"/>
                      </a:rPr>
                      <m:t>)),</m:t>
                    </m:r>
                  </m:oMath>
                </a14:m>
                <a:r>
                  <a:rPr lang="en-US" altLang="zh-CN" sz="2000" kern="100" dirty="0">
                    <a:latin typeface="+mj-ea"/>
                    <a:ea typeface="+mj-ea"/>
                    <a:cs typeface="Times New Roman" panose="02020603050405020304" pitchFamily="18" charset="0"/>
                  </a:rPr>
                  <a:t> </a:t>
                </a:r>
              </a:p>
              <a:p>
                <a:pPr>
                  <a:lnSpc>
                    <a:spcPct val="150000"/>
                  </a:lnSpc>
                </a:pPr>
                <a:r>
                  <a:rPr lang="zh-CN" altLang="zh-CN" sz="2000" kern="100" dirty="0">
                    <a:latin typeface="+mj-ea"/>
                    <a:ea typeface="+mj-ea"/>
                    <a:cs typeface="Times New Roman" panose="02020603050405020304" pitchFamily="18" charset="0"/>
                  </a:rPr>
                  <a:t>选择条件</a:t>
                </a:r>
                <a14:m>
                  <m:oMath xmlns:m="http://schemas.openxmlformats.org/officeDocument/2006/math">
                    <m:r>
                      <a:rPr lang="en-US" altLang="zh-CN" sz="2000" b="0" i="1" kern="100" smtClean="0">
                        <a:latin typeface="Cambria Math" panose="02040503050406030204" pitchFamily="18" charset="0"/>
                        <a:ea typeface="+mj-ea"/>
                        <a:cs typeface="Times New Roman" panose="02020603050405020304" pitchFamily="18" charset="0"/>
                      </a:rPr>
                      <m:t>𝑝</m:t>
                    </m:r>
                  </m:oMath>
                </a14:m>
                <a:r>
                  <a:rPr lang="zh-CN" altLang="zh-CN" sz="2000" kern="100" dirty="0">
                    <a:latin typeface="+mj-ea"/>
                    <a:ea typeface="+mj-ea"/>
                    <a:cs typeface="Times New Roman" panose="02020603050405020304" pitchFamily="18" charset="0"/>
                  </a:rPr>
                  <a:t>只涉及投影</a:t>
                </a: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𝑆</m:t>
                    </m:r>
                  </m:oMath>
                </a14:m>
                <a:r>
                  <a:rPr lang="zh-CN" altLang="zh-CN" sz="2000" kern="100" dirty="0">
                    <a:latin typeface="+mj-ea"/>
                    <a:ea typeface="+mj-ea"/>
                    <a:cs typeface="Times New Roman" panose="02020603050405020304" pitchFamily="18" charset="0"/>
                  </a:rPr>
                  <a:t>中的属性</a:t>
                </a:r>
                <a:endParaRPr lang="zh-CN" altLang="en-US" sz="2000" dirty="0">
                  <a:latin typeface="+mj-ea"/>
                  <a:ea typeface="+mj-ea"/>
                </a:endParaRPr>
              </a:p>
            </p:txBody>
          </p:sp>
        </mc:Choice>
        <mc:Fallback xmlns="">
          <p:sp>
            <p:nvSpPr>
              <p:cNvPr id="12" name="文本框 11">
                <a:extLst>
                  <a:ext uri="{FF2B5EF4-FFF2-40B4-BE49-F238E27FC236}">
                    <a16:creationId xmlns:a16="http://schemas.microsoft.com/office/drawing/2014/main" xmlns:a14="http://schemas.microsoft.com/office/drawing/2010/main" xmlns="" id="{D5080DE1-70EF-A35D-9480-152024997977}"/>
                  </a:ext>
                </a:extLst>
              </p:cNvPr>
              <p:cNvSpPr txBox="1">
                <a:spLocks noRot="1" noChangeAspect="1" noMove="1" noResize="1" noEditPoints="1" noAdjustHandles="1" noChangeArrowheads="1" noChangeShapeType="1" noTextEdit="1"/>
              </p:cNvSpPr>
              <p:nvPr/>
            </p:nvSpPr>
            <p:spPr>
              <a:xfrm>
                <a:off x="4436120" y="3125624"/>
                <a:ext cx="4637098" cy="1029962"/>
              </a:xfrm>
              <a:prstGeom prst="rect">
                <a:avLst/>
              </a:prstGeom>
              <a:blipFill rotWithShape="0">
                <a:blip r:embed="rId3"/>
                <a:stretch>
                  <a:fillRect l="-1447" b="-9467"/>
                </a:stretch>
              </a:blipFill>
            </p:spPr>
            <p:txBody>
              <a:bodyPr/>
              <a:lstStyle/>
              <a:p>
                <a:r>
                  <a:rPr lang="zh-CN" altLang="en-US">
                    <a:noFill/>
                  </a:rPr>
                  <a:t> </a:t>
                </a:r>
              </a:p>
            </p:txBody>
          </p:sp>
        </mc:Fallback>
      </mc:AlternateContent>
      <p:sp>
        <p:nvSpPr>
          <p:cNvPr id="14" name="右箭头 13">
            <a:extLst>
              <a:ext uri="{FF2B5EF4-FFF2-40B4-BE49-F238E27FC236}">
                <a16:creationId xmlns:a16="http://schemas.microsoft.com/office/drawing/2014/main" id="{B305CF21-2ED9-BCFA-D5D7-2A28C8D2CBBE}"/>
              </a:ext>
            </a:extLst>
          </p:cNvPr>
          <p:cNvSpPr/>
          <p:nvPr/>
        </p:nvSpPr>
        <p:spPr bwMode="auto">
          <a:xfrm>
            <a:off x="3814829" y="3282670"/>
            <a:ext cx="346509" cy="325229"/>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6" name="右箭头 15">
            <a:extLst>
              <a:ext uri="{FF2B5EF4-FFF2-40B4-BE49-F238E27FC236}">
                <a16:creationId xmlns:a16="http://schemas.microsoft.com/office/drawing/2014/main" id="{66E9E576-84C0-2A1D-26A9-1BAE691BB489}"/>
              </a:ext>
            </a:extLst>
          </p:cNvPr>
          <p:cNvSpPr/>
          <p:nvPr/>
        </p:nvSpPr>
        <p:spPr bwMode="auto">
          <a:xfrm>
            <a:off x="8164968" y="3272656"/>
            <a:ext cx="346509" cy="325229"/>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579AF74-EB90-571A-BBAD-DC3720E59662}"/>
                  </a:ext>
                </a:extLst>
              </p:cNvPr>
              <p:cNvSpPr txBox="1"/>
              <p:nvPr/>
            </p:nvSpPr>
            <p:spPr>
              <a:xfrm>
                <a:off x="-250564" y="5425420"/>
                <a:ext cx="6499158"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zh-CN" altLang="en-US" i="0">
                              <a:solidFill>
                                <a:schemeClr val="tx1"/>
                              </a:solidFill>
                              <a:latin typeface="Cambria Math" panose="02040503050406030204" pitchFamily="18" charset="0"/>
                            </a:rPr>
                            <m:t>Sno</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Sname</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Grade</m:t>
                          </m:r>
                        </m:sub>
                      </m:sSub>
                      <m:d>
                        <m:dPr>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𝜎</m:t>
                              </m:r>
                            </m:e>
                            <m:sub>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Cno</m:t>
                              </m:r>
                              <m:r>
                                <a:rPr lang="zh-CN" altLang="en-US" i="0">
                                  <a:solidFill>
                                    <a:schemeClr val="tx1"/>
                                  </a:solidFill>
                                  <a:latin typeface="Cambria Math" panose="02040503050406030204" pitchFamily="18" charset="0"/>
                                </a:rPr>
                                <m:t>="1"  </m:t>
                              </m:r>
                            </m:sub>
                          </m:sSub>
                          <m:d>
                            <m:dPr>
                              <m:ctrlPr>
                                <a:rPr lang="zh-CN" altLang="en-US" i="1">
                                  <a:solidFill>
                                    <a:schemeClr val="tx1"/>
                                  </a:solidFill>
                                  <a:latin typeface="Cambria Math" panose="02040503050406030204" pitchFamily="18" charset="0"/>
                                </a:rPr>
                              </m:ctrlPr>
                            </m:dPr>
                            <m:e>
                              <m:sSub>
                                <m:sSubPr>
                                  <m:ctrlPr>
                                    <a:rPr lang="en-US" altLang="zh-CN"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en-US" altLang="zh-CN" i="0">
                                      <a:solidFill>
                                        <a:schemeClr val="tx1"/>
                                      </a:solidFill>
                                      <a:latin typeface="Cambria Math" panose="02040503050406030204" pitchFamily="18" charset="0"/>
                                    </a:rPr>
                                    <m:t>C</m:t>
                                  </m:r>
                                  <m:r>
                                    <m:rPr>
                                      <m:sty m:val="p"/>
                                    </m:rPr>
                                    <a:rPr lang="en-US" altLang="zh-CN" b="0" i="0" smtClean="0">
                                      <a:solidFill>
                                        <a:schemeClr val="tx1"/>
                                      </a:solidFill>
                                      <a:latin typeface="Cambria Math" panose="02040503050406030204" pitchFamily="18" charset="0"/>
                                    </a:rPr>
                                    <m:t>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Sno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Grade</m:t>
                                  </m:r>
                                </m:sub>
                              </m:sSub>
                              <m:r>
                                <m:rPr>
                                  <m:sty m:val="p"/>
                                </m:rPr>
                                <a:rPr lang="zh-CN" altLang="en-US" i="0">
                                  <a:solidFill>
                                    <a:schemeClr val="tx1"/>
                                  </a:solidFill>
                                  <a:latin typeface="Cambria Math" panose="02040503050406030204" pitchFamily="18" charset="0"/>
                                </a:rPr>
                                <m:t>SC</m:t>
                              </m:r>
                            </m:e>
                          </m:d>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Student</m:t>
                          </m:r>
                        </m:e>
                      </m:d>
                    </m:oMath>
                  </m:oMathPara>
                </a14:m>
                <a:endParaRPr lang="zh-CN" altLang="en-US" dirty="0">
                  <a:solidFill>
                    <a:schemeClr val="tx1"/>
                  </a:solidFill>
                </a:endParaRPr>
              </a:p>
            </p:txBody>
          </p:sp>
        </mc:Choice>
        <mc:Fallback xmlns="">
          <p:sp>
            <p:nvSpPr>
              <p:cNvPr id="7" name="文本框 6">
                <a:extLst>
                  <a:ext uri="{FF2B5EF4-FFF2-40B4-BE49-F238E27FC236}">
                    <a16:creationId xmlns:a16="http://schemas.microsoft.com/office/drawing/2014/main" id="{0579AF74-EB90-571A-BBAD-DC3720E59662}"/>
                  </a:ext>
                </a:extLst>
              </p:cNvPr>
              <p:cNvSpPr txBox="1">
                <a:spLocks noRot="1" noChangeAspect="1" noMove="1" noResize="1" noEditPoints="1" noAdjustHandles="1" noChangeArrowheads="1" noChangeShapeType="1" noTextEdit="1"/>
              </p:cNvSpPr>
              <p:nvPr/>
            </p:nvSpPr>
            <p:spPr>
              <a:xfrm>
                <a:off x="-250564" y="5425420"/>
                <a:ext cx="6499158" cy="404983"/>
              </a:xfrm>
              <a:prstGeom prst="rect">
                <a:avLst/>
              </a:prstGeom>
              <a:blipFill>
                <a:blip r:embed="rId5"/>
                <a:stretch>
                  <a:fillRect b="-15625"/>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28574A2C-77CC-EA7E-724B-D70D9FA87609}"/>
              </a:ext>
            </a:extLst>
          </p:cNvPr>
          <p:cNvSpPr/>
          <p:nvPr/>
        </p:nvSpPr>
        <p:spPr bwMode="auto">
          <a:xfrm>
            <a:off x="101039" y="5320603"/>
            <a:ext cx="5795952" cy="605446"/>
          </a:xfrm>
          <a:prstGeom prst="rect">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618C62E7-F808-E81D-F1F8-A67F0C94E60A}"/>
                  </a:ext>
                </a:extLst>
              </p:cNvPr>
              <p:cNvSpPr txBox="1"/>
              <p:nvPr/>
            </p:nvSpPr>
            <p:spPr>
              <a:xfrm>
                <a:off x="5926814" y="5380895"/>
                <a:ext cx="6499158" cy="5068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zh-CN" altLang="en-US" i="0">
                              <a:solidFill>
                                <a:schemeClr val="tx1"/>
                              </a:solidFill>
                              <a:latin typeface="Cambria Math" panose="02040503050406030204" pitchFamily="18" charset="0"/>
                            </a:rPr>
                            <m:t>Sno</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Sname</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Grade</m:t>
                          </m:r>
                        </m:sub>
                      </m:sSub>
                      <m:d>
                        <m:dPr>
                          <m:ctrlPr>
                            <a:rPr lang="zh-CN" altLang="en-US" i="1">
                              <a:solidFill>
                                <a:schemeClr val="tx1"/>
                              </a:solidFill>
                              <a:latin typeface="Cambria Math" panose="02040503050406030204" pitchFamily="18" charset="0"/>
                            </a:rPr>
                          </m:ctrlPr>
                        </m:dPr>
                        <m:e>
                          <m:d>
                            <m:dPr>
                              <m:ctrlPr>
                                <a:rPr lang="zh-CN" altLang="en-US" i="1">
                                  <a:solidFill>
                                    <a:schemeClr val="tx1"/>
                                  </a:solidFill>
                                  <a:latin typeface="Cambria Math" panose="02040503050406030204" pitchFamily="18" charset="0"/>
                                </a:rPr>
                              </m:ctrlPr>
                            </m:dPr>
                            <m:e>
                              <m:sSub>
                                <m:sSubPr>
                                  <m:ctrlPr>
                                    <a:rPr lang="en-US" altLang="zh-CN"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en-US" altLang="zh-CN" i="0">
                                      <a:solidFill>
                                        <a:schemeClr val="tx1"/>
                                      </a:solidFill>
                                      <a:latin typeface="Cambria Math" panose="02040503050406030204" pitchFamily="18" charset="0"/>
                                    </a:rPr>
                                    <m:t>C</m:t>
                                  </m:r>
                                  <m:r>
                                    <m:rPr>
                                      <m:sty m:val="p"/>
                                    </m:rPr>
                                    <a:rPr lang="en-US" altLang="zh-CN" b="0" i="0" smtClean="0">
                                      <a:solidFill>
                                        <a:schemeClr val="tx1"/>
                                      </a:solidFill>
                                      <a:latin typeface="Cambria Math" panose="02040503050406030204" pitchFamily="18" charset="0"/>
                                    </a:rPr>
                                    <m:t>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Sno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Grade</m:t>
                                  </m:r>
                                </m:sub>
                              </m:sSub>
                              <m:r>
                                <a:rPr lang="en-US" altLang="zh-CN" b="0" i="1" smtClean="0">
                                  <a:solidFill>
                                    <a:schemeClr val="tx1"/>
                                  </a:solidFill>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a:latin typeface="Cambria Math" panose="02040503050406030204" pitchFamily="18" charset="0"/>
                                    </a:rPr>
                                    <m:t> </m:t>
                                  </m:r>
                                  <m:r>
                                    <m:rPr>
                                      <m:sty m:val="p"/>
                                    </m:rPr>
                                    <a:rPr lang="zh-CN" altLang="en-US">
                                      <a:latin typeface="Cambria Math" panose="02040503050406030204" pitchFamily="18" charset="0"/>
                                    </a:rPr>
                                    <m:t>Cno</m:t>
                                  </m:r>
                                  <m:r>
                                    <a:rPr lang="zh-CN" altLang="en-US">
                                      <a:latin typeface="Cambria Math" panose="02040503050406030204" pitchFamily="18" charset="0"/>
                                    </a:rPr>
                                    <m:t>="1"  </m:t>
                                  </m:r>
                                </m:sub>
                              </m:sSub>
                              <m:r>
                                <m:rPr>
                                  <m:sty m:val="p"/>
                                </m:rPr>
                                <a:rPr lang="zh-CN" altLang="en-US" i="0">
                                  <a:solidFill>
                                    <a:schemeClr val="tx1"/>
                                  </a:solidFill>
                                  <a:latin typeface="Cambria Math" panose="02040503050406030204" pitchFamily="18" charset="0"/>
                                </a:rPr>
                                <m:t>SC</m:t>
                              </m:r>
                              <m:r>
                                <a:rPr lang="en-US" altLang="zh-CN" b="0" i="1" smtClean="0">
                                  <a:solidFill>
                                    <a:schemeClr val="tx1"/>
                                  </a:solidFill>
                                  <a:latin typeface="Cambria Math" panose="02040503050406030204" pitchFamily="18" charset="0"/>
                                </a:rPr>
                                <m:t>)</m:t>
                              </m:r>
                            </m:e>
                          </m:d>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Student</m:t>
                          </m:r>
                        </m:e>
                      </m:d>
                    </m:oMath>
                  </m:oMathPara>
                </a14:m>
                <a:endParaRPr lang="zh-CN" altLang="en-US" dirty="0">
                  <a:solidFill>
                    <a:schemeClr val="tx1"/>
                  </a:solidFill>
                </a:endParaRPr>
              </a:p>
            </p:txBody>
          </p:sp>
        </mc:Choice>
        <mc:Fallback xmlns="">
          <p:sp>
            <p:nvSpPr>
              <p:cNvPr id="25" name="文本框 24">
                <a:extLst>
                  <a:ext uri="{FF2B5EF4-FFF2-40B4-BE49-F238E27FC236}">
                    <a16:creationId xmlns:a16="http://schemas.microsoft.com/office/drawing/2014/main" id="{618C62E7-F808-E81D-F1F8-A67F0C94E60A}"/>
                  </a:ext>
                </a:extLst>
              </p:cNvPr>
              <p:cNvSpPr txBox="1">
                <a:spLocks noRot="1" noChangeAspect="1" noMove="1" noResize="1" noEditPoints="1" noAdjustHandles="1" noChangeArrowheads="1" noChangeShapeType="1" noTextEdit="1"/>
              </p:cNvSpPr>
              <p:nvPr/>
            </p:nvSpPr>
            <p:spPr>
              <a:xfrm>
                <a:off x="5926814" y="5380895"/>
                <a:ext cx="6499158" cy="506870"/>
              </a:xfrm>
              <a:prstGeom prst="rect">
                <a:avLst/>
              </a:prstGeom>
              <a:blipFill>
                <a:blip r:embed="rId6"/>
                <a:stretch>
                  <a:fillRect/>
                </a:stretch>
              </a:blipFill>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D054D89D-2DC2-A0D3-41C6-E57826C089A5}"/>
              </a:ext>
            </a:extLst>
          </p:cNvPr>
          <p:cNvSpPr/>
          <p:nvPr/>
        </p:nvSpPr>
        <p:spPr bwMode="auto">
          <a:xfrm>
            <a:off x="6153751" y="5320603"/>
            <a:ext cx="5994961" cy="605446"/>
          </a:xfrm>
          <a:prstGeom prst="rect">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nvGrpSpPr>
          <p:cNvPr id="15" name="组合 14"/>
          <p:cNvGrpSpPr/>
          <p:nvPr/>
        </p:nvGrpSpPr>
        <p:grpSpPr>
          <a:xfrm>
            <a:off x="1233935" y="2322343"/>
            <a:ext cx="2449145" cy="2232046"/>
            <a:chOff x="310812" y="2325787"/>
            <a:chExt cx="3085591" cy="2812076"/>
          </a:xfrm>
        </p:grpSpPr>
        <p:pic>
          <p:nvPicPr>
            <p:cNvPr id="6" name="图片 5">
              <a:extLst>
                <a:ext uri="{FF2B5EF4-FFF2-40B4-BE49-F238E27FC236}">
                  <a16:creationId xmlns:a16="http://schemas.microsoft.com/office/drawing/2014/main" id="{419F8A6F-4E42-D49F-778B-5A1B84E58109}"/>
                </a:ext>
              </a:extLst>
            </p:cNvPr>
            <p:cNvPicPr>
              <a:picLocks noChangeAspect="1"/>
            </p:cNvPicPr>
            <p:nvPr/>
          </p:nvPicPr>
          <p:blipFill>
            <a:blip r:embed="rId7"/>
            <a:stretch>
              <a:fillRect/>
            </a:stretch>
          </p:blipFill>
          <p:spPr>
            <a:xfrm>
              <a:off x="310812" y="2325787"/>
              <a:ext cx="3085591" cy="2812076"/>
            </a:xfrm>
            <a:prstGeom prst="rect">
              <a:avLst/>
            </a:prstGeom>
          </p:spPr>
        </p:pic>
        <p:sp>
          <p:nvSpPr>
            <p:cNvPr id="10" name="矩形 9">
              <a:extLst>
                <a:ext uri="{FF2B5EF4-FFF2-40B4-BE49-F238E27FC236}">
                  <a16:creationId xmlns:a16="http://schemas.microsoft.com/office/drawing/2014/main" id="{11FB1418-E900-2C7A-9967-B88FDE00FFF6}"/>
                </a:ext>
              </a:extLst>
            </p:cNvPr>
            <p:cNvSpPr/>
            <p:nvPr/>
          </p:nvSpPr>
          <p:spPr bwMode="auto">
            <a:xfrm>
              <a:off x="862436" y="3873590"/>
              <a:ext cx="1508536" cy="442762"/>
            </a:xfrm>
            <a:prstGeom prst="rect">
              <a:avLst/>
            </a:prstGeom>
            <a:noFill/>
            <a:ln w="38100" cap="flat" cmpd="sng" algn="ctr">
              <a:solidFill>
                <a:srgbClr val="743481"/>
              </a:solidFill>
              <a:prstDash val="lg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grpSp>
        <p:nvGrpSpPr>
          <p:cNvPr id="8" name="组合 7"/>
          <p:cNvGrpSpPr/>
          <p:nvPr/>
        </p:nvGrpSpPr>
        <p:grpSpPr>
          <a:xfrm>
            <a:off x="8680014" y="2371728"/>
            <a:ext cx="2204600" cy="2147114"/>
            <a:chOff x="9176393" y="2223069"/>
            <a:chExt cx="2777498" cy="2705073"/>
          </a:xfrm>
        </p:grpSpPr>
        <p:pic>
          <p:nvPicPr>
            <p:cNvPr id="13" name="图片 12">
              <a:extLst>
                <a:ext uri="{FF2B5EF4-FFF2-40B4-BE49-F238E27FC236}">
                  <a16:creationId xmlns:a16="http://schemas.microsoft.com/office/drawing/2014/main" id="{DAD1B0E0-58ED-92B9-51F6-2670ED9DD219}"/>
                </a:ext>
              </a:extLst>
            </p:cNvPr>
            <p:cNvPicPr>
              <a:picLocks noChangeAspect="1"/>
            </p:cNvPicPr>
            <p:nvPr/>
          </p:nvPicPr>
          <p:blipFill>
            <a:blip r:embed="rId8"/>
            <a:stretch>
              <a:fillRect/>
            </a:stretch>
          </p:blipFill>
          <p:spPr>
            <a:xfrm>
              <a:off x="9219415" y="2223069"/>
              <a:ext cx="2734476" cy="2705073"/>
            </a:xfrm>
            <a:prstGeom prst="rect">
              <a:avLst/>
            </a:prstGeom>
          </p:spPr>
        </p:pic>
        <p:sp>
          <p:nvSpPr>
            <p:cNvPr id="17" name="矩形 16">
              <a:extLst>
                <a:ext uri="{FF2B5EF4-FFF2-40B4-BE49-F238E27FC236}">
                  <a16:creationId xmlns:a16="http://schemas.microsoft.com/office/drawing/2014/main" id="{89DAC58B-3FDF-403C-A314-6B01D32673F0}"/>
                </a:ext>
              </a:extLst>
            </p:cNvPr>
            <p:cNvSpPr/>
            <p:nvPr/>
          </p:nvSpPr>
          <p:spPr bwMode="auto">
            <a:xfrm>
              <a:off x="9176393" y="4094971"/>
              <a:ext cx="1508536" cy="442762"/>
            </a:xfrm>
            <a:prstGeom prst="rect">
              <a:avLst/>
            </a:prstGeom>
            <a:noFill/>
            <a:ln w="38100" cap="flat" cmpd="sng" algn="ctr">
              <a:solidFill>
                <a:srgbClr val="743481"/>
              </a:solidFill>
              <a:prstDash val="lg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sp>
        <p:nvSpPr>
          <p:cNvPr id="19" name="矩形 18"/>
          <p:cNvSpPr/>
          <p:nvPr/>
        </p:nvSpPr>
        <p:spPr>
          <a:xfrm>
            <a:off x="2045752" y="1046925"/>
            <a:ext cx="7342087" cy="369332"/>
          </a:xfrm>
          <a:prstGeom prst="rect">
            <a:avLst/>
          </a:prstGeom>
          <a:solidFill>
            <a:srgbClr val="701988"/>
          </a:solidFill>
        </p:spPr>
        <p:txBody>
          <a:bodyPr wrap="square">
            <a:spAutoFit/>
          </a:bodyPr>
          <a:lstStyle/>
          <a:p>
            <a:pPr algn="ctr"/>
            <a:r>
              <a:rPr lang="zh-CN" altLang="en-US" b="1" dirty="0">
                <a:solidFill>
                  <a:schemeClr val="bg1"/>
                </a:solidFill>
                <a:latin typeface="+mj-ea"/>
                <a:ea typeface="+mj-ea"/>
              </a:rPr>
              <a:t>查询</a:t>
            </a:r>
            <a:r>
              <a:rPr lang="zh-CN" altLang="en-US" dirty="0">
                <a:solidFill>
                  <a:schemeClr val="bg1"/>
                </a:solidFill>
                <a:latin typeface="+mj-ea"/>
                <a:ea typeface="+mj-ea"/>
              </a:rPr>
              <a:t>：</a:t>
            </a:r>
            <a:r>
              <a:rPr lang="zh-CN" altLang="zh-CN" dirty="0">
                <a:solidFill>
                  <a:schemeClr val="bg1"/>
                </a:solidFill>
                <a:latin typeface="+mj-ea"/>
                <a:ea typeface="+mj-ea"/>
              </a:rPr>
              <a:t>获取</a:t>
            </a:r>
            <a:r>
              <a:rPr lang="zh-CN" altLang="en-US" dirty="0">
                <a:solidFill>
                  <a:schemeClr val="bg1"/>
                </a:solidFill>
                <a:latin typeface="+mj-ea"/>
                <a:ea typeface="+mj-ea"/>
              </a:rPr>
              <a:t>选修了</a:t>
            </a:r>
            <a:r>
              <a:rPr lang="en-US" altLang="zh-CN" dirty="0">
                <a:solidFill>
                  <a:schemeClr val="bg1"/>
                </a:solidFill>
                <a:latin typeface="+mj-ea"/>
                <a:ea typeface="+mj-ea"/>
              </a:rPr>
              <a:t>1</a:t>
            </a:r>
            <a:r>
              <a:rPr lang="zh-CN" altLang="en-US" dirty="0">
                <a:solidFill>
                  <a:schemeClr val="bg1"/>
                </a:solidFill>
                <a:latin typeface="+mj-ea"/>
                <a:ea typeface="+mj-ea"/>
              </a:rPr>
              <a:t>号课程的学生学号、姓名及成绩</a:t>
            </a:r>
          </a:p>
        </p:txBody>
      </p:sp>
    </p:spTree>
    <p:extLst>
      <p:ext uri="{BB962C8B-B14F-4D97-AF65-F5344CB8AC3E}">
        <p14:creationId xmlns:p14="http://schemas.microsoft.com/office/powerpoint/2010/main" val="355354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0FF52922-3D42-4412-80D4-E8608AC407DF}"/>
              </a:ext>
            </a:extLst>
          </p:cNvPr>
          <p:cNvSpPr/>
          <p:nvPr/>
        </p:nvSpPr>
        <p:spPr>
          <a:xfrm>
            <a:off x="5895695" y="1342386"/>
            <a:ext cx="5475087" cy="427961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78AC2B1-4E9F-00C7-F9AB-209580E101AF}"/>
                  </a:ext>
                </a:extLst>
              </p:cNvPr>
              <p:cNvSpPr/>
              <p:nvPr/>
            </p:nvSpPr>
            <p:spPr>
              <a:xfrm>
                <a:off x="6235119" y="1295287"/>
                <a:ext cx="5045376" cy="3095463"/>
              </a:xfrm>
              <a:prstGeom prst="rect">
                <a:avLst/>
              </a:prstGeom>
            </p:spPr>
            <p:txBody>
              <a:bodyPr wrap="square">
                <a:spAutoFit/>
              </a:bodyPr>
              <a:lstStyle/>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 ⋀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2</m:t>
                            </m:r>
                          </m:sub>
                        </m:sSub>
                      </m:sub>
                    </m:sSub>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𝑅</m:t>
                    </m:r>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1</m:t>
                            </m:r>
                          </m:sub>
                        </m:sSub>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2</m:t>
                                </m:r>
                              </m:sub>
                            </m:sSub>
                          </m:sub>
                        </m:sSub>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𝑅</m:t>
                            </m:r>
                          </m:e>
                        </m:d>
                      </m:e>
                    </m:d>
                  </m:oMath>
                </a14:m>
                <a:endParaRPr lang="zh-CN" altLang="zh-CN" i="1" kern="100" dirty="0">
                  <a:latin typeface="Cambria Math" panose="02040503050406030204" pitchFamily="18" charset="0"/>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 ⋀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2</m:t>
                            </m:r>
                          </m:sub>
                        </m:sSub>
                      </m:sub>
                    </m:sSub>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𝑅</m:t>
                    </m:r>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2</m:t>
                            </m:r>
                          </m:sub>
                        </m:sSub>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1</m:t>
                                </m:r>
                              </m:sub>
                            </m:sSub>
                          </m:sub>
                        </m:sSub>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𝑅</m:t>
                            </m:r>
                          </m:e>
                        </m:d>
                      </m:e>
                    </m:d>
                  </m:oMath>
                </a14:m>
                <a:endParaRPr lang="en-US" altLang="zh-CN" i="1" kern="100" dirty="0">
                  <a:latin typeface="Cambria Math" panose="02040503050406030204" pitchFamily="18" charset="0"/>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m:rPr>
                                <m:sty m:val="p"/>
                              </m:rPr>
                              <a:rPr lang="en-US" altLang="zh-CN" i="1" kern="100">
                                <a:latin typeface="Cambria Math" panose="02040503050406030204" pitchFamily="18" charset="0"/>
                                <a:ea typeface="+mj-ea"/>
                                <a:cs typeface="Times New Roman" panose="02020603050405020304" pitchFamily="18" charset="0"/>
                              </a:rPr>
                              <m:t>Π</m:t>
                            </m:r>
                          </m:e>
                          <m:sub>
                            <m:r>
                              <a:rPr lang="en-US" altLang="zh-CN" i="1" kern="100">
                                <a:latin typeface="Cambria Math" panose="02040503050406030204" pitchFamily="18" charset="0"/>
                                <a:ea typeface="+mj-ea"/>
                                <a:cs typeface="Times New Roman" panose="02020603050405020304" pitchFamily="18" charset="0"/>
                              </a:rPr>
                              <m:t>𝑆</m:t>
                            </m:r>
                          </m:sub>
                        </m:sSub>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𝑅</m:t>
                            </m:r>
                          </m:e>
                        </m:d>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m:rPr>
                            <m:sty m:val="p"/>
                          </m:rPr>
                          <a:rPr lang="en-US" altLang="zh-CN" i="1" kern="100">
                            <a:latin typeface="Cambria Math" panose="02040503050406030204" pitchFamily="18" charset="0"/>
                            <a:ea typeface="+mj-ea"/>
                            <a:cs typeface="Times New Roman" panose="02020603050405020304" pitchFamily="18" charset="0"/>
                          </a:rPr>
                          <m:t>Π</m:t>
                        </m:r>
                      </m:e>
                      <m:sub>
                        <m:r>
                          <a:rPr lang="en-US" altLang="zh-CN" i="1" kern="100">
                            <a:latin typeface="Cambria Math" panose="02040503050406030204" pitchFamily="18" charset="0"/>
                            <a:ea typeface="+mj-ea"/>
                            <a:cs typeface="Times New Roman" panose="02020603050405020304" pitchFamily="18" charset="0"/>
                          </a:rPr>
                          <m:t>𝑆</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𝑅</m:t>
                    </m:r>
                    <m:r>
                      <a:rPr lang="en-US" altLang="zh-CN" i="1" kern="100">
                        <a:latin typeface="Cambria Math" panose="02040503050406030204" pitchFamily="18" charset="0"/>
                        <a:ea typeface="+mj-ea"/>
                        <a:cs typeface="Times New Roman" panose="02020603050405020304" pitchFamily="18" charset="0"/>
                      </a:rPr>
                      <m:t>)),</m:t>
                    </m:r>
                  </m:oMath>
                </a14:m>
                <a:r>
                  <a:rPr lang="en-US" altLang="zh-CN" i="1" kern="100" dirty="0">
                    <a:latin typeface="Cambria Math" panose="02040503050406030204" pitchFamily="18" charset="0"/>
                    <a:ea typeface="+mj-ea"/>
                    <a:cs typeface="Times New Roman" panose="02020603050405020304" pitchFamily="18" charset="0"/>
                  </a:rPr>
                  <a:t> </a:t>
                </a:r>
                <a:r>
                  <a:rPr lang="zh-CN" altLang="zh-CN" i="1" kern="100" dirty="0">
                    <a:latin typeface="Cambria Math" panose="02040503050406030204" pitchFamily="18" charset="0"/>
                    <a:ea typeface="+mj-ea"/>
                    <a:cs typeface="Times New Roman" panose="02020603050405020304" pitchFamily="18" charset="0"/>
                  </a:rPr>
                  <a:t>其中选择</a:t>
                </a:r>
                <a:r>
                  <a:rPr lang="zh-CN" altLang="zh-CN" kern="100" dirty="0">
                    <a:latin typeface="+mj-ea"/>
                    <a:ea typeface="+mj-ea"/>
                    <a:cs typeface="Times New Roman" panose="02020603050405020304" pitchFamily="18" charset="0"/>
                  </a:rPr>
                  <a:t>条件</a:t>
                </a:r>
                <a14:m>
                  <m:oMath xmlns:m="http://schemas.openxmlformats.org/officeDocument/2006/math">
                    <m:r>
                      <a:rPr lang="en-US" altLang="zh-CN" b="0" i="1" kern="100" smtClean="0">
                        <a:latin typeface="Cambria Math" panose="02040503050406030204" pitchFamily="18" charset="0"/>
                        <a:ea typeface="+mj-ea"/>
                        <a:cs typeface="Times New Roman" panose="02020603050405020304" pitchFamily="18" charset="0"/>
                      </a:rPr>
                      <m:t>𝑝</m:t>
                    </m:r>
                  </m:oMath>
                </a14:m>
                <a:r>
                  <a:rPr lang="zh-CN" altLang="zh-CN" kern="100" dirty="0">
                    <a:latin typeface="+mj-ea"/>
                    <a:ea typeface="+mj-ea"/>
                    <a:cs typeface="Times New Roman" panose="02020603050405020304" pitchFamily="18" charset="0"/>
                  </a:rPr>
                  <a:t>只涉及投影</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𝑆</m:t>
                    </m:r>
                  </m:oMath>
                </a14:m>
                <a:r>
                  <a:rPr lang="zh-CN" altLang="zh-CN" kern="100" dirty="0">
                    <a:latin typeface="+mj-ea"/>
                    <a:ea typeface="+mj-ea"/>
                    <a:cs typeface="Times New Roman" panose="02020603050405020304" pitchFamily="18" charset="0"/>
                  </a:rPr>
                  <a:t>中的属性</a:t>
                </a:r>
                <a:endParaRPr lang="en-US" altLang="zh-CN" kern="100" dirty="0">
                  <a:latin typeface="+mj-ea"/>
                  <a:ea typeface="+mj-ea"/>
                  <a:cs typeface="Times New Roman" panose="02020603050405020304" pitchFamily="18" charset="0"/>
                </a:endParaRPr>
              </a:p>
              <a:p>
                <a:pPr lvl="0" algn="just">
                  <a:lnSpc>
                    <a:spcPct val="150000"/>
                  </a:lnSpc>
                </a:pPr>
                <a:r>
                  <a:rPr lang="en-US" altLang="zh-CN" kern="100" dirty="0">
                    <a:latin typeface="+mj-ea"/>
                    <a:ea typeface="+mj-ea"/>
                    <a:cs typeface="Times New Roman" panose="02020603050405020304" pitchFamily="18" charset="0"/>
                  </a:rPr>
                  <a:t>     </a:t>
                </a:r>
                <a:r>
                  <a:rPr lang="zh-CN" altLang="zh-CN" kern="100" dirty="0">
                    <a:latin typeface="+mj-ea"/>
                    <a:ea typeface="+mj-ea"/>
                    <a:cs typeface="Times New Roman" panose="02020603050405020304" pitchFamily="18" charset="0"/>
                  </a:rPr>
                  <a:t>当</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𝑅</m:t>
                    </m:r>
                  </m:oMath>
                </a14:m>
                <a:r>
                  <a:rPr lang="zh-CN" altLang="en-US" kern="100" dirty="0">
                    <a:latin typeface="+mj-ea"/>
                    <a:ea typeface="+mj-ea"/>
                    <a:cs typeface="Times New Roman" panose="02020603050405020304" pitchFamily="18" charset="0"/>
                  </a:rPr>
                  <a:t>无重复元组</a:t>
                </a:r>
                <a:r>
                  <a:rPr lang="zh-CN" altLang="zh-CN" kern="100" dirty="0">
                    <a:latin typeface="+mj-ea"/>
                    <a:ea typeface="+mj-ea"/>
                    <a:cs typeface="Times New Roman" panose="02020603050405020304" pitchFamily="18" charset="0"/>
                  </a:rPr>
                  <a:t>时：</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 ⋁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2</m:t>
                            </m:r>
                          </m:sub>
                        </m:sSub>
                      </m:sub>
                    </m:sSub>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𝑅</m:t>
                        </m:r>
                      </m:e>
                    </m:d>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1</m:t>
                            </m:r>
                          </m:sub>
                        </m:sSub>
                      </m:sub>
                    </m:sSub>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𝑅</m:t>
                        </m:r>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𝑝</m:t>
                            </m:r>
                          </m:e>
                          <m:sub>
                            <m:r>
                              <a:rPr lang="en-US" altLang="zh-CN" i="1" kern="100">
                                <a:latin typeface="Cambria Math" panose="02040503050406030204" pitchFamily="18" charset="0"/>
                                <a:ea typeface="+mj-ea"/>
                                <a:cs typeface="Times New Roman" panose="02020603050405020304" pitchFamily="18" charset="0"/>
                              </a:rPr>
                              <m:t>2</m:t>
                            </m:r>
                          </m:sub>
                        </m:sSub>
                      </m:sub>
                    </m:sSub>
                    <m:r>
                      <a:rPr lang="en-US" altLang="zh-CN" i="1" kern="100">
                        <a:latin typeface="Cambria Math" panose="02040503050406030204" pitchFamily="18" charset="0"/>
                        <a:ea typeface="+mj-ea"/>
                        <a:cs typeface="Times New Roman" panose="02020603050405020304" pitchFamily="18" charset="0"/>
                      </a:rPr>
                      <m:t>(</m:t>
                    </m:r>
                    <m:r>
                      <a:rPr lang="en-US" altLang="zh-CN" i="1" kern="100">
                        <a:latin typeface="Cambria Math" panose="02040503050406030204" pitchFamily="18" charset="0"/>
                        <a:ea typeface="+mj-ea"/>
                        <a:cs typeface="Times New Roman" panose="02020603050405020304" pitchFamily="18" charset="0"/>
                      </a:rPr>
                      <m:t>𝑅</m:t>
                    </m:r>
                    <m:r>
                      <a:rPr lang="en-US" altLang="zh-CN" i="1" kern="100">
                        <a:latin typeface="Cambria Math" panose="02040503050406030204" pitchFamily="18" charset="0"/>
                        <a:ea typeface="+mj-ea"/>
                        <a:cs typeface="Times New Roman" panose="02020603050405020304" pitchFamily="18" charset="0"/>
                      </a:rPr>
                      <m:t>)</m:t>
                    </m:r>
                  </m:oMath>
                </a14:m>
                <a:endParaRPr lang="zh-CN" altLang="zh-CN" i="1" kern="100" dirty="0">
                  <a:latin typeface="Cambria Math" panose="02040503050406030204" pitchFamily="18" charset="0"/>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78AC2B1-4E9F-00C7-F9AB-209580E101AF}"/>
                  </a:ext>
                </a:extLst>
              </p:cNvPr>
              <p:cNvSpPr>
                <a:spLocks noRot="1" noChangeAspect="1" noMove="1" noResize="1" noEditPoints="1" noAdjustHandles="1" noChangeArrowheads="1" noChangeShapeType="1" noTextEdit="1"/>
              </p:cNvSpPr>
              <p:nvPr/>
            </p:nvSpPr>
            <p:spPr>
              <a:xfrm>
                <a:off x="6235119" y="1295287"/>
                <a:ext cx="5045376" cy="3095463"/>
              </a:xfrm>
              <a:prstGeom prst="rect">
                <a:avLst/>
              </a:prstGeom>
              <a:blipFill rotWithShape="0">
                <a:blip r:embed="rId3"/>
                <a:stretch>
                  <a:fillRect l="-846" r="-967"/>
                </a:stretch>
              </a:blipFill>
            </p:spPr>
            <p:txBody>
              <a:bodyPr/>
              <a:lstStyle/>
              <a:p>
                <a:r>
                  <a:rPr lang="zh-CN" altLang="en-US">
                    <a:noFill/>
                  </a:rPr>
                  <a:t> </a:t>
                </a:r>
              </a:p>
            </p:txBody>
          </p:sp>
        </mc:Fallback>
      </mc:AlternateContent>
      <p:sp>
        <p:nvSpPr>
          <p:cNvPr id="10" name="Shape18">
            <a:extLst>
              <a:ext uri="{FF2B5EF4-FFF2-40B4-BE49-F238E27FC236}">
                <a16:creationId xmlns:a16="http://schemas.microsoft.com/office/drawing/2014/main" id="{0FF52922-3D42-4412-80D4-E8608AC407DF}"/>
              </a:ext>
            </a:extLst>
          </p:cNvPr>
          <p:cNvSpPr/>
          <p:nvPr/>
        </p:nvSpPr>
        <p:spPr>
          <a:xfrm>
            <a:off x="850245" y="3675804"/>
            <a:ext cx="4636146" cy="194620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8" name="Shape18">
            <a:extLst>
              <a:ext uri="{FF2B5EF4-FFF2-40B4-BE49-F238E27FC236}">
                <a16:creationId xmlns:a16="http://schemas.microsoft.com/office/drawing/2014/main" id="{0FF52922-3D42-4412-80D4-E8608AC407DF}"/>
              </a:ext>
            </a:extLst>
          </p:cNvPr>
          <p:cNvSpPr/>
          <p:nvPr/>
        </p:nvSpPr>
        <p:spPr>
          <a:xfrm>
            <a:off x="850246" y="1338206"/>
            <a:ext cx="4636146" cy="194620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灯片编号占位符 2">
            <a:extLst>
              <a:ext uri="{FF2B5EF4-FFF2-40B4-BE49-F238E27FC236}">
                <a16:creationId xmlns:a16="http://schemas.microsoft.com/office/drawing/2014/main" id="{D421651B-3011-D654-2C07-0B227BB2DE9B}"/>
              </a:ext>
            </a:extLst>
          </p:cNvPr>
          <p:cNvSpPr>
            <a:spLocks noGrp="1"/>
          </p:cNvSpPr>
          <p:nvPr>
            <p:ph type="sldNum" sz="quarter" idx="10"/>
          </p:nvPr>
        </p:nvSpPr>
        <p:spPr/>
        <p:txBody>
          <a:bodyPr/>
          <a:lstStyle/>
          <a:p>
            <a:fld id="{4B0D34C0-35A8-654C-9FBA-7B4E017BD630}" type="slidenum">
              <a:rPr lang="en-US" altLang="zh-CN" smtClean="0"/>
              <a:t>30</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选择运算的等价规则</a:t>
            </a:r>
          </a:p>
        </p:txBody>
      </p:sp>
      <p:sp>
        <p:nvSpPr>
          <p:cNvPr id="4" name="页脚占位符 3">
            <a:extLst>
              <a:ext uri="{FF2B5EF4-FFF2-40B4-BE49-F238E27FC236}">
                <a16:creationId xmlns:a16="http://schemas.microsoft.com/office/drawing/2014/main" id="{082A9596-4004-DCA9-3109-4DBB357671D9}"/>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D414DB1-73B0-14B1-5026-F6220BEE7F94}"/>
                  </a:ext>
                </a:extLst>
              </p:cNvPr>
              <p:cNvSpPr/>
              <p:nvPr/>
            </p:nvSpPr>
            <p:spPr>
              <a:xfrm>
                <a:off x="931182" y="1488148"/>
                <a:ext cx="4715339" cy="1397947"/>
              </a:xfrm>
              <a:prstGeom prst="rect">
                <a:avLst/>
              </a:prstGeom>
            </p:spPr>
            <p:txBody>
              <a:bodyPr wrap="square">
                <a:spAutoFit/>
              </a:bodyPr>
              <a:lstStyle/>
              <a:p>
                <a:pPr marL="342900" indent="-342900" algn="just">
                  <a:lnSpc>
                    <a:spcPct val="150000"/>
                  </a:lnSpc>
                  <a:buFont typeface="Wingdings" panose="05000000000000000000" pitchFamily="2" charset="2"/>
                  <a:buChar char="Ø"/>
                </a:pPr>
                <a14:m>
                  <m:oMath xmlns:m="http://schemas.openxmlformats.org/officeDocument/2006/math">
                    <m:sSub>
                      <m:sSubPr>
                        <m:ctrlPr>
                          <a:rPr lang="zh-CN" altLang="zh-CN" i="1" kern="100" smtClean="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oMath>
                </a14:m>
                <a:endParaRPr lang="en-US" altLang="zh-CN" i="1"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oMath>
                </a14:m>
                <a:endParaRPr lang="zh-CN" altLang="zh-CN"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oMath>
                </a14:m>
                <a:endParaRPr lang="en-US" altLang="zh-CN" i="1" kern="100" dirty="0">
                  <a:latin typeface="+mj-ea"/>
                  <a:ea typeface="+mj-ea"/>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xmlns:a14="http://schemas.microsoft.com/office/drawing/2010/main" xmlns="" id="{6D414DB1-73B0-14B1-5026-F6220BEE7F94}"/>
                  </a:ext>
                </a:extLst>
              </p:cNvPr>
              <p:cNvSpPr>
                <a:spLocks noRot="1" noChangeAspect="1" noMove="1" noResize="1" noEditPoints="1" noAdjustHandles="1" noChangeArrowheads="1" noChangeShapeType="1" noTextEdit="1"/>
              </p:cNvSpPr>
              <p:nvPr/>
            </p:nvSpPr>
            <p:spPr>
              <a:xfrm>
                <a:off x="931182" y="1488148"/>
                <a:ext cx="4715339" cy="1397947"/>
              </a:xfrm>
              <a:prstGeom prst="rect">
                <a:avLst/>
              </a:prstGeom>
              <a:blipFill rotWithShape="0">
                <a:blip r:embed="rId4"/>
                <a:stretch>
                  <a:fillRect l="-906" b="-30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E8CE7EC-7CE0-C286-D34C-7EF382B37AFF}"/>
                  </a:ext>
                </a:extLst>
              </p:cNvPr>
              <p:cNvSpPr txBox="1"/>
              <p:nvPr/>
            </p:nvSpPr>
            <p:spPr>
              <a:xfrm>
                <a:off x="931182" y="3813244"/>
                <a:ext cx="4328787" cy="2081532"/>
              </a:xfrm>
              <a:prstGeom prst="rect">
                <a:avLst/>
              </a:prstGeom>
              <a:noFill/>
            </p:spPr>
            <p:txBody>
              <a:bodyPr wrap="square">
                <a:spAutoFit/>
              </a:bodyPr>
              <a:lstStyle/>
              <a:p>
                <a:r>
                  <a:rPr lang="zh-CN" altLang="en-US" kern="100" dirty="0">
                    <a:latin typeface="+mj-ea"/>
                    <a:ea typeface="+mj-ea"/>
                    <a:cs typeface="Times New Roman" panose="02020603050405020304" pitchFamily="18" charset="0"/>
                  </a:rPr>
                  <a:t>若</a:t>
                </a:r>
                <a:r>
                  <a:rPr lang="zh-CN" altLang="zh-CN" kern="100" dirty="0">
                    <a:effectLst/>
                    <a:latin typeface="+mj-ea"/>
                    <a:ea typeface="+mj-ea"/>
                    <a:cs typeface="Times New Roman" panose="02020603050405020304" pitchFamily="18" charset="0"/>
                  </a:rPr>
                  <a:t>关系</a:t>
                </a:r>
                <a14:m>
                  <m:oMath xmlns:m="http://schemas.openxmlformats.org/officeDocument/2006/math">
                    <m:sSub>
                      <m:sSubPr>
                        <m:ctrlPr>
                          <a:rPr lang="zh-CN" altLang="zh-CN" i="1">
                            <a:effectLst/>
                            <a:latin typeface="Cambria Math" panose="02040503050406030204" pitchFamily="18" charset="0"/>
                            <a:ea typeface="+mj-ea"/>
                          </a:rPr>
                        </m:ctrlPr>
                      </m:sSubPr>
                      <m:e>
                        <m:r>
                          <a:rPr lang="en-US" altLang="zh-CN" i="1" kern="100">
                            <a:effectLst/>
                            <a:latin typeface="Cambria Math" panose="02040503050406030204" pitchFamily="18" charset="0"/>
                            <a:ea typeface="+mj-ea"/>
                            <a:cs typeface="Times New Roman" panose="02020603050405020304" pitchFamily="18" charset="0"/>
                          </a:rPr>
                          <m:t>𝑅</m:t>
                        </m:r>
                      </m:e>
                      <m:sub>
                        <m:r>
                          <a:rPr lang="en-US" altLang="zh-CN" i="1" kern="100">
                            <a:effectLst/>
                            <a:latin typeface="Cambria Math" panose="02040503050406030204" pitchFamily="18" charset="0"/>
                            <a:ea typeface="+mj-ea"/>
                            <a:cs typeface="Times New Roman" panose="02020603050405020304" pitchFamily="18" charset="0"/>
                          </a:rPr>
                          <m:t>1</m:t>
                        </m:r>
                      </m:sub>
                    </m:sSub>
                  </m:oMath>
                </a14:m>
                <a:r>
                  <a:rPr lang="zh-CN" altLang="zh-CN" kern="100" dirty="0">
                    <a:effectLst/>
                    <a:latin typeface="+mj-ea"/>
                    <a:ea typeface="+mj-ea"/>
                    <a:cs typeface="Times New Roman" panose="02020603050405020304" pitchFamily="18" charset="0"/>
                  </a:rPr>
                  <a:t>包含选择条件</a:t>
                </a:r>
                <a14:m>
                  <m:oMath xmlns:m="http://schemas.openxmlformats.org/officeDocument/2006/math">
                    <m:r>
                      <a:rPr lang="en-US" altLang="zh-CN" i="1" kern="100">
                        <a:effectLst/>
                        <a:latin typeface="Cambria Math" panose="02040503050406030204" pitchFamily="18" charset="0"/>
                        <a:ea typeface="+mj-ea"/>
                        <a:cs typeface="Times New Roman" panose="02020603050405020304" pitchFamily="18" charset="0"/>
                      </a:rPr>
                      <m:t>𝑝</m:t>
                    </m:r>
                  </m:oMath>
                </a14:m>
                <a:r>
                  <a:rPr lang="zh-CN" altLang="zh-CN" kern="100" dirty="0">
                    <a:effectLst/>
                    <a:latin typeface="+mj-ea"/>
                    <a:ea typeface="+mj-ea"/>
                    <a:cs typeface="Times New Roman" panose="02020603050405020304" pitchFamily="18" charset="0"/>
                  </a:rPr>
                  <a:t>涉及的所有属性</a:t>
                </a:r>
                <a:r>
                  <a:rPr lang="zh-CN" altLang="en-US" kern="100" dirty="0">
                    <a:effectLst/>
                    <a:latin typeface="+mj-ea"/>
                    <a:ea typeface="+mj-ea"/>
                    <a:cs typeface="Times New Roman" panose="02020603050405020304" pitchFamily="18" charset="0"/>
                  </a:rPr>
                  <a:t>：</a:t>
                </a:r>
                <a:r>
                  <a:rPr lang="zh-CN" altLang="zh-CN" dirty="0">
                    <a:effectLst/>
                    <a:latin typeface="+mj-ea"/>
                    <a:ea typeface="+mj-ea"/>
                  </a:rPr>
                  <a:t> </a:t>
                </a:r>
                <a:endParaRPr lang="en-US" altLang="zh-CN" dirty="0">
                  <a:effectLst/>
                  <a:latin typeface="+mj-ea"/>
                  <a:ea typeface="+mj-ea"/>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oMath>
                </a14:m>
                <a:endParaRPr lang="zh-CN" altLang="zh-CN" i="1" kern="100" dirty="0">
                  <a:latin typeface="Cambria Math" panose="02040503050406030204" pitchFamily="18" charset="0"/>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oMath>
                </a14:m>
                <a:endParaRPr lang="zh-CN" altLang="zh-CN" i="1" kern="100" dirty="0">
                  <a:latin typeface="Cambria Math" panose="02040503050406030204" pitchFamily="18" charset="0"/>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e>
                    </m:d>
                    <m:r>
                      <a:rPr lang="en-US" altLang="zh-CN" i="1" kern="100">
                        <a:latin typeface="Cambria Math" panose="02040503050406030204" pitchFamily="18" charset="0"/>
                        <a:ea typeface="+mj-ea"/>
                        <a:cs typeface="Times New Roman" panose="02020603050405020304" pitchFamily="18" charset="0"/>
                      </a:rPr>
                      <m:t>= </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𝜎</m:t>
                        </m:r>
                      </m:e>
                      <m:sub>
                        <m:r>
                          <a:rPr lang="en-US" altLang="zh-CN" i="1" kern="100">
                            <a:latin typeface="Cambria Math" panose="02040503050406030204" pitchFamily="18" charset="0"/>
                            <a:ea typeface="+mj-ea"/>
                            <a:cs typeface="Times New Roman" panose="02020603050405020304" pitchFamily="18" charset="0"/>
                          </a:rPr>
                          <m:t>𝑝</m:t>
                        </m:r>
                      </m:sub>
                    </m:sSub>
                    <m:d>
                      <m:dPr>
                        <m:ctrlPr>
                          <a:rPr lang="zh-CN" altLang="zh-CN" i="1" kern="100">
                            <a:latin typeface="Cambria Math" panose="02040503050406030204" pitchFamily="18" charset="0"/>
                            <a:ea typeface="+mj-ea"/>
                            <a:cs typeface="Times New Roman" panose="02020603050405020304" pitchFamily="18" charset="0"/>
                          </a:rPr>
                        </m:ctrlPr>
                      </m:dPr>
                      <m:e>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1</m:t>
                            </m:r>
                          </m:sub>
                        </m:sSub>
                      </m:e>
                    </m:d>
                    <m:r>
                      <a:rPr lang="en-US" altLang="zh-CN" i="1" kern="100">
                        <a:latin typeface="Cambria Math" panose="02040503050406030204" pitchFamily="18" charset="0"/>
                        <a:ea typeface="+mj-ea"/>
                        <a:cs typeface="Times New Roman" panose="02020603050405020304" pitchFamily="18" charset="0"/>
                      </a:rPr>
                      <m:t>∩</m:t>
                    </m:r>
                    <m:sSub>
                      <m:sSubPr>
                        <m:ctrlPr>
                          <a:rPr lang="zh-CN" altLang="zh-CN" i="1" kern="100">
                            <a:latin typeface="Cambria Math" panose="02040503050406030204" pitchFamily="18" charset="0"/>
                            <a:ea typeface="+mj-ea"/>
                            <a:cs typeface="Times New Roman" panose="02020603050405020304" pitchFamily="18" charset="0"/>
                          </a:rPr>
                        </m:ctrlPr>
                      </m:sSubPr>
                      <m:e>
                        <m:r>
                          <a:rPr lang="en-US" altLang="zh-CN" i="1" kern="100">
                            <a:latin typeface="Cambria Math" panose="02040503050406030204" pitchFamily="18" charset="0"/>
                            <a:ea typeface="+mj-ea"/>
                            <a:cs typeface="Times New Roman" panose="02020603050405020304" pitchFamily="18" charset="0"/>
                          </a:rPr>
                          <m:t>𝑅</m:t>
                        </m:r>
                      </m:e>
                      <m:sub>
                        <m:r>
                          <a:rPr lang="en-US" altLang="zh-CN" i="1" kern="100">
                            <a:latin typeface="Cambria Math" panose="02040503050406030204" pitchFamily="18" charset="0"/>
                            <a:ea typeface="+mj-ea"/>
                            <a:cs typeface="Times New Roman" panose="02020603050405020304" pitchFamily="18" charset="0"/>
                          </a:rPr>
                          <m:t>2</m:t>
                        </m:r>
                      </m:sub>
                    </m:sSub>
                  </m:oMath>
                </a14:m>
                <a:endParaRPr lang="zh-CN" altLang="zh-CN" i="1" kern="100" dirty="0">
                  <a:latin typeface="Cambria Math" panose="02040503050406030204" pitchFamily="18" charset="0"/>
                  <a:ea typeface="+mj-ea"/>
                  <a:cs typeface="Times New Roman" panose="02020603050405020304" pitchFamily="18" charset="0"/>
                </a:endParaRPr>
              </a:p>
              <a:p>
                <a:endParaRPr lang="zh-CN" altLang="en-US" sz="2400" dirty="0">
                  <a:latin typeface="+mj-ea"/>
                  <a:ea typeface="+mj-ea"/>
                </a:endParaRPr>
              </a:p>
            </p:txBody>
          </p:sp>
        </mc:Choice>
        <mc:Fallback xmlns="">
          <p:sp>
            <p:nvSpPr>
              <p:cNvPr id="6" name="文本框 5">
                <a:extLst>
                  <a:ext uri="{FF2B5EF4-FFF2-40B4-BE49-F238E27FC236}">
                    <a16:creationId xmlns:a16="http://schemas.microsoft.com/office/drawing/2014/main" xmlns:a14="http://schemas.microsoft.com/office/drawing/2010/main" xmlns="" id="{3E8CE7EC-7CE0-C286-D34C-7EF382B37AFF}"/>
                  </a:ext>
                </a:extLst>
              </p:cNvPr>
              <p:cNvSpPr txBox="1">
                <a:spLocks noRot="1" noChangeAspect="1" noMove="1" noResize="1" noEditPoints="1" noAdjustHandles="1" noChangeArrowheads="1" noChangeShapeType="1" noTextEdit="1"/>
              </p:cNvSpPr>
              <p:nvPr/>
            </p:nvSpPr>
            <p:spPr>
              <a:xfrm>
                <a:off x="931182" y="3813244"/>
                <a:ext cx="4328787" cy="2081532"/>
              </a:xfrm>
              <a:prstGeom prst="rect">
                <a:avLst/>
              </a:prstGeom>
              <a:blipFill rotWithShape="0">
                <a:blip r:embed="rId5"/>
                <a:stretch>
                  <a:fillRect l="-1268" t="-1760" r="-64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5869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4AAEC92-FD47-B412-C4B2-B6F1733EFC3B}"/>
              </a:ext>
            </a:extLst>
          </p:cNvPr>
          <p:cNvSpPr>
            <a:spLocks noGrp="1"/>
          </p:cNvSpPr>
          <p:nvPr>
            <p:ph type="sldNum" sz="quarter" idx="10"/>
          </p:nvPr>
        </p:nvSpPr>
        <p:spPr/>
        <p:txBody>
          <a:bodyPr/>
          <a:lstStyle/>
          <a:p>
            <a:fld id="{4B0D34C0-35A8-654C-9FBA-7B4E017BD630}" type="slidenum">
              <a:rPr lang="en-US" altLang="zh-CN" smtClean="0"/>
              <a:t>31</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投影</a:t>
            </a:r>
            <a:r>
              <a:rPr kumimoji="1" lang="zh-CN" altLang="en-US" dirty="0"/>
              <a:t>下推</a:t>
            </a:r>
          </a:p>
        </p:txBody>
      </p:sp>
      <p:sp>
        <p:nvSpPr>
          <p:cNvPr id="4" name="页脚占位符 3">
            <a:extLst>
              <a:ext uri="{FF2B5EF4-FFF2-40B4-BE49-F238E27FC236}">
                <a16:creationId xmlns:a16="http://schemas.microsoft.com/office/drawing/2014/main" id="{A22A2F3C-CF21-8CA4-CB14-5BCB246A584F}"/>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3" name="矩形 2">
            <a:extLst>
              <a:ext uri="{FF2B5EF4-FFF2-40B4-BE49-F238E27FC236}">
                <a16:creationId xmlns:a16="http://schemas.microsoft.com/office/drawing/2014/main" id="{6072DA63-0309-D2C5-0777-4ABBDE68CABF}"/>
              </a:ext>
            </a:extLst>
          </p:cNvPr>
          <p:cNvSpPr/>
          <p:nvPr/>
        </p:nvSpPr>
        <p:spPr>
          <a:xfrm>
            <a:off x="587373" y="1202104"/>
            <a:ext cx="11017251" cy="3905043"/>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zh-CN" sz="2400" dirty="0">
                <a:latin typeface="+mj-ea"/>
                <a:ea typeface="+mj-ea"/>
              </a:rPr>
              <a:t>与选择运算类似，投影运算也可以进行</a:t>
            </a:r>
            <a:r>
              <a:rPr lang="zh-CN" altLang="zh-CN" sz="2400" dirty="0">
                <a:solidFill>
                  <a:srgbClr val="701988"/>
                </a:solidFill>
                <a:latin typeface="+mj-ea"/>
                <a:ea typeface="+mj-ea"/>
              </a:rPr>
              <a:t>下推</a:t>
            </a:r>
            <a:r>
              <a:rPr lang="zh-CN" altLang="zh-CN" sz="2400" dirty="0">
                <a:latin typeface="+mj-ea"/>
                <a:ea typeface="+mj-ea"/>
              </a:rPr>
              <a:t>，从而减少中间结果列的数量，降低中间结果的数据规模。</a:t>
            </a:r>
            <a:endParaRPr lang="en-US" altLang="zh-CN" sz="2400" dirty="0">
              <a:latin typeface="+mj-ea"/>
              <a:ea typeface="+mj-ea"/>
            </a:endParaRPr>
          </a:p>
          <a:p>
            <a:pPr marL="342900" indent="-342900">
              <a:lnSpc>
                <a:spcPct val="150000"/>
              </a:lnSpc>
              <a:buFont typeface="Wingdings" panose="05000000000000000000" pitchFamily="2" charset="2"/>
              <a:buChar char="Ø"/>
            </a:pPr>
            <a:endParaRPr lang="en-US" altLang="zh-CN" sz="2400" dirty="0">
              <a:latin typeface="+mj-ea"/>
              <a:ea typeface="+mj-ea"/>
            </a:endParaRPr>
          </a:p>
          <a:p>
            <a:pPr marL="342900" indent="-342900">
              <a:lnSpc>
                <a:spcPct val="150000"/>
              </a:lnSpc>
              <a:buFont typeface="Wingdings" panose="05000000000000000000" pitchFamily="2" charset="2"/>
              <a:buChar char="Ø"/>
            </a:pPr>
            <a:r>
              <a:rPr lang="zh-CN" altLang="zh-CN" sz="2400" dirty="0">
                <a:latin typeface="+mj-ea"/>
                <a:ea typeface="+mj-ea"/>
              </a:rPr>
              <a:t>比起优化选择运算，优化投影运算所能提升的效率会小些。</a:t>
            </a:r>
            <a:endParaRPr lang="en-US" altLang="zh-CN" sz="2400" dirty="0">
              <a:latin typeface="+mj-ea"/>
              <a:ea typeface="+mj-ea"/>
            </a:endParaRPr>
          </a:p>
          <a:p>
            <a:pPr marL="342900" indent="-342900">
              <a:lnSpc>
                <a:spcPct val="150000"/>
              </a:lnSpc>
              <a:buFont typeface="Wingdings" panose="05000000000000000000" pitchFamily="2" charset="2"/>
              <a:buChar char="Ø"/>
            </a:pPr>
            <a:endParaRPr lang="en-US" altLang="zh-CN" sz="2400" dirty="0">
              <a:latin typeface="+mj-ea"/>
              <a:ea typeface="+mj-ea"/>
            </a:endParaRPr>
          </a:p>
          <a:p>
            <a:pPr marL="342900" indent="-342900">
              <a:lnSpc>
                <a:spcPct val="150000"/>
              </a:lnSpc>
              <a:buFont typeface="Wingdings" panose="05000000000000000000" pitchFamily="2" charset="2"/>
              <a:buChar char="Ø"/>
            </a:pPr>
            <a:r>
              <a:rPr lang="zh-CN" altLang="zh-CN" sz="2400" dirty="0">
                <a:latin typeface="+mj-ea"/>
                <a:ea typeface="+mj-ea"/>
              </a:rPr>
              <a:t>这是因为</a:t>
            </a:r>
            <a:r>
              <a:rPr lang="zh-CN" altLang="zh-CN" sz="2400" dirty="0">
                <a:solidFill>
                  <a:srgbClr val="701988"/>
                </a:solidFill>
                <a:latin typeface="+mj-ea"/>
                <a:ea typeface="+mj-ea"/>
              </a:rPr>
              <a:t>选择运算</a:t>
            </a:r>
            <a:r>
              <a:rPr lang="zh-CN" altLang="zh-CN" sz="2400" dirty="0">
                <a:latin typeface="+mj-ea"/>
                <a:ea typeface="+mj-ea"/>
              </a:rPr>
              <a:t>的过滤作用通常会使得中间结果的</a:t>
            </a:r>
            <a:r>
              <a:rPr lang="zh-CN" altLang="zh-CN" sz="2400" dirty="0">
                <a:solidFill>
                  <a:srgbClr val="701988"/>
                </a:solidFill>
                <a:latin typeface="+mj-ea"/>
                <a:ea typeface="+mj-ea"/>
              </a:rPr>
              <a:t>行数</a:t>
            </a:r>
            <a:r>
              <a:rPr lang="zh-CN" altLang="zh-CN" sz="2400" dirty="0">
                <a:latin typeface="+mj-ea"/>
                <a:ea typeface="+mj-ea"/>
              </a:rPr>
              <a:t>大幅度下降，而</a:t>
            </a:r>
            <a:r>
              <a:rPr lang="zh-CN" altLang="zh-CN" sz="2400" dirty="0">
                <a:solidFill>
                  <a:srgbClr val="701988"/>
                </a:solidFill>
                <a:latin typeface="+mj-ea"/>
                <a:ea typeface="+mj-ea"/>
              </a:rPr>
              <a:t>投影运算</a:t>
            </a:r>
            <a:r>
              <a:rPr lang="zh-CN" altLang="zh-CN" sz="2400" dirty="0">
                <a:latin typeface="+mj-ea"/>
                <a:ea typeface="+mj-ea"/>
              </a:rPr>
              <a:t>减少的是元组的</a:t>
            </a:r>
            <a:r>
              <a:rPr lang="zh-CN" altLang="zh-CN" sz="2400" dirty="0">
                <a:solidFill>
                  <a:srgbClr val="701988"/>
                </a:solidFill>
                <a:latin typeface="+mj-ea"/>
                <a:ea typeface="+mj-ea"/>
              </a:rPr>
              <a:t>列数</a:t>
            </a:r>
            <a:r>
              <a:rPr lang="zh-CN" altLang="zh-CN" sz="2400" dirty="0">
                <a:latin typeface="+mj-ea"/>
                <a:ea typeface="+mj-ea"/>
              </a:rPr>
              <a:t>（即属性数量），对中间关系的规模影响有限。</a:t>
            </a:r>
          </a:p>
        </p:txBody>
      </p:sp>
    </p:spTree>
    <p:extLst>
      <p:ext uri="{BB962C8B-B14F-4D97-AF65-F5344CB8AC3E}">
        <p14:creationId xmlns:p14="http://schemas.microsoft.com/office/powerpoint/2010/main" val="1739243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421651B-3011-D654-2C07-0B227BB2DE9B}"/>
              </a:ext>
            </a:extLst>
          </p:cNvPr>
          <p:cNvSpPr>
            <a:spLocks noGrp="1"/>
          </p:cNvSpPr>
          <p:nvPr>
            <p:ph type="sldNum" sz="quarter" idx="10"/>
          </p:nvPr>
        </p:nvSpPr>
        <p:spPr/>
        <p:txBody>
          <a:bodyPr/>
          <a:lstStyle/>
          <a:p>
            <a:fld id="{4B0D34C0-35A8-654C-9FBA-7B4E017BD630}" type="slidenum">
              <a:rPr lang="en-US" altLang="zh-CN" smtClean="0"/>
              <a:t>32</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投影下推</a:t>
            </a:r>
            <a:r>
              <a:rPr lang="zh-CN" altLang="en-US" dirty="0"/>
              <a:t>示例</a:t>
            </a:r>
            <a:endParaRPr kumimoji="1" lang="zh-CN" altLang="en-US" dirty="0"/>
          </a:p>
        </p:txBody>
      </p:sp>
      <p:sp>
        <p:nvSpPr>
          <p:cNvPr id="6" name="页脚占位符 5">
            <a:extLst>
              <a:ext uri="{FF2B5EF4-FFF2-40B4-BE49-F238E27FC236}">
                <a16:creationId xmlns:a16="http://schemas.microsoft.com/office/drawing/2014/main" id="{381FC1D4-26D7-BB97-E178-2CAD6EF244E0}"/>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11" name="矩形 10">
            <a:extLst>
              <a:ext uri="{FF2B5EF4-FFF2-40B4-BE49-F238E27FC236}">
                <a16:creationId xmlns:a16="http://schemas.microsoft.com/office/drawing/2014/main" id="{147F1A13-F728-1F53-3C01-FF04389D276C}"/>
              </a:ext>
            </a:extLst>
          </p:cNvPr>
          <p:cNvSpPr/>
          <p:nvPr/>
        </p:nvSpPr>
        <p:spPr>
          <a:xfrm>
            <a:off x="4299880" y="2824281"/>
            <a:ext cx="3459457" cy="646331"/>
          </a:xfrm>
          <a:prstGeom prst="rect">
            <a:avLst/>
          </a:prstGeom>
        </p:spPr>
        <p:txBody>
          <a:bodyPr wrap="square">
            <a:spAutoFit/>
          </a:bodyPr>
          <a:lstStyle/>
          <a:p>
            <a:pPr lvl="0" algn="just">
              <a:lnSpc>
                <a:spcPct val="150000"/>
              </a:lnSpc>
            </a:pPr>
            <a:r>
              <a:rPr lang="zh-CN" altLang="en-US" sz="2400" kern="100" dirty="0">
                <a:latin typeface="+mj-ea"/>
                <a:ea typeface="+mj-ea"/>
                <a:cs typeface="Times New Roman" panose="02020603050405020304" pitchFamily="18" charset="0"/>
              </a:rPr>
              <a:t>利用等价规则：</a:t>
            </a:r>
            <a:endParaRPr lang="zh-CN" altLang="zh-CN" sz="2400" kern="100" dirty="0">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5080DE1-70EF-A35D-9480-152024997977}"/>
                  </a:ext>
                </a:extLst>
              </p:cNvPr>
              <p:cNvSpPr txBox="1"/>
              <p:nvPr/>
            </p:nvSpPr>
            <p:spPr>
              <a:xfrm>
                <a:off x="4234360" y="3258494"/>
                <a:ext cx="3838486" cy="1129668"/>
              </a:xfrm>
              <a:prstGeom prst="rect">
                <a:avLst/>
              </a:prstGeom>
              <a:noFill/>
            </p:spPr>
            <p:txBody>
              <a:bodyPr wrap="square">
                <a:spAutoFit/>
              </a:bodyPr>
              <a:lstStyle/>
              <a:p>
                <a:pPr lvl="0">
                  <a:lnSpc>
                    <a:spcPct val="150000"/>
                  </a:lnSpc>
                </a:pPr>
                <a14:m>
                  <m:oMath xmlns:m="http://schemas.openxmlformats.org/officeDocument/2006/math">
                    <m:sSub>
                      <m:sSubPr>
                        <m:ctrlPr>
                          <a:rPr lang="zh-CN" altLang="zh-CN" i="1">
                            <a:latin typeface="Cambria Math" panose="02040503050406030204" pitchFamily="18" charset="0"/>
                            <a:ea typeface="+mj-ea"/>
                          </a:rPr>
                        </m:ctrlPr>
                      </m:sSubPr>
                      <m:e>
                        <m:r>
                          <m:rPr>
                            <m:sty m:val="p"/>
                          </m:rPr>
                          <a:rPr lang="en-US" altLang="zh-CN">
                            <a:latin typeface="Cambria Math" panose="02040503050406030204" pitchFamily="18" charset="0"/>
                            <a:ea typeface="+mj-ea"/>
                          </a:rPr>
                          <m:t>Π</m:t>
                        </m:r>
                      </m:e>
                      <m:sub>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𝑆</m:t>
                            </m:r>
                          </m:e>
                          <m:sub>
                            <m:r>
                              <a:rPr lang="en-US" altLang="zh-CN" i="1">
                                <a:latin typeface="Cambria Math" panose="02040503050406030204" pitchFamily="18" charset="0"/>
                                <a:ea typeface="+mj-ea"/>
                              </a:rPr>
                              <m:t>1</m:t>
                            </m:r>
                          </m:sub>
                        </m:sSub>
                      </m:sub>
                    </m:sSub>
                    <m:d>
                      <m:dPr>
                        <m:ctrlPr>
                          <a:rPr lang="zh-CN" altLang="zh-CN" i="1">
                            <a:latin typeface="Cambria Math" panose="02040503050406030204" pitchFamily="18" charset="0"/>
                            <a:ea typeface="+mj-ea"/>
                          </a:rPr>
                        </m:ctrlPr>
                      </m:dPr>
                      <m:e>
                        <m:sSub>
                          <m:sSubPr>
                            <m:ctrlPr>
                              <a:rPr lang="zh-CN" altLang="zh-CN" i="1">
                                <a:latin typeface="Cambria Math" panose="02040503050406030204" pitchFamily="18" charset="0"/>
                                <a:ea typeface="+mj-ea"/>
                              </a:rPr>
                            </m:ctrlPr>
                          </m:sSubPr>
                          <m:e>
                            <m:r>
                              <m:rPr>
                                <m:sty m:val="p"/>
                              </m:rPr>
                              <a:rPr lang="en-US" altLang="zh-CN">
                                <a:latin typeface="Cambria Math" panose="02040503050406030204" pitchFamily="18" charset="0"/>
                                <a:ea typeface="+mj-ea"/>
                              </a:rPr>
                              <m:t>Π</m:t>
                            </m:r>
                          </m:e>
                          <m:sub>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𝑆</m:t>
                                </m:r>
                              </m:e>
                              <m:sub>
                                <m:r>
                                  <a:rPr lang="en-US" altLang="zh-CN" i="1">
                                    <a:latin typeface="Cambria Math" panose="02040503050406030204" pitchFamily="18" charset="0"/>
                                    <a:ea typeface="+mj-ea"/>
                                  </a:rPr>
                                  <m:t>2</m:t>
                                </m:r>
                              </m:sub>
                            </m:sSub>
                          </m:sub>
                        </m:sSub>
                        <m:d>
                          <m:dPr>
                            <m:ctrlPr>
                              <a:rPr lang="zh-CN" altLang="zh-CN" i="1">
                                <a:latin typeface="Cambria Math" panose="02040503050406030204" pitchFamily="18" charset="0"/>
                                <a:ea typeface="+mj-ea"/>
                              </a:rPr>
                            </m:ctrlPr>
                          </m:dPr>
                          <m:e>
                            <m:r>
                              <a:rPr lang="en-US" altLang="zh-CN" i="1">
                                <a:latin typeface="Cambria Math" panose="02040503050406030204" pitchFamily="18" charset="0"/>
                                <a:ea typeface="+mj-ea"/>
                              </a:rPr>
                              <m:t>𝑅</m:t>
                            </m:r>
                          </m:e>
                        </m:d>
                      </m:e>
                    </m:d>
                    <m:r>
                      <a:rPr lang="en-US" altLang="zh-CN" i="1">
                        <a:latin typeface="Cambria Math" panose="02040503050406030204" pitchFamily="18" charset="0"/>
                        <a:ea typeface="+mj-ea"/>
                      </a:rPr>
                      <m:t>=</m:t>
                    </m:r>
                    <m:sSub>
                      <m:sSubPr>
                        <m:ctrlPr>
                          <a:rPr lang="zh-CN" altLang="zh-CN" i="1">
                            <a:latin typeface="Cambria Math" panose="02040503050406030204" pitchFamily="18" charset="0"/>
                            <a:ea typeface="+mj-ea"/>
                          </a:rPr>
                        </m:ctrlPr>
                      </m:sSubPr>
                      <m:e>
                        <m:r>
                          <m:rPr>
                            <m:sty m:val="p"/>
                          </m:rPr>
                          <a:rPr lang="en-US" altLang="zh-CN">
                            <a:latin typeface="Cambria Math" panose="02040503050406030204" pitchFamily="18" charset="0"/>
                            <a:ea typeface="+mj-ea"/>
                          </a:rPr>
                          <m:t>Π</m:t>
                        </m:r>
                      </m:e>
                      <m:sub>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𝑆</m:t>
                            </m:r>
                          </m:e>
                          <m:sub>
                            <m:r>
                              <a:rPr lang="en-US" altLang="zh-CN" i="1">
                                <a:latin typeface="Cambria Math" panose="02040503050406030204" pitchFamily="18" charset="0"/>
                                <a:ea typeface="+mj-ea"/>
                              </a:rPr>
                              <m:t>1</m:t>
                            </m:r>
                          </m:sub>
                        </m:sSub>
                      </m:sub>
                    </m:sSub>
                    <m:d>
                      <m:dPr>
                        <m:ctrlPr>
                          <a:rPr lang="zh-CN" altLang="zh-CN" i="1">
                            <a:latin typeface="Cambria Math" panose="02040503050406030204" pitchFamily="18" charset="0"/>
                            <a:ea typeface="+mj-ea"/>
                          </a:rPr>
                        </m:ctrlPr>
                      </m:dPr>
                      <m:e>
                        <m:r>
                          <a:rPr lang="en-US" altLang="zh-CN" i="1">
                            <a:latin typeface="Cambria Math" panose="02040503050406030204" pitchFamily="18" charset="0"/>
                            <a:ea typeface="+mj-ea"/>
                          </a:rPr>
                          <m:t>𝑅</m:t>
                        </m:r>
                      </m:e>
                    </m:d>
                    <m:r>
                      <a:rPr lang="en-US" altLang="zh-CN" i="1">
                        <a:latin typeface="Cambria Math" panose="02040503050406030204" pitchFamily="18" charset="0"/>
                        <a:ea typeface="+mj-ea"/>
                      </a:rPr>
                      <m:t>, </m:t>
                    </m:r>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𝑆</m:t>
                        </m:r>
                      </m:e>
                      <m:sub>
                        <m:r>
                          <a:rPr lang="en-US" altLang="zh-CN" i="1">
                            <a:latin typeface="Cambria Math" panose="02040503050406030204" pitchFamily="18" charset="0"/>
                            <a:ea typeface="+mj-ea"/>
                          </a:rPr>
                          <m:t>1</m:t>
                        </m:r>
                      </m:sub>
                    </m:sSub>
                    <m:r>
                      <a:rPr lang="en-US" altLang="zh-CN" i="1">
                        <a:latin typeface="Cambria Math" panose="02040503050406030204" pitchFamily="18" charset="0"/>
                        <a:ea typeface="+mj-ea"/>
                      </a:rPr>
                      <m:t>⊆</m:t>
                    </m:r>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𝑆</m:t>
                        </m:r>
                      </m:e>
                      <m:sub>
                        <m:r>
                          <a:rPr lang="en-US" altLang="zh-CN" i="1">
                            <a:latin typeface="Cambria Math" panose="02040503050406030204" pitchFamily="18" charset="0"/>
                            <a:ea typeface="+mj-ea"/>
                          </a:rPr>
                          <m:t>2</m:t>
                        </m:r>
                      </m:sub>
                    </m:sSub>
                  </m:oMath>
                </a14:m>
                <a:r>
                  <a:rPr lang="zh-CN" altLang="zh-CN" dirty="0">
                    <a:latin typeface="+mj-ea"/>
                    <a:ea typeface="+mj-ea"/>
                  </a:rPr>
                  <a:t>且都是关系</a:t>
                </a:r>
                <a:r>
                  <a:rPr lang="en-US" altLang="zh-CN" i="1" dirty="0">
                    <a:latin typeface="+mj-ea"/>
                    <a:ea typeface="+mj-ea"/>
                  </a:rPr>
                  <a:t>R</a:t>
                </a:r>
                <a:r>
                  <a:rPr lang="zh-CN" altLang="zh-CN" dirty="0">
                    <a:latin typeface="+mj-ea"/>
                    <a:ea typeface="+mj-ea"/>
                  </a:rPr>
                  <a:t>的属性</a:t>
                </a:r>
              </a:p>
            </p:txBody>
          </p:sp>
        </mc:Choice>
        <mc:Fallback xmlns="">
          <p:sp>
            <p:nvSpPr>
              <p:cNvPr id="12" name="文本框 11">
                <a:extLst>
                  <a:ext uri="{FF2B5EF4-FFF2-40B4-BE49-F238E27FC236}">
                    <a16:creationId xmlns:a16="http://schemas.microsoft.com/office/drawing/2014/main" xmlns:a14="http://schemas.microsoft.com/office/drawing/2010/main" xmlns="" id="{D5080DE1-70EF-A35D-9480-152024997977}"/>
                  </a:ext>
                </a:extLst>
              </p:cNvPr>
              <p:cNvSpPr txBox="1">
                <a:spLocks noRot="1" noChangeAspect="1" noMove="1" noResize="1" noEditPoints="1" noAdjustHandles="1" noChangeArrowheads="1" noChangeShapeType="1" noTextEdit="1"/>
              </p:cNvSpPr>
              <p:nvPr/>
            </p:nvSpPr>
            <p:spPr>
              <a:xfrm>
                <a:off x="4234360" y="3258494"/>
                <a:ext cx="3838486" cy="1129668"/>
              </a:xfrm>
              <a:prstGeom prst="rect">
                <a:avLst/>
              </a:prstGeom>
              <a:blipFill rotWithShape="0">
                <a:blip r:embed="rId3"/>
                <a:stretch>
                  <a:fillRect l="-1431" b="-3784"/>
                </a:stretch>
              </a:blipFill>
            </p:spPr>
            <p:txBody>
              <a:bodyPr/>
              <a:lstStyle/>
              <a:p>
                <a:r>
                  <a:rPr lang="zh-CN" altLang="en-US">
                    <a:noFill/>
                  </a:rPr>
                  <a:t> </a:t>
                </a:r>
              </a:p>
            </p:txBody>
          </p:sp>
        </mc:Fallback>
      </mc:AlternateContent>
      <p:sp>
        <p:nvSpPr>
          <p:cNvPr id="14" name="右箭头 13">
            <a:extLst>
              <a:ext uri="{FF2B5EF4-FFF2-40B4-BE49-F238E27FC236}">
                <a16:creationId xmlns:a16="http://schemas.microsoft.com/office/drawing/2014/main" id="{B305CF21-2ED9-BCFA-D5D7-2A28C8D2CBBE}"/>
              </a:ext>
            </a:extLst>
          </p:cNvPr>
          <p:cNvSpPr/>
          <p:nvPr/>
        </p:nvSpPr>
        <p:spPr bwMode="auto">
          <a:xfrm>
            <a:off x="3706177" y="3317653"/>
            <a:ext cx="346509" cy="325229"/>
          </a:xfrm>
          <a:prstGeom prst="rightArrow">
            <a:avLst/>
          </a:prstGeom>
          <a:ln>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nvGrpSpPr>
          <p:cNvPr id="9" name="组合 8"/>
          <p:cNvGrpSpPr/>
          <p:nvPr/>
        </p:nvGrpSpPr>
        <p:grpSpPr>
          <a:xfrm>
            <a:off x="8551356" y="2241873"/>
            <a:ext cx="2824604" cy="2733683"/>
            <a:chOff x="8551355" y="2277020"/>
            <a:chExt cx="3443555" cy="3332711"/>
          </a:xfrm>
        </p:grpSpPr>
        <p:pic>
          <p:nvPicPr>
            <p:cNvPr id="17" name="图片 16">
              <a:extLst>
                <a:ext uri="{FF2B5EF4-FFF2-40B4-BE49-F238E27FC236}">
                  <a16:creationId xmlns:a16="http://schemas.microsoft.com/office/drawing/2014/main" id="{E3D4B3C7-ACD8-BB17-5878-3DB0ABDB335F}"/>
                </a:ext>
              </a:extLst>
            </p:cNvPr>
            <p:cNvPicPr>
              <a:picLocks noChangeAspect="1"/>
            </p:cNvPicPr>
            <p:nvPr/>
          </p:nvPicPr>
          <p:blipFill>
            <a:blip r:embed="rId4"/>
            <a:stretch>
              <a:fillRect/>
            </a:stretch>
          </p:blipFill>
          <p:spPr>
            <a:xfrm>
              <a:off x="8551355" y="2277020"/>
              <a:ext cx="3443555" cy="3332711"/>
            </a:xfrm>
            <a:prstGeom prst="rect">
              <a:avLst/>
            </a:prstGeom>
          </p:spPr>
        </p:pic>
        <p:sp>
          <p:nvSpPr>
            <p:cNvPr id="19" name="矩形 18">
              <a:extLst>
                <a:ext uri="{FF2B5EF4-FFF2-40B4-BE49-F238E27FC236}">
                  <a16:creationId xmlns:a16="http://schemas.microsoft.com/office/drawing/2014/main" id="{24D356CC-1A7D-62A8-0B34-E82398B3014C}"/>
                </a:ext>
              </a:extLst>
            </p:cNvPr>
            <p:cNvSpPr/>
            <p:nvPr/>
          </p:nvSpPr>
          <p:spPr bwMode="auto">
            <a:xfrm>
              <a:off x="9172761" y="4143137"/>
              <a:ext cx="1508536" cy="442762"/>
            </a:xfrm>
            <a:prstGeom prst="rect">
              <a:avLst/>
            </a:prstGeom>
            <a:noFill/>
            <a:ln w="38100" cap="flat" cmpd="sng" algn="ctr">
              <a:solidFill>
                <a:srgbClr val="743481"/>
              </a:solidFill>
              <a:prstDash val="lgDash"/>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grpSp>
        <p:nvGrpSpPr>
          <p:cNvPr id="8" name="组合 7"/>
          <p:cNvGrpSpPr/>
          <p:nvPr/>
        </p:nvGrpSpPr>
        <p:grpSpPr>
          <a:xfrm>
            <a:off x="1015770" y="2452195"/>
            <a:ext cx="2458959" cy="2425367"/>
            <a:chOff x="615167" y="2319771"/>
            <a:chExt cx="2997787" cy="2956834"/>
          </a:xfrm>
        </p:grpSpPr>
        <p:pic>
          <p:nvPicPr>
            <p:cNvPr id="4" name="图片 3">
              <a:extLst>
                <a:ext uri="{FF2B5EF4-FFF2-40B4-BE49-F238E27FC236}">
                  <a16:creationId xmlns:a16="http://schemas.microsoft.com/office/drawing/2014/main" id="{1E0B6412-603B-39B2-6CFC-31F577A56C6D}"/>
                </a:ext>
              </a:extLst>
            </p:cNvPr>
            <p:cNvPicPr>
              <a:picLocks noChangeAspect="1"/>
            </p:cNvPicPr>
            <p:nvPr/>
          </p:nvPicPr>
          <p:blipFill>
            <a:blip r:embed="rId5"/>
            <a:stretch>
              <a:fillRect/>
            </a:stretch>
          </p:blipFill>
          <p:spPr>
            <a:xfrm>
              <a:off x="615167" y="2319771"/>
              <a:ext cx="2997787" cy="2956834"/>
            </a:xfrm>
            <a:prstGeom prst="rect">
              <a:avLst/>
            </a:prstGeom>
          </p:spPr>
        </p:pic>
        <p:sp>
          <p:nvSpPr>
            <p:cNvPr id="5" name="矩形 4">
              <a:extLst>
                <a:ext uri="{FF2B5EF4-FFF2-40B4-BE49-F238E27FC236}">
                  <a16:creationId xmlns:a16="http://schemas.microsoft.com/office/drawing/2014/main" id="{8B5543B7-D6EF-EAD2-4236-005F666C8E24}"/>
                </a:ext>
              </a:extLst>
            </p:cNvPr>
            <p:cNvSpPr/>
            <p:nvPr/>
          </p:nvSpPr>
          <p:spPr bwMode="auto">
            <a:xfrm>
              <a:off x="631619" y="3921756"/>
              <a:ext cx="1839437" cy="442762"/>
            </a:xfrm>
            <a:prstGeom prst="rect">
              <a:avLst/>
            </a:prstGeom>
            <a:noFill/>
            <a:ln w="38100" cap="flat" cmpd="sng" algn="ctr">
              <a:solidFill>
                <a:srgbClr val="743481"/>
              </a:solidFill>
              <a:prstDash val="lg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7440807-0BB2-A161-B692-AB939FC776A3}"/>
                  </a:ext>
                </a:extLst>
              </p:cNvPr>
              <p:cNvSpPr txBox="1"/>
              <p:nvPr/>
            </p:nvSpPr>
            <p:spPr>
              <a:xfrm>
                <a:off x="0" y="5758660"/>
                <a:ext cx="6499158" cy="5068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zh-CN" altLang="en-US" i="0">
                              <a:solidFill>
                                <a:schemeClr val="tx1"/>
                              </a:solidFill>
                              <a:latin typeface="Cambria Math" panose="02040503050406030204" pitchFamily="18" charset="0"/>
                            </a:rPr>
                            <m:t>Sno</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Sname</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Grade</m:t>
                          </m:r>
                        </m:sub>
                      </m:sSub>
                      <m:d>
                        <m:dPr>
                          <m:ctrlPr>
                            <a:rPr lang="zh-CN" altLang="en-US" i="1">
                              <a:solidFill>
                                <a:schemeClr val="tx1"/>
                              </a:solidFill>
                              <a:latin typeface="Cambria Math" panose="02040503050406030204" pitchFamily="18" charset="0"/>
                            </a:rPr>
                          </m:ctrlPr>
                        </m:dPr>
                        <m:e>
                          <m:d>
                            <m:dPr>
                              <m:ctrlPr>
                                <a:rPr lang="zh-CN" altLang="en-US" i="1">
                                  <a:solidFill>
                                    <a:schemeClr val="tx1"/>
                                  </a:solidFill>
                                  <a:latin typeface="Cambria Math" panose="02040503050406030204" pitchFamily="18" charset="0"/>
                                </a:rPr>
                              </m:ctrlPr>
                            </m:dPr>
                            <m:e>
                              <m:sSub>
                                <m:sSubPr>
                                  <m:ctrlPr>
                                    <a:rPr lang="en-US" altLang="zh-CN"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en-US" altLang="zh-CN" i="0">
                                      <a:solidFill>
                                        <a:schemeClr val="tx1"/>
                                      </a:solidFill>
                                      <a:latin typeface="Cambria Math" panose="02040503050406030204" pitchFamily="18" charset="0"/>
                                    </a:rPr>
                                    <m:t>C</m:t>
                                  </m:r>
                                  <m:r>
                                    <m:rPr>
                                      <m:sty m:val="p"/>
                                    </m:rPr>
                                    <a:rPr lang="en-US" altLang="zh-CN" b="0" i="0" smtClean="0">
                                      <a:solidFill>
                                        <a:schemeClr val="tx1"/>
                                      </a:solidFill>
                                      <a:latin typeface="Cambria Math" panose="02040503050406030204" pitchFamily="18" charset="0"/>
                                    </a:rPr>
                                    <m:t>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Sno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Grade</m:t>
                                  </m:r>
                                </m:sub>
                              </m:sSub>
                              <m:r>
                                <a:rPr lang="en-US" altLang="zh-CN" b="0" i="1" smtClean="0">
                                  <a:solidFill>
                                    <a:schemeClr val="tx1"/>
                                  </a:solidFill>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a:latin typeface="Cambria Math" panose="02040503050406030204" pitchFamily="18" charset="0"/>
                                    </a:rPr>
                                    <m:t> </m:t>
                                  </m:r>
                                  <m:r>
                                    <m:rPr>
                                      <m:sty m:val="p"/>
                                    </m:rPr>
                                    <a:rPr lang="zh-CN" altLang="en-US">
                                      <a:latin typeface="Cambria Math" panose="02040503050406030204" pitchFamily="18" charset="0"/>
                                    </a:rPr>
                                    <m:t>Cno</m:t>
                                  </m:r>
                                  <m:r>
                                    <a:rPr lang="zh-CN" altLang="en-US">
                                      <a:latin typeface="Cambria Math" panose="02040503050406030204" pitchFamily="18" charset="0"/>
                                    </a:rPr>
                                    <m:t>="1"  </m:t>
                                  </m:r>
                                </m:sub>
                              </m:sSub>
                              <m:r>
                                <m:rPr>
                                  <m:sty m:val="p"/>
                                </m:rPr>
                                <a:rPr lang="zh-CN" altLang="en-US" i="0">
                                  <a:solidFill>
                                    <a:schemeClr val="tx1"/>
                                  </a:solidFill>
                                  <a:latin typeface="Cambria Math" panose="02040503050406030204" pitchFamily="18" charset="0"/>
                                </a:rPr>
                                <m:t>SC</m:t>
                              </m:r>
                              <m:r>
                                <a:rPr lang="en-US" altLang="zh-CN" b="0" i="1" smtClean="0">
                                  <a:solidFill>
                                    <a:schemeClr val="tx1"/>
                                  </a:solidFill>
                                  <a:latin typeface="Cambria Math" panose="02040503050406030204" pitchFamily="18" charset="0"/>
                                </a:rPr>
                                <m:t>)</m:t>
                              </m:r>
                            </m:e>
                          </m:d>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Student</m:t>
                          </m:r>
                        </m:e>
                      </m:d>
                    </m:oMath>
                  </m:oMathPara>
                </a14:m>
                <a:endParaRPr lang="zh-CN" altLang="en-US" dirty="0">
                  <a:solidFill>
                    <a:schemeClr val="tx1"/>
                  </a:solidFill>
                </a:endParaRPr>
              </a:p>
            </p:txBody>
          </p:sp>
        </mc:Choice>
        <mc:Fallback xmlns="">
          <p:sp>
            <p:nvSpPr>
              <p:cNvPr id="10" name="文本框 9">
                <a:extLst>
                  <a:ext uri="{FF2B5EF4-FFF2-40B4-BE49-F238E27FC236}">
                    <a16:creationId xmlns:a16="http://schemas.microsoft.com/office/drawing/2014/main" id="{17440807-0BB2-A161-B692-AB939FC776A3}"/>
                  </a:ext>
                </a:extLst>
              </p:cNvPr>
              <p:cNvSpPr txBox="1">
                <a:spLocks noRot="1" noChangeAspect="1" noMove="1" noResize="1" noEditPoints="1" noAdjustHandles="1" noChangeArrowheads="1" noChangeShapeType="1" noTextEdit="1"/>
              </p:cNvSpPr>
              <p:nvPr/>
            </p:nvSpPr>
            <p:spPr>
              <a:xfrm>
                <a:off x="0" y="5758660"/>
                <a:ext cx="6499158" cy="506870"/>
              </a:xfrm>
              <a:prstGeom prst="rect">
                <a:avLst/>
              </a:prstGeom>
              <a:blipFill>
                <a:blip r:embed="rId6"/>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CB3F7913-B427-429E-DFFB-E77373085175}"/>
              </a:ext>
            </a:extLst>
          </p:cNvPr>
          <p:cNvSpPr/>
          <p:nvPr/>
        </p:nvSpPr>
        <p:spPr bwMode="auto">
          <a:xfrm>
            <a:off x="291972" y="5653843"/>
            <a:ext cx="5875218" cy="605446"/>
          </a:xfrm>
          <a:prstGeom prst="rect">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7CCD6ED-590B-E31E-5828-D445377E224A}"/>
                  </a:ext>
                </a:extLst>
              </p:cNvPr>
              <p:cNvSpPr txBox="1"/>
              <p:nvPr/>
            </p:nvSpPr>
            <p:spPr>
              <a:xfrm>
                <a:off x="6016997" y="5749957"/>
                <a:ext cx="6499158" cy="5068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zh-CN" altLang="en-US" i="0">
                              <a:solidFill>
                                <a:schemeClr val="tx1"/>
                              </a:solidFill>
                              <a:latin typeface="Cambria Math" panose="02040503050406030204" pitchFamily="18" charset="0"/>
                            </a:rPr>
                            <m:t>Sno</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Sname</m:t>
                          </m:r>
                          <m:r>
                            <a:rPr lang="zh-CN" altLang="en-US" i="0">
                              <a:solidFill>
                                <a:schemeClr val="tx1"/>
                              </a:solidFill>
                              <a:latin typeface="Cambria Math" panose="02040503050406030204" pitchFamily="18" charset="0"/>
                            </a:rPr>
                            <m:t>,   </m:t>
                          </m:r>
                          <m:r>
                            <m:rPr>
                              <m:sty m:val="p"/>
                            </m:rPr>
                            <a:rPr lang="zh-CN" altLang="en-US" i="0">
                              <a:solidFill>
                                <a:schemeClr val="tx1"/>
                              </a:solidFill>
                              <a:latin typeface="Cambria Math" panose="02040503050406030204" pitchFamily="18" charset="0"/>
                            </a:rPr>
                            <m:t>Grade</m:t>
                          </m:r>
                        </m:sub>
                      </m:sSub>
                      <m:d>
                        <m:dPr>
                          <m:ctrlPr>
                            <a:rPr lang="zh-CN" altLang="en-US" i="1">
                              <a:solidFill>
                                <a:schemeClr val="tx1"/>
                              </a:solidFill>
                              <a:latin typeface="Cambria Math" panose="02040503050406030204" pitchFamily="18" charset="0"/>
                            </a:rPr>
                          </m:ctrlPr>
                        </m:dPr>
                        <m:e>
                          <m:d>
                            <m:dPr>
                              <m:ctrlPr>
                                <a:rPr lang="zh-CN" altLang="en-US" i="1">
                                  <a:solidFill>
                                    <a:schemeClr val="tx1"/>
                                  </a:solidFill>
                                  <a:latin typeface="Cambria Math" panose="02040503050406030204" pitchFamily="18" charset="0"/>
                                </a:rPr>
                              </m:ctrlPr>
                            </m:dPr>
                            <m:e>
                              <m:sSub>
                                <m:sSubPr>
                                  <m:ctrlPr>
                                    <a:rPr lang="en-US" altLang="zh-CN" i="1" smtClean="0">
                                      <a:solidFill>
                                        <a:schemeClr val="tx1"/>
                                      </a:solidFill>
                                      <a:latin typeface="Cambria Math" panose="02040503050406030204" pitchFamily="18" charset="0"/>
                                    </a:rPr>
                                  </m:ctrlPr>
                                </m:sSubPr>
                                <m:e>
                                  <m:r>
                                    <m:rPr>
                                      <m:sty m:val="p"/>
                                    </m:rPr>
                                    <a:rPr lang="zh-CN" altLang="en-US">
                                      <a:solidFill>
                                        <a:schemeClr val="tx1"/>
                                      </a:solidFill>
                                      <a:latin typeface="Cambria Math" panose="02040503050406030204" pitchFamily="18" charset="0"/>
                                    </a:rPr>
                                    <m:t>Π</m:t>
                                  </m:r>
                                </m:e>
                                <m:sub>
                                  <m:r>
                                    <m:rPr>
                                      <m:sty m:val="p"/>
                                    </m:rPr>
                                    <a:rPr lang="en-US" altLang="zh-CN" b="0" i="0" smtClean="0">
                                      <a:solidFill>
                                        <a:schemeClr val="tx1"/>
                                      </a:solidFill>
                                      <a:latin typeface="Cambria Math" panose="02040503050406030204" pitchFamily="18" charset="0"/>
                                    </a:rPr>
                                    <m:t>Sno</m:t>
                                  </m:r>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Grade</m:t>
                                  </m:r>
                                </m:sub>
                              </m:sSub>
                              <m:r>
                                <a:rPr lang="en-US" altLang="zh-CN" b="0" i="1" smtClean="0">
                                  <a:solidFill>
                                    <a:schemeClr val="tx1"/>
                                  </a:solidFill>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𝜎</m:t>
                                  </m:r>
                                </m:e>
                                <m:sub>
                                  <m:r>
                                    <a:rPr lang="zh-CN" altLang="en-US">
                                      <a:latin typeface="Cambria Math" panose="02040503050406030204" pitchFamily="18" charset="0"/>
                                    </a:rPr>
                                    <m:t> </m:t>
                                  </m:r>
                                  <m:r>
                                    <m:rPr>
                                      <m:sty m:val="p"/>
                                    </m:rPr>
                                    <a:rPr lang="zh-CN" altLang="en-US">
                                      <a:latin typeface="Cambria Math" panose="02040503050406030204" pitchFamily="18" charset="0"/>
                                    </a:rPr>
                                    <m:t>Cno</m:t>
                                  </m:r>
                                  <m:r>
                                    <a:rPr lang="zh-CN" altLang="en-US">
                                      <a:latin typeface="Cambria Math" panose="02040503050406030204" pitchFamily="18" charset="0"/>
                                    </a:rPr>
                                    <m:t>="1"  </m:t>
                                  </m:r>
                                </m:sub>
                              </m:sSub>
                              <m:r>
                                <m:rPr>
                                  <m:sty m:val="p"/>
                                </m:rPr>
                                <a:rPr lang="zh-CN" altLang="en-US" i="0">
                                  <a:solidFill>
                                    <a:schemeClr val="tx1"/>
                                  </a:solidFill>
                                  <a:latin typeface="Cambria Math" panose="02040503050406030204" pitchFamily="18" charset="0"/>
                                </a:rPr>
                                <m:t>SC</m:t>
                              </m:r>
                              <m:r>
                                <a:rPr lang="en-US" altLang="zh-CN" b="0" i="1" smtClean="0">
                                  <a:solidFill>
                                    <a:schemeClr val="tx1"/>
                                  </a:solidFill>
                                  <a:latin typeface="Cambria Math" panose="02040503050406030204" pitchFamily="18" charset="0"/>
                                </a:rPr>
                                <m:t>)</m:t>
                              </m:r>
                            </m:e>
                          </m:d>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Student</m:t>
                          </m:r>
                        </m:e>
                      </m:d>
                    </m:oMath>
                  </m:oMathPara>
                </a14:m>
                <a:endParaRPr lang="zh-CN" altLang="en-US" dirty="0">
                  <a:solidFill>
                    <a:schemeClr val="tx1"/>
                  </a:solidFill>
                </a:endParaRPr>
              </a:p>
            </p:txBody>
          </p:sp>
        </mc:Choice>
        <mc:Fallback xmlns="">
          <p:sp>
            <p:nvSpPr>
              <p:cNvPr id="18" name="文本框 17">
                <a:extLst>
                  <a:ext uri="{FF2B5EF4-FFF2-40B4-BE49-F238E27FC236}">
                    <a16:creationId xmlns:a16="http://schemas.microsoft.com/office/drawing/2014/main" id="{07CCD6ED-590B-E31E-5828-D445377E224A}"/>
                  </a:ext>
                </a:extLst>
              </p:cNvPr>
              <p:cNvSpPr txBox="1">
                <a:spLocks noRot="1" noChangeAspect="1" noMove="1" noResize="1" noEditPoints="1" noAdjustHandles="1" noChangeArrowheads="1" noChangeShapeType="1" noTextEdit="1"/>
              </p:cNvSpPr>
              <p:nvPr/>
            </p:nvSpPr>
            <p:spPr>
              <a:xfrm>
                <a:off x="6016997" y="5749957"/>
                <a:ext cx="6499158" cy="506870"/>
              </a:xfrm>
              <a:prstGeom prst="rect">
                <a:avLst/>
              </a:prstGeom>
              <a:blipFill>
                <a:blip r:embed="rId7"/>
                <a:stretch>
                  <a:fillRect/>
                </a:stretch>
              </a:blipFill>
            </p:spPr>
            <p:txBody>
              <a:bodyPr/>
              <a:lstStyle/>
              <a:p>
                <a:r>
                  <a:rPr lang="zh-CN" altLang="en-US">
                    <a:noFill/>
                  </a:rPr>
                  <a:t> </a:t>
                </a:r>
              </a:p>
            </p:txBody>
          </p:sp>
        </mc:Fallback>
      </mc:AlternateContent>
      <p:sp>
        <p:nvSpPr>
          <p:cNvPr id="20" name="矩形 19">
            <a:extLst>
              <a:ext uri="{FF2B5EF4-FFF2-40B4-BE49-F238E27FC236}">
                <a16:creationId xmlns:a16="http://schemas.microsoft.com/office/drawing/2014/main" id="{BE1E12CF-09E6-979F-1BD0-DDCA3336643E}"/>
              </a:ext>
            </a:extLst>
          </p:cNvPr>
          <p:cNvSpPr/>
          <p:nvPr/>
        </p:nvSpPr>
        <p:spPr bwMode="auto">
          <a:xfrm>
            <a:off x="6317382" y="5653843"/>
            <a:ext cx="5795952" cy="605446"/>
          </a:xfrm>
          <a:prstGeom prst="rect">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1" name="矩形 20"/>
          <p:cNvSpPr/>
          <p:nvPr/>
        </p:nvSpPr>
        <p:spPr>
          <a:xfrm>
            <a:off x="2045752" y="1046925"/>
            <a:ext cx="7342087" cy="369332"/>
          </a:xfrm>
          <a:prstGeom prst="rect">
            <a:avLst/>
          </a:prstGeom>
          <a:solidFill>
            <a:srgbClr val="701988"/>
          </a:solidFill>
        </p:spPr>
        <p:txBody>
          <a:bodyPr wrap="square">
            <a:spAutoFit/>
          </a:bodyPr>
          <a:lstStyle/>
          <a:p>
            <a:pPr algn="ctr"/>
            <a:r>
              <a:rPr lang="zh-CN" altLang="en-US" b="1" dirty="0">
                <a:solidFill>
                  <a:schemeClr val="bg1"/>
                </a:solidFill>
                <a:latin typeface="+mj-ea"/>
                <a:ea typeface="+mj-ea"/>
              </a:rPr>
              <a:t>查询</a:t>
            </a:r>
            <a:r>
              <a:rPr lang="zh-CN" altLang="en-US" dirty="0">
                <a:solidFill>
                  <a:schemeClr val="bg1"/>
                </a:solidFill>
                <a:latin typeface="+mj-ea"/>
                <a:ea typeface="+mj-ea"/>
              </a:rPr>
              <a:t>：</a:t>
            </a:r>
            <a:r>
              <a:rPr lang="zh-CN" altLang="zh-CN" dirty="0">
                <a:solidFill>
                  <a:schemeClr val="bg1"/>
                </a:solidFill>
                <a:latin typeface="+mj-ea"/>
                <a:ea typeface="+mj-ea"/>
              </a:rPr>
              <a:t>获取</a:t>
            </a:r>
            <a:r>
              <a:rPr lang="zh-CN" altLang="en-US" dirty="0">
                <a:solidFill>
                  <a:schemeClr val="bg1"/>
                </a:solidFill>
                <a:latin typeface="+mj-ea"/>
                <a:ea typeface="+mj-ea"/>
              </a:rPr>
              <a:t>选修了</a:t>
            </a:r>
            <a:r>
              <a:rPr lang="en-US" altLang="zh-CN" dirty="0">
                <a:solidFill>
                  <a:schemeClr val="bg1"/>
                </a:solidFill>
                <a:latin typeface="+mj-ea"/>
                <a:ea typeface="+mj-ea"/>
              </a:rPr>
              <a:t>1</a:t>
            </a:r>
            <a:r>
              <a:rPr lang="zh-CN" altLang="en-US" dirty="0">
                <a:solidFill>
                  <a:schemeClr val="bg1"/>
                </a:solidFill>
                <a:latin typeface="+mj-ea"/>
                <a:ea typeface="+mj-ea"/>
              </a:rPr>
              <a:t>号课程的学生学号、姓名及成绩</a:t>
            </a:r>
          </a:p>
        </p:txBody>
      </p:sp>
      <p:sp>
        <p:nvSpPr>
          <p:cNvPr id="16" name="右箭头 15">
            <a:extLst>
              <a:ext uri="{FF2B5EF4-FFF2-40B4-BE49-F238E27FC236}">
                <a16:creationId xmlns:a16="http://schemas.microsoft.com/office/drawing/2014/main" id="{66E9E576-84C0-2A1D-26A9-1BAE691BB489}"/>
              </a:ext>
            </a:extLst>
          </p:cNvPr>
          <p:cNvSpPr/>
          <p:nvPr/>
        </p:nvSpPr>
        <p:spPr bwMode="auto">
          <a:xfrm>
            <a:off x="8301479" y="3305032"/>
            <a:ext cx="346509" cy="325229"/>
          </a:xfrm>
          <a:prstGeom prst="rightArrow">
            <a:avLst/>
          </a:prstGeom>
          <a:ln>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4000617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541DB85-4778-398B-4712-A66C11D37CE4}"/>
              </a:ext>
            </a:extLst>
          </p:cNvPr>
          <p:cNvSpPr>
            <a:spLocks noGrp="1"/>
          </p:cNvSpPr>
          <p:nvPr>
            <p:ph type="sldNum" sz="quarter" idx="10"/>
          </p:nvPr>
        </p:nvSpPr>
        <p:spPr/>
        <p:txBody>
          <a:bodyPr/>
          <a:lstStyle/>
          <a:p>
            <a:fld id="{4B0D34C0-35A8-654C-9FBA-7B4E017BD630}" type="slidenum">
              <a:rPr lang="en-US" altLang="zh-CN" smtClean="0"/>
              <a:t>33</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投影运算的等价规则</a:t>
            </a:r>
          </a:p>
        </p:txBody>
      </p:sp>
      <p:sp>
        <p:nvSpPr>
          <p:cNvPr id="5" name="页脚占位符 4">
            <a:extLst>
              <a:ext uri="{FF2B5EF4-FFF2-40B4-BE49-F238E27FC236}">
                <a16:creationId xmlns:a16="http://schemas.microsoft.com/office/drawing/2014/main" id="{B963BA6C-18FB-FB40-8360-BBD4063EEA16}"/>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1909A37-FBBB-91E4-4BBE-41072C3CAB9D}"/>
                  </a:ext>
                </a:extLst>
              </p:cNvPr>
              <p:cNvSpPr/>
              <p:nvPr/>
            </p:nvSpPr>
            <p:spPr>
              <a:xfrm>
                <a:off x="399916" y="1494115"/>
                <a:ext cx="11673750" cy="2654766"/>
              </a:xfrm>
              <a:prstGeom prst="rect">
                <a:avLst/>
              </a:prstGeom>
            </p:spPr>
            <p:txBody>
              <a:bodyPr wrap="square">
                <a:spAutoFit/>
              </a:bodyPr>
              <a:lstStyle/>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1</m:t>
                            </m:r>
                          </m:sub>
                        </m:sSub>
                      </m:sub>
                    </m:sSub>
                    <m:d>
                      <m:dPr>
                        <m:ctrlPr>
                          <a:rPr lang="zh-CN" altLang="zh-CN" sz="2400" i="1" kern="100">
                            <a:latin typeface="Cambria Math" panose="02040503050406030204" pitchFamily="18" charset="0"/>
                            <a:ea typeface="+mj-ea"/>
                            <a:cs typeface="Times New Roman" panose="02020603050405020304" pitchFamily="18" charset="0"/>
                          </a:rPr>
                        </m:ctrlPr>
                      </m:dPr>
                      <m:e>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2</m:t>
                                </m:r>
                              </m:sub>
                            </m:sSub>
                          </m:sub>
                        </m:sSub>
                        <m:d>
                          <m:dPr>
                            <m:ctrlPr>
                              <a:rPr lang="zh-CN" altLang="zh-CN" sz="2400" i="1" kern="100">
                                <a:latin typeface="Cambria Math" panose="02040503050406030204" pitchFamily="18" charset="0"/>
                                <a:ea typeface="+mj-ea"/>
                                <a:cs typeface="Times New Roman" panose="02020603050405020304" pitchFamily="18" charset="0"/>
                              </a:rPr>
                            </m:ctrlPr>
                          </m:dPr>
                          <m:e>
                            <m:r>
                              <m:rPr>
                                <m:sty m:val="p"/>
                              </m:rPr>
                              <a:rPr lang="en-US" altLang="zh-CN" sz="2400" b="0" i="0" kern="100">
                                <a:latin typeface="Cambria Math" panose="02040503050406030204" pitchFamily="18" charset="0"/>
                                <a:ea typeface="+mj-ea"/>
                                <a:cs typeface="Times New Roman" panose="02020603050405020304" pitchFamily="18" charset="0"/>
                              </a:rPr>
                              <m:t>R</m:t>
                            </m:r>
                          </m:e>
                        </m:d>
                      </m:e>
                    </m:d>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1</m:t>
                            </m:r>
                          </m:sub>
                        </m:sSub>
                      </m:sub>
                    </m:sSub>
                    <m:d>
                      <m:dPr>
                        <m:ctrlPr>
                          <a:rPr lang="zh-CN" altLang="zh-CN" sz="2400" i="1" kern="100">
                            <a:latin typeface="Cambria Math" panose="02040503050406030204" pitchFamily="18" charset="0"/>
                            <a:ea typeface="+mj-ea"/>
                            <a:cs typeface="Times New Roman" panose="02020603050405020304" pitchFamily="18" charset="0"/>
                          </a:rPr>
                        </m:ctrlPr>
                      </m:dPr>
                      <m:e>
                        <m:r>
                          <m:rPr>
                            <m:sty m:val="p"/>
                          </m:rPr>
                          <a:rPr lang="en-US" altLang="zh-CN" sz="2400" b="0" i="0" kern="100">
                            <a:latin typeface="Cambria Math" panose="02040503050406030204" pitchFamily="18" charset="0"/>
                            <a:ea typeface="+mj-ea"/>
                            <a:cs typeface="Times New Roman" panose="02020603050405020304" pitchFamily="18" charset="0"/>
                          </a:rPr>
                          <m:t>R</m:t>
                        </m:r>
                      </m:e>
                    </m:d>
                    <m:r>
                      <a:rPr lang="en-US" altLang="zh-CN" sz="2400" b="0" i="0" kern="100">
                        <a:latin typeface="Cambria Math" panose="02040503050406030204" pitchFamily="18" charset="0"/>
                        <a:ea typeface="+mj-ea"/>
                        <a:cs typeface="Times New Roman" panose="02020603050405020304" pitchFamily="18" charset="0"/>
                      </a:rPr>
                      <m:t>, </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1</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2</m:t>
                        </m:r>
                      </m:sub>
                    </m:sSub>
                  </m:oMath>
                </a14:m>
                <a:r>
                  <a:rPr lang="zh-CN" altLang="zh-CN" sz="2400" kern="100" dirty="0">
                    <a:latin typeface="+mj-ea"/>
                    <a:ea typeface="+mj-ea"/>
                    <a:cs typeface="Times New Roman" panose="02020603050405020304" pitchFamily="18" charset="0"/>
                  </a:rPr>
                  <a:t>且都是关系</a:t>
                </a:r>
                <a:r>
                  <a:rPr lang="en-US" altLang="zh-CN" sz="2400" kern="100" dirty="0">
                    <a:latin typeface="+mj-ea"/>
                    <a:ea typeface="+mj-ea"/>
                    <a:cs typeface="Times New Roman" panose="02020603050405020304" pitchFamily="18" charset="0"/>
                  </a:rPr>
                  <a:t>R</a:t>
                </a:r>
                <a:r>
                  <a:rPr lang="zh-CN" altLang="en-US" sz="2400" kern="100" dirty="0">
                    <a:latin typeface="+mj-ea"/>
                    <a:ea typeface="+mj-ea"/>
                    <a:cs typeface="Times New Roman" panose="02020603050405020304" pitchFamily="18" charset="0"/>
                  </a:rPr>
                  <a:t> </a:t>
                </a:r>
                <a:r>
                  <a:rPr lang="zh-CN" altLang="zh-CN" sz="2400" kern="100" dirty="0">
                    <a:latin typeface="+mj-ea"/>
                    <a:ea typeface="+mj-ea"/>
                    <a:cs typeface="Times New Roman" panose="02020603050405020304" pitchFamily="18" charset="0"/>
                  </a:rPr>
                  <a:t>的属性</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σ</m:t>
                        </m:r>
                      </m:e>
                      <m:sub>
                        <m:r>
                          <m:rPr>
                            <m:sty m:val="p"/>
                          </m:rPr>
                          <a:rPr lang="en-US" altLang="zh-CN" sz="2400" b="0" i="0" kern="100">
                            <a:latin typeface="Cambria Math" panose="02040503050406030204" pitchFamily="18" charset="0"/>
                            <a:ea typeface="+mj-ea"/>
                            <a:cs typeface="Times New Roman" panose="02020603050405020304" pitchFamily="18" charset="0"/>
                          </a:rPr>
                          <m:t>p</m:t>
                        </m:r>
                      </m:sub>
                    </m:sSub>
                    <m:d>
                      <m:dPr>
                        <m:ctrlPr>
                          <a:rPr lang="zh-CN" altLang="zh-CN" sz="2400" i="1" kern="100">
                            <a:latin typeface="Cambria Math" panose="02040503050406030204" pitchFamily="18" charset="0"/>
                            <a:ea typeface="+mj-ea"/>
                            <a:cs typeface="Times New Roman" panose="02020603050405020304" pitchFamily="18" charset="0"/>
                          </a:rPr>
                        </m:ctrlPr>
                      </m:dPr>
                      <m:e>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r>
                              <m:rPr>
                                <m:sty m:val="p"/>
                              </m:rPr>
                              <a:rPr lang="en-US" altLang="zh-CN" sz="2400" b="0" i="0" kern="100">
                                <a:latin typeface="Cambria Math" panose="02040503050406030204" pitchFamily="18" charset="0"/>
                                <a:ea typeface="+mj-ea"/>
                                <a:cs typeface="Times New Roman" panose="02020603050405020304" pitchFamily="18" charset="0"/>
                              </a:rPr>
                              <m:t>S</m:t>
                            </m:r>
                          </m:sub>
                        </m:sSub>
                        <m:d>
                          <m:dPr>
                            <m:ctrlPr>
                              <a:rPr lang="zh-CN" altLang="zh-CN" sz="2400" i="1" kern="100">
                                <a:latin typeface="Cambria Math" panose="02040503050406030204" pitchFamily="18" charset="0"/>
                                <a:ea typeface="+mj-ea"/>
                                <a:cs typeface="Times New Roman" panose="02020603050405020304" pitchFamily="18" charset="0"/>
                              </a:rPr>
                            </m:ctrlPr>
                          </m:dPr>
                          <m:e>
                            <m:r>
                              <m:rPr>
                                <m:sty m:val="p"/>
                              </m:rPr>
                              <a:rPr lang="en-US" altLang="zh-CN" sz="2400" b="0" i="0" kern="100">
                                <a:latin typeface="Cambria Math" panose="02040503050406030204" pitchFamily="18" charset="0"/>
                                <a:ea typeface="+mj-ea"/>
                                <a:cs typeface="Times New Roman" panose="02020603050405020304" pitchFamily="18" charset="0"/>
                              </a:rPr>
                              <m:t>R</m:t>
                            </m:r>
                          </m:e>
                        </m:d>
                      </m:e>
                    </m:d>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r>
                          <m:rPr>
                            <m:sty m:val="p"/>
                          </m:rPr>
                          <a:rPr lang="en-US" altLang="zh-CN" sz="2400" b="0" i="0" kern="100">
                            <a:latin typeface="Cambria Math" panose="02040503050406030204" pitchFamily="18" charset="0"/>
                            <a:ea typeface="+mj-ea"/>
                            <a:cs typeface="Times New Roman" panose="02020603050405020304" pitchFamily="18" charset="0"/>
                          </a:rPr>
                          <m:t>S</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σ</m:t>
                        </m:r>
                      </m:e>
                      <m:sub>
                        <m:r>
                          <m:rPr>
                            <m:sty m:val="p"/>
                          </m:rPr>
                          <a:rPr lang="en-US" altLang="zh-CN" sz="2400" b="0" i="0" kern="100">
                            <a:latin typeface="Cambria Math" panose="02040503050406030204" pitchFamily="18" charset="0"/>
                            <a:ea typeface="+mj-ea"/>
                            <a:cs typeface="Times New Roman" panose="02020603050405020304" pitchFamily="18" charset="0"/>
                          </a:rPr>
                          <m:t>p</m:t>
                        </m:r>
                      </m:sub>
                    </m:sSub>
                    <m:r>
                      <a:rPr lang="en-US" altLang="zh-CN" sz="2400" b="0" i="0" kern="100">
                        <a:latin typeface="Cambria Math" panose="02040503050406030204" pitchFamily="18" charset="0"/>
                        <a:ea typeface="+mj-ea"/>
                        <a:cs typeface="Times New Roman" panose="02020603050405020304" pitchFamily="18" charset="0"/>
                      </a:rPr>
                      <m:t>(</m:t>
                    </m:r>
                    <m:r>
                      <m:rPr>
                        <m:sty m:val="p"/>
                      </m:rPr>
                      <a:rPr lang="en-US" altLang="zh-CN" sz="2400" b="0" i="0" kern="100">
                        <a:latin typeface="Cambria Math" panose="02040503050406030204" pitchFamily="18" charset="0"/>
                        <a:ea typeface="+mj-ea"/>
                        <a:cs typeface="Times New Roman" panose="02020603050405020304" pitchFamily="18" charset="0"/>
                      </a:rPr>
                      <m:t>R</m:t>
                    </m:r>
                    <m:r>
                      <a:rPr lang="en-US" altLang="zh-CN" sz="2400" b="0" i="0" kern="100">
                        <a:latin typeface="Cambria Math" panose="02040503050406030204" pitchFamily="18" charset="0"/>
                        <a:ea typeface="+mj-ea"/>
                        <a:cs typeface="Times New Roman" panose="02020603050405020304" pitchFamily="18" charset="0"/>
                      </a:rPr>
                      <m:t>)),</m:t>
                    </m:r>
                  </m:oMath>
                </a14:m>
                <a:r>
                  <a:rPr lang="en-US" altLang="zh-CN" sz="2400" kern="100" dirty="0">
                    <a:latin typeface="+mj-ea"/>
                    <a:ea typeface="+mj-ea"/>
                    <a:cs typeface="Times New Roman" panose="02020603050405020304" pitchFamily="18" charset="0"/>
                  </a:rPr>
                  <a:t> </a:t>
                </a:r>
                <a:r>
                  <a:rPr lang="zh-CN" altLang="zh-CN" sz="2400" kern="100" dirty="0">
                    <a:latin typeface="+mj-ea"/>
                    <a:ea typeface="+mj-ea"/>
                    <a:cs typeface="Times New Roman" panose="02020603050405020304" pitchFamily="18" charset="0"/>
                  </a:rPr>
                  <a:t>其中选择条件</a:t>
                </a:r>
                <a14:m>
                  <m:oMath xmlns:m="http://schemas.openxmlformats.org/officeDocument/2006/math">
                    <m:r>
                      <m:rPr>
                        <m:sty m:val="p"/>
                      </m:rPr>
                      <a:rPr lang="en-US" altLang="zh-CN" sz="2400" b="0" i="0" kern="100">
                        <a:latin typeface="Cambria Math" panose="02040503050406030204" pitchFamily="18" charset="0"/>
                        <a:ea typeface="+mj-ea"/>
                        <a:cs typeface="Times New Roman" panose="02020603050405020304" pitchFamily="18" charset="0"/>
                      </a:rPr>
                      <m:t>p</m:t>
                    </m:r>
                  </m:oMath>
                </a14:m>
                <a:r>
                  <a:rPr lang="zh-CN" altLang="zh-CN" sz="2400" kern="100" dirty="0">
                    <a:latin typeface="+mj-ea"/>
                    <a:ea typeface="+mj-ea"/>
                    <a:cs typeface="Times New Roman" panose="02020603050405020304" pitchFamily="18" charset="0"/>
                  </a:rPr>
                  <a:t>只涉及投影</a:t>
                </a:r>
                <a14:m>
                  <m:oMath xmlns:m="http://schemas.openxmlformats.org/officeDocument/2006/math">
                    <m:r>
                      <m:rPr>
                        <m:sty m:val="p"/>
                      </m:rPr>
                      <a:rPr lang="en-US" altLang="zh-CN" sz="2400" b="0" i="0" kern="100">
                        <a:latin typeface="Cambria Math" panose="02040503050406030204" pitchFamily="18" charset="0"/>
                        <a:ea typeface="+mj-ea"/>
                        <a:cs typeface="Times New Roman" panose="02020603050405020304" pitchFamily="18" charset="0"/>
                      </a:rPr>
                      <m:t>S</m:t>
                    </m:r>
                  </m:oMath>
                </a14:m>
                <a:r>
                  <a:rPr lang="zh-CN" altLang="zh-CN" sz="2400" kern="100" dirty="0">
                    <a:latin typeface="+mj-ea"/>
                    <a:ea typeface="+mj-ea"/>
                    <a:cs typeface="Times New Roman" panose="02020603050405020304" pitchFamily="18" charset="0"/>
                  </a:rPr>
                  <a:t>中的属性</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1</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2</m:t>
                            </m:r>
                          </m:sub>
                        </m:sSub>
                      </m:sub>
                    </m:sSub>
                    <m:d>
                      <m:dPr>
                        <m:ctrlPr>
                          <a:rPr lang="zh-CN" altLang="zh-CN" sz="2400" i="1" kern="100">
                            <a:latin typeface="Cambria Math" panose="02040503050406030204" pitchFamily="18" charset="0"/>
                            <a:ea typeface="+mj-ea"/>
                            <a:cs typeface="Times New Roman" panose="02020603050405020304" pitchFamily="18" charset="0"/>
                          </a:rPr>
                        </m:ctrlPr>
                      </m:dPr>
                      <m:e>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1</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2</m:t>
                            </m:r>
                          </m:sub>
                        </m:sSub>
                      </m:e>
                    </m:d>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1</m:t>
                            </m:r>
                          </m:sub>
                        </m:sSub>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1</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2</m:t>
                            </m:r>
                          </m:sub>
                        </m:sSub>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2</m:t>
                        </m:r>
                      </m:sub>
                    </m:sSub>
                    <m:r>
                      <a:rPr lang="en-US" altLang="zh-CN" sz="2400" b="0" i="0" kern="100">
                        <a:latin typeface="Cambria Math" panose="02040503050406030204" pitchFamily="18" charset="0"/>
                        <a:ea typeface="+mj-ea"/>
                        <a:cs typeface="Times New Roman" panose="02020603050405020304" pitchFamily="18" charset="0"/>
                      </a:rPr>
                      <m:t>),</m:t>
                    </m:r>
                  </m:oMath>
                </a14:m>
                <a:r>
                  <a:rPr lang="en-US" altLang="zh-CN" sz="2400" kern="100" dirty="0">
                    <a:latin typeface="+mj-ea"/>
                    <a:ea typeface="+mj-ea"/>
                    <a:cs typeface="Times New Roman" panose="02020603050405020304" pitchFamily="18" charset="0"/>
                  </a:rPr>
                  <a:t> </a:t>
                </a:r>
                <a:r>
                  <a:rPr lang="zh-CN" altLang="zh-CN" sz="2400" kern="100" dirty="0">
                    <a:latin typeface="+mj-ea"/>
                    <a:ea typeface="+mj-ea"/>
                    <a:cs typeface="Times New Roman" panose="02020603050405020304" pitchFamily="18" charset="0"/>
                  </a:rPr>
                  <a:t>其中投影属性集合</a:t>
                </a: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1</m:t>
                        </m:r>
                      </m:sub>
                    </m:sSub>
                  </m:oMath>
                </a14:m>
                <a:r>
                  <a:rPr lang="zh-CN" altLang="zh-CN" sz="2400" kern="100" dirty="0">
                    <a:latin typeface="+mj-ea"/>
                    <a:ea typeface="+mj-ea"/>
                    <a:cs typeface="Times New Roman" panose="02020603050405020304" pitchFamily="18" charset="0"/>
                  </a:rPr>
                  <a:t>和</a:t>
                </a: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S</m:t>
                        </m:r>
                      </m:e>
                      <m:sub>
                        <m:r>
                          <a:rPr lang="en-US" altLang="zh-CN" sz="2400" b="0" i="0" kern="100">
                            <a:latin typeface="Cambria Math" panose="02040503050406030204" pitchFamily="18" charset="0"/>
                            <a:ea typeface="+mj-ea"/>
                            <a:cs typeface="Times New Roman" panose="02020603050405020304" pitchFamily="18" charset="0"/>
                          </a:rPr>
                          <m:t>2</m:t>
                        </m:r>
                      </m:sub>
                    </m:sSub>
                  </m:oMath>
                </a14:m>
                <a:r>
                  <a:rPr lang="zh-CN" altLang="zh-CN" sz="2400" kern="100" dirty="0">
                    <a:latin typeface="+mj-ea"/>
                    <a:ea typeface="+mj-ea"/>
                    <a:cs typeface="Times New Roman" panose="02020603050405020304" pitchFamily="18" charset="0"/>
                  </a:rPr>
                  <a:t>分别是</a:t>
                </a: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1</m:t>
                        </m:r>
                      </m:sub>
                    </m:sSub>
                  </m:oMath>
                </a14:m>
                <a:r>
                  <a:rPr lang="zh-CN" altLang="zh-CN" sz="2400" kern="100" dirty="0">
                    <a:latin typeface="+mj-ea"/>
                    <a:ea typeface="+mj-ea"/>
                    <a:cs typeface="Times New Roman" panose="02020603050405020304" pitchFamily="18" charset="0"/>
                  </a:rPr>
                  <a:t>和</a:t>
                </a: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2</m:t>
                        </m:r>
                      </m:sub>
                    </m:sSub>
                  </m:oMath>
                </a14:m>
                <a:r>
                  <a:rPr lang="zh-CN" altLang="zh-CN" sz="2400" kern="100" dirty="0">
                    <a:latin typeface="+mj-ea"/>
                    <a:ea typeface="+mj-ea"/>
                    <a:cs typeface="Times New Roman" panose="02020603050405020304" pitchFamily="18" charset="0"/>
                  </a:rPr>
                  <a:t>的属性</a:t>
                </a:r>
              </a:p>
              <a:p>
                <a:pPr marL="342900" lvl="0" indent="-342900" algn="just">
                  <a:lnSpc>
                    <a:spcPct val="150000"/>
                  </a:lnSpc>
                  <a:buFont typeface="Wingdings" panose="05000000000000000000" pitchFamily="2" charset="2"/>
                  <a:buChar char="Ø"/>
                </a:pP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r>
                          <m:rPr>
                            <m:sty m:val="p"/>
                          </m:rPr>
                          <a:rPr lang="en-US" altLang="zh-CN" sz="2400" b="0" i="0" kern="100">
                            <a:latin typeface="Cambria Math" panose="02040503050406030204" pitchFamily="18" charset="0"/>
                            <a:ea typeface="+mj-ea"/>
                            <a:cs typeface="Times New Roman" panose="02020603050405020304" pitchFamily="18" charset="0"/>
                          </a:rPr>
                          <m:t>S</m:t>
                        </m:r>
                      </m:sub>
                    </m:sSub>
                    <m:d>
                      <m:dPr>
                        <m:ctrlPr>
                          <a:rPr lang="zh-CN" altLang="zh-CN" sz="2400" i="1" kern="100">
                            <a:latin typeface="Cambria Math" panose="02040503050406030204" pitchFamily="18" charset="0"/>
                            <a:ea typeface="+mj-ea"/>
                            <a:cs typeface="Times New Roman" panose="02020603050405020304" pitchFamily="18" charset="0"/>
                          </a:rPr>
                        </m:ctrlPr>
                      </m:dPr>
                      <m:e>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1</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2</m:t>
                            </m:r>
                          </m:sub>
                        </m:sSub>
                      </m:e>
                    </m:d>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r>
                          <m:rPr>
                            <m:sty m:val="p"/>
                          </m:rPr>
                          <a:rPr lang="en-US" altLang="zh-CN" sz="2400" b="0" i="0" kern="100">
                            <a:latin typeface="Cambria Math" panose="02040503050406030204" pitchFamily="18" charset="0"/>
                            <a:ea typeface="+mj-ea"/>
                            <a:cs typeface="Times New Roman" panose="02020603050405020304" pitchFamily="18" charset="0"/>
                          </a:rPr>
                          <m:t>S</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1</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Π</m:t>
                        </m:r>
                      </m:e>
                      <m:sub>
                        <m:r>
                          <m:rPr>
                            <m:sty m:val="p"/>
                          </m:rPr>
                          <a:rPr lang="en-US" altLang="zh-CN" sz="2400" b="0" i="0" kern="100">
                            <a:latin typeface="Cambria Math" panose="02040503050406030204" pitchFamily="18" charset="0"/>
                            <a:ea typeface="+mj-ea"/>
                            <a:cs typeface="Times New Roman" panose="02020603050405020304" pitchFamily="18" charset="0"/>
                          </a:rPr>
                          <m:t>S</m:t>
                        </m:r>
                      </m:sub>
                    </m:sSub>
                    <m:r>
                      <a:rPr lang="en-US" altLang="zh-CN" sz="2400" b="0" i="0" kern="100">
                        <a:latin typeface="Cambria Math" panose="02040503050406030204" pitchFamily="18" charset="0"/>
                        <a:ea typeface="+mj-ea"/>
                        <a:cs typeface="Times New Roman" panose="02020603050405020304" pitchFamily="18" charset="0"/>
                      </a:rPr>
                      <m:t>(</m:t>
                    </m:r>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2</m:t>
                        </m:r>
                      </m:sub>
                    </m:sSub>
                    <m:r>
                      <a:rPr lang="en-US" altLang="zh-CN" sz="2400" b="0" i="0" kern="100">
                        <a:latin typeface="Cambria Math" panose="02040503050406030204" pitchFamily="18" charset="0"/>
                        <a:ea typeface="+mj-ea"/>
                        <a:cs typeface="Times New Roman" panose="02020603050405020304" pitchFamily="18" charset="0"/>
                      </a:rPr>
                      <m:t>),</m:t>
                    </m:r>
                  </m:oMath>
                </a14:m>
                <a:r>
                  <a:rPr lang="en-US" altLang="zh-CN" sz="2400" kern="100" dirty="0">
                    <a:latin typeface="+mj-ea"/>
                    <a:ea typeface="+mj-ea"/>
                    <a:cs typeface="Times New Roman" panose="02020603050405020304" pitchFamily="18" charset="0"/>
                  </a:rPr>
                  <a:t> </a:t>
                </a:r>
                <a:r>
                  <a:rPr lang="zh-CN" altLang="zh-CN" sz="2400" kern="100" dirty="0">
                    <a:latin typeface="+mj-ea"/>
                    <a:ea typeface="+mj-ea"/>
                    <a:cs typeface="Times New Roman" panose="02020603050405020304" pitchFamily="18" charset="0"/>
                  </a:rPr>
                  <a:t>其中投影属性集合</a:t>
                </a:r>
                <a:r>
                  <a:rPr lang="en-US" altLang="zh-CN" sz="2400" kern="100" dirty="0">
                    <a:latin typeface="+mj-ea"/>
                    <a:ea typeface="+mj-ea"/>
                    <a:cs typeface="Times New Roman" panose="02020603050405020304" pitchFamily="18" charset="0"/>
                  </a:rPr>
                  <a:t>S</a:t>
                </a:r>
                <a:r>
                  <a:rPr lang="zh-CN" altLang="zh-CN" sz="2400" kern="100" dirty="0">
                    <a:latin typeface="+mj-ea"/>
                    <a:ea typeface="+mj-ea"/>
                    <a:cs typeface="Times New Roman" panose="02020603050405020304" pitchFamily="18" charset="0"/>
                  </a:rPr>
                  <a:t>是关系</a:t>
                </a: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1</m:t>
                        </m:r>
                      </m:sub>
                    </m:sSub>
                  </m:oMath>
                </a14:m>
                <a:r>
                  <a:rPr lang="zh-CN" altLang="zh-CN" sz="2400" kern="100" dirty="0">
                    <a:latin typeface="+mj-ea"/>
                    <a:ea typeface="+mj-ea"/>
                    <a:cs typeface="Times New Roman" panose="02020603050405020304" pitchFamily="18" charset="0"/>
                  </a:rPr>
                  <a:t>和</a:t>
                </a:r>
                <a14:m>
                  <m:oMath xmlns:m="http://schemas.openxmlformats.org/officeDocument/2006/math">
                    <m:sSub>
                      <m:sSubPr>
                        <m:ctrlPr>
                          <a:rPr lang="zh-CN" altLang="zh-CN" sz="2400" i="1" kern="100">
                            <a:latin typeface="Cambria Math" panose="02040503050406030204" pitchFamily="18" charset="0"/>
                            <a:ea typeface="+mj-ea"/>
                            <a:cs typeface="Times New Roman" panose="02020603050405020304" pitchFamily="18" charset="0"/>
                          </a:rPr>
                        </m:ctrlPr>
                      </m:sSubPr>
                      <m:e>
                        <m:r>
                          <m:rPr>
                            <m:sty m:val="p"/>
                          </m:rPr>
                          <a:rPr lang="en-US" altLang="zh-CN" sz="2400" b="0" i="0" kern="100">
                            <a:latin typeface="Cambria Math" panose="02040503050406030204" pitchFamily="18" charset="0"/>
                            <a:ea typeface="+mj-ea"/>
                            <a:cs typeface="Times New Roman" panose="02020603050405020304" pitchFamily="18" charset="0"/>
                          </a:rPr>
                          <m:t>R</m:t>
                        </m:r>
                      </m:e>
                      <m:sub>
                        <m:r>
                          <a:rPr lang="en-US" altLang="zh-CN" sz="2400" b="0" i="0" kern="100">
                            <a:latin typeface="Cambria Math" panose="02040503050406030204" pitchFamily="18" charset="0"/>
                            <a:ea typeface="+mj-ea"/>
                            <a:cs typeface="Times New Roman" panose="02020603050405020304" pitchFamily="18" charset="0"/>
                          </a:rPr>
                          <m:t>2</m:t>
                        </m:r>
                      </m:sub>
                    </m:sSub>
                  </m:oMath>
                </a14:m>
                <a:r>
                  <a:rPr lang="zh-CN" altLang="zh-CN" sz="2400" kern="100" dirty="0">
                    <a:latin typeface="+mj-ea"/>
                    <a:ea typeface="+mj-ea"/>
                    <a:cs typeface="Times New Roman" panose="02020603050405020304" pitchFamily="18" charset="0"/>
                  </a:rPr>
                  <a:t>的属性</a:t>
                </a:r>
              </a:p>
            </p:txBody>
          </p:sp>
        </mc:Choice>
        <mc:Fallback xmlns="">
          <p:sp>
            <p:nvSpPr>
              <p:cNvPr id="3" name="矩形 2">
                <a:extLst>
                  <a:ext uri="{FF2B5EF4-FFF2-40B4-BE49-F238E27FC236}">
                    <a16:creationId xmlns:a16="http://schemas.microsoft.com/office/drawing/2014/main" id="{C1909A37-FBBB-91E4-4BBE-41072C3CAB9D}"/>
                  </a:ext>
                </a:extLst>
              </p:cNvPr>
              <p:cNvSpPr>
                <a:spLocks noRot="1" noChangeAspect="1" noMove="1" noResize="1" noEditPoints="1" noAdjustHandles="1" noChangeArrowheads="1" noChangeShapeType="1" noTextEdit="1"/>
              </p:cNvSpPr>
              <p:nvPr/>
            </p:nvSpPr>
            <p:spPr>
              <a:xfrm>
                <a:off x="399916" y="1494115"/>
                <a:ext cx="11673750" cy="2654766"/>
              </a:xfrm>
              <a:prstGeom prst="rect">
                <a:avLst/>
              </a:prstGeom>
              <a:blipFill>
                <a:blip r:embed="rId3"/>
                <a:stretch>
                  <a:fillRect l="-761" b="-42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495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0FF52922-3D42-4412-80D4-E8608AC407DF}"/>
              </a:ext>
            </a:extLst>
          </p:cNvPr>
          <p:cNvSpPr/>
          <p:nvPr/>
        </p:nvSpPr>
        <p:spPr>
          <a:xfrm>
            <a:off x="2078268" y="1172327"/>
            <a:ext cx="8035466" cy="496680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BC51E2A0-51A4-E8B2-C1D2-8DDC6E612935}"/>
              </a:ext>
            </a:extLst>
          </p:cNvPr>
          <p:cNvSpPr>
            <a:spLocks noGrp="1"/>
          </p:cNvSpPr>
          <p:nvPr>
            <p:ph type="sldNum" sz="quarter" idx="10"/>
          </p:nvPr>
        </p:nvSpPr>
        <p:spPr/>
        <p:txBody>
          <a:bodyPr/>
          <a:lstStyle/>
          <a:p>
            <a:fld id="{87BBDC00-B9E2-4EFD-9306-2934E87247C6}" type="slidenum">
              <a:rPr lang="zh-CN" altLang="en-US" smtClean="0"/>
              <a:pPr/>
              <a:t>34</a:t>
            </a:fld>
            <a:endParaRPr lang="zh-CN" altLang="en-US"/>
          </a:p>
        </p:txBody>
      </p:sp>
      <p:sp>
        <p:nvSpPr>
          <p:cNvPr id="3" name="标题 2">
            <a:extLst>
              <a:ext uri="{FF2B5EF4-FFF2-40B4-BE49-F238E27FC236}">
                <a16:creationId xmlns:a16="http://schemas.microsoft.com/office/drawing/2014/main" id="{0E2B34D1-7368-ADB8-458E-55BC5FA8BE19}"/>
              </a:ext>
            </a:extLst>
          </p:cNvPr>
          <p:cNvSpPr>
            <a:spLocks noGrp="1"/>
          </p:cNvSpPr>
          <p:nvPr>
            <p:ph type="title"/>
          </p:nvPr>
        </p:nvSpPr>
        <p:spPr/>
        <p:txBody>
          <a:bodyPr/>
          <a:lstStyle/>
          <a:p>
            <a:r>
              <a:rPr kumimoji="1" lang="zh-CN" altLang="en-US" dirty="0"/>
              <a:t>笛卡尔积转连接示例</a:t>
            </a:r>
          </a:p>
        </p:txBody>
      </p:sp>
      <p:sp>
        <p:nvSpPr>
          <p:cNvPr id="7" name="页脚占位符 6">
            <a:extLst>
              <a:ext uri="{FF2B5EF4-FFF2-40B4-BE49-F238E27FC236}">
                <a16:creationId xmlns:a16="http://schemas.microsoft.com/office/drawing/2014/main" id="{5B6997B1-CB04-61AB-384D-D84E80830565}"/>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右箭头 3">
            <a:extLst>
              <a:ext uri="{FF2B5EF4-FFF2-40B4-BE49-F238E27FC236}">
                <a16:creationId xmlns:a16="http://schemas.microsoft.com/office/drawing/2014/main" id="{98C0BF68-1556-3459-19E6-7005BD892DBA}"/>
              </a:ext>
            </a:extLst>
          </p:cNvPr>
          <p:cNvSpPr/>
          <p:nvPr/>
        </p:nvSpPr>
        <p:spPr bwMode="auto">
          <a:xfrm>
            <a:off x="6096001" y="4232595"/>
            <a:ext cx="395202" cy="38016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5" name="图片 4">
            <a:extLst>
              <a:ext uri="{FF2B5EF4-FFF2-40B4-BE49-F238E27FC236}">
                <a16:creationId xmlns:a16="http://schemas.microsoft.com/office/drawing/2014/main" id="{17E90BF1-D5BE-71F2-984B-144CF1C57351}"/>
              </a:ext>
            </a:extLst>
          </p:cNvPr>
          <p:cNvPicPr>
            <a:picLocks noChangeAspect="1"/>
          </p:cNvPicPr>
          <p:nvPr/>
        </p:nvPicPr>
        <p:blipFill>
          <a:blip r:embed="rId2"/>
          <a:stretch>
            <a:fillRect/>
          </a:stretch>
        </p:blipFill>
        <p:spPr>
          <a:xfrm>
            <a:off x="2499546" y="3095347"/>
            <a:ext cx="2948468" cy="2735882"/>
          </a:xfrm>
          <a:prstGeom prst="rect">
            <a:avLst/>
          </a:prstGeom>
        </p:spPr>
      </p:pic>
      <p:pic>
        <p:nvPicPr>
          <p:cNvPr id="6" name="图片 5">
            <a:extLst>
              <a:ext uri="{FF2B5EF4-FFF2-40B4-BE49-F238E27FC236}">
                <a16:creationId xmlns:a16="http://schemas.microsoft.com/office/drawing/2014/main" id="{844B1966-733B-2E16-8FC0-DD9C4FD9B830}"/>
              </a:ext>
            </a:extLst>
          </p:cNvPr>
          <p:cNvPicPr>
            <a:picLocks noChangeAspect="1"/>
          </p:cNvPicPr>
          <p:nvPr/>
        </p:nvPicPr>
        <p:blipFill>
          <a:blip r:embed="rId3"/>
          <a:stretch>
            <a:fillRect/>
          </a:stretch>
        </p:blipFill>
        <p:spPr>
          <a:xfrm>
            <a:off x="7139190" y="3100023"/>
            <a:ext cx="2638675" cy="2634211"/>
          </a:xfrm>
          <a:prstGeom prst="rect">
            <a:avLst/>
          </a:prstGeom>
        </p:spPr>
      </p:pic>
      <p:pic>
        <p:nvPicPr>
          <p:cNvPr id="8" name="图片 7">
            <a:extLst>
              <a:ext uri="{FF2B5EF4-FFF2-40B4-BE49-F238E27FC236}">
                <a16:creationId xmlns:a16="http://schemas.microsoft.com/office/drawing/2014/main" id="{9F41A729-7AF2-C581-4133-762B1B0A1B7E}"/>
              </a:ext>
            </a:extLst>
          </p:cNvPr>
          <p:cNvPicPr>
            <a:picLocks noChangeAspect="1"/>
          </p:cNvPicPr>
          <p:nvPr/>
        </p:nvPicPr>
        <p:blipFill>
          <a:blip r:embed="rId4"/>
          <a:stretch>
            <a:fillRect/>
          </a:stretch>
        </p:blipFill>
        <p:spPr>
          <a:xfrm>
            <a:off x="3489931" y="1395153"/>
            <a:ext cx="947374" cy="1465595"/>
          </a:xfrm>
          <a:prstGeom prst="rect">
            <a:avLst/>
          </a:prstGeom>
        </p:spPr>
      </p:pic>
      <p:pic>
        <p:nvPicPr>
          <p:cNvPr id="9" name="图片 8">
            <a:extLst>
              <a:ext uri="{FF2B5EF4-FFF2-40B4-BE49-F238E27FC236}">
                <a16:creationId xmlns:a16="http://schemas.microsoft.com/office/drawing/2014/main" id="{EEFD37AC-E785-E365-908D-629741318384}"/>
              </a:ext>
            </a:extLst>
          </p:cNvPr>
          <p:cNvPicPr>
            <a:picLocks noChangeAspect="1"/>
          </p:cNvPicPr>
          <p:nvPr/>
        </p:nvPicPr>
        <p:blipFill>
          <a:blip r:embed="rId5"/>
          <a:stretch>
            <a:fillRect/>
          </a:stretch>
        </p:blipFill>
        <p:spPr>
          <a:xfrm>
            <a:off x="7794307" y="1576248"/>
            <a:ext cx="1091405" cy="1136135"/>
          </a:xfrm>
          <a:prstGeom prst="rect">
            <a:avLst/>
          </a:prstGeom>
        </p:spPr>
      </p:pic>
      <p:sp>
        <p:nvSpPr>
          <p:cNvPr id="10" name="右箭头 9">
            <a:extLst>
              <a:ext uri="{FF2B5EF4-FFF2-40B4-BE49-F238E27FC236}">
                <a16:creationId xmlns:a16="http://schemas.microsoft.com/office/drawing/2014/main" id="{50DCE2A0-D116-1D09-73B5-359DC93EA716}"/>
              </a:ext>
            </a:extLst>
          </p:cNvPr>
          <p:cNvSpPr/>
          <p:nvPr/>
        </p:nvSpPr>
        <p:spPr bwMode="auto">
          <a:xfrm>
            <a:off x="6096001" y="1832017"/>
            <a:ext cx="395202" cy="38016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2881327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E514D24-1448-188A-8D4F-34DE0AB3EBBB}"/>
              </a:ext>
            </a:extLst>
          </p:cNvPr>
          <p:cNvSpPr>
            <a:spLocks noGrp="1"/>
          </p:cNvSpPr>
          <p:nvPr>
            <p:ph type="sldNum" sz="quarter" idx="10"/>
          </p:nvPr>
        </p:nvSpPr>
        <p:spPr/>
        <p:txBody>
          <a:bodyPr/>
          <a:lstStyle/>
          <a:p>
            <a:fld id="{4B0D34C0-35A8-654C-9FBA-7B4E017BD630}" type="slidenum">
              <a:rPr lang="en-US" altLang="zh-CN" smtClean="0"/>
              <a:t>35</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连接与笛卡尔积运算的等价规则</a:t>
            </a:r>
          </a:p>
        </p:txBody>
      </p:sp>
      <p:sp>
        <p:nvSpPr>
          <p:cNvPr id="5" name="页脚占位符 4">
            <a:extLst>
              <a:ext uri="{FF2B5EF4-FFF2-40B4-BE49-F238E27FC236}">
                <a16:creationId xmlns:a16="http://schemas.microsoft.com/office/drawing/2014/main" id="{12DF5483-49CB-7513-32F6-C1FFA6C3A028}"/>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1909A37-FBBB-91E4-4BBE-41072C3CAB9D}"/>
                  </a:ext>
                </a:extLst>
              </p:cNvPr>
              <p:cNvSpPr/>
              <p:nvPr/>
            </p:nvSpPr>
            <p:spPr>
              <a:xfrm>
                <a:off x="745434" y="1356715"/>
                <a:ext cx="10825654" cy="4096634"/>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000" kern="100" dirty="0">
                    <a:latin typeface="Cambria Math" panose="02040503050406030204" pitchFamily="18" charset="0"/>
                    <a:ea typeface="+mj-ea"/>
                    <a:cs typeface="Times New Roman" panose="02020603050405020304" pitchFamily="18" charset="0"/>
                  </a:rPr>
                  <a:t>条件连接：条件连接是先对关系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i="0" kern="100">
                            <a:latin typeface="Cambria Math" panose="02040503050406030204" pitchFamily="18" charset="0"/>
                            <a:ea typeface="+mj-ea"/>
                            <a:cs typeface="Times New Roman" panose="02020603050405020304" pitchFamily="18" charset="0"/>
                          </a:rPr>
                          <m:t>R</m:t>
                        </m:r>
                      </m:e>
                      <m:sub>
                        <m:r>
                          <a:rPr lang="en-US" altLang="zh-CN" sz="2000" i="0" kern="100">
                            <a:latin typeface="Cambria Math" panose="02040503050406030204" pitchFamily="18" charset="0"/>
                            <a:ea typeface="+mj-ea"/>
                            <a:cs typeface="Times New Roman" panose="02020603050405020304" pitchFamily="18" charset="0"/>
                          </a:rPr>
                          <m:t>1</m:t>
                        </m:r>
                      </m:sub>
                    </m:sSub>
                    <m:r>
                      <a:rPr lang="zh-CN" altLang="zh-CN" sz="2000" i="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i="0" kern="100">
                            <a:latin typeface="Cambria Math" panose="02040503050406030204" pitchFamily="18" charset="0"/>
                            <a:ea typeface="+mj-ea"/>
                            <a:cs typeface="Times New Roman" panose="02020603050405020304" pitchFamily="18" charset="0"/>
                          </a:rPr>
                          <m:t>R</m:t>
                        </m:r>
                      </m:e>
                      <m:sub>
                        <m:r>
                          <a:rPr lang="en-US" altLang="zh-CN" sz="2000" i="0" kern="100">
                            <a:latin typeface="Cambria Math" panose="02040503050406030204" pitchFamily="18" charset="0"/>
                            <a:ea typeface="+mj-ea"/>
                            <a:cs typeface="Times New Roman" panose="02020603050405020304" pitchFamily="18" charset="0"/>
                          </a:rPr>
                          <m:t>2</m:t>
                        </m:r>
                      </m:sub>
                    </m:sSub>
                  </m:oMath>
                </a14:m>
                <a:r>
                  <a:rPr lang="zh-CN" altLang="zh-CN" sz="2000" kern="100" dirty="0">
                    <a:latin typeface="Cambria Math" panose="02040503050406030204" pitchFamily="18" charset="0"/>
                    <a:ea typeface="+mj-ea"/>
                    <a:cs typeface="Times New Roman" panose="02020603050405020304" pitchFamily="18" charset="0"/>
                  </a:rPr>
                  <a:t>做笛卡尔积，再按条件</a:t>
                </a:r>
                <a14:m>
                  <m:oMath xmlns:m="http://schemas.openxmlformats.org/officeDocument/2006/math">
                    <m:r>
                      <m:rPr>
                        <m:sty m:val="p"/>
                      </m:rPr>
                      <a:rPr lang="en-US" altLang="zh-CN" sz="2000" i="0" kern="100">
                        <a:latin typeface="Cambria Math" panose="02040503050406030204" pitchFamily="18" charset="0"/>
                        <a:ea typeface="+mj-ea"/>
                        <a:cs typeface="Times New Roman" panose="02020603050405020304" pitchFamily="18" charset="0"/>
                      </a:rPr>
                      <m:t>p</m:t>
                    </m:r>
                  </m:oMath>
                </a14:m>
                <a:r>
                  <a:rPr lang="zh-CN" altLang="zh-CN" sz="2000" kern="100" dirty="0">
                    <a:latin typeface="Cambria Math" panose="02040503050406030204" pitchFamily="18" charset="0"/>
                    <a:ea typeface="+mj-ea"/>
                    <a:cs typeface="Times New Roman" panose="02020603050405020304" pitchFamily="18" charset="0"/>
                  </a:rPr>
                  <a:t>做选择运算，因此可以得到：</a:t>
                </a: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400" b="1" i="1" kern="100" smtClean="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𝛔</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𝐩</m:t>
                          </m:r>
                        </m:sub>
                      </m:sSub>
                      <m:d>
                        <m:d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dPr>
                        <m:e>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𝟏</m:t>
                              </m:r>
                            </m:sub>
                          </m:sSub>
                          <m:r>
                            <a:rPr lang="en-US" altLang="zh-CN" sz="2400" b="1" i="0" kern="100">
                              <a:solidFill>
                                <a:srgbClr val="701988"/>
                              </a:solidFill>
                              <a:latin typeface="Cambria Math" panose="02040503050406030204" pitchFamily="18" charset="0"/>
                              <a:ea typeface="+mj-ea"/>
                              <a:cs typeface="Times New Roman" panose="02020603050405020304" pitchFamily="18" charset="0"/>
                            </a:rPr>
                            <m:t>×</m:t>
                          </m:r>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𝟐</m:t>
                              </m:r>
                            </m:sub>
                          </m:sSub>
                        </m:e>
                      </m:d>
                      <m:r>
                        <a:rPr lang="en-US" altLang="zh-CN" sz="2400" b="1" i="0" kern="100">
                          <a:solidFill>
                            <a:srgbClr val="701988"/>
                          </a:solidFill>
                          <a:latin typeface="Cambria Math" panose="02040503050406030204" pitchFamily="18" charset="0"/>
                          <a:ea typeface="+mj-ea"/>
                          <a:cs typeface="Times New Roman" panose="02020603050405020304" pitchFamily="18" charset="0"/>
                        </a:rPr>
                        <m:t> </m:t>
                      </m:r>
                      <m:r>
                        <a:rPr lang="en-US" altLang="zh-CN" sz="2400" b="1" i="0" kern="100" smtClean="0">
                          <a:solidFill>
                            <a:srgbClr val="701988"/>
                          </a:solidFill>
                          <a:latin typeface="Cambria Math" panose="02040503050406030204" pitchFamily="18" charset="0"/>
                          <a:ea typeface="+mj-ea"/>
                          <a:cs typeface="Times New Roman" panose="02020603050405020304" pitchFamily="18" charset="0"/>
                        </a:rPr>
                        <m:t>=</m:t>
                      </m:r>
                      <m:r>
                        <a:rPr lang="zh-CN" altLang="en-US" sz="2400" b="1" i="0" kern="100" smtClean="0">
                          <a:solidFill>
                            <a:srgbClr val="701988"/>
                          </a:solidFill>
                          <a:latin typeface="Cambria Math" panose="02040503050406030204" pitchFamily="18" charset="0"/>
                          <a:ea typeface="+mj-ea"/>
                          <a:cs typeface="Times New Roman" panose="02020603050405020304" pitchFamily="18" charset="0"/>
                        </a:rPr>
                        <m:t> </m:t>
                      </m:r>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𝟏</m:t>
                          </m:r>
                        </m:sub>
                      </m:sSub>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𝐩</m:t>
                          </m:r>
                        </m:sub>
                      </m:sSub>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𝟐</m:t>
                          </m:r>
                        </m:sub>
                      </m:sSub>
                    </m:oMath>
                  </m:oMathPara>
                </a14:m>
                <a:endParaRPr lang="zh-CN" altLang="zh-CN" sz="2400" b="1"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zh-CN" sz="2000" kern="100" dirty="0">
                    <a:latin typeface="Cambria Math" panose="02040503050406030204" pitchFamily="18" charset="0"/>
                    <a:ea typeface="+mj-ea"/>
                    <a:cs typeface="Times New Roman" panose="02020603050405020304" pitchFamily="18" charset="0"/>
                  </a:rPr>
                  <a:t>等值连接：等值连接是特殊的条件连接。等值连接中的条件</a:t>
                </a:r>
                <a14:m>
                  <m:oMath xmlns:m="http://schemas.openxmlformats.org/officeDocument/2006/math">
                    <m:r>
                      <m:rPr>
                        <m:sty m:val="p"/>
                      </m:rPr>
                      <a:rPr lang="en-US" altLang="zh-CN" sz="2000" i="0" kern="100">
                        <a:latin typeface="Cambria Math" panose="02040503050406030204" pitchFamily="18" charset="0"/>
                        <a:ea typeface="+mj-ea"/>
                        <a:cs typeface="Times New Roman" panose="02020603050405020304" pitchFamily="18" charset="0"/>
                      </a:rPr>
                      <m:t>p</m:t>
                    </m:r>
                  </m:oMath>
                </a14:m>
                <a:r>
                  <a:rPr lang="zh-CN" altLang="zh-CN" sz="2000" kern="100" dirty="0">
                    <a:latin typeface="Cambria Math" panose="02040503050406030204" pitchFamily="18" charset="0"/>
                    <a:ea typeface="+mj-ea"/>
                    <a:cs typeface="Times New Roman" panose="02020603050405020304" pitchFamily="18" charset="0"/>
                  </a:rPr>
                  <a:t>要求关系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i="0" kern="100">
                            <a:latin typeface="Cambria Math" panose="02040503050406030204" pitchFamily="18" charset="0"/>
                            <a:ea typeface="+mj-ea"/>
                            <a:cs typeface="Times New Roman" panose="02020603050405020304" pitchFamily="18" charset="0"/>
                          </a:rPr>
                          <m:t>R</m:t>
                        </m:r>
                      </m:e>
                      <m:sub>
                        <m:r>
                          <a:rPr lang="en-US" altLang="zh-CN" sz="2000" i="0" kern="100">
                            <a:latin typeface="Cambria Math" panose="02040503050406030204" pitchFamily="18" charset="0"/>
                            <a:ea typeface="+mj-ea"/>
                            <a:cs typeface="Times New Roman" panose="02020603050405020304" pitchFamily="18" charset="0"/>
                          </a:rPr>
                          <m:t>1</m:t>
                        </m:r>
                      </m:sub>
                    </m:sSub>
                    <m:r>
                      <a:rPr lang="en-US" altLang="zh-CN" sz="2000" i="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i="0" kern="100">
                            <a:latin typeface="Cambria Math" panose="02040503050406030204" pitchFamily="18" charset="0"/>
                            <a:ea typeface="+mj-ea"/>
                            <a:cs typeface="Times New Roman" panose="02020603050405020304" pitchFamily="18" charset="0"/>
                          </a:rPr>
                          <m:t>R</m:t>
                        </m:r>
                      </m:e>
                      <m:sub>
                        <m:r>
                          <a:rPr lang="en-US" altLang="zh-CN" sz="2000" i="0" kern="100">
                            <a:latin typeface="Cambria Math" panose="02040503050406030204" pitchFamily="18" charset="0"/>
                            <a:ea typeface="+mj-ea"/>
                            <a:cs typeface="Times New Roman" panose="02020603050405020304" pitchFamily="18" charset="0"/>
                          </a:rPr>
                          <m:t>2</m:t>
                        </m:r>
                      </m:sub>
                    </m:sSub>
                  </m:oMath>
                </a14:m>
                <a:r>
                  <a:rPr lang="zh-CN" altLang="zh-CN" sz="2000" kern="100" dirty="0">
                    <a:latin typeface="Cambria Math" panose="02040503050406030204" pitchFamily="18" charset="0"/>
                    <a:ea typeface="+mj-ea"/>
                    <a:cs typeface="Times New Roman" panose="02020603050405020304" pitchFamily="18" charset="0"/>
                  </a:rPr>
                  <a:t>中的连接属性按照等值比较作为选择条件。</a:t>
                </a:r>
                <a:endParaRPr lang="en-US" altLang="zh-CN" sz="2000" kern="100" dirty="0">
                  <a:latin typeface="Cambria Math" panose="02040503050406030204" pitchFamily="18" charset="0"/>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zh-CN" sz="2000" kern="100" dirty="0">
                    <a:latin typeface="Cambria Math" panose="02040503050406030204" pitchFamily="18" charset="0"/>
                    <a:ea typeface="+mj-ea"/>
                    <a:cs typeface="Times New Roman" panose="02020603050405020304" pitchFamily="18" charset="0"/>
                  </a:rPr>
                  <a:t>自然连接</a:t>
                </a:r>
                <a:r>
                  <a:rPr lang="zh-CN" altLang="en-US" sz="2000" kern="100" dirty="0">
                    <a:latin typeface="Cambria Math" panose="02040503050406030204" pitchFamily="18" charset="0"/>
                    <a:ea typeface="+mj-ea"/>
                    <a:cs typeface="Times New Roman" panose="02020603050405020304" pitchFamily="18" charset="0"/>
                  </a:rPr>
                  <a:t>：</a:t>
                </a:r>
                <a:r>
                  <a:rPr lang="zh-CN" altLang="zh-CN" sz="2000" kern="100" dirty="0">
                    <a:latin typeface="Cambria Math" panose="02040503050406030204" pitchFamily="18" charset="0"/>
                    <a:ea typeface="+mj-ea"/>
                    <a:cs typeface="Times New Roman" panose="02020603050405020304" pitchFamily="18" charset="0"/>
                  </a:rPr>
                  <a:t>是一种特殊的等值连接。要求等值连接属性必须是同名属性，并在连接结果中去掉重复的属性。因此可以得到：</a:t>
                </a: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400" b="1" i="1" kern="100" smtClean="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𝟏</m:t>
                          </m:r>
                        </m:sub>
                      </m:sSub>
                      <m:r>
                        <a:rPr lang="en-US" altLang="zh-CN" sz="2400" b="1" i="0" kern="100">
                          <a:solidFill>
                            <a:srgbClr val="701988"/>
                          </a:solidFill>
                          <a:latin typeface="Cambria Math" panose="02040503050406030204" pitchFamily="18" charset="0"/>
                          <a:ea typeface="+mj-ea"/>
                          <a:cs typeface="Times New Roman" panose="02020603050405020304" pitchFamily="18" charset="0"/>
                        </a:rPr>
                        <m:t>⋈</m:t>
                      </m:r>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𝟐</m:t>
                          </m:r>
                        </m:sub>
                      </m:sSub>
                      <m:r>
                        <a:rPr lang="en-US" altLang="zh-CN" sz="2400" b="1" i="0" kern="100">
                          <a:solidFill>
                            <a:srgbClr val="701988"/>
                          </a:solidFill>
                          <a:latin typeface="Cambria Math" panose="02040503050406030204" pitchFamily="18" charset="0"/>
                          <a:ea typeface="+mj-ea"/>
                          <a:cs typeface="Times New Roman" panose="02020603050405020304" pitchFamily="18" charset="0"/>
                        </a:rPr>
                        <m:t>= </m:t>
                      </m:r>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𝚷</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𝐒</m:t>
                              </m:r>
                            </m:sub>
                          </m:sSub>
                          <m:r>
                            <a:rPr lang="en-US" altLang="zh-CN" sz="2400" b="1" i="0" kern="100">
                              <a:solidFill>
                                <a:srgbClr val="701988"/>
                              </a:solidFill>
                              <a:latin typeface="Cambria Math" panose="02040503050406030204" pitchFamily="18" charset="0"/>
                              <a:ea typeface="+mj-ea"/>
                              <a:cs typeface="Times New Roman" panose="02020603050405020304" pitchFamily="18" charset="0"/>
                            </a:rPr>
                            <m:t>(</m:t>
                          </m:r>
                          <m:r>
                            <a:rPr lang="en-US" altLang="zh-CN" sz="2400" b="1" i="0" kern="100">
                              <a:solidFill>
                                <a:srgbClr val="701988"/>
                              </a:solidFill>
                              <a:latin typeface="Cambria Math" panose="02040503050406030204" pitchFamily="18" charset="0"/>
                              <a:ea typeface="+mj-ea"/>
                              <a:cs typeface="Times New Roman" panose="02020603050405020304" pitchFamily="18" charset="0"/>
                            </a:rPr>
                            <m:t>𝛔</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𝐩</m:t>
                          </m:r>
                        </m:sub>
                      </m:sSub>
                      <m:d>
                        <m:d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dPr>
                        <m:e>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𝟏</m:t>
                              </m:r>
                            </m:sub>
                          </m:sSub>
                          <m:r>
                            <a:rPr lang="en-US" altLang="zh-CN" sz="2400" b="1" i="0" kern="100">
                              <a:solidFill>
                                <a:srgbClr val="701988"/>
                              </a:solidFill>
                              <a:latin typeface="Cambria Math" panose="02040503050406030204" pitchFamily="18" charset="0"/>
                              <a:ea typeface="+mj-ea"/>
                              <a:cs typeface="Times New Roman" panose="02020603050405020304" pitchFamily="18" charset="0"/>
                            </a:rPr>
                            <m:t>×</m:t>
                          </m:r>
                          <m:sSub>
                            <m:sSubPr>
                              <m:ctrlPr>
                                <a:rPr lang="zh-CN" altLang="zh-CN" sz="2400" b="1"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1" i="0" kern="100">
                                  <a:solidFill>
                                    <a:srgbClr val="701988"/>
                                  </a:solidFill>
                                  <a:latin typeface="Cambria Math" panose="02040503050406030204" pitchFamily="18" charset="0"/>
                                  <a:ea typeface="+mj-ea"/>
                                  <a:cs typeface="Times New Roman" panose="02020603050405020304" pitchFamily="18" charset="0"/>
                                </a:rPr>
                                <m:t>𝐑</m:t>
                              </m:r>
                            </m:e>
                            <m:sub>
                              <m:r>
                                <a:rPr lang="en-US" altLang="zh-CN" sz="2400" b="1" i="0" kern="100">
                                  <a:solidFill>
                                    <a:srgbClr val="701988"/>
                                  </a:solidFill>
                                  <a:latin typeface="Cambria Math" panose="02040503050406030204" pitchFamily="18" charset="0"/>
                                  <a:ea typeface="+mj-ea"/>
                                  <a:cs typeface="Times New Roman" panose="02020603050405020304" pitchFamily="18" charset="0"/>
                                </a:rPr>
                                <m:t>𝟐</m:t>
                              </m:r>
                            </m:sub>
                          </m:sSub>
                        </m:e>
                      </m:d>
                      <m:r>
                        <a:rPr lang="en-US" altLang="zh-CN" sz="2400" b="1" i="0" kern="100">
                          <a:solidFill>
                            <a:srgbClr val="701988"/>
                          </a:solidFill>
                          <a:latin typeface="Cambria Math" panose="02040503050406030204" pitchFamily="18" charset="0"/>
                          <a:ea typeface="+mj-ea"/>
                          <a:cs typeface="Times New Roman" panose="02020603050405020304" pitchFamily="18" charset="0"/>
                        </a:rPr>
                        <m:t>)</m:t>
                      </m:r>
                    </m:oMath>
                  </m:oMathPara>
                </a14:m>
                <a:endParaRPr lang="zh-CN" altLang="zh-CN" sz="2400" b="1" kern="100" dirty="0">
                  <a:solidFill>
                    <a:srgbClr val="701988"/>
                  </a:solidFill>
                  <a:latin typeface="+mj-ea"/>
                  <a:ea typeface="+mj-ea"/>
                  <a:cs typeface="Times New Roman" panose="02020603050405020304" pitchFamily="18" charset="0"/>
                </a:endParaRPr>
              </a:p>
              <a:p>
                <a:pPr marL="342900" lvl="0" indent="-342900" algn="just">
                  <a:lnSpc>
                    <a:spcPct val="150000"/>
                  </a:lnSpc>
                  <a:buFont typeface="Wingdings" pitchFamily="2" charset="2"/>
                  <a:buChar char="p"/>
                </a:pPr>
                <a:endParaRPr lang="zh-CN" altLang="zh-CN" sz="2400" kern="100" dirty="0">
                  <a:latin typeface="+mj-ea"/>
                  <a:ea typeface="+mj-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C1909A37-FBBB-91E4-4BBE-41072C3CAB9D}"/>
                  </a:ext>
                </a:extLst>
              </p:cNvPr>
              <p:cNvSpPr>
                <a:spLocks noRot="1" noChangeAspect="1" noMove="1" noResize="1" noEditPoints="1" noAdjustHandles="1" noChangeArrowheads="1" noChangeShapeType="1" noTextEdit="1"/>
              </p:cNvSpPr>
              <p:nvPr/>
            </p:nvSpPr>
            <p:spPr>
              <a:xfrm>
                <a:off x="745434" y="1356715"/>
                <a:ext cx="10825654" cy="4096634"/>
              </a:xfrm>
              <a:prstGeom prst="rect">
                <a:avLst/>
              </a:prstGeom>
              <a:blipFill>
                <a:blip r:embed="rId3"/>
                <a:stretch>
                  <a:fillRect l="-468" r="-29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95293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C51E2A0-51A4-E8B2-C1D2-8DDC6E612935}"/>
              </a:ext>
            </a:extLst>
          </p:cNvPr>
          <p:cNvSpPr>
            <a:spLocks noGrp="1"/>
          </p:cNvSpPr>
          <p:nvPr>
            <p:ph type="sldNum" sz="quarter" idx="10"/>
          </p:nvPr>
        </p:nvSpPr>
        <p:spPr/>
        <p:txBody>
          <a:bodyPr/>
          <a:lstStyle/>
          <a:p>
            <a:fld id="{87BBDC00-B9E2-4EFD-9306-2934E87247C6}" type="slidenum">
              <a:rPr lang="zh-CN" altLang="en-US" smtClean="0"/>
              <a:pPr/>
              <a:t>36</a:t>
            </a:fld>
            <a:endParaRPr lang="zh-CN" altLang="en-US"/>
          </a:p>
        </p:txBody>
      </p:sp>
      <p:sp>
        <p:nvSpPr>
          <p:cNvPr id="3" name="标题 2">
            <a:extLst>
              <a:ext uri="{FF2B5EF4-FFF2-40B4-BE49-F238E27FC236}">
                <a16:creationId xmlns:a16="http://schemas.microsoft.com/office/drawing/2014/main" id="{0E2B34D1-7368-ADB8-458E-55BC5FA8BE19}"/>
              </a:ext>
            </a:extLst>
          </p:cNvPr>
          <p:cNvSpPr>
            <a:spLocks noGrp="1"/>
          </p:cNvSpPr>
          <p:nvPr>
            <p:ph type="title"/>
          </p:nvPr>
        </p:nvSpPr>
        <p:spPr/>
        <p:txBody>
          <a:bodyPr/>
          <a:lstStyle/>
          <a:p>
            <a:r>
              <a:rPr kumimoji="1" lang="zh-CN" altLang="en-US" dirty="0"/>
              <a:t>分组聚集与去重的重写示例</a:t>
            </a:r>
          </a:p>
        </p:txBody>
      </p:sp>
      <p:sp>
        <p:nvSpPr>
          <p:cNvPr id="5" name="页脚占位符 4">
            <a:extLst>
              <a:ext uri="{FF2B5EF4-FFF2-40B4-BE49-F238E27FC236}">
                <a16:creationId xmlns:a16="http://schemas.microsoft.com/office/drawing/2014/main" id="{56CD86BA-0D9F-2B02-C1CC-9BA6A5381761}"/>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右箭头 3">
            <a:extLst>
              <a:ext uri="{FF2B5EF4-FFF2-40B4-BE49-F238E27FC236}">
                <a16:creationId xmlns:a16="http://schemas.microsoft.com/office/drawing/2014/main" id="{98C0BF68-1556-3459-19E6-7005BD892DBA}"/>
              </a:ext>
            </a:extLst>
          </p:cNvPr>
          <p:cNvSpPr/>
          <p:nvPr/>
        </p:nvSpPr>
        <p:spPr bwMode="auto">
          <a:xfrm>
            <a:off x="3782231" y="3238019"/>
            <a:ext cx="427183" cy="410929"/>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8" name="图片 7">
            <a:extLst>
              <a:ext uri="{FF2B5EF4-FFF2-40B4-BE49-F238E27FC236}">
                <a16:creationId xmlns:a16="http://schemas.microsoft.com/office/drawing/2014/main" id="{8917D144-04A5-957C-7824-24D82742C466}"/>
              </a:ext>
            </a:extLst>
          </p:cNvPr>
          <p:cNvPicPr>
            <a:picLocks noChangeAspect="1"/>
          </p:cNvPicPr>
          <p:nvPr/>
        </p:nvPicPr>
        <p:blipFill>
          <a:blip r:embed="rId3"/>
          <a:stretch>
            <a:fillRect/>
          </a:stretch>
        </p:blipFill>
        <p:spPr>
          <a:xfrm>
            <a:off x="846609" y="2024098"/>
            <a:ext cx="2625985" cy="2838772"/>
          </a:xfrm>
          <a:prstGeom prst="rect">
            <a:avLst/>
          </a:prstGeom>
        </p:spPr>
      </p:pic>
      <p:sp>
        <p:nvSpPr>
          <p:cNvPr id="10" name="右箭头 9">
            <a:extLst>
              <a:ext uri="{FF2B5EF4-FFF2-40B4-BE49-F238E27FC236}">
                <a16:creationId xmlns:a16="http://schemas.microsoft.com/office/drawing/2014/main" id="{37C4B52E-75B2-7FE8-5E0D-ED896472520C}"/>
              </a:ext>
            </a:extLst>
          </p:cNvPr>
          <p:cNvSpPr/>
          <p:nvPr/>
        </p:nvSpPr>
        <p:spPr bwMode="auto">
          <a:xfrm>
            <a:off x="7516246" y="3223535"/>
            <a:ext cx="427183" cy="410929"/>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11" name="图片 10">
            <a:extLst>
              <a:ext uri="{FF2B5EF4-FFF2-40B4-BE49-F238E27FC236}">
                <a16:creationId xmlns:a16="http://schemas.microsoft.com/office/drawing/2014/main" id="{E406C33B-328C-F144-2989-AC553DF421D9}"/>
              </a:ext>
            </a:extLst>
          </p:cNvPr>
          <p:cNvPicPr>
            <a:picLocks noChangeAspect="1"/>
          </p:cNvPicPr>
          <p:nvPr/>
        </p:nvPicPr>
        <p:blipFill>
          <a:blip r:embed="rId4"/>
          <a:stretch>
            <a:fillRect/>
          </a:stretch>
        </p:blipFill>
        <p:spPr>
          <a:xfrm>
            <a:off x="4550772" y="2015391"/>
            <a:ext cx="2628846" cy="2838772"/>
          </a:xfrm>
          <a:prstGeom prst="rect">
            <a:avLst/>
          </a:prstGeom>
        </p:spPr>
      </p:pic>
      <p:pic>
        <p:nvPicPr>
          <p:cNvPr id="12" name="图片 11">
            <a:extLst>
              <a:ext uri="{FF2B5EF4-FFF2-40B4-BE49-F238E27FC236}">
                <a16:creationId xmlns:a16="http://schemas.microsoft.com/office/drawing/2014/main" id="{B2A5949C-65C1-ABE3-B969-9DA1DD117AF1}"/>
              </a:ext>
            </a:extLst>
          </p:cNvPr>
          <p:cNvPicPr>
            <a:picLocks noChangeAspect="1"/>
          </p:cNvPicPr>
          <p:nvPr/>
        </p:nvPicPr>
        <p:blipFill>
          <a:blip r:embed="rId5"/>
          <a:stretch>
            <a:fillRect/>
          </a:stretch>
        </p:blipFill>
        <p:spPr>
          <a:xfrm>
            <a:off x="8272921" y="1985553"/>
            <a:ext cx="2704603" cy="2916825"/>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FB7330E-A0B6-DE9E-FCB9-A16EABA6EB14}"/>
                  </a:ext>
                </a:extLst>
              </p:cNvPr>
              <p:cNvSpPr txBox="1"/>
              <p:nvPr/>
            </p:nvSpPr>
            <p:spPr>
              <a:xfrm>
                <a:off x="3009728" y="5138235"/>
                <a:ext cx="3003794" cy="707886"/>
              </a:xfrm>
              <a:prstGeom prst="rect">
                <a:avLst/>
              </a:prstGeom>
              <a:noFill/>
            </p:spPr>
            <p:txBody>
              <a:bodyPr wrap="square">
                <a:spAutoFit/>
              </a:bodyPr>
              <a:lstStyle/>
              <a:p>
                <a:r>
                  <a:rPr lang="zh-CN" altLang="zh-CN" sz="2000" kern="100" dirty="0">
                    <a:latin typeface="+mj-ea"/>
                    <a:ea typeface="+mj-ea"/>
                    <a:cs typeface="Times New Roman" panose="02020603050405020304" pitchFamily="18" charset="0"/>
                  </a:rPr>
                  <a:t>当聚集函数是取最</a:t>
                </a:r>
                <a:r>
                  <a:rPr lang="zh-CN" altLang="en-US" sz="2000" kern="100" dirty="0">
                    <a:latin typeface="+mj-ea"/>
                    <a:ea typeface="+mj-ea"/>
                    <a:cs typeface="Times New Roman" panose="02020603050405020304" pitchFamily="18" charset="0"/>
                  </a:rPr>
                  <a:t>大</a:t>
                </a:r>
                <a:r>
                  <a:rPr lang="zh-CN" altLang="zh-CN" sz="2000" kern="100" dirty="0">
                    <a:latin typeface="+mj-ea"/>
                    <a:ea typeface="+mj-ea"/>
                    <a:cs typeface="Times New Roman" panose="02020603050405020304" pitchFamily="18" charset="0"/>
                  </a:rPr>
                  <a:t>值时</a:t>
                </a:r>
                <a14:m>
                  <m:oMath xmlns:m="http://schemas.openxmlformats.org/officeDocument/2006/math">
                    <m:sSub>
                      <m:sSubPr>
                        <m:ctrlPr>
                          <a:rPr lang="zh-CN" altLang="zh-CN" sz="2000" i="1" kern="10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𝒢</m:t>
                        </m:r>
                      </m:e>
                      <m: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𝐶</m:t>
                        </m:r>
                      </m:sub>
                    </m:s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m:t>
                    </m:r>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𝑅</m:t>
                    </m:r>
                    <m:r>
                      <a:rPr lang="en-US" altLang="zh-CN" sz="2000" kern="100">
                        <a:latin typeface="Cambria Math" panose="02040503050406030204" pitchFamily="18" charset="0"/>
                        <a:ea typeface="SimHei" panose="02010609060101010101" pitchFamily="49" charset="-122"/>
                        <a:cs typeface="Times New Roman" panose="02020603050405020304" pitchFamily="18" charset="0"/>
                      </a:rPr>
                      <m:t>)= </m:t>
                    </m:r>
                    <m:sSub>
                      <m:sSubPr>
                        <m:ctrlPr>
                          <a:rPr lang="zh-CN" altLang="zh-CN" sz="2000" i="1" kern="10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𝒢</m:t>
                        </m:r>
                      </m:e>
                      <m: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𝐶</m:t>
                        </m:r>
                      </m:sub>
                    </m:s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m:t>
                    </m:r>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𝛿</m:t>
                    </m:r>
                    <m:r>
                      <a:rPr lang="en-US" altLang="zh-CN" sz="2000" kern="100">
                        <a:latin typeface="Cambria Math" panose="02040503050406030204" pitchFamily="18" charset="0"/>
                        <a:ea typeface="SimHei" panose="02010609060101010101" pitchFamily="49" charset="-122"/>
                        <a:cs typeface="Times New Roman" panose="02020603050405020304" pitchFamily="18" charset="0"/>
                      </a:rPr>
                      <m:t>(</m:t>
                    </m:r>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𝑅</m:t>
                    </m:r>
                  </m:oMath>
                </a14:m>
                <a:r>
                  <a:rPr lang="en-US" altLang="zh-CN" sz="2000" kern="100" dirty="0">
                    <a:latin typeface="SimHei" panose="02010609060101010101" pitchFamily="49" charset="-122"/>
                    <a:ea typeface="SimHei" panose="02010609060101010101" pitchFamily="49" charset="-122"/>
                    <a:cs typeface="Times New Roman" panose="02020603050405020304" pitchFamily="18" charset="0"/>
                  </a:rPr>
                  <a:t>))</a:t>
                </a:r>
                <a:endParaRPr lang="zh-CN" altLang="en-US" sz="2000" dirty="0">
                  <a:latin typeface="SimHei" panose="02010609060101010101" pitchFamily="49" charset="-122"/>
                  <a:ea typeface="SimHei" panose="02010609060101010101" pitchFamily="49" charset="-122"/>
                </a:endParaRPr>
              </a:p>
            </p:txBody>
          </p:sp>
        </mc:Choice>
        <mc:Fallback xmlns="">
          <p:sp>
            <p:nvSpPr>
              <p:cNvPr id="6" name="文本框 5">
                <a:extLst>
                  <a:ext uri="{FF2B5EF4-FFF2-40B4-BE49-F238E27FC236}">
                    <a16:creationId xmlns:a16="http://schemas.microsoft.com/office/drawing/2014/main" id="{CFB7330E-A0B6-DE9E-FCB9-A16EABA6EB14}"/>
                  </a:ext>
                </a:extLst>
              </p:cNvPr>
              <p:cNvSpPr txBox="1">
                <a:spLocks noRot="1" noChangeAspect="1" noMove="1" noResize="1" noEditPoints="1" noAdjustHandles="1" noChangeArrowheads="1" noChangeShapeType="1" noTextEdit="1"/>
              </p:cNvSpPr>
              <p:nvPr/>
            </p:nvSpPr>
            <p:spPr>
              <a:xfrm>
                <a:off x="3009728" y="5138235"/>
                <a:ext cx="3003794" cy="707886"/>
              </a:xfrm>
              <a:prstGeom prst="rect">
                <a:avLst/>
              </a:prstGeom>
              <a:blipFill>
                <a:blip r:embed="rId6"/>
                <a:stretch>
                  <a:fillRect l="-2532" t="-5263" r="-1266" b="-122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E6C8F5E-9C80-E31A-B2AD-42C466598B5E}"/>
                  </a:ext>
                </a:extLst>
              </p:cNvPr>
              <p:cNvSpPr txBox="1"/>
              <p:nvPr/>
            </p:nvSpPr>
            <p:spPr>
              <a:xfrm>
                <a:off x="5441409" y="5108725"/>
                <a:ext cx="5248051" cy="613438"/>
              </a:xfrm>
              <a:prstGeom prst="rect">
                <a:avLst/>
              </a:prstGeom>
              <a:noFill/>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zh-CN" altLang="zh-CN" sz="2000" i="1" kern="100" smtClean="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𝒢</m:t>
                          </m:r>
                        </m:e>
                        <m: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𝐶</m:t>
                          </m:r>
                        </m:sub>
                      </m:s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m:t>
                      </m:r>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𝑅</m:t>
                      </m:r>
                      <m:r>
                        <a:rPr lang="en-US" altLang="zh-CN" sz="2000" kern="100">
                          <a:latin typeface="Cambria Math" panose="02040503050406030204" pitchFamily="18" charset="0"/>
                          <a:ea typeface="SimHei" panose="02010609060101010101" pitchFamily="49" charset="-122"/>
                          <a:cs typeface="Times New Roman" panose="02020603050405020304" pitchFamily="18" charset="0"/>
                        </a:rPr>
                        <m:t>)= </m:t>
                      </m:r>
                      <m:sSub>
                        <m:sSubPr>
                          <m:ctrlPr>
                            <a:rPr lang="zh-CN" altLang="zh-CN" sz="2000" i="1" kern="10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𝒢</m:t>
                          </m:r>
                        </m:e>
                        <m: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𝐶</m:t>
                          </m:r>
                        </m:sub>
                      </m:sSub>
                      <m:d>
                        <m:dPr>
                          <m:ctrlPr>
                            <a:rPr lang="zh-CN" altLang="zh-CN" sz="2000" i="1" kern="100">
                              <a:latin typeface="Cambria Math" panose="02040503050406030204" pitchFamily="18" charset="0"/>
                              <a:ea typeface="SimHei" panose="02010609060101010101" pitchFamily="49" charset="-122"/>
                              <a:cs typeface="Times New Roman" panose="02020603050405020304" pitchFamily="18" charset="0"/>
                            </a:rPr>
                          </m:ctrlPr>
                        </m:dPr>
                        <m:e>
                          <m:sSub>
                            <m:sSubPr>
                              <m:ctrlPr>
                                <a:rPr lang="zh-CN" altLang="zh-CN" sz="2000" i="1" kern="100">
                                  <a:latin typeface="Cambria Math" panose="02040503050406030204" pitchFamily="18" charset="0"/>
                                  <a:ea typeface="SimHei" panose="02010609060101010101" pitchFamily="49" charset="-122"/>
                                  <a:cs typeface="Times New Roman" panose="02020603050405020304" pitchFamily="18" charset="0"/>
                                </a:rPr>
                              </m:ctrlPr>
                            </m:sSubPr>
                            <m:e>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𝛱</m:t>
                              </m:r>
                            </m:e>
                            <m:sub>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𝑆</m:t>
                              </m:r>
                            </m:sub>
                          </m:sSub>
                          <m:d>
                            <m:dPr>
                              <m:ctrlPr>
                                <a:rPr lang="zh-CN" altLang="zh-CN" sz="2000" i="1" kern="100">
                                  <a:latin typeface="Cambria Math" panose="02040503050406030204" pitchFamily="18" charset="0"/>
                                  <a:ea typeface="SimHei" panose="02010609060101010101" pitchFamily="49" charset="-122"/>
                                  <a:cs typeface="Times New Roman" panose="02020603050405020304" pitchFamily="18" charset="0"/>
                                </a:rPr>
                              </m:ctrlPr>
                            </m:dPr>
                            <m:e>
                              <m:r>
                                <a:rPr lang="en-US" altLang="zh-CN" sz="2000" kern="100">
                                  <a:latin typeface="Cambria Math" panose="02040503050406030204" pitchFamily="18" charset="0"/>
                                  <a:ea typeface="SimHei" panose="02010609060101010101" pitchFamily="49" charset="-122"/>
                                  <a:cs typeface="Times New Roman" panose="02020603050405020304" pitchFamily="18" charset="0"/>
                                </a:rPr>
                                <m:t>𝑅</m:t>
                              </m:r>
                            </m:e>
                          </m:d>
                        </m:e>
                      </m:d>
                    </m:oMath>
                  </m:oMathPara>
                </a14:m>
                <a:endParaRPr lang="zh-CN" altLang="zh-CN" sz="2000" kern="100" dirty="0">
                  <a:latin typeface="SimHei" panose="02010609060101010101" pitchFamily="49" charset="-122"/>
                  <a:ea typeface="SimHei" panose="02010609060101010101" pitchFamily="49"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1E6C8F5E-9C80-E31A-B2AD-42C466598B5E}"/>
                  </a:ext>
                </a:extLst>
              </p:cNvPr>
              <p:cNvSpPr txBox="1">
                <a:spLocks noRot="1" noChangeAspect="1" noMove="1" noResize="1" noEditPoints="1" noAdjustHandles="1" noChangeArrowheads="1" noChangeShapeType="1" noTextEdit="1"/>
              </p:cNvSpPr>
              <p:nvPr/>
            </p:nvSpPr>
            <p:spPr>
              <a:xfrm>
                <a:off x="5441409" y="5108725"/>
                <a:ext cx="5248051" cy="613438"/>
              </a:xfrm>
              <a:prstGeom prst="rect">
                <a:avLst/>
              </a:prstGeom>
              <a:blipFill>
                <a:blip r:embed="rId7"/>
                <a:stretch>
                  <a:fillRect/>
                </a:stretch>
              </a:blipFill>
            </p:spPr>
            <p:txBody>
              <a:bodyPr/>
              <a:lstStyle/>
              <a:p>
                <a:r>
                  <a:rPr lang="zh-CN" altLang="en-US">
                    <a:noFill/>
                  </a:rPr>
                  <a:t> </a:t>
                </a:r>
              </a:p>
            </p:txBody>
          </p:sp>
        </mc:Fallback>
      </mc:AlternateContent>
      <p:cxnSp>
        <p:nvCxnSpPr>
          <p:cNvPr id="13" name="直线箭头连接符 12">
            <a:extLst>
              <a:ext uri="{FF2B5EF4-FFF2-40B4-BE49-F238E27FC236}">
                <a16:creationId xmlns:a16="http://schemas.microsoft.com/office/drawing/2014/main" id="{0033E95C-D29B-C72B-589E-876F927A8DA2}"/>
              </a:ext>
            </a:extLst>
          </p:cNvPr>
          <p:cNvCxnSpPr/>
          <p:nvPr/>
        </p:nvCxnSpPr>
        <p:spPr bwMode="auto">
          <a:xfrm flipV="1">
            <a:off x="3995822" y="3648948"/>
            <a:ext cx="0" cy="1205215"/>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 name="直线箭头连接符 13">
            <a:extLst>
              <a:ext uri="{FF2B5EF4-FFF2-40B4-BE49-F238E27FC236}">
                <a16:creationId xmlns:a16="http://schemas.microsoft.com/office/drawing/2014/main" id="{AA0E9C61-4F1D-10DA-DA11-EA6563808BF5}"/>
              </a:ext>
            </a:extLst>
          </p:cNvPr>
          <p:cNvCxnSpPr/>
          <p:nvPr/>
        </p:nvCxnSpPr>
        <p:spPr bwMode="auto">
          <a:xfrm flipV="1">
            <a:off x="7714850" y="3717519"/>
            <a:ext cx="0" cy="1205215"/>
          </a:xfrm>
          <a:prstGeom prst="straightConnector1">
            <a:avLst/>
          </a:prstGeom>
          <a:ln>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5" name="Shape18">
            <a:extLst>
              <a:ext uri="{FF2B5EF4-FFF2-40B4-BE49-F238E27FC236}">
                <a16:creationId xmlns:a16="http://schemas.microsoft.com/office/drawing/2014/main" id="{F98C3ADE-B54D-9547-1094-211F2513D1E6}"/>
              </a:ext>
            </a:extLst>
          </p:cNvPr>
          <p:cNvSpPr/>
          <p:nvPr/>
        </p:nvSpPr>
        <p:spPr>
          <a:xfrm>
            <a:off x="2861534" y="4922734"/>
            <a:ext cx="3234451" cy="1004730"/>
          </a:xfrm>
          <a:prstGeom prst="roundRect">
            <a:avLst>
              <a:gd name="adj" fmla="val 9827"/>
            </a:avLst>
          </a:prstGeom>
          <a:no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6" name="Shape18">
            <a:extLst>
              <a:ext uri="{FF2B5EF4-FFF2-40B4-BE49-F238E27FC236}">
                <a16:creationId xmlns:a16="http://schemas.microsoft.com/office/drawing/2014/main" id="{A70EA34B-F1B2-DAA5-7518-53E548FA02EF}"/>
              </a:ext>
            </a:extLst>
          </p:cNvPr>
          <p:cNvSpPr/>
          <p:nvPr/>
        </p:nvSpPr>
        <p:spPr>
          <a:xfrm>
            <a:off x="6553424" y="4937218"/>
            <a:ext cx="2628847" cy="1004730"/>
          </a:xfrm>
          <a:prstGeom prst="roundRect">
            <a:avLst>
              <a:gd name="adj" fmla="val 9827"/>
            </a:avLst>
          </a:prstGeom>
          <a:no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Tree>
    <p:extLst>
      <p:ext uri="{BB962C8B-B14F-4D97-AF65-F5344CB8AC3E}">
        <p14:creationId xmlns:p14="http://schemas.microsoft.com/office/powerpoint/2010/main" val="29236137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7821CEC-9B5C-2E02-CAD5-0176F3455E90}"/>
              </a:ext>
            </a:extLst>
          </p:cNvPr>
          <p:cNvSpPr>
            <a:spLocks noGrp="1"/>
          </p:cNvSpPr>
          <p:nvPr>
            <p:ph type="sldNum" sz="quarter" idx="10"/>
          </p:nvPr>
        </p:nvSpPr>
        <p:spPr/>
        <p:txBody>
          <a:bodyPr/>
          <a:lstStyle/>
          <a:p>
            <a:fld id="{4B0D34C0-35A8-654C-9FBA-7B4E017BD630}" type="slidenum">
              <a:rPr lang="en-US" altLang="zh-CN" smtClean="0"/>
              <a:t>37</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去重运算的等价规则</a:t>
            </a:r>
          </a:p>
        </p:txBody>
      </p:sp>
      <p:sp>
        <p:nvSpPr>
          <p:cNvPr id="5" name="页脚占位符 4">
            <a:extLst>
              <a:ext uri="{FF2B5EF4-FFF2-40B4-BE49-F238E27FC236}">
                <a16:creationId xmlns:a16="http://schemas.microsoft.com/office/drawing/2014/main" id="{E2FBFB64-44B9-CF80-F8DA-B665A1424696}"/>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1909A37-FBBB-91E4-4BBE-41072C3CAB9D}"/>
                  </a:ext>
                </a:extLst>
              </p:cNvPr>
              <p:cNvSpPr/>
              <p:nvPr/>
            </p:nvSpPr>
            <p:spPr>
              <a:xfrm>
                <a:off x="711197" y="1372286"/>
                <a:ext cx="11480803" cy="5180136"/>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400" kern="100" dirty="0">
                    <a:latin typeface="+mj-ea"/>
                    <a:ea typeface="+mj-ea"/>
                    <a:cs typeface="Times New Roman" panose="02020603050405020304" pitchFamily="18" charset="0"/>
                  </a:rPr>
                  <a:t>按照定义，</a:t>
                </a:r>
                <a:r>
                  <a:rPr lang="zh-CN" altLang="zh-CN" sz="2400" kern="100" dirty="0">
                    <a:latin typeface="+mj-ea"/>
                    <a:ea typeface="+mj-ea"/>
                    <a:cs typeface="Times New Roman" panose="02020603050405020304" pitchFamily="18" charset="0"/>
                  </a:rPr>
                  <a:t>对于</a:t>
                </a:r>
                <a:r>
                  <a:rPr lang="zh-CN" altLang="zh-CN" sz="2400" kern="100" dirty="0">
                    <a:solidFill>
                      <a:srgbClr val="701988"/>
                    </a:solidFill>
                    <a:latin typeface="+mj-ea"/>
                    <a:ea typeface="+mj-ea"/>
                    <a:cs typeface="Times New Roman" panose="02020603050405020304" pitchFamily="18" charset="0"/>
                  </a:rPr>
                  <a:t>没有重复</a:t>
                </a:r>
                <a:r>
                  <a:rPr lang="zh-CN" altLang="en-US" sz="2400" kern="100" dirty="0">
                    <a:solidFill>
                      <a:srgbClr val="701988"/>
                    </a:solidFill>
                    <a:latin typeface="+mj-ea"/>
                    <a:ea typeface="+mj-ea"/>
                    <a:cs typeface="Times New Roman" panose="02020603050405020304" pitchFamily="18" charset="0"/>
                  </a:rPr>
                  <a:t>元组</a:t>
                </a:r>
                <a:r>
                  <a:rPr lang="zh-CN" altLang="zh-CN" sz="2400" kern="100" dirty="0">
                    <a:latin typeface="+mj-ea"/>
                    <a:ea typeface="+mj-ea"/>
                    <a:cs typeface="Times New Roman" panose="02020603050405020304" pitchFamily="18" charset="0"/>
                  </a:rPr>
                  <a:t>的关系</a:t>
                </a:r>
                <a14:m>
                  <m:oMath xmlns:m="http://schemas.openxmlformats.org/officeDocument/2006/math">
                    <m:r>
                      <a:rPr lang="en-US" altLang="zh-CN" sz="2400" b="0" i="1" kern="100">
                        <a:latin typeface="Cambria Math" panose="02040503050406030204" pitchFamily="18" charset="0"/>
                        <a:ea typeface="+mj-ea"/>
                        <a:cs typeface="Times New Roman" panose="02020603050405020304" pitchFamily="18" charset="0"/>
                      </a:rPr>
                      <m:t>𝑅</m:t>
                    </m:r>
                    <m:r>
                      <a:rPr lang="zh-CN" altLang="en-US" sz="2400" b="0" i="0" kern="100" smtClean="0">
                        <a:latin typeface="Cambria Math" panose="02040503050406030204" pitchFamily="18" charset="0"/>
                        <a:ea typeface="+mj-ea"/>
                        <a:cs typeface="Times New Roman" panose="02020603050405020304" pitchFamily="18" charset="0"/>
                      </a:rPr>
                      <m:t>：</m:t>
                    </m:r>
                  </m:oMath>
                </a14:m>
                <a:endParaRPr lang="en-US" altLang="zh-CN" sz="2400" kern="100" dirty="0">
                  <a:latin typeface="+mj-ea"/>
                  <a:ea typeface="+mj-ea"/>
                  <a:cs typeface="Times New Roman" panose="02020603050405020304" pitchFamily="18" charset="0"/>
                </a:endParaRPr>
              </a:p>
              <a:p>
                <a:pPr algn="ctr">
                  <a:lnSpc>
                    <a:spcPct val="150000"/>
                  </a:lnSpc>
                </a:pPr>
                <a14:m>
                  <m:oMath xmlns:m="http://schemas.openxmlformats.org/officeDocument/2006/math">
                    <m:r>
                      <a:rPr lang="en-US" altLang="zh-CN" sz="2400" b="0" i="1" kern="100">
                        <a:latin typeface="Cambria Math" panose="02040503050406030204" pitchFamily="18" charset="0"/>
                        <a:ea typeface="+mj-ea"/>
                        <a:cs typeface="Times New Roman" panose="02020603050405020304" pitchFamily="18" charset="0"/>
                      </a:rPr>
                      <m:t>𝛿</m:t>
                    </m:r>
                    <m:d>
                      <m:dPr>
                        <m:ctrlPr>
                          <a:rPr lang="zh-CN" altLang="zh-CN" sz="2400" i="1" kern="100">
                            <a:latin typeface="Cambria Math" panose="02040503050406030204" pitchFamily="18" charset="0"/>
                            <a:ea typeface="+mj-ea"/>
                            <a:cs typeface="Times New Roman" panose="02020603050405020304" pitchFamily="18" charset="0"/>
                          </a:rPr>
                        </m:ctrlPr>
                      </m:dPr>
                      <m:e>
                        <m:r>
                          <a:rPr lang="en-US" altLang="zh-CN" sz="2400" b="0" i="1" kern="100">
                            <a:latin typeface="Cambria Math" panose="02040503050406030204" pitchFamily="18" charset="0"/>
                            <a:ea typeface="+mj-ea"/>
                            <a:cs typeface="Times New Roman" panose="02020603050405020304" pitchFamily="18" charset="0"/>
                          </a:rPr>
                          <m:t>𝑅</m:t>
                        </m:r>
                      </m:e>
                    </m:d>
                    <m:r>
                      <a:rPr lang="en-US" altLang="zh-CN" sz="2400" b="0" kern="100">
                        <a:latin typeface="Cambria Math" panose="02040503050406030204" pitchFamily="18" charset="0"/>
                        <a:ea typeface="+mj-ea"/>
                        <a:cs typeface="Times New Roman" panose="02020603050405020304" pitchFamily="18" charset="0"/>
                      </a:rPr>
                      <m:t>=</m:t>
                    </m:r>
                    <m:r>
                      <a:rPr lang="en-US" altLang="zh-CN" sz="2400" b="0" i="1" kern="100">
                        <a:latin typeface="Cambria Math" panose="02040503050406030204" pitchFamily="18" charset="0"/>
                        <a:ea typeface="+mj-ea"/>
                        <a:cs typeface="Times New Roman" panose="02020603050405020304" pitchFamily="18" charset="0"/>
                      </a:rPr>
                      <m:t>𝑅</m:t>
                    </m:r>
                  </m:oMath>
                </a14:m>
                <a:r>
                  <a:rPr lang="zh-CN" altLang="zh-CN" sz="2400" kern="100" dirty="0">
                    <a:latin typeface="+mj-ea"/>
                    <a:ea typeface="+mj-ea"/>
                    <a:cs typeface="Times New Roman" panose="02020603050405020304" pitchFamily="18" charset="0"/>
                  </a:rPr>
                  <a:t> </a:t>
                </a:r>
              </a:p>
              <a:p>
                <a:pPr marL="342900" indent="-342900" algn="just">
                  <a:lnSpc>
                    <a:spcPct val="150000"/>
                  </a:lnSpc>
                  <a:buFont typeface="Wingdings" panose="05000000000000000000" pitchFamily="2" charset="2"/>
                  <a:buChar char="Ø"/>
                </a:pPr>
                <a:r>
                  <a:rPr lang="zh-CN" altLang="zh-CN" sz="2400" kern="100" dirty="0">
                    <a:latin typeface="+mj-ea"/>
                    <a:ea typeface="+mj-ea"/>
                    <a:cs typeface="Times New Roman" panose="02020603050405020304" pitchFamily="18" charset="0"/>
                  </a:rPr>
                  <a:t>其他下推去重算子</a:t>
                </a:r>
                <a14:m>
                  <m:oMath xmlns:m="http://schemas.openxmlformats.org/officeDocument/2006/math">
                    <m:r>
                      <a:rPr lang="en-US" altLang="zh-CN" sz="2400" b="0" i="1" kern="100">
                        <a:latin typeface="Cambria Math" panose="02040503050406030204" pitchFamily="18" charset="0"/>
                        <a:ea typeface="+mj-ea"/>
                        <a:cs typeface="Times New Roman" panose="02020603050405020304" pitchFamily="18" charset="0"/>
                      </a:rPr>
                      <m:t>𝛿</m:t>
                    </m:r>
                  </m:oMath>
                </a14:m>
                <a:r>
                  <a:rPr lang="zh-CN" altLang="zh-CN" sz="2400" kern="100" dirty="0">
                    <a:latin typeface="+mj-ea"/>
                    <a:ea typeface="+mj-ea"/>
                    <a:cs typeface="Times New Roman" panose="02020603050405020304" pitchFamily="18" charset="0"/>
                  </a:rPr>
                  <a:t>的等价规则有：</a:t>
                </a:r>
                <a:endParaRPr lang="en-US" altLang="zh-CN" sz="2400" kern="100" dirty="0">
                  <a:latin typeface="+mj-ea"/>
                  <a:ea typeface="+mj-ea"/>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e>
                      </m:d>
                      <m:r>
                        <a:rPr lang="en-US" altLang="zh-CN" sz="2400" b="0" i="1" kern="100">
                          <a:latin typeface="Cambria Math" panose="02040503050406030204" pitchFamily="18" charset="0"/>
                          <a:ea typeface="+mj-ea"/>
                        </a:rPr>
                        <m:t>= </m:t>
                      </m:r>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e>
                      </m:d>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r>
                        <a:rPr lang="en-US" altLang="zh-CN" sz="2400" b="0" i="1" kern="100">
                          <a:latin typeface="Cambria Math" panose="02040503050406030204" pitchFamily="18" charset="0"/>
                          <a:ea typeface="+mj-ea"/>
                        </a:rPr>
                        <m:t>)</m:t>
                      </m:r>
                    </m:oMath>
                  </m:oMathPara>
                </a14:m>
                <a:endParaRPr lang="zh-CN" altLang="zh-CN" sz="2400" i="1" kern="100" dirty="0">
                  <a:latin typeface="+mj-ea"/>
                  <a:ea typeface="+mj-ea"/>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e>
                      </m:d>
                      <m:r>
                        <a:rPr lang="en-US" altLang="zh-CN" sz="2400" b="0" i="1" kern="100">
                          <a:latin typeface="Cambria Math" panose="02040503050406030204" pitchFamily="18" charset="0"/>
                          <a:ea typeface="+mj-ea"/>
                        </a:rPr>
                        <m:t>= </m:t>
                      </m:r>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e>
                      </m:d>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r>
                        <a:rPr lang="en-US" altLang="zh-CN" sz="2400" b="0" i="1" kern="100">
                          <a:latin typeface="Cambria Math" panose="02040503050406030204" pitchFamily="18" charset="0"/>
                          <a:ea typeface="+mj-ea"/>
                        </a:rPr>
                        <m:t>)</m:t>
                      </m:r>
                    </m:oMath>
                  </m:oMathPara>
                </a14:m>
                <a:endParaRPr lang="zh-CN" altLang="zh-CN" sz="2400" i="1" kern="100" dirty="0">
                  <a:latin typeface="+mj-ea"/>
                  <a:ea typeface="+mj-ea"/>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m:t>
                          </m:r>
                        </m:e>
                        <m:sub>
                          <m:r>
                            <a:rPr lang="en-US" altLang="zh-CN" sz="2400" b="0" i="1" kern="100">
                              <a:latin typeface="Cambria Math" panose="02040503050406030204" pitchFamily="18" charset="0"/>
                              <a:ea typeface="+mj-ea"/>
                            </a:rPr>
                            <m:t>𝑝</m:t>
                          </m:r>
                        </m:sub>
                      </m:sSub>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r>
                        <a:rPr lang="en-US" altLang="zh-CN" sz="2400" b="0" i="1" kern="100">
                          <a:latin typeface="Cambria Math" panose="02040503050406030204" pitchFamily="18" charset="0"/>
                          <a:ea typeface="+mj-ea"/>
                        </a:rPr>
                        <m:t>)= </m:t>
                      </m:r>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e>
                      </m:d>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m:t>
                          </m:r>
                        </m:e>
                        <m:sub>
                          <m:r>
                            <a:rPr lang="en-US" altLang="zh-CN" sz="2400" b="0" i="1" kern="100">
                              <a:latin typeface="Cambria Math" panose="02040503050406030204" pitchFamily="18" charset="0"/>
                              <a:ea typeface="+mj-ea"/>
                            </a:rPr>
                            <m:t>𝑝</m:t>
                          </m:r>
                        </m:sub>
                      </m:sSub>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r>
                        <a:rPr lang="en-US" altLang="zh-CN" sz="2400" b="0" i="1" kern="100">
                          <a:latin typeface="Cambria Math" panose="02040503050406030204" pitchFamily="18" charset="0"/>
                          <a:ea typeface="+mj-ea"/>
                        </a:rPr>
                        <m:t>)</m:t>
                      </m:r>
                    </m:oMath>
                  </m:oMathPara>
                </a14:m>
                <a:endParaRPr lang="zh-CN" altLang="zh-CN" sz="2400" i="1" kern="100" dirty="0">
                  <a:latin typeface="+mj-ea"/>
                  <a:ea typeface="+mj-ea"/>
                  <a:cs typeface="Times New Roman" panose="02020603050405020304" pitchFamily="18" charset="0"/>
                </a:endParaRPr>
              </a:p>
              <a:p>
                <a:pPr lvl="0" algn="ctr">
                  <a:lnSpc>
                    <a:spcPct val="150000"/>
                  </a:lnSpc>
                </a:pPr>
                <a14:m>
                  <m:oMath xmlns:m="http://schemas.openxmlformats.org/officeDocument/2006/math">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𝜎</m:t>
                        </m:r>
                      </m:e>
                      <m:sub>
                        <m:r>
                          <a:rPr lang="en-US" altLang="zh-CN" sz="2400" b="0" i="1" kern="100">
                            <a:latin typeface="Cambria Math" panose="02040503050406030204" pitchFamily="18" charset="0"/>
                            <a:ea typeface="+mj-ea"/>
                          </a:rPr>
                          <m:t>𝑝</m:t>
                        </m:r>
                      </m:sub>
                    </m:sSub>
                    <m:d>
                      <m:dPr>
                        <m:ctrlPr>
                          <a:rPr lang="zh-CN" altLang="zh-CN" sz="2400" i="1" kern="100">
                            <a:latin typeface="Cambria Math" panose="02040503050406030204" pitchFamily="18" charset="0"/>
                            <a:ea typeface="+mj-ea"/>
                          </a:rPr>
                        </m:ctrlPr>
                      </m:dPr>
                      <m:e>
                        <m:r>
                          <a:rPr lang="en-US" altLang="zh-CN" sz="2400" b="0" i="1" kern="100">
                            <a:latin typeface="Cambria Math" panose="02040503050406030204" pitchFamily="18" charset="0"/>
                            <a:ea typeface="+mj-ea"/>
                          </a:rPr>
                          <m:t>𝑅</m:t>
                        </m:r>
                      </m:e>
                    </m:d>
                    <m:r>
                      <a:rPr lang="en-US" altLang="zh-CN" sz="2400" b="0" i="1" kern="100">
                        <a:latin typeface="Cambria Math" panose="02040503050406030204" pitchFamily="18" charset="0"/>
                        <a:ea typeface="+mj-ea"/>
                      </a:rPr>
                      <m:t>)= </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𝜎</m:t>
                        </m:r>
                      </m:e>
                      <m:sub>
                        <m:r>
                          <a:rPr lang="en-US" altLang="zh-CN" sz="2400" b="0" i="1" kern="100">
                            <a:latin typeface="Cambria Math" panose="02040503050406030204" pitchFamily="18" charset="0"/>
                            <a:ea typeface="+mj-ea"/>
                          </a:rPr>
                          <m:t>𝑝</m:t>
                        </m:r>
                      </m:sub>
                    </m:sSub>
                    <m:d>
                      <m:dPr>
                        <m:ctrlPr>
                          <a:rPr lang="zh-CN" altLang="zh-CN" sz="2400" i="1" kern="100">
                            <a:latin typeface="Cambria Math" panose="02040503050406030204" pitchFamily="18" charset="0"/>
                            <a:ea typeface="+mj-ea"/>
                          </a:rPr>
                        </m:ctrlPr>
                      </m:dPr>
                      <m:e>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r>
                          <a:rPr lang="en-US" altLang="zh-CN" sz="2400" b="0" i="1" kern="100">
                            <a:latin typeface="Cambria Math" panose="02040503050406030204" pitchFamily="18" charset="0"/>
                            <a:ea typeface="+mj-ea"/>
                          </a:rPr>
                          <m:t>𝑅</m:t>
                        </m:r>
                      </m:e>
                    </m:d>
                  </m:oMath>
                </a14:m>
                <a:r>
                  <a:rPr lang="en-US" altLang="zh-CN" sz="2400" i="1" kern="100" dirty="0">
                    <a:latin typeface="+mj-ea"/>
                    <a:ea typeface="+mj-ea"/>
                    <a:cs typeface="Times New Roman" panose="02020603050405020304" pitchFamily="18" charset="0"/>
                  </a:rPr>
                  <a:t>)</a:t>
                </a:r>
                <a:endParaRPr lang="zh-CN" altLang="zh-CN" sz="2400" i="1" kern="100" dirty="0">
                  <a:latin typeface="+mj-ea"/>
                  <a:ea typeface="+mj-ea"/>
                  <a:cs typeface="Times New Roman" panose="02020603050405020304" pitchFamily="18" charset="0"/>
                </a:endParaRPr>
              </a:p>
              <a:p>
                <a:pPr lvl="0" algn="just">
                  <a:lnSpc>
                    <a:spcPct val="150000"/>
                  </a:lnSpc>
                </a:pPr>
                <a14:m>
                  <m:oMathPara xmlns:m="http://schemas.openxmlformats.org/officeDocument/2006/math">
                    <m:oMathParaPr>
                      <m:jc m:val="centerGroup"/>
                    </m:oMathParaPr>
                    <m:oMath xmlns:m="http://schemas.openxmlformats.org/officeDocument/2006/math">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e>
                      </m:d>
                      <m:r>
                        <a:rPr lang="en-US" altLang="zh-CN" sz="2400" b="0" i="1" kern="100">
                          <a:latin typeface="Cambria Math" panose="02040503050406030204" pitchFamily="18" charset="0"/>
                          <a:ea typeface="+mj-ea"/>
                        </a:rPr>
                        <m:t>= </m:t>
                      </m:r>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e>
                      </m:d>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r>
                        <a:rPr lang="en-US" altLang="zh-CN" sz="2400" b="0" i="1" kern="100">
                          <a:latin typeface="Cambria Math" panose="02040503050406030204" pitchFamily="18" charset="0"/>
                          <a:ea typeface="+mj-ea"/>
                        </a:rPr>
                        <m:t>)= </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𝛿</m:t>
                          </m:r>
                          <m:r>
                            <a:rPr lang="en-US" altLang="zh-CN" sz="2400" b="0" i="1" kern="100">
                              <a:latin typeface="Cambria Math" panose="02040503050406030204" pitchFamily="18" charset="0"/>
                              <a:ea typeface="+mj-ea"/>
                            </a:rPr>
                            <m:t>(</m:t>
                          </m:r>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r>
                        <a:rPr lang="en-US" altLang="zh-CN" sz="2400" b="0" i="1" kern="100">
                          <a:latin typeface="Cambria Math" panose="02040503050406030204" pitchFamily="18" charset="0"/>
                          <a:ea typeface="+mj-ea"/>
                        </a:rPr>
                        <m:t>)=</m:t>
                      </m:r>
                      <m:r>
                        <a:rPr lang="en-US" altLang="zh-CN" sz="2400" b="0" i="1" kern="100">
                          <a:latin typeface="Cambria Math" panose="02040503050406030204" pitchFamily="18" charset="0"/>
                          <a:ea typeface="+mj-ea"/>
                        </a:rPr>
                        <m:t>𝛿</m:t>
                      </m:r>
                      <m:d>
                        <m:dPr>
                          <m:ctrlPr>
                            <a:rPr lang="zh-CN" altLang="zh-CN" sz="2400" i="1" kern="100">
                              <a:latin typeface="Cambria Math" panose="02040503050406030204" pitchFamily="18" charset="0"/>
                              <a:ea typeface="+mj-ea"/>
                            </a:rPr>
                          </m:ctrlPr>
                        </m:dPr>
                        <m:e>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1</m:t>
                              </m:r>
                            </m:sub>
                          </m:sSub>
                        </m:e>
                      </m:d>
                      <m:r>
                        <a:rPr lang="en-US" altLang="zh-CN" sz="2400" b="0" i="1" kern="100">
                          <a:latin typeface="Cambria Math" panose="02040503050406030204" pitchFamily="18" charset="0"/>
                          <a:ea typeface="+mj-ea"/>
                        </a:rPr>
                        <m:t>∩</m:t>
                      </m:r>
                      <m:sSub>
                        <m:sSubPr>
                          <m:ctrlPr>
                            <a:rPr lang="zh-CN" altLang="zh-CN" sz="2400" i="1" kern="100">
                              <a:latin typeface="Cambria Math" panose="02040503050406030204" pitchFamily="18" charset="0"/>
                              <a:ea typeface="+mj-ea"/>
                            </a:rPr>
                          </m:ctrlPr>
                        </m:sSubPr>
                        <m:e>
                          <m:r>
                            <a:rPr lang="en-US" altLang="zh-CN" sz="2400" b="0" i="1" kern="100">
                              <a:latin typeface="Cambria Math" panose="02040503050406030204" pitchFamily="18" charset="0"/>
                              <a:ea typeface="+mj-ea"/>
                            </a:rPr>
                            <m:t>𝑅</m:t>
                          </m:r>
                        </m:e>
                        <m:sub>
                          <m:r>
                            <a:rPr lang="en-US" altLang="zh-CN" sz="2400" b="0" i="1" kern="100">
                              <a:latin typeface="Cambria Math" panose="02040503050406030204" pitchFamily="18" charset="0"/>
                              <a:ea typeface="+mj-ea"/>
                            </a:rPr>
                            <m:t>2</m:t>
                          </m:r>
                        </m:sub>
                      </m:sSub>
                    </m:oMath>
                  </m:oMathPara>
                </a14:m>
                <a:endParaRPr lang="zh-CN" altLang="zh-CN" sz="2400" i="1" kern="100" dirty="0">
                  <a:latin typeface="+mj-ea"/>
                  <a:ea typeface="+mj-ea"/>
                  <a:cs typeface="Times New Roman" panose="02020603050405020304" pitchFamily="18" charset="0"/>
                </a:endParaRPr>
              </a:p>
              <a:p>
                <a:pPr marL="342900" lvl="0" indent="-342900" algn="just">
                  <a:lnSpc>
                    <a:spcPct val="150000"/>
                  </a:lnSpc>
                  <a:buFont typeface="Wingdings" pitchFamily="2" charset="2"/>
                  <a:buChar char="p"/>
                </a:pPr>
                <a:endParaRPr lang="zh-CN" altLang="zh-CN" sz="2800" kern="100" dirty="0">
                  <a:latin typeface="+mj-ea"/>
                  <a:ea typeface="+mj-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C1909A37-FBBB-91E4-4BBE-41072C3CAB9D}"/>
                  </a:ext>
                </a:extLst>
              </p:cNvPr>
              <p:cNvSpPr>
                <a:spLocks noRot="1" noChangeAspect="1" noMove="1" noResize="1" noEditPoints="1" noAdjustHandles="1" noChangeArrowheads="1" noChangeShapeType="1" noTextEdit="1"/>
              </p:cNvSpPr>
              <p:nvPr/>
            </p:nvSpPr>
            <p:spPr>
              <a:xfrm>
                <a:off x="711197" y="1372286"/>
                <a:ext cx="11480803" cy="5180136"/>
              </a:xfrm>
              <a:prstGeom prst="rect">
                <a:avLst/>
              </a:prstGeom>
              <a:blipFill>
                <a:blip r:embed="rId3"/>
                <a:stretch>
                  <a:fillRect l="-7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4383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212D55C-0A94-1FE0-EB84-0B7760F393ED}"/>
              </a:ext>
            </a:extLst>
          </p:cNvPr>
          <p:cNvSpPr>
            <a:spLocks noGrp="1"/>
          </p:cNvSpPr>
          <p:nvPr>
            <p:ph type="sldNum" sz="quarter" idx="10"/>
          </p:nvPr>
        </p:nvSpPr>
        <p:spPr/>
        <p:txBody>
          <a:bodyPr/>
          <a:lstStyle/>
          <a:p>
            <a:fld id="{4B0D34C0-35A8-654C-9FBA-7B4E017BD630}" type="slidenum">
              <a:rPr lang="en-US" altLang="zh-CN" smtClean="0"/>
              <a:t>38</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分组聚集运算的等价规则</a:t>
            </a:r>
          </a:p>
        </p:txBody>
      </p:sp>
      <p:sp>
        <p:nvSpPr>
          <p:cNvPr id="5" name="页脚占位符 4">
            <a:extLst>
              <a:ext uri="{FF2B5EF4-FFF2-40B4-BE49-F238E27FC236}">
                <a16:creationId xmlns:a16="http://schemas.microsoft.com/office/drawing/2014/main" id="{A7724988-E65D-574C-6A7C-9A3BA0F429FC}"/>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1909A37-FBBB-91E4-4BBE-41072C3CAB9D}"/>
                  </a:ext>
                </a:extLst>
              </p:cNvPr>
              <p:cNvSpPr/>
              <p:nvPr/>
            </p:nvSpPr>
            <p:spPr>
              <a:xfrm>
                <a:off x="677732" y="1237868"/>
                <a:ext cx="11123407" cy="5165773"/>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400" kern="100" dirty="0">
                    <a:latin typeface="+mj-ea"/>
                    <a:ea typeface="+mj-ea"/>
                    <a:cs typeface="Times New Roman" panose="02020603050405020304" pitchFamily="18" charset="0"/>
                  </a:rPr>
                  <a:t>根据定义</a:t>
                </a:r>
                <a14:m>
                  <m:oMath xmlns:m="http://schemas.openxmlformats.org/officeDocument/2006/math">
                    <m:r>
                      <a:rPr lang="en-US" altLang="zh-CN" sz="2400" b="0" i="1" kern="100">
                        <a:latin typeface="Cambria Math" panose="02040503050406030204" pitchFamily="18" charset="0"/>
                        <a:ea typeface="+mj-ea"/>
                        <a:cs typeface="Times New Roman" panose="02020603050405020304" pitchFamily="18" charset="0"/>
                      </a:rPr>
                      <m:t>𝒢</m:t>
                    </m:r>
                  </m:oMath>
                </a14:m>
                <a:r>
                  <a:rPr lang="zh-CN" altLang="zh-CN" sz="2400" kern="100" dirty="0">
                    <a:latin typeface="+mj-ea"/>
                    <a:ea typeface="+mj-ea"/>
                    <a:cs typeface="Times New Roman" panose="02020603050405020304" pitchFamily="18" charset="0"/>
                  </a:rPr>
                  <a:t>最终会产生一个无重复元组的关系</a:t>
                </a:r>
                <a:r>
                  <a:rPr lang="zh-CN" altLang="en-US" sz="2400" kern="100" dirty="0">
                    <a:latin typeface="+mj-ea"/>
                    <a:ea typeface="+mj-ea"/>
                    <a:cs typeface="Times New Roman" panose="02020603050405020304" pitchFamily="18" charset="0"/>
                  </a:rPr>
                  <a:t>，利用去重运算的规则</a:t>
                </a:r>
                <a:r>
                  <a:rPr lang="zh-CN" altLang="zh-CN" sz="2400" kern="100" dirty="0">
                    <a:latin typeface="+mj-ea"/>
                    <a:ea typeface="+mj-ea"/>
                    <a:cs typeface="Times New Roman" panose="02020603050405020304" pitchFamily="18" charset="0"/>
                  </a:rPr>
                  <a:t> </a:t>
                </a:r>
                <a14:m>
                  <m:oMath xmlns:m="http://schemas.openxmlformats.org/officeDocument/2006/math">
                    <m:r>
                      <a:rPr lang="zh-CN" altLang="en-US" sz="2400" b="0" i="0" kern="100" smtClean="0">
                        <a:latin typeface="Cambria Math" panose="02040503050406030204" pitchFamily="18" charset="0"/>
                        <a:ea typeface="+mj-ea"/>
                        <a:cs typeface="Times New Roman" panose="02020603050405020304" pitchFamily="18" charset="0"/>
                      </a:rPr>
                      <m:t>：</m:t>
                    </m:r>
                  </m:oMath>
                </a14:m>
                <a:endParaRPr lang="en-US" altLang="zh-CN" sz="2400" kern="100" dirty="0">
                  <a:latin typeface="+mj-ea"/>
                  <a:ea typeface="+mj-ea"/>
                  <a:cs typeface="Times New Roman" panose="02020603050405020304" pitchFamily="18" charset="0"/>
                </a:endParaRPr>
              </a:p>
              <a:p>
                <a:pPr lvl="0" algn="ctr">
                  <a:lnSpc>
                    <a:spcPct val="150000"/>
                  </a:lnSpc>
                </a:pPr>
                <a14:m>
                  <m:oMathPara xmlns:m="http://schemas.openxmlformats.org/officeDocument/2006/math">
                    <m:oMathParaPr>
                      <m:jc m:val="centerGroup"/>
                    </m:oMathParaPr>
                    <m:oMath xmlns:m="http://schemas.openxmlformats.org/officeDocument/2006/math">
                      <m:r>
                        <a:rPr lang="en-US" altLang="zh-CN" sz="2400" b="0" i="1" kern="100" smtClean="0">
                          <a:solidFill>
                            <a:srgbClr val="701988"/>
                          </a:solidFill>
                          <a:latin typeface="Cambria Math" panose="02040503050406030204" pitchFamily="18" charset="0"/>
                          <a:ea typeface="+mj-ea"/>
                        </a:rPr>
                        <m:t>𝛿</m:t>
                      </m:r>
                      <m:r>
                        <a:rPr lang="en-US" altLang="zh-CN" sz="2400" b="0" i="1" kern="100" smtClean="0">
                          <a:solidFill>
                            <a:srgbClr val="701988"/>
                          </a:solidFill>
                          <a:latin typeface="Cambria Math" panose="02040503050406030204" pitchFamily="18" charset="0"/>
                          <a:ea typeface="+mj-ea"/>
                        </a:rPr>
                        <m:t>(</m:t>
                      </m:r>
                      <m:sSub>
                        <m:sSubPr>
                          <m:ctrlPr>
                            <a:rPr lang="zh-CN" altLang="zh-CN" sz="2400" i="1" kern="100">
                              <a:solidFill>
                                <a:srgbClr val="701988"/>
                              </a:solidFill>
                              <a:latin typeface="Cambria Math" panose="02040503050406030204" pitchFamily="18" charset="0"/>
                              <a:ea typeface="+mj-ea"/>
                            </a:rPr>
                          </m:ctrlPr>
                        </m:sSubPr>
                        <m:e>
                          <m:r>
                            <a:rPr lang="en-US" altLang="zh-CN" sz="2400" b="0" i="1" kern="100">
                              <a:solidFill>
                                <a:srgbClr val="701988"/>
                              </a:solidFill>
                              <a:latin typeface="Cambria Math" panose="02040503050406030204" pitchFamily="18" charset="0"/>
                              <a:ea typeface="+mj-ea"/>
                            </a:rPr>
                            <m:t>𝒢</m:t>
                          </m:r>
                        </m:e>
                        <m:sub>
                          <m:r>
                            <a:rPr lang="en-US" altLang="zh-CN" sz="2400" b="0" i="1" kern="100">
                              <a:solidFill>
                                <a:srgbClr val="701988"/>
                              </a:solidFill>
                              <a:latin typeface="Cambria Math" panose="02040503050406030204" pitchFamily="18" charset="0"/>
                              <a:ea typeface="+mj-ea"/>
                            </a:rPr>
                            <m:t>𝐶</m:t>
                          </m:r>
                        </m:sub>
                      </m:sSub>
                      <m:d>
                        <m:dPr>
                          <m:ctrlPr>
                            <a:rPr lang="zh-CN" altLang="zh-CN" sz="2400" i="1" kern="100">
                              <a:solidFill>
                                <a:srgbClr val="701988"/>
                              </a:solidFill>
                              <a:latin typeface="Cambria Math" panose="02040503050406030204" pitchFamily="18" charset="0"/>
                              <a:ea typeface="+mj-ea"/>
                            </a:rPr>
                          </m:ctrlPr>
                        </m:dPr>
                        <m:e>
                          <m:r>
                            <a:rPr lang="en-US" altLang="zh-CN" sz="2400" b="0" i="1" kern="100">
                              <a:solidFill>
                                <a:srgbClr val="701988"/>
                              </a:solidFill>
                              <a:latin typeface="Cambria Math" panose="02040503050406030204" pitchFamily="18" charset="0"/>
                              <a:ea typeface="+mj-ea"/>
                            </a:rPr>
                            <m:t>𝑅</m:t>
                          </m:r>
                        </m:e>
                      </m:d>
                      <m:r>
                        <a:rPr lang="en-US" altLang="zh-CN" sz="2400" b="0" i="1" kern="100">
                          <a:solidFill>
                            <a:srgbClr val="701988"/>
                          </a:solidFill>
                          <a:latin typeface="Cambria Math" panose="02040503050406030204" pitchFamily="18" charset="0"/>
                          <a:ea typeface="+mj-ea"/>
                        </a:rPr>
                        <m:t>)= </m:t>
                      </m:r>
                      <m:sSub>
                        <m:sSubPr>
                          <m:ctrlPr>
                            <a:rPr lang="zh-CN" altLang="zh-CN" sz="2400" i="1" kern="100">
                              <a:solidFill>
                                <a:srgbClr val="701988"/>
                              </a:solidFill>
                              <a:latin typeface="Cambria Math" panose="02040503050406030204" pitchFamily="18" charset="0"/>
                              <a:ea typeface="+mj-ea"/>
                            </a:rPr>
                          </m:ctrlPr>
                        </m:sSubPr>
                        <m:e>
                          <m:r>
                            <a:rPr lang="en-US" altLang="zh-CN" sz="2400" b="0" i="1" kern="100">
                              <a:solidFill>
                                <a:srgbClr val="701988"/>
                              </a:solidFill>
                              <a:latin typeface="Cambria Math" panose="02040503050406030204" pitchFamily="18" charset="0"/>
                              <a:ea typeface="+mj-ea"/>
                            </a:rPr>
                            <m:t>𝒢</m:t>
                          </m:r>
                        </m:e>
                        <m:sub>
                          <m:r>
                            <a:rPr lang="en-US" altLang="zh-CN" sz="2400" b="0" i="1" kern="100">
                              <a:solidFill>
                                <a:srgbClr val="701988"/>
                              </a:solidFill>
                              <a:latin typeface="Cambria Math" panose="02040503050406030204" pitchFamily="18" charset="0"/>
                              <a:ea typeface="+mj-ea"/>
                            </a:rPr>
                            <m:t>𝐶</m:t>
                          </m:r>
                        </m:sub>
                      </m:sSub>
                      <m:r>
                        <a:rPr lang="en-US" altLang="zh-CN" sz="2400" b="0" i="1" kern="100">
                          <a:solidFill>
                            <a:srgbClr val="701988"/>
                          </a:solidFill>
                          <a:latin typeface="Cambria Math" panose="02040503050406030204" pitchFamily="18" charset="0"/>
                          <a:ea typeface="+mj-ea"/>
                        </a:rPr>
                        <m:t>(</m:t>
                      </m:r>
                      <m:r>
                        <a:rPr lang="en-US" altLang="zh-CN" sz="2400" b="0" i="1" kern="100">
                          <a:solidFill>
                            <a:srgbClr val="701988"/>
                          </a:solidFill>
                          <a:latin typeface="Cambria Math" panose="02040503050406030204" pitchFamily="18" charset="0"/>
                          <a:ea typeface="+mj-ea"/>
                        </a:rPr>
                        <m:t>𝑅</m:t>
                      </m:r>
                      <m:r>
                        <a:rPr lang="en-US" altLang="zh-CN" sz="2400" b="0" i="1" kern="100" smtClean="0">
                          <a:solidFill>
                            <a:srgbClr val="701988"/>
                          </a:solidFill>
                          <a:latin typeface="Cambria Math" panose="02040503050406030204" pitchFamily="18" charset="0"/>
                          <a:ea typeface="+mj-ea"/>
                        </a:rPr>
                        <m:t>)</m:t>
                      </m:r>
                    </m:oMath>
                  </m:oMathPara>
                </a14:m>
                <a:endParaRPr lang="en-US" altLang="zh-CN" sz="2400" i="1" kern="100" dirty="0">
                  <a:solidFill>
                    <a:srgbClr val="701988"/>
                  </a:solidFill>
                  <a:latin typeface="+mj-ea"/>
                  <a:ea typeface="+mj-ea"/>
                </a:endParaRPr>
              </a:p>
              <a:p>
                <a:pPr lvl="0">
                  <a:lnSpc>
                    <a:spcPct val="150000"/>
                  </a:lnSpc>
                </a:pPr>
                <a:endParaRPr lang="zh-CN" altLang="zh-CN" sz="2400" dirty="0">
                  <a:latin typeface="+mj-ea"/>
                  <a:ea typeface="+mj-ea"/>
                </a:endParaRPr>
              </a:p>
              <a:p>
                <a:pPr marL="342900" indent="-342900" algn="just">
                  <a:lnSpc>
                    <a:spcPct val="150000"/>
                  </a:lnSpc>
                  <a:buFont typeface="Wingdings" panose="05000000000000000000" pitchFamily="2" charset="2"/>
                  <a:buChar char="Ø"/>
                </a:pPr>
                <a:r>
                  <a:rPr lang="zh-CN" altLang="zh-CN" sz="2400" kern="100" dirty="0">
                    <a:latin typeface="+mj-ea"/>
                    <a:ea typeface="+mj-ea"/>
                    <a:cs typeface="Times New Roman" panose="02020603050405020304" pitchFamily="18" charset="0"/>
                  </a:rPr>
                  <a:t>当聚集函数是取最小值或取最大值时，</a:t>
                </a:r>
                <a14:m>
                  <m:oMath xmlns:m="http://schemas.openxmlformats.org/officeDocument/2006/math">
                    <m:r>
                      <a:rPr lang="en-US" altLang="zh-CN" sz="2400" b="0" i="1" kern="100">
                        <a:latin typeface="Cambria Math" panose="02040503050406030204" pitchFamily="18" charset="0"/>
                        <a:ea typeface="+mj-ea"/>
                        <a:cs typeface="Times New Roman" panose="02020603050405020304" pitchFamily="18" charset="0"/>
                      </a:rPr>
                      <m:t>𝒢</m:t>
                    </m:r>
                  </m:oMath>
                </a14:m>
                <a:r>
                  <a:rPr lang="zh-CN" altLang="zh-CN" sz="2400" kern="100" dirty="0">
                    <a:latin typeface="+mj-ea"/>
                    <a:ea typeface="+mj-ea"/>
                    <a:cs typeface="Times New Roman" panose="02020603050405020304" pitchFamily="18" charset="0"/>
                  </a:rPr>
                  <a:t>的运算结果与输入关系是否去过重无关：</a:t>
                </a:r>
                <a:endParaRPr lang="en-US" altLang="zh-CN" sz="2400" kern="100" dirty="0">
                  <a:latin typeface="+mj-ea"/>
                  <a:ea typeface="+mj-ea"/>
                  <a:cs typeface="Times New Roman" panose="02020603050405020304" pitchFamily="18" charset="0"/>
                </a:endParaRPr>
              </a:p>
              <a:p>
                <a:pPr lvl="0" algn="ctr">
                  <a:lnSpc>
                    <a:spcPct val="150000"/>
                  </a:lnSpc>
                </a:pPr>
                <a14:m>
                  <m:oMathPara xmlns:m="http://schemas.openxmlformats.org/officeDocument/2006/math">
                    <m:oMathParaPr>
                      <m:jc m:val="centerGroup"/>
                    </m:oMathParaPr>
                    <m:oMath xmlns:m="http://schemas.openxmlformats.org/officeDocument/2006/math">
                      <m:sSub>
                        <m:sSubPr>
                          <m:ctrlPr>
                            <a:rPr lang="zh-CN" altLang="zh-CN" sz="2400" i="1" kern="100" smtClean="0">
                              <a:solidFill>
                                <a:srgbClr val="701988"/>
                              </a:solidFill>
                              <a:latin typeface="Cambria Math" panose="02040503050406030204" pitchFamily="18" charset="0"/>
                              <a:ea typeface="+mj-ea"/>
                              <a:cs typeface="Times New Roman" panose="02020603050405020304" pitchFamily="18" charset="0"/>
                            </a:rPr>
                          </m:ctrlPr>
                        </m:sSubPr>
                        <m:e>
                          <m:r>
                            <a:rPr lang="en-US" altLang="zh-CN" sz="2400" b="0" i="1" kern="100">
                              <a:solidFill>
                                <a:srgbClr val="701988"/>
                              </a:solidFill>
                              <a:latin typeface="Cambria Math" panose="02040503050406030204" pitchFamily="18" charset="0"/>
                              <a:ea typeface="+mj-ea"/>
                              <a:cs typeface="Times New Roman" panose="02020603050405020304" pitchFamily="18" charset="0"/>
                            </a:rPr>
                            <m:t>𝒢</m:t>
                          </m:r>
                        </m:e>
                        <m:sub>
                          <m:r>
                            <a:rPr lang="en-US" altLang="zh-CN" sz="2400" b="0" i="1" kern="100">
                              <a:solidFill>
                                <a:srgbClr val="701988"/>
                              </a:solidFill>
                              <a:latin typeface="Cambria Math" panose="02040503050406030204" pitchFamily="18" charset="0"/>
                              <a:ea typeface="+mj-ea"/>
                              <a:cs typeface="Times New Roman" panose="02020603050405020304" pitchFamily="18" charset="0"/>
                            </a:rPr>
                            <m:t>𝐶</m:t>
                          </m:r>
                        </m:sub>
                      </m:sSub>
                      <m:r>
                        <a:rPr lang="en-US" altLang="zh-CN" sz="2400" b="0" kern="100">
                          <a:solidFill>
                            <a:srgbClr val="701988"/>
                          </a:solidFill>
                          <a:latin typeface="Cambria Math" panose="02040503050406030204" pitchFamily="18" charset="0"/>
                          <a:ea typeface="+mj-ea"/>
                          <a:cs typeface="Times New Roman" panose="02020603050405020304" pitchFamily="18" charset="0"/>
                        </a:rPr>
                        <m:t>(</m:t>
                      </m:r>
                      <m:r>
                        <a:rPr lang="en-US" altLang="zh-CN" sz="2400" b="0" i="1" kern="100">
                          <a:solidFill>
                            <a:srgbClr val="701988"/>
                          </a:solidFill>
                          <a:latin typeface="Cambria Math" panose="02040503050406030204" pitchFamily="18" charset="0"/>
                          <a:ea typeface="+mj-ea"/>
                          <a:cs typeface="Times New Roman" panose="02020603050405020304" pitchFamily="18" charset="0"/>
                        </a:rPr>
                        <m:t>𝑅</m:t>
                      </m:r>
                      <m:r>
                        <a:rPr lang="en-US" altLang="zh-CN" sz="2400" b="0" kern="100">
                          <a:solidFill>
                            <a:srgbClr val="701988"/>
                          </a:solidFill>
                          <a:latin typeface="Cambria Math" panose="02040503050406030204" pitchFamily="18" charset="0"/>
                          <a:ea typeface="+mj-ea"/>
                          <a:cs typeface="Times New Roman" panose="02020603050405020304" pitchFamily="18" charset="0"/>
                        </a:rPr>
                        <m:t>)= </m:t>
                      </m:r>
                      <m:sSub>
                        <m:sSubPr>
                          <m:ctrlPr>
                            <a:rPr lang="zh-CN" altLang="zh-CN" sz="2400"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0" i="1" kern="100">
                              <a:solidFill>
                                <a:srgbClr val="701988"/>
                              </a:solidFill>
                              <a:latin typeface="Cambria Math" panose="02040503050406030204" pitchFamily="18" charset="0"/>
                              <a:ea typeface="+mj-ea"/>
                              <a:cs typeface="Times New Roman" panose="02020603050405020304" pitchFamily="18" charset="0"/>
                            </a:rPr>
                            <m:t>𝒢</m:t>
                          </m:r>
                        </m:e>
                        <m:sub>
                          <m:r>
                            <a:rPr lang="en-US" altLang="zh-CN" sz="2400" b="0" i="1" kern="100">
                              <a:solidFill>
                                <a:srgbClr val="701988"/>
                              </a:solidFill>
                              <a:latin typeface="Cambria Math" panose="02040503050406030204" pitchFamily="18" charset="0"/>
                              <a:ea typeface="+mj-ea"/>
                              <a:cs typeface="Times New Roman" panose="02020603050405020304" pitchFamily="18" charset="0"/>
                            </a:rPr>
                            <m:t>𝐶</m:t>
                          </m:r>
                        </m:sub>
                      </m:sSub>
                      <m:r>
                        <a:rPr lang="en-US" altLang="zh-CN" sz="2400" b="0" kern="100">
                          <a:solidFill>
                            <a:srgbClr val="701988"/>
                          </a:solidFill>
                          <a:latin typeface="Cambria Math" panose="02040503050406030204" pitchFamily="18" charset="0"/>
                          <a:ea typeface="+mj-ea"/>
                          <a:cs typeface="Times New Roman" panose="02020603050405020304" pitchFamily="18" charset="0"/>
                        </a:rPr>
                        <m:t>(</m:t>
                      </m:r>
                      <m:r>
                        <a:rPr lang="en-US" altLang="zh-CN" sz="2400" b="0" i="1" kern="100">
                          <a:solidFill>
                            <a:srgbClr val="701988"/>
                          </a:solidFill>
                          <a:latin typeface="Cambria Math" panose="02040503050406030204" pitchFamily="18" charset="0"/>
                          <a:ea typeface="+mj-ea"/>
                          <a:cs typeface="Times New Roman" panose="02020603050405020304" pitchFamily="18" charset="0"/>
                        </a:rPr>
                        <m:t>𝛿</m:t>
                      </m:r>
                      <m:d>
                        <m:dPr>
                          <m:ctrlPr>
                            <a:rPr lang="en-US" altLang="zh-CN" sz="2400" i="1" kern="100">
                              <a:solidFill>
                                <a:srgbClr val="701988"/>
                              </a:solidFill>
                              <a:latin typeface="Cambria Math" panose="02040503050406030204" pitchFamily="18" charset="0"/>
                              <a:ea typeface="+mj-ea"/>
                              <a:cs typeface="Times New Roman" panose="02020603050405020304" pitchFamily="18" charset="0"/>
                            </a:rPr>
                          </m:ctrlPr>
                        </m:dPr>
                        <m:e>
                          <m:r>
                            <a:rPr lang="en-US" altLang="zh-CN" sz="2400" b="0" i="1" kern="100">
                              <a:solidFill>
                                <a:srgbClr val="701988"/>
                              </a:solidFill>
                              <a:latin typeface="Cambria Math" panose="02040503050406030204" pitchFamily="18" charset="0"/>
                              <a:ea typeface="+mj-ea"/>
                              <a:cs typeface="Times New Roman" panose="02020603050405020304" pitchFamily="18" charset="0"/>
                            </a:rPr>
                            <m:t>𝑅</m:t>
                          </m:r>
                        </m:e>
                      </m:d>
                      <m:r>
                        <a:rPr lang="en-US" altLang="zh-CN" sz="2400" b="0" i="1" kern="100" smtClean="0">
                          <a:solidFill>
                            <a:srgbClr val="701988"/>
                          </a:solidFill>
                          <a:latin typeface="Cambria Math" panose="02040503050406030204" pitchFamily="18" charset="0"/>
                          <a:ea typeface="+mj-ea"/>
                          <a:cs typeface="Times New Roman" panose="02020603050405020304" pitchFamily="18" charset="0"/>
                        </a:rPr>
                        <m:t>)</m:t>
                      </m:r>
                    </m:oMath>
                  </m:oMathPara>
                </a14:m>
                <a:endParaRPr lang="en-US" altLang="zh-CN" sz="2400" kern="100" dirty="0">
                  <a:solidFill>
                    <a:srgbClr val="701988"/>
                  </a:solidFill>
                  <a:latin typeface="+mj-ea"/>
                  <a:ea typeface="+mj-ea"/>
                  <a:cs typeface="Times New Roman" panose="02020603050405020304" pitchFamily="18" charset="0"/>
                </a:endParaRPr>
              </a:p>
              <a:p>
                <a:pPr lvl="0" algn="ctr">
                  <a:lnSpc>
                    <a:spcPct val="150000"/>
                  </a:lnSpc>
                </a:pPr>
                <a:endParaRPr lang="en-US" altLang="zh-CN" sz="2400" kern="100" dirty="0">
                  <a:solidFill>
                    <a:srgbClr val="701988"/>
                  </a:solidFill>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zh-CN" sz="2400" kern="100" dirty="0">
                    <a:latin typeface="+mj-ea"/>
                    <a:ea typeface="+mj-ea"/>
                    <a:cs typeface="Times New Roman" panose="02020603050405020304" pitchFamily="18" charset="0"/>
                  </a:rPr>
                  <a:t>可以作满足投影属性集合</a:t>
                </a:r>
                <a14:m>
                  <m:oMath xmlns:m="http://schemas.openxmlformats.org/officeDocument/2006/math">
                    <m:r>
                      <m:rPr>
                        <m:sty m:val="p"/>
                      </m:rPr>
                      <a:rPr lang="en-US" altLang="zh-CN" sz="2400" b="0" i="1" kern="100">
                        <a:latin typeface="Cambria Math" panose="02040503050406030204" pitchFamily="18" charset="0"/>
                        <a:ea typeface="+mj-ea"/>
                        <a:cs typeface="Times New Roman" panose="02020603050405020304" pitchFamily="18" charset="0"/>
                      </a:rPr>
                      <m:t>S</m:t>
                    </m:r>
                  </m:oMath>
                </a14:m>
                <a:r>
                  <a:rPr lang="zh-CN" altLang="zh-CN" sz="2400" kern="100" dirty="0">
                    <a:latin typeface="+mj-ea"/>
                    <a:ea typeface="+mj-ea"/>
                    <a:cs typeface="Times New Roman" panose="02020603050405020304" pitchFamily="18" charset="0"/>
                  </a:rPr>
                  <a:t>包含</a:t>
                </a:r>
                <a14:m>
                  <m:oMath xmlns:m="http://schemas.openxmlformats.org/officeDocument/2006/math">
                    <m:r>
                      <a:rPr lang="en-US" altLang="zh-CN" sz="2400" b="0" i="1" kern="100">
                        <a:latin typeface="Cambria Math" panose="02040503050406030204" pitchFamily="18" charset="0"/>
                        <a:ea typeface="+mj-ea"/>
                        <a:cs typeface="Times New Roman" panose="02020603050405020304" pitchFamily="18" charset="0"/>
                      </a:rPr>
                      <m:t>𝒢</m:t>
                    </m:r>
                  </m:oMath>
                </a14:m>
                <a:r>
                  <a:rPr lang="zh-CN" altLang="zh-CN" sz="2400" kern="100" dirty="0">
                    <a:latin typeface="+mj-ea"/>
                    <a:ea typeface="+mj-ea"/>
                    <a:cs typeface="Times New Roman" panose="02020603050405020304" pitchFamily="18" charset="0"/>
                  </a:rPr>
                  <a:t>所需要的所有属性，也就是满足</a:t>
                </a:r>
                <a14:m>
                  <m:oMath xmlns:m="http://schemas.openxmlformats.org/officeDocument/2006/math">
                    <m:r>
                      <m:rPr>
                        <m:sty m:val="p"/>
                      </m:rPr>
                      <a:rPr lang="en-US" altLang="zh-CN" sz="2400" b="0" i="1" kern="100">
                        <a:latin typeface="Cambria Math" panose="02040503050406030204" pitchFamily="18" charset="0"/>
                        <a:ea typeface="+mj-ea"/>
                        <a:cs typeface="Times New Roman" panose="02020603050405020304" pitchFamily="18" charset="0"/>
                      </a:rPr>
                      <m:t>C</m:t>
                    </m:r>
                    <m:r>
                      <a:rPr lang="en-US" altLang="zh-CN" sz="2400" b="0" kern="100">
                        <a:latin typeface="Cambria Math" panose="02040503050406030204" pitchFamily="18" charset="0"/>
                        <a:ea typeface="+mj-ea"/>
                        <a:cs typeface="Times New Roman" panose="02020603050405020304" pitchFamily="18" charset="0"/>
                      </a:rPr>
                      <m:t>⊆</m:t>
                    </m:r>
                    <m:r>
                      <m:rPr>
                        <m:sty m:val="p"/>
                      </m:rPr>
                      <a:rPr lang="en-US" altLang="zh-CN" sz="2400" b="0" i="1" kern="100">
                        <a:latin typeface="Cambria Math" panose="02040503050406030204" pitchFamily="18" charset="0"/>
                        <a:ea typeface="+mj-ea"/>
                        <a:cs typeface="Times New Roman" panose="02020603050405020304" pitchFamily="18" charset="0"/>
                      </a:rPr>
                      <m:t>S</m:t>
                    </m:r>
                  </m:oMath>
                </a14:m>
                <a:r>
                  <a:rPr lang="zh-CN" altLang="zh-CN" sz="2400" kern="100" dirty="0">
                    <a:latin typeface="+mj-ea"/>
                    <a:ea typeface="+mj-ea"/>
                    <a:cs typeface="Times New Roman" panose="02020603050405020304" pitchFamily="18" charset="0"/>
                  </a:rPr>
                  <a:t>的投影：</a:t>
                </a:r>
              </a:p>
              <a:p>
                <a:pPr algn="ctr">
                  <a:lnSpc>
                    <a:spcPct val="150000"/>
                  </a:lnSpc>
                </a:pPr>
                <a14:m>
                  <m:oMathPara xmlns:m="http://schemas.openxmlformats.org/officeDocument/2006/math">
                    <m:oMathParaPr>
                      <m:jc m:val="centerGroup"/>
                    </m:oMathParaPr>
                    <m:oMath xmlns:m="http://schemas.openxmlformats.org/officeDocument/2006/math">
                      <m:sSub>
                        <m:sSubPr>
                          <m:ctrlPr>
                            <a:rPr lang="zh-CN" altLang="zh-CN" sz="2400" i="1" kern="100" smtClean="0">
                              <a:solidFill>
                                <a:srgbClr val="701988"/>
                              </a:solidFill>
                              <a:latin typeface="Cambria Math" panose="02040503050406030204" pitchFamily="18" charset="0"/>
                              <a:ea typeface="+mj-ea"/>
                              <a:cs typeface="Times New Roman" panose="02020603050405020304" pitchFamily="18" charset="0"/>
                            </a:rPr>
                          </m:ctrlPr>
                        </m:sSubPr>
                        <m:e>
                          <m:r>
                            <a:rPr lang="en-US" altLang="zh-CN" sz="2400" b="0" i="1" kern="100">
                              <a:solidFill>
                                <a:srgbClr val="701988"/>
                              </a:solidFill>
                              <a:latin typeface="Cambria Math" panose="02040503050406030204" pitchFamily="18" charset="0"/>
                              <a:ea typeface="+mj-ea"/>
                              <a:cs typeface="Times New Roman" panose="02020603050405020304" pitchFamily="18" charset="0"/>
                            </a:rPr>
                            <m:t>𝒢</m:t>
                          </m:r>
                        </m:e>
                        <m:sub>
                          <m:r>
                            <a:rPr lang="en-US" altLang="zh-CN" sz="2400" b="0" i="1" kern="100">
                              <a:solidFill>
                                <a:srgbClr val="701988"/>
                              </a:solidFill>
                              <a:latin typeface="Cambria Math" panose="02040503050406030204" pitchFamily="18" charset="0"/>
                              <a:ea typeface="+mj-ea"/>
                              <a:cs typeface="Times New Roman" panose="02020603050405020304" pitchFamily="18" charset="0"/>
                            </a:rPr>
                            <m:t>𝐶</m:t>
                          </m:r>
                        </m:sub>
                      </m:sSub>
                      <m:r>
                        <a:rPr lang="en-US" altLang="zh-CN" sz="2400" b="0" kern="100">
                          <a:solidFill>
                            <a:srgbClr val="701988"/>
                          </a:solidFill>
                          <a:latin typeface="Cambria Math" panose="02040503050406030204" pitchFamily="18" charset="0"/>
                          <a:ea typeface="+mj-ea"/>
                          <a:cs typeface="Times New Roman" panose="02020603050405020304" pitchFamily="18" charset="0"/>
                        </a:rPr>
                        <m:t>(</m:t>
                      </m:r>
                      <m:r>
                        <a:rPr lang="en-US" altLang="zh-CN" sz="2400" b="0" i="1" kern="100">
                          <a:solidFill>
                            <a:srgbClr val="701988"/>
                          </a:solidFill>
                          <a:latin typeface="Cambria Math" panose="02040503050406030204" pitchFamily="18" charset="0"/>
                          <a:ea typeface="+mj-ea"/>
                          <a:cs typeface="Times New Roman" panose="02020603050405020304" pitchFamily="18" charset="0"/>
                        </a:rPr>
                        <m:t>𝑅</m:t>
                      </m:r>
                      <m:r>
                        <a:rPr lang="en-US" altLang="zh-CN" sz="2400" b="0" kern="100">
                          <a:solidFill>
                            <a:srgbClr val="701988"/>
                          </a:solidFill>
                          <a:latin typeface="Cambria Math" panose="02040503050406030204" pitchFamily="18" charset="0"/>
                          <a:ea typeface="+mj-ea"/>
                          <a:cs typeface="Times New Roman" panose="02020603050405020304" pitchFamily="18" charset="0"/>
                        </a:rPr>
                        <m:t>)= </m:t>
                      </m:r>
                      <m:sSub>
                        <m:sSubPr>
                          <m:ctrlPr>
                            <a:rPr lang="zh-CN" altLang="zh-CN" sz="2400"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0" i="1" kern="100">
                              <a:solidFill>
                                <a:srgbClr val="701988"/>
                              </a:solidFill>
                              <a:latin typeface="Cambria Math" panose="02040503050406030204" pitchFamily="18" charset="0"/>
                              <a:ea typeface="+mj-ea"/>
                              <a:cs typeface="Times New Roman" panose="02020603050405020304" pitchFamily="18" charset="0"/>
                            </a:rPr>
                            <m:t>𝒢</m:t>
                          </m:r>
                        </m:e>
                        <m:sub>
                          <m:r>
                            <a:rPr lang="en-US" altLang="zh-CN" sz="2400" b="0" i="1" kern="100">
                              <a:solidFill>
                                <a:srgbClr val="701988"/>
                              </a:solidFill>
                              <a:latin typeface="Cambria Math" panose="02040503050406030204" pitchFamily="18" charset="0"/>
                              <a:ea typeface="+mj-ea"/>
                              <a:cs typeface="Times New Roman" panose="02020603050405020304" pitchFamily="18" charset="0"/>
                            </a:rPr>
                            <m:t>𝐶</m:t>
                          </m:r>
                        </m:sub>
                      </m:sSub>
                      <m:d>
                        <m:dPr>
                          <m:ctrlPr>
                            <a:rPr lang="zh-CN" altLang="zh-CN" sz="2400" i="1" kern="100">
                              <a:solidFill>
                                <a:srgbClr val="701988"/>
                              </a:solidFill>
                              <a:latin typeface="Cambria Math" panose="02040503050406030204" pitchFamily="18" charset="0"/>
                              <a:ea typeface="+mj-ea"/>
                              <a:cs typeface="Times New Roman" panose="02020603050405020304" pitchFamily="18" charset="0"/>
                            </a:rPr>
                          </m:ctrlPr>
                        </m:dPr>
                        <m:e>
                          <m:sSub>
                            <m:sSubPr>
                              <m:ctrlPr>
                                <a:rPr lang="zh-CN" altLang="zh-CN" sz="2400" i="1" kern="100">
                                  <a:solidFill>
                                    <a:srgbClr val="701988"/>
                                  </a:solidFill>
                                  <a:latin typeface="Cambria Math" panose="02040503050406030204" pitchFamily="18" charset="0"/>
                                  <a:ea typeface="+mj-ea"/>
                                  <a:cs typeface="Times New Roman" panose="02020603050405020304" pitchFamily="18" charset="0"/>
                                </a:rPr>
                              </m:ctrlPr>
                            </m:sSubPr>
                            <m:e>
                              <m:r>
                                <a:rPr lang="en-US" altLang="zh-CN" sz="2400" b="0" i="1" kern="100">
                                  <a:solidFill>
                                    <a:srgbClr val="701988"/>
                                  </a:solidFill>
                                  <a:latin typeface="Cambria Math" panose="02040503050406030204" pitchFamily="18" charset="0"/>
                                  <a:ea typeface="+mj-ea"/>
                                  <a:cs typeface="Times New Roman" panose="02020603050405020304" pitchFamily="18" charset="0"/>
                                </a:rPr>
                                <m:t>𝛱</m:t>
                              </m:r>
                            </m:e>
                            <m:sub>
                              <m:r>
                                <a:rPr lang="en-US" altLang="zh-CN" sz="2400" b="0" i="1" kern="100">
                                  <a:solidFill>
                                    <a:srgbClr val="701988"/>
                                  </a:solidFill>
                                  <a:latin typeface="Cambria Math" panose="02040503050406030204" pitchFamily="18" charset="0"/>
                                  <a:ea typeface="+mj-ea"/>
                                  <a:cs typeface="Times New Roman" panose="02020603050405020304" pitchFamily="18" charset="0"/>
                                </a:rPr>
                                <m:t>𝑆</m:t>
                              </m:r>
                            </m:sub>
                          </m:sSub>
                          <m:d>
                            <m:dPr>
                              <m:ctrlPr>
                                <a:rPr lang="zh-CN" altLang="zh-CN" sz="2400" i="1" kern="100">
                                  <a:solidFill>
                                    <a:srgbClr val="701988"/>
                                  </a:solidFill>
                                  <a:latin typeface="Cambria Math" panose="02040503050406030204" pitchFamily="18" charset="0"/>
                                  <a:ea typeface="+mj-ea"/>
                                  <a:cs typeface="Times New Roman" panose="02020603050405020304" pitchFamily="18" charset="0"/>
                                </a:rPr>
                              </m:ctrlPr>
                            </m:dPr>
                            <m:e>
                              <m:r>
                                <a:rPr lang="en-US" altLang="zh-CN" sz="2400" b="0" i="1" kern="100">
                                  <a:solidFill>
                                    <a:srgbClr val="701988"/>
                                  </a:solidFill>
                                  <a:latin typeface="Cambria Math" panose="02040503050406030204" pitchFamily="18" charset="0"/>
                                  <a:ea typeface="+mj-ea"/>
                                  <a:cs typeface="Times New Roman" panose="02020603050405020304" pitchFamily="18" charset="0"/>
                                </a:rPr>
                                <m:t>𝑅</m:t>
                              </m:r>
                            </m:e>
                          </m:d>
                        </m:e>
                      </m:d>
                    </m:oMath>
                  </m:oMathPara>
                </a14:m>
                <a:endParaRPr lang="zh-CN" altLang="zh-CN" sz="2400" kern="100" dirty="0">
                  <a:latin typeface="+mj-ea"/>
                  <a:ea typeface="+mj-ea"/>
                  <a:cs typeface="Times New Roman" panose="02020603050405020304" pitchFamily="18" charset="0"/>
                </a:endParaRPr>
              </a:p>
              <a:p>
                <a:pPr marL="342900" lvl="0" indent="-342900" algn="just">
                  <a:lnSpc>
                    <a:spcPct val="150000"/>
                  </a:lnSpc>
                  <a:buFont typeface="Wingdings" pitchFamily="2" charset="2"/>
                  <a:buChar char="p"/>
                </a:pPr>
                <a:endParaRPr lang="zh-CN" altLang="zh-CN" sz="2800" kern="100" dirty="0">
                  <a:latin typeface="+mj-ea"/>
                  <a:ea typeface="+mj-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C1909A37-FBBB-91E4-4BBE-41072C3CAB9D}"/>
                  </a:ext>
                </a:extLst>
              </p:cNvPr>
              <p:cNvSpPr>
                <a:spLocks noRot="1" noChangeAspect="1" noMove="1" noResize="1" noEditPoints="1" noAdjustHandles="1" noChangeArrowheads="1" noChangeShapeType="1" noTextEdit="1"/>
              </p:cNvSpPr>
              <p:nvPr/>
            </p:nvSpPr>
            <p:spPr>
              <a:xfrm>
                <a:off x="677732" y="1237868"/>
                <a:ext cx="11123407" cy="5165773"/>
              </a:xfrm>
              <a:prstGeom prst="rect">
                <a:avLst/>
              </a:prstGeom>
              <a:blipFill>
                <a:blip r:embed="rId3"/>
                <a:stretch>
                  <a:fillRect l="-684" r="-35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1019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39</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kumimoji="1" lang="zh-CN" altLang="en-US" dirty="0"/>
              <a:t>重写顺序</a:t>
            </a:r>
          </a:p>
        </p:txBody>
      </p:sp>
      <p:sp>
        <p:nvSpPr>
          <p:cNvPr id="4" name="内容占位符 3">
            <a:extLst>
              <a:ext uri="{FF2B5EF4-FFF2-40B4-BE49-F238E27FC236}">
                <a16:creationId xmlns:a16="http://schemas.microsoft.com/office/drawing/2014/main" id="{864A924D-CE04-27E5-A993-6CA6BD8506CA}"/>
              </a:ext>
            </a:extLst>
          </p:cNvPr>
          <p:cNvSpPr>
            <a:spLocks noGrp="1"/>
          </p:cNvSpPr>
          <p:nvPr>
            <p:ph idx="1"/>
          </p:nvPr>
        </p:nvSpPr>
        <p:spPr>
          <a:xfrm>
            <a:off x="903642" y="1349245"/>
            <a:ext cx="10495878" cy="5005387"/>
          </a:xfrm>
        </p:spPr>
        <p:txBody>
          <a:bodyPr/>
          <a:lstStyle/>
          <a:p>
            <a:pPr>
              <a:lnSpc>
                <a:spcPct val="150000"/>
              </a:lnSpc>
              <a:buFont typeface="Wingdings" panose="05000000000000000000" pitchFamily="2" charset="2"/>
              <a:buChar char="Ø"/>
            </a:pPr>
            <a:r>
              <a:rPr kumimoji="1" lang="zh-CN" altLang="en-US" dirty="0"/>
              <a:t>重写规则数量很多，重写时逐个枚举会产生</a:t>
            </a:r>
            <a:r>
              <a:rPr kumimoji="1" lang="zh-CN" altLang="en-US" dirty="0">
                <a:solidFill>
                  <a:srgbClr val="701988"/>
                </a:solidFill>
              </a:rPr>
              <a:t>巨大的搜索空间</a:t>
            </a:r>
            <a:endParaRPr lang="en-US" altLang="zh-CN" dirty="0"/>
          </a:p>
          <a:p>
            <a:pPr>
              <a:lnSpc>
                <a:spcPct val="150000"/>
              </a:lnSpc>
              <a:buFont typeface="Wingdings" panose="05000000000000000000" pitchFamily="2" charset="2"/>
              <a:buChar char="Ø"/>
            </a:pPr>
            <a:r>
              <a:rPr kumimoji="1" lang="zh-CN" altLang="en-US" dirty="0"/>
              <a:t>一般按照</a:t>
            </a:r>
            <a:r>
              <a:rPr kumimoji="1" lang="zh-CN" altLang="en-US" dirty="0">
                <a:solidFill>
                  <a:srgbClr val="701988"/>
                </a:solidFill>
              </a:rPr>
              <a:t>特定的规则枚举顺序</a:t>
            </a:r>
            <a:r>
              <a:rPr kumimoji="1" lang="zh-CN" altLang="en-US" dirty="0"/>
              <a:t>进行枚举，并在枚举一定数量后就停止搜索</a:t>
            </a:r>
            <a:endParaRPr kumimoji="1" lang="en-US" altLang="zh-CN" dirty="0"/>
          </a:p>
          <a:p>
            <a:pPr lvl="1">
              <a:lnSpc>
                <a:spcPct val="150000"/>
              </a:lnSpc>
              <a:buFont typeface="Wingdings" panose="05000000000000000000" pitchFamily="2" charset="2"/>
              <a:buChar char="Ø"/>
            </a:pPr>
            <a:r>
              <a:rPr lang="zh-CN" altLang="en-US" dirty="0"/>
              <a:t>按照重写规则的重要性</a:t>
            </a:r>
            <a:endParaRPr lang="en-US" altLang="zh-CN" dirty="0"/>
          </a:p>
          <a:p>
            <a:pPr>
              <a:lnSpc>
                <a:spcPct val="150000"/>
              </a:lnSpc>
              <a:buFont typeface="Wingdings" panose="05000000000000000000" pitchFamily="2" charset="2"/>
              <a:buChar char="Ø"/>
            </a:pPr>
            <a:r>
              <a:rPr kumimoji="1" lang="zh-CN" altLang="en-US" dirty="0"/>
              <a:t>通过优先利用那些大概率能提升执行效率的等价规则，可以</a:t>
            </a:r>
            <a:r>
              <a:rPr kumimoji="1" lang="zh-CN" altLang="en-US" dirty="0">
                <a:solidFill>
                  <a:srgbClr val="701988"/>
                </a:solidFill>
              </a:rPr>
              <a:t>降低搜索空间</a:t>
            </a:r>
            <a:endParaRPr kumimoji="1" lang="en-US" altLang="zh-CN" dirty="0">
              <a:solidFill>
                <a:srgbClr val="701988"/>
              </a:solidFill>
            </a:endParaRPr>
          </a:p>
          <a:p>
            <a:pPr>
              <a:lnSpc>
                <a:spcPct val="150000"/>
              </a:lnSpc>
              <a:buFont typeface="Wingdings" panose="05000000000000000000" pitchFamily="2" charset="2"/>
              <a:buChar char="Ø"/>
            </a:pPr>
            <a:r>
              <a:rPr lang="zh-CN" altLang="en-US" dirty="0">
                <a:solidFill>
                  <a:srgbClr val="701988"/>
                </a:solidFill>
              </a:rPr>
              <a:t>重写规则顺序会影响重写质量</a:t>
            </a:r>
            <a:endParaRPr kumimoji="1" lang="en-US" altLang="zh-CN" dirty="0">
              <a:solidFill>
                <a:srgbClr val="701988"/>
              </a:solidFill>
            </a:endParaRPr>
          </a:p>
          <a:p>
            <a:endParaRPr lang="en-US" altLang="zh-CN" dirty="0"/>
          </a:p>
          <a:p>
            <a:endParaRPr kumimoji="1" lang="zh-CN" altLang="en-US" dirty="0"/>
          </a:p>
        </p:txBody>
      </p:sp>
      <p:sp>
        <p:nvSpPr>
          <p:cNvPr id="5" name="页脚占位符 4">
            <a:extLst>
              <a:ext uri="{FF2B5EF4-FFF2-40B4-BE49-F238E27FC236}">
                <a16:creationId xmlns:a16="http://schemas.microsoft.com/office/drawing/2014/main" id="{86336DDB-1969-D98A-45F5-EEA387AE4A00}"/>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1370670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40</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kumimoji="1" lang="zh-CN" altLang="en-US" dirty="0"/>
              <a:t>重写顺序</a:t>
            </a:r>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864A924D-CE04-27E5-A993-6CA6BD8506CA}"/>
                  </a:ext>
                </a:extLst>
              </p:cNvPr>
              <p:cNvSpPr>
                <a:spLocks noGrp="1"/>
              </p:cNvSpPr>
              <p:nvPr>
                <p:ph idx="1"/>
              </p:nvPr>
            </p:nvSpPr>
            <p:spPr>
              <a:xfrm>
                <a:off x="548640" y="1134000"/>
                <a:ext cx="11333548" cy="5005387"/>
              </a:xfrm>
            </p:spPr>
            <p:txBody>
              <a:bodyPr/>
              <a:lstStyle/>
              <a:p>
                <a:pPr marL="342900" indent="-342900" algn="just">
                  <a:lnSpc>
                    <a:spcPct val="150000"/>
                  </a:lnSpc>
                  <a:buFont typeface="Wingdings" panose="05000000000000000000" pitchFamily="2" charset="2"/>
                  <a:buChar char="Ø"/>
                </a:pPr>
                <a:r>
                  <a:rPr lang="zh-CN" altLang="en-US" sz="2200" b="1" kern="100" dirty="0">
                    <a:cs typeface="Times New Roman" panose="02020603050405020304" pitchFamily="18" charset="0"/>
                  </a:rPr>
                  <a:t>对规则的枚举顺序一般为：</a:t>
                </a:r>
                <a:endParaRPr lang="en-US" altLang="zh-CN" sz="2200" b="1" kern="100" dirty="0">
                  <a:cs typeface="Times New Roman" panose="02020603050405020304" pitchFamily="18" charset="0"/>
                </a:endParaRPr>
              </a:p>
              <a:p>
                <a:pPr marL="936391" lvl="1" indent="-514350">
                  <a:lnSpc>
                    <a:spcPct val="150000"/>
                  </a:lnSpc>
                  <a:buFont typeface="+mj-ea"/>
                  <a:buAutoNum type="circleNumDbPlain"/>
                </a:pPr>
                <a:r>
                  <a:rPr lang="zh-CN" altLang="en-US" sz="2400" dirty="0"/>
                  <a:t>分解复合的选择谓词，</a:t>
                </a:r>
                <a:r>
                  <a:rPr kumimoji="1" lang="zh-CN" altLang="en-US" sz="2400" dirty="0"/>
                  <a:t>如</a:t>
                </a:r>
                <a14:m>
                  <m:oMath xmlns:m="http://schemas.openxmlformats.org/officeDocument/2006/math">
                    <m:sSub>
                      <m:sSubPr>
                        <m:ctrlPr>
                          <a:rPr lang="zh-CN" altLang="zh-CN" sz="2400" i="1" smtClean="0">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𝜎</m:t>
                        </m:r>
                      </m:e>
                      <m: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𝑝</m:t>
                            </m:r>
                          </m:e>
                          <m:sub>
                            <m:r>
                              <a:rPr lang="en-US" altLang="zh-CN" sz="2400" i="1" kern="100">
                                <a:effectLst/>
                                <a:latin typeface="Cambria Math" panose="02040503050406030204" pitchFamily="18" charset="0"/>
                                <a:cs typeface="Times New Roman" panose="02020603050405020304" pitchFamily="18" charset="0"/>
                              </a:rPr>
                              <m:t>1</m:t>
                            </m:r>
                          </m:sub>
                        </m:sSub>
                        <m:r>
                          <a:rPr lang="en-US" altLang="zh-CN" sz="2400" i="1" kern="100">
                            <a:effectLst/>
                            <a:latin typeface="Cambria Math" panose="02040503050406030204" pitchFamily="18" charset="0"/>
                            <a:cs typeface="Times New Roman" panose="02020603050405020304" pitchFamily="18" charset="0"/>
                          </a:rPr>
                          <m:t> ⋀ </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𝑝</m:t>
                            </m:r>
                          </m:e>
                          <m:sub>
                            <m:r>
                              <a:rPr lang="en-US" altLang="zh-CN" sz="2400" i="1" kern="100">
                                <a:effectLst/>
                                <a:latin typeface="Cambria Math" panose="02040503050406030204" pitchFamily="18" charset="0"/>
                                <a:cs typeface="Times New Roman" panose="02020603050405020304" pitchFamily="18" charset="0"/>
                              </a:rPr>
                              <m:t>2</m:t>
                            </m:r>
                          </m:sub>
                        </m:sSub>
                      </m:sub>
                    </m:sSub>
                    <m:r>
                      <a:rPr lang="en-US" altLang="zh-CN" sz="2400" i="1" kern="100">
                        <a:effectLst/>
                        <a:latin typeface="Cambria Math" panose="02040503050406030204" pitchFamily="18" charset="0"/>
                        <a:cs typeface="Times New Roman" panose="02020603050405020304" pitchFamily="18" charset="0"/>
                      </a:rPr>
                      <m:t>(</m:t>
                    </m:r>
                    <m:r>
                      <a:rPr lang="en-US" altLang="zh-CN" sz="2400" i="1" kern="100">
                        <a:effectLst/>
                        <a:latin typeface="Cambria Math" panose="02040503050406030204" pitchFamily="18" charset="0"/>
                        <a:cs typeface="Times New Roman" panose="02020603050405020304" pitchFamily="18" charset="0"/>
                      </a:rPr>
                      <m:t>𝑅</m:t>
                    </m:r>
                    <m:r>
                      <a:rPr lang="en-US" altLang="zh-CN" sz="2400" i="1" kern="100">
                        <a:effectLst/>
                        <a:latin typeface="Cambria Math" panose="02040503050406030204" pitchFamily="18" charset="0"/>
                        <a:cs typeface="Times New Roman" panose="02020603050405020304" pitchFamily="18" charset="0"/>
                      </a:rPr>
                      <m:t>)= </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𝜎</m:t>
                        </m:r>
                      </m:e>
                      <m: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𝑝</m:t>
                            </m:r>
                          </m:e>
                          <m:sub>
                            <m:r>
                              <a:rPr lang="en-US" altLang="zh-CN" sz="2400" i="1" kern="100">
                                <a:effectLst/>
                                <a:latin typeface="Cambria Math" panose="02040503050406030204" pitchFamily="18" charset="0"/>
                                <a:cs typeface="Times New Roman" panose="02020603050405020304" pitchFamily="18" charset="0"/>
                              </a:rPr>
                              <m:t>1</m:t>
                            </m:r>
                          </m:sub>
                        </m:sSub>
                      </m:sub>
                    </m:sSub>
                    <m:d>
                      <m:dPr>
                        <m:ctrlPr>
                          <a:rPr lang="zh-CN" altLang="zh-CN" sz="2400" i="1">
                            <a:effectLst/>
                            <a:latin typeface="Cambria Math" panose="02040503050406030204" pitchFamily="18" charset="0"/>
                          </a:rPr>
                        </m:ctrlPr>
                      </m:dPr>
                      <m:e>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𝜎</m:t>
                            </m:r>
                          </m:e>
                          <m: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𝑝</m:t>
                                </m:r>
                              </m:e>
                              <m:sub>
                                <m:r>
                                  <a:rPr lang="en-US" altLang="zh-CN" sz="2400" i="1" kern="100">
                                    <a:effectLst/>
                                    <a:latin typeface="Cambria Math" panose="02040503050406030204" pitchFamily="18" charset="0"/>
                                    <a:cs typeface="Times New Roman" panose="02020603050405020304" pitchFamily="18" charset="0"/>
                                  </a:rPr>
                                  <m:t>2</m:t>
                                </m:r>
                              </m:sub>
                            </m:sSub>
                          </m:sub>
                        </m:sSub>
                        <m:d>
                          <m:dPr>
                            <m:ctrlPr>
                              <a:rPr lang="zh-CN" altLang="zh-CN" sz="2400" i="1">
                                <a:effectLst/>
                                <a:latin typeface="Cambria Math" panose="02040503050406030204" pitchFamily="18" charset="0"/>
                              </a:rPr>
                            </m:ctrlPr>
                          </m:dPr>
                          <m:e>
                            <m:r>
                              <a:rPr lang="en-US" altLang="zh-CN" sz="2400" i="1" kern="100">
                                <a:effectLst/>
                                <a:latin typeface="Cambria Math" panose="02040503050406030204" pitchFamily="18" charset="0"/>
                                <a:cs typeface="Times New Roman" panose="02020603050405020304" pitchFamily="18" charset="0"/>
                              </a:rPr>
                              <m:t>𝑅</m:t>
                            </m:r>
                          </m:e>
                        </m:d>
                      </m:e>
                    </m:d>
                  </m:oMath>
                </a14:m>
                <a:r>
                  <a:rPr lang="zh-CN" altLang="zh-CN" sz="2400" dirty="0">
                    <a:effectLst/>
                  </a:rPr>
                  <a:t> </a:t>
                </a:r>
                <a:endParaRPr lang="en-US" altLang="zh-CN" sz="2400" dirty="0">
                  <a:effectLst/>
                </a:endParaRPr>
              </a:p>
              <a:p>
                <a:pPr marL="936391" lvl="1" indent="-514350">
                  <a:lnSpc>
                    <a:spcPct val="150000"/>
                  </a:lnSpc>
                  <a:buFont typeface="+mj-ea"/>
                  <a:buAutoNum type="circleNumDbPlain"/>
                </a:pPr>
                <a:r>
                  <a:rPr kumimoji="1" lang="zh-CN" altLang="en-US" sz="2400" dirty="0"/>
                  <a:t>添加推理的谓词，</a:t>
                </a:r>
                <a:r>
                  <a:rPr lang="zh-CN" altLang="en-US" sz="2400" dirty="0"/>
                  <a:t>例如 </a:t>
                </a:r>
                <a:r>
                  <a:rPr lang="en-US" altLang="zh-CN" sz="2400" dirty="0"/>
                  <a:t>A=B</a:t>
                </a:r>
                <a:r>
                  <a:rPr lang="zh-CN" altLang="en-US" sz="2400" dirty="0"/>
                  <a:t>，</a:t>
                </a:r>
                <a:r>
                  <a:rPr lang="en-US" altLang="zh-CN" sz="2400" dirty="0"/>
                  <a:t>A&gt;5</a:t>
                </a:r>
                <a:r>
                  <a:rPr lang="zh-CN" altLang="en-US" sz="2400" dirty="0"/>
                  <a:t> </a:t>
                </a:r>
                <a:r>
                  <a:rPr lang="en-US" altLang="zh-CN" sz="2400" dirty="0">
                    <a:sym typeface="Wingdings" pitchFamily="2" charset="2"/>
                  </a:rPr>
                  <a:t></a:t>
                </a:r>
                <a:r>
                  <a:rPr lang="zh-CN" altLang="en-US" sz="2400" dirty="0">
                    <a:sym typeface="Wingdings" pitchFamily="2" charset="2"/>
                  </a:rPr>
                  <a:t> </a:t>
                </a:r>
                <a:r>
                  <a:rPr lang="en-US" altLang="zh-CN" sz="2400" dirty="0">
                    <a:sym typeface="Wingdings" pitchFamily="2" charset="2"/>
                  </a:rPr>
                  <a:t>B</a:t>
                </a:r>
                <a:r>
                  <a:rPr lang="zh-CN" altLang="en-US" sz="2400" dirty="0">
                    <a:sym typeface="Wingdings" pitchFamily="2" charset="2"/>
                  </a:rPr>
                  <a:t> </a:t>
                </a:r>
                <a:r>
                  <a:rPr lang="en-US" altLang="zh-CN" sz="2400" dirty="0">
                    <a:sym typeface="Wingdings" pitchFamily="2" charset="2"/>
                  </a:rPr>
                  <a:t>&gt;</a:t>
                </a:r>
                <a:r>
                  <a:rPr lang="zh-CN" altLang="en-US" sz="2400" dirty="0">
                    <a:sym typeface="Wingdings" pitchFamily="2" charset="2"/>
                  </a:rPr>
                  <a:t> </a:t>
                </a:r>
                <a:r>
                  <a:rPr lang="en-US" altLang="zh-CN" sz="2400" dirty="0">
                    <a:sym typeface="Wingdings" pitchFamily="2" charset="2"/>
                  </a:rPr>
                  <a:t>5</a:t>
                </a:r>
                <a:endParaRPr lang="en-US" altLang="zh-CN" sz="2400" dirty="0"/>
              </a:p>
              <a:p>
                <a:pPr marL="936391" lvl="1" indent="-514350">
                  <a:lnSpc>
                    <a:spcPct val="150000"/>
                  </a:lnSpc>
                  <a:buFont typeface="+mj-ea"/>
                  <a:buAutoNum type="circleNumDbPlain"/>
                </a:pPr>
                <a:r>
                  <a:rPr kumimoji="1" lang="zh-CN" altLang="en-US" sz="2400" dirty="0"/>
                  <a:t>下推选择运算，如</a:t>
                </a:r>
                <a14:m>
                  <m:oMath xmlns:m="http://schemas.openxmlformats.org/officeDocument/2006/math">
                    <m:sSub>
                      <m:sSubPr>
                        <m:ctrlPr>
                          <a:rPr lang="zh-CN" altLang="zh-CN" sz="2400" i="1" smtClean="0">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𝜎</m:t>
                        </m:r>
                      </m:e>
                      <m:sub>
                        <m:r>
                          <a:rPr lang="en-US" altLang="zh-CN" sz="2400" i="1" kern="100">
                            <a:effectLst/>
                            <a:latin typeface="Cambria Math" panose="02040503050406030204" pitchFamily="18" charset="0"/>
                            <a:cs typeface="Times New Roman" panose="02020603050405020304" pitchFamily="18" charset="0"/>
                          </a:rPr>
                          <m:t>𝑝</m:t>
                        </m:r>
                      </m:sub>
                    </m:sSub>
                    <m:d>
                      <m:dPr>
                        <m:ctrlPr>
                          <a:rPr lang="zh-CN" altLang="zh-CN" sz="2400" i="1">
                            <a:effectLst/>
                            <a:latin typeface="Cambria Math" panose="02040503050406030204" pitchFamily="18" charset="0"/>
                          </a:rPr>
                        </m:ctrlPr>
                      </m:dPr>
                      <m:e>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1</m:t>
                            </m:r>
                          </m:sub>
                        </m:sSub>
                        <m:r>
                          <a:rPr lang="en-US" altLang="zh-CN" sz="2400" i="1" kern="1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2</m:t>
                            </m:r>
                          </m:sub>
                        </m:sSub>
                      </m:e>
                    </m:d>
                    <m:r>
                      <a:rPr lang="en-US" altLang="zh-CN" sz="2400" i="1" kern="100">
                        <a:effectLst/>
                        <a:latin typeface="Cambria Math" panose="02040503050406030204" pitchFamily="18" charset="0"/>
                        <a:cs typeface="Times New Roman" panose="02020603050405020304" pitchFamily="18" charset="0"/>
                      </a:rPr>
                      <m:t>= </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𝜎</m:t>
                        </m:r>
                      </m:e>
                      <m:sub>
                        <m:r>
                          <a:rPr lang="en-US" altLang="zh-CN" sz="2400" i="1" kern="100">
                            <a:effectLst/>
                            <a:latin typeface="Cambria Math" panose="02040503050406030204" pitchFamily="18" charset="0"/>
                            <a:cs typeface="Times New Roman" panose="02020603050405020304" pitchFamily="18" charset="0"/>
                          </a:rPr>
                          <m:t>𝑝</m:t>
                        </m:r>
                      </m:sub>
                    </m:sSub>
                    <m:d>
                      <m:dPr>
                        <m:ctrlPr>
                          <a:rPr lang="zh-CN" altLang="zh-CN" sz="2400" i="1">
                            <a:effectLst/>
                            <a:latin typeface="Cambria Math" panose="02040503050406030204" pitchFamily="18" charset="0"/>
                          </a:rPr>
                        </m:ctrlPr>
                      </m:dPr>
                      <m:e>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1</m:t>
                            </m:r>
                          </m:sub>
                        </m:sSub>
                      </m:e>
                    </m:d>
                    <m:r>
                      <a:rPr lang="en-US" altLang="zh-CN" sz="2400" i="1" kern="1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𝜎</m:t>
                        </m:r>
                      </m:e>
                      <m:sub>
                        <m:r>
                          <a:rPr lang="en-US" altLang="zh-CN" sz="2400" i="1" kern="100">
                            <a:effectLst/>
                            <a:latin typeface="Cambria Math" panose="02040503050406030204" pitchFamily="18" charset="0"/>
                            <a:cs typeface="Times New Roman" panose="02020603050405020304" pitchFamily="18" charset="0"/>
                          </a:rPr>
                          <m:t>𝑝</m:t>
                        </m:r>
                      </m:sub>
                    </m:sSub>
                    <m:d>
                      <m:dPr>
                        <m:ctrlPr>
                          <a:rPr lang="zh-CN" altLang="zh-CN" sz="2400" i="1">
                            <a:effectLst/>
                            <a:latin typeface="Cambria Math" panose="02040503050406030204" pitchFamily="18" charset="0"/>
                          </a:rPr>
                        </m:ctrlPr>
                      </m:dPr>
                      <m:e>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2</m:t>
                            </m:r>
                          </m:sub>
                        </m:sSub>
                      </m:e>
                    </m:d>
                  </m:oMath>
                </a14:m>
                <a:r>
                  <a:rPr lang="zh-CN" altLang="zh-CN" sz="2400" dirty="0">
                    <a:effectLst/>
                  </a:rPr>
                  <a:t> </a:t>
                </a:r>
                <a:endParaRPr kumimoji="1" lang="en-US" altLang="zh-CN" sz="2400" dirty="0"/>
              </a:p>
              <a:p>
                <a:pPr marL="936391" lvl="1" indent="-514350">
                  <a:lnSpc>
                    <a:spcPct val="150000"/>
                  </a:lnSpc>
                  <a:buFont typeface="+mj-ea"/>
                  <a:buAutoNum type="circleNumDbPlain"/>
                </a:pPr>
                <a:r>
                  <a:rPr kumimoji="1" lang="zh-CN" altLang="en-US" sz="2400" dirty="0"/>
                  <a:t>将笛卡尔积转换为连接运算，如</a:t>
                </a:r>
                <a14:m>
                  <m:oMath xmlns:m="http://schemas.openxmlformats.org/officeDocument/2006/math">
                    <m:sSub>
                      <m:sSubPr>
                        <m:ctrlPr>
                          <a:rPr lang="zh-CN" altLang="zh-CN" sz="2400" i="1" smtClean="0">
                            <a:effectLst/>
                            <a:latin typeface="Cambria Math" panose="02040503050406030204" pitchFamily="18" charset="0"/>
                          </a:rPr>
                        </m:ctrlPr>
                      </m:sSubPr>
                      <m:e>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𝜎</m:t>
                            </m:r>
                          </m:e>
                          <m:sub>
                            <m:r>
                              <a:rPr lang="en-US" altLang="zh-CN" sz="2400" i="1" kern="100">
                                <a:effectLst/>
                                <a:latin typeface="Cambria Math" panose="02040503050406030204" pitchFamily="18" charset="0"/>
                                <a:cs typeface="Times New Roman" panose="02020603050405020304" pitchFamily="18" charset="0"/>
                              </a:rPr>
                              <m:t>𝑝</m:t>
                            </m:r>
                          </m:sub>
                        </m:sSub>
                        <m:d>
                          <m:dPr>
                            <m:ctrlPr>
                              <a:rPr lang="zh-CN" altLang="zh-CN" sz="2400" i="1">
                                <a:effectLst/>
                                <a:latin typeface="Cambria Math" panose="02040503050406030204" pitchFamily="18" charset="0"/>
                              </a:rPr>
                            </m:ctrlPr>
                          </m:dPr>
                          <m:e>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1</m:t>
                                </m:r>
                              </m:sub>
                            </m:sSub>
                            <m:r>
                              <a:rPr lang="en-US" altLang="zh-CN" sz="2400" i="1" kern="1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2</m:t>
                                </m:r>
                              </m:sub>
                            </m:sSub>
                          </m:e>
                        </m:d>
                        <m:r>
                          <a:rPr lang="en-US" altLang="zh-CN" sz="2400" i="1" kern="100">
                            <a:effectLst/>
                            <a:latin typeface="Cambria Math" panose="02040503050406030204" pitchFamily="18" charset="0"/>
                            <a:cs typeface="Times New Roman" panose="02020603050405020304" pitchFamily="18" charset="0"/>
                          </a:rPr>
                          <m:t>=</m:t>
                        </m:r>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1</m:t>
                        </m:r>
                      </m:sub>
                    </m:s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m:t>
                        </m:r>
                      </m:e>
                      <m:sub>
                        <m:r>
                          <a:rPr lang="en-US" altLang="zh-CN" sz="2400" i="1" kern="100">
                            <a:effectLst/>
                            <a:latin typeface="Cambria Math" panose="02040503050406030204" pitchFamily="18" charset="0"/>
                            <a:cs typeface="Times New Roman" panose="02020603050405020304" pitchFamily="18" charset="0"/>
                          </a:rPr>
                          <m:t>𝑝</m:t>
                        </m:r>
                      </m:sub>
                    </m:s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𝑅</m:t>
                        </m:r>
                      </m:e>
                      <m:sub>
                        <m:r>
                          <a:rPr lang="en-US" altLang="zh-CN" sz="2400" i="1" kern="100">
                            <a:effectLst/>
                            <a:latin typeface="Cambria Math" panose="02040503050406030204" pitchFamily="18" charset="0"/>
                            <a:cs typeface="Times New Roman" panose="02020603050405020304" pitchFamily="18" charset="0"/>
                          </a:rPr>
                          <m:t>2</m:t>
                        </m:r>
                      </m:sub>
                    </m:sSub>
                  </m:oMath>
                </a14:m>
                <a:r>
                  <a:rPr lang="zh-CN" altLang="zh-CN" sz="2400" dirty="0">
                    <a:effectLst/>
                  </a:rPr>
                  <a:t> </a:t>
                </a:r>
                <a:endParaRPr kumimoji="1" lang="en-US" altLang="zh-CN" sz="2400" dirty="0"/>
              </a:p>
              <a:p>
                <a:pPr marL="936391" lvl="1" indent="-514350">
                  <a:lnSpc>
                    <a:spcPct val="150000"/>
                  </a:lnSpc>
                  <a:buFont typeface="+mj-ea"/>
                  <a:buAutoNum type="circleNumDbPlain"/>
                </a:pPr>
                <a:r>
                  <a:rPr kumimoji="1" lang="zh-CN" altLang="en-US" sz="2400" dirty="0"/>
                  <a:t>引入</a:t>
                </a:r>
                <a:r>
                  <a:rPr lang="zh-CN" altLang="en-US" sz="2400" dirty="0"/>
                  <a:t>并</a:t>
                </a:r>
                <a:r>
                  <a:rPr kumimoji="1" lang="zh-CN" altLang="en-US" sz="2400" dirty="0"/>
                  <a:t>下推投影运算</a:t>
                </a:r>
                <a:r>
                  <a:rPr lang="zh-CN" altLang="en-US" sz="2400" dirty="0"/>
                  <a:t>，如</a:t>
                </a:r>
                <a14:m>
                  <m:oMath xmlns:m="http://schemas.openxmlformats.org/officeDocument/2006/math">
                    <m:sSub>
                      <m:sSubPr>
                        <m:ctrlPr>
                          <a:rPr lang="zh-CN" altLang="zh-CN" sz="2400" i="1">
                            <a:effectLst/>
                            <a:latin typeface="Cambria Math" panose="02040503050406030204" pitchFamily="18" charset="0"/>
                          </a:rPr>
                        </m:ctrlPr>
                      </m:sSubPr>
                      <m:e>
                        <m:r>
                          <m:rPr>
                            <m:sty m:val="p"/>
                          </m:rPr>
                          <a:rPr lang="en-US" altLang="zh-CN" sz="2400" kern="100">
                            <a:effectLst/>
                            <a:latin typeface="Cambria Math" panose="02040503050406030204" pitchFamily="18" charset="0"/>
                            <a:cs typeface="Times New Roman" panose="02020603050405020304" pitchFamily="18" charset="0"/>
                          </a:rPr>
                          <m:t>Π</m:t>
                        </m:r>
                      </m:e>
                      <m: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𝑆</m:t>
                            </m:r>
                          </m:e>
                          <m:sub>
                            <m:r>
                              <a:rPr lang="en-US" altLang="zh-CN" sz="2400" i="1" kern="100">
                                <a:effectLst/>
                                <a:latin typeface="Cambria Math" panose="02040503050406030204" pitchFamily="18" charset="0"/>
                                <a:cs typeface="Times New Roman" panose="02020603050405020304" pitchFamily="18" charset="0"/>
                              </a:rPr>
                              <m:t>1</m:t>
                            </m:r>
                          </m:sub>
                        </m:sSub>
                      </m:sub>
                    </m:sSub>
                    <m:d>
                      <m:dPr>
                        <m:ctrlPr>
                          <a:rPr lang="zh-CN" altLang="zh-CN" sz="2400" i="1">
                            <a:effectLst/>
                            <a:latin typeface="Cambria Math" panose="02040503050406030204" pitchFamily="18" charset="0"/>
                          </a:rPr>
                        </m:ctrlPr>
                      </m:dPr>
                      <m:e>
                        <m:sSub>
                          <m:sSubPr>
                            <m:ctrlPr>
                              <a:rPr lang="zh-CN" altLang="zh-CN" sz="2400" i="1">
                                <a:effectLst/>
                                <a:latin typeface="Cambria Math" panose="02040503050406030204" pitchFamily="18" charset="0"/>
                              </a:rPr>
                            </m:ctrlPr>
                          </m:sSubPr>
                          <m:e>
                            <m:r>
                              <m:rPr>
                                <m:sty m:val="p"/>
                              </m:rPr>
                              <a:rPr lang="en-US" altLang="zh-CN" sz="2400" kern="100">
                                <a:effectLst/>
                                <a:latin typeface="Cambria Math" panose="02040503050406030204" pitchFamily="18" charset="0"/>
                                <a:cs typeface="Times New Roman" panose="02020603050405020304" pitchFamily="18" charset="0"/>
                              </a:rPr>
                              <m:t>Π</m:t>
                            </m:r>
                          </m:e>
                          <m: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𝑆</m:t>
                                </m:r>
                              </m:e>
                              <m:sub>
                                <m:r>
                                  <a:rPr lang="en-US" altLang="zh-CN" sz="2400" i="1" kern="100">
                                    <a:effectLst/>
                                    <a:latin typeface="Cambria Math" panose="02040503050406030204" pitchFamily="18" charset="0"/>
                                    <a:cs typeface="Times New Roman" panose="02020603050405020304" pitchFamily="18" charset="0"/>
                                  </a:rPr>
                                  <m:t>2</m:t>
                                </m:r>
                              </m:sub>
                            </m:sSub>
                          </m:sub>
                        </m:sSub>
                        <m:d>
                          <m:dPr>
                            <m:ctrlPr>
                              <a:rPr lang="zh-CN" altLang="zh-CN" sz="2400" i="1">
                                <a:effectLst/>
                                <a:latin typeface="Cambria Math" panose="02040503050406030204" pitchFamily="18" charset="0"/>
                              </a:rPr>
                            </m:ctrlPr>
                          </m:dPr>
                          <m:e>
                            <m:r>
                              <a:rPr lang="en-US" altLang="zh-CN" sz="2400" i="1" kern="100">
                                <a:effectLst/>
                                <a:latin typeface="Cambria Math" panose="02040503050406030204" pitchFamily="18" charset="0"/>
                                <a:cs typeface="Times New Roman" panose="02020603050405020304" pitchFamily="18" charset="0"/>
                              </a:rPr>
                              <m:t>𝑅</m:t>
                            </m:r>
                          </m:e>
                        </m:d>
                      </m:e>
                    </m:d>
                    <m:r>
                      <a:rPr lang="en-US" altLang="zh-CN" sz="2400" i="1" kern="1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rPr>
                        </m:ctrlPr>
                      </m:sSubPr>
                      <m:e>
                        <m:r>
                          <m:rPr>
                            <m:sty m:val="p"/>
                          </m:rPr>
                          <a:rPr lang="en-US" altLang="zh-CN" sz="2400" kern="100">
                            <a:effectLst/>
                            <a:latin typeface="Cambria Math" panose="02040503050406030204" pitchFamily="18" charset="0"/>
                            <a:cs typeface="Times New Roman" panose="02020603050405020304" pitchFamily="18" charset="0"/>
                          </a:rPr>
                          <m:t>Π</m:t>
                        </m:r>
                      </m:e>
                      <m:sub>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𝑆</m:t>
                            </m:r>
                          </m:e>
                          <m:sub>
                            <m:r>
                              <a:rPr lang="en-US" altLang="zh-CN" sz="2400" i="1" kern="100">
                                <a:effectLst/>
                                <a:latin typeface="Cambria Math" panose="02040503050406030204" pitchFamily="18" charset="0"/>
                                <a:cs typeface="Times New Roman" panose="02020603050405020304" pitchFamily="18" charset="0"/>
                              </a:rPr>
                              <m:t>1</m:t>
                            </m:r>
                          </m:sub>
                        </m:sSub>
                      </m:sub>
                    </m:sSub>
                    <m:d>
                      <m:dPr>
                        <m:ctrlPr>
                          <a:rPr lang="zh-CN" altLang="zh-CN" sz="2400" i="1">
                            <a:effectLst/>
                            <a:latin typeface="Cambria Math" panose="02040503050406030204" pitchFamily="18" charset="0"/>
                          </a:rPr>
                        </m:ctrlPr>
                      </m:dPr>
                      <m:e>
                        <m:r>
                          <a:rPr lang="en-US" altLang="zh-CN" sz="2400" i="1" kern="100">
                            <a:effectLst/>
                            <a:latin typeface="Cambria Math" panose="02040503050406030204" pitchFamily="18" charset="0"/>
                            <a:cs typeface="Times New Roman" panose="02020603050405020304" pitchFamily="18" charset="0"/>
                          </a:rPr>
                          <m:t>𝑅</m:t>
                        </m:r>
                      </m:e>
                    </m:d>
                    <m:r>
                      <a:rPr lang="en-US" altLang="zh-CN" sz="2400" i="1" kern="100">
                        <a:effectLst/>
                        <a:latin typeface="Cambria Math" panose="02040503050406030204" pitchFamily="18" charset="0"/>
                        <a:cs typeface="Times New Roman" panose="02020603050405020304" pitchFamily="18" charset="0"/>
                      </a:rPr>
                      <m:t>, </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𝑆</m:t>
                        </m:r>
                      </m:e>
                      <m:sub>
                        <m:r>
                          <a:rPr lang="en-US" altLang="zh-CN" sz="2400" i="1" kern="100">
                            <a:effectLst/>
                            <a:latin typeface="Cambria Math" panose="02040503050406030204" pitchFamily="18" charset="0"/>
                            <a:cs typeface="Times New Roman" panose="02020603050405020304" pitchFamily="18" charset="0"/>
                          </a:rPr>
                          <m:t>1</m:t>
                        </m:r>
                      </m:sub>
                    </m:sSub>
                    <m:r>
                      <a:rPr lang="en-US" altLang="zh-CN" sz="2400" i="1" kern="100">
                        <a:effectLst/>
                        <a:latin typeface="Cambria Math" panose="02040503050406030204" pitchFamily="18" charset="0"/>
                        <a:cs typeface="Times New Roman" panose="02020603050405020304" pitchFamily="18" charset="0"/>
                      </a:rPr>
                      <m:t>⊆</m:t>
                    </m:r>
                    <m:sSub>
                      <m:sSubPr>
                        <m:ctrlPr>
                          <a:rPr lang="zh-CN" altLang="zh-CN" sz="2400" i="1">
                            <a:effectLst/>
                            <a:latin typeface="Cambria Math" panose="02040503050406030204" pitchFamily="18" charset="0"/>
                          </a:rPr>
                        </m:ctrlPr>
                      </m:sSubPr>
                      <m:e>
                        <m:r>
                          <a:rPr lang="en-US" altLang="zh-CN" sz="2400" i="1" kern="100">
                            <a:effectLst/>
                            <a:latin typeface="Cambria Math" panose="02040503050406030204" pitchFamily="18" charset="0"/>
                            <a:cs typeface="Times New Roman" panose="02020603050405020304" pitchFamily="18" charset="0"/>
                          </a:rPr>
                          <m:t>𝑆</m:t>
                        </m:r>
                      </m:e>
                      <m:sub>
                        <m:r>
                          <a:rPr lang="en-US" altLang="zh-CN" sz="2400" i="1" kern="100">
                            <a:effectLst/>
                            <a:latin typeface="Cambria Math" panose="02040503050406030204" pitchFamily="18" charset="0"/>
                            <a:cs typeface="Times New Roman" panose="02020603050405020304" pitchFamily="18" charset="0"/>
                          </a:rPr>
                          <m:t>2</m:t>
                        </m:r>
                      </m:sub>
                    </m:sSub>
                  </m:oMath>
                </a14:m>
                <a:r>
                  <a:rPr lang="zh-CN" altLang="zh-CN" sz="2400" dirty="0"/>
                  <a:t>且都是关系</a:t>
                </a:r>
                <a:r>
                  <a:rPr lang="en-US" altLang="zh-CN" sz="2400" dirty="0"/>
                  <a:t>R</a:t>
                </a:r>
                <a:r>
                  <a:rPr lang="zh-CN" altLang="zh-CN" sz="2400" dirty="0"/>
                  <a:t>的属性</a:t>
                </a:r>
                <a:endParaRPr kumimoji="1" lang="en-US" altLang="zh-CN" sz="2400" dirty="0"/>
              </a:p>
              <a:p>
                <a:pPr>
                  <a:lnSpc>
                    <a:spcPct val="150000"/>
                  </a:lnSpc>
                </a:pPr>
                <a:endParaRPr lang="en-US" altLang="zh-CN" sz="3200" dirty="0"/>
              </a:p>
              <a:p>
                <a:endParaRPr kumimoji="1" lang="zh-CN" altLang="en-US" dirty="0"/>
              </a:p>
            </p:txBody>
          </p:sp>
        </mc:Choice>
        <mc:Fallback xmlns="">
          <p:sp>
            <p:nvSpPr>
              <p:cNvPr id="4" name="内容占位符 3">
                <a:extLst>
                  <a:ext uri="{FF2B5EF4-FFF2-40B4-BE49-F238E27FC236}">
                    <a16:creationId xmlns:a16="http://schemas.microsoft.com/office/drawing/2014/main" id="{864A924D-CE04-27E5-A993-6CA6BD8506CA}"/>
                  </a:ext>
                </a:extLst>
              </p:cNvPr>
              <p:cNvSpPr>
                <a:spLocks noGrp="1" noRot="1" noChangeAspect="1" noMove="1" noResize="1" noEditPoints="1" noAdjustHandles="1" noChangeArrowheads="1" noChangeShapeType="1" noTextEdit="1"/>
              </p:cNvSpPr>
              <p:nvPr>
                <p:ph idx="1"/>
              </p:nvPr>
            </p:nvSpPr>
            <p:spPr>
              <a:xfrm>
                <a:off x="548640" y="1134000"/>
                <a:ext cx="11333548" cy="5005387"/>
              </a:xfrm>
              <a:blipFill>
                <a:blip r:embed="rId3"/>
                <a:stretch>
                  <a:fillRect l="-560"/>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01427A7B-6AF2-5578-6B33-587394EE7B36}"/>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37053562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0FF52922-3D42-4412-80D4-E8608AC407DF}"/>
              </a:ext>
            </a:extLst>
          </p:cNvPr>
          <p:cNvSpPr/>
          <p:nvPr/>
        </p:nvSpPr>
        <p:spPr>
          <a:xfrm>
            <a:off x="1445623" y="1680751"/>
            <a:ext cx="9109165" cy="437999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41</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lang="zh-CN" altLang="en-US" dirty="0"/>
              <a:t>步骤</a:t>
            </a:r>
            <a:r>
              <a:rPr lang="en-US" altLang="zh-CN" dirty="0"/>
              <a:t>1</a:t>
            </a:r>
            <a:r>
              <a:rPr lang="zh-CN" altLang="en-US" dirty="0"/>
              <a:t> 分解复合的选择谓词</a:t>
            </a:r>
            <a:endParaRPr kumimoji="1" lang="zh-CN" altLang="en-US" dirty="0"/>
          </a:p>
        </p:txBody>
      </p:sp>
      <p:sp>
        <p:nvSpPr>
          <p:cNvPr id="4" name="内容占位符 3">
            <a:extLst>
              <a:ext uri="{FF2B5EF4-FFF2-40B4-BE49-F238E27FC236}">
                <a16:creationId xmlns:a16="http://schemas.microsoft.com/office/drawing/2014/main" id="{864A924D-CE04-27E5-A993-6CA6BD8506CA}"/>
              </a:ext>
            </a:extLst>
          </p:cNvPr>
          <p:cNvSpPr>
            <a:spLocks noGrp="1"/>
          </p:cNvSpPr>
          <p:nvPr>
            <p:ph idx="1"/>
          </p:nvPr>
        </p:nvSpPr>
        <p:spPr/>
        <p:txBody>
          <a:bodyPr/>
          <a:lstStyle/>
          <a:p>
            <a:pPr marL="0" indent="0">
              <a:buNone/>
            </a:pPr>
            <a:endParaRPr lang="en-US" altLang="zh-CN" dirty="0"/>
          </a:p>
          <a:p>
            <a:endParaRPr kumimoji="1" lang="zh-CN" altLang="en-US" dirty="0"/>
          </a:p>
        </p:txBody>
      </p:sp>
      <p:sp>
        <p:nvSpPr>
          <p:cNvPr id="9" name="页脚占位符 8">
            <a:extLst>
              <a:ext uri="{FF2B5EF4-FFF2-40B4-BE49-F238E27FC236}">
                <a16:creationId xmlns:a16="http://schemas.microsoft.com/office/drawing/2014/main" id="{8EC5ADD2-8449-CAD1-ECA4-A7C04D34BFD0}"/>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5" name="图片 4">
            <a:extLst>
              <a:ext uri="{FF2B5EF4-FFF2-40B4-BE49-F238E27FC236}">
                <a16:creationId xmlns:a16="http://schemas.microsoft.com/office/drawing/2014/main" id="{67E432FA-2E58-01E9-5DA8-3C808B7B9A42}"/>
              </a:ext>
            </a:extLst>
          </p:cNvPr>
          <p:cNvPicPr>
            <a:picLocks noChangeAspect="1"/>
          </p:cNvPicPr>
          <p:nvPr/>
        </p:nvPicPr>
        <p:blipFill>
          <a:blip r:embed="rId3"/>
          <a:stretch>
            <a:fillRect/>
          </a:stretch>
        </p:blipFill>
        <p:spPr>
          <a:xfrm>
            <a:off x="1738534" y="2085617"/>
            <a:ext cx="4426348" cy="2836043"/>
          </a:xfrm>
          <a:prstGeom prst="rect">
            <a:avLst/>
          </a:prstGeom>
        </p:spPr>
      </p:pic>
      <p:sp>
        <p:nvSpPr>
          <p:cNvPr id="6" name="矩形 5">
            <a:extLst>
              <a:ext uri="{FF2B5EF4-FFF2-40B4-BE49-F238E27FC236}">
                <a16:creationId xmlns:a16="http://schemas.microsoft.com/office/drawing/2014/main" id="{1F3BE540-FD58-FFC4-9C14-8AA7033476DD}"/>
              </a:ext>
            </a:extLst>
          </p:cNvPr>
          <p:cNvSpPr/>
          <p:nvPr/>
        </p:nvSpPr>
        <p:spPr>
          <a:xfrm>
            <a:off x="2670005" y="5324559"/>
            <a:ext cx="3353240" cy="400110"/>
          </a:xfrm>
          <a:prstGeom prst="rect">
            <a:avLst/>
          </a:prstGeom>
        </p:spPr>
        <p:txBody>
          <a:bodyPr wrap="square">
            <a:spAutoFit/>
          </a:bodyPr>
          <a:lstStyle/>
          <a:p>
            <a:r>
              <a:rPr lang="zh-CN" altLang="en-US" sz="2000" b="1" dirty="0">
                <a:latin typeface="+mj-ea"/>
                <a:ea typeface="+mj-ea"/>
              </a:rPr>
              <a:t>最初的逻辑计划</a:t>
            </a:r>
            <a:endParaRPr lang="en-US" altLang="zh-CN" sz="2000" b="1" dirty="0">
              <a:latin typeface="+mj-ea"/>
              <a:ea typeface="+mj-ea"/>
            </a:endParaRPr>
          </a:p>
        </p:txBody>
      </p:sp>
      <p:sp>
        <p:nvSpPr>
          <p:cNvPr id="7" name="右箭头 6">
            <a:extLst>
              <a:ext uri="{FF2B5EF4-FFF2-40B4-BE49-F238E27FC236}">
                <a16:creationId xmlns:a16="http://schemas.microsoft.com/office/drawing/2014/main" id="{657E4B59-BA97-FB8F-D3EB-070C7FD8AB48}"/>
              </a:ext>
            </a:extLst>
          </p:cNvPr>
          <p:cNvSpPr/>
          <p:nvPr/>
        </p:nvSpPr>
        <p:spPr bwMode="auto">
          <a:xfrm>
            <a:off x="6524726" y="3187457"/>
            <a:ext cx="502193" cy="48308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8" name="图片 7">
            <a:extLst>
              <a:ext uri="{FF2B5EF4-FFF2-40B4-BE49-F238E27FC236}">
                <a16:creationId xmlns:a16="http://schemas.microsoft.com/office/drawing/2014/main" id="{CC11170D-C3A0-F2C9-3D4A-2FC38262121D}"/>
              </a:ext>
            </a:extLst>
          </p:cNvPr>
          <p:cNvPicPr>
            <a:picLocks noChangeAspect="1"/>
          </p:cNvPicPr>
          <p:nvPr/>
        </p:nvPicPr>
        <p:blipFill>
          <a:blip r:embed="rId4"/>
          <a:stretch>
            <a:fillRect/>
          </a:stretch>
        </p:blipFill>
        <p:spPr>
          <a:xfrm>
            <a:off x="7482634" y="2076908"/>
            <a:ext cx="2812661" cy="2957118"/>
          </a:xfrm>
          <a:prstGeom prst="rect">
            <a:avLst/>
          </a:prstGeom>
        </p:spPr>
      </p:pic>
    </p:spTree>
    <p:extLst>
      <p:ext uri="{BB962C8B-B14F-4D97-AF65-F5344CB8AC3E}">
        <p14:creationId xmlns:p14="http://schemas.microsoft.com/office/powerpoint/2010/main" val="751426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2086980" y="1584959"/>
            <a:ext cx="8035466" cy="400594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42</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lang="zh-CN" altLang="en-US" dirty="0"/>
              <a:t>步骤</a:t>
            </a:r>
            <a:r>
              <a:rPr lang="en-US" altLang="zh-CN" dirty="0"/>
              <a:t>2</a:t>
            </a:r>
            <a:r>
              <a:rPr lang="zh-CN" altLang="en-US" dirty="0"/>
              <a:t> 下推选择运算</a:t>
            </a:r>
            <a:endParaRPr kumimoji="1" lang="zh-CN" altLang="en-US" dirty="0"/>
          </a:p>
        </p:txBody>
      </p:sp>
      <p:sp>
        <p:nvSpPr>
          <p:cNvPr id="4" name="页脚占位符 3">
            <a:extLst>
              <a:ext uri="{FF2B5EF4-FFF2-40B4-BE49-F238E27FC236}">
                <a16:creationId xmlns:a16="http://schemas.microsoft.com/office/drawing/2014/main" id="{BAA2A790-3262-7161-97A0-683A18C4672C}"/>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5" name="右箭头 4">
            <a:extLst>
              <a:ext uri="{FF2B5EF4-FFF2-40B4-BE49-F238E27FC236}">
                <a16:creationId xmlns:a16="http://schemas.microsoft.com/office/drawing/2014/main" id="{259BDD62-3820-E445-3234-2FD801C98672}"/>
              </a:ext>
            </a:extLst>
          </p:cNvPr>
          <p:cNvSpPr/>
          <p:nvPr/>
        </p:nvSpPr>
        <p:spPr bwMode="auto">
          <a:xfrm>
            <a:off x="5705561" y="3187457"/>
            <a:ext cx="502193" cy="48308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6" name="图片 5">
            <a:extLst>
              <a:ext uri="{FF2B5EF4-FFF2-40B4-BE49-F238E27FC236}">
                <a16:creationId xmlns:a16="http://schemas.microsoft.com/office/drawing/2014/main" id="{AFC4B3C2-5563-093F-67E5-527F2D713C43}"/>
              </a:ext>
            </a:extLst>
          </p:cNvPr>
          <p:cNvPicPr>
            <a:picLocks noChangeAspect="1"/>
          </p:cNvPicPr>
          <p:nvPr/>
        </p:nvPicPr>
        <p:blipFill>
          <a:blip r:embed="rId3"/>
          <a:stretch>
            <a:fillRect/>
          </a:stretch>
        </p:blipFill>
        <p:spPr>
          <a:xfrm>
            <a:off x="2313569" y="2040772"/>
            <a:ext cx="2998016" cy="3151992"/>
          </a:xfrm>
          <a:prstGeom prst="rect">
            <a:avLst/>
          </a:prstGeom>
        </p:spPr>
      </p:pic>
      <p:pic>
        <p:nvPicPr>
          <p:cNvPr id="7" name="图片 6">
            <a:extLst>
              <a:ext uri="{FF2B5EF4-FFF2-40B4-BE49-F238E27FC236}">
                <a16:creationId xmlns:a16="http://schemas.microsoft.com/office/drawing/2014/main" id="{7896BC52-9036-9F48-615B-A77756C59249}"/>
              </a:ext>
            </a:extLst>
          </p:cNvPr>
          <p:cNvPicPr>
            <a:picLocks noChangeAspect="1"/>
          </p:cNvPicPr>
          <p:nvPr/>
        </p:nvPicPr>
        <p:blipFill>
          <a:blip r:embed="rId4"/>
          <a:stretch>
            <a:fillRect/>
          </a:stretch>
        </p:blipFill>
        <p:spPr>
          <a:xfrm>
            <a:off x="6537146" y="2040772"/>
            <a:ext cx="3396911" cy="3151992"/>
          </a:xfrm>
          <a:prstGeom prst="rect">
            <a:avLst/>
          </a:prstGeom>
        </p:spPr>
      </p:pic>
    </p:spTree>
    <p:extLst>
      <p:ext uri="{BB962C8B-B14F-4D97-AF65-F5344CB8AC3E}">
        <p14:creationId xmlns:p14="http://schemas.microsoft.com/office/powerpoint/2010/main" val="8706906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2086980" y="1584959"/>
            <a:ext cx="8035466" cy="400594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43</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lang="zh-CN" altLang="en-US" dirty="0"/>
              <a:t>步骤</a:t>
            </a:r>
            <a:r>
              <a:rPr lang="en-US" altLang="zh-CN" dirty="0"/>
              <a:t>3</a:t>
            </a:r>
            <a:r>
              <a:rPr lang="zh-CN" altLang="en-US" dirty="0"/>
              <a:t> 将笛卡尔积转换为连接</a:t>
            </a:r>
            <a:endParaRPr kumimoji="1" lang="zh-CN" altLang="en-US" dirty="0"/>
          </a:p>
        </p:txBody>
      </p:sp>
      <p:sp>
        <p:nvSpPr>
          <p:cNvPr id="4" name="页脚占位符 3">
            <a:extLst>
              <a:ext uri="{FF2B5EF4-FFF2-40B4-BE49-F238E27FC236}">
                <a16:creationId xmlns:a16="http://schemas.microsoft.com/office/drawing/2014/main" id="{334AD13A-7C0B-903B-5A08-F46A9D33FE70}"/>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10" name="右箭头 9">
            <a:extLst>
              <a:ext uri="{FF2B5EF4-FFF2-40B4-BE49-F238E27FC236}">
                <a16:creationId xmlns:a16="http://schemas.microsoft.com/office/drawing/2014/main" id="{7F01F1DD-A29C-92A1-3CC7-25F6ED636EAD}"/>
              </a:ext>
            </a:extLst>
          </p:cNvPr>
          <p:cNvSpPr/>
          <p:nvPr/>
        </p:nvSpPr>
        <p:spPr bwMode="auto">
          <a:xfrm>
            <a:off x="6019079" y="3185936"/>
            <a:ext cx="502193" cy="48308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11" name="图片 10">
            <a:extLst>
              <a:ext uri="{FF2B5EF4-FFF2-40B4-BE49-F238E27FC236}">
                <a16:creationId xmlns:a16="http://schemas.microsoft.com/office/drawing/2014/main" id="{DA504635-FD56-560C-FF2F-F3927796F2E6}"/>
              </a:ext>
            </a:extLst>
          </p:cNvPr>
          <p:cNvPicPr>
            <a:picLocks noChangeAspect="1"/>
          </p:cNvPicPr>
          <p:nvPr/>
        </p:nvPicPr>
        <p:blipFill>
          <a:blip r:embed="rId3"/>
          <a:stretch>
            <a:fillRect/>
          </a:stretch>
        </p:blipFill>
        <p:spPr>
          <a:xfrm>
            <a:off x="2359962" y="2122252"/>
            <a:ext cx="3305660" cy="3067320"/>
          </a:xfrm>
          <a:prstGeom prst="rect">
            <a:avLst/>
          </a:prstGeom>
        </p:spPr>
      </p:pic>
      <p:pic>
        <p:nvPicPr>
          <p:cNvPr id="12" name="图片 11">
            <a:extLst>
              <a:ext uri="{FF2B5EF4-FFF2-40B4-BE49-F238E27FC236}">
                <a16:creationId xmlns:a16="http://schemas.microsoft.com/office/drawing/2014/main" id="{59E25190-E3A4-291A-ECA7-FFE7C376900D}"/>
              </a:ext>
            </a:extLst>
          </p:cNvPr>
          <p:cNvPicPr>
            <a:picLocks noChangeAspect="1"/>
          </p:cNvPicPr>
          <p:nvPr/>
        </p:nvPicPr>
        <p:blipFill>
          <a:blip r:embed="rId4"/>
          <a:stretch>
            <a:fillRect/>
          </a:stretch>
        </p:blipFill>
        <p:spPr>
          <a:xfrm>
            <a:off x="6835343" y="2122253"/>
            <a:ext cx="3072518" cy="3067320"/>
          </a:xfrm>
          <a:prstGeom prst="rect">
            <a:avLst/>
          </a:prstGeom>
        </p:spPr>
      </p:pic>
    </p:spTree>
    <p:extLst>
      <p:ext uri="{BB962C8B-B14F-4D97-AF65-F5344CB8AC3E}">
        <p14:creationId xmlns:p14="http://schemas.microsoft.com/office/powerpoint/2010/main" val="23579495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0FF52922-3D42-4412-80D4-E8608AC407DF}"/>
              </a:ext>
            </a:extLst>
          </p:cNvPr>
          <p:cNvSpPr/>
          <p:nvPr/>
        </p:nvSpPr>
        <p:spPr>
          <a:xfrm>
            <a:off x="2086980" y="1584959"/>
            <a:ext cx="8035466" cy="400594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44</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lang="zh-CN" altLang="en-US" dirty="0"/>
              <a:t>步骤</a:t>
            </a:r>
            <a:r>
              <a:rPr lang="en-US" altLang="zh-CN" dirty="0"/>
              <a:t>4</a:t>
            </a:r>
            <a:r>
              <a:rPr lang="zh-CN" altLang="en-US" dirty="0"/>
              <a:t> 引入以及下推投影运算</a:t>
            </a:r>
            <a:endParaRPr kumimoji="1" lang="zh-CN" altLang="en-US" dirty="0"/>
          </a:p>
        </p:txBody>
      </p:sp>
      <p:sp>
        <p:nvSpPr>
          <p:cNvPr id="4" name="页脚占位符 3">
            <a:extLst>
              <a:ext uri="{FF2B5EF4-FFF2-40B4-BE49-F238E27FC236}">
                <a16:creationId xmlns:a16="http://schemas.microsoft.com/office/drawing/2014/main" id="{2A39A915-C106-82AE-B88C-8DBD44CEA936}"/>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右箭头 5">
            <a:extLst>
              <a:ext uri="{FF2B5EF4-FFF2-40B4-BE49-F238E27FC236}">
                <a16:creationId xmlns:a16="http://schemas.microsoft.com/office/drawing/2014/main" id="{2324CF51-E1D7-C086-DA5C-6BC3A89E1A38}"/>
              </a:ext>
            </a:extLst>
          </p:cNvPr>
          <p:cNvSpPr/>
          <p:nvPr/>
        </p:nvSpPr>
        <p:spPr bwMode="auto">
          <a:xfrm>
            <a:off x="5878285" y="3187457"/>
            <a:ext cx="502193" cy="483085"/>
          </a:xfrm>
          <a:prstGeom prst="rightArrow">
            <a:avLst/>
          </a:prstGeom>
          <a:noFill/>
          <a:ln>
            <a:solidFill>
              <a:schemeClr val="tx1">
                <a:lumMod val="50000"/>
                <a:lumOff val="50000"/>
              </a:schemeClr>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pic>
        <p:nvPicPr>
          <p:cNvPr id="7" name="图片 6">
            <a:extLst>
              <a:ext uri="{FF2B5EF4-FFF2-40B4-BE49-F238E27FC236}">
                <a16:creationId xmlns:a16="http://schemas.microsoft.com/office/drawing/2014/main" id="{4ACC968F-BDF3-772C-914F-65AA23F8A2F9}"/>
              </a:ext>
            </a:extLst>
          </p:cNvPr>
          <p:cNvPicPr>
            <a:picLocks noChangeAspect="1"/>
          </p:cNvPicPr>
          <p:nvPr/>
        </p:nvPicPr>
        <p:blipFill>
          <a:blip r:embed="rId3"/>
          <a:stretch>
            <a:fillRect/>
          </a:stretch>
        </p:blipFill>
        <p:spPr>
          <a:xfrm>
            <a:off x="2315491" y="2129104"/>
            <a:ext cx="2998388" cy="2993315"/>
          </a:xfrm>
          <a:prstGeom prst="rect">
            <a:avLst/>
          </a:prstGeom>
        </p:spPr>
      </p:pic>
      <p:pic>
        <p:nvPicPr>
          <p:cNvPr id="8" name="图片 7">
            <a:extLst>
              <a:ext uri="{FF2B5EF4-FFF2-40B4-BE49-F238E27FC236}">
                <a16:creationId xmlns:a16="http://schemas.microsoft.com/office/drawing/2014/main" id="{400BB41B-39DB-D759-CB76-3F0DF86CA69B}"/>
              </a:ext>
            </a:extLst>
          </p:cNvPr>
          <p:cNvPicPr>
            <a:picLocks noChangeAspect="1"/>
          </p:cNvPicPr>
          <p:nvPr/>
        </p:nvPicPr>
        <p:blipFill>
          <a:blip r:embed="rId4"/>
          <a:stretch>
            <a:fillRect/>
          </a:stretch>
        </p:blipFill>
        <p:spPr>
          <a:xfrm>
            <a:off x="6830848" y="2229392"/>
            <a:ext cx="3163778" cy="2690287"/>
          </a:xfrm>
          <a:prstGeom prst="rect">
            <a:avLst/>
          </a:prstGeom>
        </p:spPr>
      </p:pic>
    </p:spTree>
    <p:extLst>
      <p:ext uri="{BB962C8B-B14F-4D97-AF65-F5344CB8AC3E}">
        <p14:creationId xmlns:p14="http://schemas.microsoft.com/office/powerpoint/2010/main" val="18609926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45</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lang="zh-CN" altLang="en-US" dirty="0"/>
              <a:t>其他重写策略：子查询转为连接</a:t>
            </a:r>
            <a:endParaRPr kumimoji="1" lang="zh-CN" altLang="en-US" dirty="0"/>
          </a:p>
        </p:txBody>
      </p:sp>
      <p:sp>
        <p:nvSpPr>
          <p:cNvPr id="4" name="页脚占位符 3">
            <a:extLst>
              <a:ext uri="{FF2B5EF4-FFF2-40B4-BE49-F238E27FC236}">
                <a16:creationId xmlns:a16="http://schemas.microsoft.com/office/drawing/2014/main" id="{A489D08B-75FC-C196-D765-D432FF5060F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文本框 5">
            <a:extLst>
              <a:ext uri="{FF2B5EF4-FFF2-40B4-BE49-F238E27FC236}">
                <a16:creationId xmlns:a16="http://schemas.microsoft.com/office/drawing/2014/main" id="{8027EFED-F66E-55E0-2EB6-A6F669CEC347}"/>
              </a:ext>
            </a:extLst>
          </p:cNvPr>
          <p:cNvSpPr txBox="1"/>
          <p:nvPr/>
        </p:nvSpPr>
        <p:spPr>
          <a:xfrm>
            <a:off x="1551209" y="2852715"/>
            <a:ext cx="5247248" cy="2195473"/>
          </a:xfrm>
          <a:prstGeom prst="rect">
            <a:avLst/>
          </a:prstGeom>
          <a:noFill/>
        </p:spPr>
        <p:txBody>
          <a:bodyPr wrap="square">
            <a:spAutoFit/>
          </a:bodyPr>
          <a:lstStyle/>
          <a:p>
            <a:pPr latinLnBrk="1">
              <a:spcBef>
                <a:spcPts val="200"/>
              </a:spcBef>
              <a:spcAft>
                <a:spcPts val="200"/>
              </a:spcAft>
            </a:pPr>
            <a:r>
              <a:rPr lang="en-US" altLang="zh-CN" sz="2000" b="1" kern="100" spc="-20" dirty="0">
                <a:solidFill>
                  <a:srgbClr val="000000"/>
                </a:solidFill>
                <a:effectLst/>
                <a:latin typeface="+mj-ea"/>
                <a:ea typeface="+mj-ea"/>
                <a:cs typeface="Huawei Sans"/>
              </a:rPr>
              <a:t>SELECT</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Sno</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Sname</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Sdept</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FROM</a:t>
            </a:r>
            <a:r>
              <a:rPr lang="en-US" altLang="zh-CN" sz="2000" kern="100" spc="-20" dirty="0">
                <a:solidFill>
                  <a:srgbClr val="000000"/>
                </a:solidFill>
                <a:effectLst/>
                <a:latin typeface="+mj-ea"/>
                <a:ea typeface="+mj-ea"/>
                <a:cs typeface="Huawei Sans"/>
              </a:rPr>
              <a:t> Student</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WHERE</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Sno</a:t>
            </a:r>
            <a:r>
              <a:rPr lang="en-US" altLang="zh-CN" sz="2000" kern="100" spc="-20" dirty="0">
                <a:solidFill>
                  <a:srgbClr val="000000"/>
                </a:solidFill>
                <a:effectLst/>
                <a:latin typeface="+mj-ea"/>
                <a:ea typeface="+mj-ea"/>
                <a:cs typeface="Huawei Sans"/>
              </a:rPr>
              <a:t> </a:t>
            </a:r>
            <a:r>
              <a:rPr lang="en-US" altLang="zh-CN" sz="2000" b="1" kern="100" spc="-20" dirty="0">
                <a:solidFill>
                  <a:srgbClr val="000000"/>
                </a:solidFill>
                <a:effectLst/>
                <a:latin typeface="+mj-ea"/>
                <a:ea typeface="+mj-ea"/>
                <a:cs typeface="Huawei Sans"/>
              </a:rPr>
              <a:t>IN</a:t>
            </a:r>
            <a:endParaRPr lang="zh-CN" altLang="zh-CN" sz="2000" b="1" kern="100" spc="-20" dirty="0">
              <a:effectLst/>
              <a:latin typeface="+mj-ea"/>
              <a:ea typeface="+mj-ea"/>
              <a:cs typeface="Huawei Sans"/>
            </a:endParaRPr>
          </a:p>
          <a:p>
            <a:pPr indent="266700" latinLnBrk="1">
              <a:spcBef>
                <a:spcPts val="200"/>
              </a:spcBef>
              <a:spcAft>
                <a:spcPts val="200"/>
              </a:spcAft>
            </a:pPr>
            <a:r>
              <a:rPr lang="en-US" altLang="zh-CN" sz="2000" kern="100" spc="-20" dirty="0">
                <a:solidFill>
                  <a:srgbClr val="000000"/>
                </a:solidFill>
                <a:effectLst/>
                <a:latin typeface="+mj-ea"/>
                <a:ea typeface="+mj-ea"/>
                <a:cs typeface="Huawei Sans"/>
              </a:rPr>
              <a:t>(</a:t>
            </a:r>
            <a:r>
              <a:rPr lang="en-US" altLang="zh-CN" sz="2000" b="1" kern="100" spc="-20" dirty="0">
                <a:solidFill>
                  <a:srgbClr val="000000"/>
                </a:solidFill>
                <a:effectLst/>
                <a:latin typeface="+mj-ea"/>
                <a:ea typeface="+mj-ea"/>
                <a:cs typeface="Huawei Sans"/>
              </a:rPr>
              <a:t>SELECT</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Sno</a:t>
            </a:r>
            <a:endParaRPr lang="zh-CN" altLang="zh-CN" sz="2000" kern="100" spc="-20" dirty="0">
              <a:effectLst/>
              <a:latin typeface="+mj-ea"/>
              <a:ea typeface="+mj-ea"/>
              <a:cs typeface="Huawei Sans"/>
            </a:endParaRPr>
          </a:p>
          <a:p>
            <a:pPr indent="266700" latinLnBrk="1">
              <a:spcBef>
                <a:spcPts val="200"/>
              </a:spcBef>
              <a:spcAft>
                <a:spcPts val="200"/>
              </a:spcAft>
            </a:pPr>
            <a:r>
              <a:rPr lang="en-US" altLang="zh-CN" sz="2000" b="1" kern="100" spc="-20" dirty="0">
                <a:solidFill>
                  <a:srgbClr val="000000"/>
                </a:solidFill>
                <a:effectLst/>
                <a:latin typeface="+mj-ea"/>
                <a:ea typeface="+mj-ea"/>
                <a:cs typeface="Huawei Sans"/>
              </a:rPr>
              <a:t>FROM</a:t>
            </a:r>
            <a:r>
              <a:rPr lang="en-US" altLang="zh-CN" sz="2000" kern="100" spc="-20" dirty="0">
                <a:solidFill>
                  <a:srgbClr val="000000"/>
                </a:solidFill>
                <a:effectLst/>
                <a:latin typeface="+mj-ea"/>
                <a:ea typeface="+mj-ea"/>
                <a:cs typeface="Huawei Sans"/>
              </a:rPr>
              <a:t> SC</a:t>
            </a:r>
            <a:endParaRPr lang="zh-CN" altLang="zh-CN" sz="2000" kern="100" spc="-20" dirty="0">
              <a:effectLst/>
              <a:latin typeface="+mj-ea"/>
              <a:ea typeface="+mj-ea"/>
              <a:cs typeface="Huawei Sans"/>
            </a:endParaRPr>
          </a:p>
          <a:p>
            <a:pPr indent="266700" latinLnBrk="1">
              <a:spcBef>
                <a:spcPts val="200"/>
              </a:spcBef>
              <a:spcAft>
                <a:spcPts val="200"/>
              </a:spcAft>
            </a:pPr>
            <a:r>
              <a:rPr lang="en-US" altLang="zh-CN" sz="2000" b="1" kern="100" spc="-20" dirty="0">
                <a:solidFill>
                  <a:srgbClr val="000000"/>
                </a:solidFill>
                <a:effectLst/>
                <a:latin typeface="+mj-ea"/>
                <a:ea typeface="+mj-ea"/>
                <a:cs typeface="Huawei Sans"/>
              </a:rPr>
              <a:t>WHERE</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Cno</a:t>
            </a:r>
            <a:r>
              <a:rPr lang="en-US" altLang="zh-CN" sz="2000" kern="100" spc="-20" dirty="0">
                <a:solidFill>
                  <a:srgbClr val="000000"/>
                </a:solidFill>
                <a:effectLst/>
                <a:latin typeface="+mj-ea"/>
                <a:ea typeface="+mj-ea"/>
                <a:cs typeface="Huawei Sans"/>
              </a:rPr>
              <a:t>="1");</a:t>
            </a:r>
            <a:endParaRPr lang="zh-CN" altLang="zh-CN" sz="2000" kern="100" spc="-20" dirty="0">
              <a:effectLst/>
              <a:latin typeface="+mj-ea"/>
              <a:ea typeface="+mj-ea"/>
              <a:cs typeface="Huawei Sans"/>
            </a:endParaRPr>
          </a:p>
        </p:txBody>
      </p:sp>
      <p:sp>
        <p:nvSpPr>
          <p:cNvPr id="8" name="文本框 7">
            <a:extLst>
              <a:ext uri="{FF2B5EF4-FFF2-40B4-BE49-F238E27FC236}">
                <a16:creationId xmlns:a16="http://schemas.microsoft.com/office/drawing/2014/main" id="{EAEE9224-B705-DEA2-A5FB-716A2A05319C}"/>
              </a:ext>
            </a:extLst>
          </p:cNvPr>
          <p:cNvSpPr txBox="1"/>
          <p:nvPr/>
        </p:nvSpPr>
        <p:spPr>
          <a:xfrm>
            <a:off x="6835320" y="3222016"/>
            <a:ext cx="6447247" cy="1597974"/>
          </a:xfrm>
          <a:prstGeom prst="rect">
            <a:avLst/>
          </a:prstGeom>
          <a:noFill/>
        </p:spPr>
        <p:txBody>
          <a:bodyPr wrap="square" bIns="216000">
            <a:spAutoFit/>
          </a:bodyPr>
          <a:lstStyle/>
          <a:p>
            <a:pPr latinLnBrk="1">
              <a:spcBef>
                <a:spcPts val="200"/>
              </a:spcBef>
              <a:spcAft>
                <a:spcPts val="200"/>
              </a:spcAft>
            </a:pPr>
            <a:r>
              <a:rPr lang="en-US" altLang="zh-CN" sz="2000" b="1" kern="100" spc="-20" dirty="0">
                <a:solidFill>
                  <a:srgbClr val="000000"/>
                </a:solidFill>
                <a:effectLst/>
                <a:latin typeface="+mj-ea"/>
                <a:ea typeface="+mj-ea"/>
                <a:cs typeface="Huawei Sans"/>
              </a:rPr>
              <a:t>SELECT</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Student.Sno,Sname,Sdept</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FROM</a:t>
            </a:r>
            <a:r>
              <a:rPr lang="en-US" altLang="zh-CN" sz="2000" kern="100" spc="-20" dirty="0">
                <a:solidFill>
                  <a:srgbClr val="000000"/>
                </a:solidFill>
                <a:effectLst/>
                <a:latin typeface="+mj-ea"/>
                <a:ea typeface="+mj-ea"/>
                <a:cs typeface="Huawei Sans"/>
              </a:rPr>
              <a:t> Student, SC</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WHERE</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Student.Sno</a:t>
            </a:r>
            <a:r>
              <a:rPr lang="en-US" altLang="zh-CN" sz="2000" kern="100" spc="-20" dirty="0">
                <a:solidFill>
                  <a:srgbClr val="000000"/>
                </a:solidFill>
                <a:effectLst/>
                <a:latin typeface="+mj-ea"/>
                <a:ea typeface="+mj-ea"/>
                <a:cs typeface="Huawei Sans"/>
              </a:rPr>
              <a:t>=</a:t>
            </a:r>
            <a:r>
              <a:rPr lang="en-US" altLang="zh-CN" sz="2000" kern="100" spc="-20" dirty="0" err="1">
                <a:solidFill>
                  <a:srgbClr val="000000"/>
                </a:solidFill>
                <a:effectLst/>
                <a:latin typeface="+mj-ea"/>
                <a:ea typeface="+mj-ea"/>
                <a:cs typeface="Huawei Sans"/>
              </a:rPr>
              <a:t>SC.Sno</a:t>
            </a:r>
            <a:r>
              <a:rPr lang="en-US" altLang="zh-CN" sz="2000" kern="100" spc="-20" dirty="0">
                <a:solidFill>
                  <a:srgbClr val="000000"/>
                </a:solidFill>
                <a:effectLst/>
                <a:latin typeface="+mj-ea"/>
                <a:ea typeface="+mj-ea"/>
                <a:cs typeface="Huawei Sans"/>
              </a:rPr>
              <a:t> </a:t>
            </a:r>
            <a:br>
              <a:rPr lang="en-US" altLang="zh-CN" sz="2000" kern="100" spc="-20" dirty="0">
                <a:solidFill>
                  <a:srgbClr val="000000"/>
                </a:solidFill>
                <a:effectLst/>
                <a:latin typeface="+mj-ea"/>
                <a:ea typeface="+mj-ea"/>
                <a:cs typeface="Huawei Sans"/>
              </a:rPr>
            </a:br>
            <a:r>
              <a:rPr lang="zh-CN" altLang="en-US" sz="2000" kern="100" spc="-20" dirty="0">
                <a:solidFill>
                  <a:srgbClr val="000000"/>
                </a:solidFill>
                <a:effectLst/>
                <a:latin typeface="+mj-ea"/>
                <a:ea typeface="+mj-ea"/>
                <a:cs typeface="Huawei Sans"/>
              </a:rPr>
              <a:t>      </a:t>
            </a:r>
            <a:r>
              <a:rPr lang="en-US" altLang="zh-CN" sz="2000" b="1" kern="100" spc="-20" dirty="0">
                <a:solidFill>
                  <a:srgbClr val="000000"/>
                </a:solidFill>
                <a:effectLst/>
                <a:latin typeface="+mj-ea"/>
                <a:ea typeface="+mj-ea"/>
                <a:cs typeface="Huawei Sans"/>
              </a:rPr>
              <a:t>AND</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Cno</a:t>
            </a:r>
            <a:r>
              <a:rPr lang="en-US" altLang="zh-CN" sz="2000" kern="100" spc="-20" dirty="0">
                <a:solidFill>
                  <a:srgbClr val="000000"/>
                </a:solidFill>
                <a:effectLst/>
                <a:latin typeface="+mj-ea"/>
                <a:ea typeface="+mj-ea"/>
                <a:cs typeface="Huawei Sans"/>
              </a:rPr>
              <a:t>="1";</a:t>
            </a:r>
            <a:endParaRPr lang="zh-CN" altLang="zh-CN" sz="2000" kern="100" spc="-20" dirty="0">
              <a:effectLst/>
              <a:latin typeface="+mj-ea"/>
              <a:ea typeface="+mj-ea"/>
              <a:cs typeface="Huawei Sans"/>
            </a:endParaRPr>
          </a:p>
        </p:txBody>
      </p:sp>
      <p:sp>
        <p:nvSpPr>
          <p:cNvPr id="9" name="右箭头 8">
            <a:extLst>
              <a:ext uri="{FF2B5EF4-FFF2-40B4-BE49-F238E27FC236}">
                <a16:creationId xmlns:a16="http://schemas.microsoft.com/office/drawing/2014/main" id="{D671DABD-4D7F-FB83-9D7B-7403BD9FD6F1}"/>
              </a:ext>
            </a:extLst>
          </p:cNvPr>
          <p:cNvSpPr/>
          <p:nvPr/>
        </p:nvSpPr>
        <p:spPr bwMode="auto">
          <a:xfrm>
            <a:off x="5854010" y="3635122"/>
            <a:ext cx="502193" cy="483085"/>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矩形 9">
            <a:extLst>
              <a:ext uri="{FF2B5EF4-FFF2-40B4-BE49-F238E27FC236}">
                <a16:creationId xmlns:a16="http://schemas.microsoft.com/office/drawing/2014/main" id="{1B738281-9791-D85A-C36E-FA534BE625E3}"/>
              </a:ext>
            </a:extLst>
          </p:cNvPr>
          <p:cNvSpPr/>
          <p:nvPr/>
        </p:nvSpPr>
        <p:spPr bwMode="auto">
          <a:xfrm>
            <a:off x="1046718" y="2483385"/>
            <a:ext cx="4518058" cy="2934137"/>
          </a:xfrm>
          <a:prstGeom prst="rect">
            <a:avLst/>
          </a:prstGeom>
          <a:noFill/>
          <a:ln w="3175"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1" name="矩形 10">
            <a:extLst>
              <a:ext uri="{FF2B5EF4-FFF2-40B4-BE49-F238E27FC236}">
                <a16:creationId xmlns:a16="http://schemas.microsoft.com/office/drawing/2014/main" id="{B67C8A4C-1A3F-5DA9-5FCF-0B2C6CE638B3}"/>
              </a:ext>
            </a:extLst>
          </p:cNvPr>
          <p:cNvSpPr/>
          <p:nvPr/>
        </p:nvSpPr>
        <p:spPr bwMode="auto">
          <a:xfrm>
            <a:off x="6645438" y="2468368"/>
            <a:ext cx="4644317" cy="2934137"/>
          </a:xfrm>
          <a:prstGeom prst="rect">
            <a:avLst/>
          </a:prstGeom>
          <a:noFill/>
          <a:ln w="3175"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4" name="文本框 13">
            <a:extLst>
              <a:ext uri="{FF2B5EF4-FFF2-40B4-BE49-F238E27FC236}">
                <a16:creationId xmlns:a16="http://schemas.microsoft.com/office/drawing/2014/main" id="{E41B5490-B5D7-1928-994D-BA2CA0E77877}"/>
              </a:ext>
            </a:extLst>
          </p:cNvPr>
          <p:cNvSpPr txBox="1"/>
          <p:nvPr/>
        </p:nvSpPr>
        <p:spPr>
          <a:xfrm>
            <a:off x="1245326" y="1455495"/>
            <a:ext cx="9196251" cy="400110"/>
          </a:xfrm>
          <a:prstGeom prst="rect">
            <a:avLst/>
          </a:prstGeom>
          <a:solidFill>
            <a:srgbClr val="701988"/>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zh-CN" sz="2000" kern="100" dirty="0">
                <a:solidFill>
                  <a:schemeClr val="bg1"/>
                </a:solidFill>
                <a:latin typeface="+mj-ea"/>
                <a:ea typeface="+mj-ea"/>
                <a:cs typeface="Times New Roman" panose="02020603050405020304" pitchFamily="18" charset="0"/>
              </a:rPr>
              <a:t>查询选修了</a:t>
            </a:r>
            <a:r>
              <a:rPr lang="en-US" altLang="zh-CN" sz="2000" kern="100" dirty="0">
                <a:solidFill>
                  <a:schemeClr val="bg1"/>
                </a:solidFill>
                <a:latin typeface="+mj-ea"/>
                <a:ea typeface="+mj-ea"/>
              </a:rPr>
              <a:t>1</a:t>
            </a:r>
            <a:r>
              <a:rPr lang="zh-CN" altLang="zh-CN" sz="2000" kern="100" dirty="0">
                <a:solidFill>
                  <a:schemeClr val="bg1"/>
                </a:solidFill>
                <a:latin typeface="+mj-ea"/>
                <a:ea typeface="+mj-ea"/>
                <a:cs typeface="Times New Roman" panose="02020603050405020304" pitchFamily="18" charset="0"/>
              </a:rPr>
              <a:t>号课程的学生学号、姓名及所在系</a:t>
            </a:r>
            <a:r>
              <a:rPr lang="zh-CN" altLang="zh-CN" sz="2000" dirty="0">
                <a:solidFill>
                  <a:schemeClr val="bg1"/>
                </a:solidFill>
                <a:latin typeface="+mj-ea"/>
                <a:ea typeface="+mj-ea"/>
              </a:rPr>
              <a:t> </a:t>
            </a:r>
            <a:endParaRPr lang="zh-CN" altLang="en-US" sz="2000" dirty="0">
              <a:solidFill>
                <a:schemeClr val="bg1"/>
              </a:solidFill>
              <a:latin typeface="+mj-ea"/>
              <a:ea typeface="+mj-ea"/>
            </a:endParaRPr>
          </a:p>
        </p:txBody>
      </p:sp>
    </p:spTree>
    <p:extLst>
      <p:ext uri="{BB962C8B-B14F-4D97-AF65-F5344CB8AC3E}">
        <p14:creationId xmlns:p14="http://schemas.microsoft.com/office/powerpoint/2010/main" val="3673939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46</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lang="zh-CN" altLang="en-US" dirty="0"/>
              <a:t>其他重写策略：常数传播</a:t>
            </a:r>
            <a:endParaRPr kumimoji="1" lang="zh-CN" altLang="en-US" dirty="0"/>
          </a:p>
        </p:txBody>
      </p:sp>
      <p:sp>
        <p:nvSpPr>
          <p:cNvPr id="5" name="页脚占位符 4">
            <a:extLst>
              <a:ext uri="{FF2B5EF4-FFF2-40B4-BE49-F238E27FC236}">
                <a16:creationId xmlns:a16="http://schemas.microsoft.com/office/drawing/2014/main" id="{15C80A33-060C-9685-B5AF-D666944C7B2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文本框 5">
            <a:extLst>
              <a:ext uri="{FF2B5EF4-FFF2-40B4-BE49-F238E27FC236}">
                <a16:creationId xmlns:a16="http://schemas.microsoft.com/office/drawing/2014/main" id="{8027EFED-F66E-55E0-2EB6-A6F669CEC347}"/>
              </a:ext>
            </a:extLst>
          </p:cNvPr>
          <p:cNvSpPr txBox="1"/>
          <p:nvPr/>
        </p:nvSpPr>
        <p:spPr>
          <a:xfrm>
            <a:off x="259640" y="3110412"/>
            <a:ext cx="5458264" cy="1426031"/>
          </a:xfrm>
          <a:prstGeom prst="rect">
            <a:avLst/>
          </a:prstGeom>
          <a:noFill/>
        </p:spPr>
        <p:txBody>
          <a:bodyPr wrap="square">
            <a:spAutoFit/>
          </a:bodyPr>
          <a:lstStyle/>
          <a:p>
            <a:pPr latinLnBrk="1">
              <a:spcBef>
                <a:spcPts val="200"/>
              </a:spcBef>
              <a:spcAft>
                <a:spcPts val="200"/>
              </a:spcAft>
            </a:pPr>
            <a:r>
              <a:rPr lang="en-US" altLang="zh-CN" sz="2000" b="1" kern="100" spc="-20" dirty="0">
                <a:solidFill>
                  <a:srgbClr val="000000"/>
                </a:solidFill>
                <a:effectLst/>
                <a:latin typeface="+mj-ea"/>
                <a:ea typeface="+mj-ea"/>
                <a:cs typeface="Huawei Sans"/>
              </a:rPr>
              <a:t>SELECT</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SC.Sno</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Student.Sname</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SC.Grade</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FROM</a:t>
            </a:r>
            <a:r>
              <a:rPr lang="en-US" altLang="zh-CN" sz="2000" kern="100" spc="-20" dirty="0">
                <a:solidFill>
                  <a:srgbClr val="000000"/>
                </a:solidFill>
                <a:effectLst/>
                <a:latin typeface="+mj-ea"/>
                <a:ea typeface="+mj-ea"/>
                <a:cs typeface="Huawei Sans"/>
              </a:rPr>
              <a:t> Student, SC</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WHERE</a:t>
            </a:r>
            <a:r>
              <a:rPr lang="en-US" altLang="zh-CN" sz="2000" b="1" kern="100" spc="-20" dirty="0">
                <a:solidFill>
                  <a:srgbClr val="000000"/>
                </a:solidFill>
                <a:latin typeface="+mj-ea"/>
                <a:ea typeface="+mj-ea"/>
                <a:cs typeface="Huawei Sans"/>
              </a:rPr>
              <a:t> </a:t>
            </a:r>
            <a:r>
              <a:rPr lang="en-US" altLang="zh-CN" sz="2000" kern="100" spc="-20" dirty="0" err="1">
                <a:solidFill>
                  <a:srgbClr val="000000"/>
                </a:solidFill>
                <a:effectLst/>
                <a:latin typeface="+mj-ea"/>
                <a:ea typeface="+mj-ea"/>
                <a:cs typeface="Huawei Sans"/>
              </a:rPr>
              <a:t>Student.Sno</a:t>
            </a:r>
            <a:r>
              <a:rPr lang="en-US" altLang="zh-CN" sz="2000" kern="100" spc="-20" dirty="0">
                <a:solidFill>
                  <a:srgbClr val="000000"/>
                </a:solidFill>
                <a:effectLst/>
                <a:latin typeface="+mj-ea"/>
                <a:ea typeface="+mj-ea"/>
                <a:cs typeface="Huawei Sans"/>
              </a:rPr>
              <a:t>=</a:t>
            </a:r>
            <a:r>
              <a:rPr lang="en-US" altLang="zh-CN" sz="2000" kern="100" spc="-20" dirty="0" err="1">
                <a:solidFill>
                  <a:srgbClr val="000000"/>
                </a:solidFill>
                <a:effectLst/>
                <a:latin typeface="+mj-ea"/>
                <a:ea typeface="+mj-ea"/>
                <a:cs typeface="Huawei Sans"/>
              </a:rPr>
              <a:t>SC.Sno</a:t>
            </a:r>
            <a:r>
              <a:rPr lang="en-US" altLang="zh-CN" sz="2000" kern="100" spc="-20" dirty="0">
                <a:solidFill>
                  <a:srgbClr val="000000"/>
                </a:solidFill>
                <a:effectLst/>
                <a:latin typeface="+mj-ea"/>
                <a:ea typeface="+mj-ea"/>
                <a:cs typeface="Huawei Sans"/>
              </a:rPr>
              <a:t> </a:t>
            </a:r>
            <a:r>
              <a:rPr lang="en-US" altLang="zh-CN" sz="2000" b="1" kern="100" spc="-20" dirty="0">
                <a:solidFill>
                  <a:srgbClr val="000000"/>
                </a:solidFill>
                <a:effectLst/>
                <a:latin typeface="+mj-ea"/>
                <a:ea typeface="+mj-ea"/>
                <a:cs typeface="Huawei Sans"/>
              </a:rPr>
              <a:t>AND</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Student.Sno</a:t>
            </a:r>
            <a:r>
              <a:rPr lang="en-US" altLang="zh-CN" sz="2000" kern="100" spc="-20" dirty="0">
                <a:solidFill>
                  <a:srgbClr val="000000"/>
                </a:solidFill>
                <a:latin typeface="+mj-ea"/>
                <a:ea typeface="+mj-ea"/>
                <a:cs typeface="Huawei Sans"/>
              </a:rPr>
              <a:t>&lt;100</a:t>
            </a:r>
            <a:r>
              <a:rPr lang="en-US" altLang="zh-CN" sz="2000" kern="100" spc="-20" dirty="0">
                <a:solidFill>
                  <a:srgbClr val="000000"/>
                </a:solidFill>
                <a:effectLst/>
                <a:latin typeface="+mj-ea"/>
                <a:ea typeface="+mj-ea"/>
                <a:cs typeface="Huawei Sans"/>
              </a:rPr>
              <a:t>;</a:t>
            </a:r>
            <a:endParaRPr lang="zh-CN" altLang="zh-CN" sz="2000" kern="100" spc="-20" dirty="0">
              <a:effectLst/>
              <a:latin typeface="+mj-ea"/>
              <a:ea typeface="+mj-ea"/>
              <a:cs typeface="Huawei Sans"/>
            </a:endParaRPr>
          </a:p>
        </p:txBody>
      </p:sp>
      <p:sp>
        <p:nvSpPr>
          <p:cNvPr id="8" name="文本框 7">
            <a:extLst>
              <a:ext uri="{FF2B5EF4-FFF2-40B4-BE49-F238E27FC236}">
                <a16:creationId xmlns:a16="http://schemas.microsoft.com/office/drawing/2014/main" id="{EAEE9224-B705-DEA2-A5FB-716A2A05319C}"/>
              </a:ext>
            </a:extLst>
          </p:cNvPr>
          <p:cNvSpPr txBox="1"/>
          <p:nvPr/>
        </p:nvSpPr>
        <p:spPr>
          <a:xfrm>
            <a:off x="6486501" y="3110412"/>
            <a:ext cx="5458264" cy="1785104"/>
          </a:xfrm>
          <a:prstGeom prst="rect">
            <a:avLst/>
          </a:prstGeom>
          <a:noFill/>
        </p:spPr>
        <p:txBody>
          <a:bodyPr wrap="square">
            <a:spAutoFit/>
          </a:bodyPr>
          <a:lstStyle/>
          <a:p>
            <a:pPr latinLnBrk="1">
              <a:spcBef>
                <a:spcPts val="200"/>
              </a:spcBef>
              <a:spcAft>
                <a:spcPts val="200"/>
              </a:spcAft>
            </a:pPr>
            <a:r>
              <a:rPr lang="en-US" altLang="zh-CN" sz="2000" b="1" kern="100" spc="-20" dirty="0">
                <a:solidFill>
                  <a:srgbClr val="000000"/>
                </a:solidFill>
                <a:effectLst/>
                <a:latin typeface="+mj-ea"/>
                <a:ea typeface="+mj-ea"/>
                <a:cs typeface="Huawei Sans"/>
              </a:rPr>
              <a:t>SELECT</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SC.Sno</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Student.Sname</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SC.Grade</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FROM</a:t>
            </a:r>
            <a:r>
              <a:rPr lang="en-US" altLang="zh-CN" sz="2000" kern="100" spc="-20" dirty="0">
                <a:solidFill>
                  <a:srgbClr val="000000"/>
                </a:solidFill>
                <a:effectLst/>
                <a:latin typeface="+mj-ea"/>
                <a:ea typeface="+mj-ea"/>
                <a:cs typeface="Huawei Sans"/>
              </a:rPr>
              <a:t> Student, SC</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WHERE</a:t>
            </a:r>
            <a:r>
              <a:rPr lang="en-US" altLang="zh-CN" sz="2000" b="1" kern="100" spc="-20" dirty="0">
                <a:solidFill>
                  <a:srgbClr val="000000"/>
                </a:solidFill>
                <a:latin typeface="+mj-ea"/>
                <a:ea typeface="+mj-ea"/>
                <a:cs typeface="Huawei Sans"/>
              </a:rPr>
              <a:t> </a:t>
            </a:r>
            <a:r>
              <a:rPr lang="en-US" altLang="zh-CN" sz="2000" kern="100" spc="-20" dirty="0" err="1">
                <a:solidFill>
                  <a:srgbClr val="000000"/>
                </a:solidFill>
                <a:effectLst/>
                <a:latin typeface="+mj-ea"/>
                <a:ea typeface="+mj-ea"/>
                <a:cs typeface="Huawei Sans"/>
              </a:rPr>
              <a:t>Student.Sno</a:t>
            </a:r>
            <a:r>
              <a:rPr lang="en-US" altLang="zh-CN" sz="2000" kern="100" spc="-20" dirty="0">
                <a:solidFill>
                  <a:srgbClr val="000000"/>
                </a:solidFill>
                <a:effectLst/>
                <a:latin typeface="+mj-ea"/>
                <a:ea typeface="+mj-ea"/>
                <a:cs typeface="Huawei Sans"/>
              </a:rPr>
              <a:t>=</a:t>
            </a:r>
            <a:r>
              <a:rPr lang="en-US" altLang="zh-CN" sz="2000" kern="100" spc="-20" dirty="0" err="1">
                <a:solidFill>
                  <a:srgbClr val="000000"/>
                </a:solidFill>
                <a:effectLst/>
                <a:latin typeface="+mj-ea"/>
                <a:ea typeface="+mj-ea"/>
                <a:cs typeface="Huawei Sans"/>
              </a:rPr>
              <a:t>SC.Sno</a:t>
            </a:r>
            <a:r>
              <a:rPr lang="en-US" altLang="zh-CN" sz="2000" kern="100" spc="-20" dirty="0">
                <a:solidFill>
                  <a:srgbClr val="000000"/>
                </a:solidFill>
                <a:effectLst/>
                <a:latin typeface="+mj-ea"/>
                <a:ea typeface="+mj-ea"/>
                <a:cs typeface="Huawei Sans"/>
              </a:rPr>
              <a:t> </a:t>
            </a:r>
            <a:r>
              <a:rPr lang="en-US" altLang="zh-CN" sz="2000" b="1" kern="100" spc="-20" dirty="0">
                <a:solidFill>
                  <a:srgbClr val="000000"/>
                </a:solidFill>
                <a:effectLst/>
                <a:latin typeface="+mj-ea"/>
                <a:ea typeface="+mj-ea"/>
                <a:cs typeface="Huawei Sans"/>
              </a:rPr>
              <a:t>AND</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Student.Sno</a:t>
            </a:r>
            <a:r>
              <a:rPr lang="en-US" altLang="zh-CN" sz="2000" kern="100" spc="-20" dirty="0">
                <a:solidFill>
                  <a:srgbClr val="000000"/>
                </a:solidFill>
                <a:latin typeface="+mj-ea"/>
                <a:ea typeface="+mj-ea"/>
                <a:cs typeface="Huawei Sans"/>
              </a:rPr>
              <a:t>&lt;100</a:t>
            </a:r>
          </a:p>
          <a:p>
            <a:pPr latinLnBrk="1">
              <a:spcBef>
                <a:spcPts val="200"/>
              </a:spcBef>
              <a:spcAft>
                <a:spcPts val="200"/>
              </a:spcAft>
            </a:pPr>
            <a:r>
              <a:rPr lang="en-US" altLang="zh-CN" sz="2000" b="1" kern="100" spc="-20" dirty="0">
                <a:solidFill>
                  <a:srgbClr val="000000"/>
                </a:solidFill>
                <a:effectLst/>
                <a:latin typeface="+mj-ea"/>
                <a:ea typeface="+mj-ea"/>
                <a:cs typeface="Huawei Sans"/>
              </a:rPr>
              <a:t>AND</a:t>
            </a:r>
            <a:r>
              <a:rPr lang="en-US" altLang="zh-CN" sz="2000" kern="100" spc="-20" dirty="0">
                <a:solidFill>
                  <a:srgbClr val="000000"/>
                </a:solidFill>
                <a:effectLst/>
                <a:latin typeface="+mj-ea"/>
                <a:ea typeface="+mj-ea"/>
                <a:cs typeface="Huawei Sans"/>
              </a:rPr>
              <a:t> </a:t>
            </a:r>
            <a:r>
              <a:rPr lang="en-US" altLang="zh-CN" sz="2000" kern="100" spc="-20" dirty="0" err="1">
                <a:solidFill>
                  <a:srgbClr val="000000"/>
                </a:solidFill>
                <a:effectLst/>
                <a:latin typeface="+mj-ea"/>
                <a:ea typeface="+mj-ea"/>
                <a:cs typeface="Huawei Sans"/>
              </a:rPr>
              <a:t>SC.Sno</a:t>
            </a:r>
            <a:r>
              <a:rPr lang="en-US" altLang="zh-CN" sz="2000" kern="100" spc="-20" dirty="0">
                <a:solidFill>
                  <a:srgbClr val="000000"/>
                </a:solidFill>
                <a:latin typeface="+mj-ea"/>
                <a:ea typeface="+mj-ea"/>
                <a:cs typeface="Huawei Sans"/>
              </a:rPr>
              <a:t>&lt;100</a:t>
            </a:r>
            <a:r>
              <a:rPr lang="en-US" altLang="zh-CN" sz="2000" kern="100" spc="-20" dirty="0">
                <a:solidFill>
                  <a:srgbClr val="000000"/>
                </a:solidFill>
                <a:effectLst/>
                <a:latin typeface="+mj-ea"/>
                <a:ea typeface="+mj-ea"/>
                <a:cs typeface="Huawei Sans"/>
              </a:rPr>
              <a:t>;</a:t>
            </a:r>
            <a:endParaRPr lang="zh-CN" altLang="zh-CN" sz="2000" kern="100" spc="-20" dirty="0">
              <a:effectLst/>
              <a:latin typeface="+mj-ea"/>
              <a:ea typeface="+mj-ea"/>
              <a:cs typeface="Huawei Sans"/>
            </a:endParaRPr>
          </a:p>
        </p:txBody>
      </p:sp>
      <p:sp>
        <p:nvSpPr>
          <p:cNvPr id="9" name="右箭头 8">
            <a:extLst>
              <a:ext uri="{FF2B5EF4-FFF2-40B4-BE49-F238E27FC236}">
                <a16:creationId xmlns:a16="http://schemas.microsoft.com/office/drawing/2014/main" id="{D671DABD-4D7F-FB83-9D7B-7403BD9FD6F1}"/>
              </a:ext>
            </a:extLst>
          </p:cNvPr>
          <p:cNvSpPr/>
          <p:nvPr/>
        </p:nvSpPr>
        <p:spPr bwMode="auto">
          <a:xfrm>
            <a:off x="5841303" y="3657614"/>
            <a:ext cx="502193" cy="483085"/>
          </a:xfrm>
          <a:prstGeom prst="rightArrow">
            <a:avLst/>
          </a:prstGeom>
          <a:solidFill>
            <a:srgbClr val="701988"/>
          </a:solidFill>
          <a:ln>
            <a:solidFill>
              <a:srgbClr val="743481"/>
            </a:solidFill>
            <a:headEnd type="none" w="med" len="med"/>
            <a:tailEnd type="none" w="med" len="med"/>
          </a:ln>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矩形 9">
            <a:extLst>
              <a:ext uri="{FF2B5EF4-FFF2-40B4-BE49-F238E27FC236}">
                <a16:creationId xmlns:a16="http://schemas.microsoft.com/office/drawing/2014/main" id="{1B738281-9791-D85A-C36E-FA534BE625E3}"/>
              </a:ext>
            </a:extLst>
          </p:cNvPr>
          <p:cNvSpPr/>
          <p:nvPr/>
        </p:nvSpPr>
        <p:spPr bwMode="auto">
          <a:xfrm>
            <a:off x="259640" y="2483385"/>
            <a:ext cx="5486400" cy="2934137"/>
          </a:xfrm>
          <a:prstGeom prst="rect">
            <a:avLst/>
          </a:prstGeom>
          <a:noFill/>
          <a:ln w="3175" cap="flat" cmpd="sng" algn="ctr">
            <a:solidFill>
              <a:srgbClr val="74348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1" name="矩形 10">
            <a:extLst>
              <a:ext uri="{FF2B5EF4-FFF2-40B4-BE49-F238E27FC236}">
                <a16:creationId xmlns:a16="http://schemas.microsoft.com/office/drawing/2014/main" id="{B67C8A4C-1A3F-5DA9-5FCF-0B2C6CE638B3}"/>
              </a:ext>
            </a:extLst>
          </p:cNvPr>
          <p:cNvSpPr/>
          <p:nvPr/>
        </p:nvSpPr>
        <p:spPr bwMode="auto">
          <a:xfrm>
            <a:off x="6401202" y="2468368"/>
            <a:ext cx="5543563" cy="2934137"/>
          </a:xfrm>
          <a:prstGeom prst="rect">
            <a:avLst/>
          </a:prstGeom>
          <a:noFill/>
          <a:ln w="3175" cap="flat" cmpd="sng" algn="ctr">
            <a:solidFill>
              <a:srgbClr val="74348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4" name="文本框 13">
            <a:extLst>
              <a:ext uri="{FF2B5EF4-FFF2-40B4-BE49-F238E27FC236}">
                <a16:creationId xmlns:a16="http://schemas.microsoft.com/office/drawing/2014/main" id="{E41B5490-B5D7-1928-994D-BA2CA0E77877}"/>
              </a:ext>
            </a:extLst>
          </p:cNvPr>
          <p:cNvSpPr txBox="1"/>
          <p:nvPr/>
        </p:nvSpPr>
        <p:spPr>
          <a:xfrm>
            <a:off x="1584961" y="1393911"/>
            <a:ext cx="9318170" cy="400110"/>
          </a:xfrm>
          <a:prstGeom prst="rect">
            <a:avLst/>
          </a:prstGeom>
          <a:solidFill>
            <a:srgbClr val="74348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zh-CN" sz="2000" kern="100" dirty="0">
                <a:solidFill>
                  <a:schemeClr val="bg1"/>
                </a:solidFill>
                <a:latin typeface="+mj-ea"/>
                <a:ea typeface="+mj-ea"/>
                <a:cs typeface="Times New Roman" panose="02020603050405020304" pitchFamily="18" charset="0"/>
              </a:rPr>
              <a:t>查询</a:t>
            </a:r>
            <a:r>
              <a:rPr lang="zh-CN" altLang="en-US" sz="2000" kern="100" dirty="0">
                <a:solidFill>
                  <a:schemeClr val="bg1"/>
                </a:solidFill>
                <a:latin typeface="+mj-ea"/>
                <a:ea typeface="+mj-ea"/>
                <a:cs typeface="Times New Roman" panose="02020603050405020304" pitchFamily="18" charset="0"/>
              </a:rPr>
              <a:t>学号小于</a:t>
            </a:r>
            <a:r>
              <a:rPr lang="en-US" altLang="zh-CN" sz="2000" kern="100" dirty="0">
                <a:solidFill>
                  <a:schemeClr val="bg1"/>
                </a:solidFill>
                <a:latin typeface="+mj-ea"/>
                <a:ea typeface="+mj-ea"/>
              </a:rPr>
              <a:t>100</a:t>
            </a:r>
            <a:r>
              <a:rPr lang="zh-CN" altLang="zh-CN" sz="2000" kern="100" dirty="0">
                <a:solidFill>
                  <a:schemeClr val="bg1"/>
                </a:solidFill>
                <a:latin typeface="+mj-ea"/>
                <a:ea typeface="+mj-ea"/>
                <a:cs typeface="Times New Roman" panose="02020603050405020304" pitchFamily="18" charset="0"/>
              </a:rPr>
              <a:t>的学生学号、姓名及</a:t>
            </a:r>
            <a:r>
              <a:rPr lang="zh-CN" altLang="en-US" sz="2000" kern="100" dirty="0">
                <a:solidFill>
                  <a:schemeClr val="bg1"/>
                </a:solidFill>
                <a:latin typeface="+mj-ea"/>
                <a:ea typeface="+mj-ea"/>
                <a:cs typeface="Times New Roman" panose="02020603050405020304" pitchFamily="18" charset="0"/>
              </a:rPr>
              <a:t>成绩</a:t>
            </a:r>
            <a:r>
              <a:rPr lang="zh-CN" altLang="zh-CN" sz="2000" dirty="0">
                <a:solidFill>
                  <a:schemeClr val="bg1"/>
                </a:solidFill>
                <a:latin typeface="+mj-ea"/>
                <a:ea typeface="+mj-ea"/>
              </a:rPr>
              <a:t> </a:t>
            </a:r>
            <a:endParaRPr lang="zh-CN" altLang="en-US" sz="2000" dirty="0">
              <a:solidFill>
                <a:schemeClr val="bg1"/>
              </a:solidFill>
              <a:latin typeface="+mj-ea"/>
              <a:ea typeface="+mj-ea"/>
            </a:endParaRPr>
          </a:p>
        </p:txBody>
      </p:sp>
      <p:sp>
        <p:nvSpPr>
          <p:cNvPr id="4" name="矩形 3">
            <a:extLst>
              <a:ext uri="{FF2B5EF4-FFF2-40B4-BE49-F238E27FC236}">
                <a16:creationId xmlns:a16="http://schemas.microsoft.com/office/drawing/2014/main" id="{55794AFF-B463-D01E-75B6-A0EA36601B01}"/>
              </a:ext>
            </a:extLst>
          </p:cNvPr>
          <p:cNvSpPr/>
          <p:nvPr/>
        </p:nvSpPr>
        <p:spPr bwMode="auto">
          <a:xfrm>
            <a:off x="6321317" y="4455186"/>
            <a:ext cx="5788632" cy="476250"/>
          </a:xfrm>
          <a:prstGeom prst="rect">
            <a:avLst/>
          </a:prstGeom>
          <a:no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24887928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47</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lang="zh-CN" altLang="en-US" dirty="0"/>
              <a:t>其他重写策略：去除非必要谓词</a:t>
            </a:r>
            <a:endParaRPr kumimoji="1" lang="zh-CN" altLang="en-US" dirty="0"/>
          </a:p>
        </p:txBody>
      </p:sp>
      <p:sp>
        <p:nvSpPr>
          <p:cNvPr id="4" name="页脚占位符 3">
            <a:extLst>
              <a:ext uri="{FF2B5EF4-FFF2-40B4-BE49-F238E27FC236}">
                <a16:creationId xmlns:a16="http://schemas.microsoft.com/office/drawing/2014/main" id="{FD80EE0F-5AB5-EB2C-5893-4A8E80C06270}"/>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文本框 5">
            <a:extLst>
              <a:ext uri="{FF2B5EF4-FFF2-40B4-BE49-F238E27FC236}">
                <a16:creationId xmlns:a16="http://schemas.microsoft.com/office/drawing/2014/main" id="{8027EFED-F66E-55E0-2EB6-A6F669CEC347}"/>
              </a:ext>
            </a:extLst>
          </p:cNvPr>
          <p:cNvSpPr txBox="1"/>
          <p:nvPr/>
        </p:nvSpPr>
        <p:spPr>
          <a:xfrm>
            <a:off x="1351398" y="2962361"/>
            <a:ext cx="4239514" cy="1118255"/>
          </a:xfrm>
          <a:prstGeom prst="rect">
            <a:avLst/>
          </a:prstGeom>
          <a:noFill/>
        </p:spPr>
        <p:txBody>
          <a:bodyPr wrap="square">
            <a:spAutoFit/>
          </a:bodyPr>
          <a:lstStyle/>
          <a:p>
            <a:pPr latinLnBrk="1">
              <a:spcBef>
                <a:spcPts val="200"/>
              </a:spcBef>
              <a:spcAft>
                <a:spcPts val="200"/>
              </a:spcAft>
            </a:pPr>
            <a:r>
              <a:rPr lang="en-US" altLang="zh-CN" sz="2000" b="1" kern="100" spc="-20" dirty="0">
                <a:solidFill>
                  <a:srgbClr val="000000"/>
                </a:solidFill>
                <a:effectLst/>
                <a:latin typeface="+mj-ea"/>
                <a:ea typeface="+mj-ea"/>
                <a:cs typeface="Huawei Sans"/>
              </a:rPr>
              <a:t>SELECT</a:t>
            </a:r>
            <a:r>
              <a:rPr lang="en-US" altLang="zh-CN" sz="2000" kern="100" spc="-20" dirty="0">
                <a:solidFill>
                  <a:srgbClr val="000000"/>
                </a:solidFill>
                <a:effectLst/>
                <a:latin typeface="+mj-ea"/>
                <a:ea typeface="+mj-ea"/>
                <a:cs typeface="Huawei Sans"/>
              </a:rPr>
              <a:t> </a:t>
            </a:r>
            <a:r>
              <a:rPr lang="en-US" altLang="zh-CN" sz="2000" b="1" kern="100" spc="-20" dirty="0">
                <a:solidFill>
                  <a:srgbClr val="000000"/>
                </a:solidFill>
                <a:effectLst/>
                <a:latin typeface="+mj-ea"/>
                <a:ea typeface="+mj-ea"/>
                <a:cs typeface="Huawei Sans"/>
              </a:rPr>
              <a:t>MAX</a:t>
            </a:r>
            <a:r>
              <a:rPr lang="en-US" altLang="zh-CN" sz="2000" kern="100" spc="-20" dirty="0">
                <a:solidFill>
                  <a:srgbClr val="000000"/>
                </a:solidFill>
                <a:effectLst/>
                <a:latin typeface="+mj-ea"/>
                <a:ea typeface="+mj-ea"/>
                <a:cs typeface="Huawei Sans"/>
              </a:rPr>
              <a:t>(</a:t>
            </a:r>
            <a:r>
              <a:rPr lang="en-US" altLang="zh-CN" sz="2000" b="1" kern="100" spc="-20" dirty="0">
                <a:solidFill>
                  <a:srgbClr val="000000"/>
                </a:solidFill>
                <a:effectLst/>
                <a:latin typeface="+mj-ea"/>
                <a:ea typeface="+mj-ea"/>
                <a:cs typeface="Huawei Sans"/>
              </a:rPr>
              <a:t>DISTINCT</a:t>
            </a:r>
            <a:r>
              <a:rPr lang="en-US" altLang="zh-CN" sz="2000" kern="100" spc="-20" dirty="0">
                <a:solidFill>
                  <a:srgbClr val="000000"/>
                </a:solidFill>
                <a:effectLst/>
                <a:latin typeface="+mj-ea"/>
                <a:ea typeface="+mj-ea"/>
                <a:cs typeface="Huawei Sans"/>
              </a:rPr>
              <a:t> Grade)</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FROM</a:t>
            </a:r>
            <a:r>
              <a:rPr lang="en-US" altLang="zh-CN" sz="2000" kern="100" spc="-20" dirty="0">
                <a:solidFill>
                  <a:srgbClr val="000000"/>
                </a:solidFill>
                <a:effectLst/>
                <a:latin typeface="+mj-ea"/>
                <a:ea typeface="+mj-ea"/>
                <a:cs typeface="Huawei Sans"/>
              </a:rPr>
              <a:t> SC</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WHERE</a:t>
            </a:r>
            <a:r>
              <a:rPr lang="en-US" altLang="zh-CN" sz="2000" b="1" kern="100" spc="-20" dirty="0">
                <a:solidFill>
                  <a:srgbClr val="000000"/>
                </a:solidFill>
                <a:latin typeface="+mj-ea"/>
                <a:ea typeface="+mj-ea"/>
                <a:cs typeface="Huawei Sans"/>
              </a:rPr>
              <a:t> </a:t>
            </a:r>
            <a:r>
              <a:rPr lang="en-US" altLang="zh-CN" sz="2000" kern="100" spc="-20" dirty="0" err="1">
                <a:solidFill>
                  <a:srgbClr val="000000"/>
                </a:solidFill>
                <a:effectLst/>
                <a:latin typeface="+mj-ea"/>
                <a:ea typeface="+mj-ea"/>
                <a:cs typeface="Huawei Sans"/>
              </a:rPr>
              <a:t>Cno</a:t>
            </a:r>
            <a:r>
              <a:rPr lang="en-US" altLang="zh-CN" sz="2000" kern="100" spc="-20" dirty="0">
                <a:solidFill>
                  <a:srgbClr val="000000"/>
                </a:solidFill>
                <a:effectLst/>
                <a:latin typeface="+mj-ea"/>
                <a:ea typeface="+mj-ea"/>
                <a:cs typeface="Huawei Sans"/>
              </a:rPr>
              <a:t>="1";</a:t>
            </a:r>
            <a:endParaRPr lang="zh-CN" altLang="zh-CN" sz="2000" kern="100" spc="-20" dirty="0">
              <a:effectLst/>
              <a:latin typeface="+mj-ea"/>
              <a:ea typeface="+mj-ea"/>
              <a:cs typeface="Huawei Sans"/>
            </a:endParaRPr>
          </a:p>
        </p:txBody>
      </p:sp>
      <p:sp>
        <p:nvSpPr>
          <p:cNvPr id="9" name="右箭头 8">
            <a:extLst>
              <a:ext uri="{FF2B5EF4-FFF2-40B4-BE49-F238E27FC236}">
                <a16:creationId xmlns:a16="http://schemas.microsoft.com/office/drawing/2014/main" id="{D671DABD-4D7F-FB83-9D7B-7403BD9FD6F1}"/>
              </a:ext>
            </a:extLst>
          </p:cNvPr>
          <p:cNvSpPr/>
          <p:nvPr/>
        </p:nvSpPr>
        <p:spPr bwMode="auto">
          <a:xfrm>
            <a:off x="5852183" y="3187457"/>
            <a:ext cx="502193" cy="483085"/>
          </a:xfrm>
          <a:prstGeom prst="rightArrow">
            <a:avLst/>
          </a:prstGeom>
          <a:solidFill>
            <a:srgbClr val="701988"/>
          </a:solidFill>
          <a:ln>
            <a:solidFill>
              <a:srgbClr val="743481"/>
            </a:solid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矩形 9">
            <a:extLst>
              <a:ext uri="{FF2B5EF4-FFF2-40B4-BE49-F238E27FC236}">
                <a16:creationId xmlns:a16="http://schemas.microsoft.com/office/drawing/2014/main" id="{1B738281-9791-D85A-C36E-FA534BE625E3}"/>
              </a:ext>
            </a:extLst>
          </p:cNvPr>
          <p:cNvSpPr/>
          <p:nvPr/>
        </p:nvSpPr>
        <p:spPr bwMode="auto">
          <a:xfrm>
            <a:off x="1046583" y="2483385"/>
            <a:ext cx="4597595" cy="2214000"/>
          </a:xfrm>
          <a:prstGeom prst="rect">
            <a:avLst/>
          </a:prstGeom>
          <a:noFill/>
          <a:ln w="3175"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4" name="文本框 13">
            <a:extLst>
              <a:ext uri="{FF2B5EF4-FFF2-40B4-BE49-F238E27FC236}">
                <a16:creationId xmlns:a16="http://schemas.microsoft.com/office/drawing/2014/main" id="{E41B5490-B5D7-1928-994D-BA2CA0E77877}"/>
              </a:ext>
            </a:extLst>
          </p:cNvPr>
          <p:cNvSpPr txBox="1"/>
          <p:nvPr/>
        </p:nvSpPr>
        <p:spPr>
          <a:xfrm>
            <a:off x="1820091" y="1301950"/>
            <a:ext cx="8577943" cy="400110"/>
          </a:xfrm>
          <a:prstGeom prst="rect">
            <a:avLst/>
          </a:prstGeom>
          <a:solidFill>
            <a:srgbClr val="701988"/>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zh-CN" sz="2000" kern="100" dirty="0">
                <a:solidFill>
                  <a:schemeClr val="bg1"/>
                </a:solidFill>
                <a:latin typeface="+mj-ea"/>
                <a:ea typeface="+mj-ea"/>
                <a:cs typeface="Times New Roman" panose="02020603050405020304" pitchFamily="18" charset="0"/>
              </a:rPr>
              <a:t>查询</a:t>
            </a:r>
            <a:r>
              <a:rPr lang="en-US" altLang="zh-CN" sz="2000" kern="100" dirty="0">
                <a:solidFill>
                  <a:schemeClr val="bg1"/>
                </a:solidFill>
                <a:latin typeface="+mj-ea"/>
                <a:ea typeface="+mj-ea"/>
                <a:cs typeface="Times New Roman" panose="02020603050405020304" pitchFamily="18" charset="0"/>
              </a:rPr>
              <a:t>1</a:t>
            </a:r>
            <a:r>
              <a:rPr lang="zh-CN" altLang="en-US" sz="2000" kern="100" dirty="0">
                <a:solidFill>
                  <a:schemeClr val="bg1"/>
                </a:solidFill>
                <a:latin typeface="+mj-ea"/>
                <a:ea typeface="+mj-ea"/>
                <a:cs typeface="Times New Roman" panose="02020603050405020304" pitchFamily="18" charset="0"/>
              </a:rPr>
              <a:t>号课程的最高分</a:t>
            </a:r>
            <a:endParaRPr lang="zh-CN" altLang="en-US" sz="2000" dirty="0">
              <a:solidFill>
                <a:schemeClr val="bg1"/>
              </a:solidFill>
              <a:latin typeface="+mj-ea"/>
              <a:ea typeface="+mj-ea"/>
            </a:endParaRPr>
          </a:p>
        </p:txBody>
      </p:sp>
      <p:sp>
        <p:nvSpPr>
          <p:cNvPr id="5" name="文本框 4">
            <a:extLst>
              <a:ext uri="{FF2B5EF4-FFF2-40B4-BE49-F238E27FC236}">
                <a16:creationId xmlns:a16="http://schemas.microsoft.com/office/drawing/2014/main" id="{9FC38AF7-B6F8-85FC-E878-ECED06C8EFD4}"/>
              </a:ext>
            </a:extLst>
          </p:cNvPr>
          <p:cNvSpPr txBox="1"/>
          <p:nvPr/>
        </p:nvSpPr>
        <p:spPr>
          <a:xfrm>
            <a:off x="7437582" y="2962361"/>
            <a:ext cx="4239514" cy="1118255"/>
          </a:xfrm>
          <a:prstGeom prst="rect">
            <a:avLst/>
          </a:prstGeom>
          <a:noFill/>
        </p:spPr>
        <p:txBody>
          <a:bodyPr wrap="square">
            <a:spAutoFit/>
          </a:bodyPr>
          <a:lstStyle/>
          <a:p>
            <a:pPr latinLnBrk="1">
              <a:spcBef>
                <a:spcPts val="200"/>
              </a:spcBef>
              <a:spcAft>
                <a:spcPts val="200"/>
              </a:spcAft>
            </a:pPr>
            <a:r>
              <a:rPr lang="en-US" altLang="zh-CN" sz="2000" b="1" kern="100" spc="-20" dirty="0">
                <a:solidFill>
                  <a:srgbClr val="000000"/>
                </a:solidFill>
                <a:effectLst/>
                <a:latin typeface="+mj-ea"/>
                <a:ea typeface="+mj-ea"/>
                <a:cs typeface="Huawei Sans"/>
              </a:rPr>
              <a:t>SELECT</a:t>
            </a:r>
            <a:r>
              <a:rPr lang="en-US" altLang="zh-CN" sz="2000" kern="100" spc="-20" dirty="0">
                <a:solidFill>
                  <a:srgbClr val="000000"/>
                </a:solidFill>
                <a:effectLst/>
                <a:latin typeface="+mj-ea"/>
                <a:ea typeface="+mj-ea"/>
                <a:cs typeface="Huawei Sans"/>
              </a:rPr>
              <a:t> </a:t>
            </a:r>
            <a:r>
              <a:rPr lang="en-US" altLang="zh-CN" sz="2000" b="1" kern="100" spc="-20" dirty="0">
                <a:solidFill>
                  <a:srgbClr val="000000"/>
                </a:solidFill>
                <a:effectLst/>
                <a:latin typeface="+mj-ea"/>
                <a:ea typeface="+mj-ea"/>
                <a:cs typeface="Huawei Sans"/>
              </a:rPr>
              <a:t>MAX</a:t>
            </a:r>
            <a:r>
              <a:rPr lang="en-US" altLang="zh-CN" sz="2000" kern="100" spc="-20" dirty="0">
                <a:solidFill>
                  <a:srgbClr val="000000"/>
                </a:solidFill>
                <a:effectLst/>
                <a:latin typeface="+mj-ea"/>
                <a:ea typeface="+mj-ea"/>
                <a:cs typeface="Huawei Sans"/>
              </a:rPr>
              <a:t>(Grade)</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FROM</a:t>
            </a:r>
            <a:r>
              <a:rPr lang="en-US" altLang="zh-CN" sz="2000" kern="100" spc="-20" dirty="0">
                <a:solidFill>
                  <a:srgbClr val="000000"/>
                </a:solidFill>
                <a:effectLst/>
                <a:latin typeface="+mj-ea"/>
                <a:ea typeface="+mj-ea"/>
                <a:cs typeface="Huawei Sans"/>
              </a:rPr>
              <a:t> SC</a:t>
            </a:r>
            <a:endParaRPr lang="zh-CN" altLang="zh-CN" sz="2000" kern="100" spc="-20" dirty="0">
              <a:effectLst/>
              <a:latin typeface="+mj-ea"/>
              <a:ea typeface="+mj-ea"/>
              <a:cs typeface="Huawei Sans"/>
            </a:endParaRPr>
          </a:p>
          <a:p>
            <a:pPr latinLnBrk="1">
              <a:spcBef>
                <a:spcPts val="200"/>
              </a:spcBef>
              <a:spcAft>
                <a:spcPts val="200"/>
              </a:spcAft>
            </a:pPr>
            <a:r>
              <a:rPr lang="en-US" altLang="zh-CN" sz="2000" b="1" kern="100" spc="-20" dirty="0">
                <a:solidFill>
                  <a:srgbClr val="000000"/>
                </a:solidFill>
                <a:effectLst/>
                <a:latin typeface="+mj-ea"/>
                <a:ea typeface="+mj-ea"/>
                <a:cs typeface="Huawei Sans"/>
              </a:rPr>
              <a:t>WHERE</a:t>
            </a:r>
            <a:r>
              <a:rPr lang="en-US" altLang="zh-CN" sz="2000" b="1" kern="100" spc="-20" dirty="0">
                <a:solidFill>
                  <a:srgbClr val="000000"/>
                </a:solidFill>
                <a:latin typeface="+mj-ea"/>
                <a:ea typeface="+mj-ea"/>
                <a:cs typeface="Huawei Sans"/>
              </a:rPr>
              <a:t> </a:t>
            </a:r>
            <a:r>
              <a:rPr lang="en-US" altLang="zh-CN" sz="2000" kern="100" spc="-20" dirty="0" err="1">
                <a:solidFill>
                  <a:srgbClr val="000000"/>
                </a:solidFill>
                <a:effectLst/>
                <a:latin typeface="+mj-ea"/>
                <a:ea typeface="+mj-ea"/>
                <a:cs typeface="Huawei Sans"/>
              </a:rPr>
              <a:t>Cno</a:t>
            </a:r>
            <a:r>
              <a:rPr lang="en-US" altLang="zh-CN" sz="2000" kern="100" spc="-20" dirty="0">
                <a:solidFill>
                  <a:srgbClr val="000000"/>
                </a:solidFill>
                <a:effectLst/>
                <a:latin typeface="+mj-ea"/>
                <a:ea typeface="+mj-ea"/>
                <a:cs typeface="Huawei Sans"/>
              </a:rPr>
              <a:t>="1";</a:t>
            </a:r>
            <a:endParaRPr lang="zh-CN" altLang="zh-CN" sz="2000" kern="100" spc="-20" dirty="0">
              <a:effectLst/>
              <a:latin typeface="+mj-ea"/>
              <a:ea typeface="+mj-ea"/>
              <a:cs typeface="Huawei Sans"/>
            </a:endParaRPr>
          </a:p>
        </p:txBody>
      </p:sp>
      <p:sp>
        <p:nvSpPr>
          <p:cNvPr id="7" name="矩形 6">
            <a:extLst>
              <a:ext uri="{FF2B5EF4-FFF2-40B4-BE49-F238E27FC236}">
                <a16:creationId xmlns:a16="http://schemas.microsoft.com/office/drawing/2014/main" id="{A9879A6C-B3F3-48D5-DDE1-E5B0DE9E5F3C}"/>
              </a:ext>
            </a:extLst>
          </p:cNvPr>
          <p:cNvSpPr/>
          <p:nvPr/>
        </p:nvSpPr>
        <p:spPr bwMode="auto">
          <a:xfrm>
            <a:off x="6558000" y="2483385"/>
            <a:ext cx="4423503" cy="2214000"/>
          </a:xfrm>
          <a:prstGeom prst="rect">
            <a:avLst/>
          </a:prstGeom>
          <a:noFill/>
          <a:ln w="3175"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3339847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DAC27E7-01FA-93BF-4969-7E003D39CFA3}"/>
              </a:ext>
            </a:extLst>
          </p:cNvPr>
          <p:cNvSpPr>
            <a:spLocks noGrp="1"/>
          </p:cNvSpPr>
          <p:nvPr>
            <p:ph type="sldNum" sz="quarter" idx="10"/>
          </p:nvPr>
        </p:nvSpPr>
        <p:spPr/>
        <p:txBody>
          <a:bodyPr/>
          <a:lstStyle/>
          <a:p>
            <a:fld id="{87BBDC00-B9E2-4EFD-9306-2934E87247C6}" type="slidenum">
              <a:rPr lang="zh-CN" altLang="en-US" smtClean="0"/>
              <a:pPr/>
              <a:t>48</a:t>
            </a:fld>
            <a:endParaRPr lang="zh-CN" altLang="en-US"/>
          </a:p>
        </p:txBody>
      </p:sp>
      <p:sp>
        <p:nvSpPr>
          <p:cNvPr id="3" name="标题 2">
            <a:extLst>
              <a:ext uri="{FF2B5EF4-FFF2-40B4-BE49-F238E27FC236}">
                <a16:creationId xmlns:a16="http://schemas.microsoft.com/office/drawing/2014/main" id="{B4722CE6-47F6-8B23-7B04-7020C51D9E11}"/>
              </a:ext>
            </a:extLst>
          </p:cNvPr>
          <p:cNvSpPr>
            <a:spLocks noGrp="1"/>
          </p:cNvSpPr>
          <p:nvPr>
            <p:ph type="title"/>
          </p:nvPr>
        </p:nvSpPr>
        <p:spPr/>
        <p:txBody>
          <a:bodyPr/>
          <a:lstStyle/>
          <a:p>
            <a:r>
              <a:rPr kumimoji="1" lang="zh-CN" altLang="en-US" dirty="0"/>
              <a:t>查询重写总结</a:t>
            </a:r>
          </a:p>
        </p:txBody>
      </p:sp>
      <p:sp>
        <p:nvSpPr>
          <p:cNvPr id="8" name="内容占位符 3">
            <a:extLst>
              <a:ext uri="{FF2B5EF4-FFF2-40B4-BE49-F238E27FC236}">
                <a16:creationId xmlns:a16="http://schemas.microsoft.com/office/drawing/2014/main" id="{4F9463B2-BE14-35A8-24A2-277C81AAD9E9}"/>
              </a:ext>
            </a:extLst>
          </p:cNvPr>
          <p:cNvSpPr>
            <a:spLocks noGrp="1"/>
          </p:cNvSpPr>
          <p:nvPr>
            <p:ph idx="1"/>
          </p:nvPr>
        </p:nvSpPr>
        <p:spPr>
          <a:xfrm>
            <a:off x="1462505" y="1218147"/>
            <a:ext cx="7746041" cy="5005387"/>
          </a:xfrm>
        </p:spPr>
        <p:txBody>
          <a:bodyPr/>
          <a:lstStyle/>
          <a:p>
            <a:pPr>
              <a:lnSpc>
                <a:spcPct val="150000"/>
              </a:lnSpc>
              <a:buFont typeface="Wingdings" panose="05000000000000000000" pitchFamily="2" charset="2"/>
              <a:buChar char="Ø"/>
            </a:pPr>
            <a:r>
              <a:rPr lang="zh-CN" altLang="en-US" dirty="0"/>
              <a:t>关系代数是查询重写中的重要抽象</a:t>
            </a:r>
            <a:endParaRPr lang="en-US" altLang="zh-CN" dirty="0"/>
          </a:p>
          <a:p>
            <a:pPr>
              <a:lnSpc>
                <a:spcPct val="150000"/>
              </a:lnSpc>
              <a:buFont typeface="Wingdings" panose="05000000000000000000" pitchFamily="2" charset="2"/>
              <a:buChar char="Ø"/>
            </a:pPr>
            <a:r>
              <a:rPr lang="zh-CN" altLang="en-US" dirty="0"/>
              <a:t>查询重写的规则</a:t>
            </a:r>
            <a:r>
              <a:rPr lang="zh-CN" altLang="en-US" dirty="0">
                <a:solidFill>
                  <a:srgbClr val="0000FF"/>
                </a:solidFill>
              </a:rPr>
              <a:t>质量</a:t>
            </a:r>
            <a:r>
              <a:rPr lang="zh-CN" altLang="en-US" dirty="0"/>
              <a:t>很重要</a:t>
            </a:r>
            <a:endParaRPr lang="en-US" altLang="zh-CN" dirty="0"/>
          </a:p>
          <a:p>
            <a:pPr>
              <a:lnSpc>
                <a:spcPct val="150000"/>
              </a:lnSpc>
              <a:buFont typeface="Wingdings" panose="05000000000000000000" pitchFamily="2" charset="2"/>
              <a:buChar char="Ø"/>
            </a:pPr>
            <a:r>
              <a:rPr lang="zh-CN" altLang="en-US" dirty="0"/>
              <a:t>查询重写规则</a:t>
            </a:r>
            <a:r>
              <a:rPr lang="zh-CN" altLang="en-US" dirty="0">
                <a:solidFill>
                  <a:srgbClr val="0000FF"/>
                </a:solidFill>
              </a:rPr>
              <a:t>使用顺序</a:t>
            </a:r>
            <a:r>
              <a:rPr lang="zh-CN" altLang="en-US" dirty="0"/>
              <a:t>也很重要</a:t>
            </a:r>
            <a:endParaRPr lang="en-US" altLang="zh-CN" dirty="0"/>
          </a:p>
          <a:p>
            <a:pPr>
              <a:lnSpc>
                <a:spcPct val="150000"/>
              </a:lnSpc>
              <a:buFont typeface="Wingdings" panose="05000000000000000000" pitchFamily="2" charset="2"/>
              <a:buChar char="Ø"/>
            </a:pPr>
            <a:r>
              <a:rPr lang="zh-CN" altLang="en-US" dirty="0"/>
              <a:t>许多等价规则被用于搜索“好”的计划</a:t>
            </a:r>
            <a:endParaRPr kumimoji="1" lang="en-US" altLang="zh-CN" dirty="0"/>
          </a:p>
          <a:p>
            <a:pPr>
              <a:lnSpc>
                <a:spcPct val="150000"/>
              </a:lnSpc>
              <a:buFont typeface="Wingdings" panose="05000000000000000000" pitchFamily="2" charset="2"/>
              <a:buChar char="Ø"/>
            </a:pPr>
            <a:r>
              <a:rPr lang="zh-CN" altLang="en-US" dirty="0"/>
              <a:t>重写规则</a:t>
            </a:r>
            <a:r>
              <a:rPr lang="zh-CN" altLang="en-US" dirty="0">
                <a:solidFill>
                  <a:srgbClr val="0000FF"/>
                </a:solidFill>
              </a:rPr>
              <a:t>也不是越多越好，可能影响重写时间</a:t>
            </a:r>
            <a:endParaRPr kumimoji="1" lang="en-US" altLang="zh-CN" dirty="0">
              <a:solidFill>
                <a:srgbClr val="0000FF"/>
              </a:solidFill>
            </a:endParaRPr>
          </a:p>
          <a:p>
            <a:pPr>
              <a:lnSpc>
                <a:spcPct val="150000"/>
              </a:lnSpc>
              <a:buFont typeface="Wingdings" panose="05000000000000000000" pitchFamily="2" charset="2"/>
              <a:buChar char="Ø"/>
            </a:pPr>
            <a:r>
              <a:rPr lang="zh-CN" altLang="en-US" dirty="0"/>
              <a:t>重写规则的匹配方法也很重要</a:t>
            </a:r>
            <a:endParaRPr kumimoji="1" lang="en-US" altLang="zh-CN" dirty="0"/>
          </a:p>
          <a:p>
            <a:pPr>
              <a:lnSpc>
                <a:spcPct val="150000"/>
              </a:lnSpc>
              <a:buFont typeface="Wingdings" panose="05000000000000000000" pitchFamily="2" charset="2"/>
              <a:buChar char="Ø"/>
            </a:pPr>
            <a:endParaRPr lang="en-US" altLang="zh-CN" dirty="0"/>
          </a:p>
          <a:p>
            <a:pPr>
              <a:lnSpc>
                <a:spcPct val="150000"/>
              </a:lnSpc>
            </a:pPr>
            <a:endParaRPr kumimoji="1" lang="zh-CN" altLang="en-US" sz="2800" dirty="0"/>
          </a:p>
        </p:txBody>
      </p:sp>
      <p:sp>
        <p:nvSpPr>
          <p:cNvPr id="4" name="页脚占位符 3">
            <a:extLst>
              <a:ext uri="{FF2B5EF4-FFF2-40B4-BE49-F238E27FC236}">
                <a16:creationId xmlns:a16="http://schemas.microsoft.com/office/drawing/2014/main" id="{EFD7DF92-8226-65BE-DBE1-1DB1D5F63A5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1403820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3582296" y="1124935"/>
            <a:ext cx="4492102" cy="494237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3918046" y="1394931"/>
            <a:ext cx="3381802" cy="3551771"/>
          </a:xfrm>
        </p:spPr>
        <p:txBody>
          <a:bodyPr/>
          <a:lstStyle/>
          <a:p>
            <a:pPr marL="457200" indent="-457200">
              <a:lnSpc>
                <a:spcPct val="150000"/>
              </a:lnSpc>
              <a:buFont typeface="+mj-lt"/>
              <a:buAutoNum type="arabicPeriod"/>
            </a:pPr>
            <a:r>
              <a:rPr lang="zh-CN" altLang="en-US" dirty="0"/>
              <a:t>逻辑优化</a:t>
            </a:r>
            <a:r>
              <a:rPr lang="en-US" altLang="zh-CN" dirty="0"/>
              <a:t>(</a:t>
            </a:r>
            <a:r>
              <a:rPr lang="zh-CN" altLang="en-US" dirty="0"/>
              <a:t>查询重写</a:t>
            </a:r>
            <a:r>
              <a:rPr lang="en-US" altLang="zh-CN" dirty="0"/>
              <a:t>)</a:t>
            </a:r>
          </a:p>
          <a:p>
            <a:pPr marL="457200" indent="-457200">
              <a:lnSpc>
                <a:spcPct val="150000"/>
              </a:lnSpc>
              <a:buFont typeface="+mj-lt"/>
              <a:buAutoNum type="arabicPeriod"/>
            </a:pPr>
            <a:r>
              <a:rPr lang="zh-CN" altLang="en-US" b="1" dirty="0">
                <a:solidFill>
                  <a:srgbClr val="743481"/>
                </a:solidFill>
              </a:rPr>
              <a:t>物理优化</a:t>
            </a:r>
            <a:endParaRPr lang="en-US" altLang="zh-CN" b="1" dirty="0">
              <a:solidFill>
                <a:srgbClr val="743481"/>
              </a:solidFill>
            </a:endParaRPr>
          </a:p>
          <a:p>
            <a:pPr marL="826486" lvl="1" indent="-457200">
              <a:lnSpc>
                <a:spcPct val="150000"/>
              </a:lnSpc>
              <a:buFont typeface="Wingdings" pitchFamily="2" charset="2"/>
              <a:buChar char="l"/>
            </a:pPr>
            <a:r>
              <a:rPr lang="zh-CN" altLang="en-US" sz="2400" b="1" dirty="0">
                <a:solidFill>
                  <a:srgbClr val="743481"/>
                </a:solidFill>
              </a:rPr>
              <a:t>代价估计</a:t>
            </a:r>
            <a:endParaRPr lang="en-US" altLang="zh-CN" sz="2400" b="1" dirty="0">
              <a:solidFill>
                <a:srgbClr val="743481"/>
              </a:solidFill>
            </a:endParaRPr>
          </a:p>
          <a:p>
            <a:pPr marL="826486" lvl="1" indent="-457200">
              <a:lnSpc>
                <a:spcPct val="150000"/>
              </a:lnSpc>
              <a:buFont typeface="Wingdings" pitchFamily="2" charset="2"/>
              <a:buChar char="l"/>
            </a:pPr>
            <a:r>
              <a:rPr lang="zh-CN" altLang="en-US" sz="2400" dirty="0"/>
              <a:t>连接顺序选择</a:t>
            </a:r>
            <a:endParaRPr lang="en-US" altLang="zh-CN" sz="2400" dirty="0"/>
          </a:p>
          <a:p>
            <a:pPr marL="826486" lvl="1" indent="-457200">
              <a:lnSpc>
                <a:spcPct val="150000"/>
              </a:lnSpc>
              <a:buFont typeface="Wingdings" pitchFamily="2" charset="2"/>
              <a:buChar char="l"/>
            </a:pPr>
            <a:r>
              <a:rPr lang="zh-CN" altLang="en-US" sz="2400" dirty="0"/>
              <a:t>物理算子选择</a:t>
            </a:r>
            <a:endParaRPr lang="en-US" altLang="zh-CN" sz="2400" dirty="0"/>
          </a:p>
          <a:p>
            <a:pPr marL="457200" indent="-457200">
              <a:lnSpc>
                <a:spcPct val="150000"/>
              </a:lnSpc>
              <a:buFont typeface="+mj-lt"/>
              <a:buAutoNum type="arabicPeriod"/>
            </a:pPr>
            <a:r>
              <a:rPr lang="zh-CN" altLang="en-US" dirty="0"/>
              <a:t>优化器系统</a:t>
            </a:r>
            <a:endParaRPr lang="en-US" altLang="zh-CN" dirty="0"/>
          </a:p>
          <a:p>
            <a:pPr marL="457200" indent="-457200">
              <a:lnSpc>
                <a:spcPct val="150000"/>
              </a:lnSpc>
              <a:buFont typeface="+mj-lt"/>
              <a:buAutoNum type="arabicPeriod"/>
            </a:pPr>
            <a:r>
              <a:rPr lang="zh-CN" altLang="en-US" dirty="0"/>
              <a:t>物化视图 </a:t>
            </a:r>
          </a:p>
          <a:p>
            <a:pPr marL="514350" indent="-514350">
              <a:lnSpc>
                <a:spcPct val="150000"/>
              </a:lnSpc>
              <a:buFont typeface="+mj-lt"/>
              <a:buAutoNum type="arabicPeriod"/>
            </a:pPr>
            <a:endParaRPr lang="zh-CN" altLang="en-US" dirty="0"/>
          </a:p>
          <a:p>
            <a:pPr marL="514350" indent="-514350">
              <a:lnSpc>
                <a:spcPct val="150000"/>
              </a:lnSpc>
              <a:buFont typeface="+mj-lt"/>
              <a:buAutoNum type="arabicPeriod"/>
            </a:pPr>
            <a:endParaRPr lang="zh-CN" altLang="en-US" dirty="0"/>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53752"/>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2" name="页脚占位符 1">
            <a:extLst>
              <a:ext uri="{FF2B5EF4-FFF2-40B4-BE49-F238E27FC236}">
                <a16:creationId xmlns:a16="http://schemas.microsoft.com/office/drawing/2014/main" id="{1D284E60-CE14-ED1D-4912-BC1F24D092C0}"/>
              </a:ext>
            </a:extLst>
          </p:cNvPr>
          <p:cNvSpPr>
            <a:spLocks noGrp="1"/>
          </p:cNvSpPr>
          <p:nvPr>
            <p:ph type="ftr" sz="quarter" idx="11"/>
          </p:nvPr>
        </p:nvSpPr>
        <p:spPr/>
        <p:txBody>
          <a:bodyPr/>
          <a:lstStyle/>
          <a:p>
            <a:r>
              <a:rPr kumimoji="1" lang="zh-CN" altLang="en-US">
                <a:latin typeface="微软雅黑" panose="020B0503020204020204" pitchFamily="82" charset="2"/>
                <a:ea typeface="微软雅黑" panose="020B0503020204020204" pitchFamily="82" charset="2"/>
              </a:rPr>
              <a:t>数据库系统</a:t>
            </a:r>
            <a:r>
              <a:rPr kumimoji="1" lang="en-US" altLang="zh-CN">
                <a:latin typeface="微软雅黑" panose="020B0503020204020204" pitchFamily="82" charset="2"/>
                <a:ea typeface="微软雅黑" panose="020B0503020204020204" pitchFamily="82" charset="2"/>
              </a:rPr>
              <a:t>-</a:t>
            </a:r>
            <a:r>
              <a:rPr kumimoji="1" lang="zh-CN" altLang="en-US">
                <a:latin typeface="微软雅黑" panose="020B0503020204020204" pitchFamily="82" charset="2"/>
                <a:ea typeface="微软雅黑" panose="020B0503020204020204" pitchFamily="82" charset="2"/>
              </a:rPr>
              <a:t>存储系统</a:t>
            </a:r>
            <a:endParaRPr kumimoji="1" lang="zh-CN" altLang="en-US" dirty="0">
              <a:latin typeface="微软雅黑" panose="020B0503020204020204" pitchFamily="82" charset="2"/>
              <a:ea typeface="微软雅黑" panose="020B0503020204020204" pitchFamily="82" charset="2"/>
            </a:endParaRPr>
          </a:p>
        </p:txBody>
      </p:sp>
      <p:sp>
        <p:nvSpPr>
          <p:cNvPr id="4" name="灯片编号占位符 3">
            <a:extLst>
              <a:ext uri="{FF2B5EF4-FFF2-40B4-BE49-F238E27FC236}">
                <a16:creationId xmlns:a16="http://schemas.microsoft.com/office/drawing/2014/main" id="{C5B50267-C9DE-C0E9-C2B8-D7C9F2F05430}"/>
              </a:ext>
            </a:extLst>
          </p:cNvPr>
          <p:cNvSpPr>
            <a:spLocks noGrp="1"/>
          </p:cNvSpPr>
          <p:nvPr>
            <p:ph type="sldNum" sz="quarter" idx="12"/>
          </p:nvPr>
        </p:nvSpPr>
        <p:spPr/>
        <p:txBody>
          <a:bodyPr/>
          <a:lstStyle/>
          <a:p>
            <a:fld id="{4B0D34C0-35A8-654C-9FBA-7B4E017BD630}" type="slidenum">
              <a:rPr lang="en-US" altLang="zh-CN" smtClean="0">
                <a:latin typeface="微软雅黑" panose="020B0503020204020204" pitchFamily="82" charset="2"/>
                <a:ea typeface="微软雅黑" panose="020B0503020204020204" pitchFamily="82" charset="2"/>
              </a:rPr>
              <a:t>49</a:t>
            </a:fld>
            <a:endParaRPr kumimoji="1" lang="zh-CN" altLang="en-US">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42240689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E30BC33-122C-C199-CA0A-D0DF4FEEB090}"/>
              </a:ext>
            </a:extLst>
          </p:cNvPr>
          <p:cNvSpPr>
            <a:spLocks noGrp="1"/>
          </p:cNvSpPr>
          <p:nvPr>
            <p:ph type="sldNum" sz="quarter" idx="10"/>
          </p:nvPr>
        </p:nvSpPr>
        <p:spPr/>
        <p:txBody>
          <a:bodyPr/>
          <a:lstStyle/>
          <a:p>
            <a:fld id="{4B0D34C0-35A8-654C-9FBA-7B4E017BD630}" type="slidenum">
              <a:rPr lang="en-US" altLang="zh-CN" smtClean="0"/>
              <a:t>50</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代价估计</a:t>
            </a:r>
          </a:p>
        </p:txBody>
      </p:sp>
      <p:sp>
        <p:nvSpPr>
          <p:cNvPr id="5" name="页脚占位符 4">
            <a:extLst>
              <a:ext uri="{FF2B5EF4-FFF2-40B4-BE49-F238E27FC236}">
                <a16:creationId xmlns:a16="http://schemas.microsoft.com/office/drawing/2014/main" id="{EB2E3ECA-9E0C-E7D0-51F1-3C262F56E3E5}"/>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1909A37-FBBB-91E4-4BBE-41072C3CAB9D}"/>
                  </a:ext>
                </a:extLst>
              </p:cNvPr>
              <p:cNvSpPr/>
              <p:nvPr/>
            </p:nvSpPr>
            <p:spPr>
              <a:xfrm>
                <a:off x="454679" y="922136"/>
                <a:ext cx="11282640" cy="5833135"/>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查询重写过后，还需确定</a:t>
                </a:r>
                <a14:m>
                  <m:oMath xmlns:m="http://schemas.openxmlformats.org/officeDocument/2006/math">
                    <m:r>
                      <a:rPr lang="zh-CN" altLang="en-US" sz="2400" b="1" i="0" kern="100" smtClean="0">
                        <a:latin typeface="Cambria Math" panose="02040503050406030204" pitchFamily="18" charset="0"/>
                        <a:ea typeface="+mj-ea"/>
                        <a:cs typeface="Times New Roman" panose="02020603050405020304" pitchFamily="18" charset="0"/>
                      </a:rPr>
                      <m:t>：</m:t>
                    </m:r>
                  </m:oMath>
                </a14:m>
                <a:endParaRPr lang="en-US" altLang="zh-CN" sz="24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符合交换律和结合律的运算的</a:t>
                </a:r>
                <a:r>
                  <a:rPr lang="zh-CN" altLang="en-US" sz="2000" kern="100" dirty="0">
                    <a:solidFill>
                      <a:srgbClr val="701988"/>
                    </a:solidFill>
                    <a:latin typeface="+mj-ea"/>
                    <a:ea typeface="+mj-ea"/>
                    <a:cs typeface="Times New Roman" panose="02020603050405020304" pitchFamily="18" charset="0"/>
                  </a:rPr>
                  <a:t>执行顺序</a:t>
                </a:r>
                <a:endParaRPr lang="en-US" altLang="zh-CN" sz="2000" kern="100" dirty="0">
                  <a:solidFill>
                    <a:srgbClr val="701988"/>
                  </a:solidFill>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逻辑计划中每个</a:t>
                </a:r>
                <a:r>
                  <a:rPr lang="zh-CN" altLang="en-US" sz="2000" kern="100" dirty="0">
                    <a:solidFill>
                      <a:srgbClr val="701988"/>
                    </a:solidFill>
                    <a:latin typeface="+mj-ea"/>
                    <a:ea typeface="+mj-ea"/>
                    <a:cs typeface="Times New Roman" panose="02020603050405020304" pitchFamily="18" charset="0"/>
                  </a:rPr>
                  <a:t>算子</a:t>
                </a:r>
                <a:r>
                  <a:rPr lang="zh-CN" altLang="en-US" sz="2000" kern="100" dirty="0">
                    <a:latin typeface="+mj-ea"/>
                    <a:ea typeface="+mj-ea"/>
                    <a:cs typeface="Times New Roman" panose="02020603050405020304" pitchFamily="18" charset="0"/>
                  </a:rPr>
                  <a:t>在</a:t>
                </a:r>
                <a:r>
                  <a:rPr lang="zh-CN" altLang="en-US" sz="2000" kern="100" dirty="0">
                    <a:solidFill>
                      <a:srgbClr val="701988"/>
                    </a:solidFill>
                    <a:latin typeface="+mj-ea"/>
                    <a:ea typeface="+mj-ea"/>
                    <a:cs typeface="Times New Roman" panose="02020603050405020304" pitchFamily="18" charset="0"/>
                  </a:rPr>
                  <a:t>物理执行</a:t>
                </a:r>
                <a:r>
                  <a:rPr lang="zh-CN" altLang="en-US" sz="2000" kern="100" dirty="0">
                    <a:latin typeface="+mj-ea"/>
                    <a:ea typeface="+mj-ea"/>
                    <a:cs typeface="Times New Roman" panose="02020603050405020304" pitchFamily="18" charset="0"/>
                  </a:rPr>
                  <a:t>时采用的</a:t>
                </a:r>
                <a:r>
                  <a:rPr lang="zh-CN" altLang="en-US" sz="2000" kern="100" dirty="0">
                    <a:solidFill>
                      <a:srgbClr val="701988"/>
                    </a:solidFill>
                    <a:latin typeface="+mj-ea"/>
                    <a:ea typeface="+mj-ea"/>
                    <a:cs typeface="Times New Roman" panose="02020603050405020304" pitchFamily="18" charset="0"/>
                  </a:rPr>
                  <a:t>算法</a:t>
                </a:r>
                <a:endParaRPr lang="en-US" altLang="zh-CN" sz="2000" kern="100" dirty="0">
                  <a:solidFill>
                    <a:srgbClr val="701988"/>
                  </a:solidFill>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逻辑计划中未体现出的</a:t>
                </a:r>
                <a:r>
                  <a:rPr lang="zh-CN" altLang="en-US" sz="2000" kern="100" dirty="0">
                    <a:solidFill>
                      <a:srgbClr val="701988"/>
                    </a:solidFill>
                    <a:latin typeface="+mj-ea"/>
                    <a:ea typeface="+mj-ea"/>
                    <a:cs typeface="Times New Roman" panose="02020603050405020304" pitchFamily="18" charset="0"/>
                  </a:rPr>
                  <a:t>物理运算</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例如排序和扫描 </a:t>
                </a:r>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在运算符之间</a:t>
                </a:r>
                <a:r>
                  <a:rPr lang="zh-CN" altLang="en-US" sz="2000" kern="100" dirty="0">
                    <a:solidFill>
                      <a:srgbClr val="701988"/>
                    </a:solidFill>
                    <a:latin typeface="+mj-ea"/>
                    <a:ea typeface="+mj-ea"/>
                    <a:cs typeface="Times New Roman" panose="02020603050405020304" pitchFamily="18" charset="0"/>
                  </a:rPr>
                  <a:t>数据传递</a:t>
                </a:r>
                <a:r>
                  <a:rPr lang="zh-CN" altLang="en-US" sz="2000" kern="100" dirty="0">
                    <a:latin typeface="+mj-ea"/>
                    <a:ea typeface="+mj-ea"/>
                    <a:cs typeface="Times New Roman" panose="02020603050405020304" pitchFamily="18" charset="0"/>
                  </a:rPr>
                  <a:t>的方式</a:t>
                </a:r>
                <a:endParaRPr lang="en-US" altLang="zh-CN" sz="2800"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利用</a:t>
                </a:r>
                <a:r>
                  <a:rPr lang="zh-CN" altLang="en-US" sz="2400" b="1" kern="100" dirty="0">
                    <a:solidFill>
                      <a:srgbClr val="701988"/>
                    </a:solidFill>
                    <a:latin typeface="+mj-ea"/>
                    <a:ea typeface="+mj-ea"/>
                    <a:cs typeface="Times New Roman" panose="02020603050405020304" pitchFamily="18" charset="0"/>
                  </a:rPr>
                  <a:t>代价模型（</a:t>
                </a:r>
                <a:r>
                  <a:rPr lang="en-US" altLang="zh-CN" sz="2400" b="1" kern="100" dirty="0">
                    <a:solidFill>
                      <a:srgbClr val="701988"/>
                    </a:solidFill>
                    <a:latin typeface="+mj-ea"/>
                    <a:ea typeface="+mj-ea"/>
                    <a:cs typeface="Times New Roman" panose="02020603050405020304" pitchFamily="18" charset="0"/>
                  </a:rPr>
                  <a:t>cost</a:t>
                </a:r>
                <a:r>
                  <a:rPr lang="zh-CN" altLang="en-US" sz="2400" b="1" kern="100" dirty="0">
                    <a:solidFill>
                      <a:srgbClr val="701988"/>
                    </a:solidFill>
                    <a:latin typeface="+mj-ea"/>
                    <a:ea typeface="+mj-ea"/>
                    <a:cs typeface="Times New Roman" panose="02020603050405020304" pitchFamily="18" charset="0"/>
                  </a:rPr>
                  <a:t> </a:t>
                </a:r>
                <a:r>
                  <a:rPr lang="en-US" altLang="zh-CN" sz="2400" b="1" kern="100" dirty="0">
                    <a:solidFill>
                      <a:srgbClr val="701988"/>
                    </a:solidFill>
                    <a:latin typeface="+mj-ea"/>
                    <a:ea typeface="+mj-ea"/>
                    <a:cs typeface="Times New Roman" panose="02020603050405020304" pitchFamily="18" charset="0"/>
                  </a:rPr>
                  <a:t>model</a:t>
                </a:r>
                <a:r>
                  <a:rPr lang="zh-CN" altLang="en-US" sz="2400" b="1" kern="100" dirty="0">
                    <a:solidFill>
                      <a:srgbClr val="701988"/>
                    </a:solidFill>
                    <a:latin typeface="+mj-ea"/>
                    <a:ea typeface="+mj-ea"/>
                    <a:cs typeface="Times New Roman" panose="02020603050405020304" pitchFamily="18" charset="0"/>
                  </a:rPr>
                  <a:t>）</a:t>
                </a:r>
                <a:r>
                  <a:rPr lang="zh-CN" altLang="en-US" sz="2400" b="1" kern="100" dirty="0">
                    <a:latin typeface="+mj-ea"/>
                    <a:ea typeface="+mj-ea"/>
                    <a:cs typeface="Times New Roman" panose="02020603050405020304" pitchFamily="18" charset="0"/>
                  </a:rPr>
                  <a:t>比较不同执行计划的优劣</a:t>
                </a:r>
                <a:endParaRPr lang="en-US" altLang="zh-CN" sz="2400" b="1"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代价估计模型需考虑：</a:t>
                </a:r>
                <a:endParaRPr lang="en-US" altLang="zh-CN" sz="2400" b="1" kern="100" dirty="0">
                  <a:latin typeface="+mj-ea"/>
                  <a:ea typeface="+mj-ea"/>
                  <a:cs typeface="Times New Roman" panose="02020603050405020304" pitchFamily="18" charset="0"/>
                </a:endParaRPr>
              </a:p>
              <a:p>
                <a:pPr marL="800100" lvl="1" indent="-342900" algn="just">
                  <a:lnSpc>
                    <a:spcPct val="150000"/>
                  </a:lnSpc>
                  <a:buFont typeface="Wingdings" panose="05000000000000000000" pitchFamily="2" charset="2"/>
                  <a:buChar char="Ø"/>
                </a:pPr>
                <a:r>
                  <a:rPr lang="zh-CN" altLang="en-US" sz="2400" kern="100" dirty="0">
                    <a:latin typeface="+mj-ea"/>
                    <a:ea typeface="+mj-ea"/>
                    <a:cs typeface="Times New Roman" panose="02020603050405020304" pitchFamily="18" charset="0"/>
                  </a:rPr>
                  <a:t>统计信息：数据分布、行数、</a:t>
                </a:r>
                <a:r>
                  <a:rPr lang="en-US" altLang="zh-CN" sz="2400" kern="100" dirty="0">
                    <a:latin typeface="+mj-ea"/>
                    <a:ea typeface="+mj-ea"/>
                    <a:cs typeface="Times New Roman" panose="02020603050405020304" pitchFamily="18" charset="0"/>
                  </a:rPr>
                  <a:t>Distinct</a:t>
                </a:r>
                <a:r>
                  <a:rPr lang="zh-CN" altLang="en-US" sz="2400" kern="100" dirty="0">
                    <a:latin typeface="+mj-ea"/>
                    <a:ea typeface="+mj-ea"/>
                    <a:cs typeface="Times New Roman" panose="02020603050405020304" pitchFamily="18" charset="0"/>
                  </a:rPr>
                  <a:t>值个数</a:t>
                </a:r>
                <a:endParaRPr lang="en-US" altLang="zh-CN" sz="2400" kern="100" dirty="0">
                  <a:latin typeface="+mj-ea"/>
                  <a:ea typeface="+mj-ea"/>
                  <a:cs typeface="Times New Roman" panose="02020603050405020304" pitchFamily="18" charset="0"/>
                </a:endParaRPr>
              </a:p>
              <a:p>
                <a:pPr marL="800100" lvl="1" indent="-342900" algn="just">
                  <a:lnSpc>
                    <a:spcPct val="150000"/>
                  </a:lnSpc>
                  <a:buFont typeface="Wingdings" panose="05000000000000000000" pitchFamily="2" charset="2"/>
                  <a:buChar char="Ø"/>
                </a:pPr>
                <a:r>
                  <a:rPr lang="zh-CN" altLang="en-US" sz="2400" kern="100" dirty="0">
                    <a:latin typeface="+mj-ea"/>
                    <a:ea typeface="+mj-ea"/>
                    <a:cs typeface="Times New Roman" panose="02020603050405020304" pitchFamily="18" charset="0"/>
                  </a:rPr>
                  <a:t>统计信息收集时机、方法：不能影响在线业务；采样收集</a:t>
                </a:r>
                <a:endParaRPr lang="en-US" altLang="zh-CN" sz="2400" kern="100" dirty="0">
                  <a:latin typeface="+mj-ea"/>
                  <a:ea typeface="+mj-ea"/>
                  <a:cs typeface="Times New Roman" panose="02020603050405020304" pitchFamily="18" charset="0"/>
                </a:endParaRPr>
              </a:p>
              <a:p>
                <a:pPr marL="800100" lvl="1" indent="-342900" algn="just">
                  <a:lnSpc>
                    <a:spcPct val="150000"/>
                  </a:lnSpc>
                  <a:buFont typeface="Wingdings" panose="05000000000000000000" pitchFamily="2" charset="2"/>
                  <a:buChar char="Ø"/>
                </a:pPr>
                <a:r>
                  <a:rPr lang="zh-CN" altLang="en-US" sz="2400" kern="100" dirty="0">
                    <a:latin typeface="+mj-ea"/>
                    <a:ea typeface="+mj-ea"/>
                    <a:cs typeface="Times New Roman" panose="02020603050405020304" pitchFamily="18" charset="0"/>
                  </a:rPr>
                  <a:t>基数估计</a:t>
                </a:r>
                <a:r>
                  <a:rPr lang="en-US" altLang="zh-CN" sz="2400" kern="100" dirty="0">
                    <a:latin typeface="+mj-ea"/>
                    <a:ea typeface="+mj-ea"/>
                    <a:cs typeface="Times New Roman" panose="02020603050405020304" pitchFamily="18" charset="0"/>
                    <a:sym typeface="Wingdings" pitchFamily="2" charset="2"/>
                  </a:rPr>
                  <a:t></a:t>
                </a:r>
                <a:r>
                  <a:rPr lang="zh-CN" altLang="en-US" sz="2400" kern="100" dirty="0">
                    <a:latin typeface="+mj-ea"/>
                    <a:ea typeface="+mj-ea"/>
                    <a:cs typeface="Times New Roman" panose="02020603050405020304" pitchFamily="18" charset="0"/>
                    <a:sym typeface="Wingdings" pitchFamily="2" charset="2"/>
                  </a:rPr>
                  <a:t>代价估计：基数估计来估算中间结果个数，从而用于代价估计</a:t>
                </a:r>
                <a:endParaRPr lang="en-US" altLang="zh-CN" sz="2400" kern="100" dirty="0">
                  <a:latin typeface="+mj-ea"/>
                  <a:ea typeface="+mj-ea"/>
                  <a:cs typeface="Times New Roman" panose="02020603050405020304" pitchFamily="18" charset="0"/>
                </a:endParaRPr>
              </a:p>
              <a:p>
                <a:pPr marL="342900" lvl="0" indent="-342900" algn="just">
                  <a:lnSpc>
                    <a:spcPct val="150000"/>
                  </a:lnSpc>
                  <a:buFont typeface="Wingdings" pitchFamily="2" charset="2"/>
                  <a:buChar char="p"/>
                </a:pPr>
                <a:endParaRPr lang="zh-CN" altLang="zh-CN" sz="2800" kern="100" dirty="0">
                  <a:latin typeface="+mj-ea"/>
                  <a:ea typeface="+mj-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C1909A37-FBBB-91E4-4BBE-41072C3CAB9D}"/>
                  </a:ext>
                </a:extLst>
              </p:cNvPr>
              <p:cNvSpPr>
                <a:spLocks noRot="1" noChangeAspect="1" noMove="1" noResize="1" noEditPoints="1" noAdjustHandles="1" noChangeArrowheads="1" noChangeShapeType="1" noTextEdit="1"/>
              </p:cNvSpPr>
              <p:nvPr/>
            </p:nvSpPr>
            <p:spPr>
              <a:xfrm>
                <a:off x="454679" y="922136"/>
                <a:ext cx="11282640" cy="5833135"/>
              </a:xfrm>
              <a:prstGeom prst="rect">
                <a:avLst/>
              </a:prstGeom>
              <a:blipFill>
                <a:blip r:embed="rId3"/>
                <a:stretch>
                  <a:fillRect l="-7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1536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0B527E5-BCC6-3FA1-36B4-98B75C8B297D}"/>
              </a:ext>
            </a:extLst>
          </p:cNvPr>
          <p:cNvSpPr>
            <a:spLocks noGrp="1"/>
          </p:cNvSpPr>
          <p:nvPr>
            <p:ph type="sldNum" sz="quarter" idx="10"/>
          </p:nvPr>
        </p:nvSpPr>
        <p:spPr/>
        <p:txBody>
          <a:bodyPr/>
          <a:lstStyle/>
          <a:p>
            <a:fld id="{4B0D34C0-35A8-654C-9FBA-7B4E017BD630}" type="slidenum">
              <a:rPr lang="en-US" altLang="zh-CN" smtClean="0"/>
              <a:t>51</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基数</a:t>
            </a:r>
            <a:r>
              <a:rPr kumimoji="1" lang="zh-CN" altLang="en-US" dirty="0"/>
              <a:t>估计</a:t>
            </a:r>
          </a:p>
        </p:txBody>
      </p:sp>
      <p:sp>
        <p:nvSpPr>
          <p:cNvPr id="5" name="页脚占位符 4">
            <a:extLst>
              <a:ext uri="{FF2B5EF4-FFF2-40B4-BE49-F238E27FC236}">
                <a16:creationId xmlns:a16="http://schemas.microsoft.com/office/drawing/2014/main" id="{6C7B87AD-9E0E-D415-64B3-13DCFA6815DD}"/>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1909A37-FBBB-91E4-4BBE-41072C3CAB9D}"/>
                  </a:ext>
                </a:extLst>
              </p:cNvPr>
              <p:cNvSpPr/>
              <p:nvPr/>
            </p:nvSpPr>
            <p:spPr>
              <a:xfrm>
                <a:off x="1008000" y="1134000"/>
                <a:ext cx="11836402" cy="1559081"/>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kern="100" dirty="0">
                    <a:latin typeface="+mj-ea"/>
                    <a:ea typeface="+mj-ea"/>
                    <a:cs typeface="Times New Roman" panose="02020603050405020304" pitchFamily="18" charset="0"/>
                  </a:rPr>
                  <a:t>代价估计的核心是</a:t>
                </a:r>
                <a:r>
                  <a:rPr lang="zh-CN" altLang="en-US" sz="2200" b="1" kern="100" dirty="0">
                    <a:solidFill>
                      <a:srgbClr val="701988"/>
                    </a:solidFill>
                    <a:latin typeface="+mj-ea"/>
                    <a:ea typeface="+mj-ea"/>
                    <a:cs typeface="Times New Roman" panose="02020603050405020304" pitchFamily="18" charset="0"/>
                  </a:rPr>
                  <a:t>基数估计</a:t>
                </a:r>
                <a:r>
                  <a:rPr lang="zh-CN" altLang="en-US" sz="2200" b="1" kern="100" dirty="0">
                    <a:latin typeface="+mj-ea"/>
                    <a:ea typeface="+mj-ea"/>
                    <a:cs typeface="Times New Roman" panose="02020603050405020304" pitchFamily="18" charset="0"/>
                  </a:rPr>
                  <a:t>（</a:t>
                </a:r>
                <a:r>
                  <a:rPr lang="en-US" altLang="zh-CN" sz="2200" b="1" kern="100" dirty="0">
                    <a:latin typeface="+mj-ea"/>
                    <a:ea typeface="+mj-ea"/>
                    <a:cs typeface="Times New Roman" panose="02020603050405020304" pitchFamily="18" charset="0"/>
                  </a:rPr>
                  <a:t>cardinality</a:t>
                </a:r>
                <a:r>
                  <a:rPr lang="zh-CN" altLang="en-US" sz="2200" b="1" kern="100" dirty="0">
                    <a:latin typeface="+mj-ea"/>
                    <a:ea typeface="+mj-ea"/>
                    <a:cs typeface="Times New Roman" panose="02020603050405020304" pitchFamily="18" charset="0"/>
                  </a:rPr>
                  <a:t> </a:t>
                </a:r>
                <a:r>
                  <a:rPr lang="en-US" altLang="zh-CN" sz="2200" b="1" kern="100" dirty="0">
                    <a:latin typeface="+mj-ea"/>
                    <a:ea typeface="+mj-ea"/>
                    <a:cs typeface="Times New Roman" panose="02020603050405020304" pitchFamily="18" charset="0"/>
                  </a:rPr>
                  <a:t>estimation</a:t>
                </a:r>
                <a:r>
                  <a:rPr lang="zh-CN" altLang="en-US" sz="2200" b="1" kern="100" dirty="0">
                    <a:latin typeface="+mj-ea"/>
                    <a:ea typeface="+mj-ea"/>
                    <a:cs typeface="Times New Roman" panose="02020603050405020304" pitchFamily="18" charset="0"/>
                  </a:rPr>
                  <a:t>）</a:t>
                </a:r>
                <a:r>
                  <a:rPr lang="zh-CN" altLang="en-US" sz="2200" kern="100" dirty="0">
                    <a:latin typeface="+mj-ea"/>
                    <a:ea typeface="+mj-ea"/>
                    <a:cs typeface="Times New Roman" panose="02020603050405020304" pitchFamily="18" charset="0"/>
                  </a:rPr>
                  <a:t>，对于谓词</a:t>
                </a:r>
                <a14:m>
                  <m:oMath xmlns:m="http://schemas.openxmlformats.org/officeDocument/2006/math">
                    <m:r>
                      <a:rPr lang="en-US" altLang="zh-CN" sz="2200" kern="100">
                        <a:latin typeface="Cambria Math" panose="02040503050406030204" pitchFamily="18" charset="0"/>
                        <a:ea typeface="+mj-ea"/>
                        <a:cs typeface="Times New Roman" panose="02020603050405020304" pitchFamily="18" charset="0"/>
                      </a:rPr>
                      <m:t>𝑝</m:t>
                    </m:r>
                  </m:oMath>
                </a14:m>
                <a:r>
                  <a:rPr lang="zh-CN" altLang="en-US" sz="2200" kern="100" dirty="0">
                    <a:latin typeface="+mj-ea"/>
                    <a:ea typeface="+mj-ea"/>
                    <a:cs typeface="Times New Roman" panose="02020603050405020304" pitchFamily="18" charset="0"/>
                  </a:rPr>
                  <a:t>组成的查询：</a:t>
                </a:r>
                <a:endParaRPr lang="en-US" altLang="zh-CN" sz="2200"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基数</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cardinality</a:t>
                </a:r>
                <a:r>
                  <a:rPr lang="zh-CN" altLang="en-US" sz="2200" kern="100" dirty="0">
                    <a:latin typeface="+mj-ea"/>
                    <a:ea typeface="+mj-ea"/>
                    <a:cs typeface="Times New Roman" panose="02020603050405020304" pitchFamily="18" charset="0"/>
                  </a:rPr>
                  <a:t>）：查询结果的元组数</a:t>
                </a:r>
                <a14:m>
                  <m:oMath xmlns:m="http://schemas.openxmlformats.org/officeDocument/2006/math">
                    <m:r>
                      <a:rPr lang="zh-CN" altLang="en-US" sz="2200" b="0" i="0" kern="100" smtClean="0">
                        <a:latin typeface="Cambria Math" panose="02040503050406030204" pitchFamily="18" charset="0"/>
                        <a:ea typeface="+mj-ea"/>
                        <a:cs typeface="Times New Roman" panose="02020603050405020304" pitchFamily="18" charset="0"/>
                      </a:rPr>
                      <m:t>。</m:t>
                    </m:r>
                    <m:r>
                      <a:rPr lang="zh-CN" altLang="en-US" sz="2200" i="1" kern="100">
                        <a:latin typeface="Cambria Math" panose="02040503050406030204" pitchFamily="18" charset="0"/>
                        <a:ea typeface="+mj-ea"/>
                        <a:cs typeface="Times New Roman" panose="02020603050405020304" pitchFamily="18" charset="0"/>
                      </a:rPr>
                      <m:t>表示为</m:t>
                    </m:r>
                    <m:r>
                      <a:rPr lang="zh-CN" altLang="en-US" sz="2200" b="0" i="0" kern="100" smtClean="0">
                        <a:latin typeface="Cambria Math" panose="02040503050406030204" pitchFamily="18" charset="0"/>
                        <a:ea typeface="+mj-ea"/>
                        <a:cs typeface="Times New Roman" panose="02020603050405020304" pitchFamily="18" charset="0"/>
                      </a:rPr>
                      <m:t> </m:t>
                    </m:r>
                    <m:r>
                      <m:rPr>
                        <m:sty m:val="p"/>
                      </m:rPr>
                      <a:rPr lang="en-US" altLang="zh-CN" sz="2200" kern="100">
                        <a:latin typeface="Cambria Math" panose="02040503050406030204" pitchFamily="18" charset="0"/>
                        <a:ea typeface="+mj-ea"/>
                        <a:cs typeface="Times New Roman" panose="02020603050405020304" pitchFamily="18" charset="0"/>
                      </a:rPr>
                      <m:t>card</m:t>
                    </m:r>
                    <m:r>
                      <a:rPr lang="en-US" altLang="zh-CN" sz="2200" kern="100">
                        <a:latin typeface="Cambria Math" panose="02040503050406030204" pitchFamily="18" charset="0"/>
                        <a:ea typeface="+mj-ea"/>
                        <a:cs typeface="Times New Roman" panose="02020603050405020304" pitchFamily="18" charset="0"/>
                      </a:rPr>
                      <m:t>(</m:t>
                    </m:r>
                    <m:r>
                      <a:rPr lang="en-US" altLang="zh-CN" sz="2200" kern="100">
                        <a:latin typeface="Cambria Math" panose="02040503050406030204" pitchFamily="18" charset="0"/>
                        <a:ea typeface="+mj-ea"/>
                        <a:cs typeface="Times New Roman" panose="02020603050405020304" pitchFamily="18" charset="0"/>
                      </a:rPr>
                      <m:t>𝑝</m:t>
                    </m:r>
                    <m:r>
                      <a:rPr lang="en-US" altLang="zh-CN" sz="2200" kern="100">
                        <a:latin typeface="Cambria Math" panose="02040503050406030204" pitchFamily="18" charset="0"/>
                        <a:ea typeface="+mj-ea"/>
                        <a:cs typeface="Times New Roman" panose="02020603050405020304" pitchFamily="18" charset="0"/>
                      </a:rPr>
                      <m:t>)</m:t>
                    </m:r>
                  </m:oMath>
                </a14:m>
                <a:r>
                  <a:rPr lang="zh-CN" altLang="en-US" sz="2200" kern="100" dirty="0">
                    <a:latin typeface="+mj-ea"/>
                    <a:ea typeface="+mj-ea"/>
                    <a:cs typeface="Times New Roman" panose="02020603050405020304" pitchFamily="18" charset="0"/>
                  </a:rPr>
                  <a:t>。</a:t>
                </a:r>
                <a:r>
                  <a:rPr lang="zh-CN" altLang="zh-CN" sz="2200" kern="100" dirty="0">
                    <a:latin typeface="+mj-ea"/>
                    <a:ea typeface="+mj-ea"/>
                    <a:cs typeface="Times New Roman" panose="02020603050405020304" pitchFamily="18" charset="0"/>
                  </a:rPr>
                  <a:t> </a:t>
                </a:r>
                <a:endParaRPr lang="en-US" altLang="zh-CN" sz="2200" kern="100" dirty="0">
                  <a:latin typeface="+mj-ea"/>
                  <a:ea typeface="+mj-ea"/>
                  <a:cs typeface="Times New Roman" panose="02020603050405020304" pitchFamily="18" charset="0"/>
                </a:endParaRPr>
              </a:p>
              <a:p>
                <a:pPr marL="342900" lvl="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选择度</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selectivity</a:t>
                </a:r>
                <a:r>
                  <a:rPr lang="zh-CN" altLang="en-US" sz="2200" kern="100" dirty="0">
                    <a:latin typeface="+mj-ea"/>
                    <a:ea typeface="+mj-ea"/>
                    <a:cs typeface="Times New Roman" panose="02020603050405020304" pitchFamily="18" charset="0"/>
                  </a:rPr>
                  <a:t>）：</a:t>
                </a:r>
                <a:r>
                  <a:rPr lang="zh-CN" altLang="zh-CN" sz="2200" kern="100" dirty="0">
                    <a:latin typeface="+mj-ea"/>
                    <a:ea typeface="+mj-ea"/>
                    <a:cs typeface="Times New Roman" panose="02020603050405020304" pitchFamily="18" charset="0"/>
                  </a:rPr>
                  <a:t>符合</a:t>
                </a:r>
                <a14:m>
                  <m:oMath xmlns:m="http://schemas.openxmlformats.org/officeDocument/2006/math">
                    <m:r>
                      <a:rPr lang="en-US" altLang="zh-CN" sz="2200" kern="100">
                        <a:latin typeface="Cambria Math" panose="02040503050406030204" pitchFamily="18" charset="0"/>
                        <a:ea typeface="+mj-ea"/>
                        <a:cs typeface="Times New Roman" panose="02020603050405020304" pitchFamily="18" charset="0"/>
                      </a:rPr>
                      <m:t>𝑝</m:t>
                    </m:r>
                  </m:oMath>
                </a14:m>
                <a:r>
                  <a:rPr lang="zh-CN" altLang="zh-CN" sz="2200" kern="100" dirty="0">
                    <a:latin typeface="+mj-ea"/>
                    <a:ea typeface="+mj-ea"/>
                    <a:cs typeface="Times New Roman" panose="02020603050405020304" pitchFamily="18" charset="0"/>
                  </a:rPr>
                  <a:t>元组占所有元组的比例</a:t>
                </a:r>
                <a:r>
                  <a:rPr lang="en-US" altLang="zh-CN" sz="2200" kern="100" dirty="0">
                    <a:latin typeface="+mj-ea"/>
                    <a:ea typeface="+mj-ea"/>
                    <a:cs typeface="Times New Roman" panose="02020603050405020304" pitchFamily="18" charset="0"/>
                  </a:rPr>
                  <a:t>,</a:t>
                </a:r>
                <a:r>
                  <a:rPr lang="zh-CN" altLang="en-US" sz="2200" kern="100" dirty="0">
                    <a:latin typeface="+mj-ea"/>
                    <a:ea typeface="+mj-ea"/>
                    <a:cs typeface="Times New Roman" panose="02020603050405020304" pitchFamily="18" charset="0"/>
                  </a:rPr>
                  <a:t>表示为</a:t>
                </a:r>
                <a14:m>
                  <m:oMath xmlns:m="http://schemas.openxmlformats.org/officeDocument/2006/math">
                    <m:r>
                      <m:rPr>
                        <m:sty m:val="p"/>
                      </m:rPr>
                      <a:rPr lang="en-US" altLang="zh-CN" sz="2200" kern="100">
                        <a:latin typeface="Cambria Math" panose="02040503050406030204" pitchFamily="18" charset="0"/>
                        <a:ea typeface="+mj-ea"/>
                        <a:cs typeface="Times New Roman" panose="02020603050405020304" pitchFamily="18" charset="0"/>
                      </a:rPr>
                      <m:t>sel</m:t>
                    </m:r>
                    <m:r>
                      <a:rPr lang="en-US" altLang="zh-CN" sz="2200" kern="100">
                        <a:latin typeface="Cambria Math" panose="02040503050406030204" pitchFamily="18" charset="0"/>
                        <a:ea typeface="+mj-ea"/>
                        <a:cs typeface="Times New Roman" panose="02020603050405020304" pitchFamily="18" charset="0"/>
                      </a:rPr>
                      <m:t>(</m:t>
                    </m:r>
                    <m:r>
                      <a:rPr lang="en-US" altLang="zh-CN" sz="2200" kern="100">
                        <a:latin typeface="Cambria Math" panose="02040503050406030204" pitchFamily="18" charset="0"/>
                        <a:ea typeface="+mj-ea"/>
                        <a:cs typeface="Times New Roman" panose="02020603050405020304" pitchFamily="18" charset="0"/>
                      </a:rPr>
                      <m:t>𝑝</m:t>
                    </m:r>
                    <m:r>
                      <a:rPr lang="en-US" altLang="zh-CN" sz="2200" kern="100">
                        <a:latin typeface="Cambria Math" panose="02040503050406030204" pitchFamily="18" charset="0"/>
                        <a:ea typeface="+mj-ea"/>
                        <a:cs typeface="Times New Roman" panose="02020603050405020304" pitchFamily="18" charset="0"/>
                      </a:rPr>
                      <m:t>)</m:t>
                    </m:r>
                  </m:oMath>
                </a14:m>
                <a:r>
                  <a:rPr lang="zh-CN" altLang="zh-CN" sz="2200" kern="100" dirty="0">
                    <a:latin typeface="+mj-ea"/>
                    <a:ea typeface="+mj-ea"/>
                    <a:cs typeface="Times New Roman" panose="02020603050405020304" pitchFamily="18" charset="0"/>
                  </a:rPr>
                  <a:t> </a:t>
                </a:r>
                <a:r>
                  <a:rPr lang="zh-CN" altLang="en-US" sz="2000" kern="100" dirty="0">
                    <a:latin typeface="+mj-ea"/>
                    <a:ea typeface="+mj-ea"/>
                    <a:cs typeface="Times New Roman" panose="02020603050405020304" pitchFamily="18" charset="0"/>
                  </a:rPr>
                  <a:t>。</a:t>
                </a:r>
                <a:endParaRPr lang="zh-CN" altLang="zh-CN" sz="2000" kern="100" dirty="0">
                  <a:latin typeface="+mj-ea"/>
                  <a:ea typeface="+mj-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xmlns:a14="http://schemas.microsoft.com/office/drawing/2010/main" xmlns="" id="{C1909A37-FBBB-91E4-4BBE-41072C3CAB9D}"/>
                  </a:ext>
                </a:extLst>
              </p:cNvPr>
              <p:cNvSpPr>
                <a:spLocks noRot="1" noChangeAspect="1" noMove="1" noResize="1" noEditPoints="1" noAdjustHandles="1" noChangeArrowheads="1" noChangeShapeType="1" noTextEdit="1"/>
              </p:cNvSpPr>
              <p:nvPr/>
            </p:nvSpPr>
            <p:spPr>
              <a:xfrm>
                <a:off x="1008000" y="1134000"/>
                <a:ext cx="11836402" cy="1559081"/>
              </a:xfrm>
              <a:prstGeom prst="rect">
                <a:avLst/>
              </a:prstGeom>
              <a:blipFill rotWithShape="0">
                <a:blip r:embed="rId3"/>
                <a:stretch>
                  <a:fillRect l="-566" b="-70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EFD780D-6ADD-CD54-2A7F-DF86005615AC}"/>
                  </a:ext>
                </a:extLst>
              </p:cNvPr>
              <p:cNvSpPr/>
              <p:nvPr/>
            </p:nvSpPr>
            <p:spPr>
              <a:xfrm>
                <a:off x="1008000" y="5366751"/>
                <a:ext cx="11836402" cy="950260"/>
              </a:xfrm>
              <a:prstGeom prst="rect">
                <a:avLst/>
              </a:prstGeom>
            </p:spPr>
            <p:txBody>
              <a:bodyPr wrap="square">
                <a:spAutoFit/>
              </a:bodyPr>
              <a:lstStyle/>
              <a:p>
                <a:pPr marL="342900" indent="-342900" algn="just">
                  <a:buFont typeface="Wingdings" panose="05000000000000000000" pitchFamily="2" charset="2"/>
                  <a:buChar char="Ø"/>
                </a:pPr>
                <a:r>
                  <a:rPr lang="zh-CN" altLang="en-US" sz="2200" kern="100" dirty="0">
                    <a:latin typeface="+mj-ea"/>
                    <a:ea typeface="+mj-ea"/>
                    <a:cs typeface="Times New Roman" panose="02020603050405020304" pitchFamily="18" charset="0"/>
                  </a:rPr>
                  <a:t>查询“计算机系所有学生的信息”，</a:t>
                </a:r>
                <a:r>
                  <a:rPr lang="zh-CN" altLang="zh-CN" sz="2200" kern="100" dirty="0">
                    <a:latin typeface="+mj-ea"/>
                    <a:ea typeface="+mj-ea"/>
                    <a:cs typeface="Times New Roman" panose="02020603050405020304" pitchFamily="18" charset="0"/>
                  </a:rPr>
                  <a:t> </a:t>
                </a:r>
                <a14:m>
                  <m:oMath xmlns:m="http://schemas.openxmlformats.org/officeDocument/2006/math">
                    <m:sSub>
                      <m:sSubPr>
                        <m:ctrlPr>
                          <a:rPr lang="zh-CN" altLang="zh-CN" sz="2200" i="1" kern="100">
                            <a:latin typeface="Cambria Math" panose="02040503050406030204" pitchFamily="18" charset="0"/>
                            <a:ea typeface="+mj-ea"/>
                            <a:cs typeface="Times New Roman" panose="02020603050405020304" pitchFamily="18" charset="0"/>
                          </a:rPr>
                        </m:ctrlPr>
                      </m:sSubPr>
                      <m:e>
                        <m:r>
                          <a:rPr lang="en-US" altLang="zh-CN" sz="2200" kern="100">
                            <a:latin typeface="Cambria Math" panose="02040503050406030204" pitchFamily="18" charset="0"/>
                            <a:ea typeface="+mj-ea"/>
                            <a:cs typeface="Times New Roman" panose="02020603050405020304" pitchFamily="18" charset="0"/>
                          </a:rPr>
                          <m:t>𝜎</m:t>
                        </m:r>
                      </m:e>
                      <m:sub>
                        <m:r>
                          <a:rPr lang="en-US" altLang="zh-CN" sz="2200" kern="100">
                            <a:latin typeface="Cambria Math" panose="02040503050406030204" pitchFamily="18" charset="0"/>
                            <a:ea typeface="+mj-ea"/>
                            <a:cs typeface="Times New Roman" panose="02020603050405020304" pitchFamily="18" charset="0"/>
                          </a:rPr>
                          <m:t> </m:t>
                        </m:r>
                        <m:r>
                          <m:rPr>
                            <m:sty m:val="p"/>
                          </m:rPr>
                          <a:rPr lang="en-US" altLang="zh-CN" sz="2200" kern="100">
                            <a:latin typeface="Cambria Math" panose="02040503050406030204" pitchFamily="18" charset="0"/>
                            <a:ea typeface="+mj-ea"/>
                            <a:cs typeface="Times New Roman" panose="02020603050405020304" pitchFamily="18" charset="0"/>
                          </a:rPr>
                          <m:t>Sdept</m:t>
                        </m:r>
                        <m:r>
                          <a:rPr lang="en-US" altLang="zh-CN" sz="2200" kern="100">
                            <a:latin typeface="Cambria Math" panose="02040503050406030204" pitchFamily="18" charset="0"/>
                            <a:ea typeface="+mj-ea"/>
                            <a:cs typeface="Times New Roman" panose="02020603050405020304" pitchFamily="18" charset="0"/>
                          </a:rPr>
                          <m:t>=</m:t>
                        </m:r>
                        <m:r>
                          <a:rPr lang="en-US" altLang="zh-CN" sz="2200" i="1" kern="100" smtClean="0">
                            <a:latin typeface="Cambria Math" panose="02040503050406030204" pitchFamily="18" charset="0"/>
                            <a:ea typeface="+mj-ea"/>
                            <a:cs typeface="Times New Roman" panose="02020603050405020304" pitchFamily="18" charset="0"/>
                          </a:rPr>
                          <m:t>“</m:t>
                        </m:r>
                        <m:r>
                          <m:rPr>
                            <m:sty m:val="p"/>
                          </m:rPr>
                          <a:rPr lang="en-US" altLang="zh-CN" sz="2200" kern="100">
                            <a:latin typeface="Cambria Math" panose="02040503050406030204" pitchFamily="18" charset="0"/>
                            <a:ea typeface="+mj-ea"/>
                            <a:cs typeface="Times New Roman" panose="02020603050405020304" pitchFamily="18" charset="0"/>
                          </a:rPr>
                          <m:t>CS</m:t>
                        </m:r>
                        <m:r>
                          <a:rPr lang="en-US" altLang="zh-CN" sz="2200" i="1" kern="100" smtClean="0">
                            <a:latin typeface="Cambria Math" panose="02040503050406030204" pitchFamily="18" charset="0"/>
                            <a:ea typeface="+mj-ea"/>
                            <a:cs typeface="Times New Roman" panose="02020603050405020304" pitchFamily="18" charset="0"/>
                          </a:rPr>
                          <m:t>”</m:t>
                        </m:r>
                        <m:r>
                          <a:rPr lang="en-US" altLang="zh-CN" sz="2200" kern="100">
                            <a:latin typeface="Cambria Math" panose="02040503050406030204" pitchFamily="18" charset="0"/>
                            <a:ea typeface="+mj-ea"/>
                            <a:cs typeface="Times New Roman" panose="02020603050405020304" pitchFamily="18" charset="0"/>
                          </a:rPr>
                          <m:t>  </m:t>
                        </m:r>
                      </m:sub>
                    </m:sSub>
                    <m:r>
                      <a:rPr lang="en-US" altLang="zh-CN" sz="2200" kern="100">
                        <a:latin typeface="Cambria Math" panose="02040503050406030204" pitchFamily="18" charset="0"/>
                        <a:ea typeface="+mj-ea"/>
                        <a:cs typeface="Times New Roman" panose="02020603050405020304" pitchFamily="18" charset="0"/>
                      </a:rPr>
                      <m:t>(</m:t>
                    </m:r>
                    <m:r>
                      <m:rPr>
                        <m:sty m:val="p"/>
                      </m:rPr>
                      <a:rPr lang="en-US" altLang="zh-CN" sz="2200" kern="100">
                        <a:latin typeface="Cambria Math" panose="02040503050406030204" pitchFamily="18" charset="0"/>
                        <a:ea typeface="+mj-ea"/>
                        <a:cs typeface="Times New Roman" panose="02020603050405020304" pitchFamily="18" charset="0"/>
                      </a:rPr>
                      <m:t>Student</m:t>
                    </m:r>
                    <m:r>
                      <a:rPr lang="en-US" altLang="zh-CN" sz="2200" kern="100">
                        <a:latin typeface="Cambria Math" panose="02040503050406030204" pitchFamily="18" charset="0"/>
                        <a:ea typeface="+mj-ea"/>
                        <a:cs typeface="Times New Roman" panose="02020603050405020304" pitchFamily="18" charset="0"/>
                      </a:rPr>
                      <m:t>)</m:t>
                    </m:r>
                  </m:oMath>
                </a14:m>
                <a:r>
                  <a:rPr lang="zh-CN" altLang="zh-CN" sz="2200" kern="100" dirty="0">
                    <a:latin typeface="+mj-ea"/>
                    <a:ea typeface="+mj-ea"/>
                    <a:cs typeface="Times New Roman" panose="02020603050405020304" pitchFamily="18" charset="0"/>
                  </a:rPr>
                  <a:t> </a:t>
                </a:r>
                <a:r>
                  <a:rPr lang="zh-CN" altLang="en-US" sz="2200" kern="100" dirty="0">
                    <a:latin typeface="+mj-ea"/>
                    <a:ea typeface="+mj-ea"/>
                    <a:cs typeface="Times New Roman" panose="02020603050405020304" pitchFamily="18" charset="0"/>
                  </a:rPr>
                  <a:t>。</a:t>
                </a:r>
                <a:endParaRPr lang="en-US" altLang="zh-CN" sz="2200" kern="100" dirty="0">
                  <a:latin typeface="+mj-ea"/>
                  <a:ea typeface="+mj-ea"/>
                  <a:cs typeface="Times New Roman" panose="02020603050405020304" pitchFamily="18" charset="0"/>
                </a:endParaRPr>
              </a:p>
              <a:p>
                <a:pPr marL="342900" lvl="0" indent="-342900" algn="just">
                  <a:buFont typeface="Wingdings" panose="05000000000000000000" pitchFamily="2" charset="2"/>
                  <a:buChar char="Ø"/>
                </a:pPr>
                <a:r>
                  <a:rPr lang="en-US" altLang="zh-CN" sz="2200" kern="100" dirty="0">
                    <a:latin typeface="+mj-ea"/>
                    <a:ea typeface="+mj-ea"/>
                    <a:cs typeface="Times New Roman" panose="02020603050405020304" pitchFamily="18" charset="0"/>
                  </a:rPr>
                  <a:t>5</a:t>
                </a:r>
                <a:r>
                  <a:rPr lang="zh-CN" altLang="en-US" sz="2200" kern="100" dirty="0">
                    <a:latin typeface="+mj-ea"/>
                    <a:ea typeface="+mj-ea"/>
                    <a:cs typeface="Times New Roman" panose="02020603050405020304" pitchFamily="18" charset="0"/>
                  </a:rPr>
                  <a:t>条记录中共有</a:t>
                </a:r>
                <a:r>
                  <a:rPr lang="en-US" altLang="zh-CN" sz="2200" kern="100" dirty="0">
                    <a:latin typeface="+mj-ea"/>
                    <a:ea typeface="+mj-ea"/>
                    <a:cs typeface="Times New Roman" panose="02020603050405020304" pitchFamily="18" charset="0"/>
                  </a:rPr>
                  <a:t>3</a:t>
                </a:r>
                <a:r>
                  <a:rPr lang="zh-CN" altLang="en-US" sz="2200" kern="100" dirty="0">
                    <a:latin typeface="+mj-ea"/>
                    <a:ea typeface="+mj-ea"/>
                    <a:cs typeface="Times New Roman" panose="02020603050405020304" pitchFamily="18" charset="0"/>
                  </a:rPr>
                  <a:t>条符合查询谓词限制。因此基数为</a:t>
                </a:r>
                <a:r>
                  <a:rPr lang="en-US" altLang="zh-CN" sz="2200" kern="100" dirty="0">
                    <a:latin typeface="+mj-ea"/>
                    <a:ea typeface="+mj-ea"/>
                    <a:cs typeface="Times New Roman" panose="02020603050405020304" pitchFamily="18" charset="0"/>
                  </a:rPr>
                  <a:t>3</a:t>
                </a:r>
                <a:r>
                  <a:rPr lang="zh-CN" altLang="en-US" sz="2200" kern="100" dirty="0">
                    <a:latin typeface="+mj-ea"/>
                    <a:ea typeface="+mj-ea"/>
                    <a:cs typeface="Times New Roman" panose="02020603050405020304" pitchFamily="18" charset="0"/>
                  </a:rPr>
                  <a:t>，选择度</a:t>
                </a:r>
                <a14:m>
                  <m:oMath xmlns:m="http://schemas.openxmlformats.org/officeDocument/2006/math">
                    <m:f>
                      <m:fPr>
                        <m:ctrlPr>
                          <a:rPr lang="zh-CN" altLang="zh-CN" sz="2200" i="1" kern="100">
                            <a:latin typeface="Cambria Math" panose="02040503050406030204" pitchFamily="18" charset="0"/>
                            <a:ea typeface="+mj-ea"/>
                            <a:cs typeface="Times New Roman" panose="02020603050405020304" pitchFamily="18" charset="0"/>
                          </a:rPr>
                        </m:ctrlPr>
                      </m:fPr>
                      <m:num>
                        <m:r>
                          <a:rPr lang="en-US" altLang="zh-CN" sz="2200" kern="100">
                            <a:latin typeface="Cambria Math" panose="02040503050406030204" pitchFamily="18" charset="0"/>
                            <a:ea typeface="+mj-ea"/>
                            <a:cs typeface="Times New Roman" panose="02020603050405020304" pitchFamily="18" charset="0"/>
                          </a:rPr>
                          <m:t>3</m:t>
                        </m:r>
                      </m:num>
                      <m:den>
                        <m:r>
                          <a:rPr lang="en-US" altLang="zh-CN" sz="2200" kern="100">
                            <a:latin typeface="Cambria Math" panose="02040503050406030204" pitchFamily="18" charset="0"/>
                            <a:ea typeface="+mj-ea"/>
                            <a:cs typeface="Times New Roman" panose="02020603050405020304" pitchFamily="18" charset="0"/>
                          </a:rPr>
                          <m:t>5</m:t>
                        </m:r>
                      </m:den>
                    </m:f>
                  </m:oMath>
                </a14:m>
                <a:r>
                  <a:rPr lang="zh-CN" altLang="zh-CN" sz="2200" kern="100" dirty="0">
                    <a:latin typeface="+mj-ea"/>
                    <a:ea typeface="+mj-ea"/>
                    <a:cs typeface="Times New Roman" panose="02020603050405020304" pitchFamily="18" charset="0"/>
                  </a:rPr>
                  <a:t> </a:t>
                </a:r>
                <a:r>
                  <a:rPr lang="zh-CN" altLang="en-US" sz="2200" kern="100" dirty="0">
                    <a:latin typeface="+mj-ea"/>
                    <a:ea typeface="+mj-ea"/>
                    <a:cs typeface="Times New Roman" panose="02020603050405020304" pitchFamily="18" charset="0"/>
                  </a:rPr>
                  <a:t>。</a:t>
                </a:r>
                <a:r>
                  <a:rPr lang="zh-CN" altLang="zh-CN" sz="2200" kern="100" dirty="0">
                    <a:latin typeface="+mj-ea"/>
                    <a:ea typeface="+mj-ea"/>
                    <a:cs typeface="Times New Roman" panose="02020603050405020304" pitchFamily="18" charset="0"/>
                  </a:rPr>
                  <a:t> </a:t>
                </a:r>
                <a:endParaRPr lang="en-US" altLang="zh-CN" sz="2200" kern="100" dirty="0">
                  <a:latin typeface="+mj-ea"/>
                  <a:ea typeface="+mj-ea"/>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xmlns:a14="http://schemas.microsoft.com/office/drawing/2010/main" xmlns="" id="{8EFD780D-6ADD-CD54-2A7F-DF86005615AC}"/>
                  </a:ext>
                </a:extLst>
              </p:cNvPr>
              <p:cNvSpPr>
                <a:spLocks noRot="1" noChangeAspect="1" noMove="1" noResize="1" noEditPoints="1" noAdjustHandles="1" noChangeArrowheads="1" noChangeShapeType="1" noTextEdit="1"/>
              </p:cNvSpPr>
              <p:nvPr/>
            </p:nvSpPr>
            <p:spPr>
              <a:xfrm>
                <a:off x="1008000" y="5366751"/>
                <a:ext cx="11836402" cy="950260"/>
              </a:xfrm>
              <a:prstGeom prst="rect">
                <a:avLst/>
              </a:prstGeom>
              <a:blipFill rotWithShape="0">
                <a:blip r:embed="rId4"/>
                <a:stretch>
                  <a:fillRect l="-566" t="-3846" b="-4487"/>
                </a:stretch>
              </a:blipFill>
            </p:spPr>
            <p:txBody>
              <a:bodyPr/>
              <a:lstStyle/>
              <a:p>
                <a:r>
                  <a:rPr lang="zh-CN" altLang="en-US">
                    <a:noFill/>
                  </a:rPr>
                  <a:t> </a:t>
                </a:r>
              </a:p>
            </p:txBody>
          </p:sp>
        </mc:Fallback>
      </mc:AlternateContent>
      <p:graphicFrame>
        <p:nvGraphicFramePr>
          <p:cNvPr id="7" name="表格 6">
            <a:extLst>
              <a:ext uri="{FF2B5EF4-FFF2-40B4-BE49-F238E27FC236}">
                <a16:creationId xmlns:a16="http://schemas.microsoft.com/office/drawing/2014/main" id="{473316BC-0188-2E5F-9923-230C668AD8D9}"/>
              </a:ext>
            </a:extLst>
          </p:cNvPr>
          <p:cNvGraphicFramePr>
            <a:graphicFrameLocks noGrp="1"/>
          </p:cNvGraphicFramePr>
          <p:nvPr>
            <p:extLst>
              <p:ext uri="{D42A27DB-BD31-4B8C-83A1-F6EECF244321}">
                <p14:modId xmlns:p14="http://schemas.microsoft.com/office/powerpoint/2010/main" val="2001457800"/>
              </p:ext>
            </p:extLst>
          </p:nvPr>
        </p:nvGraphicFramePr>
        <p:xfrm>
          <a:off x="3076366" y="2763775"/>
          <a:ext cx="6058930" cy="2428805"/>
        </p:xfrm>
        <a:graphic>
          <a:graphicData uri="http://schemas.openxmlformats.org/drawingml/2006/table">
            <a:tbl>
              <a:tblPr firstRow="1" firstCol="1" bandRow="1">
                <a:tableStyleId>{5940675A-B579-460E-94D1-54222C63F5DA}</a:tableStyleId>
              </a:tblPr>
              <a:tblGrid>
                <a:gridCol w="1446326">
                  <a:extLst>
                    <a:ext uri="{9D8B030D-6E8A-4147-A177-3AD203B41FA5}">
                      <a16:colId xmlns:a16="http://schemas.microsoft.com/office/drawing/2014/main" val="1565780314"/>
                    </a:ext>
                  </a:extLst>
                </a:gridCol>
                <a:gridCol w="1114062">
                  <a:extLst>
                    <a:ext uri="{9D8B030D-6E8A-4147-A177-3AD203B41FA5}">
                      <a16:colId xmlns:a16="http://schemas.microsoft.com/office/drawing/2014/main" val="1474837805"/>
                    </a:ext>
                  </a:extLst>
                </a:gridCol>
                <a:gridCol w="1192241">
                  <a:extLst>
                    <a:ext uri="{9D8B030D-6E8A-4147-A177-3AD203B41FA5}">
                      <a16:colId xmlns:a16="http://schemas.microsoft.com/office/drawing/2014/main" val="1388851519"/>
                    </a:ext>
                  </a:extLst>
                </a:gridCol>
                <a:gridCol w="1143379">
                  <a:extLst>
                    <a:ext uri="{9D8B030D-6E8A-4147-A177-3AD203B41FA5}">
                      <a16:colId xmlns:a16="http://schemas.microsoft.com/office/drawing/2014/main" val="2368670554"/>
                    </a:ext>
                  </a:extLst>
                </a:gridCol>
                <a:gridCol w="1162922">
                  <a:extLst>
                    <a:ext uri="{9D8B030D-6E8A-4147-A177-3AD203B41FA5}">
                      <a16:colId xmlns:a16="http://schemas.microsoft.com/office/drawing/2014/main" val="3585179622"/>
                    </a:ext>
                  </a:extLst>
                </a:gridCol>
              </a:tblGrid>
              <a:tr h="693945">
                <a:tc>
                  <a:txBody>
                    <a:bodyPr/>
                    <a:lstStyle/>
                    <a:p>
                      <a:pPr indent="127000" algn="ctr">
                        <a:lnSpc>
                          <a:spcPct val="150000"/>
                        </a:lnSpc>
                      </a:pPr>
                      <a:r>
                        <a:rPr lang="en-US" sz="1500" kern="100" dirty="0" err="1">
                          <a:effectLst/>
                          <a:latin typeface="SimHei" panose="02010609060101010101" pitchFamily="49" charset="-122"/>
                          <a:ea typeface="SimHei" panose="02010609060101010101" pitchFamily="49" charset="-122"/>
                        </a:rPr>
                        <a:t>Sno</a:t>
                      </a:r>
                      <a:endParaRPr lang="zh-CN" sz="1500" kern="100" dirty="0">
                        <a:effectLst/>
                        <a:latin typeface="SimHei" panose="02010609060101010101" pitchFamily="49" charset="-122"/>
                        <a:ea typeface="SimHei" panose="02010609060101010101" pitchFamily="49" charset="-122"/>
                      </a:endParaRPr>
                    </a:p>
                    <a:p>
                      <a:pPr indent="127000" algn="ctr">
                        <a:lnSpc>
                          <a:spcPct val="150000"/>
                        </a:lnSpc>
                      </a:pPr>
                      <a:r>
                        <a:rPr lang="zh-CN" sz="1500" kern="100" dirty="0">
                          <a:effectLst/>
                          <a:latin typeface="SimHei" panose="02010609060101010101" pitchFamily="49" charset="-122"/>
                          <a:ea typeface="SimHei" panose="02010609060101010101" pitchFamily="49" charset="-122"/>
                        </a:rPr>
                        <a:t>（学号）</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err="1">
                          <a:effectLst/>
                          <a:latin typeface="SimHei" panose="02010609060101010101" pitchFamily="49" charset="-122"/>
                          <a:ea typeface="SimHei" panose="02010609060101010101" pitchFamily="49" charset="-122"/>
                        </a:rPr>
                        <a:t>Sname</a:t>
                      </a:r>
                      <a:endParaRPr lang="zh-CN" sz="1500" kern="100" dirty="0">
                        <a:effectLst/>
                        <a:latin typeface="SimHei" panose="02010609060101010101" pitchFamily="49" charset="-122"/>
                        <a:ea typeface="SimHei" panose="02010609060101010101" pitchFamily="49" charset="-122"/>
                      </a:endParaRPr>
                    </a:p>
                    <a:p>
                      <a:pPr indent="127000" algn="ctr">
                        <a:lnSpc>
                          <a:spcPct val="150000"/>
                        </a:lnSpc>
                      </a:pPr>
                      <a:r>
                        <a:rPr lang="zh-CN" sz="1500" kern="100" dirty="0">
                          <a:effectLst/>
                          <a:latin typeface="SimHei" panose="02010609060101010101" pitchFamily="49" charset="-122"/>
                          <a:ea typeface="SimHei" panose="02010609060101010101" pitchFamily="49" charset="-122"/>
                        </a:rPr>
                        <a:t>（姓名）</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err="1">
                          <a:effectLst/>
                          <a:latin typeface="SimHei" panose="02010609060101010101" pitchFamily="49" charset="-122"/>
                          <a:ea typeface="SimHei" panose="02010609060101010101" pitchFamily="49" charset="-122"/>
                        </a:rPr>
                        <a:t>Sgender</a:t>
                      </a:r>
                      <a:endParaRPr lang="zh-CN" sz="1500" kern="100" dirty="0">
                        <a:effectLst/>
                        <a:latin typeface="SimHei" panose="02010609060101010101" pitchFamily="49" charset="-122"/>
                        <a:ea typeface="SimHei" panose="02010609060101010101" pitchFamily="49" charset="-122"/>
                      </a:endParaRPr>
                    </a:p>
                    <a:p>
                      <a:pPr indent="127000" algn="ctr">
                        <a:lnSpc>
                          <a:spcPct val="150000"/>
                        </a:lnSpc>
                      </a:pPr>
                      <a:r>
                        <a:rPr lang="zh-CN" sz="1500" kern="100" dirty="0">
                          <a:effectLst/>
                          <a:latin typeface="SimHei" panose="02010609060101010101" pitchFamily="49" charset="-122"/>
                          <a:ea typeface="SimHei" panose="02010609060101010101" pitchFamily="49" charset="-122"/>
                        </a:rPr>
                        <a:t>（性别）</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Sage</a:t>
                      </a:r>
                      <a:endParaRPr lang="zh-CN" sz="1500" kern="100" dirty="0">
                        <a:effectLst/>
                        <a:latin typeface="SimHei" panose="02010609060101010101" pitchFamily="49" charset="-122"/>
                        <a:ea typeface="SimHei" panose="02010609060101010101" pitchFamily="49" charset="-122"/>
                      </a:endParaRPr>
                    </a:p>
                    <a:p>
                      <a:pPr indent="127000" algn="ctr">
                        <a:lnSpc>
                          <a:spcPct val="150000"/>
                        </a:lnSpc>
                      </a:pPr>
                      <a:r>
                        <a:rPr lang="zh-CN" sz="1500" kern="100" dirty="0">
                          <a:effectLst/>
                          <a:latin typeface="SimHei" panose="02010609060101010101" pitchFamily="49" charset="-122"/>
                          <a:ea typeface="SimHei" panose="02010609060101010101" pitchFamily="49" charset="-122"/>
                        </a:rPr>
                        <a:t>（年龄）</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err="1">
                          <a:effectLst/>
                          <a:latin typeface="SimHei" panose="02010609060101010101" pitchFamily="49" charset="-122"/>
                          <a:ea typeface="SimHei" panose="02010609060101010101" pitchFamily="49" charset="-122"/>
                        </a:rPr>
                        <a:t>Sdept</a:t>
                      </a:r>
                      <a:endParaRPr lang="zh-CN" sz="1500" kern="100" dirty="0">
                        <a:effectLst/>
                        <a:latin typeface="SimHei" panose="02010609060101010101" pitchFamily="49" charset="-122"/>
                        <a:ea typeface="SimHei" panose="02010609060101010101" pitchFamily="49" charset="-122"/>
                      </a:endParaRPr>
                    </a:p>
                    <a:p>
                      <a:pPr indent="127000" algn="ctr">
                        <a:lnSpc>
                          <a:spcPct val="150000"/>
                        </a:lnSpc>
                      </a:pPr>
                      <a:r>
                        <a:rPr lang="zh-CN" sz="1500" kern="100" dirty="0">
                          <a:effectLst/>
                          <a:latin typeface="SimHei" panose="02010609060101010101" pitchFamily="49" charset="-122"/>
                          <a:ea typeface="SimHei" panose="02010609060101010101" pitchFamily="49" charset="-122"/>
                        </a:rPr>
                        <a:t>（所在系）</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extLst>
                  <a:ext uri="{0D108BD9-81ED-4DB2-BD59-A6C34878D82A}">
                    <a16:rowId xmlns:a16="http://schemas.microsoft.com/office/drawing/2014/main" val="2420608433"/>
                  </a:ext>
                </a:extLst>
              </a:tr>
              <a:tr h="346972">
                <a:tc>
                  <a:txBody>
                    <a:bodyPr/>
                    <a:lstStyle/>
                    <a:p>
                      <a:pPr indent="127000" algn="ctr">
                        <a:lnSpc>
                          <a:spcPct val="150000"/>
                        </a:lnSpc>
                      </a:pPr>
                      <a:r>
                        <a:rPr lang="en-US" sz="1500" kern="100">
                          <a:effectLst/>
                          <a:latin typeface="SimHei" panose="02010609060101010101" pitchFamily="49" charset="-122"/>
                          <a:ea typeface="SimHei" panose="02010609060101010101" pitchFamily="49" charset="-122"/>
                        </a:rPr>
                        <a:t>2021310721</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dirty="0">
                          <a:effectLst/>
                          <a:latin typeface="SimHei" panose="02010609060101010101" pitchFamily="49" charset="-122"/>
                          <a:ea typeface="SimHei" panose="02010609060101010101" pitchFamily="49" charset="-122"/>
                        </a:rPr>
                        <a:t>李博</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dirty="0">
                          <a:effectLst/>
                          <a:latin typeface="SimHei" panose="02010609060101010101" pitchFamily="49" charset="-122"/>
                          <a:ea typeface="SimHei" panose="02010609060101010101" pitchFamily="49" charset="-122"/>
                        </a:rPr>
                        <a:t>男</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17</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CS</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extLst>
                  <a:ext uri="{0D108BD9-81ED-4DB2-BD59-A6C34878D82A}">
                    <a16:rowId xmlns:a16="http://schemas.microsoft.com/office/drawing/2014/main" val="3364775266"/>
                  </a:ext>
                </a:extLst>
              </a:tr>
              <a:tr h="346972">
                <a:tc>
                  <a:txBody>
                    <a:bodyPr/>
                    <a:lstStyle/>
                    <a:p>
                      <a:pPr indent="127000" algn="ctr">
                        <a:lnSpc>
                          <a:spcPct val="150000"/>
                        </a:lnSpc>
                      </a:pPr>
                      <a:r>
                        <a:rPr lang="en-US" sz="1500" kern="100">
                          <a:effectLst/>
                          <a:latin typeface="SimHei" panose="02010609060101010101" pitchFamily="49" charset="-122"/>
                          <a:ea typeface="SimHei" panose="02010609060101010101" pitchFamily="49" charset="-122"/>
                        </a:rPr>
                        <a:t>2021310722</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dirty="0">
                          <a:effectLst/>
                          <a:latin typeface="SimHei" panose="02010609060101010101" pitchFamily="49" charset="-122"/>
                          <a:ea typeface="SimHei" panose="02010609060101010101" pitchFamily="49" charset="-122"/>
                        </a:rPr>
                        <a:t>赵宇</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dirty="0">
                          <a:effectLst/>
                          <a:latin typeface="SimHei" panose="02010609060101010101" pitchFamily="49" charset="-122"/>
                          <a:ea typeface="SimHei" panose="02010609060101010101" pitchFamily="49" charset="-122"/>
                        </a:rPr>
                        <a:t>男</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19</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a:effectLst/>
                          <a:latin typeface="SimHei" panose="02010609060101010101" pitchFamily="49" charset="-122"/>
                          <a:ea typeface="SimHei" panose="02010609060101010101" pitchFamily="49" charset="-122"/>
                        </a:rPr>
                        <a:t>CS</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extLst>
                  <a:ext uri="{0D108BD9-81ED-4DB2-BD59-A6C34878D82A}">
                    <a16:rowId xmlns:a16="http://schemas.microsoft.com/office/drawing/2014/main" val="3418054805"/>
                  </a:ext>
                </a:extLst>
              </a:tr>
              <a:tr h="346972">
                <a:tc>
                  <a:txBody>
                    <a:bodyPr/>
                    <a:lstStyle/>
                    <a:p>
                      <a:pPr indent="127000" algn="ctr">
                        <a:lnSpc>
                          <a:spcPct val="150000"/>
                        </a:lnSpc>
                      </a:pPr>
                      <a:r>
                        <a:rPr lang="en-US" sz="1500" kern="100">
                          <a:effectLst/>
                          <a:latin typeface="SimHei" panose="02010609060101010101" pitchFamily="49" charset="-122"/>
                          <a:ea typeface="SimHei" panose="02010609060101010101" pitchFamily="49" charset="-122"/>
                        </a:rPr>
                        <a:t>2021310723</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a:effectLst/>
                          <a:latin typeface="SimHei" panose="02010609060101010101" pitchFamily="49" charset="-122"/>
                          <a:ea typeface="SimHei" panose="02010609060101010101" pitchFamily="49" charset="-122"/>
                        </a:rPr>
                        <a:t>张敏</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a:effectLst/>
                          <a:latin typeface="SimHei" panose="02010609060101010101" pitchFamily="49" charset="-122"/>
                          <a:ea typeface="SimHei" panose="02010609060101010101" pitchFamily="49" charset="-122"/>
                        </a:rPr>
                        <a:t>女</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18</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CS</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extLst>
                  <a:ext uri="{0D108BD9-81ED-4DB2-BD59-A6C34878D82A}">
                    <a16:rowId xmlns:a16="http://schemas.microsoft.com/office/drawing/2014/main" val="3235951013"/>
                  </a:ext>
                </a:extLst>
              </a:tr>
              <a:tr h="346972">
                <a:tc>
                  <a:txBody>
                    <a:bodyPr/>
                    <a:lstStyle/>
                    <a:p>
                      <a:pPr indent="127000" algn="ctr">
                        <a:lnSpc>
                          <a:spcPct val="150000"/>
                        </a:lnSpc>
                      </a:pPr>
                      <a:r>
                        <a:rPr lang="en-US" sz="1500" kern="100">
                          <a:effectLst/>
                          <a:latin typeface="SimHei" panose="02010609060101010101" pitchFamily="49" charset="-122"/>
                          <a:ea typeface="SimHei" panose="02010609060101010101" pitchFamily="49" charset="-122"/>
                        </a:rPr>
                        <a:t>2021310724</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a:effectLst/>
                          <a:latin typeface="SimHei" panose="02010609060101010101" pitchFamily="49" charset="-122"/>
                          <a:ea typeface="SimHei" panose="02010609060101010101" pitchFamily="49" charset="-122"/>
                        </a:rPr>
                        <a:t>王勇</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a:effectLst/>
                          <a:latin typeface="SimHei" panose="02010609060101010101" pitchFamily="49" charset="-122"/>
                          <a:ea typeface="SimHei" panose="02010609060101010101" pitchFamily="49" charset="-122"/>
                        </a:rPr>
                        <a:t>男</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18</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MA</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extLst>
                  <a:ext uri="{0D108BD9-81ED-4DB2-BD59-A6C34878D82A}">
                    <a16:rowId xmlns:a16="http://schemas.microsoft.com/office/drawing/2014/main" val="412511321"/>
                  </a:ext>
                </a:extLst>
              </a:tr>
              <a:tr h="346972">
                <a:tc>
                  <a:txBody>
                    <a:bodyPr/>
                    <a:lstStyle/>
                    <a:p>
                      <a:pPr indent="127000" algn="ctr">
                        <a:lnSpc>
                          <a:spcPct val="150000"/>
                        </a:lnSpc>
                      </a:pPr>
                      <a:r>
                        <a:rPr lang="en-US" sz="1500" kern="100">
                          <a:effectLst/>
                          <a:latin typeface="SimHei" panose="02010609060101010101" pitchFamily="49" charset="-122"/>
                          <a:ea typeface="SimHei" panose="02010609060101010101" pitchFamily="49" charset="-122"/>
                        </a:rPr>
                        <a:t>2021310725</a:t>
                      </a:r>
                      <a:endParaRPr lang="zh-CN" sz="1500" kern="10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dirty="0">
                          <a:effectLst/>
                          <a:latin typeface="SimHei" panose="02010609060101010101" pitchFamily="49" charset="-122"/>
                          <a:ea typeface="SimHei" panose="02010609060101010101" pitchFamily="49" charset="-122"/>
                        </a:rPr>
                        <a:t>刘佳</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zh-CN" sz="1500" kern="100" dirty="0">
                          <a:effectLst/>
                          <a:latin typeface="SimHei" panose="02010609060101010101" pitchFamily="49" charset="-122"/>
                          <a:ea typeface="SimHei" panose="02010609060101010101" pitchFamily="49" charset="-122"/>
                        </a:rPr>
                        <a:t>女</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17</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tc>
                  <a:txBody>
                    <a:bodyPr/>
                    <a:lstStyle/>
                    <a:p>
                      <a:pPr indent="127000" algn="ctr">
                        <a:lnSpc>
                          <a:spcPct val="150000"/>
                        </a:lnSpc>
                      </a:pPr>
                      <a:r>
                        <a:rPr lang="en-US" sz="1500" kern="100" dirty="0">
                          <a:effectLst/>
                          <a:latin typeface="SimHei" panose="02010609060101010101" pitchFamily="49" charset="-122"/>
                          <a:ea typeface="SimHei" panose="02010609060101010101" pitchFamily="49" charset="-122"/>
                        </a:rPr>
                        <a:t>MA</a:t>
                      </a:r>
                      <a:endParaRPr lang="zh-CN" sz="15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54020" marR="54020" marT="0" marB="0" anchor="ctr"/>
                </a:tc>
                <a:extLst>
                  <a:ext uri="{0D108BD9-81ED-4DB2-BD59-A6C34878D82A}">
                    <a16:rowId xmlns:a16="http://schemas.microsoft.com/office/drawing/2014/main" val="1191235399"/>
                  </a:ext>
                </a:extLst>
              </a:tr>
            </a:tbl>
          </a:graphicData>
        </a:graphic>
      </p:graphicFrame>
      <p:sp>
        <p:nvSpPr>
          <p:cNvPr id="8" name="矩形 7">
            <a:extLst>
              <a:ext uri="{FF2B5EF4-FFF2-40B4-BE49-F238E27FC236}">
                <a16:creationId xmlns:a16="http://schemas.microsoft.com/office/drawing/2014/main" id="{C1658470-DF3E-834F-74A2-C77E2E336DD3}"/>
              </a:ext>
            </a:extLst>
          </p:cNvPr>
          <p:cNvSpPr/>
          <p:nvPr/>
        </p:nvSpPr>
        <p:spPr bwMode="auto">
          <a:xfrm>
            <a:off x="2822824" y="3456193"/>
            <a:ext cx="6548853" cy="1144896"/>
          </a:xfrm>
          <a:prstGeom prst="rect">
            <a:avLst/>
          </a:prstGeom>
          <a:noFill/>
          <a:ln w="38100" cap="flat" cmpd="sng" algn="ctr">
            <a:solidFill>
              <a:srgbClr val="0432FF"/>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334734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dissolv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ABCB40D-3DB4-48F2-F38F-819524D258A9}"/>
              </a:ext>
            </a:extLst>
          </p:cNvPr>
          <p:cNvSpPr>
            <a:spLocks noGrp="1"/>
          </p:cNvSpPr>
          <p:nvPr>
            <p:ph type="sldNum" sz="quarter" idx="10"/>
          </p:nvPr>
        </p:nvSpPr>
        <p:spPr/>
        <p:txBody>
          <a:bodyPr/>
          <a:lstStyle/>
          <a:p>
            <a:fld id="{4B0D34C0-35A8-654C-9FBA-7B4E017BD630}" type="slidenum">
              <a:rPr lang="en-US" altLang="zh-CN" smtClean="0"/>
              <a:t>52</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统计数据</a:t>
            </a:r>
            <a:endParaRPr kumimoji="1" lang="zh-CN" altLang="en-US" dirty="0"/>
          </a:p>
        </p:txBody>
      </p:sp>
      <p:sp>
        <p:nvSpPr>
          <p:cNvPr id="5" name="页脚占位符 4">
            <a:extLst>
              <a:ext uri="{FF2B5EF4-FFF2-40B4-BE49-F238E27FC236}">
                <a16:creationId xmlns:a16="http://schemas.microsoft.com/office/drawing/2014/main" id="{C154A686-52AA-0DE8-F465-DBD2B512DF22}"/>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556D921C-7860-1B82-8694-0611C505D428}"/>
                  </a:ext>
                </a:extLst>
              </p:cNvPr>
              <p:cNvGraphicFramePr>
                <a:graphicFrameLocks noGrp="1"/>
              </p:cNvGraphicFramePr>
              <p:nvPr>
                <p:extLst>
                  <p:ext uri="{D42A27DB-BD31-4B8C-83A1-F6EECF244321}">
                    <p14:modId xmlns:p14="http://schemas.microsoft.com/office/powerpoint/2010/main" val="2224178014"/>
                  </p:ext>
                </p:extLst>
              </p:nvPr>
            </p:nvGraphicFramePr>
            <p:xfrm>
              <a:off x="696900" y="1215278"/>
              <a:ext cx="10874188" cy="5055105"/>
            </p:xfrm>
            <a:graphic>
              <a:graphicData uri="http://schemas.openxmlformats.org/drawingml/2006/table">
                <a:tbl>
                  <a:tblPr firstRow="1" firstCol="1" bandRow="1">
                    <a:tableStyleId>{72833802-FEF1-4C79-8D5D-14CF1EAF98D9}</a:tableStyleId>
                  </a:tblPr>
                  <a:tblGrid>
                    <a:gridCol w="1503715">
                      <a:extLst>
                        <a:ext uri="{9D8B030D-6E8A-4147-A177-3AD203B41FA5}">
                          <a16:colId xmlns:a16="http://schemas.microsoft.com/office/drawing/2014/main" val="1096519403"/>
                        </a:ext>
                      </a:extLst>
                    </a:gridCol>
                    <a:gridCol w="9370473">
                      <a:extLst>
                        <a:ext uri="{9D8B030D-6E8A-4147-A177-3AD203B41FA5}">
                          <a16:colId xmlns:a16="http://schemas.microsoft.com/office/drawing/2014/main" val="908532569"/>
                        </a:ext>
                      </a:extLst>
                    </a:gridCol>
                  </a:tblGrid>
                  <a:tr h="377389">
                    <a:tc>
                      <a:txBody>
                        <a:bodyPr/>
                        <a:lstStyle/>
                        <a:p>
                          <a:pPr indent="127000" algn="ctr">
                            <a:lnSpc>
                              <a:spcPct val="150000"/>
                            </a:lnSpc>
                          </a:pPr>
                          <a:r>
                            <a:rPr lang="zh-CN" sz="2000" kern="100" dirty="0">
                              <a:effectLst/>
                              <a:latin typeface="+mj-ea"/>
                              <a:ea typeface="+mj-ea"/>
                            </a:rPr>
                            <a:t>统计信息</a:t>
                          </a:r>
                          <a:endParaRPr lang="zh-CN" sz="20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2000" kern="100" dirty="0">
                              <a:effectLst/>
                              <a:latin typeface="+mj-ea"/>
                              <a:ea typeface="+mj-ea"/>
                            </a:rPr>
                            <a:t>说明</a:t>
                          </a:r>
                          <a:endParaRPr lang="zh-CN" sz="20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1459079059"/>
                      </a:ext>
                    </a:extLst>
                  </a:tr>
                  <a:tr h="447304">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mj-ea"/>
                                  </a:rPr>
                                  <m:t>𝑇</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oMath>
                            </m:oMathPara>
                          </a14:m>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just">
                            <a:lnSpc>
                              <a:spcPct val="150000"/>
                            </a:lnSpc>
                          </a:pPr>
                          <a:r>
                            <a:rPr lang="zh-CN" sz="1800" kern="100" dirty="0">
                              <a:effectLst/>
                              <a:latin typeface="+mj-ea"/>
                              <a:ea typeface="+mj-ea"/>
                            </a:rPr>
                            <a:t>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的元组数目</a:t>
                          </a:r>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1194498302"/>
                      </a:ext>
                    </a:extLst>
                  </a:tr>
                  <a:tr h="447304">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𝐵</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oMath>
                            </m:oMathPara>
                          </a14:m>
                          <a:endParaRPr lang="zh-CN" sz="1800" kern="10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just">
                            <a:lnSpc>
                              <a:spcPct val="150000"/>
                            </a:lnSpc>
                          </a:pPr>
                          <a:r>
                            <a:rPr lang="zh-CN" sz="1800" kern="100" dirty="0">
                              <a:effectLst/>
                              <a:latin typeface="+mj-ea"/>
                              <a:ea typeface="+mj-ea"/>
                            </a:rPr>
                            <a:t>关系</a:t>
                          </a:r>
                          <a14:m>
                            <m:oMath xmlns:m="http://schemas.openxmlformats.org/officeDocument/2006/math">
                              <m:r>
                                <a:rPr lang="en-US" sz="1800" kern="100">
                                  <a:effectLst/>
                                  <a:latin typeface="Cambria Math" panose="02040503050406030204" pitchFamily="18" charset="0"/>
                                  <a:ea typeface="+mj-ea"/>
                                </a:rPr>
                                <m:t>𝑅</m:t>
                              </m:r>
                            </m:oMath>
                          </a14:m>
                          <a:r>
                            <a:rPr lang="zh-CN" altLang="en-US" sz="1800" kern="100" dirty="0">
                              <a:effectLst/>
                              <a:latin typeface="+mj-ea"/>
                              <a:ea typeface="+mj-ea"/>
                            </a:rPr>
                            <a:t>的</a:t>
                          </a:r>
                          <a:r>
                            <a:rPr lang="zh-CN" sz="1800" kern="100" dirty="0">
                              <a:effectLst/>
                              <a:latin typeface="+mj-ea"/>
                              <a:ea typeface="+mj-ea"/>
                            </a:rPr>
                            <a:t>所有元组需要的</a:t>
                          </a:r>
                          <a:r>
                            <a:rPr lang="zh-CN" altLang="en-US" sz="1800" kern="100" dirty="0">
                              <a:effectLst/>
                              <a:latin typeface="+mj-ea"/>
                              <a:ea typeface="+mj-ea"/>
                            </a:rPr>
                            <a:t>页面</a:t>
                          </a:r>
                          <a:r>
                            <a:rPr lang="zh-CN" sz="1800" kern="100" dirty="0">
                              <a:effectLst/>
                              <a:latin typeface="+mj-ea"/>
                              <a:ea typeface="+mj-ea"/>
                            </a:rPr>
                            <a:t>数</a:t>
                          </a:r>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29232626"/>
                      </a:ext>
                    </a:extLst>
                  </a:tr>
                  <a:tr h="447304">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𝐿</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oMath>
                            </m:oMathPara>
                          </a14:m>
                          <a:endParaRPr lang="zh-CN" sz="1800" kern="10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just">
                            <a:lnSpc>
                              <a:spcPct val="150000"/>
                            </a:lnSpc>
                          </a:pPr>
                          <a:r>
                            <a:rPr lang="zh-CN" sz="1800" kern="100" dirty="0">
                              <a:effectLst/>
                              <a:latin typeface="+mj-ea"/>
                              <a:ea typeface="+mj-ea"/>
                            </a:rPr>
                            <a:t>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一个元组</a:t>
                          </a:r>
                          <a:r>
                            <a:rPr lang="zh-CN" altLang="en-US" sz="1800" kern="100" dirty="0">
                              <a:effectLst/>
                              <a:latin typeface="+mj-ea"/>
                              <a:ea typeface="+mj-ea"/>
                            </a:rPr>
                            <a:t>平均所需</a:t>
                          </a:r>
                          <a:r>
                            <a:rPr lang="zh-CN" sz="1800" kern="100" dirty="0">
                              <a:effectLst/>
                              <a:latin typeface="+mj-ea"/>
                              <a:ea typeface="+mj-ea"/>
                            </a:rPr>
                            <a:t>的字节数</a:t>
                          </a:r>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4155640038"/>
                      </a:ext>
                    </a:extLst>
                  </a:tr>
                  <a:tr h="447304">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𝑓</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oMath>
                            </m:oMathPara>
                          </a14:m>
                          <a:endParaRPr lang="zh-CN" sz="1800" kern="10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just">
                            <a:lnSpc>
                              <a:spcPct val="150000"/>
                            </a:lnSpc>
                          </a:pPr>
                          <a:r>
                            <a:rPr lang="zh-CN" sz="1800" kern="100" dirty="0">
                              <a:effectLst/>
                              <a:latin typeface="+mj-ea"/>
                              <a:ea typeface="+mj-ea"/>
                            </a:rPr>
                            <a:t>一个</a:t>
                          </a:r>
                          <a:r>
                            <a:rPr lang="zh-CN" altLang="en-US" sz="1800" kern="100" dirty="0">
                              <a:effectLst/>
                              <a:latin typeface="+mj-ea"/>
                              <a:ea typeface="+mj-ea"/>
                            </a:rPr>
                            <a:t>页面</a:t>
                          </a:r>
                          <a:r>
                            <a:rPr lang="zh-CN" sz="1800" kern="100" dirty="0">
                              <a:effectLst/>
                              <a:latin typeface="+mj-ea"/>
                              <a:ea typeface="+mj-ea"/>
                            </a:rPr>
                            <a:t>能存储的关系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的元组数</a:t>
                          </a:r>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725004595"/>
                      </a:ext>
                    </a:extLst>
                  </a:tr>
                  <a:tr h="447304">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m:rPr>
                                    <m:sty m:val="p"/>
                                  </m:rPr>
                                  <a:rPr lang="en-US" sz="1800" kern="100">
                                    <a:effectLst/>
                                    <a:latin typeface="Cambria Math" panose="02040503050406030204" pitchFamily="18" charset="0"/>
                                    <a:ea typeface="+mj-ea"/>
                                  </a:rPr>
                                  <m:t>min</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𝐴</m:t>
                                </m:r>
                                <m:r>
                                  <a:rPr lang="en-US" sz="1800" kern="100">
                                    <a:effectLst/>
                                    <a:latin typeface="Cambria Math" panose="02040503050406030204" pitchFamily="18" charset="0"/>
                                    <a:ea typeface="+mj-ea"/>
                                  </a:rPr>
                                  <m:t>)</m:t>
                                </m:r>
                              </m:oMath>
                            </m:oMathPara>
                          </a14:m>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just">
                            <a:lnSpc>
                              <a:spcPct val="150000"/>
                            </a:lnSpc>
                          </a:pPr>
                          <a:r>
                            <a:rPr lang="zh-CN" sz="1800" kern="100" dirty="0">
                              <a:effectLst/>
                              <a:latin typeface="+mj-ea"/>
                              <a:ea typeface="+mj-ea"/>
                            </a:rPr>
                            <a:t>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在属性</a:t>
                          </a:r>
                          <a14:m>
                            <m:oMath xmlns:m="http://schemas.openxmlformats.org/officeDocument/2006/math">
                              <m:r>
                                <a:rPr lang="en-US" sz="1800" kern="100">
                                  <a:effectLst/>
                                  <a:latin typeface="Cambria Math" panose="02040503050406030204" pitchFamily="18" charset="0"/>
                                  <a:ea typeface="+mj-ea"/>
                                </a:rPr>
                                <m:t>𝐴</m:t>
                              </m:r>
                            </m:oMath>
                          </a14:m>
                          <a:r>
                            <a:rPr lang="zh-CN" sz="1800" kern="100" dirty="0">
                              <a:effectLst/>
                              <a:latin typeface="+mj-ea"/>
                              <a:ea typeface="+mj-ea"/>
                            </a:rPr>
                            <a:t>上取值的最小值</a:t>
                          </a:r>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01967007"/>
                      </a:ext>
                    </a:extLst>
                  </a:tr>
                  <a:tr h="447304">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m:rPr>
                                    <m:sty m:val="p"/>
                                  </m:rPr>
                                  <a:rPr lang="en-US" sz="1800" kern="100">
                                    <a:effectLst/>
                                    <a:latin typeface="Cambria Math" panose="02040503050406030204" pitchFamily="18" charset="0"/>
                                    <a:ea typeface="+mj-ea"/>
                                  </a:rPr>
                                  <m:t>max</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𝐴</m:t>
                                </m:r>
                                <m:r>
                                  <a:rPr lang="en-US" sz="1800" kern="100">
                                    <a:effectLst/>
                                    <a:latin typeface="Cambria Math" panose="02040503050406030204" pitchFamily="18" charset="0"/>
                                    <a:ea typeface="+mj-ea"/>
                                  </a:rPr>
                                  <m:t>)</m:t>
                                </m:r>
                              </m:oMath>
                            </m:oMathPara>
                          </a14:m>
                          <a:endParaRPr lang="zh-CN" sz="1800" kern="10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just">
                            <a:lnSpc>
                              <a:spcPct val="150000"/>
                            </a:lnSpc>
                          </a:pPr>
                          <a:r>
                            <a:rPr lang="zh-CN" sz="1800" kern="100" dirty="0">
                              <a:effectLst/>
                              <a:latin typeface="+mj-ea"/>
                              <a:ea typeface="+mj-ea"/>
                            </a:rPr>
                            <a:t>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在属性</a:t>
                          </a:r>
                          <a14:m>
                            <m:oMath xmlns:m="http://schemas.openxmlformats.org/officeDocument/2006/math">
                              <m:r>
                                <a:rPr lang="en-US" sz="1800" kern="100">
                                  <a:effectLst/>
                                  <a:latin typeface="Cambria Math" panose="02040503050406030204" pitchFamily="18" charset="0"/>
                                  <a:ea typeface="+mj-ea"/>
                                </a:rPr>
                                <m:t>𝐴</m:t>
                              </m:r>
                            </m:oMath>
                          </a14:m>
                          <a:r>
                            <a:rPr lang="zh-CN" sz="1800" kern="100" dirty="0">
                              <a:effectLst/>
                              <a:latin typeface="+mj-ea"/>
                              <a:ea typeface="+mj-ea"/>
                            </a:rPr>
                            <a:t>上取值的最大值</a:t>
                          </a:r>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215841723"/>
                      </a:ext>
                    </a:extLst>
                  </a:tr>
                  <a:tr h="983996">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ea typeface="+mj-ea"/>
                                  </a:rPr>
                                  <m:t>𝑉</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𝐴</m:t>
                                </m:r>
                                <m:r>
                                  <a:rPr lang="en-US" sz="1800" kern="100">
                                    <a:effectLst/>
                                    <a:latin typeface="Cambria Math" panose="02040503050406030204" pitchFamily="18" charset="0"/>
                                    <a:ea typeface="+mj-ea"/>
                                  </a:rPr>
                                  <m:t>)</m:t>
                                </m:r>
                              </m:oMath>
                            </m:oMathPara>
                          </a14:m>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just">
                            <a:lnSpc>
                              <a:spcPct val="150000"/>
                            </a:lnSpc>
                          </a:pPr>
                          <a:r>
                            <a:rPr lang="zh-CN" sz="1800" kern="100" dirty="0">
                              <a:effectLst/>
                              <a:latin typeface="+mj-ea"/>
                              <a:ea typeface="+mj-ea"/>
                            </a:rPr>
                            <a:t>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在属性</a:t>
                          </a:r>
                          <a14:m>
                            <m:oMath xmlns:m="http://schemas.openxmlformats.org/officeDocument/2006/math">
                              <m:r>
                                <a:rPr lang="en-US" sz="1800" kern="100">
                                  <a:effectLst/>
                                  <a:latin typeface="Cambria Math" panose="02040503050406030204" pitchFamily="18" charset="0"/>
                                  <a:ea typeface="+mj-ea"/>
                                </a:rPr>
                                <m:t>𝐴</m:t>
                              </m:r>
                            </m:oMath>
                          </a14:m>
                          <a:r>
                            <a:rPr lang="zh-CN" sz="1800" kern="100" dirty="0">
                              <a:effectLst/>
                              <a:latin typeface="+mj-ea"/>
                              <a:ea typeface="+mj-ea"/>
                            </a:rPr>
                            <a:t>上不同值个数。</a:t>
                          </a:r>
                          <a:r>
                            <a:rPr lang="zh-CN" altLang="en-US" sz="1800" kern="100" dirty="0">
                              <a:effectLst/>
                              <a:latin typeface="+mj-ea"/>
                              <a:ea typeface="+mj-ea"/>
                            </a:rPr>
                            <a:t>当</a:t>
                          </a:r>
                          <a14:m>
                            <m:oMath xmlns:m="http://schemas.openxmlformats.org/officeDocument/2006/math">
                              <m:r>
                                <a:rPr lang="en-US" sz="1800" kern="100">
                                  <a:effectLst/>
                                  <a:latin typeface="Cambria Math" panose="02040503050406030204" pitchFamily="18" charset="0"/>
                                  <a:ea typeface="+mj-ea"/>
                                </a:rPr>
                                <m:t>𝐴</m:t>
                              </m:r>
                            </m:oMath>
                          </a14:m>
                          <a:r>
                            <a:rPr lang="zh-CN" sz="1800" kern="100" dirty="0">
                              <a:effectLst/>
                              <a:latin typeface="+mj-ea"/>
                              <a:ea typeface="+mj-ea"/>
                            </a:rPr>
                            <a:t>扩展为属性集合</a:t>
                          </a:r>
                          <a14:m>
                            <m:oMath xmlns:m="http://schemas.openxmlformats.org/officeDocument/2006/math">
                              <m:r>
                                <a:rPr lang="en-US" sz="1800" kern="100">
                                  <a:effectLst/>
                                  <a:latin typeface="Cambria Math" panose="02040503050406030204" pitchFamily="18" charset="0"/>
                                  <a:ea typeface="+mj-ea"/>
                                </a:rPr>
                                <m:t>𝒜</m:t>
                              </m:r>
                            </m:oMath>
                          </a14:m>
                          <a:r>
                            <a:rPr lang="zh-CN" sz="1800" kern="100" dirty="0">
                              <a:effectLst/>
                              <a:latin typeface="+mj-ea"/>
                              <a:ea typeface="+mj-ea"/>
                            </a:rPr>
                            <a:t>时</a:t>
                          </a:r>
                          <a:r>
                            <a:rPr lang="zh-CN" altLang="en-US" sz="1800" kern="100" dirty="0">
                              <a:effectLst/>
                              <a:latin typeface="+mj-ea"/>
                              <a:ea typeface="+mj-ea"/>
                            </a:rPr>
                            <a:t>，</a:t>
                          </a:r>
                          <a14:m>
                            <m:oMath xmlns:m="http://schemas.openxmlformats.org/officeDocument/2006/math">
                              <m:r>
                                <a:rPr lang="en-US" sz="1800" kern="100">
                                  <a:effectLst/>
                                  <a:latin typeface="Cambria Math" panose="02040503050406030204" pitchFamily="18" charset="0"/>
                                  <a:ea typeface="+mj-ea"/>
                                </a:rPr>
                                <m:t>𝑉</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𝑅</m:t>
                              </m:r>
                              <m:r>
                                <a:rPr lang="en-US" sz="1800" kern="100">
                                  <a:effectLst/>
                                  <a:latin typeface="Cambria Math" panose="02040503050406030204" pitchFamily="18" charset="0"/>
                                  <a:ea typeface="+mj-ea"/>
                                </a:rPr>
                                <m:t>,</m:t>
                              </m:r>
                              <m:r>
                                <a:rPr lang="en-US" sz="1800" kern="100">
                                  <a:effectLst/>
                                  <a:latin typeface="Cambria Math" panose="02040503050406030204" pitchFamily="18" charset="0"/>
                                  <a:ea typeface="+mj-ea"/>
                                </a:rPr>
                                <m:t>𝒜</m:t>
                              </m:r>
                              <m:r>
                                <a:rPr lang="en-US" sz="1800" kern="100">
                                  <a:effectLst/>
                                  <a:latin typeface="Cambria Math" panose="02040503050406030204" pitchFamily="18" charset="0"/>
                                  <a:ea typeface="+mj-ea"/>
                                </a:rPr>
                                <m:t>)</m:t>
                              </m:r>
                            </m:oMath>
                          </a14:m>
                          <a:r>
                            <a:rPr lang="zh-CN" sz="1800" kern="100" dirty="0">
                              <a:effectLst/>
                              <a:latin typeface="+mj-ea"/>
                              <a:ea typeface="+mj-ea"/>
                            </a:rPr>
                            <a:t>表示关系</a:t>
                          </a:r>
                          <a14:m>
                            <m:oMath xmlns:m="http://schemas.openxmlformats.org/officeDocument/2006/math">
                              <m:r>
                                <a:rPr lang="en-US" sz="1800" kern="100">
                                  <a:effectLst/>
                                  <a:latin typeface="Cambria Math" panose="02040503050406030204" pitchFamily="18" charset="0"/>
                                  <a:ea typeface="+mj-ea"/>
                                </a:rPr>
                                <m:t>𝑅</m:t>
                              </m:r>
                            </m:oMath>
                          </a14:m>
                          <a:r>
                            <a:rPr lang="zh-CN" sz="1800" kern="100" dirty="0">
                              <a:effectLst/>
                              <a:latin typeface="+mj-ea"/>
                              <a:ea typeface="+mj-ea"/>
                            </a:rPr>
                            <a:t>在属性集</a:t>
                          </a:r>
                          <a14:m>
                            <m:oMath xmlns:m="http://schemas.openxmlformats.org/officeDocument/2006/math">
                              <m:r>
                                <a:rPr lang="en-US" sz="1800" kern="100">
                                  <a:effectLst/>
                                  <a:latin typeface="Cambria Math" panose="02040503050406030204" pitchFamily="18" charset="0"/>
                                  <a:ea typeface="+mj-ea"/>
                                </a:rPr>
                                <m:t>𝒜</m:t>
                              </m:r>
                            </m:oMath>
                          </a14:m>
                          <a:r>
                            <a:rPr lang="zh-CN" sz="1800" kern="100" dirty="0">
                              <a:effectLst/>
                              <a:latin typeface="+mj-ea"/>
                              <a:ea typeface="+mj-ea"/>
                            </a:rPr>
                            <a:t>上投影后不同的元组数，</a:t>
                          </a:r>
                          <a:r>
                            <a:rPr lang="zh-CN" altLang="en-US" sz="1800" kern="100" dirty="0">
                              <a:effectLst/>
                              <a:latin typeface="+mj-ea"/>
                              <a:ea typeface="+mj-ea"/>
                            </a:rPr>
                            <a:t>即</a:t>
                          </a:r>
                          <a14:m>
                            <m:oMath xmlns:m="http://schemas.openxmlformats.org/officeDocument/2006/math">
                              <m:sSub>
                                <m:sSubPr>
                                  <m:ctrlPr>
                                    <a:rPr lang="zh-CN" sz="1800" i="1" kern="100">
                                      <a:effectLst/>
                                      <a:latin typeface="Cambria Math" panose="02040503050406030204" pitchFamily="18" charset="0"/>
                                      <a:ea typeface="+mj-ea"/>
                                    </a:rPr>
                                  </m:ctrlPr>
                                </m:sSubPr>
                                <m:e>
                                  <m:r>
                                    <m:rPr>
                                      <m:sty m:val="p"/>
                                    </m:rPr>
                                    <a:rPr lang="en-US" sz="1800" kern="100">
                                      <a:effectLst/>
                                      <a:latin typeface="Cambria Math" panose="02040503050406030204" pitchFamily="18" charset="0"/>
                                      <a:ea typeface="+mj-ea"/>
                                    </a:rPr>
                                    <m:t>Π</m:t>
                                  </m:r>
                                </m:e>
                                <m:sub>
                                  <m:r>
                                    <a:rPr lang="en-US" sz="1800" kern="100">
                                      <a:effectLst/>
                                      <a:latin typeface="Cambria Math" panose="02040503050406030204" pitchFamily="18" charset="0"/>
                                      <a:ea typeface="+mj-ea"/>
                                    </a:rPr>
                                    <m:t>𝒜</m:t>
                                  </m:r>
                                </m:sub>
                              </m:sSub>
                              <m:d>
                                <m:dPr>
                                  <m:ctrlPr>
                                    <a:rPr lang="zh-CN" sz="1800" i="1" kern="100">
                                      <a:effectLst/>
                                      <a:latin typeface="Cambria Math" panose="02040503050406030204" pitchFamily="18" charset="0"/>
                                      <a:ea typeface="+mj-ea"/>
                                    </a:rPr>
                                  </m:ctrlPr>
                                </m:dPr>
                                <m:e>
                                  <m:r>
                                    <a:rPr lang="en-US" sz="1800" kern="100">
                                      <a:effectLst/>
                                      <a:latin typeface="Cambria Math" panose="02040503050406030204" pitchFamily="18" charset="0"/>
                                      <a:ea typeface="+mj-ea"/>
                                    </a:rPr>
                                    <m:t>𝑅</m:t>
                                  </m:r>
                                </m:e>
                              </m:d>
                            </m:oMath>
                          </a14:m>
                          <a:r>
                            <a:rPr lang="zh-CN" sz="1800" kern="100" dirty="0">
                              <a:effectLst/>
                              <a:latin typeface="+mj-ea"/>
                              <a:ea typeface="+mj-ea"/>
                            </a:rPr>
                            <a:t>元组数</a:t>
                          </a:r>
                          <a:endParaRPr lang="zh-CN" sz="18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1466832885"/>
                      </a:ext>
                    </a:extLst>
                  </a:tr>
                  <a:tr h="983996">
                    <a:tc>
                      <a:txBody>
                        <a:bodyPr/>
                        <a:lstStyle/>
                        <a:p>
                          <a:pPr marL="0" marR="0" lvl="0" indent="127000" algn="just" defTabSz="844083"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1800" b="1" i="1" kern="100" smtClean="0">
                                    <a:solidFill>
                                      <a:schemeClr val="tx1"/>
                                    </a:solidFill>
                                    <a:effectLst/>
                                    <a:latin typeface="Cambria Math" panose="02040503050406030204" pitchFamily="18" charset="0"/>
                                    <a:ea typeface="+mn-ea"/>
                                    <a:cs typeface="+mn-cs"/>
                                  </a:rPr>
                                  <m:t>MCV</m:t>
                                </m:r>
                                <m:r>
                                  <a:rPr lang="en-US" altLang="zh-CN" sz="1800" b="1" kern="100" smtClean="0">
                                    <a:solidFill>
                                      <a:schemeClr val="tx1"/>
                                    </a:solidFill>
                                    <a:effectLst/>
                                    <a:latin typeface="Cambria Math" panose="02040503050406030204" pitchFamily="18" charset="0"/>
                                    <a:ea typeface="+mn-ea"/>
                                    <a:cs typeface="+mn-cs"/>
                                  </a:rPr>
                                  <m:t>(</m:t>
                                </m:r>
                                <m:r>
                                  <a:rPr lang="en-US" altLang="zh-CN" sz="1800" b="1" kern="100" smtClean="0">
                                    <a:solidFill>
                                      <a:schemeClr val="tx1"/>
                                    </a:solidFill>
                                    <a:effectLst/>
                                    <a:latin typeface="Cambria Math" panose="02040503050406030204" pitchFamily="18" charset="0"/>
                                    <a:ea typeface="+mn-ea"/>
                                    <a:cs typeface="+mn-cs"/>
                                  </a:rPr>
                                  <m:t>𝑅</m:t>
                                </m:r>
                                <m:r>
                                  <a:rPr lang="en-US" altLang="zh-CN" sz="1800" b="1" kern="100" smtClean="0">
                                    <a:solidFill>
                                      <a:schemeClr val="tx1"/>
                                    </a:solidFill>
                                    <a:effectLst/>
                                    <a:latin typeface="Cambria Math" panose="02040503050406030204" pitchFamily="18" charset="0"/>
                                    <a:ea typeface="+mn-ea"/>
                                    <a:cs typeface="+mn-cs"/>
                                  </a:rPr>
                                  <m:t>,</m:t>
                                </m:r>
                                <m:r>
                                  <a:rPr lang="en-US" altLang="zh-CN" sz="1800" b="1" kern="100" smtClean="0">
                                    <a:solidFill>
                                      <a:schemeClr val="tx1"/>
                                    </a:solidFill>
                                    <a:effectLst/>
                                    <a:latin typeface="Cambria Math" panose="02040503050406030204" pitchFamily="18" charset="0"/>
                                    <a:ea typeface="+mn-ea"/>
                                    <a:cs typeface="+mn-cs"/>
                                  </a:rPr>
                                  <m:t>𝐴</m:t>
                                </m:r>
                                <m:r>
                                  <a:rPr lang="en-US" altLang="zh-CN" sz="1800" b="1" kern="100" smtClean="0">
                                    <a:solidFill>
                                      <a:schemeClr val="tx1"/>
                                    </a:solidFill>
                                    <a:effectLst/>
                                    <a:latin typeface="Cambria Math" panose="02040503050406030204" pitchFamily="18" charset="0"/>
                                    <a:ea typeface="+mn-ea"/>
                                    <a:cs typeface="+mn-cs"/>
                                  </a:rPr>
                                  <m:t>)</m:t>
                                </m:r>
                              </m:oMath>
                            </m:oMathPara>
                          </a14:m>
                          <a:endParaRPr lang="zh-CN" altLang="zh-CN" sz="1800" b="1" kern="100" dirty="0">
                            <a:solidFill>
                              <a:schemeClr val="tx1"/>
                            </a:solidFill>
                            <a:effectLst/>
                            <a:latin typeface="+mj-ea"/>
                            <a:ea typeface="+mn-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marR="0" lvl="0" indent="127000" algn="just" defTabSz="844083" rtl="0" eaLnBrk="1" fontAlgn="auto" latinLnBrk="0" hangingPunct="1">
                            <a:lnSpc>
                              <a:spcPct val="150000"/>
                            </a:lnSpc>
                            <a:spcBef>
                              <a:spcPts val="0"/>
                            </a:spcBef>
                            <a:spcAft>
                              <a:spcPts val="0"/>
                            </a:spcAft>
                            <a:buClrTx/>
                            <a:buSzTx/>
                            <a:buFontTx/>
                            <a:buNone/>
                            <a:tabLst/>
                            <a:defRPr/>
                          </a:pPr>
                          <a:r>
                            <a:rPr lang="zh-CN" altLang="zh-CN" sz="1800" kern="100" dirty="0">
                              <a:solidFill>
                                <a:schemeClr val="tx1"/>
                              </a:solidFill>
                              <a:effectLst/>
                              <a:latin typeface="+mj-ea"/>
                              <a:ea typeface="+mn-ea"/>
                              <a:cs typeface="+mn-cs"/>
                            </a:rPr>
                            <a:t>关系</a:t>
                          </a:r>
                          <a14:m>
                            <m:oMath xmlns:m="http://schemas.openxmlformats.org/officeDocument/2006/math">
                              <m:r>
                                <a:rPr lang="en-US" altLang="zh-CN" sz="1800" kern="100">
                                  <a:solidFill>
                                    <a:schemeClr val="tx1"/>
                                  </a:solidFill>
                                  <a:effectLst/>
                                  <a:latin typeface="Cambria Math" panose="02040503050406030204" pitchFamily="18" charset="0"/>
                                  <a:ea typeface="+mn-ea"/>
                                  <a:cs typeface="+mn-cs"/>
                                </a:rPr>
                                <m:t>𝑅</m:t>
                              </m:r>
                            </m:oMath>
                          </a14:m>
                          <a:r>
                            <a:rPr lang="zh-CN" altLang="zh-CN" sz="1800" kern="100" dirty="0">
                              <a:solidFill>
                                <a:schemeClr val="tx1"/>
                              </a:solidFill>
                              <a:effectLst/>
                              <a:latin typeface="+mj-ea"/>
                              <a:ea typeface="+mn-ea"/>
                              <a:cs typeface="+mn-cs"/>
                            </a:rPr>
                            <a:t>在属性</a:t>
                          </a:r>
                          <a14:m>
                            <m:oMath xmlns:m="http://schemas.openxmlformats.org/officeDocument/2006/math">
                              <m:r>
                                <a:rPr lang="en-US" altLang="zh-CN" sz="1800" kern="100">
                                  <a:solidFill>
                                    <a:schemeClr val="tx1"/>
                                  </a:solidFill>
                                  <a:effectLst/>
                                  <a:latin typeface="Cambria Math" panose="02040503050406030204" pitchFamily="18" charset="0"/>
                                  <a:ea typeface="+mn-ea"/>
                                  <a:cs typeface="+mn-cs"/>
                                </a:rPr>
                                <m:t>𝐴</m:t>
                              </m:r>
                            </m:oMath>
                          </a14:m>
                          <a:r>
                            <a:rPr lang="zh-CN" altLang="zh-CN" sz="1800" kern="100" dirty="0">
                              <a:solidFill>
                                <a:schemeClr val="tx1"/>
                              </a:solidFill>
                              <a:effectLst/>
                              <a:latin typeface="+mj-ea"/>
                              <a:ea typeface="+mn-ea"/>
                              <a:cs typeface="+mn-cs"/>
                            </a:rPr>
                            <a:t>上取值</a:t>
                          </a:r>
                          <a:r>
                            <a:rPr lang="zh-CN" altLang="en-US" sz="1800" kern="100" dirty="0">
                              <a:solidFill>
                                <a:schemeClr val="tx1"/>
                              </a:solidFill>
                              <a:effectLst/>
                              <a:latin typeface="+mj-ea"/>
                              <a:ea typeface="+mn-ea"/>
                              <a:cs typeface="+mn-cs"/>
                            </a:rPr>
                            <a:t>最频繁的</a:t>
                          </a:r>
                          <a:r>
                            <a:rPr lang="en-US" altLang="zh-CN" sz="1800" kern="100" dirty="0" err="1">
                              <a:solidFill>
                                <a:schemeClr val="tx1"/>
                              </a:solidFill>
                              <a:effectLst/>
                              <a:latin typeface="+mj-ea"/>
                              <a:ea typeface="+mn-ea"/>
                              <a:cs typeface="+mn-cs"/>
                            </a:rPr>
                            <a:t>topk</a:t>
                          </a:r>
                          <a:r>
                            <a:rPr lang="zh-CN" altLang="en-US" sz="1800" kern="100" dirty="0">
                              <a:solidFill>
                                <a:schemeClr val="tx1"/>
                              </a:solidFill>
                              <a:effectLst/>
                              <a:latin typeface="+mj-ea"/>
                              <a:ea typeface="+mn-ea"/>
                              <a:cs typeface="+mn-cs"/>
                            </a:rPr>
                            <a:t>（</a:t>
                          </a:r>
                          <a:r>
                            <a:rPr lang="en-US" altLang="zh-CN" sz="1800" kern="100" dirty="0">
                              <a:solidFill>
                                <a:schemeClr val="tx1"/>
                              </a:solidFill>
                              <a:effectLst/>
                              <a:latin typeface="+mj-ea"/>
                              <a:ea typeface="+mn-ea"/>
                              <a:cs typeface="+mn-cs"/>
                            </a:rPr>
                            <a:t>most</a:t>
                          </a:r>
                          <a:r>
                            <a:rPr lang="zh-CN" altLang="en-US" sz="1800" kern="100" dirty="0">
                              <a:solidFill>
                                <a:schemeClr val="tx1"/>
                              </a:solidFill>
                              <a:effectLst/>
                              <a:latin typeface="+mj-ea"/>
                              <a:ea typeface="+mn-ea"/>
                              <a:cs typeface="+mn-cs"/>
                            </a:rPr>
                            <a:t> </a:t>
                          </a:r>
                          <a:r>
                            <a:rPr lang="en-US" altLang="zh-CN" sz="1800" kern="100" dirty="0">
                              <a:solidFill>
                                <a:schemeClr val="tx1"/>
                              </a:solidFill>
                              <a:effectLst/>
                              <a:latin typeface="+mj-ea"/>
                              <a:ea typeface="+mn-ea"/>
                              <a:cs typeface="+mn-cs"/>
                            </a:rPr>
                            <a:t>common</a:t>
                          </a:r>
                          <a:r>
                            <a:rPr lang="zh-CN" altLang="en-US" sz="1800" kern="100" dirty="0">
                              <a:solidFill>
                                <a:schemeClr val="tx1"/>
                              </a:solidFill>
                              <a:effectLst/>
                              <a:latin typeface="+mj-ea"/>
                              <a:ea typeface="+mn-ea"/>
                              <a:cs typeface="+mn-cs"/>
                            </a:rPr>
                            <a:t> </a:t>
                          </a:r>
                          <a:r>
                            <a:rPr lang="en-US" altLang="zh-CN" sz="1800" kern="100" dirty="0">
                              <a:solidFill>
                                <a:schemeClr val="tx1"/>
                              </a:solidFill>
                              <a:effectLst/>
                              <a:latin typeface="+mj-ea"/>
                              <a:ea typeface="+mn-ea"/>
                              <a:cs typeface="+mn-cs"/>
                            </a:rPr>
                            <a:t>value</a:t>
                          </a:r>
                          <a:r>
                            <a:rPr lang="zh-CN" altLang="en-US" sz="1800" kern="100" dirty="0">
                              <a:solidFill>
                                <a:schemeClr val="tx1"/>
                              </a:solidFill>
                              <a:effectLst/>
                              <a:latin typeface="+mj-ea"/>
                              <a:ea typeface="+mn-ea"/>
                              <a:cs typeface="+mn-cs"/>
                            </a:rPr>
                            <a:t>）</a:t>
                          </a:r>
                          <a:endParaRPr lang="zh-CN" altLang="zh-CN" sz="1800" kern="100" dirty="0">
                            <a:solidFill>
                              <a:schemeClr val="tx1"/>
                            </a:solidFill>
                            <a:effectLst/>
                            <a:latin typeface="+mj-ea"/>
                            <a:ea typeface="+mn-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1401200767"/>
                      </a:ext>
                    </a:extLst>
                  </a:tr>
                </a:tbl>
              </a:graphicData>
            </a:graphic>
          </p:graphicFrame>
        </mc:Choice>
        <mc:Fallback xmlns="">
          <p:graphicFrame>
            <p:nvGraphicFramePr>
              <p:cNvPr id="4" name="表格 3">
                <a:extLst>
                  <a:ext uri="{FF2B5EF4-FFF2-40B4-BE49-F238E27FC236}">
                    <a16:creationId xmlns:a16="http://schemas.microsoft.com/office/drawing/2014/main" id="{556D921C-7860-1B82-8694-0611C505D428}"/>
                  </a:ext>
                </a:extLst>
              </p:cNvPr>
              <p:cNvGraphicFramePr>
                <a:graphicFrameLocks noGrp="1"/>
              </p:cNvGraphicFramePr>
              <p:nvPr>
                <p:extLst>
                  <p:ext uri="{D42A27DB-BD31-4B8C-83A1-F6EECF244321}">
                    <p14:modId xmlns:p14="http://schemas.microsoft.com/office/powerpoint/2010/main" val="2224178014"/>
                  </p:ext>
                </p:extLst>
              </p:nvPr>
            </p:nvGraphicFramePr>
            <p:xfrm>
              <a:off x="696900" y="1215278"/>
              <a:ext cx="10874188" cy="5055105"/>
            </p:xfrm>
            <a:graphic>
              <a:graphicData uri="http://schemas.openxmlformats.org/drawingml/2006/table">
                <a:tbl>
                  <a:tblPr firstRow="1" firstCol="1" bandRow="1">
                    <a:tableStyleId>{72833802-FEF1-4C79-8D5D-14CF1EAF98D9}</a:tableStyleId>
                  </a:tblPr>
                  <a:tblGrid>
                    <a:gridCol w="1503715">
                      <a:extLst>
                        <a:ext uri="{9D8B030D-6E8A-4147-A177-3AD203B41FA5}">
                          <a16:colId xmlns:a16="http://schemas.microsoft.com/office/drawing/2014/main" val="1096519403"/>
                        </a:ext>
                      </a:extLst>
                    </a:gridCol>
                    <a:gridCol w="9370473">
                      <a:extLst>
                        <a:ext uri="{9D8B030D-6E8A-4147-A177-3AD203B41FA5}">
                          <a16:colId xmlns:a16="http://schemas.microsoft.com/office/drawing/2014/main" val="908532569"/>
                        </a:ext>
                      </a:extLst>
                    </a:gridCol>
                  </a:tblGrid>
                  <a:tr h="403289">
                    <a:tc>
                      <a:txBody>
                        <a:bodyPr/>
                        <a:lstStyle/>
                        <a:p>
                          <a:pPr indent="127000" algn="ctr">
                            <a:lnSpc>
                              <a:spcPct val="150000"/>
                            </a:lnSpc>
                          </a:pPr>
                          <a:r>
                            <a:rPr lang="zh-CN" sz="2000" kern="100" dirty="0">
                              <a:effectLst/>
                              <a:latin typeface="+mj-ea"/>
                              <a:ea typeface="+mj-ea"/>
                            </a:rPr>
                            <a:t>统计信息</a:t>
                          </a:r>
                          <a:endParaRPr lang="zh-CN" sz="20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ctr">
                            <a:lnSpc>
                              <a:spcPct val="150000"/>
                            </a:lnSpc>
                          </a:pPr>
                          <a:r>
                            <a:rPr lang="zh-CN" sz="2000" kern="100" dirty="0">
                              <a:effectLst/>
                              <a:latin typeface="+mj-ea"/>
                              <a:ea typeface="+mj-ea"/>
                            </a:rPr>
                            <a:t>说明</a:t>
                          </a:r>
                          <a:endParaRPr lang="zh-CN" sz="2000" kern="100" dirty="0">
                            <a:effectLst/>
                            <a:latin typeface="+mj-ea"/>
                            <a:ea typeface="+mj-ea"/>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1459079059"/>
                      </a:ext>
                    </a:extLst>
                  </a:tr>
                  <a:tr h="447304">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91429" r="-621849" b="-951429"/>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91429" r="-135" b="-951429"/>
                          </a:stretch>
                        </a:blipFill>
                      </a:tcPr>
                    </a:tc>
                    <a:extLst>
                      <a:ext uri="{0D108BD9-81ED-4DB2-BD59-A6C34878D82A}">
                        <a16:rowId xmlns:a16="http://schemas.microsoft.com/office/drawing/2014/main" val="1194498302"/>
                      </a:ext>
                    </a:extLst>
                  </a:tr>
                  <a:tr h="447304">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191429" r="-621849" b="-851429"/>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191429" r="-135" b="-851429"/>
                          </a:stretch>
                        </a:blipFill>
                      </a:tcPr>
                    </a:tc>
                    <a:extLst>
                      <a:ext uri="{0D108BD9-81ED-4DB2-BD59-A6C34878D82A}">
                        <a16:rowId xmlns:a16="http://schemas.microsoft.com/office/drawing/2014/main" val="2429232626"/>
                      </a:ext>
                    </a:extLst>
                  </a:tr>
                  <a:tr h="447304">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283333" r="-621849" b="-727778"/>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283333" r="-135" b="-727778"/>
                          </a:stretch>
                        </a:blipFill>
                      </a:tcPr>
                    </a:tc>
                    <a:extLst>
                      <a:ext uri="{0D108BD9-81ED-4DB2-BD59-A6C34878D82A}">
                        <a16:rowId xmlns:a16="http://schemas.microsoft.com/office/drawing/2014/main" val="4155640038"/>
                      </a:ext>
                    </a:extLst>
                  </a:tr>
                  <a:tr h="447304">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394286" r="-621849" b="-648571"/>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394286" r="-135" b="-648571"/>
                          </a:stretch>
                        </a:blipFill>
                      </a:tcPr>
                    </a:tc>
                    <a:extLst>
                      <a:ext uri="{0D108BD9-81ED-4DB2-BD59-A6C34878D82A}">
                        <a16:rowId xmlns:a16="http://schemas.microsoft.com/office/drawing/2014/main" val="2725004595"/>
                      </a:ext>
                    </a:extLst>
                  </a:tr>
                  <a:tr h="447304">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494286" r="-621849" b="-548571"/>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494286" r="-135" b="-548571"/>
                          </a:stretch>
                        </a:blipFill>
                      </a:tcPr>
                    </a:tc>
                    <a:extLst>
                      <a:ext uri="{0D108BD9-81ED-4DB2-BD59-A6C34878D82A}">
                        <a16:rowId xmlns:a16="http://schemas.microsoft.com/office/drawing/2014/main" val="201967007"/>
                      </a:ext>
                    </a:extLst>
                  </a:tr>
                  <a:tr h="447304">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577778" r="-621849" b="-433333"/>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577778" r="-135" b="-433333"/>
                          </a:stretch>
                        </a:blipFill>
                      </a:tcPr>
                    </a:tc>
                    <a:extLst>
                      <a:ext uri="{0D108BD9-81ED-4DB2-BD59-A6C34878D82A}">
                        <a16:rowId xmlns:a16="http://schemas.microsoft.com/office/drawing/2014/main" val="3215841723"/>
                      </a:ext>
                    </a:extLst>
                  </a:tr>
                  <a:tr h="983996">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316883" r="-621849" b="-102597"/>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316883" r="-135" b="-102597"/>
                          </a:stretch>
                        </a:blipFill>
                      </a:tcPr>
                    </a:tc>
                    <a:extLst>
                      <a:ext uri="{0D108BD9-81ED-4DB2-BD59-A6C34878D82A}">
                        <a16:rowId xmlns:a16="http://schemas.microsoft.com/office/drawing/2014/main" val="1466832885"/>
                      </a:ext>
                    </a:extLst>
                  </a:tr>
                  <a:tr h="983996">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t="-411538" r="-621849" b="-1282"/>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a:blip r:embed="rId3"/>
                          <a:stretch>
                            <a:fillRect l="-16103" t="-411538" r="-135" b="-1282"/>
                          </a:stretch>
                        </a:blipFill>
                      </a:tcPr>
                    </a:tc>
                    <a:extLst>
                      <a:ext uri="{0D108BD9-81ED-4DB2-BD59-A6C34878D82A}">
                        <a16:rowId xmlns:a16="http://schemas.microsoft.com/office/drawing/2014/main" val="1401200767"/>
                      </a:ext>
                    </a:extLst>
                  </a:tr>
                </a:tbl>
              </a:graphicData>
            </a:graphic>
          </p:graphicFrame>
        </mc:Fallback>
      </mc:AlternateContent>
    </p:spTree>
    <p:extLst>
      <p:ext uri="{BB962C8B-B14F-4D97-AF65-F5344CB8AC3E}">
        <p14:creationId xmlns:p14="http://schemas.microsoft.com/office/powerpoint/2010/main" val="88969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2159726" y="2004400"/>
            <a:ext cx="7620000" cy="411772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F0D4D251-C5B3-0F18-2D6E-C696F4C5259D}"/>
              </a:ext>
            </a:extLst>
          </p:cNvPr>
          <p:cNvSpPr>
            <a:spLocks noGrp="1"/>
          </p:cNvSpPr>
          <p:nvPr>
            <p:ph type="sldNum" sz="quarter" idx="10"/>
          </p:nvPr>
        </p:nvSpPr>
        <p:spPr/>
        <p:txBody>
          <a:bodyPr/>
          <a:lstStyle/>
          <a:p>
            <a:fld id="{4B0D34C0-35A8-654C-9FBA-7B4E017BD630}" type="slidenum">
              <a:rPr lang="en-US" altLang="zh-CN" smtClean="0"/>
              <a:t>53</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直方图</a:t>
            </a:r>
            <a:endParaRPr kumimoji="1" lang="zh-CN" altLang="en-US" dirty="0"/>
          </a:p>
        </p:txBody>
      </p:sp>
      <p:sp>
        <p:nvSpPr>
          <p:cNvPr id="5" name="页脚占位符 4">
            <a:extLst>
              <a:ext uri="{FF2B5EF4-FFF2-40B4-BE49-F238E27FC236}">
                <a16:creationId xmlns:a16="http://schemas.microsoft.com/office/drawing/2014/main" id="{B84B227B-7A41-38B7-6440-653721459FC5}"/>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3" name="矩形 2">
            <a:extLst>
              <a:ext uri="{FF2B5EF4-FFF2-40B4-BE49-F238E27FC236}">
                <a16:creationId xmlns:a16="http://schemas.microsoft.com/office/drawing/2014/main" id="{2D4F2358-4805-6112-0F69-A83C02654B85}"/>
              </a:ext>
            </a:extLst>
          </p:cNvPr>
          <p:cNvSpPr/>
          <p:nvPr/>
        </p:nvSpPr>
        <p:spPr>
          <a:xfrm>
            <a:off x="856913" y="1268188"/>
            <a:ext cx="11985523" cy="581057"/>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400" kern="100" dirty="0">
                <a:latin typeface="+mj-ea"/>
                <a:ea typeface="+mj-ea"/>
                <a:cs typeface="Times New Roman" panose="02020603050405020304" pitchFamily="18" charset="0"/>
              </a:rPr>
              <a:t>直方图（</a:t>
            </a:r>
            <a:r>
              <a:rPr lang="en-US" altLang="zh-CN" sz="2400" kern="100" dirty="0">
                <a:latin typeface="+mj-ea"/>
                <a:ea typeface="+mj-ea"/>
                <a:cs typeface="Times New Roman" panose="02020603050405020304" pitchFamily="18" charset="0"/>
              </a:rPr>
              <a:t>histogram</a:t>
            </a:r>
            <a:r>
              <a:rPr lang="zh-CN" altLang="zh-CN" sz="2400" kern="100" dirty="0">
                <a:latin typeface="+mj-ea"/>
                <a:ea typeface="+mj-ea"/>
                <a:cs typeface="Times New Roman" panose="02020603050405020304" pitchFamily="18" charset="0"/>
              </a:rPr>
              <a:t>）</a:t>
            </a:r>
            <a:r>
              <a:rPr lang="zh-CN" altLang="en-US" sz="2400" kern="100" dirty="0">
                <a:latin typeface="+mj-ea"/>
                <a:ea typeface="+mj-ea"/>
                <a:cs typeface="Times New Roman" panose="02020603050405020304" pitchFamily="18" charset="0"/>
              </a:rPr>
              <a:t>：一组</a:t>
            </a:r>
            <a:r>
              <a:rPr lang="zh-CN" altLang="en-US" sz="2400" kern="100" dirty="0">
                <a:solidFill>
                  <a:srgbClr val="701988"/>
                </a:solidFill>
                <a:latin typeface="+mj-ea"/>
                <a:ea typeface="+mj-ea"/>
                <a:cs typeface="Times New Roman" panose="02020603050405020304" pitchFamily="18" charset="0"/>
              </a:rPr>
              <a:t>区间</a:t>
            </a:r>
            <a:r>
              <a:rPr lang="zh-CN" altLang="en-US" sz="2400" kern="100" dirty="0">
                <a:latin typeface="+mj-ea"/>
                <a:ea typeface="+mj-ea"/>
                <a:cs typeface="Times New Roman" panose="02020603050405020304" pitchFamily="18" charset="0"/>
              </a:rPr>
              <a:t>（桶）以及这些区间中取值出现的</a:t>
            </a:r>
            <a:r>
              <a:rPr lang="zh-CN" altLang="en-US" sz="2400" kern="100" dirty="0">
                <a:solidFill>
                  <a:srgbClr val="701988"/>
                </a:solidFill>
                <a:latin typeface="+mj-ea"/>
                <a:ea typeface="+mj-ea"/>
                <a:cs typeface="Times New Roman" panose="02020603050405020304" pitchFamily="18" charset="0"/>
              </a:rPr>
              <a:t>频率</a:t>
            </a:r>
            <a:endParaRPr lang="en-US" altLang="zh-CN" sz="2400" kern="100" dirty="0">
              <a:solidFill>
                <a:srgbClr val="701988"/>
              </a:solidFill>
              <a:latin typeface="+mj-ea"/>
              <a:ea typeface="+mj-ea"/>
              <a:cs typeface="Times New Roman" panose="02020603050405020304" pitchFamily="18" charset="0"/>
            </a:endParaRPr>
          </a:p>
        </p:txBody>
      </p:sp>
      <p:pic>
        <p:nvPicPr>
          <p:cNvPr id="7" name="图片 6">
            <a:extLst>
              <a:ext uri="{FF2B5EF4-FFF2-40B4-BE49-F238E27FC236}">
                <a16:creationId xmlns:a16="http://schemas.microsoft.com/office/drawing/2014/main" id="{5E98AF7C-26DC-4849-1E48-44D288D90A77}"/>
              </a:ext>
            </a:extLst>
          </p:cNvPr>
          <p:cNvPicPr>
            <a:picLocks noChangeAspect="1"/>
          </p:cNvPicPr>
          <p:nvPr/>
        </p:nvPicPr>
        <p:blipFill>
          <a:blip r:embed="rId3"/>
          <a:srcRect/>
          <a:stretch/>
        </p:blipFill>
        <p:spPr>
          <a:xfrm>
            <a:off x="2732917" y="2359141"/>
            <a:ext cx="6726166" cy="3026774"/>
          </a:xfrm>
          <a:prstGeom prst="rect">
            <a:avLst/>
          </a:prstGeom>
        </p:spPr>
      </p:pic>
      <p:sp>
        <p:nvSpPr>
          <p:cNvPr id="8" name="矩形 7">
            <a:extLst>
              <a:ext uri="{FF2B5EF4-FFF2-40B4-BE49-F238E27FC236}">
                <a16:creationId xmlns:a16="http://schemas.microsoft.com/office/drawing/2014/main" id="{344F2E76-6690-190F-1C6C-D32D245AD613}"/>
              </a:ext>
            </a:extLst>
          </p:cNvPr>
          <p:cNvSpPr/>
          <p:nvPr/>
        </p:nvSpPr>
        <p:spPr>
          <a:xfrm>
            <a:off x="3913697" y="5497923"/>
            <a:ext cx="3518912" cy="400110"/>
          </a:xfrm>
          <a:prstGeom prst="rect">
            <a:avLst/>
          </a:prstGeom>
        </p:spPr>
        <p:txBody>
          <a:bodyPr wrap="none">
            <a:spAutoFit/>
          </a:bodyPr>
          <a:lstStyle/>
          <a:p>
            <a:r>
              <a:rPr lang="zh-CN" altLang="en-US" sz="2000" b="1" dirty="0">
                <a:latin typeface="+mj-ea"/>
                <a:ea typeface="+mj-ea"/>
              </a:rPr>
              <a:t>示例，对月份属性建立直方图</a:t>
            </a:r>
          </a:p>
        </p:txBody>
      </p:sp>
    </p:spTree>
    <p:extLst>
      <p:ext uri="{BB962C8B-B14F-4D97-AF65-F5344CB8AC3E}">
        <p14:creationId xmlns:p14="http://schemas.microsoft.com/office/powerpoint/2010/main" val="2115325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hape18">
            <a:extLst>
              <a:ext uri="{FF2B5EF4-FFF2-40B4-BE49-F238E27FC236}">
                <a16:creationId xmlns:a16="http://schemas.microsoft.com/office/drawing/2014/main" id="{0FF52922-3D42-4412-80D4-E8608AC407DF}"/>
              </a:ext>
            </a:extLst>
          </p:cNvPr>
          <p:cNvSpPr/>
          <p:nvPr/>
        </p:nvSpPr>
        <p:spPr>
          <a:xfrm>
            <a:off x="618309" y="2624318"/>
            <a:ext cx="10981509" cy="375835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F0D4D251-C5B3-0F18-2D6E-C696F4C5259D}"/>
              </a:ext>
            </a:extLst>
          </p:cNvPr>
          <p:cNvSpPr>
            <a:spLocks noGrp="1"/>
          </p:cNvSpPr>
          <p:nvPr>
            <p:ph type="sldNum" sz="quarter" idx="10"/>
          </p:nvPr>
        </p:nvSpPr>
        <p:spPr/>
        <p:txBody>
          <a:bodyPr/>
          <a:lstStyle/>
          <a:p>
            <a:fld id="{4B0D34C0-35A8-654C-9FBA-7B4E017BD630}" type="slidenum">
              <a:rPr lang="en-US" altLang="zh-CN" smtClean="0"/>
              <a:t>54</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直方图分类</a:t>
            </a:r>
            <a:endParaRPr kumimoji="1" lang="zh-CN" altLang="en-US" dirty="0"/>
          </a:p>
        </p:txBody>
      </p:sp>
      <p:sp>
        <p:nvSpPr>
          <p:cNvPr id="5" name="页脚占位符 4">
            <a:extLst>
              <a:ext uri="{FF2B5EF4-FFF2-40B4-BE49-F238E27FC236}">
                <a16:creationId xmlns:a16="http://schemas.microsoft.com/office/drawing/2014/main" id="{B9CC9984-0994-4240-5AC7-FC891203C645}"/>
              </a:ext>
            </a:extLst>
          </p:cNvPr>
          <p:cNvSpPr>
            <a:spLocks noGrp="1"/>
          </p:cNvSpPr>
          <p:nvPr>
            <p:ph type="ftr" sz="quarter" idx="3"/>
          </p:nvPr>
        </p:nvSpPr>
        <p:spPr/>
        <p:txBody>
          <a:bodyPr/>
          <a:lstStyle/>
          <a:p>
            <a:r>
              <a:rPr kumimoji="1" lang="zh-CN" altLang="en-US" dirty="0"/>
              <a:t>数据库系统</a:t>
            </a:r>
            <a:r>
              <a:rPr kumimoji="1" lang="en-US" altLang="zh-CN" dirty="0"/>
              <a:t>—</a:t>
            </a:r>
            <a:r>
              <a:rPr kumimoji="1" lang="zh-CN" altLang="en-US" dirty="0"/>
              <a:t>优化器</a:t>
            </a:r>
            <a:endParaRPr kumimoji="1" lang="zh-CN" altLang="en-US" dirty="0">
              <a:latin typeface="SimHei" panose="02010609060101010101" pitchFamily="49" charset="-122"/>
              <a:ea typeface="SimHei" panose="02010609060101010101" pitchFamily="49" charset="-122"/>
            </a:endParaRPr>
          </a:p>
        </p:txBody>
      </p:sp>
      <p:sp>
        <p:nvSpPr>
          <p:cNvPr id="3" name="矩形 2">
            <a:extLst>
              <a:ext uri="{FF2B5EF4-FFF2-40B4-BE49-F238E27FC236}">
                <a16:creationId xmlns:a16="http://schemas.microsoft.com/office/drawing/2014/main" id="{2D4F2358-4805-6112-0F69-A83C02654B85}"/>
              </a:ext>
            </a:extLst>
          </p:cNvPr>
          <p:cNvSpPr/>
          <p:nvPr/>
        </p:nvSpPr>
        <p:spPr>
          <a:xfrm>
            <a:off x="771332" y="985431"/>
            <a:ext cx="12014940" cy="1556003"/>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kern="100" dirty="0">
                <a:latin typeface="+mj-ea"/>
                <a:ea typeface="+mj-ea"/>
                <a:cs typeface="Times New Roman" panose="02020603050405020304" pitchFamily="18" charset="0"/>
              </a:rPr>
              <a:t>等深直方图（</a:t>
            </a:r>
            <a:r>
              <a:rPr lang="fr-FR" altLang="zh-CN" sz="2200" kern="100" dirty="0" err="1">
                <a:latin typeface="+mj-ea"/>
                <a:ea typeface="+mj-ea"/>
                <a:cs typeface="Times New Roman" panose="02020603050405020304" pitchFamily="18" charset="0"/>
              </a:rPr>
              <a:t>equal-depth</a:t>
            </a:r>
            <a:r>
              <a:rPr lang="fr-FR" altLang="zh-CN" sz="2200" kern="100" dirty="0">
                <a:latin typeface="+mj-ea"/>
                <a:ea typeface="+mj-ea"/>
                <a:cs typeface="Times New Roman" panose="02020603050405020304" pitchFamily="18" charset="0"/>
              </a:rPr>
              <a:t> </a:t>
            </a:r>
            <a:r>
              <a:rPr lang="fr-FR" altLang="zh-CN" sz="2200" kern="100" dirty="0" err="1">
                <a:latin typeface="+mj-ea"/>
                <a:ea typeface="+mj-ea"/>
                <a:cs typeface="Times New Roman" panose="02020603050405020304" pitchFamily="18" charset="0"/>
              </a:rPr>
              <a:t>histogram</a:t>
            </a:r>
            <a:r>
              <a:rPr lang="zh-CN" altLang="fr-FR" sz="2200" kern="100" dirty="0">
                <a:latin typeface="+mj-ea"/>
                <a:ea typeface="+mj-ea"/>
                <a:cs typeface="Times New Roman" panose="02020603050405020304" pitchFamily="18" charset="0"/>
              </a:rPr>
              <a:t>）</a:t>
            </a:r>
            <a:r>
              <a:rPr lang="zh-CN" altLang="en-US" sz="2200" kern="100" dirty="0">
                <a:latin typeface="+mj-ea"/>
                <a:ea typeface="+mj-ea"/>
                <a:cs typeface="Times New Roman" panose="02020603050405020304" pitchFamily="18" charset="0"/>
              </a:rPr>
              <a:t>：按属性不同值出现</a:t>
            </a:r>
            <a:r>
              <a:rPr lang="zh-CN" altLang="en-US" sz="2200" kern="100" dirty="0">
                <a:solidFill>
                  <a:srgbClr val="701988"/>
                </a:solidFill>
                <a:latin typeface="+mj-ea"/>
                <a:ea typeface="+mj-ea"/>
                <a:cs typeface="Times New Roman" panose="02020603050405020304" pitchFamily="18" charset="0"/>
              </a:rPr>
              <a:t>频率</a:t>
            </a:r>
            <a:r>
              <a:rPr lang="zh-CN" altLang="en-US" sz="2200" kern="100" dirty="0">
                <a:latin typeface="+mj-ea"/>
                <a:ea typeface="+mj-ea"/>
                <a:cs typeface="Times New Roman" panose="02020603050405020304" pitchFamily="18" charset="0"/>
              </a:rPr>
              <a:t>调整区间宽度</a:t>
            </a:r>
            <a:endParaRPr lang="en-US" altLang="zh-CN" sz="2200"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200" kern="100" dirty="0">
                <a:latin typeface="+mj-ea"/>
                <a:ea typeface="+mj-ea"/>
                <a:cs typeface="Times New Roman" panose="02020603050405020304" pitchFamily="18" charset="0"/>
              </a:rPr>
              <a:t>等宽直方图（</a:t>
            </a:r>
            <a:r>
              <a:rPr lang="fr-FR" altLang="zh-CN" sz="2200" kern="100" dirty="0" err="1">
                <a:latin typeface="+mj-ea"/>
                <a:ea typeface="+mj-ea"/>
                <a:cs typeface="Times New Roman" panose="02020603050405020304" pitchFamily="18" charset="0"/>
              </a:rPr>
              <a:t>equal-width</a:t>
            </a:r>
            <a:r>
              <a:rPr lang="fr-FR" altLang="zh-CN" sz="2200" kern="100" dirty="0">
                <a:latin typeface="+mj-ea"/>
                <a:ea typeface="+mj-ea"/>
                <a:cs typeface="Times New Roman" panose="02020603050405020304" pitchFamily="18" charset="0"/>
              </a:rPr>
              <a:t> </a:t>
            </a:r>
            <a:r>
              <a:rPr lang="fr-FR" altLang="zh-CN" sz="2200" kern="100" dirty="0" err="1">
                <a:latin typeface="+mj-ea"/>
                <a:ea typeface="+mj-ea"/>
                <a:cs typeface="Times New Roman" panose="02020603050405020304" pitchFamily="18" charset="0"/>
              </a:rPr>
              <a:t>histogram</a:t>
            </a:r>
            <a:r>
              <a:rPr lang="zh-CN" altLang="fr-FR" sz="2200" kern="100" dirty="0">
                <a:latin typeface="+mj-ea"/>
                <a:ea typeface="+mj-ea"/>
                <a:cs typeface="Times New Roman" panose="02020603050405020304" pitchFamily="18" charset="0"/>
              </a:rPr>
              <a:t>）</a:t>
            </a:r>
            <a:r>
              <a:rPr lang="zh-CN" altLang="en-US" sz="2200" kern="100" dirty="0">
                <a:latin typeface="+mj-ea"/>
                <a:ea typeface="+mj-ea"/>
                <a:cs typeface="Times New Roman" panose="02020603050405020304" pitchFamily="18" charset="0"/>
              </a:rPr>
              <a:t>：将属性按照相同</a:t>
            </a:r>
            <a:r>
              <a:rPr lang="zh-CN" altLang="en-US" sz="2200" kern="100" dirty="0">
                <a:solidFill>
                  <a:srgbClr val="701988"/>
                </a:solidFill>
                <a:latin typeface="+mj-ea"/>
                <a:ea typeface="+mj-ea"/>
                <a:cs typeface="Times New Roman" panose="02020603050405020304" pitchFamily="18" charset="0"/>
              </a:rPr>
              <a:t>间距</a:t>
            </a:r>
            <a:r>
              <a:rPr lang="zh-CN" altLang="en-US" sz="2200" kern="100" dirty="0">
                <a:latin typeface="+mj-ea"/>
                <a:ea typeface="+mj-ea"/>
                <a:cs typeface="Times New Roman" panose="02020603050405020304" pitchFamily="18" charset="0"/>
              </a:rPr>
              <a:t>划分区间</a:t>
            </a:r>
            <a:endParaRPr lang="en-US" altLang="zh-CN" sz="2200"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200" kern="100" dirty="0">
                <a:latin typeface="+mj-ea"/>
                <a:ea typeface="+mj-ea"/>
                <a:cs typeface="Times New Roman" panose="02020603050405020304" pitchFamily="18" charset="0"/>
              </a:rPr>
              <a:t>数据</a:t>
            </a:r>
            <a:r>
              <a:rPr lang="en-US" altLang="zh-CN" sz="2200" kern="100" dirty="0">
                <a:latin typeface="+mj-ea"/>
                <a:ea typeface="+mj-ea"/>
                <a:cs typeface="Times New Roman" panose="02020603050405020304" pitchFamily="18" charset="0"/>
              </a:rPr>
              <a:t>:</a:t>
            </a:r>
            <a:r>
              <a:rPr lang="zh-CN" altLang="en-US" sz="2200" kern="100" dirty="0">
                <a:latin typeface="+mj-ea"/>
                <a:ea typeface="+mj-ea"/>
                <a:cs typeface="Times New Roman" panose="02020603050405020304" pitchFamily="18" charset="0"/>
              </a:rPr>
              <a:t> </a:t>
            </a:r>
            <a:r>
              <a:rPr lang="en-US" altLang="zh-CN" sz="2200" kern="100" dirty="0">
                <a:latin typeface="+mj-ea"/>
                <a:ea typeface="+mj-ea"/>
                <a:cs typeface="Times New Roman" panose="02020603050405020304" pitchFamily="18" charset="0"/>
              </a:rPr>
              <a:t>1</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4</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6</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7</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7</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7</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8</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8</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8</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9</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10</a:t>
            </a:r>
            <a:r>
              <a:rPr lang="zh-CN" altLang="en-US" sz="2200" kern="100" dirty="0">
                <a:latin typeface="+mj-ea"/>
                <a:ea typeface="+mj-ea"/>
                <a:cs typeface="Times New Roman" panose="02020603050405020304" pitchFamily="18" charset="0"/>
              </a:rPr>
              <a:t>、</a:t>
            </a:r>
            <a:r>
              <a:rPr lang="en-US" altLang="zh-CN" sz="2200" kern="100" dirty="0">
                <a:latin typeface="+mj-ea"/>
                <a:ea typeface="+mj-ea"/>
                <a:cs typeface="Times New Roman" panose="02020603050405020304" pitchFamily="18" charset="0"/>
              </a:rPr>
              <a:t>12</a:t>
            </a:r>
            <a:endParaRPr lang="zh-CN" altLang="en-US" sz="2200" kern="100" dirty="0">
              <a:latin typeface="+mj-ea"/>
              <a:ea typeface="+mj-ea"/>
              <a:cs typeface="Times New Roman" panose="02020603050405020304" pitchFamily="18" charset="0"/>
            </a:endParaRPr>
          </a:p>
        </p:txBody>
      </p:sp>
      <p:grpSp>
        <p:nvGrpSpPr>
          <p:cNvPr id="22" name="组合 21">
            <a:extLst>
              <a:ext uri="{FF2B5EF4-FFF2-40B4-BE49-F238E27FC236}">
                <a16:creationId xmlns:a16="http://schemas.microsoft.com/office/drawing/2014/main" id="{BC6BB282-9D27-CA3E-AF51-9D31F0C505B7}"/>
              </a:ext>
            </a:extLst>
          </p:cNvPr>
          <p:cNvGrpSpPr/>
          <p:nvPr/>
        </p:nvGrpSpPr>
        <p:grpSpPr>
          <a:xfrm>
            <a:off x="1200011" y="2725779"/>
            <a:ext cx="4659230" cy="3328879"/>
            <a:chOff x="490286" y="3188267"/>
            <a:chExt cx="4659230" cy="3328879"/>
          </a:xfrm>
        </p:grpSpPr>
        <p:grpSp>
          <p:nvGrpSpPr>
            <p:cNvPr id="10" name="组合 9">
              <a:extLst>
                <a:ext uri="{FF2B5EF4-FFF2-40B4-BE49-F238E27FC236}">
                  <a16:creationId xmlns:a16="http://schemas.microsoft.com/office/drawing/2014/main" id="{5352C738-D9AD-89B7-CE55-FFEFAE3F2885}"/>
                </a:ext>
              </a:extLst>
            </p:cNvPr>
            <p:cNvGrpSpPr/>
            <p:nvPr/>
          </p:nvGrpSpPr>
          <p:grpSpPr>
            <a:xfrm>
              <a:off x="490286" y="3284989"/>
              <a:ext cx="4553351" cy="2862826"/>
              <a:chOff x="538413" y="3830854"/>
              <a:chExt cx="3361825" cy="1902572"/>
            </a:xfrm>
          </p:grpSpPr>
          <p:cxnSp>
            <p:nvCxnSpPr>
              <p:cNvPr id="7" name="直线箭头连接符 6">
                <a:extLst>
                  <a:ext uri="{FF2B5EF4-FFF2-40B4-BE49-F238E27FC236}">
                    <a16:creationId xmlns:a16="http://schemas.microsoft.com/office/drawing/2014/main" id="{185F82BA-4C61-4127-B777-628B828895FF}"/>
                  </a:ext>
                </a:extLst>
              </p:cNvPr>
              <p:cNvCxnSpPr>
                <a:cxnSpLocks/>
              </p:cNvCxnSpPr>
              <p:nvPr/>
            </p:nvCxnSpPr>
            <p:spPr bwMode="auto">
              <a:xfrm>
                <a:off x="538413" y="5727031"/>
                <a:ext cx="3361825" cy="6395"/>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 name="直线箭头连接符 7">
                <a:extLst>
                  <a:ext uri="{FF2B5EF4-FFF2-40B4-BE49-F238E27FC236}">
                    <a16:creationId xmlns:a16="http://schemas.microsoft.com/office/drawing/2014/main" id="{467E807E-F491-1066-094B-6A03243ADE30}"/>
                  </a:ext>
                </a:extLst>
              </p:cNvPr>
              <p:cNvCxnSpPr>
                <a:cxnSpLocks/>
              </p:cNvCxnSpPr>
              <p:nvPr/>
            </p:nvCxnSpPr>
            <p:spPr bwMode="auto">
              <a:xfrm flipV="1">
                <a:off x="538413" y="3830854"/>
                <a:ext cx="0" cy="1896177"/>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1" name="矩形 10">
              <a:extLst>
                <a:ext uri="{FF2B5EF4-FFF2-40B4-BE49-F238E27FC236}">
                  <a16:creationId xmlns:a16="http://schemas.microsoft.com/office/drawing/2014/main" id="{7801DD8C-803B-8237-4D05-603A743E1157}"/>
                </a:ext>
              </a:extLst>
            </p:cNvPr>
            <p:cNvSpPr/>
            <p:nvPr/>
          </p:nvSpPr>
          <p:spPr bwMode="auto">
            <a:xfrm>
              <a:off x="712271" y="5695429"/>
              <a:ext cx="1035516" cy="442761"/>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12" name="矩形 11">
              <a:extLst>
                <a:ext uri="{FF2B5EF4-FFF2-40B4-BE49-F238E27FC236}">
                  <a16:creationId xmlns:a16="http://schemas.microsoft.com/office/drawing/2014/main" id="{B4FDD261-43E4-70A4-9F1C-684D318B9713}"/>
                </a:ext>
              </a:extLst>
            </p:cNvPr>
            <p:cNvSpPr/>
            <p:nvPr/>
          </p:nvSpPr>
          <p:spPr bwMode="auto">
            <a:xfrm>
              <a:off x="1751795" y="5310425"/>
              <a:ext cx="1035519" cy="827766"/>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3" name="矩形 12">
              <a:extLst>
                <a:ext uri="{FF2B5EF4-FFF2-40B4-BE49-F238E27FC236}">
                  <a16:creationId xmlns:a16="http://schemas.microsoft.com/office/drawing/2014/main" id="{BAC71CEE-84A0-D922-B598-1538A919FF3E}"/>
                </a:ext>
              </a:extLst>
            </p:cNvPr>
            <p:cNvSpPr/>
            <p:nvPr/>
          </p:nvSpPr>
          <p:spPr bwMode="auto">
            <a:xfrm>
              <a:off x="2781696" y="3212126"/>
              <a:ext cx="1035512" cy="2926064"/>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4" name="矩形 13">
              <a:extLst>
                <a:ext uri="{FF2B5EF4-FFF2-40B4-BE49-F238E27FC236}">
                  <a16:creationId xmlns:a16="http://schemas.microsoft.com/office/drawing/2014/main" id="{B4816289-FCEB-EF4D-F251-5457E5E00100}"/>
                </a:ext>
              </a:extLst>
            </p:cNvPr>
            <p:cNvSpPr/>
            <p:nvPr/>
          </p:nvSpPr>
          <p:spPr bwMode="auto">
            <a:xfrm>
              <a:off x="3821222" y="4713665"/>
              <a:ext cx="1025887" cy="1424525"/>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6" name="文本框 15">
              <a:extLst>
                <a:ext uri="{FF2B5EF4-FFF2-40B4-BE49-F238E27FC236}">
                  <a16:creationId xmlns:a16="http://schemas.microsoft.com/office/drawing/2014/main" id="{20D75F38-1755-2CD3-DF36-97C43FCC37D9}"/>
                </a:ext>
              </a:extLst>
            </p:cNvPr>
            <p:cNvSpPr txBox="1"/>
            <p:nvPr/>
          </p:nvSpPr>
          <p:spPr>
            <a:xfrm>
              <a:off x="673768" y="6147814"/>
              <a:ext cx="4475748" cy="369332"/>
            </a:xfrm>
            <a:prstGeom prst="rect">
              <a:avLst/>
            </a:prstGeom>
            <a:noFill/>
          </p:spPr>
          <p:txBody>
            <a:bodyPr wrap="square">
              <a:spAutoFit/>
            </a:bodyPr>
            <a:lstStyle/>
            <a:p>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1</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2</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3</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4</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5</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6</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7</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8</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9</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10</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11</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12</a:t>
              </a:r>
              <a:endParaRPr lang="zh-CN" altLang="en-US" dirty="0"/>
            </a:p>
          </p:txBody>
        </p:sp>
        <p:sp>
          <p:nvSpPr>
            <p:cNvPr id="18" name="文本框 17">
              <a:extLst>
                <a:ext uri="{FF2B5EF4-FFF2-40B4-BE49-F238E27FC236}">
                  <a16:creationId xmlns:a16="http://schemas.microsoft.com/office/drawing/2014/main" id="{36D00864-6CB3-C365-C2E0-D36D9DB5CCF2}"/>
                </a:ext>
              </a:extLst>
            </p:cNvPr>
            <p:cNvSpPr txBox="1"/>
            <p:nvPr/>
          </p:nvSpPr>
          <p:spPr>
            <a:xfrm>
              <a:off x="1065215" y="5656994"/>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1</a:t>
              </a:r>
              <a:endParaRPr lang="zh-CN" altLang="en-US" sz="2400" dirty="0"/>
            </a:p>
          </p:txBody>
        </p:sp>
        <p:sp>
          <p:nvSpPr>
            <p:cNvPr id="19" name="文本框 18">
              <a:extLst>
                <a:ext uri="{FF2B5EF4-FFF2-40B4-BE49-F238E27FC236}">
                  <a16:creationId xmlns:a16="http://schemas.microsoft.com/office/drawing/2014/main" id="{FCE8035B-D075-46C2-5618-1A512F527E37}"/>
                </a:ext>
              </a:extLst>
            </p:cNvPr>
            <p:cNvSpPr txBox="1"/>
            <p:nvPr/>
          </p:nvSpPr>
          <p:spPr>
            <a:xfrm>
              <a:off x="2117681" y="5262643"/>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2</a:t>
              </a:r>
              <a:endParaRPr lang="zh-CN" altLang="en-US" sz="2400" dirty="0"/>
            </a:p>
          </p:txBody>
        </p:sp>
        <p:sp>
          <p:nvSpPr>
            <p:cNvPr id="20" name="文本框 19">
              <a:extLst>
                <a:ext uri="{FF2B5EF4-FFF2-40B4-BE49-F238E27FC236}">
                  <a16:creationId xmlns:a16="http://schemas.microsoft.com/office/drawing/2014/main" id="{9BBB4AED-DFC8-C1A3-573A-980E8C50B2C2}"/>
                </a:ext>
              </a:extLst>
            </p:cNvPr>
            <p:cNvSpPr txBox="1"/>
            <p:nvPr/>
          </p:nvSpPr>
          <p:spPr>
            <a:xfrm>
              <a:off x="3155914" y="3188267"/>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6</a:t>
              </a:r>
              <a:endParaRPr lang="zh-CN" altLang="en-US" sz="2400" dirty="0"/>
            </a:p>
          </p:txBody>
        </p:sp>
        <p:sp>
          <p:nvSpPr>
            <p:cNvPr id="21" name="文本框 20">
              <a:extLst>
                <a:ext uri="{FF2B5EF4-FFF2-40B4-BE49-F238E27FC236}">
                  <a16:creationId xmlns:a16="http://schemas.microsoft.com/office/drawing/2014/main" id="{8E0528F2-F9EA-BE44-19B6-C4E59810903C}"/>
                </a:ext>
              </a:extLst>
            </p:cNvPr>
            <p:cNvSpPr txBox="1"/>
            <p:nvPr/>
          </p:nvSpPr>
          <p:spPr>
            <a:xfrm>
              <a:off x="4200865" y="4670399"/>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3</a:t>
              </a:r>
              <a:endParaRPr lang="zh-CN" altLang="en-US" sz="2400" dirty="0"/>
            </a:p>
          </p:txBody>
        </p:sp>
      </p:grpSp>
      <p:grpSp>
        <p:nvGrpSpPr>
          <p:cNvPr id="24" name="组合 23">
            <a:extLst>
              <a:ext uri="{FF2B5EF4-FFF2-40B4-BE49-F238E27FC236}">
                <a16:creationId xmlns:a16="http://schemas.microsoft.com/office/drawing/2014/main" id="{F9F6E60E-6332-B1E7-D16D-AD27124BFC5E}"/>
              </a:ext>
            </a:extLst>
          </p:cNvPr>
          <p:cNvGrpSpPr/>
          <p:nvPr/>
        </p:nvGrpSpPr>
        <p:grpSpPr>
          <a:xfrm>
            <a:off x="6534962" y="2813574"/>
            <a:ext cx="4757449" cy="3231460"/>
            <a:chOff x="392060" y="3284989"/>
            <a:chExt cx="4757449" cy="3231460"/>
          </a:xfrm>
        </p:grpSpPr>
        <p:grpSp>
          <p:nvGrpSpPr>
            <p:cNvPr id="25" name="组合 24">
              <a:extLst>
                <a:ext uri="{FF2B5EF4-FFF2-40B4-BE49-F238E27FC236}">
                  <a16:creationId xmlns:a16="http://schemas.microsoft.com/office/drawing/2014/main" id="{EF743162-8146-A186-25B7-C1AF3BAF47D0}"/>
                </a:ext>
              </a:extLst>
            </p:cNvPr>
            <p:cNvGrpSpPr/>
            <p:nvPr/>
          </p:nvGrpSpPr>
          <p:grpSpPr>
            <a:xfrm>
              <a:off x="490286" y="3284989"/>
              <a:ext cx="4553351" cy="2862826"/>
              <a:chOff x="538413" y="3830854"/>
              <a:chExt cx="3361825" cy="1902572"/>
            </a:xfrm>
          </p:grpSpPr>
          <p:cxnSp>
            <p:nvCxnSpPr>
              <p:cNvPr id="35" name="直线箭头连接符 34">
                <a:extLst>
                  <a:ext uri="{FF2B5EF4-FFF2-40B4-BE49-F238E27FC236}">
                    <a16:creationId xmlns:a16="http://schemas.microsoft.com/office/drawing/2014/main" id="{FB899C51-0E77-0340-3635-003FCDCB1581}"/>
                  </a:ext>
                </a:extLst>
              </p:cNvPr>
              <p:cNvCxnSpPr>
                <a:cxnSpLocks/>
              </p:cNvCxnSpPr>
              <p:nvPr/>
            </p:nvCxnSpPr>
            <p:spPr bwMode="auto">
              <a:xfrm>
                <a:off x="538413" y="5727031"/>
                <a:ext cx="3361825" cy="6395"/>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6" name="直线箭头连接符 35">
                <a:extLst>
                  <a:ext uri="{FF2B5EF4-FFF2-40B4-BE49-F238E27FC236}">
                    <a16:creationId xmlns:a16="http://schemas.microsoft.com/office/drawing/2014/main" id="{330A4AD7-CD50-F187-F635-898859405788}"/>
                  </a:ext>
                </a:extLst>
              </p:cNvPr>
              <p:cNvCxnSpPr>
                <a:cxnSpLocks/>
              </p:cNvCxnSpPr>
              <p:nvPr/>
            </p:nvCxnSpPr>
            <p:spPr bwMode="auto">
              <a:xfrm flipV="1">
                <a:off x="538413" y="3830854"/>
                <a:ext cx="0" cy="1896177"/>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26" name="矩形 25">
              <a:extLst>
                <a:ext uri="{FF2B5EF4-FFF2-40B4-BE49-F238E27FC236}">
                  <a16:creationId xmlns:a16="http://schemas.microsoft.com/office/drawing/2014/main" id="{BC4D3009-0B30-AD15-4B7E-E087BF152E42}"/>
                </a:ext>
              </a:extLst>
            </p:cNvPr>
            <p:cNvSpPr/>
            <p:nvPr/>
          </p:nvSpPr>
          <p:spPr bwMode="auto">
            <a:xfrm>
              <a:off x="712270" y="4713665"/>
              <a:ext cx="1039511" cy="1424525"/>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27" name="矩形 26">
              <a:extLst>
                <a:ext uri="{FF2B5EF4-FFF2-40B4-BE49-F238E27FC236}">
                  <a16:creationId xmlns:a16="http://schemas.microsoft.com/office/drawing/2014/main" id="{9B19B2BF-E571-F085-1872-A02ADE1AC3DA}"/>
                </a:ext>
              </a:extLst>
            </p:cNvPr>
            <p:cNvSpPr/>
            <p:nvPr/>
          </p:nvSpPr>
          <p:spPr bwMode="auto">
            <a:xfrm>
              <a:off x="1751796" y="4713665"/>
              <a:ext cx="1025886" cy="1424526"/>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8" name="矩形 27">
              <a:extLst>
                <a:ext uri="{FF2B5EF4-FFF2-40B4-BE49-F238E27FC236}">
                  <a16:creationId xmlns:a16="http://schemas.microsoft.com/office/drawing/2014/main" id="{4339EF72-F33C-023A-B845-60F6F829C4A7}"/>
                </a:ext>
              </a:extLst>
            </p:cNvPr>
            <p:cNvSpPr/>
            <p:nvPr/>
          </p:nvSpPr>
          <p:spPr bwMode="auto">
            <a:xfrm>
              <a:off x="2781696" y="4713664"/>
              <a:ext cx="1025886" cy="1424526"/>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9" name="矩形 28">
              <a:extLst>
                <a:ext uri="{FF2B5EF4-FFF2-40B4-BE49-F238E27FC236}">
                  <a16:creationId xmlns:a16="http://schemas.microsoft.com/office/drawing/2014/main" id="{A7EDEFD3-D349-AAD7-FD1B-72FD808C13A1}"/>
                </a:ext>
              </a:extLst>
            </p:cNvPr>
            <p:cNvSpPr/>
            <p:nvPr/>
          </p:nvSpPr>
          <p:spPr bwMode="auto">
            <a:xfrm>
              <a:off x="3821222" y="4713665"/>
              <a:ext cx="1025887" cy="1424525"/>
            </a:xfrm>
            <a:prstGeom prst="rect">
              <a:avLst/>
            </a:pr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30" name="文本框 29">
              <a:extLst>
                <a:ext uri="{FF2B5EF4-FFF2-40B4-BE49-F238E27FC236}">
                  <a16:creationId xmlns:a16="http://schemas.microsoft.com/office/drawing/2014/main" id="{18326CCD-D2B8-CCAE-DD76-7F2306A5AB85}"/>
                </a:ext>
              </a:extLst>
            </p:cNvPr>
            <p:cNvSpPr txBox="1"/>
            <p:nvPr/>
          </p:nvSpPr>
          <p:spPr>
            <a:xfrm>
              <a:off x="392060" y="6147117"/>
              <a:ext cx="4757449" cy="369332"/>
            </a:xfrm>
            <a:prstGeom prst="rect">
              <a:avLst/>
            </a:prstGeom>
            <a:noFill/>
          </p:spPr>
          <p:txBody>
            <a:bodyPr wrap="square">
              <a:spAutoFit/>
            </a:bodyPr>
            <a:lstStyle/>
            <a:p>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1</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2</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3</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4</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kern="100" dirty="0">
                  <a:latin typeface="SimHei" panose="02010609060101010101" pitchFamily="49" charset="-122"/>
                  <a:ea typeface="SimHei" panose="02010609060101010101" pitchFamily="49" charset="-122"/>
                  <a:cs typeface="Times New Roman" panose="02020603050405020304" pitchFamily="18" charset="0"/>
                </a:rPr>
                <a:t>5</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6</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7</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8</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9</a:t>
              </a:r>
              <a:r>
                <a:rPr lang="zh-CN" altLang="en-US" sz="1800"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10</a:t>
              </a:r>
              <a:r>
                <a:rPr lang="zh-CN" altLang="en-US" kern="100" dirty="0">
                  <a:latin typeface="SimHei" panose="02010609060101010101" pitchFamily="49" charset="-122"/>
                  <a:ea typeface="SimHei" panose="02010609060101010101" pitchFamily="49" charset="-122"/>
                  <a:cs typeface="Times New Roman" panose="02020603050405020304" pitchFamily="18" charset="0"/>
                </a:rPr>
                <a:t> </a:t>
              </a:r>
              <a:r>
                <a:rPr lang="en-US" altLang="zh-CN" sz="1800" kern="100" dirty="0">
                  <a:latin typeface="SimHei" panose="02010609060101010101" pitchFamily="49" charset="-122"/>
                  <a:ea typeface="SimHei" panose="02010609060101010101" pitchFamily="49" charset="-122"/>
                  <a:cs typeface="Times New Roman" panose="02020603050405020304" pitchFamily="18" charset="0"/>
                </a:rPr>
                <a:t>12</a:t>
              </a:r>
              <a:endParaRPr lang="zh-CN" altLang="en-US" dirty="0"/>
            </a:p>
          </p:txBody>
        </p:sp>
        <p:sp>
          <p:nvSpPr>
            <p:cNvPr id="31" name="文本框 30">
              <a:extLst>
                <a:ext uri="{FF2B5EF4-FFF2-40B4-BE49-F238E27FC236}">
                  <a16:creationId xmlns:a16="http://schemas.microsoft.com/office/drawing/2014/main" id="{698B4461-7AAF-098C-E2B4-EF06D05BD887}"/>
                </a:ext>
              </a:extLst>
            </p:cNvPr>
            <p:cNvSpPr txBox="1"/>
            <p:nvPr/>
          </p:nvSpPr>
          <p:spPr>
            <a:xfrm>
              <a:off x="1052650" y="4679326"/>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3</a:t>
              </a:r>
              <a:endParaRPr lang="zh-CN" altLang="en-US" sz="2400" dirty="0"/>
            </a:p>
          </p:txBody>
        </p:sp>
        <p:sp>
          <p:nvSpPr>
            <p:cNvPr id="32" name="文本框 31">
              <a:extLst>
                <a:ext uri="{FF2B5EF4-FFF2-40B4-BE49-F238E27FC236}">
                  <a16:creationId xmlns:a16="http://schemas.microsoft.com/office/drawing/2014/main" id="{BF0814B2-23A4-501D-19CE-E27AAB298BBA}"/>
                </a:ext>
              </a:extLst>
            </p:cNvPr>
            <p:cNvSpPr txBox="1"/>
            <p:nvPr/>
          </p:nvSpPr>
          <p:spPr>
            <a:xfrm>
              <a:off x="2092161" y="4677648"/>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3</a:t>
              </a:r>
              <a:endParaRPr lang="zh-CN" altLang="en-US" sz="2400" dirty="0"/>
            </a:p>
          </p:txBody>
        </p:sp>
        <p:sp>
          <p:nvSpPr>
            <p:cNvPr id="33" name="文本框 32">
              <a:extLst>
                <a:ext uri="{FF2B5EF4-FFF2-40B4-BE49-F238E27FC236}">
                  <a16:creationId xmlns:a16="http://schemas.microsoft.com/office/drawing/2014/main" id="{D1F83AB3-AA5D-9D52-2575-1ED57529E165}"/>
                </a:ext>
              </a:extLst>
            </p:cNvPr>
            <p:cNvSpPr txBox="1"/>
            <p:nvPr/>
          </p:nvSpPr>
          <p:spPr>
            <a:xfrm>
              <a:off x="3118047" y="4670399"/>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3</a:t>
              </a:r>
              <a:endParaRPr lang="zh-CN" altLang="en-US" sz="2400" dirty="0"/>
            </a:p>
          </p:txBody>
        </p:sp>
        <p:sp>
          <p:nvSpPr>
            <p:cNvPr id="34" name="文本框 33">
              <a:extLst>
                <a:ext uri="{FF2B5EF4-FFF2-40B4-BE49-F238E27FC236}">
                  <a16:creationId xmlns:a16="http://schemas.microsoft.com/office/drawing/2014/main" id="{53C36FA8-B216-43EA-0DBD-0A9F2BADF6F5}"/>
                </a:ext>
              </a:extLst>
            </p:cNvPr>
            <p:cNvSpPr txBox="1"/>
            <p:nvPr/>
          </p:nvSpPr>
          <p:spPr>
            <a:xfrm>
              <a:off x="4200865" y="4670399"/>
              <a:ext cx="441339" cy="461665"/>
            </a:xfrm>
            <a:prstGeom prst="rect">
              <a:avLst/>
            </a:prstGeom>
            <a:noFill/>
          </p:spPr>
          <p:txBody>
            <a:bodyPr wrap="square">
              <a:spAutoFit/>
            </a:bodyPr>
            <a:lstStyle/>
            <a:p>
              <a:r>
                <a:rPr lang="en-US" altLang="zh-CN" sz="2400" kern="100" dirty="0">
                  <a:latin typeface="SimHei" panose="02010609060101010101" pitchFamily="49" charset="-122"/>
                  <a:ea typeface="SimHei" panose="02010609060101010101" pitchFamily="49" charset="-122"/>
                  <a:cs typeface="Times New Roman" panose="02020603050405020304" pitchFamily="18" charset="0"/>
                </a:rPr>
                <a:t>3</a:t>
              </a:r>
              <a:endParaRPr lang="zh-CN" altLang="en-US" sz="2400" dirty="0"/>
            </a:p>
          </p:txBody>
        </p:sp>
      </p:grpSp>
      <p:sp>
        <p:nvSpPr>
          <p:cNvPr id="38" name="文本框 37">
            <a:extLst>
              <a:ext uri="{FF2B5EF4-FFF2-40B4-BE49-F238E27FC236}">
                <a16:creationId xmlns:a16="http://schemas.microsoft.com/office/drawing/2014/main" id="{003EBD54-075B-5AB7-4C6E-B63C1DA2F15C}"/>
              </a:ext>
            </a:extLst>
          </p:cNvPr>
          <p:cNvSpPr txBox="1"/>
          <p:nvPr/>
        </p:nvSpPr>
        <p:spPr>
          <a:xfrm>
            <a:off x="2876606" y="5973849"/>
            <a:ext cx="880709" cy="400110"/>
          </a:xfrm>
          <a:prstGeom prst="rect">
            <a:avLst/>
          </a:prstGeom>
          <a:noFill/>
        </p:spPr>
        <p:txBody>
          <a:bodyPr wrap="square">
            <a:spAutoFit/>
          </a:bodyPr>
          <a:lstStyle/>
          <a:p>
            <a:r>
              <a:rPr lang="zh-CN" altLang="en-US" sz="2000" b="1" kern="100" dirty="0">
                <a:latin typeface="+mj-ea"/>
                <a:ea typeface="+mj-ea"/>
                <a:cs typeface="Times New Roman" panose="02020603050405020304" pitchFamily="18" charset="0"/>
              </a:rPr>
              <a:t>等宽</a:t>
            </a:r>
            <a:endParaRPr lang="zh-CN" altLang="en-US" sz="2000" dirty="0">
              <a:latin typeface="+mj-ea"/>
              <a:ea typeface="+mj-ea"/>
            </a:endParaRPr>
          </a:p>
        </p:txBody>
      </p:sp>
      <p:sp>
        <p:nvSpPr>
          <p:cNvPr id="39" name="文本框 38">
            <a:extLst>
              <a:ext uri="{FF2B5EF4-FFF2-40B4-BE49-F238E27FC236}">
                <a16:creationId xmlns:a16="http://schemas.microsoft.com/office/drawing/2014/main" id="{5D94ACFF-6954-80C0-E14D-01BD2CE0BCC0}"/>
              </a:ext>
            </a:extLst>
          </p:cNvPr>
          <p:cNvSpPr txBox="1"/>
          <p:nvPr/>
        </p:nvSpPr>
        <p:spPr>
          <a:xfrm>
            <a:off x="8595148" y="5933847"/>
            <a:ext cx="880709" cy="400110"/>
          </a:xfrm>
          <a:prstGeom prst="rect">
            <a:avLst/>
          </a:prstGeom>
          <a:noFill/>
        </p:spPr>
        <p:txBody>
          <a:bodyPr wrap="square">
            <a:spAutoFit/>
          </a:bodyPr>
          <a:lstStyle/>
          <a:p>
            <a:r>
              <a:rPr lang="zh-CN" altLang="en-US" sz="2000" b="1" kern="100" dirty="0">
                <a:latin typeface="+mj-ea"/>
                <a:ea typeface="+mj-ea"/>
                <a:cs typeface="Times New Roman" panose="02020603050405020304" pitchFamily="18" charset="0"/>
              </a:rPr>
              <a:t>等深</a:t>
            </a:r>
            <a:endParaRPr lang="zh-CN" altLang="en-US" sz="2000" dirty="0">
              <a:latin typeface="+mj-ea"/>
              <a:ea typeface="+mj-ea"/>
            </a:endParaRPr>
          </a:p>
        </p:txBody>
      </p:sp>
    </p:spTree>
    <p:extLst>
      <p:ext uri="{BB962C8B-B14F-4D97-AF65-F5344CB8AC3E}">
        <p14:creationId xmlns:p14="http://schemas.microsoft.com/office/powerpoint/2010/main" val="3979209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2CAFD0B-1B6B-A0D9-24A9-81F8D5F83453}"/>
              </a:ext>
            </a:extLst>
          </p:cNvPr>
          <p:cNvSpPr>
            <a:spLocks noGrp="1"/>
          </p:cNvSpPr>
          <p:nvPr>
            <p:ph type="sldNum" sz="quarter" idx="10"/>
          </p:nvPr>
        </p:nvSpPr>
        <p:spPr/>
        <p:txBody>
          <a:bodyPr/>
          <a:lstStyle/>
          <a:p>
            <a:fld id="{4B0D34C0-35A8-654C-9FBA-7B4E017BD630}" type="slidenum">
              <a:rPr lang="en-US" altLang="zh-CN" smtClean="0"/>
              <a:t>55</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统计数据假设</a:t>
            </a:r>
            <a:endParaRPr kumimoji="1" lang="zh-CN" altLang="en-US" dirty="0"/>
          </a:p>
        </p:txBody>
      </p:sp>
      <p:sp>
        <p:nvSpPr>
          <p:cNvPr id="4" name="页脚占位符 3">
            <a:extLst>
              <a:ext uri="{FF2B5EF4-FFF2-40B4-BE49-F238E27FC236}">
                <a16:creationId xmlns:a16="http://schemas.microsoft.com/office/drawing/2014/main" id="{411A8EDA-E19F-F6BC-E20E-87CD9CC89C56}"/>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5" name="矩形 4">
            <a:extLst>
              <a:ext uri="{FF2B5EF4-FFF2-40B4-BE49-F238E27FC236}">
                <a16:creationId xmlns:a16="http://schemas.microsoft.com/office/drawing/2014/main" id="{E9022766-FD25-1EAE-DC13-7DF9313EFC75}"/>
              </a:ext>
            </a:extLst>
          </p:cNvPr>
          <p:cNvSpPr/>
          <p:nvPr/>
        </p:nvSpPr>
        <p:spPr>
          <a:xfrm>
            <a:off x="1008000" y="1134000"/>
            <a:ext cx="8985854" cy="3200300"/>
          </a:xfrm>
          <a:prstGeom prst="rect">
            <a:avLst/>
          </a:prstGeom>
        </p:spPr>
        <p:txBody>
          <a:bodyPr wrap="square">
            <a:spAutoFit/>
          </a:bodyPr>
          <a:lstStyle/>
          <a:p>
            <a:pPr algn="just">
              <a:lnSpc>
                <a:spcPct val="200000"/>
              </a:lnSpc>
            </a:pPr>
            <a:r>
              <a:rPr lang="zh-CN" altLang="en-US" sz="2400" b="1" kern="100" dirty="0">
                <a:latin typeface="+mj-ea"/>
                <a:ea typeface="+mj-ea"/>
                <a:cs typeface="Times New Roman" panose="02020603050405020304" pitchFamily="18" charset="0"/>
              </a:rPr>
              <a:t>利用统计数据进行估计依赖着以下假设：</a:t>
            </a:r>
            <a:endParaRPr lang="en-US" altLang="zh-CN" sz="2400" b="1" kern="100" dirty="0">
              <a:latin typeface="+mj-ea"/>
              <a:ea typeface="+mj-ea"/>
              <a:cs typeface="Times New Roman" panose="02020603050405020304" pitchFamily="18" charset="0"/>
            </a:endParaRPr>
          </a:p>
          <a:p>
            <a:pPr marL="342900" indent="-342900" algn="just">
              <a:lnSpc>
                <a:spcPct val="200000"/>
              </a:lnSpc>
              <a:buFont typeface="Wingdings" panose="05000000000000000000" pitchFamily="2" charset="2"/>
              <a:buChar char="Ø"/>
            </a:pPr>
            <a:r>
              <a:rPr lang="zh-CN" altLang="en-US" sz="2000" b="1" kern="100" dirty="0">
                <a:latin typeface="+mj-ea"/>
                <a:ea typeface="+mj-ea"/>
                <a:cs typeface="Times New Roman" panose="02020603050405020304" pitchFamily="18" charset="0"/>
              </a:rPr>
              <a:t>均匀分布假设（</a:t>
            </a:r>
            <a:r>
              <a:rPr lang="fr-FR" altLang="zh-CN" sz="2000" b="1" kern="100" dirty="0" err="1">
                <a:latin typeface="+mj-ea"/>
                <a:ea typeface="+mj-ea"/>
                <a:cs typeface="Times New Roman" panose="02020603050405020304" pitchFamily="18" charset="0"/>
              </a:rPr>
              <a:t>uniform</a:t>
            </a:r>
            <a:r>
              <a:rPr lang="fr-FR" altLang="zh-CN" sz="2000" b="1" kern="100" dirty="0">
                <a:latin typeface="+mj-ea"/>
                <a:ea typeface="+mj-ea"/>
                <a:cs typeface="Times New Roman" panose="02020603050405020304" pitchFamily="18" charset="0"/>
              </a:rPr>
              <a:t> distribution </a:t>
            </a:r>
            <a:r>
              <a:rPr lang="fr-FR" altLang="zh-CN" sz="2000" b="1" kern="100" dirty="0" err="1">
                <a:latin typeface="+mj-ea"/>
                <a:ea typeface="+mj-ea"/>
                <a:cs typeface="Times New Roman" panose="02020603050405020304" pitchFamily="18" charset="0"/>
              </a:rPr>
              <a:t>assumption</a:t>
            </a:r>
            <a:r>
              <a:rPr lang="zh-CN" altLang="fr-FR" sz="2000" b="1" kern="100" dirty="0">
                <a:latin typeface="+mj-ea"/>
                <a:ea typeface="+mj-ea"/>
                <a:cs typeface="Times New Roman" panose="02020603050405020304" pitchFamily="18" charset="0"/>
              </a:rPr>
              <a:t>）</a:t>
            </a:r>
            <a:r>
              <a:rPr lang="zh-CN" altLang="en-US" sz="2000" b="1" kern="100" dirty="0">
                <a:latin typeface="+mj-ea"/>
                <a:ea typeface="+mj-ea"/>
                <a:cs typeface="Times New Roman" panose="02020603050405020304" pitchFamily="18" charset="0"/>
              </a:rPr>
              <a:t>：</a:t>
            </a:r>
            <a:endParaRPr lang="en-US" altLang="zh-CN" sz="2000" b="1" kern="100" dirty="0">
              <a:latin typeface="+mj-ea"/>
              <a:ea typeface="+mj-ea"/>
              <a:cs typeface="Times New Roman" panose="02020603050405020304" pitchFamily="18" charset="0"/>
            </a:endParaRPr>
          </a:p>
          <a:p>
            <a:pPr marL="914400" lvl="1" indent="-457200" algn="just">
              <a:lnSpc>
                <a:spcPct val="200000"/>
              </a:lnSpc>
              <a:buFont typeface="Arial" panose="020B0604020202020204" pitchFamily="34" charset="0"/>
              <a:buChar char="•"/>
            </a:pPr>
            <a:r>
              <a:rPr lang="zh-CN" altLang="en-US" sz="2000" kern="100" dirty="0">
                <a:latin typeface="+mj-ea"/>
                <a:ea typeface="+mj-ea"/>
                <a:cs typeface="Times New Roman" panose="02020603050405020304" pitchFamily="18" charset="0"/>
              </a:rPr>
              <a:t>认为属性内部取值是</a:t>
            </a:r>
            <a:r>
              <a:rPr lang="zh-CN" altLang="en-US" sz="2000" kern="100" dirty="0">
                <a:solidFill>
                  <a:srgbClr val="701988"/>
                </a:solidFill>
                <a:latin typeface="+mj-ea"/>
                <a:ea typeface="+mj-ea"/>
                <a:cs typeface="Times New Roman" panose="02020603050405020304" pitchFamily="18" charset="0"/>
              </a:rPr>
              <a:t>均匀分布</a:t>
            </a:r>
            <a:r>
              <a:rPr lang="zh-CN" altLang="en-US" sz="2000" kern="100" dirty="0">
                <a:latin typeface="+mj-ea"/>
                <a:ea typeface="+mj-ea"/>
                <a:cs typeface="Times New Roman" panose="02020603050405020304" pitchFamily="18" charset="0"/>
              </a:rPr>
              <a:t>的</a:t>
            </a:r>
            <a:endParaRPr lang="en-US" altLang="zh-CN" sz="2000" kern="100" dirty="0">
              <a:latin typeface="+mj-ea"/>
              <a:ea typeface="+mj-ea"/>
              <a:cs typeface="Times New Roman" panose="02020603050405020304" pitchFamily="18" charset="0"/>
            </a:endParaRPr>
          </a:p>
          <a:p>
            <a:pPr marL="342900" indent="-342900" algn="just">
              <a:lnSpc>
                <a:spcPct val="200000"/>
              </a:lnSpc>
              <a:buFont typeface="Wingdings" panose="05000000000000000000" pitchFamily="2" charset="2"/>
              <a:buChar char="Ø"/>
            </a:pPr>
            <a:r>
              <a:rPr lang="zh-CN" altLang="en-US" sz="2000" b="1" kern="100" dirty="0">
                <a:latin typeface="+mj-ea"/>
                <a:ea typeface="+mj-ea"/>
                <a:cs typeface="Times New Roman" panose="02020603050405020304" pitchFamily="18" charset="0"/>
              </a:rPr>
              <a:t>属性独立假设（</a:t>
            </a:r>
            <a:r>
              <a:rPr lang="fr-FR" altLang="zh-CN" sz="2000" b="1" kern="100" dirty="0" err="1">
                <a:latin typeface="+mj-ea"/>
                <a:ea typeface="+mj-ea"/>
                <a:cs typeface="Times New Roman" panose="02020603050405020304" pitchFamily="18" charset="0"/>
              </a:rPr>
              <a:t>attribute</a:t>
            </a:r>
            <a:r>
              <a:rPr lang="fr-FR" altLang="zh-CN" sz="2000" b="1" kern="100" dirty="0">
                <a:latin typeface="+mj-ea"/>
                <a:ea typeface="+mj-ea"/>
                <a:cs typeface="Times New Roman" panose="02020603050405020304" pitchFamily="18" charset="0"/>
              </a:rPr>
              <a:t> </a:t>
            </a:r>
            <a:r>
              <a:rPr lang="fr-FR" altLang="zh-CN" sz="2000" b="1" kern="100" dirty="0" err="1">
                <a:latin typeface="+mj-ea"/>
                <a:ea typeface="+mj-ea"/>
                <a:cs typeface="Times New Roman" panose="02020603050405020304" pitchFamily="18" charset="0"/>
              </a:rPr>
              <a:t>independence</a:t>
            </a:r>
            <a:r>
              <a:rPr lang="fr-FR" altLang="zh-CN" sz="2000" b="1" kern="100" dirty="0">
                <a:latin typeface="+mj-ea"/>
                <a:ea typeface="+mj-ea"/>
                <a:cs typeface="Times New Roman" panose="02020603050405020304" pitchFamily="18" charset="0"/>
              </a:rPr>
              <a:t> </a:t>
            </a:r>
            <a:r>
              <a:rPr lang="fr-FR" altLang="zh-CN" sz="2000" b="1" kern="100" dirty="0" err="1">
                <a:latin typeface="+mj-ea"/>
                <a:ea typeface="+mj-ea"/>
                <a:cs typeface="Times New Roman" panose="02020603050405020304" pitchFamily="18" charset="0"/>
              </a:rPr>
              <a:t>assumption</a:t>
            </a:r>
            <a:r>
              <a:rPr lang="zh-CN" altLang="fr-FR" sz="2000" b="1" kern="100" dirty="0">
                <a:latin typeface="+mj-ea"/>
                <a:ea typeface="+mj-ea"/>
                <a:cs typeface="Times New Roman" panose="02020603050405020304" pitchFamily="18" charset="0"/>
              </a:rPr>
              <a:t>）：</a:t>
            </a:r>
            <a:endParaRPr lang="en-US" altLang="zh-CN" sz="2000" b="1" kern="100" dirty="0">
              <a:latin typeface="+mj-ea"/>
              <a:ea typeface="+mj-ea"/>
              <a:cs typeface="Times New Roman" panose="02020603050405020304" pitchFamily="18" charset="0"/>
            </a:endParaRPr>
          </a:p>
          <a:p>
            <a:pPr marL="914400" lvl="1" indent="-457200" algn="just">
              <a:lnSpc>
                <a:spcPct val="200000"/>
              </a:lnSpc>
              <a:buFont typeface="Arial" panose="020B0604020202020204" pitchFamily="34" charset="0"/>
              <a:buChar char="•"/>
            </a:pPr>
            <a:r>
              <a:rPr lang="zh-CN" altLang="en-US" sz="2000" kern="100" dirty="0">
                <a:latin typeface="+mj-ea"/>
                <a:ea typeface="+mj-ea"/>
                <a:cs typeface="Times New Roman" panose="02020603050405020304" pitchFamily="18" charset="0"/>
              </a:rPr>
              <a:t>认为不同属性的取值之间</a:t>
            </a:r>
            <a:r>
              <a:rPr lang="zh-CN" altLang="en-US" sz="2000" kern="100" dirty="0">
                <a:solidFill>
                  <a:srgbClr val="701988"/>
                </a:solidFill>
                <a:latin typeface="+mj-ea"/>
                <a:ea typeface="+mj-ea"/>
                <a:cs typeface="Times New Roman" panose="02020603050405020304" pitchFamily="18" charset="0"/>
              </a:rPr>
              <a:t>相互独立</a:t>
            </a:r>
            <a:endParaRPr lang="en-US" altLang="zh-CN" sz="2000" kern="100" dirty="0">
              <a:solidFill>
                <a:srgbClr val="701988"/>
              </a:solidFill>
              <a:latin typeface="+mj-ea"/>
              <a:ea typeface="+mj-ea"/>
              <a:cs typeface="Times New Roman" panose="02020603050405020304" pitchFamily="18" charset="0"/>
            </a:endParaRPr>
          </a:p>
        </p:txBody>
      </p:sp>
    </p:spTree>
    <p:extLst>
      <p:ext uri="{BB962C8B-B14F-4D97-AF65-F5344CB8AC3E}">
        <p14:creationId xmlns:p14="http://schemas.microsoft.com/office/powerpoint/2010/main" val="20094162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0310C1F-3655-94E7-C09D-03CDC381D789}"/>
              </a:ext>
            </a:extLst>
          </p:cNvPr>
          <p:cNvSpPr>
            <a:spLocks noGrp="1"/>
          </p:cNvSpPr>
          <p:nvPr>
            <p:ph type="sldNum" sz="quarter" idx="10"/>
          </p:nvPr>
        </p:nvSpPr>
        <p:spPr/>
        <p:txBody>
          <a:bodyPr/>
          <a:lstStyle/>
          <a:p>
            <a:fld id="{4B0D34C0-35A8-654C-9FBA-7B4E017BD630}" type="slidenum">
              <a:rPr lang="en-US" altLang="zh-CN" smtClean="0"/>
              <a:t>56</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选择运算的基数估计</a:t>
            </a:r>
            <a:endParaRPr kumimoji="1" lang="zh-CN" altLang="en-US" dirty="0"/>
          </a:p>
        </p:txBody>
      </p:sp>
      <p:sp>
        <p:nvSpPr>
          <p:cNvPr id="4" name="页脚占位符 3">
            <a:extLst>
              <a:ext uri="{FF2B5EF4-FFF2-40B4-BE49-F238E27FC236}">
                <a16:creationId xmlns:a16="http://schemas.microsoft.com/office/drawing/2014/main" id="{3AC6BF55-1A28-6CD8-1CCF-B9637B85BB9A}"/>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34000"/>
                <a:ext cx="11667744" cy="3174139"/>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等值谓词，</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𝝈</m:t>
                        </m:r>
                      </m:e>
                      <m:sub>
                        <m:r>
                          <a:rPr lang="en-US" altLang="zh-CN" sz="2200" b="1" i="1" kern="100">
                            <a:latin typeface="Cambria Math" panose="02040503050406030204" pitchFamily="18" charset="0"/>
                            <a:ea typeface="+mj-ea"/>
                            <a:cs typeface="Times New Roman" panose="02020603050405020304" pitchFamily="18" charset="0"/>
                          </a:rPr>
                          <m:t>𝑨</m:t>
                        </m:r>
                        <m:r>
                          <a:rPr lang="en-US" altLang="zh-CN" sz="2200" b="1" kern="100">
                            <a:latin typeface="Cambria Math" panose="02040503050406030204" pitchFamily="18" charset="0"/>
                            <a:ea typeface="+mj-ea"/>
                            <a:cs typeface="Times New Roman" panose="02020603050405020304" pitchFamily="18" charset="0"/>
                          </a:rPr>
                          <m:t>=</m:t>
                        </m:r>
                        <m:r>
                          <a:rPr lang="en-US" altLang="zh-CN" sz="2200" b="1" i="1" kern="100">
                            <a:latin typeface="Cambria Math" panose="02040503050406030204" pitchFamily="18" charset="0"/>
                            <a:ea typeface="+mj-ea"/>
                            <a:cs typeface="Times New Roman" panose="02020603050405020304" pitchFamily="18" charset="0"/>
                          </a:rPr>
                          <m:t>𝒙</m:t>
                        </m:r>
                      </m:sub>
                    </m:sSub>
                    <m:r>
                      <a:rPr lang="en-US" altLang="zh-CN" sz="2200" b="1" kern="100">
                        <a:latin typeface="Cambria Math" panose="02040503050406030204" pitchFamily="18" charset="0"/>
                        <a:ea typeface="+mj-ea"/>
                        <a:cs typeface="Times New Roman" panose="02020603050405020304" pitchFamily="18" charset="0"/>
                      </a:rPr>
                      <m:t>(</m:t>
                    </m:r>
                    <m:r>
                      <a:rPr lang="en-US" altLang="zh-CN" sz="2200" b="1" i="1" kern="100">
                        <a:latin typeface="Cambria Math" panose="02040503050406030204" pitchFamily="18" charset="0"/>
                        <a:ea typeface="+mj-ea"/>
                        <a:cs typeface="Times New Roman" panose="02020603050405020304" pitchFamily="18" charset="0"/>
                      </a:rPr>
                      <m:t>𝑹</m:t>
                    </m:r>
                    <m:r>
                      <a:rPr lang="en-US" altLang="zh-CN" sz="2200" b="1" kern="100">
                        <a:latin typeface="Cambria Math" panose="02040503050406030204" pitchFamily="18" charset="0"/>
                        <a:ea typeface="+mj-ea"/>
                        <a:cs typeface="Times New Roman" panose="02020603050405020304" pitchFamily="18" charset="0"/>
                      </a:rPr>
                      <m:t>)</m:t>
                    </m:r>
                  </m:oMath>
                </a14:m>
                <a:r>
                  <a:rPr lang="zh-CN" altLang="zh-CN" sz="2200" b="1" kern="100" dirty="0">
                    <a:latin typeface="+mj-ea"/>
                    <a:ea typeface="+mj-ea"/>
                    <a:cs typeface="Times New Roman" panose="02020603050405020304" pitchFamily="18" charset="0"/>
                  </a:rPr>
                  <a:t> </a:t>
                </a:r>
                <a:r>
                  <a:rPr lang="zh-CN" altLang="en-US" sz="2200" b="1" kern="100" dirty="0">
                    <a:latin typeface="+mj-ea"/>
                    <a:ea typeface="+mj-ea"/>
                    <a:cs typeface="Times New Roman" panose="02020603050405020304" pitchFamily="18" charset="0"/>
                  </a:rPr>
                  <a:t>：</a:t>
                </a:r>
                <a14:m>
                  <m:oMath xmlns:m="http://schemas.openxmlformats.org/officeDocument/2006/math">
                    <m:r>
                      <a:rPr lang="en-US" altLang="zh-CN" sz="2200" b="1" i="1" kern="100" smtClean="0">
                        <a:latin typeface="Cambria Math" panose="02040503050406030204" pitchFamily="18" charset="0"/>
                        <a:ea typeface="+mj-ea"/>
                        <a:cs typeface="Times New Roman" panose="02020603050405020304" pitchFamily="18" charset="0"/>
                      </a:rPr>
                      <m:t>𝑻</m:t>
                    </m:r>
                    <m:r>
                      <a:rPr lang="en-US" altLang="zh-CN" sz="2200" b="1" kern="100">
                        <a:latin typeface="Cambria Math" panose="02040503050406030204" pitchFamily="18" charset="0"/>
                        <a:ea typeface="+mj-ea"/>
                        <a:cs typeface="Times New Roman" panose="02020603050405020304" pitchFamily="18" charset="0"/>
                      </a:rPr>
                      <m:t>(</m:t>
                    </m:r>
                    <m:r>
                      <a:rPr lang="en-US" altLang="zh-CN" sz="2200" b="1" i="1" kern="100">
                        <a:latin typeface="Cambria Math" panose="02040503050406030204" pitchFamily="18" charset="0"/>
                        <a:ea typeface="+mj-ea"/>
                        <a:cs typeface="Times New Roman" panose="02020603050405020304" pitchFamily="18" charset="0"/>
                      </a:rPr>
                      <m:t>𝑹</m:t>
                    </m:r>
                    <m:r>
                      <a:rPr lang="en-US" altLang="zh-CN" sz="2200" b="1" kern="100">
                        <a:latin typeface="Cambria Math" panose="02040503050406030204" pitchFamily="18" charset="0"/>
                        <a:ea typeface="+mj-ea"/>
                        <a:cs typeface="Times New Roman" panose="02020603050405020304" pitchFamily="18" charset="0"/>
                      </a:rPr>
                      <m:t>)/</m:t>
                    </m:r>
                    <m:r>
                      <a:rPr lang="en-US" altLang="zh-CN" sz="2200" b="1" i="1" kern="100">
                        <a:latin typeface="Cambria Math" panose="02040503050406030204" pitchFamily="18" charset="0"/>
                        <a:ea typeface="+mj-ea"/>
                        <a:cs typeface="Times New Roman" panose="02020603050405020304" pitchFamily="18" charset="0"/>
                      </a:rPr>
                      <m:t>𝑽</m:t>
                    </m:r>
                    <m:r>
                      <a:rPr lang="en-US" altLang="zh-CN" sz="2200" b="1" kern="100">
                        <a:latin typeface="Cambria Math" panose="02040503050406030204" pitchFamily="18" charset="0"/>
                        <a:ea typeface="+mj-ea"/>
                        <a:cs typeface="Times New Roman" panose="02020603050405020304" pitchFamily="18" charset="0"/>
                      </a:rPr>
                      <m:t>(</m:t>
                    </m:r>
                    <m:r>
                      <a:rPr lang="en-US" altLang="zh-CN" sz="2200" b="1" i="1" kern="100">
                        <a:latin typeface="Cambria Math" panose="02040503050406030204" pitchFamily="18" charset="0"/>
                        <a:ea typeface="+mj-ea"/>
                        <a:cs typeface="Times New Roman" panose="02020603050405020304" pitchFamily="18" charset="0"/>
                      </a:rPr>
                      <m:t>𝑹</m:t>
                    </m:r>
                    <m:r>
                      <a:rPr lang="en-US" altLang="zh-CN" sz="2200" b="1" kern="100">
                        <a:latin typeface="Cambria Math" panose="02040503050406030204" pitchFamily="18" charset="0"/>
                        <a:ea typeface="+mj-ea"/>
                        <a:cs typeface="Times New Roman" panose="02020603050405020304" pitchFamily="18" charset="0"/>
                      </a:rPr>
                      <m:t>,</m:t>
                    </m:r>
                    <m:r>
                      <a:rPr lang="en-US" altLang="zh-CN" sz="2200" b="1" i="1" kern="100">
                        <a:latin typeface="Cambria Math" panose="02040503050406030204" pitchFamily="18" charset="0"/>
                        <a:ea typeface="+mj-ea"/>
                        <a:cs typeface="Times New Roman" panose="02020603050405020304" pitchFamily="18" charset="0"/>
                      </a:rPr>
                      <m:t>𝑨</m:t>
                    </m:r>
                    <m:r>
                      <a:rPr lang="en-US" altLang="zh-CN" sz="2200" b="1" kern="100">
                        <a:latin typeface="Cambria Math" panose="02040503050406030204" pitchFamily="18" charset="0"/>
                        <a:ea typeface="+mj-ea"/>
                        <a:cs typeface="Times New Roman" panose="02020603050405020304" pitchFamily="18" charset="0"/>
                      </a:rPr>
                      <m:t>)</m:t>
                    </m:r>
                  </m:oMath>
                </a14:m>
                <a:r>
                  <a:rPr lang="zh-CN" altLang="zh-CN" sz="2200" b="1" kern="100" dirty="0">
                    <a:latin typeface="+mj-ea"/>
                    <a:ea typeface="+mj-ea"/>
                    <a:cs typeface="Times New Roman" panose="02020603050405020304" pitchFamily="18" charset="0"/>
                  </a:rPr>
                  <a:t> </a:t>
                </a:r>
                <a:endParaRPr lang="en-US" altLang="zh-CN" sz="2200" b="1"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范围谓词，</a:t>
                </a:r>
                <a14:m>
                  <m:oMath xmlns:m="http://schemas.openxmlformats.org/officeDocument/2006/math">
                    <m:sSub>
                      <m:sSubPr>
                        <m:ctrlPr>
                          <a:rPr lang="zh-CN" altLang="zh-CN" sz="2200" i="1" kern="100">
                            <a:latin typeface="Cambria Math" panose="02040503050406030204" pitchFamily="18" charset="0"/>
                            <a:ea typeface="+mj-ea"/>
                            <a:cs typeface="Times New Roman" panose="02020603050405020304" pitchFamily="18" charset="0"/>
                          </a:rPr>
                        </m:ctrlPr>
                      </m:sSubPr>
                      <m:e>
                        <m:r>
                          <a:rPr lang="en-US" altLang="zh-CN" sz="2200" kern="100">
                            <a:latin typeface="Cambria Math" panose="02040503050406030204" pitchFamily="18" charset="0"/>
                            <a:ea typeface="+mj-ea"/>
                            <a:cs typeface="Times New Roman" panose="02020603050405020304" pitchFamily="18" charset="0"/>
                          </a:rPr>
                          <m:t>𝜎</m:t>
                        </m:r>
                      </m:e>
                      <m:sub>
                        <m:r>
                          <a:rPr lang="en-US" altLang="zh-CN" sz="2200" kern="100">
                            <a:latin typeface="Cambria Math" panose="02040503050406030204" pitchFamily="18" charset="0"/>
                            <a:ea typeface="+mj-ea"/>
                            <a:cs typeface="Times New Roman" panose="02020603050405020304" pitchFamily="18" charset="0"/>
                          </a:rPr>
                          <m:t>𝐴</m:t>
                        </m:r>
                        <m:r>
                          <a:rPr lang="en-US" altLang="zh-CN" sz="2200" kern="100">
                            <a:latin typeface="Cambria Math" panose="02040503050406030204" pitchFamily="18" charset="0"/>
                            <a:ea typeface="+mj-ea"/>
                            <a:cs typeface="Times New Roman" panose="02020603050405020304" pitchFamily="18" charset="0"/>
                          </a:rPr>
                          <m:t>≤</m:t>
                        </m:r>
                        <m:r>
                          <a:rPr lang="en-US" altLang="zh-CN" sz="2200" kern="100">
                            <a:latin typeface="Cambria Math" panose="02040503050406030204" pitchFamily="18" charset="0"/>
                            <a:ea typeface="+mj-ea"/>
                            <a:cs typeface="Times New Roman" panose="02020603050405020304" pitchFamily="18" charset="0"/>
                          </a:rPr>
                          <m:t>𝑥</m:t>
                        </m:r>
                      </m:sub>
                    </m:sSub>
                    <m:r>
                      <a:rPr lang="en-US" altLang="zh-CN" sz="2200" kern="100">
                        <a:latin typeface="Cambria Math" panose="02040503050406030204" pitchFamily="18" charset="0"/>
                        <a:ea typeface="+mj-ea"/>
                        <a:cs typeface="Times New Roman" panose="02020603050405020304" pitchFamily="18" charset="0"/>
                      </a:rPr>
                      <m:t>(</m:t>
                    </m:r>
                    <m:r>
                      <a:rPr lang="en-US" altLang="zh-CN" sz="2200" kern="100">
                        <a:latin typeface="Cambria Math" panose="02040503050406030204" pitchFamily="18" charset="0"/>
                        <a:ea typeface="+mj-ea"/>
                        <a:cs typeface="Times New Roman" panose="02020603050405020304" pitchFamily="18" charset="0"/>
                      </a:rPr>
                      <m:t>𝑅</m:t>
                    </m:r>
                    <m:r>
                      <a:rPr lang="en-US" altLang="zh-CN" sz="2200" kern="100">
                        <a:latin typeface="Cambria Math" panose="02040503050406030204" pitchFamily="18" charset="0"/>
                        <a:ea typeface="+mj-ea"/>
                        <a:cs typeface="Times New Roman" panose="02020603050405020304" pitchFamily="18" charset="0"/>
                      </a:rPr>
                      <m:t>)</m:t>
                    </m:r>
                  </m:oMath>
                </a14:m>
                <a:r>
                  <a:rPr lang="zh-CN" altLang="zh-CN" sz="2200" kern="100" dirty="0">
                    <a:latin typeface="+mj-ea"/>
                    <a:ea typeface="+mj-ea"/>
                    <a:cs typeface="Times New Roman" panose="02020603050405020304" pitchFamily="18" charset="0"/>
                  </a:rPr>
                  <a:t> </a:t>
                </a:r>
                <a:r>
                  <a:rPr lang="zh-CN" altLang="en-US" sz="2200" kern="100" dirty="0">
                    <a:latin typeface="+mj-ea"/>
                    <a:ea typeface="+mj-ea"/>
                    <a:cs typeface="Times New Roman" panose="02020603050405020304" pitchFamily="18" charset="0"/>
                  </a:rPr>
                  <a:t>：</a:t>
                </a:r>
                <a:endParaRPr lang="en-US" altLang="zh-CN" sz="22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若</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𝑥</m:t>
                    </m:r>
                    <m:r>
                      <a:rPr lang="en-US" altLang="zh-CN" sz="2000" kern="100">
                        <a:latin typeface="Cambria Math" panose="02040503050406030204" pitchFamily="18" charset="0"/>
                        <a:ea typeface="+mj-ea"/>
                        <a:cs typeface="Times New Roman" panose="02020603050405020304" pitchFamily="18" charset="0"/>
                      </a:rPr>
                      <m:t>&lt;</m:t>
                    </m:r>
                    <m:r>
                      <m:rPr>
                        <m:sty m:val="p"/>
                      </m:rPr>
                      <a:rPr lang="en-US" altLang="zh-CN" sz="2000" kern="100">
                        <a:latin typeface="Cambria Math" panose="02040503050406030204" pitchFamily="18" charset="0"/>
                        <a:ea typeface="+mj-ea"/>
                        <a:cs typeface="Times New Roman" panose="02020603050405020304" pitchFamily="18" charset="0"/>
                      </a:rPr>
                      <m:t>min</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 </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以</a:t>
                </a:r>
                <a:r>
                  <a:rPr lang="en-US" altLang="zh-CN" sz="2000" kern="100" dirty="0">
                    <a:latin typeface="+mj-ea"/>
                    <a:ea typeface="+mj-ea"/>
                    <a:cs typeface="Times New Roman" panose="02020603050405020304" pitchFamily="18" charset="0"/>
                  </a:rPr>
                  <a:t>0</a:t>
                </a:r>
                <a:r>
                  <a:rPr lang="zh-CN" altLang="zh-CN" sz="2000" kern="100" dirty="0">
                    <a:latin typeface="+mj-ea"/>
                    <a:ea typeface="+mj-ea"/>
                    <a:cs typeface="Times New Roman" panose="02020603050405020304" pitchFamily="18" charset="0"/>
                  </a:rPr>
                  <a:t>作为估计</a:t>
                </a:r>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若</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𝑥</m:t>
                    </m:r>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max</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，以</a:t>
                </a: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作为估计</a:t>
                </a:r>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若</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𝑥</m:t>
                    </m:r>
                  </m:oMath>
                </a14:m>
                <a:r>
                  <a:rPr lang="zh-CN" altLang="zh-CN" sz="2000" kern="100" dirty="0">
                    <a:latin typeface="+mj-ea"/>
                    <a:ea typeface="+mj-ea"/>
                    <a:cs typeface="Times New Roman" panose="02020603050405020304" pitchFamily="18" charset="0"/>
                  </a:rPr>
                  <a:t>落在</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r>
                          <m:rPr>
                            <m:sty m:val="p"/>
                          </m:rPr>
                          <a:rPr lang="en-US" altLang="zh-CN" sz="2000" kern="100">
                            <a:latin typeface="Cambria Math" panose="02040503050406030204" pitchFamily="18" charset="0"/>
                            <a:ea typeface="+mj-ea"/>
                            <a:cs typeface="Times New Roman" panose="02020603050405020304" pitchFamily="18" charset="0"/>
                          </a:rPr>
                          <m:t>min</m:t>
                        </m:r>
                      </m:fName>
                      <m:e>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e>
                    </m:func>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r>
                          <m:rPr>
                            <m:sty m:val="p"/>
                          </m:rPr>
                          <a:rPr lang="en-US" altLang="zh-CN" sz="2000" kern="100">
                            <a:latin typeface="Cambria Math" panose="02040503050406030204" pitchFamily="18" charset="0"/>
                            <a:ea typeface="+mj-ea"/>
                            <a:cs typeface="Times New Roman" panose="02020603050405020304" pitchFamily="18" charset="0"/>
                          </a:rPr>
                          <m:t>max</m:t>
                        </m:r>
                      </m:fName>
                      <m:e>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e>
                    </m:func>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，以</a:t>
                </a:r>
                <a14:m>
                  <m:oMath xmlns:m="http://schemas.openxmlformats.org/officeDocument/2006/math">
                    <m:r>
                      <a:rPr lang="en-US" altLang="zh-CN" sz="2000" b="0" i="1" kern="100" smtClean="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𝑥</m:t>
                        </m:r>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min</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num>
                      <m:den>
                        <m:func>
                          <m:funcPr>
                            <m:ctrlPr>
                              <a:rPr lang="zh-CN" altLang="zh-CN" sz="2000" i="1" kern="100">
                                <a:latin typeface="Cambria Math" panose="02040503050406030204" pitchFamily="18" charset="0"/>
                                <a:ea typeface="+mj-ea"/>
                                <a:cs typeface="Times New Roman" panose="02020603050405020304" pitchFamily="18" charset="0"/>
                              </a:rPr>
                            </m:ctrlPr>
                          </m:funcPr>
                          <m:fName>
                            <m:r>
                              <m:rPr>
                                <m:sty m:val="p"/>
                              </m:rPr>
                              <a:rPr lang="en-US" altLang="zh-CN" sz="2000" kern="100">
                                <a:latin typeface="Cambria Math" panose="02040503050406030204" pitchFamily="18" charset="0"/>
                                <a:ea typeface="+mj-ea"/>
                                <a:cs typeface="Times New Roman" panose="02020603050405020304" pitchFamily="18" charset="0"/>
                              </a:rPr>
                              <m:t>max</m:t>
                            </m:r>
                          </m:fName>
                          <m:e>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e>
                        </m:func>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min</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den>
                    </m:f>
                  </m:oMath>
                </a14:m>
                <a:r>
                  <a:rPr lang="zh-CN" altLang="zh-CN" sz="2000" kern="100" dirty="0">
                    <a:latin typeface="+mj-ea"/>
                    <a:ea typeface="+mj-ea"/>
                    <a:cs typeface="Times New Roman" panose="02020603050405020304" pitchFamily="18" charset="0"/>
                  </a:rPr>
                  <a:t>作为估计</a:t>
                </a:r>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&lt;,&gt;,≥</m:t>
                    </m:r>
                  </m:oMath>
                </a14:m>
                <a:r>
                  <a:rPr lang="zh-CN" altLang="zh-CN" sz="2000" kern="100" dirty="0">
                    <a:latin typeface="+mj-ea"/>
                    <a:ea typeface="+mj-ea"/>
                    <a:cs typeface="Times New Roman" panose="02020603050405020304" pitchFamily="18" charset="0"/>
                  </a:rPr>
                  <a:t>等其他的运算符以此类推 </a:t>
                </a:r>
                <a:endParaRPr lang="en-US" altLang="zh-CN" sz="20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34000"/>
                <a:ext cx="11667744" cy="3174139"/>
              </a:xfrm>
              <a:prstGeom prst="rect">
                <a:avLst/>
              </a:prstGeom>
              <a:blipFill rotWithShape="0">
                <a:blip r:embed="rId3"/>
                <a:stretch>
                  <a:fillRect l="-575" b="-24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252073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Shape18">
                <a:extLst>
                  <a:ext uri="{FF2B5EF4-FFF2-40B4-BE49-F238E27FC236}">
                    <a16:creationId xmlns:a16="http://schemas.microsoft.com/office/drawing/2014/main" id="{0FF52922-3D42-4412-80D4-E8608AC407DF}"/>
                  </a:ext>
                </a:extLst>
              </p:cNvPr>
              <p:cNvSpPr/>
              <p:nvPr/>
            </p:nvSpPr>
            <p:spPr>
              <a:xfrm>
                <a:off x="1117649" y="4981707"/>
                <a:ext cx="9956699" cy="68756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r>
                        <m:rPr>
                          <m:sty m:val="p"/>
                        </m:rPr>
                        <a:rPr lang="en-US" altLang="zh-CN" kern="100">
                          <a:latin typeface="Cambria Math" panose="02040503050406030204" pitchFamily="18" charset="0"/>
                          <a:cs typeface="Times New Roman" panose="02020603050405020304" pitchFamily="18" charset="0"/>
                        </a:rPr>
                        <m:t>freq</m:t>
                      </m:r>
                      <m:r>
                        <a:rPr lang="en-US" altLang="zh-CN" kern="100">
                          <a:latin typeface="Cambria Math" panose="02040503050406030204" pitchFamily="18" charset="0"/>
                          <a:cs typeface="Times New Roman" panose="02020603050405020304" pitchFamily="18" charset="0"/>
                        </a:rPr>
                        <m:t>(</m:t>
                      </m:r>
                      <m:r>
                        <a:rPr lang="en-US" altLang="zh-CN" kern="100">
                          <a:latin typeface="Cambria Math" panose="02040503050406030204" pitchFamily="18" charset="0"/>
                          <a:cs typeface="Times New Roman" panose="02020603050405020304" pitchFamily="18" charset="0"/>
                        </a:rPr>
                        <m:t>𝐴</m:t>
                      </m:r>
                      <m:r>
                        <a:rPr lang="en-US" altLang="zh-CN" kern="100">
                          <a:latin typeface="Cambria Math" panose="02040503050406030204" pitchFamily="18" charset="0"/>
                          <a:cs typeface="Times New Roman" panose="02020603050405020304" pitchFamily="18" charset="0"/>
                        </a:rPr>
                        <m:t>≤25)=(</m:t>
                      </m:r>
                      <m:r>
                        <a:rPr lang="en-US" altLang="zh-CN" i="1" kern="100">
                          <a:latin typeface="Cambria Math" panose="02040503050406030204" pitchFamily="18" charset="0"/>
                          <a:cs typeface="Times New Roman" panose="02020603050405020304" pitchFamily="18" charset="0"/>
                        </a:rPr>
                        <m:t>𝑇</m:t>
                      </m:r>
                      <m:r>
                        <a:rPr lang="en-US" altLang="zh-CN" kern="100">
                          <a:latin typeface="Cambria Math" panose="02040503050406030204" pitchFamily="18" charset="0"/>
                          <a:cs typeface="Times New Roman" panose="02020603050405020304" pitchFamily="18" charset="0"/>
                        </a:rPr>
                        <m:t>(1≤</m:t>
                      </m:r>
                      <m:r>
                        <a:rPr lang="en-US" altLang="zh-CN" kern="100">
                          <a:latin typeface="Cambria Math" panose="02040503050406030204" pitchFamily="18" charset="0"/>
                          <a:cs typeface="Times New Roman" panose="02020603050405020304" pitchFamily="18" charset="0"/>
                        </a:rPr>
                        <m:t>𝐴</m:t>
                      </m:r>
                      <m:r>
                        <a:rPr lang="en-US" altLang="zh-CN" kern="100">
                          <a:latin typeface="Cambria Math" panose="02040503050406030204" pitchFamily="18" charset="0"/>
                          <a:cs typeface="Times New Roman" panose="02020603050405020304" pitchFamily="18" charset="0"/>
                        </a:rPr>
                        <m:t>≤10)+</m:t>
                      </m:r>
                      <m:r>
                        <a:rPr lang="en-US" altLang="zh-CN" i="1" kern="100">
                          <a:latin typeface="Cambria Math" panose="02040503050406030204" pitchFamily="18" charset="0"/>
                          <a:cs typeface="Times New Roman" panose="02020603050405020304" pitchFamily="18" charset="0"/>
                        </a:rPr>
                        <m:t>𝑇</m:t>
                      </m:r>
                      <m:r>
                        <a:rPr lang="en-US" altLang="zh-CN" kern="100">
                          <a:latin typeface="Cambria Math" panose="02040503050406030204" pitchFamily="18" charset="0"/>
                          <a:cs typeface="Times New Roman" panose="02020603050405020304" pitchFamily="18" charset="0"/>
                        </a:rPr>
                        <m:t>(10&lt;</m:t>
                      </m:r>
                      <m:r>
                        <a:rPr lang="en-US" altLang="zh-CN" kern="100">
                          <a:latin typeface="Cambria Math" panose="02040503050406030204" pitchFamily="18" charset="0"/>
                          <a:cs typeface="Times New Roman" panose="02020603050405020304" pitchFamily="18" charset="0"/>
                        </a:rPr>
                        <m:t>𝐴</m:t>
                      </m:r>
                      <m:r>
                        <a:rPr lang="en-US" altLang="zh-CN" kern="100">
                          <a:latin typeface="Cambria Math" panose="02040503050406030204" pitchFamily="18" charset="0"/>
                          <a:cs typeface="Times New Roman" panose="02020603050405020304" pitchFamily="18" charset="0"/>
                        </a:rPr>
                        <m:t>≤20)+∙0.5∙</m:t>
                      </m:r>
                      <m:r>
                        <a:rPr lang="en-US" altLang="zh-CN" i="1" kern="100">
                          <a:latin typeface="Cambria Math" panose="02040503050406030204" pitchFamily="18" charset="0"/>
                          <a:cs typeface="Times New Roman" panose="02020603050405020304" pitchFamily="18" charset="0"/>
                        </a:rPr>
                        <m:t>𝑇</m:t>
                      </m:r>
                      <m:r>
                        <a:rPr lang="en-US" altLang="zh-CN" kern="100">
                          <a:latin typeface="Cambria Math" panose="02040503050406030204" pitchFamily="18" charset="0"/>
                          <a:cs typeface="Times New Roman" panose="02020603050405020304" pitchFamily="18" charset="0"/>
                        </a:rPr>
                        <m:t>(20&lt;</m:t>
                      </m:r>
                      <m:r>
                        <a:rPr lang="en-US" altLang="zh-CN" kern="100">
                          <a:latin typeface="Cambria Math" panose="02040503050406030204" pitchFamily="18" charset="0"/>
                          <a:cs typeface="Times New Roman" panose="02020603050405020304" pitchFamily="18" charset="0"/>
                        </a:rPr>
                        <m:t>𝐴</m:t>
                      </m:r>
                      <m:r>
                        <a:rPr lang="en-US" altLang="zh-CN" kern="100">
                          <a:latin typeface="Cambria Math" panose="02040503050406030204" pitchFamily="18" charset="0"/>
                          <a:cs typeface="Times New Roman" panose="02020603050405020304" pitchFamily="18" charset="0"/>
                        </a:rPr>
                        <m:t>≤30))/</m:t>
                      </m:r>
                      <m:r>
                        <a:rPr lang="en-US" altLang="zh-CN" i="1" kern="100">
                          <a:latin typeface="Cambria Math" panose="02040503050406030204" pitchFamily="18" charset="0"/>
                          <a:cs typeface="Times New Roman" panose="02020603050405020304" pitchFamily="18" charset="0"/>
                        </a:rPr>
                        <m:t>𝑇</m:t>
                      </m:r>
                      <m:r>
                        <a:rPr lang="en-US" altLang="zh-CN" kern="100">
                          <a:latin typeface="Cambria Math" panose="02040503050406030204" pitchFamily="18" charset="0"/>
                          <a:cs typeface="Times New Roman" panose="02020603050405020304" pitchFamily="18" charset="0"/>
                        </a:rPr>
                        <m:t>(</m:t>
                      </m:r>
                      <m:r>
                        <a:rPr lang="en-US" altLang="zh-CN" kern="100">
                          <a:latin typeface="Cambria Math" panose="02040503050406030204" pitchFamily="18" charset="0"/>
                          <a:cs typeface="Times New Roman" panose="02020603050405020304" pitchFamily="18" charset="0"/>
                        </a:rPr>
                        <m:t>𝑅</m:t>
                      </m:r>
                      <m:r>
                        <a:rPr lang="en-US" altLang="zh-CN" kern="100">
                          <a:latin typeface="Cambria Math" panose="02040503050406030204" pitchFamily="18" charset="0"/>
                          <a:cs typeface="Times New Roman" panose="02020603050405020304" pitchFamily="18" charset="0"/>
                        </a:rPr>
                        <m:t>)</m:t>
                      </m:r>
                    </m:oMath>
                  </m:oMathPara>
                </a14:m>
                <a:endParaRPr lang="en-US" altLang="zh-CN" kern="100" dirty="0">
                  <a:latin typeface="+mj-ea"/>
                  <a:cs typeface="Times New Roman" panose="02020603050405020304" pitchFamily="18" charset="0"/>
                </a:endParaRPr>
              </a:p>
            </p:txBody>
          </p:sp>
        </mc:Choice>
        <mc:Fallback xmlns="">
          <p:sp>
            <p:nvSpPr>
              <p:cNvPr id="7" name="Shape18">
                <a:extLst>
                  <a:ext uri="{FF2B5EF4-FFF2-40B4-BE49-F238E27FC236}">
                    <a16:creationId xmlns:a16="http://schemas.microsoft.com/office/drawing/2014/main" xmlns="" id="{0FF52922-3D42-4412-80D4-E8608AC407DF}"/>
                  </a:ext>
                </a:extLst>
              </p:cNvPr>
              <p:cNvSpPr>
                <a:spLocks noRot="1" noChangeAspect="1" noMove="1" noResize="1" noEditPoints="1" noAdjustHandles="1" noChangeArrowheads="1" noChangeShapeType="1" noTextEdit="1"/>
              </p:cNvSpPr>
              <p:nvPr/>
            </p:nvSpPr>
            <p:spPr>
              <a:xfrm>
                <a:off x="1117649" y="4981707"/>
                <a:ext cx="9956699" cy="687569"/>
              </a:xfrm>
              <a:prstGeom prst="roundRect">
                <a:avLst>
                  <a:gd name="adj" fmla="val 9827"/>
                </a:avLst>
              </a:prstGeom>
              <a:blipFill rotWithShape="0">
                <a:blip r:embed="rId3"/>
                <a:stretch>
                  <a:fillRect/>
                </a:stretch>
              </a:blipFill>
              <a:ln w="12700" cap="flat">
                <a:gradFill>
                  <a:gsLst>
                    <a:gs pos="0">
                      <a:srgbClr val="3B20FF">
                        <a:alpha val="16000"/>
                      </a:srgbClr>
                    </a:gs>
                    <a:gs pos="100000">
                      <a:srgbClr val="6F1787"/>
                    </a:gs>
                  </a:gsLst>
                  <a:lin ang="10800000" scaled="1"/>
                </a:gradFill>
                <a:prstDash val="solid"/>
                <a:miter/>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34000"/>
                <a:ext cx="12252714" cy="4339650"/>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使用直方图进行估计</a:t>
                </a:r>
                <a:endParaRPr lang="en-US" altLang="zh-CN" sz="22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i="1" kern="100" dirty="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freq</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𝑥</m:t>
                    </m:r>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 </a:t>
                </a:r>
                <a:endParaRPr lang="en-US" altLang="zh-CN" sz="2000"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举例：</a:t>
                </a:r>
                <a:r>
                  <a:rPr lang="en-US" altLang="zh-CN" sz="2200" b="1" kern="100" dirty="0">
                    <a:latin typeface="+mj-ea"/>
                    <a:ea typeface="+mj-ea"/>
                    <a:cs typeface="Times New Roman" panose="02020603050405020304" pitchFamily="18" charset="0"/>
                  </a:rPr>
                  <a:t> </a:t>
                </a:r>
                <a:r>
                  <a:rPr lang="zh-CN" altLang="en-US" sz="2200" b="1" kern="100" dirty="0">
                    <a:latin typeface="+mj-ea"/>
                    <a:ea typeface="+mj-ea"/>
                    <a:cs typeface="Times New Roman" panose="02020603050405020304" pitchFamily="18" charset="0"/>
                  </a:rPr>
                  <a:t>利用直方图估计范围谓词</a:t>
                </a:r>
                <a14:m>
                  <m:oMath xmlns:m="http://schemas.openxmlformats.org/officeDocument/2006/math">
                    <m:r>
                      <a:rPr lang="en-US" altLang="zh-CN" sz="2200" b="1" kern="100">
                        <a:latin typeface="Cambria Math" panose="02040503050406030204" pitchFamily="18" charset="0"/>
                        <a:ea typeface="+mj-ea"/>
                        <a:cs typeface="Times New Roman" panose="02020603050405020304" pitchFamily="18" charset="0"/>
                      </a:rPr>
                      <m:t>𝐀</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𝟐𝟓</m:t>
                    </m:r>
                  </m:oMath>
                </a14:m>
                <a:r>
                  <a:rPr lang="zh-CN" altLang="zh-CN" sz="2200" b="1" kern="100" dirty="0">
                    <a:latin typeface="+mj-ea"/>
                    <a:ea typeface="+mj-ea"/>
                    <a:cs typeface="Times New Roman" panose="02020603050405020304" pitchFamily="18" charset="0"/>
                  </a:rPr>
                  <a:t> </a:t>
                </a:r>
                <a:r>
                  <a:rPr lang="zh-CN" altLang="en-US" sz="2200" b="1" kern="100" dirty="0">
                    <a:latin typeface="+mj-ea"/>
                    <a:ea typeface="+mj-ea"/>
                    <a:cs typeface="Times New Roman" panose="02020603050405020304" pitchFamily="18" charset="0"/>
                  </a:rPr>
                  <a:t>的结果基数</a:t>
                </a:r>
                <a:endParaRPr lang="en-US" altLang="zh-CN" sz="2200" b="1" kern="100" dirty="0">
                  <a:latin typeface="+mj-ea"/>
                  <a:ea typeface="+mj-ea"/>
                  <a:cs typeface="Times New Roman" panose="02020603050405020304" pitchFamily="18" charset="0"/>
                </a:endParaRPr>
              </a:p>
              <a:p>
                <a:pPr lvl="1" algn="just">
                  <a:lnSpc>
                    <a:spcPct val="150000"/>
                  </a:lnSpc>
                </a:pPr>
                <a:endParaRPr lang="en-US" altLang="zh-CN" sz="2000" kern="100" dirty="0">
                  <a:latin typeface="+mj-ea"/>
                  <a:ea typeface="+mj-ea"/>
                  <a:cs typeface="Times New Roman" panose="02020603050405020304" pitchFamily="18" charset="0"/>
                </a:endParaRPr>
              </a:p>
              <a:p>
                <a:pPr lvl="1" algn="just">
                  <a:lnSpc>
                    <a:spcPct val="150000"/>
                  </a:lnSpc>
                </a:pPr>
                <a:endParaRPr lang="en-US" altLang="zh-CN" sz="2000" kern="100" dirty="0">
                  <a:latin typeface="+mj-ea"/>
                  <a:ea typeface="+mj-ea"/>
                  <a:cs typeface="Times New Roman" panose="02020603050405020304" pitchFamily="18" charset="0"/>
                </a:endParaRPr>
              </a:p>
              <a:p>
                <a:pPr lvl="1" algn="just">
                  <a:lnSpc>
                    <a:spcPct val="150000"/>
                  </a:lnSpc>
                </a:pPr>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Wingdings" pitchFamily="2" charset="2"/>
                  <a:buChar char="Ø"/>
                </a:pPr>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Wingdings" pitchFamily="2" charset="2"/>
                  <a:buChar char="Ø"/>
                </a:pPr>
                <a:endParaRPr lang="en-US" altLang="zh-CN" sz="2000" kern="100" dirty="0">
                  <a:latin typeface="+mj-ea"/>
                  <a:ea typeface="+mj-ea"/>
                  <a:cs typeface="Times New Roman" panose="02020603050405020304" pitchFamily="18" charset="0"/>
                </a:endParaRPr>
              </a:p>
              <a:p>
                <a:pPr algn="just">
                  <a:lnSpc>
                    <a:spcPct val="150000"/>
                  </a:lnSpc>
                </a:pPr>
                <a:endParaRPr lang="en-US" altLang="zh-CN" sz="20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34000"/>
                <a:ext cx="12252714" cy="4339650"/>
              </a:xfrm>
              <a:prstGeom prst="rect">
                <a:avLst/>
              </a:prstGeom>
              <a:blipFill rotWithShape="0">
                <a:blip r:embed="rId4"/>
                <a:stretch>
                  <a:fillRect l="-54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7647EF6F-C39E-C649-0517-3C63C8D8C9A2}"/>
              </a:ext>
            </a:extLst>
          </p:cNvPr>
          <p:cNvPicPr>
            <a:picLocks noChangeAspect="1"/>
          </p:cNvPicPr>
          <p:nvPr/>
        </p:nvPicPr>
        <p:blipFill>
          <a:blip r:embed="rId5"/>
          <a:srcRect/>
          <a:stretch/>
        </p:blipFill>
        <p:spPr>
          <a:xfrm>
            <a:off x="4519749" y="2796266"/>
            <a:ext cx="2463441" cy="2064944"/>
          </a:xfrm>
          <a:prstGeom prst="rect">
            <a:avLst/>
          </a:prstGeom>
        </p:spPr>
      </p:pic>
      <p:sp>
        <p:nvSpPr>
          <p:cNvPr id="4" name="灯片编号占位符 3">
            <a:extLst>
              <a:ext uri="{FF2B5EF4-FFF2-40B4-BE49-F238E27FC236}">
                <a16:creationId xmlns:a16="http://schemas.microsoft.com/office/drawing/2014/main" id="{42A89387-3CCA-A5C9-3886-C9A3451F3CD2}"/>
              </a:ext>
            </a:extLst>
          </p:cNvPr>
          <p:cNvSpPr>
            <a:spLocks noGrp="1"/>
          </p:cNvSpPr>
          <p:nvPr>
            <p:ph type="sldNum" sz="quarter" idx="10"/>
          </p:nvPr>
        </p:nvSpPr>
        <p:spPr/>
        <p:txBody>
          <a:bodyPr/>
          <a:lstStyle/>
          <a:p>
            <a:fld id="{4B0D34C0-35A8-654C-9FBA-7B4E017BD630}" type="slidenum">
              <a:rPr lang="en-US" altLang="zh-CN" smtClean="0"/>
              <a:t>57</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选择运算的基数估计</a:t>
            </a:r>
            <a:endParaRPr kumimoji="1" lang="zh-CN" altLang="en-US" dirty="0"/>
          </a:p>
        </p:txBody>
      </p:sp>
      <p:sp>
        <p:nvSpPr>
          <p:cNvPr id="6" name="页脚占位符 5">
            <a:extLst>
              <a:ext uri="{FF2B5EF4-FFF2-40B4-BE49-F238E27FC236}">
                <a16:creationId xmlns:a16="http://schemas.microsoft.com/office/drawing/2014/main" id="{8D97FA7F-CCA8-E8B4-CBBA-2F32B5366526}"/>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955374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2004212" cy="2599751"/>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取反</a:t>
                </a:r>
                <a:endParaRPr lang="en-US" altLang="zh-CN" sz="22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取反的一般形式为：</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𝑝</m:t>
                        </m:r>
                      </m:sub>
                    </m:sSub>
                    <m:d>
                      <m:dPr>
                        <m:ctrlPr>
                          <a:rPr lang="en-US"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oMath>
                </a14:m>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a:rPr lang="zh-CN" altLang="en-US" sz="2000" i="1" kern="100" dirty="0" smtClean="0">
                        <a:latin typeface="Cambria Math" panose="02040503050406030204" pitchFamily="18" charset="0"/>
                        <a:ea typeface="+mj-ea"/>
                        <a:cs typeface="Times New Roman" panose="02020603050405020304" pitchFamily="18" charset="0"/>
                      </a:rPr>
                      <m:t>以</m:t>
                    </m:r>
                    <m:r>
                      <m:rPr>
                        <m:sty m:val="p"/>
                      </m:rPr>
                      <a:rPr lang="en-US" altLang="zh-CN" sz="2000" kern="10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𝑝</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𝑝</m:t>
                            </m:r>
                          </m:sub>
                        </m:sSub>
                      </m:e>
                    </m:d>
                  </m:oMath>
                </a14:m>
                <a:r>
                  <a:rPr lang="zh-CN" altLang="en-US" sz="2000" kern="100" dirty="0">
                    <a:latin typeface="+mj-ea"/>
                    <a:ea typeface="+mj-ea"/>
                    <a:cs typeface="Times New Roman" panose="02020603050405020304" pitchFamily="18" charset="0"/>
                  </a:rPr>
                  <a:t>作为取反的基数估计</a:t>
                </a:r>
                <a:endParaRPr lang="zh-CN" altLang="zh-CN" sz="2000"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合取</a:t>
                </a:r>
                <a:endParaRPr lang="en-US" altLang="zh-CN" sz="22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合取的一般形式为：</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𝜎</m:t>
                        </m:r>
                      </m:e>
                      <m: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𝑝</m:t>
                            </m:r>
                          </m:e>
                          <m:sub>
                            <m:r>
                              <a:rPr lang="en-US" altLang="zh-CN" sz="2000" i="1" kern="100">
                                <a:latin typeface="Cambria Math" panose="02040503050406030204" pitchFamily="18" charset="0"/>
                                <a:ea typeface="+mj-ea"/>
                                <a:cs typeface="Times New Roman" panose="02020603050405020304" pitchFamily="18" charset="0"/>
                              </a:rPr>
                              <m:t>1</m:t>
                            </m:r>
                          </m:sub>
                        </m:sSub>
                        <m:r>
                          <a:rPr lang="en-US" altLang="zh-CN" sz="2000" i="1" kern="100">
                            <a:latin typeface="Cambria Math" panose="02040503050406030204" pitchFamily="18" charset="0"/>
                            <a:ea typeface="+mj-ea"/>
                            <a:cs typeface="Times New Roman" panose="02020603050405020304" pitchFamily="18" charset="0"/>
                          </a:rPr>
                          <m:t> ⋀ ⋯⋀</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𝑝</m:t>
                            </m:r>
                          </m:e>
                          <m:sub>
                            <m:r>
                              <a:rPr lang="en-US" altLang="zh-CN" sz="2000" i="1" kern="100">
                                <a:latin typeface="Cambria Math" panose="02040503050406030204" pitchFamily="18" charset="0"/>
                                <a:ea typeface="+mj-ea"/>
                                <a:cs typeface="Times New Roman" panose="02020603050405020304" pitchFamily="18" charset="0"/>
                              </a:rPr>
                              <m:t>𝑘</m:t>
                            </m:r>
                          </m:sub>
                        </m:sSub>
                      </m:sub>
                    </m:sSub>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𝑅</m:t>
                    </m:r>
                    <m:r>
                      <a:rPr lang="en-US" altLang="zh-CN" sz="2000" i="1"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，表示</a:t>
                </a:r>
                <a:r>
                  <a:rPr lang="zh-CN" altLang="en-US" sz="2000" kern="100" dirty="0">
                    <a:latin typeface="+mj-ea"/>
                    <a:ea typeface="+mj-ea"/>
                    <a:cs typeface="Times New Roman" panose="02020603050405020304" pitchFamily="18" charset="0"/>
                  </a:rPr>
                  <a:t>同时</a:t>
                </a:r>
                <a:r>
                  <a:rPr lang="zh-CN" altLang="zh-CN" sz="2000" kern="100" dirty="0">
                    <a:latin typeface="+mj-ea"/>
                    <a:ea typeface="+mj-ea"/>
                    <a:cs typeface="Times New Roman" panose="02020603050405020304" pitchFamily="18" charset="0"/>
                  </a:rPr>
                  <a:t>符合谓词</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𝜎</m:t>
                        </m:r>
                      </m:e>
                      <m: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𝑝</m:t>
                            </m:r>
                          </m:e>
                          <m:sub>
                            <m:r>
                              <a:rPr lang="en-US" altLang="zh-CN" sz="2000" i="1" kern="100">
                                <a:latin typeface="Cambria Math" panose="02040503050406030204" pitchFamily="18" charset="0"/>
                                <a:ea typeface="+mj-ea"/>
                                <a:cs typeface="Times New Roman" panose="02020603050405020304" pitchFamily="18" charset="0"/>
                              </a:rPr>
                              <m:t>𝑖</m:t>
                            </m:r>
                          </m:sub>
                        </m:sSub>
                      </m:sub>
                    </m:sSub>
                  </m:oMath>
                </a14:m>
                <a:r>
                  <a:rPr lang="zh-CN" altLang="en-US" sz="2000" i="1" kern="100" dirty="0">
                    <a:latin typeface="+mj-ea"/>
                    <a:ea typeface="+mj-ea"/>
                    <a:cs typeface="Times New Roman" panose="02020603050405020304" pitchFamily="18" charset="0"/>
                  </a:rPr>
                  <a:t>，</a:t>
                </a:r>
                <a:r>
                  <a:rPr lang="zh-CN" altLang="zh-CN" sz="2000" i="1" kern="100" dirty="0">
                    <a:latin typeface="+mj-ea"/>
                    <a:ea typeface="+mj-ea"/>
                    <a:cs typeface="Times New Roman" panose="02020603050405020304" pitchFamily="18" charset="0"/>
                  </a:rPr>
                  <a:t> </a:t>
                </a: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1≤</m:t>
                    </m:r>
                    <m:r>
                      <a:rPr lang="en-US" altLang="zh-CN" sz="2000" i="1" kern="100">
                        <a:latin typeface="Cambria Math" panose="02040503050406030204" pitchFamily="18" charset="0"/>
                        <a:ea typeface="+mj-ea"/>
                        <a:cs typeface="Times New Roman" panose="02020603050405020304" pitchFamily="18" charset="0"/>
                      </a:rPr>
                      <m:t>𝑖</m:t>
                    </m:r>
                    <m:r>
                      <a:rPr lang="en-US" altLang="zh-CN" sz="2000" i="1"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𝑘</m:t>
                    </m:r>
                  </m:oMath>
                </a14:m>
                <a:endParaRPr lang="en-US" altLang="zh-CN" sz="2000" i="1"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8000" y="1126800"/>
                <a:ext cx="12004212" cy="2599751"/>
              </a:xfrm>
              <a:prstGeom prst="rect">
                <a:avLst/>
              </a:prstGeom>
              <a:blipFill>
                <a:blip r:embed="rId3"/>
                <a:stretch>
                  <a:fillRect l="-529" b="-194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6D475C32-251F-A0FB-BC41-C4001622A1FB}"/>
              </a:ext>
            </a:extLst>
          </p:cNvPr>
          <p:cNvSpPr>
            <a:spLocks noGrp="1"/>
          </p:cNvSpPr>
          <p:nvPr>
            <p:ph type="sldNum" sz="quarter" idx="10"/>
          </p:nvPr>
        </p:nvSpPr>
        <p:spPr/>
        <p:txBody>
          <a:bodyPr/>
          <a:lstStyle/>
          <a:p>
            <a:fld id="{4B0D34C0-35A8-654C-9FBA-7B4E017BD630}" type="slidenum">
              <a:rPr lang="en-US" altLang="zh-CN" smtClean="0"/>
              <a:t>58</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选择运算的基数估计</a:t>
            </a:r>
            <a:endParaRPr kumimoji="1" lang="zh-CN" altLang="en-US" dirty="0"/>
          </a:p>
        </p:txBody>
      </p:sp>
      <p:sp>
        <p:nvSpPr>
          <p:cNvPr id="4" name="页脚占位符 3">
            <a:extLst>
              <a:ext uri="{FF2B5EF4-FFF2-40B4-BE49-F238E27FC236}">
                <a16:creationId xmlns:a16="http://schemas.microsoft.com/office/drawing/2014/main" id="{736242AF-5561-EE85-CD49-04E816BF8314}"/>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52E576D-E879-4813-09A3-EEBD58D0BE65}"/>
                  </a:ext>
                </a:extLst>
              </p:cNvPr>
              <p:cNvSpPr txBox="1"/>
              <p:nvPr/>
            </p:nvSpPr>
            <p:spPr>
              <a:xfrm>
                <a:off x="1898724" y="4065297"/>
                <a:ext cx="6508376" cy="1681486"/>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r>
                        <m:rPr>
                          <m:sty m:val="p"/>
                        </m:rPr>
                        <a:rPr lang="en-US" altLang="zh-CN" sz="2000" kern="100" smtClean="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𝑘</m:t>
                                  </m:r>
                                </m:sub>
                              </m:sSub>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sel</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en-US"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sSub>
                                <m:sSubPr>
                                  <m:ctrlPr>
                                    <a:rPr lang="zh-CN" altLang="en-US"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en-US"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𝑘</m:t>
                                  </m:r>
                                </m:sub>
                              </m:sSub>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m:rPr>
                              <m:sty m:val="p"/>
                            </m:rPr>
                            <a:rPr lang="en-US" altLang="zh-CN" sz="2000" kern="10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1</m:t>
                                      </m:r>
                                    </m:sub>
                                  </m:sSub>
                                </m:sub>
                              </m:sSub>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𝑘</m:t>
                                      </m:r>
                                    </m:sub>
                                  </m:sSub>
                                </m:sub>
                              </m:sSub>
                            </m:e>
                          </m:d>
                        </m:num>
                        <m:den>
                          <m:sSup>
                            <m:sSupPr>
                              <m:ctrlPr>
                                <a:rPr lang="zh-CN" altLang="zh-CN" sz="2000" i="1" kern="100">
                                  <a:latin typeface="Cambria Math" panose="02040503050406030204" pitchFamily="18" charset="0"/>
                                  <a:ea typeface="+mj-ea"/>
                                  <a:cs typeface="Times New Roman" panose="02020603050405020304" pitchFamily="18" charset="0"/>
                                </a:rPr>
                              </m:ctrlPr>
                            </m:sSupPr>
                            <m:e>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e>
                            <m:sup>
                              <m:r>
                                <a:rPr lang="en-US" altLang="zh-CN" sz="2000" kern="100">
                                  <a:latin typeface="Cambria Math" panose="02040503050406030204" pitchFamily="18" charset="0"/>
                                  <a:ea typeface="+mj-ea"/>
                                  <a:cs typeface="Times New Roman" panose="02020603050405020304" pitchFamily="18" charset="0"/>
                                </a:rPr>
                                <m:t>𝑘</m:t>
                              </m:r>
                            </m:sup>
                          </m:sSup>
                        </m:den>
                      </m:f>
                    </m:oMath>
                  </m:oMathPara>
                </a14:m>
                <a:endParaRPr lang="zh-CN" altLang="zh-CN" sz="2000" kern="100" dirty="0">
                  <a:latin typeface="+mj-ea"/>
                  <a:ea typeface="+mj-ea"/>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52E576D-E879-4813-09A3-EEBD58D0BE65}"/>
                  </a:ext>
                </a:extLst>
              </p:cNvPr>
              <p:cNvSpPr txBox="1">
                <a:spLocks noRot="1" noChangeAspect="1" noMove="1" noResize="1" noEditPoints="1" noAdjustHandles="1" noChangeArrowheads="1" noChangeShapeType="1" noTextEdit="1"/>
              </p:cNvSpPr>
              <p:nvPr/>
            </p:nvSpPr>
            <p:spPr>
              <a:xfrm>
                <a:off x="1898724" y="4065297"/>
                <a:ext cx="6508376" cy="1681486"/>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5588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1667744" cy="1383584"/>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析取</a:t>
                </a:r>
                <a:endParaRPr lang="en-US" altLang="zh-CN" sz="22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析取</a:t>
                </a:r>
                <a:r>
                  <a:rPr lang="zh-CN" altLang="zh-CN" sz="2000" kern="100" dirty="0">
                    <a:latin typeface="+mj-ea"/>
                    <a:ea typeface="+mj-ea"/>
                    <a:cs typeface="Times New Roman" panose="02020603050405020304" pitchFamily="18" charset="0"/>
                  </a:rPr>
                  <a:t>的一般形式为：</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 ⋁ ⋯⋁</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𝑘</m:t>
                            </m:r>
                          </m:sub>
                        </m:sSub>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，表示至少符合谓词</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𝑝</m:t>
                            </m:r>
                          </m:e>
                          <m:sub>
                            <m:r>
                              <a:rPr lang="en-US" altLang="zh-CN" sz="2000" kern="100">
                                <a:latin typeface="Cambria Math" panose="02040503050406030204" pitchFamily="18" charset="0"/>
                                <a:ea typeface="+mj-ea"/>
                                <a:cs typeface="Times New Roman" panose="02020603050405020304" pitchFamily="18" charset="0"/>
                              </a:rPr>
                              <m:t>𝑖</m:t>
                            </m:r>
                          </m:sub>
                        </m:sSub>
                      </m:sub>
                    </m:sSub>
                    <m:r>
                      <a:rPr lang="en-US" altLang="zh-CN" sz="2000" kern="100">
                        <a:latin typeface="Cambria Math" panose="02040503050406030204" pitchFamily="18" charset="0"/>
                        <a:ea typeface="+mj-ea"/>
                        <a:cs typeface="Times New Roman" panose="02020603050405020304" pitchFamily="18" charset="0"/>
                      </a:rPr>
                      <m:t>, 1≤</m:t>
                    </m:r>
                    <m:r>
                      <a:rPr lang="en-US" altLang="zh-CN" sz="2000" kern="100">
                        <a:latin typeface="Cambria Math" panose="02040503050406030204" pitchFamily="18" charset="0"/>
                        <a:ea typeface="+mj-ea"/>
                        <a:cs typeface="Times New Roman" panose="02020603050405020304" pitchFamily="18" charset="0"/>
                      </a:rPr>
                      <m:t>𝑖</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𝑘</m:t>
                    </m:r>
                  </m:oMath>
                </a14:m>
                <a:r>
                  <a:rPr lang="zh-CN" altLang="zh-CN" sz="2000" kern="100" dirty="0">
                    <a:latin typeface="+mj-ea"/>
                    <a:ea typeface="+mj-ea"/>
                    <a:cs typeface="Times New Roman" panose="02020603050405020304" pitchFamily="18" charset="0"/>
                  </a:rPr>
                  <a:t>中的一个</a:t>
                </a:r>
                <a:endParaRPr lang="en-US" altLang="zh-CN" dirty="0"/>
              </a:p>
              <a:p>
                <a:endParaRPr lang="zh-CN" altLang="zh-CN" dirty="0"/>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8000" y="1126800"/>
                <a:ext cx="11667744" cy="1383584"/>
              </a:xfrm>
              <a:prstGeom prst="rect">
                <a:avLst/>
              </a:prstGeom>
              <a:blipFill>
                <a:blip r:embed="rId3"/>
                <a:stretch>
                  <a:fillRect l="-544"/>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BF271A4E-99D8-9909-A9D7-84FCA6519D84}"/>
              </a:ext>
            </a:extLst>
          </p:cNvPr>
          <p:cNvSpPr>
            <a:spLocks noGrp="1"/>
          </p:cNvSpPr>
          <p:nvPr>
            <p:ph type="sldNum" sz="quarter" idx="10"/>
          </p:nvPr>
        </p:nvSpPr>
        <p:spPr/>
        <p:txBody>
          <a:bodyPr/>
          <a:lstStyle/>
          <a:p>
            <a:fld id="{4B0D34C0-35A8-654C-9FBA-7B4E017BD630}" type="slidenum">
              <a:rPr lang="en-US" altLang="zh-CN" smtClean="0"/>
              <a:t>59</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选择运算的基数估计</a:t>
            </a:r>
            <a:endParaRPr kumimoji="1" lang="zh-CN" altLang="en-US" dirty="0"/>
          </a:p>
        </p:txBody>
      </p:sp>
      <p:sp>
        <p:nvSpPr>
          <p:cNvPr id="4" name="页脚占位符 3">
            <a:extLst>
              <a:ext uri="{FF2B5EF4-FFF2-40B4-BE49-F238E27FC236}">
                <a16:creationId xmlns:a16="http://schemas.microsoft.com/office/drawing/2014/main" id="{5BAA8D69-967D-9B77-5DCF-B3A226A72C8A}"/>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106E589-1C1F-A0DB-DB9D-2E7D548CCD6E}"/>
                  </a:ext>
                </a:extLst>
              </p:cNvPr>
              <p:cNvSpPr txBox="1"/>
              <p:nvPr/>
            </p:nvSpPr>
            <p:spPr>
              <a:xfrm>
                <a:off x="2846182" y="4477844"/>
                <a:ext cx="6341632" cy="12533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mtClean="0">
                          <a:latin typeface="Cambria Math" panose="02040503050406030204" pitchFamily="18" charset="0"/>
                        </a:rPr>
                        <m:t>c</m:t>
                      </m:r>
                      <m:r>
                        <m:rPr>
                          <m:sty m:val="p"/>
                        </m:rPr>
                        <a:rPr lang="zh-CN" altLang="en-US" i="0">
                          <a:latin typeface="Cambria Math" panose="02040503050406030204" pitchFamily="18" charset="0"/>
                        </a:rPr>
                        <m:t>ard</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0">
                                      <a:latin typeface="Cambria Math" panose="02040503050406030204" pitchFamily="18" charset="0"/>
                                    </a:rPr>
                                    <m:t>1</m:t>
                                  </m:r>
                                </m:sub>
                              </m:sSub>
                              <m:nary>
                                <m:naryPr>
                                  <m:chr m:val="⋁"/>
                                  <m:grow m:val="on"/>
                                  <m:subHide m:val="on"/>
                                  <m:supHide m:val="on"/>
                                  <m:ctrlPr>
                                    <a:rPr lang="zh-CN" altLang="en-US" i="1">
                                      <a:latin typeface="Cambria Math" panose="02040503050406030204" pitchFamily="18" charset="0"/>
                                    </a:rPr>
                                  </m:ctrlPr>
                                </m:naryPr>
                                <m:sub/>
                                <m:sup/>
                                <m:e>
                                  <m:r>
                                    <a:rPr lang="zh-CN" altLang="en-US" i="0">
                                      <a:latin typeface="Cambria Math" panose="02040503050406030204" pitchFamily="18" charset="0"/>
                                    </a:rPr>
                                    <m:t> </m:t>
                                  </m:r>
                                </m:e>
                              </m:nary>
                              <m:r>
                                <a:rPr lang="zh-CN" altLang="en-US" i="0">
                                  <a:latin typeface="Cambria Math" panose="02040503050406030204" pitchFamily="18" charset="0"/>
                                </a:rPr>
                                <m:t>⋯</m:t>
                              </m:r>
                              <m:nary>
                                <m:naryPr>
                                  <m:chr m:val="⋁"/>
                                  <m:grow m:val="on"/>
                                  <m:subHide m:val="on"/>
                                  <m:supHide m:val="on"/>
                                  <m:ctrlPr>
                                    <a:rPr lang="zh-CN" altLang="en-US" i="1">
                                      <a:latin typeface="Cambria Math" panose="02040503050406030204" pitchFamily="18" charset="0"/>
                                    </a:rPr>
                                  </m:ctrlPr>
                                </m:naryPr>
                                <m:sub/>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𝑘</m:t>
                                      </m:r>
                                    </m:sub>
                                  </m:sSub>
                                </m:e>
                              </m:nary>
                            </m:sub>
                          </m:sSub>
                        </m:e>
                      </m:d>
                      <m:r>
                        <a:rPr lang="zh-CN" altLang="en-US" i="0">
                          <a:latin typeface="Cambria Math" panose="02040503050406030204" pitchFamily="18" charset="0"/>
                        </a:rPr>
                        <m:t>=</m:t>
                      </m:r>
                      <m:r>
                        <a:rPr lang="zh-CN" altLang="en-US" i="1">
                          <a:latin typeface="Cambria Math" panose="02040503050406030204" pitchFamily="18" charset="0"/>
                        </a:rPr>
                        <m:t>𝑇</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𝑅</m:t>
                          </m:r>
                        </m:e>
                      </m:d>
                      <m:r>
                        <a:rPr lang="zh-CN" altLang="en-US" i="0">
                          <a:latin typeface="Cambria Math" panose="02040503050406030204" pitchFamily="18" charset="0"/>
                        </a:rPr>
                        <m:t>∙</m:t>
                      </m:r>
                      <m:r>
                        <m:rPr>
                          <m:sty m:val="p"/>
                        </m:rPr>
                        <a:rPr lang="zh-CN" altLang="en-US" i="0">
                          <a:latin typeface="Cambria Math" panose="02040503050406030204" pitchFamily="18" charset="0"/>
                        </a:rPr>
                        <m:t>sel</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0">
                                      <a:latin typeface="Cambria Math" panose="02040503050406030204" pitchFamily="18" charset="0"/>
                                    </a:rPr>
                                    <m:t>1</m:t>
                                  </m:r>
                                </m:sub>
                              </m:sSub>
                              <m:nary>
                                <m:naryPr>
                                  <m:chr m:val="⋁"/>
                                  <m:grow m:val="on"/>
                                  <m:subHide m:val="on"/>
                                  <m:supHide m:val="on"/>
                                  <m:ctrlPr>
                                    <a:rPr lang="zh-CN" altLang="en-US" i="1">
                                      <a:latin typeface="Cambria Math" panose="02040503050406030204" pitchFamily="18" charset="0"/>
                                    </a:rPr>
                                  </m:ctrlPr>
                                </m:naryPr>
                                <m:sub/>
                                <m:sup/>
                                <m:e>
                                  <m:r>
                                    <a:rPr lang="zh-CN" altLang="en-US" i="0">
                                      <a:latin typeface="Cambria Math" panose="02040503050406030204" pitchFamily="18" charset="0"/>
                                    </a:rPr>
                                    <m:t> </m:t>
                                  </m:r>
                                </m:e>
                              </m:nary>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nary>
                                    <m:naryPr>
                                      <m:chr m:val="⋁"/>
                                      <m:grow m:val="on"/>
                                      <m:subHide m:val="on"/>
                                      <m:supHide m:val="on"/>
                                      <m:ctrlPr>
                                        <a:rPr lang="zh-CN" altLang="en-US" i="1">
                                          <a:latin typeface="Cambria Math" panose="02040503050406030204" pitchFamily="18" charset="0"/>
                                        </a:rPr>
                                      </m:ctrlPr>
                                    </m:naryPr>
                                    <m:sub/>
                                    <m:sup/>
                                    <m:e>
                                      <m:r>
                                        <a:rPr lang="zh-CN" altLang="en-US" i="1">
                                          <a:latin typeface="Cambria Math" panose="02040503050406030204" pitchFamily="18" charset="0"/>
                                        </a:rPr>
                                        <m:t>𝑝</m:t>
                                      </m:r>
                                    </m:e>
                                  </m:nary>
                                </m:e>
                                <m:sub>
                                  <m:r>
                                    <a:rPr lang="zh-CN" altLang="en-US" i="1">
                                      <a:latin typeface="Cambria Math" panose="02040503050406030204" pitchFamily="18" charset="0"/>
                                    </a:rPr>
                                    <m:t>𝑘</m:t>
                                  </m:r>
                                </m:sub>
                              </m:sSub>
                            </m:sub>
                          </m:sSub>
                        </m:e>
                      </m:d>
                      <m:r>
                        <a:rPr lang="zh-CN" altLang="en-US" i="0">
                          <a:latin typeface="Cambria Math" panose="02040503050406030204" pitchFamily="18" charset="0"/>
                        </a:rPr>
                        <m:t>=</m:t>
                      </m:r>
                      <m:r>
                        <a:rPr lang="zh-CN" altLang="en-US" i="1">
                          <a:latin typeface="Cambria Math" panose="02040503050406030204" pitchFamily="18" charset="0"/>
                        </a:rPr>
                        <m:t>𝑇</m:t>
                      </m:r>
                      <m:d>
                        <m:dPr>
                          <m:ctrlPr>
                            <a:rPr lang="zh-CN" altLang="en-US" i="1">
                              <a:latin typeface="Cambria Math" panose="02040503050406030204" pitchFamily="18" charset="0"/>
                            </a:rPr>
                          </m:ctrlPr>
                        </m:dPr>
                        <m:e>
                          <m:r>
                            <a:rPr lang="zh-CN" altLang="en-US" i="1">
                              <a:latin typeface="Cambria Math" panose="02040503050406030204" pitchFamily="18" charset="0"/>
                            </a:rPr>
                            <m:t>𝑅</m:t>
                          </m:r>
                        </m:e>
                      </m:d>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r>
                            <a:rPr lang="zh-CN" altLang="en-US" i="0">
                              <a:latin typeface="Cambria Math" panose="02040503050406030204" pitchFamily="18" charset="0"/>
                            </a:rPr>
                            <m:t>1−</m:t>
                          </m:r>
                          <m:f>
                            <m:fPr>
                              <m:ctrlPr>
                                <a:rPr lang="zh-CN" altLang="en-US" i="1">
                                  <a:solidFill>
                                    <a:srgbClr val="836967"/>
                                  </a:solidFill>
                                  <a:latin typeface="Cambria Math" panose="02040503050406030204" pitchFamily="18" charset="0"/>
                                </a:rPr>
                              </m:ctrlPr>
                            </m:fPr>
                            <m:num>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𝑇</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𝑅</m:t>
                                      </m:r>
                                    </m:e>
                                  </m:d>
                                  <m:r>
                                    <a:rPr lang="zh-CN" altLang="en-US" i="0">
                                      <a:latin typeface="Cambria Math" panose="02040503050406030204" pitchFamily="18" charset="0"/>
                                    </a:rPr>
                                    <m:t>−</m:t>
                                  </m:r>
                                  <m:r>
                                    <m:rPr>
                                      <m:sty m:val="p"/>
                                    </m:rPr>
                                    <a:rPr lang="zh-CN" altLang="en-US" i="0">
                                      <a:latin typeface="Cambria Math" panose="02040503050406030204" pitchFamily="18" charset="0"/>
                                    </a:rPr>
                                    <m:t>card</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0">
                                                  <a:latin typeface="Cambria Math" panose="02040503050406030204" pitchFamily="18" charset="0"/>
                                                </a:rPr>
                                                <m:t>1</m:t>
                                              </m:r>
                                            </m:sub>
                                          </m:sSub>
                                        </m:sub>
                                      </m:sSub>
                                    </m:e>
                                  </m:d>
                                </m:e>
                              </m:d>
                              <m:r>
                                <a:rPr lang="zh-CN" altLang="en-US" i="0">
                                  <a:latin typeface="Cambria Math" panose="02040503050406030204" pitchFamily="18" charset="0"/>
                                </a:rPr>
                                <m:t>×⋯×</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𝑇</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𝑅</m:t>
                                      </m:r>
                                    </m:e>
                                  </m:d>
                                  <m:r>
                                    <a:rPr lang="zh-CN" altLang="en-US" i="0">
                                      <a:latin typeface="Cambria Math" panose="02040503050406030204" pitchFamily="18" charset="0"/>
                                    </a:rPr>
                                    <m:t>−</m:t>
                                  </m:r>
                                  <m:r>
                                    <m:rPr>
                                      <m:sty m:val="p"/>
                                    </m:rPr>
                                    <a:rPr lang="zh-CN" altLang="en-US" i="0">
                                      <a:latin typeface="Cambria Math" panose="02040503050406030204" pitchFamily="18" charset="0"/>
                                    </a:rPr>
                                    <m:t>card</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𝜎</m:t>
                                          </m:r>
                                        </m:e>
                                        <m:sub>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𝑘</m:t>
                                              </m:r>
                                            </m:sub>
                                          </m:sSub>
                                        </m:sub>
                                      </m:sSub>
                                    </m:e>
                                  </m:d>
                                </m:e>
                              </m:d>
                            </m:num>
                            <m:den>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𝑇</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𝑅</m:t>
                                      </m:r>
                                    </m:e>
                                  </m:d>
                                </m:e>
                                <m:sup>
                                  <m:r>
                                    <a:rPr lang="zh-CN" altLang="en-US" i="1">
                                      <a:latin typeface="Cambria Math" panose="02040503050406030204" pitchFamily="18" charset="0"/>
                                    </a:rPr>
                                    <m:t>𝑘</m:t>
                                  </m:r>
                                </m:sup>
                              </m:sSup>
                            </m:den>
                          </m:f>
                        </m:e>
                      </m:d>
                    </m:oMath>
                  </m:oMathPara>
                </a14:m>
                <a:endParaRPr lang="zh-CN" altLang="en-US" dirty="0"/>
              </a:p>
            </p:txBody>
          </p:sp>
        </mc:Choice>
        <mc:Fallback xmlns="">
          <p:sp>
            <p:nvSpPr>
              <p:cNvPr id="7" name="文本框 6">
                <a:extLst>
                  <a:ext uri="{FF2B5EF4-FFF2-40B4-BE49-F238E27FC236}">
                    <a16:creationId xmlns:a16="http://schemas.microsoft.com/office/drawing/2014/main" id="{D106E589-1C1F-A0DB-DB9D-2E7D548CCD6E}"/>
                  </a:ext>
                </a:extLst>
              </p:cNvPr>
              <p:cNvSpPr txBox="1">
                <a:spLocks noRot="1" noChangeAspect="1" noMove="1" noResize="1" noEditPoints="1" noAdjustHandles="1" noChangeArrowheads="1" noChangeShapeType="1" noTextEdit="1"/>
              </p:cNvSpPr>
              <p:nvPr/>
            </p:nvSpPr>
            <p:spPr>
              <a:xfrm>
                <a:off x="2846182" y="4477844"/>
                <a:ext cx="6341632" cy="1253356"/>
              </a:xfrm>
              <a:prstGeom prst="rect">
                <a:avLst/>
              </a:prstGeom>
              <a:blipFill>
                <a:blip r:embed="rId4"/>
                <a:stretch>
                  <a:fillRect t="-17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7942E9A-1563-89A3-28E9-3989D2E11E65}"/>
                  </a:ext>
                </a:extLst>
              </p:cNvPr>
              <p:cNvSpPr txBox="1"/>
              <p:nvPr/>
            </p:nvSpPr>
            <p:spPr>
              <a:xfrm>
                <a:off x="2439297" y="2346515"/>
                <a:ext cx="6341632" cy="17578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mtClean="0">
                          <a:latin typeface="Cambria Math" panose="02040503050406030204" pitchFamily="18" charset="0"/>
                        </a:rPr>
                        <m:t>sel</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Sub>
                            </m:sub>
                          </m:sSub>
                        </m:e>
                      </m:d>
                      <m:r>
                        <a:rPr lang="en-US" altLang="zh-CN" i="1">
                          <a:latin typeface="Cambria Math" panose="02040503050406030204" pitchFamily="18" charset="0"/>
                        </a:rPr>
                        <m:t>   =1−</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𝑖</m:t>
                          </m:r>
                        </m:sub>
                        <m:sup/>
                        <m:e>
                          <m:d>
                            <m:dPr>
                              <m:ctrlPr>
                                <a:rPr lang="zh-CN" altLang="zh-CN" i="1">
                                  <a:latin typeface="Cambria Math" panose="02040503050406030204" pitchFamily="18" charset="0"/>
                                </a:rPr>
                              </m:ctrlPr>
                            </m:dPr>
                            <m:e>
                              <m:r>
                                <a:rPr lang="en-US" altLang="zh-CN" i="1">
                                  <a:latin typeface="Cambria Math" panose="02040503050406030204" pitchFamily="18" charset="0"/>
                                </a:rPr>
                                <m:t>1−</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sel</m:t>
                                  </m:r>
                                </m:e>
                                <m:sub>
                                  <m:r>
                                    <a:rPr lang="en-US" altLang="zh-CN" i="1">
                                      <a:latin typeface="Cambria Math" panose="02040503050406030204" pitchFamily="18" charset="0"/>
                                    </a:rPr>
                                    <m:t>𝑖</m:t>
                                  </m:r>
                                </m:sub>
                              </m:sSub>
                            </m:e>
                          </m:d>
                        </m:e>
                      </m:nary>
                      <m:r>
                        <a:rPr lang="en-US" altLang="zh-CN" i="1">
                          <a:latin typeface="Cambria Math" panose="02040503050406030204" pitchFamily="18" charset="0"/>
                        </a:rPr>
                        <m:t>=1−</m:t>
                      </m:r>
                      <m:d>
                        <m:dPr>
                          <m:ctrlPr>
                            <a:rPr lang="zh-CN" altLang="zh-CN" i="1">
                              <a:latin typeface="Cambria Math" panose="02040503050406030204" pitchFamily="18" charset="0"/>
                            </a:rPr>
                          </m:ctrlPr>
                        </m:dPr>
                        <m:e>
                          <m:r>
                            <a:rPr lang="en-US" altLang="zh-CN" i="1">
                              <a:latin typeface="Cambria Math" panose="02040503050406030204" pitchFamily="18" charset="0"/>
                            </a:rPr>
                            <m:t>1−</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sel</m:t>
                              </m:r>
                            </m:e>
                            <m:sub>
                              <m:r>
                                <a:rPr lang="en-US" altLang="zh-CN" i="1">
                                  <a:latin typeface="Cambria Math" panose="02040503050406030204" pitchFamily="18" charset="0"/>
                                </a:rPr>
                                <m:t>1</m:t>
                              </m:r>
                            </m:sub>
                          </m:sSub>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1−</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sel</m:t>
                              </m:r>
                            </m:e>
                            <m:sub>
                              <m:r>
                                <a:rPr lang="en-US" altLang="zh-CN" i="1">
                                  <a:latin typeface="Cambria Math" panose="02040503050406030204" pitchFamily="18" charset="0"/>
                                </a:rPr>
                                <m:t>𝑘</m:t>
                              </m:r>
                            </m:sub>
                          </m:sSub>
                        </m:e>
                      </m:d>
                      <m:r>
                        <a:rPr lang="en-US" altLang="zh-CN" i="1">
                          <a:latin typeface="Cambria Math" panose="02040503050406030204" pitchFamily="18" charset="0"/>
                        </a:rPr>
                        <m:t>=1−</m:t>
                      </m:r>
                      <m:f>
                        <m:fPr>
                          <m:ctrlPr>
                            <a:rPr lang="zh-CN" altLang="zh-CN" i="1">
                              <a:latin typeface="Cambria Math" panose="02040503050406030204" pitchFamily="18" charset="0"/>
                            </a:rPr>
                          </m:ctrlPr>
                        </m:fPr>
                        <m:num>
                          <m:d>
                            <m:dPr>
                              <m:ctrlPr>
                                <a:rPr lang="zh-CN" altLang="zh-CN" i="1">
                                  <a:latin typeface="Cambria Math" panose="02040503050406030204" pitchFamily="18" charset="0"/>
                                </a:rPr>
                              </m:ctrlPr>
                            </m:dPr>
                            <m:e>
                              <m:r>
                                <a:rPr lang="en-US" altLang="zh-CN" i="1">
                                  <a:latin typeface="Cambria Math" panose="02040503050406030204" pitchFamily="18" charset="0"/>
                                </a:rPr>
                                <m:t>𝑇</m:t>
                              </m:r>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m:t>
                              </m:r>
                              <m:r>
                                <m:rPr>
                                  <m:sty m:val="p"/>
                                </m:rPr>
                                <a:rPr lang="en-US" altLang="zh-CN">
                                  <a:latin typeface="Cambria Math" panose="02040503050406030204" pitchFamily="18" charset="0"/>
                                </a:rPr>
                                <m:t>card</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sub>
                                  </m:sSub>
                                </m:e>
                              </m:d>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𝑇</m:t>
                              </m:r>
                              <m:d>
                                <m:dPr>
                                  <m:ctrlPr>
                                    <a:rPr lang="zh-CN"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m:t>
                              </m:r>
                              <m:r>
                                <m:rPr>
                                  <m:sty m:val="p"/>
                                </m:rPr>
                                <a:rPr lang="en-US" altLang="zh-CN">
                                  <a:latin typeface="Cambria Math" panose="02040503050406030204" pitchFamily="18" charset="0"/>
                                </a:rPr>
                                <m:t>card</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𝜎</m:t>
                                      </m:r>
                                    </m:e>
                                    <m: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𝑘</m:t>
                                          </m:r>
                                        </m:sub>
                                      </m:sSub>
                                    </m:sub>
                                  </m:sSub>
                                </m:e>
                              </m:d>
                            </m:e>
                          </m:d>
                        </m:num>
                        <m:den>
                          <m:sSup>
                            <m:sSupPr>
                              <m:ctrlPr>
                                <a:rPr lang="zh-CN" altLang="zh-CN" i="1">
                                  <a:latin typeface="Cambria Math" panose="02040503050406030204" pitchFamily="18" charset="0"/>
                                </a:rPr>
                              </m:ctrlPr>
                            </m:sSupPr>
                            <m:e>
                              <m:r>
                                <a:rPr lang="en-US" altLang="zh-CN" i="1">
                                  <a:latin typeface="Cambria Math" panose="02040503050406030204" pitchFamily="18" charset="0"/>
                                </a:rPr>
                                <m:t>𝑇</m:t>
                              </m:r>
                              <m:r>
                                <a:rPr lang="en-US" altLang="zh-CN" i="1">
                                  <a:latin typeface="Cambria Math" panose="02040503050406030204" pitchFamily="18" charset="0"/>
                                </a:rPr>
                                <m:t>(</m:t>
                              </m:r>
                              <m:r>
                                <a:rPr lang="en-US" altLang="zh-CN" i="1">
                                  <a:latin typeface="Cambria Math" panose="02040503050406030204" pitchFamily="18" charset="0"/>
                                </a:rPr>
                                <m:t>𝑅</m:t>
                              </m:r>
                              <m:r>
                                <a:rPr lang="en-US" altLang="zh-CN" i="1">
                                  <a:latin typeface="Cambria Math" panose="02040503050406030204" pitchFamily="18" charset="0"/>
                                </a:rPr>
                                <m:t>)</m:t>
                              </m:r>
                            </m:e>
                            <m:sup>
                              <m:r>
                                <a:rPr lang="en-US" altLang="zh-CN" i="1">
                                  <a:latin typeface="Cambria Math" panose="02040503050406030204" pitchFamily="18" charset="0"/>
                                </a:rPr>
                                <m:t>𝑘</m:t>
                              </m:r>
                            </m:sup>
                          </m:sSup>
                        </m:den>
                      </m:f>
                    </m:oMath>
                  </m:oMathPara>
                </a14:m>
                <a:endParaRPr lang="zh-CN" altLang="en-US" dirty="0"/>
              </a:p>
            </p:txBody>
          </p:sp>
        </mc:Choice>
        <mc:Fallback xmlns="">
          <p:sp>
            <p:nvSpPr>
              <p:cNvPr id="9" name="文本框 8">
                <a:extLst>
                  <a:ext uri="{FF2B5EF4-FFF2-40B4-BE49-F238E27FC236}">
                    <a16:creationId xmlns:a16="http://schemas.microsoft.com/office/drawing/2014/main" id="{37942E9A-1563-89A3-28E9-3989D2E11E65}"/>
                  </a:ext>
                </a:extLst>
              </p:cNvPr>
              <p:cNvSpPr txBox="1">
                <a:spLocks noRot="1" noChangeAspect="1" noMove="1" noResize="1" noEditPoints="1" noAdjustHandles="1" noChangeArrowheads="1" noChangeShapeType="1" noTextEdit="1"/>
              </p:cNvSpPr>
              <p:nvPr/>
            </p:nvSpPr>
            <p:spPr>
              <a:xfrm>
                <a:off x="2439297" y="2346515"/>
                <a:ext cx="6341632" cy="1757854"/>
              </a:xfrm>
              <a:prstGeom prst="rect">
                <a:avLst/>
              </a:prstGeom>
              <a:blipFill>
                <a:blip r:embed="rId5"/>
                <a:stretch>
                  <a:fillRect t="-53571" b="-178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44380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0199931" cy="2899448"/>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对</a:t>
                </a:r>
                <a:r>
                  <a:rPr lang="zh-CN" altLang="zh-CN" sz="2200" b="1" kern="100" dirty="0">
                    <a:solidFill>
                      <a:srgbClr val="0000FF"/>
                    </a:solidFill>
                    <a:latin typeface="+mj-ea"/>
                    <a:ea typeface="+mj-ea"/>
                    <a:cs typeface="Times New Roman" panose="02020603050405020304" pitchFamily="18" charset="0"/>
                  </a:rPr>
                  <a:t>中间结果</a:t>
                </a:r>
                <a:r>
                  <a:rPr lang="zh-CN" altLang="zh-CN" sz="2200" b="1" kern="100" dirty="0">
                    <a:latin typeface="+mj-ea"/>
                    <a:ea typeface="+mj-ea"/>
                    <a:cs typeface="Times New Roman" panose="02020603050405020304" pitchFamily="18" charset="0"/>
                  </a:rPr>
                  <a:t>在属性</a:t>
                </a:r>
                <a14:m>
                  <m:oMath xmlns:m="http://schemas.openxmlformats.org/officeDocument/2006/math">
                    <m:r>
                      <a:rPr lang="en-US" altLang="zh-CN" sz="2200" b="1" kern="100">
                        <a:latin typeface="Cambria Math" panose="02040503050406030204" pitchFamily="18" charset="0"/>
                        <a:ea typeface="+mj-ea"/>
                        <a:cs typeface="Times New Roman" panose="02020603050405020304" pitchFamily="18" charset="0"/>
                      </a:rPr>
                      <m:t>𝐀</m:t>
                    </m:r>
                  </m:oMath>
                </a14:m>
                <a:r>
                  <a:rPr lang="zh-CN" altLang="zh-CN" sz="2200" b="1" kern="100" dirty="0">
                    <a:latin typeface="+mj-ea"/>
                    <a:ea typeface="+mj-ea"/>
                    <a:cs typeface="Times New Roman" panose="02020603050405020304" pitchFamily="18" charset="0"/>
                  </a:rPr>
                  <a:t>上的不同取值个数</a:t>
                </a:r>
                <a14:m>
                  <m:oMath xmlns:m="http://schemas.openxmlformats.org/officeDocument/2006/math">
                    <m:r>
                      <a:rPr lang="en-US" altLang="zh-CN" sz="2200" b="1" kern="100">
                        <a:latin typeface="Cambria Math" panose="02040503050406030204" pitchFamily="18" charset="0"/>
                        <a:ea typeface="+mj-ea"/>
                        <a:cs typeface="Times New Roman" panose="02020603050405020304" pitchFamily="18" charset="0"/>
                      </a:rPr>
                      <m:t>𝑽</m:t>
                    </m:r>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𝝈</m:t>
                        </m:r>
                      </m:e>
                      <m:sub>
                        <m:r>
                          <a:rPr lang="en-US" altLang="zh-CN" sz="2200" b="1" kern="100">
                            <a:latin typeface="Cambria Math" panose="02040503050406030204" pitchFamily="18" charset="0"/>
                            <a:ea typeface="+mj-ea"/>
                            <a:cs typeface="Times New Roman" panose="02020603050405020304" pitchFamily="18" charset="0"/>
                          </a:rPr>
                          <m:t>𝒑</m:t>
                        </m:r>
                      </m:sub>
                    </m:sSub>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𝑹</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𝑨</m:t>
                    </m:r>
                    <m:r>
                      <a:rPr lang="en-US" altLang="zh-CN" sz="2200" b="1" kern="100">
                        <a:latin typeface="Cambria Math" panose="02040503050406030204" pitchFamily="18" charset="0"/>
                        <a:ea typeface="+mj-ea"/>
                        <a:cs typeface="Times New Roman" panose="02020603050405020304" pitchFamily="18" charset="0"/>
                      </a:rPr>
                      <m:t>)</m:t>
                    </m:r>
                  </m:oMath>
                </a14:m>
                <a:r>
                  <a:rPr lang="zh-CN" altLang="zh-CN" sz="2200" b="1" kern="100" dirty="0">
                    <a:latin typeface="+mj-ea"/>
                    <a:ea typeface="+mj-ea"/>
                    <a:cs typeface="Times New Roman" panose="02020603050405020304" pitchFamily="18" charset="0"/>
                  </a:rPr>
                  <a:t> </a:t>
                </a:r>
                <a:r>
                  <a:rPr lang="zh-CN" altLang="en-US" sz="2200" b="1" kern="100" dirty="0">
                    <a:latin typeface="+mj-ea"/>
                    <a:ea typeface="+mj-ea"/>
                    <a:cs typeface="Times New Roman" panose="02020603050405020304" pitchFamily="18" charset="0"/>
                  </a:rPr>
                  <a:t>的估计</a:t>
                </a:r>
                <a:endParaRPr lang="en-US" altLang="zh-CN" sz="2200" b="1" kern="100" dirty="0">
                  <a:latin typeface="+mj-ea"/>
                  <a:ea typeface="+mj-ea"/>
                  <a:cs typeface="Times New Roman" panose="02020603050405020304" pitchFamily="18" charset="0"/>
                </a:endParaRPr>
              </a:p>
              <a:p>
                <a:pPr marL="914400" lvl="1" indent="-457200">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如果属性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oMath>
                </a14:m>
                <a:r>
                  <a:rPr lang="zh-CN" altLang="zh-CN" sz="2000" kern="100" dirty="0">
                    <a:latin typeface="+mj-ea"/>
                    <a:ea typeface="+mj-ea"/>
                    <a:cs typeface="Times New Roman" panose="02020603050405020304" pitchFamily="18" charset="0"/>
                  </a:rPr>
                  <a:t>在选择条件</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𝑝</m:t>
                    </m:r>
                  </m:oMath>
                </a14:m>
                <a:r>
                  <a:rPr lang="zh-CN" altLang="zh-CN" sz="2000" kern="100" dirty="0">
                    <a:latin typeface="+mj-ea"/>
                    <a:ea typeface="+mj-ea"/>
                    <a:cs typeface="Times New Roman" panose="02020603050405020304" pitchFamily="18" charset="0"/>
                  </a:rPr>
                  <a:t>中出现，利用</a:t>
                </a:r>
                <a:r>
                  <a:rPr lang="zh-CN" altLang="zh-CN" sz="2000" kern="100" dirty="0">
                    <a:solidFill>
                      <a:srgbClr val="701988"/>
                    </a:solidFill>
                    <a:latin typeface="+mj-ea"/>
                    <a:ea typeface="+mj-ea"/>
                    <a:cs typeface="Times New Roman" panose="02020603050405020304" pitchFamily="18" charset="0"/>
                  </a:rPr>
                  <a:t>均匀分布假设</a:t>
                </a:r>
                <a:r>
                  <a:rPr lang="zh-CN" altLang="zh-CN" sz="2000" kern="100" dirty="0">
                    <a:latin typeface="+mj-ea"/>
                    <a:ea typeface="+mj-ea"/>
                    <a:cs typeface="Times New Roman" panose="02020603050405020304" pitchFamily="18" charset="0"/>
                  </a:rPr>
                  <a:t>，可以估计</a:t>
                </a:r>
                <a:r>
                  <a:rPr lang="zh-CN" altLang="en-US" sz="2000" kern="100" dirty="0">
                    <a:latin typeface="+mj-ea"/>
                    <a:ea typeface="+mj-ea"/>
                    <a:cs typeface="Times New Roman" panose="02020603050405020304" pitchFamily="18" charset="0"/>
                  </a:rPr>
                  <a:t> </a:t>
                </a:r>
                <a:endParaRPr lang="en-US" altLang="zh-CN" sz="2000" kern="100" dirty="0">
                  <a:latin typeface="Cambria Math" panose="02040503050406030204" pitchFamily="18" charset="0"/>
                  <a:ea typeface="+mj-ea"/>
                  <a:cs typeface="Times New Roman" panose="02020603050405020304" pitchFamily="18" charset="0"/>
                </a:endParaRPr>
              </a:p>
              <a:p>
                <a:pPr lvl="1">
                  <a:lnSpc>
                    <a:spcPct val="150000"/>
                  </a:lnSpc>
                </a:pPr>
                <a:endParaRPr lang="en-US" altLang="zh-CN" sz="2000" kern="100" dirty="0">
                  <a:latin typeface="+mj-ea"/>
                  <a:ea typeface="+mj-ea"/>
                  <a:cs typeface="Times New Roman" panose="02020603050405020304" pitchFamily="18" charset="0"/>
                </a:endParaRPr>
              </a:p>
              <a:p>
                <a:pPr lvl="1">
                  <a:lnSpc>
                    <a:spcPct val="150000"/>
                  </a:lnSpc>
                </a:pPr>
                <a:endParaRPr lang="zh-CN"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如果属性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oMath>
                </a14:m>
                <a:r>
                  <a:rPr lang="zh-CN" altLang="zh-CN" sz="2000" kern="100" dirty="0">
                    <a:latin typeface="+mj-ea"/>
                    <a:ea typeface="+mj-ea"/>
                    <a:cs typeface="Times New Roman" panose="02020603050405020304" pitchFamily="18" charset="0"/>
                  </a:rPr>
                  <a:t>没有在选择条件</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𝑝</m:t>
                    </m:r>
                  </m:oMath>
                </a14:m>
                <a:r>
                  <a:rPr lang="zh-CN" altLang="zh-CN" sz="2000" kern="100" dirty="0">
                    <a:latin typeface="+mj-ea"/>
                    <a:ea typeface="+mj-ea"/>
                    <a:cs typeface="Times New Roman" panose="02020603050405020304" pitchFamily="18" charset="0"/>
                  </a:rPr>
                  <a:t>中出现，利用</a:t>
                </a:r>
                <a:r>
                  <a:rPr lang="zh-CN" altLang="zh-CN" sz="2000" kern="100" dirty="0">
                    <a:solidFill>
                      <a:srgbClr val="701988"/>
                    </a:solidFill>
                    <a:latin typeface="+mj-ea"/>
                    <a:ea typeface="+mj-ea"/>
                    <a:cs typeface="Times New Roman" panose="02020603050405020304" pitchFamily="18" charset="0"/>
                  </a:rPr>
                  <a:t>属性独立假设</a:t>
                </a:r>
                <a:r>
                  <a:rPr lang="zh-CN" altLang="zh-CN" sz="2000" kern="100" dirty="0">
                    <a:latin typeface="+mj-ea"/>
                    <a:ea typeface="+mj-ea"/>
                    <a:cs typeface="Times New Roman" panose="02020603050405020304" pitchFamily="18" charset="0"/>
                  </a:rPr>
                  <a:t>，属性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oMath>
                </a14:m>
                <a:r>
                  <a:rPr lang="zh-CN" altLang="zh-CN" sz="2000" kern="100" dirty="0">
                    <a:latin typeface="+mj-ea"/>
                    <a:ea typeface="+mj-ea"/>
                    <a:cs typeface="Times New Roman" panose="02020603050405020304" pitchFamily="18" charset="0"/>
                  </a:rPr>
                  <a:t>的取值与选择条件无关，可以估计</a:t>
                </a:r>
                <a:endParaRPr lang="en-US" altLang="zh-CN" sz="20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8000" y="1126800"/>
                <a:ext cx="10199931" cy="2899448"/>
              </a:xfrm>
              <a:prstGeom prst="rect">
                <a:avLst/>
              </a:prstGeom>
              <a:blipFill>
                <a:blip r:embed="rId3"/>
                <a:stretch>
                  <a:fillRect l="-622" r="-622" b="-3057"/>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147C4587-D7EF-2550-4C1D-28D29A8FBDE7}"/>
              </a:ext>
            </a:extLst>
          </p:cNvPr>
          <p:cNvSpPr>
            <a:spLocks noGrp="1"/>
          </p:cNvSpPr>
          <p:nvPr>
            <p:ph type="sldNum" sz="quarter" idx="10"/>
          </p:nvPr>
        </p:nvSpPr>
        <p:spPr/>
        <p:txBody>
          <a:bodyPr/>
          <a:lstStyle/>
          <a:p>
            <a:fld id="{4B0D34C0-35A8-654C-9FBA-7B4E017BD630}" type="slidenum">
              <a:rPr lang="en-US" altLang="zh-CN" smtClean="0"/>
              <a:t>60</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选择运算的基数估计</a:t>
            </a:r>
            <a:endParaRPr kumimoji="1" lang="zh-CN" altLang="en-US" dirty="0"/>
          </a:p>
        </p:txBody>
      </p:sp>
      <p:sp>
        <p:nvSpPr>
          <p:cNvPr id="4" name="页脚占位符 3">
            <a:extLst>
              <a:ext uri="{FF2B5EF4-FFF2-40B4-BE49-F238E27FC236}">
                <a16:creationId xmlns:a16="http://schemas.microsoft.com/office/drawing/2014/main" id="{3BD80E6D-E498-C4F3-3734-FD97CCB2D74C}"/>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FE96903-E95B-C6AE-3F26-0B10169E77C9}"/>
                  </a:ext>
                </a:extLst>
              </p:cNvPr>
              <p:cNvSpPr txBox="1"/>
              <p:nvPr/>
            </p:nvSpPr>
            <p:spPr>
              <a:xfrm>
                <a:off x="3023210" y="4007524"/>
                <a:ext cx="6169510" cy="840679"/>
              </a:xfrm>
              <a:prstGeom prst="rect">
                <a:avLst/>
              </a:prstGeom>
              <a:noFill/>
            </p:spPr>
            <p:txBody>
              <a:bodyPr wrap="square">
                <a:spAutoFit/>
              </a:bodyPr>
              <a:lstStyle/>
              <a:p>
                <a:pPr lvl="1">
                  <a:lnSpc>
                    <a:spcPct val="150000"/>
                  </a:lnSpc>
                </a:pPr>
                <a14:m>
                  <m:oMath xmlns:m="http://schemas.openxmlformats.org/officeDocument/2006/math">
                    <m:r>
                      <a:rPr lang="en-US" altLang="zh-CN" sz="2000" kern="100" smtClean="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𝑝</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r>
                          <m:rPr>
                            <m:sty m:val="p"/>
                          </m:rPr>
                          <a:rPr lang="en-US" altLang="zh-CN" sz="2000" kern="100">
                            <a:latin typeface="Cambria Math" panose="02040503050406030204" pitchFamily="18" charset="0"/>
                            <a:ea typeface="+mj-ea"/>
                            <a:cs typeface="Times New Roman" panose="02020603050405020304" pitchFamily="18" charset="0"/>
                          </a:rPr>
                          <m:t>min</m:t>
                        </m:r>
                      </m:fName>
                      <m:e>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𝑝</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e>
                            </m:d>
                          </m:e>
                        </m:d>
                      </m:e>
                    </m:func>
                  </m:oMath>
                </a14:m>
                <a:r>
                  <a:rPr lang="zh-CN" altLang="zh-CN" sz="2000" dirty="0">
                    <a:effectLst/>
                    <a:latin typeface="+mj-ea"/>
                    <a:ea typeface="+mj-ea"/>
                  </a:rPr>
                  <a:t> </a:t>
                </a:r>
                <a:endParaRPr lang="zh-CN" altLang="zh-CN" sz="2000" kern="100" dirty="0">
                  <a:latin typeface="+mj-ea"/>
                  <a:ea typeface="+mj-ea"/>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3FE96903-E95B-C6AE-3F26-0B10169E77C9}"/>
                  </a:ext>
                </a:extLst>
              </p:cNvPr>
              <p:cNvSpPr txBox="1">
                <a:spLocks noRot="1" noChangeAspect="1" noMove="1" noResize="1" noEditPoints="1" noAdjustHandles="1" noChangeArrowheads="1" noChangeShapeType="1" noTextEdit="1"/>
              </p:cNvSpPr>
              <p:nvPr/>
            </p:nvSpPr>
            <p:spPr>
              <a:xfrm>
                <a:off x="3023210" y="4007524"/>
                <a:ext cx="6169510" cy="84067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1D5085C-D953-DB40-6E20-42C10AD2EC4E}"/>
                  </a:ext>
                </a:extLst>
              </p:cNvPr>
              <p:cNvSpPr txBox="1"/>
              <p:nvPr/>
            </p:nvSpPr>
            <p:spPr>
              <a:xfrm>
                <a:off x="2288689" y="2416532"/>
                <a:ext cx="6169510"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kern="100" smtClean="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𝑝</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sel</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𝜎</m:t>
                          </m:r>
                        </m:e>
                        <m:sub>
                          <m:r>
                            <a:rPr lang="en-US" altLang="zh-CN" sz="2000" i="1" kern="100">
                              <a:latin typeface="Cambria Math" panose="02040503050406030204" pitchFamily="18" charset="0"/>
                              <a:ea typeface="+mj-ea"/>
                              <a:cs typeface="Times New Roman" panose="02020603050405020304" pitchFamily="18" charset="0"/>
                            </a:rPr>
                            <m:t>𝑝</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oMath>
                  </m:oMathPara>
                </a14:m>
                <a:endParaRPr lang="zh-CN" altLang="en-US" sz="2000" dirty="0"/>
              </a:p>
            </p:txBody>
          </p:sp>
        </mc:Choice>
        <mc:Fallback xmlns="">
          <p:sp>
            <p:nvSpPr>
              <p:cNvPr id="9" name="文本框 8">
                <a:extLst>
                  <a:ext uri="{FF2B5EF4-FFF2-40B4-BE49-F238E27FC236}">
                    <a16:creationId xmlns:a16="http://schemas.microsoft.com/office/drawing/2014/main" id="{41D5085C-D953-DB40-6E20-42C10AD2EC4E}"/>
                  </a:ext>
                </a:extLst>
              </p:cNvPr>
              <p:cNvSpPr txBox="1">
                <a:spLocks noRot="1" noChangeAspect="1" noMove="1" noResize="1" noEditPoints="1" noAdjustHandles="1" noChangeArrowheads="1" noChangeShapeType="1" noTextEdit="1"/>
              </p:cNvSpPr>
              <p:nvPr/>
            </p:nvSpPr>
            <p:spPr>
              <a:xfrm>
                <a:off x="2288689" y="2416532"/>
                <a:ext cx="6169510" cy="445891"/>
              </a:xfrm>
              <a:prstGeom prst="rect">
                <a:avLst/>
              </a:prstGeom>
              <a:blipFill>
                <a:blip r:embed="rId5"/>
                <a:stretch>
                  <a:fillRect b="-8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60710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9673844" cy="4346062"/>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200" b="1" kern="100" dirty="0">
                    <a:latin typeface="+mj-ea"/>
                    <a:ea typeface="+mj-ea"/>
                    <a:cs typeface="Times New Roman" panose="02020603050405020304" pitchFamily="18" charset="0"/>
                  </a:rPr>
                  <a:t>考虑有三个属性的关系</a:t>
                </a:r>
                <a14:m>
                  <m:oMath xmlns:m="http://schemas.openxmlformats.org/officeDocument/2006/math">
                    <m:r>
                      <a:rPr lang="en-US" altLang="zh-CN" sz="2200" b="1" kern="100">
                        <a:latin typeface="Cambria Math" panose="02040503050406030204" pitchFamily="18" charset="0"/>
                        <a:ea typeface="+mj-ea"/>
                        <a:cs typeface="Times New Roman" panose="02020603050405020304" pitchFamily="18" charset="0"/>
                      </a:rPr>
                      <m:t>𝐑</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𝐀</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𝐁</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𝐂</m:t>
                    </m:r>
                    <m:r>
                      <a:rPr lang="en-US" altLang="zh-CN" sz="2200" b="1" kern="100">
                        <a:latin typeface="Cambria Math" panose="02040503050406030204" pitchFamily="18" charset="0"/>
                        <a:ea typeface="+mj-ea"/>
                        <a:cs typeface="Times New Roman" panose="02020603050405020304" pitchFamily="18" charset="0"/>
                      </a:rPr>
                      <m:t>)</m:t>
                    </m:r>
                  </m:oMath>
                </a14:m>
                <a:endParaRPr lang="en-US" altLang="zh-CN" sz="22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其中</a:t>
                </a: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=10000</m:t>
                    </m:r>
                  </m:oMath>
                </a14:m>
                <a:r>
                  <a:rPr lang="zh-CN" altLang="zh-CN" sz="2000" kern="100" dirty="0">
                    <a:latin typeface="+mj-ea"/>
                    <a:ea typeface="+mj-ea"/>
                    <a:cs typeface="Times New Roman" panose="02020603050405020304" pitchFamily="18" charset="0"/>
                  </a:rPr>
                  <a:t>，</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=5</m:t>
                    </m:r>
                  </m:oMath>
                </a14:m>
                <a:r>
                  <a:rPr lang="zh-CN" altLang="zh-CN" sz="2000" kern="100" dirty="0">
                    <a:latin typeface="+mj-ea"/>
                    <a:ea typeface="+mj-ea"/>
                    <a:cs typeface="Times New Roman" panose="02020603050405020304" pitchFamily="18" charset="0"/>
                  </a:rPr>
                  <a:t>，</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oMath>
                </a14:m>
                <a:r>
                  <a:rPr lang="en-US" altLang="zh-CN" sz="2000" kern="100" dirty="0">
                    <a:latin typeface="+mj-ea"/>
                    <a:ea typeface="+mj-ea"/>
                    <a:cs typeface="Times New Roman" panose="02020603050405020304" pitchFamily="18" charset="0"/>
                  </a:rPr>
                  <a:t>=10</a:t>
                </a:r>
                <a:r>
                  <a:rPr lang="zh-CN" altLang="zh-CN" sz="2000" kern="100" dirty="0">
                    <a:latin typeface="+mj-ea"/>
                    <a:ea typeface="+mj-ea"/>
                    <a:cs typeface="Times New Roman" panose="02020603050405020304" pitchFamily="18" charset="0"/>
                  </a:rPr>
                  <a:t>，</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e>
                    </m:d>
                    <m:r>
                      <a:rPr lang="en-US" altLang="zh-CN" sz="2000" kern="100">
                        <a:latin typeface="Cambria Math" panose="02040503050406030204" pitchFamily="18" charset="0"/>
                        <a:ea typeface="+mj-ea"/>
                        <a:cs typeface="Times New Roman" panose="02020603050405020304" pitchFamily="18" charset="0"/>
                      </a:rPr>
                      <m:t>=20</m:t>
                    </m:r>
                  </m:oMath>
                </a14:m>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假设关系</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𝑅</m:t>
                    </m:r>
                  </m:oMath>
                </a14:m>
                <a:r>
                  <a:rPr lang="zh-CN" altLang="zh-CN" sz="2000" kern="100" dirty="0">
                    <a:latin typeface="+mj-ea"/>
                    <a:ea typeface="+mj-ea"/>
                    <a:cs typeface="Times New Roman" panose="02020603050405020304" pitchFamily="18" charset="0"/>
                  </a:rPr>
                  <a:t>在属性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oMath>
                </a14:m>
                <a:r>
                  <a:rPr lang="zh-CN" altLang="zh-CN" sz="2000" kern="100" dirty="0">
                    <a:latin typeface="+mj-ea"/>
                    <a:ea typeface="+mj-ea"/>
                    <a:cs typeface="Times New Roman" panose="02020603050405020304" pitchFamily="18" charset="0"/>
                  </a:rPr>
                  <a:t>上的取值分别为</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{1,2,⋯5}</m:t>
                    </m:r>
                  </m:oMath>
                </a14:m>
                <a:r>
                  <a:rPr lang="zh-CN" altLang="zh-CN" sz="2000" kern="100" dirty="0">
                    <a:latin typeface="+mj-ea"/>
                    <a:ea typeface="+mj-ea"/>
                    <a:cs typeface="Times New Roman" panose="02020603050405020304" pitchFamily="18" charset="0"/>
                  </a:rPr>
                  <a:t>，</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{1,2,⋯10}</m:t>
                    </m:r>
                  </m:oMath>
                </a14:m>
                <a:r>
                  <a:rPr lang="zh-CN" altLang="zh-CN" sz="2000" kern="100" dirty="0">
                    <a:latin typeface="+mj-ea"/>
                    <a:ea typeface="+mj-ea"/>
                    <a:cs typeface="Times New Roman" panose="02020603050405020304" pitchFamily="18" charset="0"/>
                  </a:rPr>
                  <a:t>，</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{1,2,⋯20}</m:t>
                    </m:r>
                  </m:oMath>
                </a14:m>
                <a:r>
                  <a:rPr lang="zh-CN" altLang="zh-CN" sz="2000" kern="100" dirty="0">
                    <a:latin typeface="+mj-ea"/>
                    <a:ea typeface="+mj-ea"/>
                    <a:cs typeface="Times New Roman" panose="02020603050405020304" pitchFamily="18" charset="0"/>
                  </a:rPr>
                  <a:t>，且完全符合</a:t>
                </a:r>
                <a:r>
                  <a:rPr lang="zh-CN" altLang="zh-CN" sz="2000" b="1" kern="100" dirty="0">
                    <a:solidFill>
                      <a:srgbClr val="701988"/>
                    </a:solidFill>
                    <a:latin typeface="+mj-ea"/>
                    <a:ea typeface="+mj-ea"/>
                    <a:cs typeface="Times New Roman" panose="02020603050405020304" pitchFamily="18" charset="0"/>
                  </a:rPr>
                  <a:t>属性独立假设</a:t>
                </a:r>
                <a:r>
                  <a:rPr lang="zh-CN" altLang="zh-CN" sz="2000" kern="100" dirty="0">
                    <a:latin typeface="+mj-ea"/>
                    <a:ea typeface="+mj-ea"/>
                    <a:cs typeface="Times New Roman" panose="02020603050405020304" pitchFamily="18" charset="0"/>
                  </a:rPr>
                  <a:t>和</a:t>
                </a:r>
                <a:r>
                  <a:rPr lang="zh-CN" altLang="zh-CN" sz="2000" b="1" kern="100" dirty="0">
                    <a:solidFill>
                      <a:srgbClr val="701988"/>
                    </a:solidFill>
                    <a:latin typeface="+mj-ea"/>
                    <a:ea typeface="+mj-ea"/>
                    <a:cs typeface="Times New Roman" panose="02020603050405020304" pitchFamily="18" charset="0"/>
                  </a:rPr>
                  <a:t>均匀分布假设</a:t>
                </a:r>
                <a:endParaRPr lang="zh-CN" altLang="zh-CN" sz="2000" kern="100" dirty="0">
                  <a:solidFill>
                    <a:srgbClr val="701988"/>
                  </a:solidFill>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zh-CN" sz="2200" b="1" kern="100" dirty="0">
                    <a:latin typeface="+mj-ea"/>
                    <a:ea typeface="+mj-ea"/>
                    <a:cs typeface="Times New Roman" panose="02020603050405020304" pitchFamily="18" charset="0"/>
                  </a:rPr>
                  <a:t>对于关系代数表达式</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𝝈</m:t>
                        </m:r>
                      </m:e>
                      <m:sub>
                        <m:r>
                          <a:rPr lang="en-US" altLang="zh-CN" sz="2200" b="1" kern="100">
                            <a:latin typeface="Cambria Math" panose="02040503050406030204" pitchFamily="18" charset="0"/>
                            <a:ea typeface="+mj-ea"/>
                            <a:cs typeface="Times New Roman" panose="02020603050405020304" pitchFamily="18" charset="0"/>
                          </a:rPr>
                          <m:t>𝐀</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𝟓</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𝐁</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𝟓</m:t>
                        </m:r>
                      </m:sub>
                    </m:sSub>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𝐑</m:t>
                    </m:r>
                    <m:r>
                      <a:rPr lang="en-US" altLang="zh-CN" sz="2200" b="1" kern="100">
                        <a:latin typeface="Cambria Math" panose="02040503050406030204" pitchFamily="18" charset="0"/>
                        <a:ea typeface="+mj-ea"/>
                        <a:cs typeface="Times New Roman" panose="02020603050405020304" pitchFamily="18" charset="0"/>
                      </a:rPr>
                      <m:t>)</m:t>
                    </m:r>
                  </m:oMath>
                </a14:m>
                <a:r>
                  <a:rPr lang="zh-CN" altLang="zh-CN" sz="2200" b="1" kern="100" dirty="0">
                    <a:latin typeface="+mj-ea"/>
                    <a:ea typeface="+mj-ea"/>
                    <a:cs typeface="Times New Roman" panose="02020603050405020304" pitchFamily="18" charset="0"/>
                  </a:rPr>
                  <a:t>可以进行如下估计 </a:t>
                </a:r>
                <a:endParaRPr lang="en-US" altLang="zh-CN" sz="2200" b="1"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zh-CN" sz="2200" b="1" kern="100" dirty="0">
                    <a:latin typeface="+mj-ea"/>
                    <a:ea typeface="+mj-ea"/>
                    <a:cs typeface="Times New Roman" panose="02020603050405020304" pitchFamily="18" charset="0"/>
                  </a:rPr>
                  <a:t>首先，对两个选择</a:t>
                </a:r>
                <a:r>
                  <a:rPr lang="zh-CN" altLang="en-US" sz="2200" b="1" kern="100" dirty="0">
                    <a:latin typeface="+mj-ea"/>
                    <a:ea typeface="+mj-ea"/>
                    <a:cs typeface="Times New Roman" panose="02020603050405020304" pitchFamily="18" charset="0"/>
                  </a:rPr>
                  <a:t>谓词</a:t>
                </a:r>
                <a:r>
                  <a:rPr lang="zh-CN" altLang="zh-CN" sz="2200" b="1" kern="100" dirty="0">
                    <a:latin typeface="+mj-ea"/>
                    <a:ea typeface="+mj-ea"/>
                    <a:cs typeface="Times New Roman" panose="02020603050405020304" pitchFamily="18" charset="0"/>
                  </a:rPr>
                  <a:t>的</a:t>
                </a:r>
                <a:r>
                  <a:rPr lang="zh-CN" altLang="en-US" sz="2200" b="1" kern="100" dirty="0">
                    <a:latin typeface="+mj-ea"/>
                    <a:ea typeface="+mj-ea"/>
                    <a:cs typeface="Times New Roman" panose="02020603050405020304" pitchFamily="18" charset="0"/>
                  </a:rPr>
                  <a:t>基数</a:t>
                </a:r>
                <a:r>
                  <a:rPr lang="zh-CN" altLang="zh-CN" sz="2200" b="1" kern="100" dirty="0">
                    <a:latin typeface="+mj-ea"/>
                    <a:ea typeface="+mj-ea"/>
                    <a:cs typeface="Times New Roman" panose="02020603050405020304" pitchFamily="18" charset="0"/>
                  </a:rPr>
                  <a:t>估计为，</a:t>
                </a:r>
              </a:p>
              <a:p>
                <a:pPr marL="914400" lvl="1" indent="-457200" algn="just">
                  <a:lnSpc>
                    <a:spcPct val="150000"/>
                  </a:lnSpc>
                  <a:buFont typeface="Arial" panose="020B0604020202020204" pitchFamily="34" charset="0"/>
                  <a:buChar char="•"/>
                </a:pPr>
                <a14:m>
                  <m:oMath xmlns:m="http://schemas.openxmlformats.org/officeDocument/2006/math">
                    <m:r>
                      <m:rPr>
                        <m:sty m:val="p"/>
                      </m:rPr>
                      <a:rPr lang="en-US" altLang="zh-CN" sz="2000" kern="10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=5</m:t>
                            </m:r>
                          </m:sub>
                        </m:sSub>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num>
                      <m:den>
                        <m:r>
                          <a:rPr lang="en-US" altLang="zh-CN" sz="2000" kern="100">
                            <a:latin typeface="Cambria Math" panose="02040503050406030204" pitchFamily="18" charset="0"/>
                            <a:ea typeface="+mj-ea"/>
                            <a:cs typeface="Times New Roman" panose="02020603050405020304" pitchFamily="18" charset="0"/>
                          </a:rPr>
                          <m:t>𝑉</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den>
                    </m:f>
                    <m:r>
                      <a:rPr lang="en-US" altLang="zh-CN" sz="2000" kern="100">
                        <a:latin typeface="Cambria Math" panose="02040503050406030204" pitchFamily="18" charset="0"/>
                        <a:ea typeface="+mj-ea"/>
                        <a:cs typeface="Times New Roman" panose="02020603050405020304" pitchFamily="18" charset="0"/>
                      </a:rPr>
                      <m:t>=2000</m:t>
                    </m:r>
                  </m:oMath>
                </a14:m>
                <a:endParaRPr lang="zh-CN"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m:rPr>
                        <m:sty m:val="p"/>
                      </m:rPr>
                      <a:rPr lang="en-US" altLang="zh-CN" sz="2000" kern="10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𝐵</m:t>
                            </m:r>
                            <m:r>
                              <a:rPr lang="en-US" altLang="zh-CN" sz="2000" kern="100">
                                <a:latin typeface="Cambria Math" panose="02040503050406030204" pitchFamily="18" charset="0"/>
                                <a:ea typeface="+mj-ea"/>
                                <a:cs typeface="Times New Roman" panose="02020603050405020304" pitchFamily="18" charset="0"/>
                              </a:rPr>
                              <m:t>≤5</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1</m:t>
                        </m:r>
                      </m:num>
                      <m:den>
                        <m:r>
                          <a:rPr lang="en-US" altLang="zh-CN" sz="2000" kern="100">
                            <a:latin typeface="Cambria Math" panose="02040503050406030204" pitchFamily="18" charset="0"/>
                            <a:ea typeface="+mj-ea"/>
                            <a:cs typeface="Times New Roman" panose="02020603050405020304" pitchFamily="18" charset="0"/>
                          </a:rPr>
                          <m:t>2</m:t>
                        </m:r>
                      </m:den>
                    </m:f>
                    <m:r>
                      <a:rPr lang="en-US" altLang="zh-CN" sz="2000" kern="100">
                        <a:latin typeface="Cambria Math" panose="02040503050406030204" pitchFamily="18" charset="0"/>
                        <a:ea typeface="+mj-ea"/>
                        <a:cs typeface="Times New Roman" panose="02020603050405020304" pitchFamily="18" charset="0"/>
                      </a:rPr>
                      <m:t>=5000</m:t>
                    </m:r>
                  </m:oMath>
                </a14:m>
                <a:endParaRPr lang="zh-CN" altLang="zh-CN" sz="20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8000" y="1126800"/>
                <a:ext cx="9673844" cy="4346062"/>
              </a:xfrm>
              <a:prstGeom prst="rect">
                <a:avLst/>
              </a:prstGeom>
              <a:blipFill>
                <a:blip r:embed="rId3"/>
                <a:stretch>
                  <a:fillRect l="-656" r="-787"/>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9696337-9FCA-8A13-9E92-7AF851EF26DE}"/>
              </a:ext>
            </a:extLst>
          </p:cNvPr>
          <p:cNvSpPr>
            <a:spLocks noGrp="1"/>
          </p:cNvSpPr>
          <p:nvPr>
            <p:ph type="sldNum" sz="quarter" idx="10"/>
          </p:nvPr>
        </p:nvSpPr>
        <p:spPr/>
        <p:txBody>
          <a:bodyPr/>
          <a:lstStyle/>
          <a:p>
            <a:fld id="{4B0D34C0-35A8-654C-9FBA-7B4E017BD630}" type="slidenum">
              <a:rPr lang="en-US" altLang="zh-CN" smtClean="0"/>
              <a:t>61</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选择运算的基数估计示例</a:t>
            </a:r>
            <a:endParaRPr kumimoji="1" lang="zh-CN" altLang="en-US" dirty="0"/>
          </a:p>
        </p:txBody>
      </p:sp>
      <p:sp>
        <p:nvSpPr>
          <p:cNvPr id="4" name="页脚占位符 3">
            <a:extLst>
              <a:ext uri="{FF2B5EF4-FFF2-40B4-BE49-F238E27FC236}">
                <a16:creationId xmlns:a16="http://schemas.microsoft.com/office/drawing/2014/main" id="{C8F2532D-629A-160F-FBBE-51617FD43AE2}"/>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6567300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1667744" cy="4822474"/>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200" b="1" kern="100" dirty="0">
                    <a:latin typeface="+mj-ea"/>
                    <a:ea typeface="+mj-ea"/>
                    <a:cs typeface="Times New Roman" panose="02020603050405020304" pitchFamily="18" charset="0"/>
                  </a:rPr>
                  <a:t>利用上文介绍的合取估计方法</a:t>
                </a:r>
                <a:endParaRPr lang="en-US" altLang="zh-CN" sz="22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14:m>
                  <m:oMath xmlns:m="http://schemas.openxmlformats.org/officeDocument/2006/math">
                    <m:r>
                      <m:rPr>
                        <m:sty m:val="p"/>
                      </m:rPr>
                      <a:rPr lang="en-US" altLang="zh-CN" sz="2000" kern="100">
                        <a:latin typeface="Cambria Math" panose="02040503050406030204" pitchFamily="18" charset="0"/>
                        <a:ea typeface="+mj-ea"/>
                        <a:cs typeface="Times New Roman" panose="02020603050405020304" pitchFamily="18" charset="0"/>
                      </a:rPr>
                      <m:t>card</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=5⋀</m:t>
                            </m:r>
                            <m:r>
                              <a:rPr lang="en-US" altLang="zh-CN" sz="2000" kern="100">
                                <a:latin typeface="Cambria Math" panose="02040503050406030204" pitchFamily="18" charset="0"/>
                                <a:ea typeface="+mj-ea"/>
                                <a:cs typeface="Times New Roman" panose="02020603050405020304" pitchFamily="18" charset="0"/>
                              </a:rPr>
                              <m:t>𝐵</m:t>
                            </m:r>
                            <m:r>
                              <a:rPr lang="en-US" altLang="zh-CN" sz="2000" kern="100">
                                <a:latin typeface="Cambria Math" panose="02040503050406030204" pitchFamily="18" charset="0"/>
                                <a:ea typeface="+mj-ea"/>
                                <a:cs typeface="Times New Roman" panose="02020603050405020304" pitchFamily="18" charset="0"/>
                              </a:rPr>
                              <m:t>≤5</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𝑐𝑎𝑟𝑑</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=5</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𝑐𝑎𝑟𝑑</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𝐵</m:t>
                                </m:r>
                                <m:r>
                                  <a:rPr lang="en-US" altLang="zh-CN" sz="2000" kern="100">
                                    <a:latin typeface="Cambria Math" panose="02040503050406030204" pitchFamily="18" charset="0"/>
                                    <a:ea typeface="+mj-ea"/>
                                    <a:cs typeface="Times New Roman" panose="02020603050405020304" pitchFamily="18" charset="0"/>
                                  </a:rPr>
                                  <m:t>≤5</m:t>
                                </m:r>
                              </m:sub>
                            </m:sSub>
                          </m:e>
                        </m:d>
                      </m:num>
                      <m:den>
                        <m:sSup>
                          <m:sSupPr>
                            <m:ctrlPr>
                              <a:rPr lang="zh-CN" altLang="zh-CN" sz="2000" i="1" kern="100">
                                <a:latin typeface="Cambria Math" panose="02040503050406030204" pitchFamily="18" charset="0"/>
                                <a:ea typeface="+mj-ea"/>
                                <a:cs typeface="Times New Roman" panose="02020603050405020304" pitchFamily="18" charset="0"/>
                              </a:rPr>
                            </m:ctrlPr>
                          </m:sSupPr>
                          <m:e>
                            <m:r>
                              <m:rPr>
                                <m:sty m:val="p"/>
                              </m:rPr>
                              <a:rPr lang="en-US" altLang="zh-CN" sz="2000" i="1" kern="100">
                                <a:latin typeface="Cambria Math" panose="02040503050406030204" pitchFamily="18" charset="0"/>
                                <a:ea typeface="+mj-ea"/>
                                <a:cs typeface="Times New Roman" panose="02020603050405020304" pitchFamily="18" charset="0"/>
                              </a:rPr>
                              <m:t>T</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e>
                          <m:sup>
                            <m:r>
                              <a:rPr lang="en-US" altLang="zh-CN" sz="2000" kern="100">
                                <a:latin typeface="Cambria Math" panose="02040503050406030204" pitchFamily="18" charset="0"/>
                                <a:ea typeface="+mj-ea"/>
                                <a:cs typeface="Times New Roman" panose="02020603050405020304" pitchFamily="18" charset="0"/>
                              </a:rPr>
                              <m:t>2</m:t>
                            </m:r>
                          </m:sup>
                        </m:sSup>
                      </m:den>
                    </m:f>
                  </m:oMath>
                </a14:m>
                <a:endParaRPr lang="en-US" altLang="zh-CN" sz="2000" kern="100" dirty="0">
                  <a:latin typeface="+mj-ea"/>
                  <a:ea typeface="+mj-ea"/>
                  <a:cs typeface="Times New Roman" panose="02020603050405020304" pitchFamily="18" charset="0"/>
                </a:endParaRPr>
              </a:p>
              <a:p>
                <a:pPr marL="1257300" lvl="2" indent="-342900" algn="just">
                  <a:lnSpc>
                    <a:spcPct val="150000"/>
                  </a:lnSpc>
                  <a:buFont typeface="Arial" panose="020B0604020202020204" pitchFamily="34" charset="0"/>
                  <a:buChar char="•"/>
                </a:pPr>
                <a:r>
                  <a:rPr lang="en-US" altLang="zh-CN" sz="2000" kern="100" dirty="0">
                    <a:latin typeface="+mj-ea"/>
                    <a:ea typeface="+mj-ea"/>
                    <a:cs typeface="Times New Roman" panose="02020603050405020304" pitchFamily="18" charset="0"/>
                  </a:rPr>
                  <a:t>		</a:t>
                </a:r>
                <a:r>
                  <a:rPr lang="zh-CN" altLang="en-US" sz="2000" kern="100" dirty="0">
                    <a:latin typeface="+mj-ea"/>
                    <a:ea typeface="+mj-ea"/>
                    <a:cs typeface="Times New Roman" panose="02020603050405020304" pitchFamily="18" charset="0"/>
                  </a:rPr>
                  <a:t>       </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=10000×</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2000×5000</m:t>
                        </m:r>
                      </m:num>
                      <m:den>
                        <m:r>
                          <a:rPr lang="en-US" altLang="zh-CN" sz="2000" kern="100">
                            <a:latin typeface="Cambria Math" panose="02040503050406030204" pitchFamily="18" charset="0"/>
                            <a:ea typeface="+mj-ea"/>
                            <a:cs typeface="Times New Roman" panose="02020603050405020304" pitchFamily="18" charset="0"/>
                          </a:rPr>
                          <m:t>10000×10000</m:t>
                        </m:r>
                      </m:den>
                    </m:f>
                    <m:r>
                      <a:rPr lang="en-US" altLang="zh-CN" sz="2000" kern="100">
                        <a:latin typeface="Cambria Math" panose="02040503050406030204" pitchFamily="18" charset="0"/>
                        <a:ea typeface="+mj-ea"/>
                        <a:cs typeface="Times New Roman" panose="02020603050405020304" pitchFamily="18" charset="0"/>
                      </a:rPr>
                      <m:t>=1000</m:t>
                    </m:r>
                  </m:oMath>
                </a14:m>
                <a:r>
                  <a:rPr lang="zh-CN" altLang="zh-CN" sz="2000" kern="100" dirty="0">
                    <a:latin typeface="+mj-ea"/>
                    <a:ea typeface="+mj-ea"/>
                    <a:cs typeface="Times New Roman" panose="02020603050405020304" pitchFamily="18" charset="0"/>
                  </a:rPr>
                  <a:t> </a:t>
                </a:r>
              </a:p>
              <a:p>
                <a:pPr marL="342900" indent="-342900" algn="just">
                  <a:lnSpc>
                    <a:spcPct val="150000"/>
                  </a:lnSpc>
                  <a:buFont typeface="Wingdings" panose="05000000000000000000" pitchFamily="2" charset="2"/>
                  <a:buChar char="Ø"/>
                </a:pPr>
                <a:r>
                  <a:rPr lang="zh-CN" altLang="zh-CN" sz="2200" b="1" kern="100" dirty="0">
                    <a:latin typeface="+mj-ea"/>
                    <a:ea typeface="+mj-ea"/>
                    <a:cs typeface="Times New Roman" panose="02020603050405020304" pitchFamily="18" charset="0"/>
                  </a:rPr>
                  <a:t>用</a:t>
                </a:r>
                <a14:m>
                  <m:oMath xmlns:m="http://schemas.openxmlformats.org/officeDocument/2006/math">
                    <m:sSup>
                      <m:sSupPr>
                        <m:ctrlPr>
                          <a:rPr lang="zh-CN" altLang="zh-CN" sz="2200" b="1" i="1" kern="100">
                            <a:latin typeface="Cambria Math" panose="02040503050406030204" pitchFamily="18" charset="0"/>
                            <a:ea typeface="+mj-ea"/>
                            <a:cs typeface="Times New Roman" panose="02020603050405020304" pitchFamily="18" charset="0"/>
                          </a:rPr>
                        </m:ctrlPr>
                      </m:sSupPr>
                      <m:e>
                        <m:r>
                          <a:rPr lang="en-US" altLang="zh-CN" sz="2200" b="1" kern="100">
                            <a:latin typeface="Cambria Math" panose="02040503050406030204" pitchFamily="18" charset="0"/>
                            <a:ea typeface="+mj-ea"/>
                            <a:cs typeface="Times New Roman" panose="02020603050405020304" pitchFamily="18" charset="0"/>
                          </a:rPr>
                          <m:t>𝑹</m:t>
                        </m:r>
                      </m:e>
                      <m:sup>
                        <m:r>
                          <a:rPr lang="en-US" altLang="zh-CN" sz="2200" b="1" kern="100">
                            <a:latin typeface="Cambria Math" panose="02040503050406030204" pitchFamily="18" charset="0"/>
                            <a:ea typeface="+mj-ea"/>
                            <a:cs typeface="Times New Roman" panose="02020603050405020304" pitchFamily="18" charset="0"/>
                          </a:rPr>
                          <m:t>′</m:t>
                        </m:r>
                      </m:sup>
                    </m:sSup>
                  </m:oMath>
                </a14:m>
                <a:r>
                  <a:rPr lang="zh-CN" altLang="zh-CN" sz="2200" b="1" kern="100" dirty="0">
                    <a:latin typeface="+mj-ea"/>
                    <a:ea typeface="+mj-ea"/>
                    <a:cs typeface="Times New Roman" panose="02020603050405020304" pitchFamily="18" charset="0"/>
                  </a:rPr>
                  <a:t>表示结果关系</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𝝈</m:t>
                        </m:r>
                      </m:e>
                      <m:sub>
                        <m:r>
                          <a:rPr lang="en-US" altLang="zh-CN" sz="2200" b="1" kern="100">
                            <a:latin typeface="Cambria Math" panose="02040503050406030204" pitchFamily="18" charset="0"/>
                            <a:ea typeface="+mj-ea"/>
                            <a:cs typeface="Times New Roman" panose="02020603050405020304" pitchFamily="18" charset="0"/>
                          </a:rPr>
                          <m:t>𝐀</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𝟓</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𝐁</m:t>
                        </m:r>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𝟓</m:t>
                        </m:r>
                      </m:sub>
                    </m:sSub>
                    <m:d>
                      <m:dPr>
                        <m:ctrlPr>
                          <a:rPr lang="zh-CN" altLang="zh-CN" sz="2200" b="1" i="1" kern="100">
                            <a:latin typeface="Cambria Math" panose="02040503050406030204" pitchFamily="18" charset="0"/>
                            <a:ea typeface="+mj-ea"/>
                            <a:cs typeface="Times New Roman" panose="02020603050405020304" pitchFamily="18" charset="0"/>
                          </a:rPr>
                        </m:ctrlPr>
                      </m:dPr>
                      <m:e>
                        <m:r>
                          <a:rPr lang="en-US" altLang="zh-CN" sz="2200" b="1" kern="100">
                            <a:latin typeface="Cambria Math" panose="02040503050406030204" pitchFamily="18" charset="0"/>
                            <a:ea typeface="+mj-ea"/>
                            <a:cs typeface="Times New Roman" panose="02020603050405020304" pitchFamily="18" charset="0"/>
                          </a:rPr>
                          <m:t>𝑹</m:t>
                        </m:r>
                      </m:e>
                    </m:d>
                  </m:oMath>
                </a14:m>
                <a:r>
                  <a:rPr lang="zh-CN" altLang="zh-CN" sz="2200" b="1" kern="100" dirty="0">
                    <a:latin typeface="+mj-ea"/>
                    <a:ea typeface="+mj-ea"/>
                    <a:cs typeface="Times New Roman" panose="02020603050405020304" pitchFamily="18" charset="0"/>
                  </a:rPr>
                  <a:t>，</a:t>
                </a:r>
                <a:r>
                  <a:rPr lang="zh-CN" altLang="en-US" sz="2200" b="1" kern="100" dirty="0">
                    <a:latin typeface="+mj-ea"/>
                    <a:ea typeface="+mj-ea"/>
                    <a:cs typeface="Times New Roman" panose="02020603050405020304" pitchFamily="18" charset="0"/>
                  </a:rPr>
                  <a:t>可以得到</a:t>
                </a:r>
                <a:endParaRPr lang="en-US" altLang="zh-CN" sz="2200" b="1" kern="100" dirty="0">
                  <a:latin typeface="+mj-ea"/>
                  <a:ea typeface="+mj-ea"/>
                  <a:cs typeface="Times New Roman" panose="02020603050405020304" pitchFamily="18" charset="0"/>
                </a:endParaRPr>
              </a:p>
              <a:p>
                <a:pPr marL="800100" lvl="1" indent="-342900">
                  <a:lnSpc>
                    <a:spcPct val="150000"/>
                  </a:lnSpc>
                  <a:buFont typeface="Arial" panose="020B0604020202020204" pitchFamily="34" charset="0"/>
                  <a:buChar char="•"/>
                </a:pP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p>
                          <m:sSupPr>
                            <m:ctrlPr>
                              <a:rPr lang="zh-CN" altLang="zh-CN" sz="2000" i="1" kern="100">
                                <a:latin typeface="Cambria Math" panose="02040503050406030204" pitchFamily="18" charset="0"/>
                                <a:ea typeface="+mj-ea"/>
                                <a:cs typeface="Times New Roman" panose="02020603050405020304" pitchFamily="18" charset="0"/>
                              </a:rPr>
                            </m:ctrlPr>
                          </m:sSupPr>
                          <m:e>
                            <m:r>
                              <a:rPr lang="en-US" altLang="zh-CN" sz="2000" kern="100">
                                <a:latin typeface="Cambria Math" panose="02040503050406030204" pitchFamily="18" charset="0"/>
                                <a:ea typeface="+mj-ea"/>
                                <a:cs typeface="Times New Roman" panose="02020603050405020304" pitchFamily="18" charset="0"/>
                              </a:rPr>
                              <m:t>𝑅</m:t>
                            </m:r>
                          </m:e>
                          <m:sup>
                            <m:r>
                              <a:rPr lang="en-US" altLang="zh-CN" sz="2000" kern="100">
                                <a:latin typeface="Cambria Math" panose="02040503050406030204" pitchFamily="18" charset="0"/>
                                <a:ea typeface="+mj-ea"/>
                                <a:cs typeface="Times New Roman" panose="02020603050405020304" pitchFamily="18" charset="0"/>
                              </a:rPr>
                              <m:t>′</m:t>
                            </m:r>
                          </m:sup>
                        </m:sSup>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sel</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=5</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1</m:t>
                        </m:r>
                      </m:num>
                      <m:den>
                        <m:r>
                          <a:rPr lang="en-US" altLang="zh-CN" sz="2000" kern="100">
                            <a:latin typeface="Cambria Math" panose="02040503050406030204" pitchFamily="18" charset="0"/>
                            <a:ea typeface="+mj-ea"/>
                            <a:cs typeface="Times New Roman" panose="02020603050405020304" pitchFamily="18" charset="0"/>
                          </a:rPr>
                          <m:t>5</m:t>
                        </m:r>
                      </m:den>
                    </m:f>
                    <m:r>
                      <a:rPr lang="en-US" altLang="zh-CN" sz="2000" kern="100">
                        <a:latin typeface="Cambria Math" panose="02040503050406030204" pitchFamily="18" charset="0"/>
                        <a:ea typeface="+mj-ea"/>
                        <a:cs typeface="Times New Roman" panose="02020603050405020304" pitchFamily="18" charset="0"/>
                      </a:rPr>
                      <m:t>×5=1</m:t>
                    </m:r>
                  </m:oMath>
                </a14:m>
                <a:endParaRPr lang="zh-CN" altLang="zh-CN" sz="2000" kern="100" dirty="0">
                  <a:latin typeface="+mj-ea"/>
                  <a:ea typeface="+mj-ea"/>
                  <a:cs typeface="Times New Roman" panose="02020603050405020304" pitchFamily="18" charset="0"/>
                </a:endParaRPr>
              </a:p>
              <a:p>
                <a:pPr marL="800100" lvl="1" indent="-342900">
                  <a:lnSpc>
                    <a:spcPct val="150000"/>
                  </a:lnSpc>
                  <a:buFont typeface="Arial" panose="020B0604020202020204" pitchFamily="34" charset="0"/>
                  <a:buChar char="•"/>
                </a:pP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p>
                          <m:sSupPr>
                            <m:ctrlPr>
                              <a:rPr lang="zh-CN" altLang="zh-CN" sz="2000" i="1" kern="100">
                                <a:latin typeface="Cambria Math" panose="02040503050406030204" pitchFamily="18" charset="0"/>
                                <a:ea typeface="+mj-ea"/>
                                <a:cs typeface="Times New Roman" panose="02020603050405020304" pitchFamily="18" charset="0"/>
                              </a:rPr>
                            </m:ctrlPr>
                          </m:sSupPr>
                          <m:e>
                            <m:r>
                              <a:rPr lang="en-US" altLang="zh-CN" sz="2000" kern="100">
                                <a:latin typeface="Cambria Math" panose="02040503050406030204" pitchFamily="18" charset="0"/>
                                <a:ea typeface="+mj-ea"/>
                                <a:cs typeface="Times New Roman" panose="02020603050405020304" pitchFamily="18" charset="0"/>
                              </a:rPr>
                              <m:t>𝑅</m:t>
                            </m:r>
                          </m:e>
                          <m:sup>
                            <m:r>
                              <a:rPr lang="en-US" altLang="zh-CN" sz="2000" kern="100">
                                <a:latin typeface="Cambria Math" panose="02040503050406030204" pitchFamily="18" charset="0"/>
                                <a:ea typeface="+mj-ea"/>
                                <a:cs typeface="Times New Roman" panose="02020603050405020304" pitchFamily="18" charset="0"/>
                              </a:rPr>
                              <m:t>′</m:t>
                            </m:r>
                          </m:sup>
                        </m:sSup>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kern="100">
                        <a:latin typeface="Cambria Math" panose="02040503050406030204" pitchFamily="18" charset="0"/>
                        <a:ea typeface="+mj-ea"/>
                        <a:cs typeface="Times New Roman" panose="02020603050405020304" pitchFamily="18" charset="0"/>
                      </a:rPr>
                      <m:t>sel</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𝐵</m:t>
                            </m:r>
                            <m:r>
                              <a:rPr lang="en-US" altLang="zh-CN" sz="2000" kern="100">
                                <a:latin typeface="Cambria Math" panose="02040503050406030204" pitchFamily="18" charset="0"/>
                                <a:ea typeface="+mj-ea"/>
                                <a:cs typeface="Times New Roman" panose="02020603050405020304" pitchFamily="18" charset="0"/>
                              </a:rPr>
                              <m:t>≤5</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1</m:t>
                        </m:r>
                      </m:num>
                      <m:den>
                        <m:r>
                          <a:rPr lang="en-US" altLang="zh-CN" sz="2000" kern="100">
                            <a:latin typeface="Cambria Math" panose="02040503050406030204" pitchFamily="18" charset="0"/>
                            <a:ea typeface="+mj-ea"/>
                            <a:cs typeface="Times New Roman" panose="02020603050405020304" pitchFamily="18" charset="0"/>
                          </a:rPr>
                          <m:t>2</m:t>
                        </m:r>
                      </m:den>
                    </m:f>
                    <m:r>
                      <a:rPr lang="en-US" altLang="zh-CN" sz="2000" kern="100">
                        <a:latin typeface="Cambria Math" panose="02040503050406030204" pitchFamily="18" charset="0"/>
                        <a:ea typeface="+mj-ea"/>
                        <a:cs typeface="Times New Roman" panose="02020603050405020304" pitchFamily="18" charset="0"/>
                      </a:rPr>
                      <m:t>×10=5</m:t>
                    </m:r>
                  </m:oMath>
                </a14:m>
                <a:endParaRPr lang="en-US" altLang="zh-CN" sz="2000" kern="100" dirty="0">
                  <a:latin typeface="+mj-ea"/>
                  <a:ea typeface="+mj-ea"/>
                  <a:cs typeface="Times New Roman" panose="02020603050405020304" pitchFamily="18" charset="0"/>
                </a:endParaRPr>
              </a:p>
              <a:p>
                <a:pPr marL="800100" lvl="1" indent="-342900">
                  <a:lnSpc>
                    <a:spcPct val="150000"/>
                  </a:lnSpc>
                  <a:buFont typeface="Arial" panose="020B0604020202020204" pitchFamily="34" charset="0"/>
                  <a:buChar char="•"/>
                </a:pP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p>
                          <m:sSupPr>
                            <m:ctrlPr>
                              <a:rPr lang="zh-CN" altLang="zh-CN" sz="2000" i="1" kern="100">
                                <a:latin typeface="Cambria Math" panose="02040503050406030204" pitchFamily="18" charset="0"/>
                                <a:ea typeface="+mj-ea"/>
                                <a:cs typeface="Times New Roman" panose="02020603050405020304" pitchFamily="18" charset="0"/>
                              </a:rPr>
                            </m:ctrlPr>
                          </m:sSupPr>
                          <m:e>
                            <m:r>
                              <a:rPr lang="en-US" altLang="zh-CN" sz="2000" kern="100">
                                <a:latin typeface="Cambria Math" panose="02040503050406030204" pitchFamily="18" charset="0"/>
                                <a:ea typeface="+mj-ea"/>
                                <a:cs typeface="Times New Roman" panose="02020603050405020304" pitchFamily="18" charset="0"/>
                              </a:rPr>
                              <m:t>𝑅</m:t>
                            </m:r>
                          </m:e>
                          <m:sup>
                            <m:r>
                              <a:rPr lang="en-US" altLang="zh-CN" sz="2000" kern="100">
                                <a:latin typeface="Cambria Math" panose="02040503050406030204" pitchFamily="18" charset="0"/>
                                <a:ea typeface="+mj-ea"/>
                                <a:cs typeface="Times New Roman" panose="02020603050405020304" pitchFamily="18" charset="0"/>
                              </a:rPr>
                              <m:t>′</m:t>
                            </m:r>
                          </m:sup>
                        </m:sSup>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e>
                    </m:d>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r>
                          <m:rPr>
                            <m:sty m:val="p"/>
                          </m:rPr>
                          <a:rPr lang="en-US" altLang="zh-CN" sz="2000" kern="100">
                            <a:latin typeface="Cambria Math" panose="02040503050406030204" pitchFamily="18" charset="0"/>
                            <a:ea typeface="+mj-ea"/>
                            <a:cs typeface="Times New Roman" panose="02020603050405020304" pitchFamily="18" charset="0"/>
                          </a:rPr>
                          <m:t>min</m:t>
                        </m:r>
                      </m:fName>
                      <m:e>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𝜎</m:t>
                                    </m:r>
                                  </m:e>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=5⋀</m:t>
                                    </m:r>
                                    <m:r>
                                      <a:rPr lang="en-US" altLang="zh-CN" sz="2000" kern="100">
                                        <a:latin typeface="Cambria Math" panose="02040503050406030204" pitchFamily="18" charset="0"/>
                                        <a:ea typeface="+mj-ea"/>
                                        <a:cs typeface="Times New Roman" panose="02020603050405020304" pitchFamily="18" charset="0"/>
                                      </a:rPr>
                                      <m:t>𝐵</m:t>
                                    </m:r>
                                    <m:r>
                                      <a:rPr lang="en-US" altLang="zh-CN" sz="2000" kern="100">
                                        <a:latin typeface="Cambria Math" panose="02040503050406030204" pitchFamily="18" charset="0"/>
                                        <a:ea typeface="+mj-ea"/>
                                        <a:cs typeface="Times New Roman" panose="02020603050405020304" pitchFamily="18" charset="0"/>
                                      </a:rPr>
                                      <m:t>≤5</m:t>
                                    </m:r>
                                  </m:sub>
                                </m:sSub>
                              </m:e>
                            </m:d>
                          </m:e>
                        </m:d>
                      </m:e>
                    </m:func>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r>
                          <m:rPr>
                            <m:sty m:val="p"/>
                          </m:rPr>
                          <a:rPr lang="en-US" altLang="zh-CN" sz="2000" kern="100">
                            <a:latin typeface="Cambria Math" panose="02040503050406030204" pitchFamily="18" charset="0"/>
                            <a:ea typeface="+mj-ea"/>
                            <a:cs typeface="Times New Roman" panose="02020603050405020304" pitchFamily="18" charset="0"/>
                          </a:rPr>
                          <m:t>min</m:t>
                        </m:r>
                      </m:fName>
                      <m:e>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20,1000</m:t>
                            </m:r>
                          </m:e>
                        </m:d>
                      </m:e>
                    </m:func>
                    <m:r>
                      <a:rPr lang="en-US" altLang="zh-CN" sz="2000" kern="100">
                        <a:latin typeface="Cambria Math" panose="02040503050406030204" pitchFamily="18" charset="0"/>
                        <a:ea typeface="+mj-ea"/>
                        <a:cs typeface="Times New Roman" panose="02020603050405020304" pitchFamily="18" charset="0"/>
                      </a:rPr>
                      <m:t>=20</m:t>
                    </m:r>
                  </m:oMath>
                </a14:m>
                <a:endParaRPr lang="zh-CN" altLang="zh-CN" sz="2000" kern="100" dirty="0">
                  <a:latin typeface="+mj-ea"/>
                  <a:ea typeface="+mj-ea"/>
                  <a:cs typeface="Times New Roman" panose="02020603050405020304" pitchFamily="18" charset="0"/>
                </a:endParaRPr>
              </a:p>
              <a:p>
                <a:pPr>
                  <a:lnSpc>
                    <a:spcPct val="150000"/>
                  </a:lnSpc>
                </a:pPr>
                <a:endParaRPr lang="zh-CN" altLang="zh-CN" sz="2400" dirty="0">
                  <a:latin typeface="+mj-ea"/>
                  <a:ea typeface="+mj-ea"/>
                </a:endParaRPr>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8000" y="1126800"/>
                <a:ext cx="11667744" cy="4822474"/>
              </a:xfrm>
              <a:prstGeom prst="rect">
                <a:avLst/>
              </a:prstGeom>
              <a:blipFill>
                <a:blip r:embed="rId3"/>
                <a:stretch>
                  <a:fillRect l="-544"/>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6FE834E-0A2C-E574-1311-F9C18A1E5F77}"/>
              </a:ext>
            </a:extLst>
          </p:cNvPr>
          <p:cNvSpPr>
            <a:spLocks noGrp="1"/>
          </p:cNvSpPr>
          <p:nvPr>
            <p:ph type="sldNum" sz="quarter" idx="10"/>
          </p:nvPr>
        </p:nvSpPr>
        <p:spPr/>
        <p:txBody>
          <a:bodyPr/>
          <a:lstStyle/>
          <a:p>
            <a:fld id="{4B0D34C0-35A8-654C-9FBA-7B4E017BD630}" type="slidenum">
              <a:rPr lang="en-US" altLang="zh-CN" smtClean="0"/>
              <a:t>62</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选择运算的基数估计示例</a:t>
            </a:r>
            <a:endParaRPr kumimoji="1" lang="zh-CN" altLang="en-US" dirty="0"/>
          </a:p>
        </p:txBody>
      </p:sp>
      <p:sp>
        <p:nvSpPr>
          <p:cNvPr id="4" name="页脚占位符 3">
            <a:extLst>
              <a:ext uri="{FF2B5EF4-FFF2-40B4-BE49-F238E27FC236}">
                <a16:creationId xmlns:a16="http://schemas.microsoft.com/office/drawing/2014/main" id="{357BF834-AE8B-2113-0508-A33CD5BA292D}"/>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1656057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FE3C2FA-9F7D-B952-8F40-FF823758DB71}"/>
              </a:ext>
            </a:extLst>
          </p:cNvPr>
          <p:cNvSpPr>
            <a:spLocks noGrp="1"/>
          </p:cNvSpPr>
          <p:nvPr>
            <p:ph type="sldNum" sz="quarter" idx="10"/>
          </p:nvPr>
        </p:nvSpPr>
        <p:spPr/>
        <p:txBody>
          <a:bodyPr/>
          <a:lstStyle/>
          <a:p>
            <a:fld id="{4B0D34C0-35A8-654C-9FBA-7B4E017BD630}" type="slidenum">
              <a:rPr lang="en-US" altLang="zh-CN" smtClean="0"/>
              <a:t>63</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4" name="页脚占位符 3">
            <a:extLst>
              <a:ext uri="{FF2B5EF4-FFF2-40B4-BE49-F238E27FC236}">
                <a16:creationId xmlns:a16="http://schemas.microsoft.com/office/drawing/2014/main" id="{E8B93970-1C2E-3E79-C018-35E7A43A16C7}"/>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7999" y="1126800"/>
                <a:ext cx="10857685" cy="3138744"/>
              </a:xfrm>
              <a:prstGeom prst="rect">
                <a:avLst/>
              </a:prstGeom>
            </p:spPr>
            <p:txBody>
              <a:bodyPr wrap="square">
                <a:spAutoFit/>
              </a:bodyPr>
              <a:lstStyle/>
              <a:p>
                <a:pPr marL="342900" indent="-342900" algn="just">
                  <a:lnSpc>
                    <a:spcPct val="20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情况</a:t>
                </a:r>
                <a:r>
                  <a:rPr lang="en-US" altLang="zh-CN" sz="2200" b="1" kern="100" dirty="0">
                    <a:latin typeface="+mj-ea"/>
                    <a:ea typeface="+mj-ea"/>
                    <a:cs typeface="Times New Roman" panose="02020603050405020304" pitchFamily="18" charset="0"/>
                  </a:rPr>
                  <a:t>1:</a:t>
                </a:r>
                <a:r>
                  <a:rPr lang="zh-CN" altLang="en-US" sz="2200" b="1" kern="100" dirty="0">
                    <a:latin typeface="+mj-ea"/>
                    <a:ea typeface="+mj-ea"/>
                    <a:cs typeface="Times New Roman" panose="02020603050405020304" pitchFamily="18" charset="0"/>
                  </a:rPr>
                  <a:t> </a:t>
                </a:r>
                <a:r>
                  <a:rPr lang="zh-CN" altLang="en-US" sz="2200" b="1" kern="100" dirty="0">
                    <a:solidFill>
                      <a:srgbClr val="701988"/>
                    </a:solidFill>
                    <a:latin typeface="+mj-ea"/>
                    <a:ea typeface="+mj-ea"/>
                    <a:cs typeface="Times New Roman" panose="02020603050405020304" pitchFamily="18" charset="0"/>
                  </a:rPr>
                  <a:t>两个关系在单属性上连接</a:t>
                </a:r>
              </a:p>
              <a:p>
                <a:pPr marL="457200" indent="-457200" algn="just">
                  <a:lnSpc>
                    <a:spcPct val="200000"/>
                  </a:lnSpc>
                  <a:buFont typeface="Arial" panose="020B0604020202020204" pitchFamily="34" charset="0"/>
                  <a:buChar char="•"/>
                </a:pPr>
                <a:r>
                  <a:rPr lang="zh-CN" altLang="zh-CN" sz="2000" kern="100" dirty="0">
                    <a:latin typeface="+mj-ea"/>
                    <a:ea typeface="+mj-ea"/>
                    <a:cs typeface="Times New Roman" panose="02020603050405020304" pitchFamily="18" charset="0"/>
                  </a:rPr>
                  <a:t>考虑两个关系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oMath>
                </a14:m>
                <a:r>
                  <a:rPr lang="zh-CN" altLang="zh-CN" sz="2000" kern="100" dirty="0">
                    <a:latin typeface="+mj-ea"/>
                    <a:ea typeface="+mj-ea"/>
                    <a:cs typeface="Times New Roman" panose="02020603050405020304" pitchFamily="18" charset="0"/>
                  </a:rPr>
                  <a:t>和</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d>
                      <m:dPr>
                        <m:ctrlPr>
                          <a:rPr lang="en-US"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e>
                    </m:d>
                    <m:r>
                      <a:rPr lang="zh-CN" altLang="en-US" sz="2000" kern="100">
                        <a:latin typeface="Cambria Math" panose="02040503050406030204" pitchFamily="18" charset="0"/>
                        <a:ea typeface="+mj-ea"/>
                        <a:cs typeface="Times New Roman" panose="02020603050405020304" pitchFamily="18" charset="0"/>
                      </a:rPr>
                      <m:t>。</m:t>
                    </m:r>
                  </m:oMath>
                </a14:m>
                <a:endParaRPr lang="en-US" altLang="zh-CN" sz="2000" kern="100" dirty="0">
                  <a:latin typeface="+mj-ea"/>
                  <a:ea typeface="+mj-ea"/>
                  <a:cs typeface="Times New Roman" panose="02020603050405020304" pitchFamily="18" charset="0"/>
                </a:endParaRPr>
              </a:p>
              <a:p>
                <a:pPr marL="457200" indent="-457200" algn="just">
                  <a:lnSpc>
                    <a:spcPct val="200000"/>
                  </a:lnSpc>
                  <a:buFont typeface="Arial" panose="020B0604020202020204" pitchFamily="34" charset="0"/>
                  <a:buChar char="•"/>
                </a:pPr>
                <a:r>
                  <a:rPr lang="zh-CN" altLang="zh-CN" sz="2000" kern="100" dirty="0">
                    <a:latin typeface="+mj-ea"/>
                    <a:ea typeface="+mj-ea"/>
                    <a:cs typeface="Times New Roman" panose="02020603050405020304" pitchFamily="18" charset="0"/>
                  </a:rPr>
                  <a:t>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oMath>
                </a14:m>
                <a:r>
                  <a:rPr lang="zh-CN" altLang="zh-CN" sz="2000" kern="100" dirty="0">
                    <a:latin typeface="+mj-ea"/>
                    <a:ea typeface="+mj-ea"/>
                    <a:cs typeface="Times New Roman" panose="02020603050405020304" pitchFamily="18" charset="0"/>
                  </a:rPr>
                  <a:t>为这两个关系进行自然连接的属性，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𝐵</m:t>
                    </m:r>
                  </m:oMath>
                </a14:m>
                <a:r>
                  <a:rPr lang="zh-CN" altLang="zh-CN" sz="2000" kern="100" dirty="0">
                    <a:latin typeface="+mj-ea"/>
                    <a:ea typeface="+mj-ea"/>
                    <a:cs typeface="Times New Roman" panose="02020603050405020304" pitchFamily="18" charset="0"/>
                  </a:rPr>
                  <a:t>和</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𝐶</m:t>
                    </m:r>
                  </m:oMath>
                </a14:m>
                <a:r>
                  <a:rPr lang="zh-CN" altLang="zh-CN" sz="2000" kern="100" dirty="0">
                    <a:latin typeface="+mj-ea"/>
                    <a:ea typeface="+mj-ea"/>
                    <a:cs typeface="Times New Roman" panose="02020603050405020304" pitchFamily="18" charset="0"/>
                  </a:rPr>
                  <a:t>分别是关系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oMath>
                </a14:m>
                <a:r>
                  <a:rPr lang="zh-CN" altLang="zh-CN" sz="2000" kern="100" dirty="0">
                    <a:latin typeface="+mj-ea"/>
                    <a:ea typeface="+mj-ea"/>
                    <a:cs typeface="Times New Roman" panose="02020603050405020304" pitchFamily="18" charset="0"/>
                  </a:rPr>
                  <a:t>和</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oMath>
                </a14:m>
                <a:r>
                  <a:rPr lang="zh-CN" altLang="zh-CN" sz="2000" kern="100" dirty="0">
                    <a:latin typeface="+mj-ea"/>
                    <a:ea typeface="+mj-ea"/>
                    <a:cs typeface="Times New Roman" panose="02020603050405020304" pitchFamily="18" charset="0"/>
                  </a:rPr>
                  <a:t>的非连接属性。</a:t>
                </a:r>
                <a:endParaRPr lang="en-US" altLang="zh-CN" sz="2000" kern="100" dirty="0">
                  <a:latin typeface="+mj-ea"/>
                  <a:ea typeface="+mj-ea"/>
                  <a:cs typeface="Times New Roman" panose="02020603050405020304" pitchFamily="18" charset="0"/>
                </a:endParaRPr>
              </a:p>
              <a:p>
                <a:pPr marL="457200" indent="-457200" algn="just">
                  <a:lnSpc>
                    <a:spcPct val="200000"/>
                  </a:lnSpc>
                  <a:buFont typeface="Arial" panose="020B0604020202020204" pitchFamily="34" charset="0"/>
                  <a:buChar char="•"/>
                </a:pPr>
                <a:r>
                  <a:rPr lang="zh-CN" altLang="zh-CN" sz="2000" kern="100" dirty="0">
                    <a:latin typeface="+mj-ea"/>
                    <a:ea typeface="+mj-ea"/>
                    <a:cs typeface="Times New Roman" panose="02020603050405020304" pitchFamily="18" charset="0"/>
                  </a:rPr>
                  <a:t>要进行结果基数估计的自然连接是</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r>
                      <a:rPr lang="en-US" altLang="zh-CN" sz="2000" kern="100">
                        <a:latin typeface="Cambria Math" panose="02040503050406030204" pitchFamily="18" charset="0"/>
                        <a:ea typeface="+mj-ea"/>
                        <a:cs typeface="Times New Roman" panose="02020603050405020304" pitchFamily="18" charset="0"/>
                      </a:rPr>
                      <m:t>)</m:t>
                    </m:r>
                  </m:oMath>
                </a14:m>
                <a:endParaRPr lang="en-US" altLang="zh-CN" sz="2000" kern="100" dirty="0">
                  <a:latin typeface="+mj-ea"/>
                  <a:ea typeface="+mj-ea"/>
                  <a:cs typeface="Times New Roman" panose="02020603050405020304" pitchFamily="18" charset="0"/>
                </a:endParaRPr>
              </a:p>
              <a:p>
                <a:pPr marL="457200" indent="-457200" algn="just">
                  <a:lnSpc>
                    <a:spcPct val="200000"/>
                  </a:lnSpc>
                  <a:buFont typeface="Arial" panose="020B0604020202020204" pitchFamily="34" charset="0"/>
                  <a:buChar char="•"/>
                </a:pPr>
                <a:r>
                  <a:rPr lang="zh-CN" altLang="zh-CN" sz="2000" kern="100" dirty="0">
                    <a:latin typeface="+mj-ea"/>
                    <a:ea typeface="+mj-ea"/>
                    <a:cs typeface="Times New Roman" panose="02020603050405020304" pitchFamily="18" charset="0"/>
                  </a:rPr>
                  <a:t>使用</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𝐴</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𝐴</m:t>
                        </m:r>
                      </m:e>
                      <m:sub>
                        <m:r>
                          <a:rPr lang="en-US" altLang="zh-CN" sz="2000" kern="100">
                            <a:latin typeface="Cambria Math" panose="02040503050406030204" pitchFamily="18" charset="0"/>
                            <a:ea typeface="+mj-ea"/>
                            <a:cs typeface="Times New Roman" panose="02020603050405020304" pitchFamily="18" charset="0"/>
                          </a:rPr>
                          <m:t>2</m:t>
                        </m:r>
                      </m:sub>
                    </m:sSub>
                  </m:oMath>
                </a14:m>
                <a:r>
                  <a:rPr lang="zh-CN" altLang="zh-CN" sz="2000" kern="100" dirty="0">
                    <a:latin typeface="+mj-ea"/>
                    <a:ea typeface="+mj-ea"/>
                    <a:cs typeface="Times New Roman" panose="02020603050405020304" pitchFamily="18" charset="0"/>
                  </a:rPr>
                  <a:t>来分别表示关系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oMath>
                </a14:m>
                <a:r>
                  <a:rPr lang="zh-CN" altLang="zh-CN" sz="2000" kern="100" dirty="0">
                    <a:latin typeface="+mj-ea"/>
                    <a:ea typeface="+mj-ea"/>
                    <a:cs typeface="Times New Roman" panose="02020603050405020304" pitchFamily="18" charset="0"/>
                  </a:rPr>
                  <a:t>和</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oMath>
                </a14:m>
                <a:r>
                  <a:rPr lang="zh-CN" altLang="zh-CN" sz="2000" kern="100" dirty="0">
                    <a:latin typeface="+mj-ea"/>
                    <a:ea typeface="+mj-ea"/>
                    <a:cs typeface="Times New Roman" panose="02020603050405020304" pitchFamily="18" charset="0"/>
                  </a:rPr>
                  <a:t>中属性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oMath>
                </a14:m>
                <a:r>
                  <a:rPr lang="zh-CN" altLang="zh-CN" sz="2000" kern="100" dirty="0">
                    <a:latin typeface="+mj-ea"/>
                    <a:ea typeface="+mj-ea"/>
                    <a:cs typeface="Times New Roman" panose="02020603050405020304" pitchFamily="18" charset="0"/>
                  </a:rPr>
                  <a:t>的取值集合 </a:t>
                </a:r>
                <a:endParaRPr lang="en-US" altLang="zh-CN" sz="20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7999" y="1126800"/>
                <a:ext cx="10857685" cy="3138744"/>
              </a:xfrm>
              <a:prstGeom prst="rect">
                <a:avLst/>
              </a:prstGeom>
              <a:blipFill>
                <a:blip r:embed="rId3"/>
                <a:stretch>
                  <a:fillRect l="-584" b="-28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884088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FE3C2FA-9F7D-B952-8F40-FF823758DB71}"/>
              </a:ext>
            </a:extLst>
          </p:cNvPr>
          <p:cNvSpPr>
            <a:spLocks noGrp="1"/>
          </p:cNvSpPr>
          <p:nvPr>
            <p:ph type="sldNum" sz="quarter" idx="10"/>
          </p:nvPr>
        </p:nvSpPr>
        <p:spPr/>
        <p:txBody>
          <a:bodyPr/>
          <a:lstStyle/>
          <a:p>
            <a:fld id="{4B0D34C0-35A8-654C-9FBA-7B4E017BD630}" type="slidenum">
              <a:rPr lang="en-US" altLang="zh-CN" smtClean="0"/>
              <a:t>64</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4" name="页脚占位符 3">
            <a:extLst>
              <a:ext uri="{FF2B5EF4-FFF2-40B4-BE49-F238E27FC236}">
                <a16:creationId xmlns:a16="http://schemas.microsoft.com/office/drawing/2014/main" id="{1A76330C-3D69-989A-A4FC-0B040128BE42}"/>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71C93E7-97E2-CA98-B893-52952AF81A7C}"/>
                  </a:ext>
                </a:extLst>
              </p:cNvPr>
              <p:cNvSpPr txBox="1"/>
              <p:nvPr/>
            </p:nvSpPr>
            <p:spPr>
              <a:xfrm>
                <a:off x="1443688" y="2986131"/>
                <a:ext cx="11657427" cy="14229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zh-CN" sz="2000" kern="100" dirty="0">
                    <a:effectLst/>
                    <a:latin typeface="+mj-ea"/>
                    <a:ea typeface="+mj-ea"/>
                    <a:cs typeface="Times New Roman" panose="02020603050405020304" pitchFamily="18" charset="0"/>
                  </a:rPr>
                  <a:t>当</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2</m:t>
                        </m:r>
                      </m:sub>
                    </m:sSub>
                    <m:r>
                      <a:rPr lang="en-US" altLang="zh-CN" sz="2000" i="1" kern="100">
                        <a:effectLst/>
                        <a:latin typeface="Cambria Math" panose="02040503050406030204" pitchFamily="18" charset="0"/>
                        <a:ea typeface="+mj-ea"/>
                        <a:cs typeface="Times New Roman" panose="02020603050405020304" pitchFamily="18" charset="0"/>
                      </a:rPr>
                      <m:t>=∅</m:t>
                    </m:r>
                  </m:oMath>
                </a14:m>
                <a:r>
                  <a:rPr lang="zh-CN" altLang="zh-CN" sz="2000" kern="100" dirty="0">
                    <a:effectLst/>
                    <a:latin typeface="+mj-ea"/>
                    <a:ea typeface="+mj-ea"/>
                    <a:cs typeface="Times New Roman" panose="02020603050405020304" pitchFamily="18" charset="0"/>
                  </a:rPr>
                  <a:t>时，</a:t>
                </a:r>
                <a14:m>
                  <m:oMath xmlns:m="http://schemas.openxmlformats.org/officeDocument/2006/math">
                    <m:r>
                      <a:rPr lang="en-US" altLang="zh-CN" sz="2000" b="0" i="1" kern="100" smtClean="0">
                        <a:effectLst/>
                        <a:latin typeface="Cambria Math" panose="02040503050406030204" pitchFamily="18" charset="0"/>
                        <a:ea typeface="+mj-ea"/>
                        <a:cs typeface="Times New Roman" panose="02020603050405020304" pitchFamily="18" charset="0"/>
                      </a:rPr>
                      <m:t>𝑇</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e>
                    </m:d>
                    <m:r>
                      <a:rPr lang="en-US" altLang="zh-CN" sz="2000" i="1" kern="100">
                        <a:effectLst/>
                        <a:latin typeface="Cambria Math" panose="02040503050406030204" pitchFamily="18" charset="0"/>
                        <a:ea typeface="+mj-ea"/>
                        <a:cs typeface="Times New Roman" panose="02020603050405020304" pitchFamily="18" charset="0"/>
                      </a:rPr>
                      <m:t>=0</m:t>
                    </m:r>
                  </m:oMath>
                </a14:m>
                <a:endParaRPr lang="zh-CN" altLang="zh-CN" sz="2000" kern="100" dirty="0">
                  <a:effectLst/>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sz="2000" kern="100" dirty="0">
                    <a:effectLst/>
                    <a:latin typeface="+mj-ea"/>
                    <a:ea typeface="+mj-ea"/>
                    <a:cs typeface="Times New Roman" panose="02020603050405020304" pitchFamily="18" charset="0"/>
                  </a:rPr>
                  <a:t>当</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zh-CN" altLang="zh-CN" sz="2000" kern="100">
                        <a:effectLst/>
                        <a:latin typeface="Cambria Math" panose="02040503050406030204" pitchFamily="18" charset="0"/>
                        <a:ea typeface="+mj-ea"/>
                        <a:cs typeface="Times New Roman" panose="02020603050405020304" pitchFamily="18" charset="0"/>
                      </a:rPr>
                      <m:t>和</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oMath>
                </a14:m>
                <a:r>
                  <a:rPr lang="zh-CN" altLang="zh-CN" sz="2000" kern="100" dirty="0">
                    <a:effectLst/>
                    <a:latin typeface="+mj-ea"/>
                    <a:ea typeface="+mj-ea"/>
                    <a:cs typeface="Times New Roman" panose="02020603050405020304" pitchFamily="18" charset="0"/>
                  </a:rPr>
                  <a:t>在</a:t>
                </a:r>
                <a14:m>
                  <m:oMath xmlns:m="http://schemas.openxmlformats.org/officeDocument/2006/math">
                    <m:r>
                      <a:rPr lang="en-US" altLang="zh-CN" sz="2000" i="1" kern="100">
                        <a:effectLst/>
                        <a:latin typeface="Cambria Math" panose="02040503050406030204" pitchFamily="18" charset="0"/>
                        <a:ea typeface="+mj-ea"/>
                        <a:cs typeface="Times New Roman" panose="02020603050405020304" pitchFamily="18" charset="0"/>
                      </a:rPr>
                      <m:t>𝐴</m:t>
                    </m:r>
                  </m:oMath>
                </a14:m>
                <a:r>
                  <a:rPr lang="zh-CN" altLang="zh-CN" sz="2000" kern="100" dirty="0">
                    <a:effectLst/>
                    <a:latin typeface="+mj-ea"/>
                    <a:ea typeface="+mj-ea"/>
                    <a:cs typeface="Times New Roman" panose="02020603050405020304" pitchFamily="18" charset="0"/>
                  </a:rPr>
                  <a:t>上都只取同一个值时，</a:t>
                </a:r>
                <a14:m>
                  <m:oMath xmlns:m="http://schemas.openxmlformats.org/officeDocument/2006/math">
                    <m:r>
                      <a:rPr lang="en-US" altLang="zh-CN" sz="2000" b="0" i="1" kern="100" smtClean="0">
                        <a:effectLst/>
                        <a:latin typeface="Cambria Math" panose="02040503050406030204" pitchFamily="18" charset="0"/>
                        <a:ea typeface="+mj-ea"/>
                        <a:cs typeface="Times New Roman" panose="02020603050405020304" pitchFamily="18" charset="0"/>
                      </a:rPr>
                      <m:t>𝑇</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e>
                    </m:d>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b="0" i="1" kern="100" smtClean="0">
                        <a:effectLst/>
                        <a:latin typeface="Cambria Math" panose="02040503050406030204" pitchFamily="18" charset="0"/>
                        <a:ea typeface="+mj-ea"/>
                        <a:cs typeface="Times New Roman" panose="02020603050405020304" pitchFamily="18" charset="0"/>
                      </a:rPr>
                      <m:t>𝑇</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e>
                    </m:d>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b="0" i="1" kern="100" smtClean="0">
                        <a:effectLst/>
                        <a:latin typeface="Cambria Math" panose="02040503050406030204" pitchFamily="18" charset="0"/>
                        <a:ea typeface="+mj-ea"/>
                        <a:cs typeface="Times New Roman" panose="02020603050405020304" pitchFamily="18" charset="0"/>
                      </a:rPr>
                      <m:t>𝑇</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e>
                    </m:d>
                  </m:oMath>
                </a14:m>
                <a:endParaRPr lang="zh-CN" altLang="zh-CN" sz="2000" kern="100" dirty="0">
                  <a:effectLst/>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sz="2000" kern="100" dirty="0">
                    <a:effectLst/>
                    <a:latin typeface="+mj-ea"/>
                    <a:ea typeface="+mj-ea"/>
                    <a:cs typeface="Times New Roman" panose="02020603050405020304" pitchFamily="18" charset="0"/>
                  </a:rPr>
                  <a:t>当属性</a:t>
                </a:r>
                <a14:m>
                  <m:oMath xmlns:m="http://schemas.openxmlformats.org/officeDocument/2006/math">
                    <m:r>
                      <a:rPr lang="en-US" altLang="zh-CN" sz="2000" i="1" kern="100">
                        <a:effectLst/>
                        <a:latin typeface="Cambria Math" panose="02040503050406030204" pitchFamily="18" charset="0"/>
                        <a:ea typeface="+mj-ea"/>
                        <a:cs typeface="Times New Roman" panose="02020603050405020304" pitchFamily="18" charset="0"/>
                      </a:rPr>
                      <m:t>𝐴</m:t>
                    </m:r>
                  </m:oMath>
                </a14:m>
                <a:r>
                  <a:rPr lang="zh-CN" altLang="zh-CN" sz="2000" kern="100" dirty="0">
                    <a:effectLst/>
                    <a:latin typeface="+mj-ea"/>
                    <a:ea typeface="+mj-ea"/>
                    <a:cs typeface="Times New Roman" panose="02020603050405020304" pitchFamily="18" charset="0"/>
                  </a:rPr>
                  <a:t>是</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oMath>
                </a14:m>
                <a:r>
                  <a:rPr lang="zh-CN" altLang="zh-CN" sz="2000" kern="100" dirty="0">
                    <a:effectLst/>
                    <a:latin typeface="+mj-ea"/>
                    <a:ea typeface="+mj-ea"/>
                    <a:cs typeface="Times New Roman" panose="02020603050405020304" pitchFamily="18" charset="0"/>
                  </a:rPr>
                  <a:t>的主键，是</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oMath>
                </a14:m>
                <a:r>
                  <a:rPr lang="zh-CN" altLang="zh-CN" sz="2000" kern="100" dirty="0">
                    <a:effectLst/>
                    <a:latin typeface="+mj-ea"/>
                    <a:ea typeface="+mj-ea"/>
                    <a:cs typeface="Times New Roman" panose="02020603050405020304" pitchFamily="18" charset="0"/>
                  </a:rPr>
                  <a:t>的外键，也就是主键</a:t>
                </a:r>
                <a:r>
                  <a:rPr lang="en-US" altLang="zh-CN" sz="2000" kern="100" dirty="0">
                    <a:effectLst/>
                    <a:latin typeface="+mj-ea"/>
                    <a:ea typeface="+mj-ea"/>
                    <a:cs typeface="Times New Roman" panose="02020603050405020304" pitchFamily="18" charset="0"/>
                  </a:rPr>
                  <a:t>-</a:t>
                </a:r>
                <a:r>
                  <a:rPr lang="zh-CN" altLang="zh-CN" sz="2000" kern="100" dirty="0">
                    <a:effectLst/>
                    <a:latin typeface="+mj-ea"/>
                    <a:ea typeface="+mj-ea"/>
                    <a:cs typeface="Times New Roman" panose="02020603050405020304" pitchFamily="18" charset="0"/>
                  </a:rPr>
                  <a:t>外键连接时，</a:t>
                </a:r>
                <a14:m>
                  <m:oMath xmlns:m="http://schemas.openxmlformats.org/officeDocument/2006/math">
                    <m:r>
                      <a:rPr lang="en-US" altLang="zh-CN" sz="2000" b="0" i="1" kern="100" smtClean="0">
                        <a:effectLst/>
                        <a:latin typeface="Cambria Math" panose="02040503050406030204" pitchFamily="18" charset="0"/>
                        <a:ea typeface="+mj-ea"/>
                        <a:cs typeface="Times New Roman" panose="02020603050405020304" pitchFamily="18" charset="0"/>
                      </a:rPr>
                      <m:t>𝑇</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e>
                    </m:d>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b="0" i="1" kern="100" smtClean="0">
                        <a:effectLst/>
                        <a:latin typeface="Cambria Math" panose="02040503050406030204" pitchFamily="18" charset="0"/>
                        <a:ea typeface="+mj-ea"/>
                        <a:cs typeface="Times New Roman" panose="02020603050405020304" pitchFamily="18" charset="0"/>
                      </a:rPr>
                      <m:t>𝑇</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e>
                    </m:d>
                  </m:oMath>
                </a14:m>
                <a:endParaRPr lang="zh-CN" altLang="zh-CN" sz="2000" kern="100" dirty="0">
                  <a:effectLst/>
                  <a:latin typeface="+mj-ea"/>
                  <a:ea typeface="+mj-ea"/>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C71C93E7-97E2-CA98-B893-52952AF81A7C}"/>
                  </a:ext>
                </a:extLst>
              </p:cNvPr>
              <p:cNvSpPr txBox="1">
                <a:spLocks noRot="1" noChangeAspect="1" noMove="1" noResize="1" noEditPoints="1" noAdjustHandles="1" noChangeArrowheads="1" noChangeShapeType="1" noTextEdit="1"/>
              </p:cNvSpPr>
              <p:nvPr/>
            </p:nvSpPr>
            <p:spPr>
              <a:xfrm>
                <a:off x="1443688" y="2986131"/>
                <a:ext cx="11657427" cy="1422954"/>
              </a:xfrm>
              <a:prstGeom prst="rect">
                <a:avLst/>
              </a:prstGeom>
              <a:blipFill>
                <a:blip r:embed="rId3"/>
                <a:stretch>
                  <a:fillRect l="-435" b="-70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943ABA1-1BD4-8740-0011-F19E30419216}"/>
                  </a:ext>
                </a:extLst>
              </p:cNvPr>
              <p:cNvSpPr txBox="1"/>
              <p:nvPr/>
            </p:nvSpPr>
            <p:spPr>
              <a:xfrm>
                <a:off x="1008000" y="1126800"/>
                <a:ext cx="9284676" cy="146905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难点：</a:t>
                </a:r>
                <a:endParaRPr lang="en-US" altLang="zh-CN" sz="2200" b="1" kern="100" dirty="0">
                  <a:latin typeface="+mj-ea"/>
                  <a:ea typeface="+mj-ea"/>
                  <a:cs typeface="Times New Roman" panose="02020603050405020304" pitchFamily="18" charset="0"/>
                </a:endParaRPr>
              </a:p>
              <a:p>
                <a:pPr marL="914400" lvl="1" indent="-457200">
                  <a:lnSpc>
                    <a:spcPct val="150000"/>
                  </a:lnSpc>
                  <a:buFont typeface="Arial" panose="020B0604020202020204" pitchFamily="34" charset="0"/>
                  <a:buChar char="•"/>
                </a:pPr>
                <a:r>
                  <a:rPr lang="zh-CN" altLang="en-US" sz="2000" dirty="0">
                    <a:latin typeface="+mj-ea"/>
                    <a:ea typeface="+mj-ea"/>
                  </a:rPr>
                  <a:t>连接的基数深受</a:t>
                </a:r>
                <a14:m>
                  <m:oMath xmlns:m="http://schemas.openxmlformats.org/officeDocument/2006/math">
                    <m:r>
                      <a:rPr lang="en-US" altLang="zh-CN" sz="2000" i="1" kern="100" smtClean="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2</m:t>
                        </m:r>
                      </m:sub>
                    </m:sSub>
                    <m:r>
                      <a:rPr lang="en-US" altLang="zh-CN" sz="2000" i="1" kern="100">
                        <a:effectLst/>
                        <a:latin typeface="Cambria Math" panose="02040503050406030204" pitchFamily="18" charset="0"/>
                        <a:ea typeface="+mj-ea"/>
                        <a:cs typeface="Times New Roman" panose="02020603050405020304" pitchFamily="18" charset="0"/>
                      </a:rPr>
                      <m:t>|</m:t>
                    </m:r>
                  </m:oMath>
                </a14:m>
                <a:r>
                  <a:rPr lang="zh-CN" altLang="en-US" sz="2000" dirty="0">
                    <a:latin typeface="+mj-ea"/>
                    <a:ea typeface="+mj-ea"/>
                  </a:rPr>
                  <a:t>的影响</a:t>
                </a:r>
                <a:endParaRPr lang="en-US" altLang="zh-CN" sz="2000" dirty="0">
                  <a:latin typeface="+mj-ea"/>
                  <a:ea typeface="+mj-ea"/>
                </a:endParaRPr>
              </a:p>
              <a:p>
                <a:pPr marL="914400" lvl="1" indent="-457200">
                  <a:lnSpc>
                    <a:spcPct val="150000"/>
                  </a:lnSpc>
                  <a:buFont typeface="Arial" panose="020B0604020202020204" pitchFamily="34" charset="0"/>
                  <a:buChar char="•"/>
                </a:pPr>
                <a:r>
                  <a:rPr lang="zh-CN" altLang="en-US" sz="2000" dirty="0">
                    <a:latin typeface="+mj-ea"/>
                    <a:ea typeface="+mj-ea"/>
                  </a:rPr>
                  <a:t>优化器并不清楚</a:t>
                </a:r>
                <a14:m>
                  <m:oMath xmlns:m="http://schemas.openxmlformats.org/officeDocument/2006/math">
                    <m:sSub>
                      <m:sSubPr>
                        <m:ctrlPr>
                          <a:rPr lang="zh-CN" altLang="zh-CN" sz="2000" i="1" kern="100" smtClean="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1</m:t>
                        </m:r>
                      </m:sub>
                    </m:sSub>
                  </m:oMath>
                </a14:m>
                <a:r>
                  <a:rPr lang="zh-CN" altLang="en-US" sz="2000" dirty="0">
                    <a:latin typeface="+mj-ea"/>
                    <a:ea typeface="+mj-ea"/>
                  </a:rPr>
                  <a:t>和</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𝐴</m:t>
                        </m:r>
                      </m:e>
                      <m:sub>
                        <m:r>
                          <a:rPr lang="en-US" altLang="zh-CN" sz="2000" i="1" kern="100">
                            <a:latin typeface="Cambria Math" panose="02040503050406030204" pitchFamily="18" charset="0"/>
                            <a:ea typeface="+mj-ea"/>
                            <a:cs typeface="Times New Roman" panose="02020603050405020304" pitchFamily="18" charset="0"/>
                          </a:rPr>
                          <m:t>2</m:t>
                        </m:r>
                      </m:sub>
                    </m:sSub>
                  </m:oMath>
                </a14:m>
                <a:r>
                  <a:rPr lang="zh-CN" altLang="en-US" sz="2000" dirty="0">
                    <a:latin typeface="+mj-ea"/>
                    <a:ea typeface="+mj-ea"/>
                  </a:rPr>
                  <a:t>的关联情况</a:t>
                </a:r>
              </a:p>
            </p:txBody>
          </p:sp>
        </mc:Choice>
        <mc:Fallback xmlns="">
          <p:sp>
            <p:nvSpPr>
              <p:cNvPr id="8" name="文本框 7">
                <a:extLst>
                  <a:ext uri="{FF2B5EF4-FFF2-40B4-BE49-F238E27FC236}">
                    <a16:creationId xmlns:a16="http://schemas.microsoft.com/office/drawing/2014/main" id="{4943ABA1-1BD4-8740-0011-F19E30419216}"/>
                  </a:ext>
                </a:extLst>
              </p:cNvPr>
              <p:cNvSpPr txBox="1">
                <a:spLocks noRot="1" noChangeAspect="1" noMove="1" noResize="1" noEditPoints="1" noAdjustHandles="1" noChangeArrowheads="1" noChangeShapeType="1" noTextEdit="1"/>
              </p:cNvSpPr>
              <p:nvPr/>
            </p:nvSpPr>
            <p:spPr>
              <a:xfrm>
                <a:off x="1008000" y="1126800"/>
                <a:ext cx="9284676" cy="1469057"/>
              </a:xfrm>
              <a:prstGeom prst="rect">
                <a:avLst/>
              </a:prstGeom>
              <a:blipFill>
                <a:blip r:embed="rId4"/>
                <a:stretch>
                  <a:fillRect l="-683" b="-6838"/>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996F9D51-FB08-395C-157A-37C6F26AB46B}"/>
              </a:ext>
            </a:extLst>
          </p:cNvPr>
          <p:cNvSpPr txBox="1"/>
          <p:nvPr/>
        </p:nvSpPr>
        <p:spPr>
          <a:xfrm>
            <a:off x="1008000" y="2431499"/>
            <a:ext cx="9284676" cy="54034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例如：</a:t>
            </a:r>
          </a:p>
        </p:txBody>
      </p:sp>
    </p:spTree>
    <p:extLst>
      <p:ext uri="{BB962C8B-B14F-4D97-AF65-F5344CB8AC3E}">
        <p14:creationId xmlns:p14="http://schemas.microsoft.com/office/powerpoint/2010/main" val="3533191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FE3C2FA-9F7D-B952-8F40-FF823758DB71}"/>
              </a:ext>
            </a:extLst>
          </p:cNvPr>
          <p:cNvSpPr>
            <a:spLocks noGrp="1"/>
          </p:cNvSpPr>
          <p:nvPr>
            <p:ph type="sldNum" sz="quarter" idx="10"/>
          </p:nvPr>
        </p:nvSpPr>
        <p:spPr/>
        <p:txBody>
          <a:bodyPr/>
          <a:lstStyle/>
          <a:p>
            <a:fld id="{4B0D34C0-35A8-654C-9FBA-7B4E017BD630}" type="slidenum">
              <a:rPr lang="en-US" altLang="zh-CN" smtClean="0"/>
              <a:t>65</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5" name="页脚占位符 4">
            <a:extLst>
              <a:ext uri="{FF2B5EF4-FFF2-40B4-BE49-F238E27FC236}">
                <a16:creationId xmlns:a16="http://schemas.microsoft.com/office/drawing/2014/main" id="{E02BC27B-A27E-801C-9723-06A80563F9FE}"/>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71C93E7-97E2-CA98-B893-52952AF81A7C}"/>
                  </a:ext>
                </a:extLst>
              </p:cNvPr>
              <p:cNvSpPr txBox="1"/>
              <p:nvPr/>
            </p:nvSpPr>
            <p:spPr>
              <a:xfrm>
                <a:off x="1299189" y="2659606"/>
                <a:ext cx="10062634" cy="193899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zh-CN" sz="2000" b="1" dirty="0">
                    <a:latin typeface="+mj-ea"/>
                    <a:ea typeface="+mj-ea"/>
                  </a:rPr>
                  <a:t>假设</a:t>
                </a:r>
                <a:r>
                  <a:rPr lang="en-US" altLang="zh-CN" sz="2000" b="1" dirty="0">
                    <a:latin typeface="+mj-ea"/>
                    <a:ea typeface="+mj-ea"/>
                  </a:rPr>
                  <a:t>1</a:t>
                </a:r>
                <a:r>
                  <a:rPr lang="zh-CN" altLang="zh-CN" sz="2000" dirty="0">
                    <a:latin typeface="+mj-ea"/>
                    <a:ea typeface="+mj-ea"/>
                  </a:rPr>
                  <a:t>：对于关系</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oMath>
                </a14:m>
                <a:r>
                  <a:rPr lang="zh-CN" altLang="zh-CN" sz="2000" dirty="0">
                    <a:latin typeface="+mj-ea"/>
                    <a:ea typeface="+mj-ea"/>
                  </a:rPr>
                  <a:t>的连接属性</a:t>
                </a:r>
                <a14:m>
                  <m:oMath xmlns:m="http://schemas.openxmlformats.org/officeDocument/2006/math">
                    <m:r>
                      <a:rPr lang="en-US" altLang="zh-CN" sz="2000" b="0" i="1">
                        <a:latin typeface="Cambria Math" panose="02040503050406030204" pitchFamily="18" charset="0"/>
                        <a:ea typeface="+mj-ea"/>
                      </a:rPr>
                      <m:t>𝐴</m:t>
                    </m:r>
                  </m:oMath>
                </a14:m>
                <a:r>
                  <a:rPr lang="zh-CN" altLang="zh-CN" sz="2000" dirty="0">
                    <a:latin typeface="+mj-ea"/>
                    <a:ea typeface="+mj-ea"/>
                  </a:rPr>
                  <a:t>，若</a:t>
                </a:r>
                <a14:m>
                  <m:oMath xmlns:m="http://schemas.openxmlformats.org/officeDocument/2006/math">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oMath>
                </a14:m>
                <a:r>
                  <a:rPr lang="zh-CN" altLang="zh-CN" sz="2000" dirty="0">
                    <a:latin typeface="+mj-ea"/>
                    <a:ea typeface="+mj-ea"/>
                  </a:rPr>
                  <a:t>，则假设</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𝐴</m:t>
                        </m:r>
                      </m:e>
                      <m:sub>
                        <m:r>
                          <a:rPr lang="en-US" altLang="zh-CN" sz="2000" b="0" i="1">
                            <a:latin typeface="Cambria Math" panose="02040503050406030204" pitchFamily="18" charset="0"/>
                            <a:ea typeface="+mj-ea"/>
                          </a:rPr>
                          <m:t>2</m:t>
                        </m:r>
                      </m:sub>
                    </m:sSub>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𝐴</m:t>
                        </m:r>
                      </m:e>
                      <m:sub>
                        <m:r>
                          <a:rPr lang="en-US" altLang="zh-CN" sz="2000" b="0" i="1">
                            <a:latin typeface="Cambria Math" panose="02040503050406030204" pitchFamily="18" charset="0"/>
                            <a:ea typeface="+mj-ea"/>
                          </a:rPr>
                          <m:t>1</m:t>
                        </m:r>
                      </m:sub>
                    </m:sSub>
                  </m:oMath>
                </a14:m>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b="1" dirty="0">
                    <a:latin typeface="+mj-ea"/>
                    <a:ea typeface="+mj-ea"/>
                  </a:rPr>
                  <a:t>假设</a:t>
                </a:r>
                <a:r>
                  <a:rPr lang="en-US" altLang="zh-CN" sz="2000" b="1" dirty="0">
                    <a:latin typeface="+mj-ea"/>
                    <a:ea typeface="+mj-ea"/>
                  </a:rPr>
                  <a:t>2</a:t>
                </a:r>
                <a:r>
                  <a:rPr lang="zh-CN" altLang="zh-CN" sz="2000" dirty="0">
                    <a:latin typeface="+mj-ea"/>
                    <a:ea typeface="+mj-ea"/>
                  </a:rPr>
                  <a:t>：对于不是关系</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oMath>
                </a14:m>
                <a:r>
                  <a:rPr lang="zh-CN" altLang="zh-CN" sz="2000" dirty="0">
                    <a:latin typeface="+mj-ea"/>
                    <a:ea typeface="+mj-ea"/>
                  </a:rPr>
                  <a:t>中共有且不参与连接的属性</a:t>
                </a:r>
                <a14:m>
                  <m:oMath xmlns:m="http://schemas.openxmlformats.org/officeDocument/2006/math">
                    <m:r>
                      <a:rPr lang="en-US" altLang="zh-CN" sz="2000" b="0" i="1">
                        <a:latin typeface="Cambria Math" panose="02040503050406030204" pitchFamily="18" charset="0"/>
                        <a:ea typeface="+mj-ea"/>
                      </a:rPr>
                      <m:t>𝑊</m:t>
                    </m:r>
                  </m:oMath>
                </a14:m>
                <a:r>
                  <a:rPr lang="zh-CN" altLang="zh-CN" sz="2000" dirty="0">
                    <a:latin typeface="+mj-ea"/>
                    <a:ea typeface="+mj-ea"/>
                  </a:rPr>
                  <a:t>，不妨设</a:t>
                </a:r>
                <a14:m>
                  <m:oMath xmlns:m="http://schemas.openxmlformats.org/officeDocument/2006/math">
                    <m:r>
                      <a:rPr lang="en-US" altLang="zh-CN" sz="2000" b="0" i="1">
                        <a:latin typeface="Cambria Math" panose="02040503050406030204" pitchFamily="18" charset="0"/>
                        <a:ea typeface="+mj-ea"/>
                      </a:rPr>
                      <m:t>𝑊</m:t>
                    </m:r>
                  </m:oMath>
                </a14:m>
                <a:r>
                  <a:rPr lang="zh-CN" altLang="zh-CN" sz="2000" dirty="0">
                    <a:latin typeface="+mj-ea"/>
                    <a:ea typeface="+mj-ea"/>
                  </a:rPr>
                  <a:t>是关系</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oMath>
                </a14:m>
                <a:r>
                  <a:rPr lang="zh-CN" altLang="zh-CN" sz="2000" dirty="0">
                    <a:latin typeface="+mj-ea"/>
                    <a:ea typeface="+mj-ea"/>
                  </a:rPr>
                  <a:t>中的属性，则有</a:t>
                </a:r>
                <a14:m>
                  <m:oMath xmlns:m="http://schemas.openxmlformats.org/officeDocument/2006/math">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𝑊</m:t>
                        </m:r>
                      </m:e>
                    </m:d>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𝑊</m:t>
                        </m:r>
                      </m:e>
                    </m:d>
                  </m:oMath>
                </a14:m>
                <a:r>
                  <a:rPr lang="zh-CN" altLang="zh-CN" sz="2000" dirty="0">
                    <a:latin typeface="+mj-ea"/>
                    <a:ea typeface="+mj-ea"/>
                  </a:rPr>
                  <a:t>。</a:t>
                </a:r>
                <a:endParaRPr lang="en-US" altLang="zh-CN" sz="2000" dirty="0">
                  <a:latin typeface="+mj-ea"/>
                  <a:ea typeface="+mj-ea"/>
                </a:endParaRPr>
              </a:p>
              <a:p>
                <a:pPr marL="800100" lvl="1" indent="-342900">
                  <a:lnSpc>
                    <a:spcPct val="150000"/>
                  </a:lnSpc>
                  <a:buFont typeface="Arial" panose="020B0604020202020204" pitchFamily="34" charset="0"/>
                  <a:buChar char="•"/>
                </a:pPr>
                <a:r>
                  <a:rPr lang="zh-CN" altLang="zh-CN" sz="2000" dirty="0">
                    <a:latin typeface="+mj-ea"/>
                    <a:ea typeface="+mj-ea"/>
                  </a:rPr>
                  <a:t>认为不参与连接的属性的取值个数不会因为连接而减少。</a:t>
                </a:r>
              </a:p>
            </p:txBody>
          </p:sp>
        </mc:Choice>
        <mc:Fallback xmlns="">
          <p:sp>
            <p:nvSpPr>
              <p:cNvPr id="6" name="文本框 5">
                <a:extLst>
                  <a:ext uri="{FF2B5EF4-FFF2-40B4-BE49-F238E27FC236}">
                    <a16:creationId xmlns:a16="http://schemas.microsoft.com/office/drawing/2014/main" xmlns:a14="http://schemas.microsoft.com/office/drawing/2010/main" xmlns="" id="{C71C93E7-97E2-CA98-B893-52952AF81A7C}"/>
                  </a:ext>
                </a:extLst>
              </p:cNvPr>
              <p:cNvSpPr txBox="1">
                <a:spLocks noRot="1" noChangeAspect="1" noMove="1" noResize="1" noEditPoints="1" noAdjustHandles="1" noChangeArrowheads="1" noChangeShapeType="1" noTextEdit="1"/>
              </p:cNvSpPr>
              <p:nvPr/>
            </p:nvSpPr>
            <p:spPr>
              <a:xfrm>
                <a:off x="1299189" y="2659606"/>
                <a:ext cx="10062634" cy="1938992"/>
              </a:xfrm>
              <a:prstGeom prst="rect">
                <a:avLst/>
              </a:prstGeom>
              <a:blipFill rotWithShape="0">
                <a:blip r:embed="rId3"/>
                <a:stretch>
                  <a:fillRect l="-545" b="-1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943ABA1-1BD4-8740-0011-F19E30419216}"/>
                  </a:ext>
                </a:extLst>
              </p:cNvPr>
              <p:cNvSpPr txBox="1"/>
              <p:nvPr/>
            </p:nvSpPr>
            <p:spPr>
              <a:xfrm>
                <a:off x="985681" y="1295055"/>
                <a:ext cx="10894960" cy="1477328"/>
              </a:xfrm>
              <a:prstGeom prst="rect">
                <a:avLst/>
              </a:prstGeom>
              <a:noFill/>
            </p:spPr>
            <p:txBody>
              <a:bodyPr wrap="square">
                <a:spAutoFit/>
              </a:bodyPr>
              <a:lstStyle/>
              <a:p>
                <a:pPr marL="342900" indent="-342900">
                  <a:buFont typeface="Wingdings" panose="05000000000000000000" pitchFamily="2" charset="2"/>
                  <a:buChar char="Ø"/>
                </a:pP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𝑨</m:t>
                        </m:r>
                      </m:e>
                      <m:sub>
                        <m:r>
                          <a:rPr lang="en-US" altLang="zh-CN" sz="2200" b="1" i="1" kern="100">
                            <a:latin typeface="Cambria Math" panose="02040503050406030204" pitchFamily="18" charset="0"/>
                            <a:ea typeface="+mj-ea"/>
                            <a:cs typeface="Times New Roman" panose="02020603050405020304" pitchFamily="18" charset="0"/>
                          </a:rPr>
                          <m:t>𝟏</m:t>
                        </m:r>
                      </m:sub>
                    </m:sSub>
                    <m:r>
                      <a:rPr lang="zh-CN" altLang="zh-CN" sz="2200" b="1" kern="100">
                        <a:latin typeface="Cambria Math" panose="02040503050406030204" pitchFamily="18" charset="0"/>
                        <a:ea typeface="+mj-ea"/>
                        <a:cs typeface="Times New Roman" panose="02020603050405020304" pitchFamily="18" charset="0"/>
                      </a:rPr>
                      <m:t>和</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𝑨</m:t>
                        </m:r>
                      </m:e>
                      <m:sub>
                        <m:r>
                          <a:rPr lang="en-US" altLang="zh-CN" sz="2200" b="1" i="1" kern="100">
                            <a:latin typeface="Cambria Math" panose="02040503050406030204" pitchFamily="18" charset="0"/>
                            <a:ea typeface="+mj-ea"/>
                            <a:cs typeface="Times New Roman" panose="02020603050405020304" pitchFamily="18" charset="0"/>
                          </a:rPr>
                          <m:t>𝟐</m:t>
                        </m:r>
                      </m:sub>
                    </m:sSub>
                  </m:oMath>
                </a14:m>
                <a:r>
                  <a:rPr lang="zh-CN" altLang="zh-CN" sz="2200" b="1" kern="100" dirty="0">
                    <a:latin typeface="+mj-ea"/>
                    <a:ea typeface="+mj-ea"/>
                    <a:cs typeface="Times New Roman" panose="02020603050405020304" pitchFamily="18" charset="0"/>
                  </a:rPr>
                  <a:t>的关联情况在查询执行时才能确定</a:t>
                </a:r>
                <a:endParaRPr lang="en-US" altLang="zh-CN" sz="2200" b="1" kern="100" dirty="0">
                  <a:latin typeface="+mj-ea"/>
                  <a:ea typeface="+mj-ea"/>
                  <a:cs typeface="Times New Roman" panose="02020603050405020304" pitchFamily="18" charset="0"/>
                </a:endParaRPr>
              </a:p>
              <a:p>
                <a:pPr marL="342900" indent="-342900">
                  <a:buFont typeface="Wingdings" panose="05000000000000000000" pitchFamily="2" charset="2"/>
                  <a:buChar char="Ø"/>
                </a:pPr>
                <a:endParaRPr lang="en-US" altLang="zh-CN" sz="2200" b="1" kern="100" dirty="0">
                  <a:latin typeface="+mj-ea"/>
                  <a:ea typeface="+mj-ea"/>
                  <a:cs typeface="Times New Roman" panose="02020603050405020304" pitchFamily="18" charset="0"/>
                </a:endParaRPr>
              </a:p>
              <a:p>
                <a:pPr marL="342900" indent="-342900">
                  <a:buFont typeface="Wingdings" panose="05000000000000000000" pitchFamily="2" charset="2"/>
                  <a:buChar char="Ø"/>
                </a:pPr>
                <a:r>
                  <a:rPr lang="zh-CN" altLang="zh-CN" sz="2200" b="1" kern="100" dirty="0">
                    <a:latin typeface="+mj-ea"/>
                    <a:ea typeface="+mj-ea"/>
                    <a:cs typeface="Times New Roman" panose="02020603050405020304" pitchFamily="18" charset="0"/>
                  </a:rPr>
                  <a:t>为了在查询执行前估计，优化器作出以下</a:t>
                </a:r>
                <a:r>
                  <a:rPr lang="zh-CN" altLang="zh-CN" sz="2200" b="1" kern="100" dirty="0">
                    <a:solidFill>
                      <a:srgbClr val="701988"/>
                    </a:solidFill>
                    <a:latin typeface="+mj-ea"/>
                    <a:ea typeface="+mj-ea"/>
                    <a:cs typeface="Times New Roman" panose="02020603050405020304" pitchFamily="18" charset="0"/>
                  </a:rPr>
                  <a:t>简化假设</a:t>
                </a:r>
                <a:r>
                  <a:rPr lang="zh-CN" altLang="zh-CN" sz="2200" b="1" kern="100" dirty="0">
                    <a:latin typeface="+mj-ea"/>
                    <a:ea typeface="+mj-ea"/>
                    <a:cs typeface="Times New Roman" panose="02020603050405020304" pitchFamily="18" charset="0"/>
                  </a:rPr>
                  <a:t>：</a:t>
                </a:r>
              </a:p>
              <a:p>
                <a:pPr marL="285750" indent="-285750">
                  <a:buFont typeface="Wingdings" pitchFamily="2" charset="2"/>
                  <a:buChar char="p"/>
                </a:pPr>
                <a:endParaRPr lang="zh-CN" altLang="en-US" sz="2400" b="1" dirty="0">
                  <a:latin typeface="+mj-ea"/>
                  <a:ea typeface="+mj-ea"/>
                </a:endParaRPr>
              </a:p>
            </p:txBody>
          </p:sp>
        </mc:Choice>
        <mc:Fallback xmlns="">
          <p:sp>
            <p:nvSpPr>
              <p:cNvPr id="8" name="文本框 7">
                <a:extLst>
                  <a:ext uri="{FF2B5EF4-FFF2-40B4-BE49-F238E27FC236}">
                    <a16:creationId xmlns:a16="http://schemas.microsoft.com/office/drawing/2014/main" xmlns:a14="http://schemas.microsoft.com/office/drawing/2010/main" xmlns="" id="{4943ABA1-1BD4-8740-0011-F19E30419216}"/>
                  </a:ext>
                </a:extLst>
              </p:cNvPr>
              <p:cNvSpPr txBox="1">
                <a:spLocks noRot="1" noChangeAspect="1" noMove="1" noResize="1" noEditPoints="1" noAdjustHandles="1" noChangeArrowheads="1" noChangeShapeType="1" noTextEdit="1"/>
              </p:cNvSpPr>
              <p:nvPr/>
            </p:nvSpPr>
            <p:spPr>
              <a:xfrm>
                <a:off x="985681" y="1295055"/>
                <a:ext cx="10894960" cy="1477328"/>
              </a:xfrm>
              <a:prstGeom prst="rect">
                <a:avLst/>
              </a:prstGeom>
              <a:blipFill rotWithShape="0">
                <a:blip r:embed="rId4"/>
                <a:stretch>
                  <a:fillRect l="-616" t="-24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C60E70B-856A-E539-F26C-408B1387994A}"/>
                  </a:ext>
                </a:extLst>
              </p:cNvPr>
              <p:cNvSpPr txBox="1"/>
              <p:nvPr/>
            </p:nvSpPr>
            <p:spPr>
              <a:xfrm>
                <a:off x="1374709" y="5053775"/>
                <a:ext cx="9441315" cy="40011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zh-CN" sz="2000" dirty="0">
                    <a:latin typeface="+mj-ea"/>
                    <a:ea typeface="+mj-ea"/>
                  </a:rPr>
                  <a:t>在属性</a:t>
                </a:r>
                <a14:m>
                  <m:oMath xmlns:m="http://schemas.openxmlformats.org/officeDocument/2006/math">
                    <m:r>
                      <a:rPr lang="en-US" altLang="zh-CN" sz="2000">
                        <a:latin typeface="Cambria Math" panose="02040503050406030204" pitchFamily="18" charset="0"/>
                        <a:ea typeface="+mj-ea"/>
                      </a:rPr>
                      <m:t>𝐴</m:t>
                    </m:r>
                  </m:oMath>
                </a14:m>
                <a:r>
                  <a:rPr lang="zh-CN" altLang="zh-CN" sz="2000" dirty="0">
                    <a:latin typeface="+mj-ea"/>
                    <a:ea typeface="+mj-ea"/>
                  </a:rPr>
                  <a:t>是</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oMath>
                </a14:m>
                <a:r>
                  <a:rPr lang="zh-CN" altLang="zh-CN" sz="2000" dirty="0">
                    <a:latin typeface="+mj-ea"/>
                    <a:ea typeface="+mj-ea"/>
                  </a:rPr>
                  <a:t>的主键，并且是</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oMath>
                </a14:m>
                <a:r>
                  <a:rPr lang="zh-CN" altLang="zh-CN" sz="2000" dirty="0">
                    <a:latin typeface="+mj-ea"/>
                    <a:ea typeface="+mj-ea"/>
                  </a:rPr>
                  <a:t>的外键的</a:t>
                </a:r>
                <a:r>
                  <a:rPr lang="zh-CN" altLang="zh-CN" sz="2000" b="1" dirty="0">
                    <a:solidFill>
                      <a:srgbClr val="701988"/>
                    </a:solidFill>
                    <a:latin typeface="+mj-ea"/>
                    <a:ea typeface="+mj-ea"/>
                  </a:rPr>
                  <a:t>主键</a:t>
                </a:r>
                <a:r>
                  <a:rPr lang="en-US" altLang="zh-CN" sz="2000" b="1" dirty="0">
                    <a:solidFill>
                      <a:srgbClr val="701988"/>
                    </a:solidFill>
                    <a:latin typeface="+mj-ea"/>
                    <a:ea typeface="+mj-ea"/>
                  </a:rPr>
                  <a:t>-</a:t>
                </a:r>
                <a:r>
                  <a:rPr lang="zh-CN" altLang="zh-CN" sz="2000" b="1" dirty="0">
                    <a:solidFill>
                      <a:srgbClr val="701988"/>
                    </a:solidFill>
                    <a:latin typeface="+mj-ea"/>
                    <a:ea typeface="+mj-ea"/>
                  </a:rPr>
                  <a:t>外键</a:t>
                </a:r>
                <a:r>
                  <a:rPr lang="zh-CN" altLang="zh-CN" sz="2000" dirty="0">
                    <a:latin typeface="+mj-ea"/>
                    <a:ea typeface="+mj-ea"/>
                  </a:rPr>
                  <a:t>连接的情况下成立 </a:t>
                </a:r>
                <a:endParaRPr lang="zh-CN" altLang="en-US" sz="2000" dirty="0">
                  <a:latin typeface="+mj-ea"/>
                  <a:ea typeface="+mj-ea"/>
                </a:endParaRPr>
              </a:p>
            </p:txBody>
          </p:sp>
        </mc:Choice>
        <mc:Fallback xmlns="">
          <p:sp>
            <p:nvSpPr>
              <p:cNvPr id="4" name="文本框 3">
                <a:extLst>
                  <a:ext uri="{FF2B5EF4-FFF2-40B4-BE49-F238E27FC236}">
                    <a16:creationId xmlns:a16="http://schemas.microsoft.com/office/drawing/2014/main" xmlns:a14="http://schemas.microsoft.com/office/drawing/2010/main" xmlns="" id="{DC60E70B-856A-E539-F26C-408B1387994A}"/>
                  </a:ext>
                </a:extLst>
              </p:cNvPr>
              <p:cNvSpPr txBox="1">
                <a:spLocks noRot="1" noChangeAspect="1" noMove="1" noResize="1" noEditPoints="1" noAdjustHandles="1" noChangeArrowheads="1" noChangeShapeType="1" noTextEdit="1"/>
              </p:cNvSpPr>
              <p:nvPr/>
            </p:nvSpPr>
            <p:spPr>
              <a:xfrm>
                <a:off x="1374709" y="5053775"/>
                <a:ext cx="9441315" cy="400110"/>
              </a:xfrm>
              <a:prstGeom prst="rect">
                <a:avLst/>
              </a:prstGeom>
              <a:blipFill rotWithShape="0">
                <a:blip r:embed="rId5"/>
                <a:stretch>
                  <a:fillRect/>
                </a:stretch>
              </a:blipFill>
              <a:ln>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Tree>
    <p:extLst>
      <p:ext uri="{BB962C8B-B14F-4D97-AF65-F5344CB8AC3E}">
        <p14:creationId xmlns:p14="http://schemas.microsoft.com/office/powerpoint/2010/main" val="36571572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FE3C2FA-9F7D-B952-8F40-FF823758DB71}"/>
              </a:ext>
            </a:extLst>
          </p:cNvPr>
          <p:cNvSpPr>
            <a:spLocks noGrp="1"/>
          </p:cNvSpPr>
          <p:nvPr>
            <p:ph type="sldNum" sz="quarter" idx="10"/>
          </p:nvPr>
        </p:nvSpPr>
        <p:spPr/>
        <p:txBody>
          <a:bodyPr/>
          <a:lstStyle/>
          <a:p>
            <a:fld id="{4B0D34C0-35A8-654C-9FBA-7B4E017BD630}" type="slidenum">
              <a:rPr lang="en-US" altLang="zh-CN" smtClean="0"/>
              <a:t>66</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4" name="页脚占位符 3">
            <a:extLst>
              <a:ext uri="{FF2B5EF4-FFF2-40B4-BE49-F238E27FC236}">
                <a16:creationId xmlns:a16="http://schemas.microsoft.com/office/drawing/2014/main" id="{5A41A980-93FF-B092-26B5-EB02CD9A6387}"/>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C000441-9570-D8C5-567A-CC1649A0B64A}"/>
                  </a:ext>
                </a:extLst>
              </p:cNvPr>
              <p:cNvSpPr txBox="1"/>
              <p:nvPr/>
            </p:nvSpPr>
            <p:spPr>
              <a:xfrm>
                <a:off x="1008000" y="1126800"/>
                <a:ext cx="11895905" cy="3223768"/>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zh-CN" altLang="zh-CN" sz="2400" b="1" kern="100" dirty="0">
                    <a:effectLst/>
                    <a:latin typeface="+mj-ea"/>
                    <a:ea typeface="+mj-ea"/>
                    <a:cs typeface="Times New Roman" panose="02020603050405020304" pitchFamily="18" charset="0"/>
                  </a:rPr>
                  <a:t>基于以上假设，可以对</a:t>
                </a:r>
                <a14:m>
                  <m:oMath xmlns:m="http://schemas.openxmlformats.org/officeDocument/2006/math">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𝟏</m:t>
                        </m:r>
                      </m:sub>
                    </m:sSub>
                    <m:r>
                      <a:rPr lang="en-US" altLang="zh-CN" sz="2400" b="1" i="1" kern="100">
                        <a:effectLst/>
                        <a:latin typeface="Cambria Math" panose="02040503050406030204" pitchFamily="18" charset="0"/>
                        <a:ea typeface="+mj-ea"/>
                        <a:cs typeface="Times New Roman" panose="02020603050405020304" pitchFamily="18" charset="0"/>
                      </a:rPr>
                      <m:t>⋈</m:t>
                    </m:r>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𝟐</m:t>
                        </m:r>
                      </m:sub>
                    </m:sSub>
                  </m:oMath>
                </a14:m>
                <a:r>
                  <a:rPr lang="zh-CN" altLang="zh-CN" sz="2400" b="1" kern="100" dirty="0">
                    <a:effectLst/>
                    <a:latin typeface="+mj-ea"/>
                    <a:ea typeface="+mj-ea"/>
                    <a:cs typeface="Times New Roman" panose="02020603050405020304" pitchFamily="18" charset="0"/>
                  </a:rPr>
                  <a:t>的基数估计作下述推导：</a:t>
                </a:r>
                <a:endParaRPr lang="en-US" altLang="zh-CN" sz="24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根</a:t>
                </a:r>
                <a:r>
                  <a:rPr lang="zh-CN" altLang="zh-CN" sz="2000" kern="100" dirty="0">
                    <a:effectLst/>
                    <a:latin typeface="+mj-ea"/>
                    <a:ea typeface="+mj-ea"/>
                    <a:cs typeface="Times New Roman" panose="02020603050405020304" pitchFamily="18" charset="0"/>
                  </a:rPr>
                  <a:t>据</a:t>
                </a:r>
                <a:r>
                  <a:rPr lang="zh-CN" altLang="zh-CN" sz="2000" b="1" kern="100" dirty="0">
                    <a:solidFill>
                      <a:srgbClr val="701988"/>
                    </a:solidFill>
                    <a:effectLst/>
                    <a:latin typeface="+mj-ea"/>
                    <a:ea typeface="+mj-ea"/>
                    <a:cs typeface="Times New Roman" panose="02020603050405020304" pitchFamily="18" charset="0"/>
                  </a:rPr>
                  <a:t>对称性</a:t>
                </a:r>
                <a:r>
                  <a:rPr lang="zh-CN" altLang="zh-CN" sz="2000" kern="100" dirty="0">
                    <a:effectLst/>
                    <a:latin typeface="+mj-ea"/>
                    <a:ea typeface="+mj-ea"/>
                    <a:cs typeface="Times New Roman" panose="02020603050405020304" pitchFamily="18" charset="0"/>
                  </a:rPr>
                  <a:t>，不妨设</a:t>
                </a:r>
                <a14:m>
                  <m:oMath xmlns:m="http://schemas.openxmlformats.org/officeDocument/2006/math">
                    <m:r>
                      <a:rPr lang="en-US" altLang="zh-CN" sz="2000" i="1" kern="100">
                        <a:effectLst/>
                        <a:latin typeface="Cambria Math" panose="02040503050406030204" pitchFamily="18" charset="0"/>
                        <a:ea typeface="+mj-ea"/>
                        <a:cs typeface="Times New Roman" panose="02020603050405020304" pitchFamily="18" charset="0"/>
                      </a:rPr>
                      <m:t>𝑉</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i="1" kern="100">
                            <a:effectLst/>
                            <a:latin typeface="Cambria Math" panose="02040503050406030204" pitchFamily="18" charset="0"/>
                            <a:ea typeface="+mj-ea"/>
                            <a:cs typeface="Times New Roman" panose="02020603050405020304" pitchFamily="18" charset="0"/>
                          </a:rPr>
                          <m:t>𝐴</m:t>
                        </m:r>
                      </m:e>
                    </m:d>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i="1" kern="100">
                        <a:effectLst/>
                        <a:latin typeface="Cambria Math" panose="02040503050406030204" pitchFamily="18" charset="0"/>
                        <a:ea typeface="+mj-ea"/>
                        <a:cs typeface="Times New Roman" panose="02020603050405020304" pitchFamily="18" charset="0"/>
                      </a:rPr>
                      <m:t>𝑉</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i="1" kern="100">
                            <a:effectLst/>
                            <a:latin typeface="Cambria Math" panose="02040503050406030204" pitchFamily="18" charset="0"/>
                            <a:ea typeface="+mj-ea"/>
                            <a:cs typeface="Times New Roman" panose="02020603050405020304" pitchFamily="18" charset="0"/>
                          </a:rPr>
                          <m:t>𝐴</m:t>
                        </m:r>
                      </m:e>
                    </m:d>
                  </m:oMath>
                </a14:m>
                <a:endParaRPr lang="en-US" altLang="zh-CN" sz="2000" dirty="0">
                  <a:latin typeface="+mj-ea"/>
                  <a:ea typeface="+mj-ea"/>
                </a:endParaRPr>
              </a:p>
              <a:p>
                <a:pPr marL="342900" indent="-342900">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根</a:t>
                </a:r>
                <a:r>
                  <a:rPr lang="zh-CN" altLang="zh-CN" sz="2000" kern="100" dirty="0">
                    <a:effectLst/>
                    <a:latin typeface="+mj-ea"/>
                    <a:ea typeface="+mj-ea"/>
                    <a:cs typeface="Times New Roman" panose="02020603050405020304" pitchFamily="18" charset="0"/>
                  </a:rPr>
                  <a:t>据</a:t>
                </a:r>
                <a:r>
                  <a:rPr lang="zh-CN" altLang="zh-CN" sz="2000" b="1" kern="100" dirty="0">
                    <a:solidFill>
                      <a:srgbClr val="701988"/>
                    </a:solidFill>
                    <a:effectLst/>
                    <a:latin typeface="+mj-ea"/>
                    <a:ea typeface="+mj-ea"/>
                    <a:cs typeface="Times New Roman" panose="02020603050405020304" pitchFamily="18" charset="0"/>
                  </a:rPr>
                  <a:t>假设</a:t>
                </a:r>
                <a:r>
                  <a:rPr lang="en-US" altLang="zh-CN" sz="2000" b="1" kern="100" dirty="0">
                    <a:solidFill>
                      <a:srgbClr val="701988"/>
                    </a:solidFill>
                    <a:effectLst/>
                    <a:latin typeface="+mj-ea"/>
                    <a:ea typeface="+mj-ea"/>
                    <a:cs typeface="Times New Roman" panose="02020603050405020304" pitchFamily="18" charset="0"/>
                  </a:rPr>
                  <a:t>1</a:t>
                </a:r>
                <a:r>
                  <a:rPr lang="zh-CN" altLang="zh-CN" sz="2000" kern="100" dirty="0">
                    <a:effectLst/>
                    <a:latin typeface="+mj-ea"/>
                    <a:ea typeface="+mj-ea"/>
                    <a:cs typeface="Times New Roman" panose="02020603050405020304" pitchFamily="18" charset="0"/>
                  </a:rPr>
                  <a:t>，</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2</m:t>
                        </m:r>
                      </m:sub>
                    </m:sSub>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1</m:t>
                        </m:r>
                      </m:sub>
                    </m:sSub>
                  </m:oMath>
                </a14:m>
                <a:r>
                  <a:rPr lang="zh-CN" altLang="zh-CN" sz="2000" kern="100" dirty="0">
                    <a:effectLst/>
                    <a:latin typeface="+mj-ea"/>
                    <a:ea typeface="+mj-ea"/>
                    <a:cs typeface="Times New Roman" panose="02020603050405020304" pitchFamily="18" charset="0"/>
                  </a:rPr>
                  <a:t>，因此</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2</m:t>
                        </m:r>
                      </m:sub>
                    </m:sSub>
                  </m:oMath>
                </a14:m>
                <a:r>
                  <a:rPr lang="zh-CN" altLang="zh-CN" sz="2000" kern="100" dirty="0">
                    <a:effectLst/>
                    <a:latin typeface="+mj-ea"/>
                    <a:ea typeface="+mj-ea"/>
                    <a:cs typeface="Times New Roman" panose="02020603050405020304" pitchFamily="18" charset="0"/>
                  </a:rPr>
                  <a:t>的任何一个取值都能在</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𝐴</m:t>
                        </m:r>
                      </m:e>
                      <m:sub>
                        <m:r>
                          <a:rPr lang="en-US" altLang="zh-CN" sz="2000" i="1" kern="100">
                            <a:effectLst/>
                            <a:latin typeface="Cambria Math" panose="02040503050406030204" pitchFamily="18" charset="0"/>
                            <a:ea typeface="+mj-ea"/>
                            <a:cs typeface="Times New Roman" panose="02020603050405020304" pitchFamily="18" charset="0"/>
                          </a:rPr>
                          <m:t>1</m:t>
                        </m:r>
                      </m:sub>
                    </m:sSub>
                  </m:oMath>
                </a14:m>
                <a:r>
                  <a:rPr lang="zh-CN" altLang="zh-CN" sz="2000" kern="100" dirty="0">
                    <a:effectLst/>
                    <a:latin typeface="+mj-ea"/>
                    <a:ea typeface="+mj-ea"/>
                    <a:cs typeface="Times New Roman" panose="02020603050405020304" pitchFamily="18" charset="0"/>
                  </a:rPr>
                  <a:t>中找到匹配</a:t>
                </a:r>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根</a:t>
                </a:r>
                <a:r>
                  <a:rPr lang="zh-CN" altLang="zh-CN" sz="2000" kern="100" dirty="0">
                    <a:effectLst/>
                    <a:latin typeface="+mj-ea"/>
                    <a:ea typeface="+mj-ea"/>
                    <a:cs typeface="Times New Roman" panose="02020603050405020304" pitchFamily="18" charset="0"/>
                  </a:rPr>
                  <a:t>据</a:t>
                </a:r>
                <a:r>
                  <a:rPr lang="zh-CN" altLang="zh-CN" sz="2000" b="1" kern="100" dirty="0">
                    <a:solidFill>
                      <a:srgbClr val="701988"/>
                    </a:solidFill>
                    <a:effectLst/>
                    <a:latin typeface="+mj-ea"/>
                    <a:ea typeface="+mj-ea"/>
                    <a:cs typeface="Times New Roman" panose="02020603050405020304" pitchFamily="18" charset="0"/>
                  </a:rPr>
                  <a:t>均匀分布假设</a:t>
                </a:r>
                <a:r>
                  <a:rPr lang="zh-CN" altLang="zh-CN" sz="2000" kern="100" dirty="0">
                    <a:effectLst/>
                    <a:latin typeface="+mj-ea"/>
                    <a:ea typeface="+mj-ea"/>
                    <a:cs typeface="Times New Roman" panose="02020603050405020304" pitchFamily="18" charset="0"/>
                  </a:rPr>
                  <a:t>，关系</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oMath>
                </a14:m>
                <a:r>
                  <a:rPr lang="zh-CN" altLang="zh-CN" sz="2000" kern="100" dirty="0">
                    <a:effectLst/>
                    <a:latin typeface="+mj-ea"/>
                    <a:ea typeface="+mj-ea"/>
                    <a:cs typeface="Times New Roman" panose="02020603050405020304" pitchFamily="18" charset="0"/>
                  </a:rPr>
                  <a:t>中属性</a:t>
                </a:r>
                <a14:m>
                  <m:oMath xmlns:m="http://schemas.openxmlformats.org/officeDocument/2006/math">
                    <m:r>
                      <a:rPr lang="en-US" altLang="zh-CN" sz="2000" i="1" kern="100">
                        <a:effectLst/>
                        <a:latin typeface="Cambria Math" panose="02040503050406030204" pitchFamily="18" charset="0"/>
                        <a:ea typeface="+mj-ea"/>
                        <a:cs typeface="Times New Roman" panose="02020603050405020304" pitchFamily="18" charset="0"/>
                      </a:rPr>
                      <m:t>𝐴</m:t>
                    </m:r>
                  </m:oMath>
                </a14:m>
                <a:r>
                  <a:rPr lang="zh-CN" altLang="zh-CN" sz="2000" kern="100" dirty="0">
                    <a:effectLst/>
                    <a:latin typeface="+mj-ea"/>
                    <a:ea typeface="+mj-ea"/>
                    <a:cs typeface="Times New Roman" panose="02020603050405020304" pitchFamily="18" charset="0"/>
                  </a:rPr>
                  <a:t>的每一个取值出现的频率均为</a:t>
                </a:r>
                <a14:m>
                  <m:oMath xmlns:m="http://schemas.openxmlformats.org/officeDocument/2006/math">
                    <m:r>
                      <a:rPr lang="en-US" altLang="zh-CN" sz="2000" i="1" kern="100">
                        <a:effectLst/>
                        <a:latin typeface="Cambria Math" panose="02040503050406030204" pitchFamily="18" charset="0"/>
                        <a:ea typeface="+mj-ea"/>
                        <a:cs typeface="Times New Roman" panose="02020603050405020304" pitchFamily="18" charset="0"/>
                      </a:rPr>
                      <m:t>1/</m:t>
                    </m:r>
                    <m:r>
                      <a:rPr lang="en-US" altLang="zh-CN" sz="2000" i="1" kern="100">
                        <a:effectLst/>
                        <a:latin typeface="Cambria Math" panose="02040503050406030204" pitchFamily="18" charset="0"/>
                        <a:ea typeface="+mj-ea"/>
                        <a:cs typeface="Times New Roman" panose="02020603050405020304" pitchFamily="18" charset="0"/>
                      </a:rPr>
                      <m:t>𝑉</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i="1" kern="100">
                            <a:effectLst/>
                            <a:latin typeface="Cambria Math" panose="02040503050406030204" pitchFamily="18" charset="0"/>
                            <a:ea typeface="+mj-ea"/>
                            <a:cs typeface="Times New Roman" panose="02020603050405020304" pitchFamily="18" charset="0"/>
                          </a:rPr>
                          <m:t>𝐴</m:t>
                        </m:r>
                      </m:e>
                    </m:d>
                  </m:oMath>
                </a14:m>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000" kern="100" dirty="0">
                    <a:effectLst/>
                    <a:latin typeface="+mj-ea"/>
                    <a:ea typeface="+mj-ea"/>
                    <a:cs typeface="Times New Roman" panose="02020603050405020304" pitchFamily="18" charset="0"/>
                  </a:rPr>
                  <a:t>因</a:t>
                </a:r>
                <a:r>
                  <a:rPr lang="zh-CN" altLang="en-US" sz="2000" kern="100" dirty="0">
                    <a:effectLst/>
                    <a:latin typeface="+mj-ea"/>
                    <a:ea typeface="+mj-ea"/>
                    <a:cs typeface="Times New Roman" panose="02020603050405020304" pitchFamily="18" charset="0"/>
                  </a:rPr>
                  <a:t>此</a:t>
                </a:r>
                <a:r>
                  <a:rPr lang="zh-CN" altLang="zh-CN" sz="2000" kern="100" dirty="0">
                    <a:effectLst/>
                    <a:latin typeface="+mj-ea"/>
                    <a:ea typeface="+mj-ea"/>
                    <a:cs typeface="Times New Roman" panose="02020603050405020304" pitchFamily="18" charset="0"/>
                  </a:rPr>
                  <a:t>对于关系</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oMath>
                </a14:m>
                <a:r>
                  <a:rPr lang="zh-CN" altLang="zh-CN" sz="2000" kern="100" dirty="0">
                    <a:effectLst/>
                    <a:latin typeface="+mj-ea"/>
                    <a:ea typeface="+mj-ea"/>
                    <a:cs typeface="Times New Roman" panose="02020603050405020304" pitchFamily="18" charset="0"/>
                  </a:rPr>
                  <a:t>中的</a:t>
                </a:r>
                <a14:m>
                  <m:oMath xmlns:m="http://schemas.openxmlformats.org/officeDocument/2006/math">
                    <m:r>
                      <a:rPr lang="en-US" altLang="zh-CN" sz="2000" b="0" i="1" kern="100" smtClean="0">
                        <a:effectLst/>
                        <a:latin typeface="Cambria Math" panose="02040503050406030204" pitchFamily="18" charset="0"/>
                        <a:ea typeface="+mj-ea"/>
                        <a:cs typeface="Times New Roman" panose="02020603050405020304" pitchFamily="18" charset="0"/>
                      </a:rPr>
                      <m:t>𝑇</m:t>
                    </m:r>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r>
                      <a:rPr lang="en-US" altLang="zh-CN" sz="2000" i="1" kern="100">
                        <a:effectLst/>
                        <a:latin typeface="Cambria Math" panose="02040503050406030204" pitchFamily="18" charset="0"/>
                        <a:ea typeface="+mj-ea"/>
                        <a:cs typeface="Times New Roman" panose="02020603050405020304" pitchFamily="18" charset="0"/>
                      </a:rPr>
                      <m:t>)</m:t>
                    </m:r>
                  </m:oMath>
                </a14:m>
                <a:r>
                  <a:rPr lang="zh-CN" altLang="zh-CN" sz="2000" kern="100" dirty="0">
                    <a:effectLst/>
                    <a:latin typeface="+mj-ea"/>
                    <a:ea typeface="+mj-ea"/>
                    <a:cs typeface="Times New Roman" panose="02020603050405020304" pitchFamily="18" charset="0"/>
                  </a:rPr>
                  <a:t>个元组，每一个都能在</a:t>
                </a:r>
                <a14:m>
                  <m:oMath xmlns:m="http://schemas.openxmlformats.org/officeDocument/2006/math">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oMath>
                </a14:m>
                <a:r>
                  <a:rPr lang="zh-CN" altLang="zh-CN" sz="2000" kern="100" dirty="0">
                    <a:effectLst/>
                    <a:latin typeface="+mj-ea"/>
                    <a:ea typeface="+mj-ea"/>
                    <a:cs typeface="Times New Roman" panose="02020603050405020304" pitchFamily="18" charset="0"/>
                  </a:rPr>
                  <a:t>中找到</a:t>
                </a:r>
                <a14:m>
                  <m:oMath xmlns:m="http://schemas.openxmlformats.org/officeDocument/2006/math">
                    <m:r>
                      <a:rPr lang="en-US" altLang="zh-CN" sz="2000" b="0" i="1" kern="100" smtClean="0">
                        <a:effectLst/>
                        <a:latin typeface="Cambria Math" panose="02040503050406030204" pitchFamily="18" charset="0"/>
                        <a:ea typeface="+mj-ea"/>
                        <a:cs typeface="Times New Roman" panose="02020603050405020304" pitchFamily="18" charset="0"/>
                      </a:rPr>
                      <m:t>𝑇</m:t>
                    </m:r>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i="1" kern="100">
                        <a:effectLst/>
                        <a:latin typeface="Cambria Math" panose="02040503050406030204" pitchFamily="18" charset="0"/>
                        <a:ea typeface="+mj-ea"/>
                        <a:cs typeface="Times New Roman" panose="02020603050405020304" pitchFamily="18" charset="0"/>
                      </a:rPr>
                      <m:t>𝑉</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i="1" kern="100">
                            <a:effectLst/>
                            <a:latin typeface="Cambria Math" panose="02040503050406030204" pitchFamily="18" charset="0"/>
                            <a:ea typeface="+mj-ea"/>
                            <a:cs typeface="Times New Roman" panose="02020603050405020304" pitchFamily="18" charset="0"/>
                          </a:rPr>
                          <m:t>𝐴</m:t>
                        </m:r>
                      </m:e>
                    </m:d>
                  </m:oMath>
                </a14:m>
                <a:r>
                  <a:rPr lang="zh-CN" altLang="zh-CN" sz="2000" kern="100" dirty="0">
                    <a:effectLst/>
                    <a:latin typeface="+mj-ea"/>
                    <a:ea typeface="+mj-ea"/>
                    <a:cs typeface="Times New Roman" panose="02020603050405020304" pitchFamily="18" charset="0"/>
                  </a:rPr>
                  <a:t>个匹配</a:t>
                </a:r>
                <a:endParaRPr lang="en-US" altLang="zh-CN" sz="2000" kern="100" dirty="0">
                  <a:effectLst/>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000" kern="100" dirty="0">
                    <a:effectLst/>
                    <a:latin typeface="+mj-ea"/>
                    <a:ea typeface="+mj-ea"/>
                    <a:cs typeface="Times New Roman" panose="02020603050405020304" pitchFamily="18" charset="0"/>
                  </a:rPr>
                  <a:t>所以连接结果的大小估计值为</a:t>
                </a:r>
                <a14:m>
                  <m:oMath xmlns:m="http://schemas.openxmlformats.org/officeDocument/2006/math">
                    <m:f>
                      <m:fPr>
                        <m:ctrlPr>
                          <a:rPr lang="zh-CN" altLang="zh-CN" sz="2000" i="1" kern="100">
                            <a:effectLst/>
                            <a:latin typeface="Cambria Math" panose="02040503050406030204" pitchFamily="18" charset="0"/>
                            <a:ea typeface="+mj-ea"/>
                            <a:cs typeface="Times New Roman" panose="02020603050405020304" pitchFamily="18" charset="0"/>
                          </a:rPr>
                        </m:ctrlPr>
                      </m:fPr>
                      <m:num>
                        <m:r>
                          <a:rPr lang="en-US" altLang="zh-CN" sz="2000" b="0" i="1" kern="100" smtClean="0">
                            <a:effectLst/>
                            <a:latin typeface="Cambria Math" panose="02040503050406030204" pitchFamily="18" charset="0"/>
                            <a:ea typeface="+mj-ea"/>
                            <a:cs typeface="Times New Roman" panose="02020603050405020304" pitchFamily="18" charset="0"/>
                          </a:rPr>
                          <m:t>𝑇</m:t>
                        </m:r>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b="0" i="1" kern="100" smtClean="0">
                            <a:effectLst/>
                            <a:latin typeface="Cambria Math" panose="02040503050406030204" pitchFamily="18" charset="0"/>
                            <a:ea typeface="+mj-ea"/>
                            <a:cs typeface="Times New Roman" panose="02020603050405020304" pitchFamily="18" charset="0"/>
                          </a:rPr>
                          <m:t>𝑇</m:t>
                        </m:r>
                        <m:r>
                          <a:rPr lang="en-US" altLang="zh-CN" sz="2000" i="1" kern="100">
                            <a:effectLst/>
                            <a:latin typeface="Cambria Math" panose="02040503050406030204" pitchFamily="18" charset="0"/>
                            <a:ea typeface="+mj-ea"/>
                            <a:cs typeface="Times New Roman" panose="02020603050405020304" pitchFamily="18" charset="0"/>
                          </a:rPr>
                          <m:t>(</m:t>
                        </m:r>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2</m:t>
                            </m:r>
                          </m:sub>
                        </m:sSub>
                        <m:r>
                          <a:rPr lang="en-US" altLang="zh-CN" sz="2000" i="1" kern="100">
                            <a:effectLst/>
                            <a:latin typeface="Cambria Math" panose="02040503050406030204" pitchFamily="18" charset="0"/>
                            <a:ea typeface="+mj-ea"/>
                            <a:cs typeface="Times New Roman" panose="02020603050405020304" pitchFamily="18" charset="0"/>
                          </a:rPr>
                          <m:t>)</m:t>
                        </m:r>
                      </m:num>
                      <m:den>
                        <m:r>
                          <a:rPr lang="en-US" altLang="zh-CN" sz="2000" i="1" kern="100">
                            <a:effectLst/>
                            <a:latin typeface="Cambria Math" panose="02040503050406030204" pitchFamily="18" charset="0"/>
                            <a:ea typeface="+mj-ea"/>
                            <a:cs typeface="Times New Roman" panose="02020603050405020304" pitchFamily="18" charset="0"/>
                          </a:rPr>
                          <m:t>𝑉</m:t>
                        </m:r>
                        <m:d>
                          <m:dPr>
                            <m:ctrlPr>
                              <a:rPr lang="zh-CN" altLang="zh-CN" sz="2000" i="1" kern="100">
                                <a:effectLst/>
                                <a:latin typeface="Cambria Math" panose="02040503050406030204" pitchFamily="18" charset="0"/>
                                <a:ea typeface="+mj-ea"/>
                                <a:cs typeface="Times New Roman" panose="02020603050405020304" pitchFamily="18" charset="0"/>
                              </a:rPr>
                            </m:ctrlPr>
                          </m:dPr>
                          <m:e>
                            <m:sSub>
                              <m:sSubPr>
                                <m:ctrlPr>
                                  <a:rPr lang="zh-CN" altLang="zh-CN" sz="2000" i="1" kern="100">
                                    <a:effectLst/>
                                    <a:latin typeface="Cambria Math" panose="02040503050406030204" pitchFamily="18" charset="0"/>
                                    <a:ea typeface="+mj-ea"/>
                                    <a:cs typeface="Times New Roman" panose="02020603050405020304" pitchFamily="18" charset="0"/>
                                  </a:rPr>
                                </m:ctrlPr>
                              </m:sSubPr>
                              <m:e>
                                <m:r>
                                  <a:rPr lang="en-US" altLang="zh-CN" sz="2000" i="1" kern="100">
                                    <a:effectLst/>
                                    <a:latin typeface="Cambria Math" panose="02040503050406030204" pitchFamily="18" charset="0"/>
                                    <a:ea typeface="+mj-ea"/>
                                    <a:cs typeface="Times New Roman" panose="02020603050405020304" pitchFamily="18" charset="0"/>
                                  </a:rPr>
                                  <m:t>𝑅</m:t>
                                </m:r>
                              </m:e>
                              <m:sub>
                                <m:r>
                                  <a:rPr lang="en-US" altLang="zh-CN" sz="2000" i="1" kern="100">
                                    <a:effectLst/>
                                    <a:latin typeface="Cambria Math" panose="02040503050406030204" pitchFamily="18" charset="0"/>
                                    <a:ea typeface="+mj-ea"/>
                                    <a:cs typeface="Times New Roman" panose="02020603050405020304" pitchFamily="18" charset="0"/>
                                  </a:rPr>
                                  <m:t>1</m:t>
                                </m:r>
                              </m:sub>
                            </m:sSub>
                            <m:r>
                              <a:rPr lang="en-US" altLang="zh-CN" sz="2000" i="1" kern="100">
                                <a:effectLst/>
                                <a:latin typeface="Cambria Math" panose="02040503050406030204" pitchFamily="18" charset="0"/>
                                <a:ea typeface="+mj-ea"/>
                                <a:cs typeface="Times New Roman" panose="02020603050405020304" pitchFamily="18" charset="0"/>
                              </a:rPr>
                              <m:t>,</m:t>
                            </m:r>
                            <m:r>
                              <a:rPr lang="en-US" altLang="zh-CN" sz="2000" i="1" kern="100">
                                <a:effectLst/>
                                <a:latin typeface="Cambria Math" panose="02040503050406030204" pitchFamily="18" charset="0"/>
                                <a:ea typeface="+mj-ea"/>
                                <a:cs typeface="Times New Roman" panose="02020603050405020304" pitchFamily="18" charset="0"/>
                              </a:rPr>
                              <m:t>𝐴</m:t>
                            </m:r>
                          </m:e>
                        </m:d>
                      </m:den>
                    </m:f>
                  </m:oMath>
                </a14:m>
                <a:endParaRPr lang="en-US" altLang="zh-CN" sz="2000" dirty="0">
                  <a:latin typeface="+mj-ea"/>
                  <a:ea typeface="+mj-ea"/>
                </a:endParaRPr>
              </a:p>
            </p:txBody>
          </p:sp>
        </mc:Choice>
        <mc:Fallback xmlns="">
          <p:sp>
            <p:nvSpPr>
              <p:cNvPr id="5" name="文本框 4">
                <a:extLst>
                  <a:ext uri="{FF2B5EF4-FFF2-40B4-BE49-F238E27FC236}">
                    <a16:creationId xmlns:a16="http://schemas.microsoft.com/office/drawing/2014/main" xmlns:a14="http://schemas.microsoft.com/office/drawing/2010/main" xmlns="" id="{4C000441-9570-D8C5-567A-CC1649A0B64A}"/>
                  </a:ext>
                </a:extLst>
              </p:cNvPr>
              <p:cNvSpPr txBox="1">
                <a:spLocks noRot="1" noChangeAspect="1" noMove="1" noResize="1" noEditPoints="1" noAdjustHandles="1" noChangeArrowheads="1" noChangeShapeType="1" noTextEdit="1"/>
              </p:cNvSpPr>
              <p:nvPr/>
            </p:nvSpPr>
            <p:spPr>
              <a:xfrm>
                <a:off x="1008000" y="1126800"/>
                <a:ext cx="11895905" cy="3223768"/>
              </a:xfrm>
              <a:prstGeom prst="rect">
                <a:avLst/>
              </a:prstGeom>
              <a:blipFill rotWithShape="0">
                <a:blip r:embed="rId3"/>
                <a:stretch>
                  <a:fillRect l="-6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21146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FE3C2FA-9F7D-B952-8F40-FF823758DB71}"/>
              </a:ext>
            </a:extLst>
          </p:cNvPr>
          <p:cNvSpPr>
            <a:spLocks noGrp="1"/>
          </p:cNvSpPr>
          <p:nvPr>
            <p:ph type="sldNum" sz="quarter" idx="10"/>
          </p:nvPr>
        </p:nvSpPr>
        <p:spPr/>
        <p:txBody>
          <a:bodyPr/>
          <a:lstStyle/>
          <a:p>
            <a:fld id="{4B0D34C0-35A8-654C-9FBA-7B4E017BD630}" type="slidenum">
              <a:rPr lang="en-US" altLang="zh-CN" smtClean="0"/>
              <a:t>67</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4" name="页脚占位符 3">
            <a:extLst>
              <a:ext uri="{FF2B5EF4-FFF2-40B4-BE49-F238E27FC236}">
                <a16:creationId xmlns:a16="http://schemas.microsoft.com/office/drawing/2014/main" id="{A6245DD3-E232-7154-41A2-36D4F556B43F}"/>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C000441-9570-D8C5-567A-CC1649A0B64A}"/>
                  </a:ext>
                </a:extLst>
              </p:cNvPr>
              <p:cNvSpPr txBox="1"/>
              <p:nvPr/>
            </p:nvSpPr>
            <p:spPr>
              <a:xfrm>
                <a:off x="1008000" y="1126800"/>
                <a:ext cx="10827434" cy="4336893"/>
              </a:xfrm>
              <a:prstGeom prst="rect">
                <a:avLst/>
              </a:prstGeom>
              <a:noFill/>
            </p:spPr>
            <p:txBody>
              <a:bodyPr wrap="square" tIns="0">
                <a:spAutoFit/>
              </a:bodyPr>
              <a:lstStyle/>
              <a:p>
                <a:pPr marL="342900" indent="-342900">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根</a:t>
                </a:r>
                <a:r>
                  <a:rPr lang="zh-CN" altLang="zh-CN" sz="2200" b="1" kern="100" dirty="0">
                    <a:effectLst/>
                    <a:latin typeface="+mj-ea"/>
                    <a:ea typeface="+mj-ea"/>
                    <a:cs typeface="Times New Roman" panose="02020603050405020304" pitchFamily="18" charset="0"/>
                  </a:rPr>
                  <a:t>据</a:t>
                </a:r>
                <a:r>
                  <a:rPr lang="zh-CN" altLang="zh-CN" sz="2200" b="1" kern="100" dirty="0">
                    <a:solidFill>
                      <a:srgbClr val="701988"/>
                    </a:solidFill>
                    <a:effectLst/>
                    <a:latin typeface="+mj-ea"/>
                    <a:ea typeface="+mj-ea"/>
                    <a:cs typeface="Times New Roman" panose="02020603050405020304" pitchFamily="18" charset="0"/>
                  </a:rPr>
                  <a:t>对称性</a:t>
                </a:r>
                <a:r>
                  <a:rPr lang="zh-CN" altLang="zh-CN" sz="2200" b="1" kern="100" dirty="0">
                    <a:effectLst/>
                    <a:latin typeface="+mj-ea"/>
                    <a:ea typeface="+mj-ea"/>
                    <a:cs typeface="Times New Roman" panose="02020603050405020304" pitchFamily="18" charset="0"/>
                  </a:rPr>
                  <a:t>，当</a:t>
                </a:r>
                <a14:m>
                  <m:oMath xmlns:m="http://schemas.openxmlformats.org/officeDocument/2006/math">
                    <m:r>
                      <a:rPr lang="en-US" altLang="zh-CN" sz="2200" b="1" i="1" kern="100" smtClean="0">
                        <a:effectLst/>
                        <a:latin typeface="Cambria Math" panose="02040503050406030204" pitchFamily="18" charset="0"/>
                        <a:ea typeface="+mj-ea"/>
                        <a:cs typeface="Times New Roman" panose="02020603050405020304" pitchFamily="18" charset="0"/>
                      </a:rPr>
                      <m:t>𝑽</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𝟐</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𝑨</m:t>
                        </m:r>
                      </m:e>
                    </m:d>
                    <m:r>
                      <a:rPr lang="en-US" altLang="zh-CN" sz="2200" b="1" i="1" kern="100" smtClean="0">
                        <a:effectLst/>
                        <a:latin typeface="Cambria Math" panose="02040503050406030204" pitchFamily="18" charset="0"/>
                        <a:ea typeface="+mj-ea"/>
                        <a:cs typeface="Times New Roman" panose="02020603050405020304" pitchFamily="18" charset="0"/>
                      </a:rPr>
                      <m:t>&gt;</m:t>
                    </m:r>
                    <m:r>
                      <a:rPr lang="en-US" altLang="zh-CN" sz="2200" b="1" i="1" kern="100" smtClean="0">
                        <a:effectLst/>
                        <a:latin typeface="Cambria Math" panose="02040503050406030204" pitchFamily="18" charset="0"/>
                        <a:ea typeface="+mj-ea"/>
                        <a:cs typeface="Times New Roman" panose="02020603050405020304" pitchFamily="18" charset="0"/>
                      </a:rPr>
                      <m:t>𝑽</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𝟏</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𝑨</m:t>
                        </m:r>
                      </m:e>
                    </m:d>
                  </m:oMath>
                </a14:m>
                <a:r>
                  <a:rPr lang="zh-CN" altLang="zh-CN" sz="2200" b="1" kern="100" dirty="0">
                    <a:effectLst/>
                    <a:latin typeface="+mj-ea"/>
                    <a:ea typeface="+mj-ea"/>
                    <a:cs typeface="Times New Roman" panose="02020603050405020304" pitchFamily="18" charset="0"/>
                  </a:rPr>
                  <a:t>时同样可以进行上述分析</a:t>
                </a:r>
                <a:endParaRPr lang="en-US" altLang="zh-CN" sz="2200" b="1" kern="100" dirty="0">
                  <a:effectLst/>
                  <a:latin typeface="+mj-ea"/>
                  <a:ea typeface="+mj-ea"/>
                  <a:cs typeface="Times New Roman" panose="02020603050405020304" pitchFamily="18" charset="0"/>
                </a:endParaRPr>
              </a:p>
              <a:p>
                <a:pPr>
                  <a:lnSpc>
                    <a:spcPct val="150000"/>
                  </a:lnSpc>
                </a:pPr>
                <a:endParaRPr lang="en-US" altLang="zh-CN" sz="2200" b="1" kern="100" dirty="0">
                  <a:effectLst/>
                  <a:latin typeface="+mj-ea"/>
                  <a:ea typeface="+mj-ea"/>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综上所述，对连接运算的基数估计为：</a:t>
                </a:r>
                <a:endParaRPr lang="en-US" altLang="zh-CN" sz="2200" b="1" kern="100" dirty="0">
                  <a:effectLst/>
                  <a:latin typeface="+mj-ea"/>
                  <a:ea typeface="+mj-ea"/>
                  <a:cs typeface="Times New Roman" panose="02020603050405020304" pitchFamily="18" charset="0"/>
                </a:endParaRPr>
              </a:p>
              <a:p>
                <a:pPr marL="342900" indent="-342900">
                  <a:lnSpc>
                    <a:spcPct val="150000"/>
                  </a:lnSpc>
                  <a:buFont typeface="Wingdings" panose="05000000000000000000" pitchFamily="2" charset="2"/>
                  <a:buChar char="Ø"/>
                </a:pPr>
                <a14:m>
                  <m:oMath xmlns:m="http://schemas.openxmlformats.org/officeDocument/2006/math">
                    <m:r>
                      <a:rPr lang="en-US" altLang="zh-CN" sz="2200" b="1" i="1" kern="100" smtClean="0">
                        <a:effectLst/>
                        <a:latin typeface="Cambria Math" panose="02040503050406030204" pitchFamily="18" charset="0"/>
                        <a:ea typeface="+mj-ea"/>
                        <a:cs typeface="Times New Roman" panose="02020603050405020304" pitchFamily="18" charset="0"/>
                      </a:rPr>
                      <m:t>𝑻</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𝟏</m:t>
                            </m:r>
                          </m:sub>
                        </m:sSub>
                        <m:d>
                          <m:dPr>
                            <m:ctrlPr>
                              <a:rPr lang="zh-CN" altLang="zh-CN" sz="2200" b="1" i="1" kern="100">
                                <a:effectLst/>
                                <a:latin typeface="Cambria Math" panose="02040503050406030204" pitchFamily="18" charset="0"/>
                                <a:ea typeface="+mj-ea"/>
                                <a:cs typeface="Times New Roman" panose="02020603050405020304" pitchFamily="18" charset="0"/>
                              </a:rPr>
                            </m:ctrlPr>
                          </m:dPr>
                          <m:e>
                            <m:r>
                              <a:rPr lang="en-US" altLang="zh-CN" sz="2200" b="1" i="1" kern="100" smtClean="0">
                                <a:effectLst/>
                                <a:latin typeface="Cambria Math" panose="02040503050406030204" pitchFamily="18" charset="0"/>
                                <a:ea typeface="+mj-ea"/>
                                <a:cs typeface="Times New Roman" panose="02020603050405020304" pitchFamily="18" charset="0"/>
                              </a:rPr>
                              <m:t>𝑨</m:t>
                            </m:r>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𝑩</m:t>
                            </m:r>
                          </m:e>
                        </m:d>
                        <m:r>
                          <a:rPr lang="en-US" altLang="zh-CN" sz="2200" b="1" i="1" kern="100" smtClean="0">
                            <a:effectLst/>
                            <a:latin typeface="Cambria Math" panose="02040503050406030204" pitchFamily="18" charset="0"/>
                            <a:ea typeface="+mj-ea"/>
                            <a:cs typeface="Times New Roman" panose="02020603050405020304" pitchFamily="18" charset="0"/>
                          </a:rPr>
                          <m:t>⋈</m:t>
                        </m:r>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𝟐</m:t>
                            </m:r>
                          </m:sub>
                        </m:sSub>
                        <m:d>
                          <m:dPr>
                            <m:ctrlPr>
                              <a:rPr lang="zh-CN" altLang="zh-CN" sz="2200" b="1" i="1" kern="100">
                                <a:effectLst/>
                                <a:latin typeface="Cambria Math" panose="02040503050406030204" pitchFamily="18" charset="0"/>
                                <a:ea typeface="+mj-ea"/>
                                <a:cs typeface="Times New Roman" panose="02020603050405020304" pitchFamily="18" charset="0"/>
                              </a:rPr>
                            </m:ctrlPr>
                          </m:dPr>
                          <m:e>
                            <m:r>
                              <a:rPr lang="en-US" altLang="zh-CN" sz="2200" b="1" i="1" kern="100" smtClean="0">
                                <a:effectLst/>
                                <a:latin typeface="Cambria Math" panose="02040503050406030204" pitchFamily="18" charset="0"/>
                                <a:ea typeface="+mj-ea"/>
                                <a:cs typeface="Times New Roman" panose="02020603050405020304" pitchFamily="18" charset="0"/>
                              </a:rPr>
                              <m:t>𝑨</m:t>
                            </m:r>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𝑪</m:t>
                            </m:r>
                          </m:e>
                        </m:d>
                      </m:e>
                    </m:d>
                    <m:r>
                      <a:rPr lang="en-US" altLang="zh-CN" sz="2200" b="1" i="1" kern="100" smtClean="0">
                        <a:effectLst/>
                        <a:latin typeface="Cambria Math" panose="02040503050406030204" pitchFamily="18" charset="0"/>
                        <a:ea typeface="+mj-ea"/>
                        <a:cs typeface="Times New Roman" panose="02020603050405020304" pitchFamily="18" charset="0"/>
                      </a:rPr>
                      <m:t>=</m:t>
                    </m:r>
                    <m:f>
                      <m:fPr>
                        <m:ctrlPr>
                          <a:rPr lang="zh-CN" altLang="zh-CN" sz="2200" b="1" i="1" kern="100">
                            <a:effectLst/>
                            <a:latin typeface="Cambria Math" panose="02040503050406030204" pitchFamily="18" charset="0"/>
                            <a:ea typeface="+mj-ea"/>
                            <a:cs typeface="Times New Roman" panose="02020603050405020304" pitchFamily="18" charset="0"/>
                          </a:rPr>
                        </m:ctrlPr>
                      </m:fPr>
                      <m:num>
                        <m:r>
                          <a:rPr lang="en-US" altLang="zh-CN" sz="2200" b="1" i="1" kern="100" smtClean="0">
                            <a:effectLst/>
                            <a:latin typeface="Cambria Math" panose="02040503050406030204" pitchFamily="18" charset="0"/>
                            <a:ea typeface="+mj-ea"/>
                            <a:cs typeface="Times New Roman" panose="02020603050405020304" pitchFamily="18" charset="0"/>
                          </a:rPr>
                          <m:t>𝑻</m:t>
                        </m:r>
                        <m:r>
                          <a:rPr lang="en-US" altLang="zh-CN" sz="2200" b="1" i="1" kern="100" smtClean="0">
                            <a:effectLst/>
                            <a:latin typeface="Cambria Math" panose="02040503050406030204" pitchFamily="18" charset="0"/>
                            <a:ea typeface="+mj-ea"/>
                            <a:cs typeface="Times New Roman" panose="02020603050405020304" pitchFamily="18" charset="0"/>
                          </a:rPr>
                          <m:t>(</m:t>
                        </m:r>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𝟏</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𝑻</m:t>
                        </m:r>
                        <m:r>
                          <a:rPr lang="en-US" altLang="zh-CN" sz="2200" b="1" i="1" kern="100" smtClean="0">
                            <a:effectLst/>
                            <a:latin typeface="Cambria Math" panose="02040503050406030204" pitchFamily="18" charset="0"/>
                            <a:ea typeface="+mj-ea"/>
                            <a:cs typeface="Times New Roman" panose="02020603050405020304" pitchFamily="18" charset="0"/>
                          </a:rPr>
                          <m:t>(</m:t>
                        </m:r>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𝟐</m:t>
                            </m:r>
                          </m:sub>
                        </m:sSub>
                        <m:r>
                          <a:rPr lang="en-US" altLang="zh-CN" sz="2200" b="1" i="1" kern="100" smtClean="0">
                            <a:effectLst/>
                            <a:latin typeface="Cambria Math" panose="02040503050406030204" pitchFamily="18" charset="0"/>
                            <a:ea typeface="+mj-ea"/>
                            <a:cs typeface="Times New Roman" panose="02020603050405020304" pitchFamily="18" charset="0"/>
                          </a:rPr>
                          <m:t>)</m:t>
                        </m:r>
                      </m:num>
                      <m:den>
                        <m:r>
                          <a:rPr lang="en-US" altLang="zh-CN" sz="2200" b="1" i="1" kern="100" smtClean="0">
                            <a:effectLst/>
                            <a:latin typeface="Cambria Math" panose="02040503050406030204" pitchFamily="18" charset="0"/>
                            <a:ea typeface="+mj-ea"/>
                            <a:cs typeface="Times New Roman" panose="02020603050405020304" pitchFamily="18" charset="0"/>
                          </a:rPr>
                          <m:t>𝐦𝐚𝐱</m:t>
                        </m:r>
                        <m:r>
                          <a:rPr lang="en-US" altLang="zh-CN" sz="2200" b="1" kern="10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𝑽</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𝟏</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𝑨</m:t>
                            </m:r>
                          </m:e>
                        </m:d>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𝑽</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𝟐</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𝑨</m:t>
                            </m:r>
                          </m:e>
                        </m:d>
                        <m:r>
                          <a:rPr lang="en-US" altLang="zh-CN" sz="2200" b="1" i="1" kern="100" smtClean="0">
                            <a:effectLst/>
                            <a:latin typeface="Cambria Math" panose="02040503050406030204" pitchFamily="18" charset="0"/>
                            <a:ea typeface="+mj-ea"/>
                            <a:cs typeface="Times New Roman" panose="02020603050405020304" pitchFamily="18" charset="0"/>
                          </a:rPr>
                          <m:t>)</m:t>
                        </m:r>
                      </m:den>
                    </m:f>
                  </m:oMath>
                </a14:m>
                <a:endParaRPr lang="en-US" altLang="zh-CN" sz="2200" b="1" dirty="0">
                  <a:latin typeface="+mj-ea"/>
                  <a:ea typeface="+mj-ea"/>
                </a:endParaRPr>
              </a:p>
              <a:p>
                <a:pPr marL="342900" indent="-342900">
                  <a:lnSpc>
                    <a:spcPct val="150000"/>
                  </a:lnSpc>
                  <a:buFont typeface="Wingdings" panose="05000000000000000000" pitchFamily="2" charset="2"/>
                  <a:buChar char="Ø"/>
                </a:pPr>
                <a:endParaRPr lang="en-US" altLang="zh-CN" sz="2200" b="1" dirty="0">
                  <a:latin typeface="+mj-ea"/>
                  <a:ea typeface="+mj-ea"/>
                </a:endParaRPr>
              </a:p>
              <a:p>
                <a:pPr marL="342900" indent="-342900">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并且根据</a:t>
                </a:r>
                <a:r>
                  <a:rPr lang="zh-CN" altLang="en-US" sz="2200" b="1" kern="100" dirty="0">
                    <a:solidFill>
                      <a:srgbClr val="701988"/>
                    </a:solidFill>
                    <a:latin typeface="+mj-ea"/>
                    <a:ea typeface="+mj-ea"/>
                    <a:cs typeface="Times New Roman" panose="02020603050405020304" pitchFamily="18" charset="0"/>
                  </a:rPr>
                  <a:t>假设</a:t>
                </a:r>
                <a:r>
                  <a:rPr lang="en-US" altLang="zh-CN" sz="2200" b="1" kern="100" dirty="0">
                    <a:solidFill>
                      <a:srgbClr val="701988"/>
                    </a:solidFill>
                    <a:latin typeface="+mj-ea"/>
                    <a:ea typeface="+mj-ea"/>
                    <a:cs typeface="Times New Roman" panose="02020603050405020304" pitchFamily="18" charset="0"/>
                  </a:rPr>
                  <a:t>1</a:t>
                </a:r>
                <a:r>
                  <a:rPr lang="zh-CN" altLang="en-US" sz="2200" b="1" kern="100" dirty="0">
                    <a:latin typeface="+mj-ea"/>
                    <a:ea typeface="+mj-ea"/>
                    <a:cs typeface="Times New Roman" panose="02020603050405020304" pitchFamily="18" charset="0"/>
                  </a:rPr>
                  <a:t>还可以得到：</a:t>
                </a:r>
                <a:endParaRPr lang="en-US" altLang="zh-CN" sz="2200" b="1" dirty="0">
                  <a:latin typeface="+mj-ea"/>
                  <a:ea typeface="+mj-ea"/>
                </a:endParaRPr>
              </a:p>
              <a:p>
                <a:pPr marL="342900" indent="-342900">
                  <a:lnSpc>
                    <a:spcPct val="150000"/>
                  </a:lnSpc>
                  <a:buFont typeface="Wingdings" panose="05000000000000000000" pitchFamily="2" charset="2"/>
                  <a:buChar char="Ø"/>
                </a:pPr>
                <a14:m>
                  <m:oMath xmlns:m="http://schemas.openxmlformats.org/officeDocument/2006/math">
                    <m:r>
                      <a:rPr lang="en-US" altLang="zh-CN" sz="2200" b="1" i="1" kern="100" smtClean="0">
                        <a:effectLst/>
                        <a:latin typeface="Cambria Math" panose="02040503050406030204" pitchFamily="18" charset="0"/>
                        <a:ea typeface="+mj-ea"/>
                        <a:cs typeface="Times New Roman" panose="02020603050405020304" pitchFamily="18" charset="0"/>
                      </a:rPr>
                      <m:t>𝑽</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𝟏</m:t>
                            </m:r>
                          </m:sub>
                        </m:sSub>
                        <m:r>
                          <a:rPr lang="en-US" altLang="zh-CN" sz="2200" b="1" i="1" kern="100" smtClean="0">
                            <a:effectLst/>
                            <a:latin typeface="Cambria Math" panose="02040503050406030204" pitchFamily="18" charset="0"/>
                            <a:ea typeface="+mj-ea"/>
                            <a:cs typeface="Times New Roman" panose="02020603050405020304" pitchFamily="18" charset="0"/>
                          </a:rPr>
                          <m:t>⋈</m:t>
                        </m:r>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𝟐</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𝑨</m:t>
                        </m:r>
                      </m:e>
                    </m:d>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𝐦𝐢𝐧</m:t>
                    </m:r>
                    <m:d>
                      <m:dPr>
                        <m:ctrlPr>
                          <a:rPr lang="zh-CN" altLang="zh-CN" sz="2200" b="1" i="1" kern="100">
                            <a:effectLst/>
                            <a:latin typeface="Cambria Math" panose="02040503050406030204" pitchFamily="18" charset="0"/>
                            <a:ea typeface="+mj-ea"/>
                            <a:cs typeface="Times New Roman" panose="02020603050405020304" pitchFamily="18" charset="0"/>
                          </a:rPr>
                        </m:ctrlPr>
                      </m:dPr>
                      <m:e>
                        <m:r>
                          <a:rPr lang="en-US" altLang="zh-CN" sz="2200" b="1" i="1" kern="100" smtClean="0">
                            <a:effectLst/>
                            <a:latin typeface="Cambria Math" panose="02040503050406030204" pitchFamily="18" charset="0"/>
                            <a:ea typeface="+mj-ea"/>
                            <a:cs typeface="Times New Roman" panose="02020603050405020304" pitchFamily="18" charset="0"/>
                          </a:rPr>
                          <m:t>𝑽</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𝟏</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𝑨</m:t>
                            </m:r>
                          </m:e>
                        </m:d>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𝑽</m:t>
                        </m:r>
                        <m:d>
                          <m:dPr>
                            <m:ctrlPr>
                              <a:rPr lang="zh-CN" altLang="zh-CN" sz="2200" b="1" i="1" kern="100">
                                <a:effectLst/>
                                <a:latin typeface="Cambria Math" panose="02040503050406030204" pitchFamily="18" charset="0"/>
                                <a:ea typeface="+mj-ea"/>
                                <a:cs typeface="Times New Roman" panose="02020603050405020304" pitchFamily="18" charset="0"/>
                              </a:rPr>
                            </m:ctrlPr>
                          </m:dPr>
                          <m:e>
                            <m:sSub>
                              <m:sSubPr>
                                <m:ctrlPr>
                                  <a:rPr lang="zh-CN" altLang="zh-CN" sz="2200" b="1" i="1" kern="100">
                                    <a:effectLst/>
                                    <a:latin typeface="Cambria Math" panose="02040503050406030204" pitchFamily="18" charset="0"/>
                                    <a:ea typeface="+mj-ea"/>
                                    <a:cs typeface="Times New Roman" panose="02020603050405020304" pitchFamily="18" charset="0"/>
                                  </a:rPr>
                                </m:ctrlPr>
                              </m:sSubPr>
                              <m:e>
                                <m:r>
                                  <a:rPr lang="en-US" altLang="zh-CN" sz="2200" b="1" i="1" kern="100" smtClean="0">
                                    <a:effectLst/>
                                    <a:latin typeface="Cambria Math" panose="02040503050406030204" pitchFamily="18" charset="0"/>
                                    <a:ea typeface="+mj-ea"/>
                                    <a:cs typeface="Times New Roman" panose="02020603050405020304" pitchFamily="18" charset="0"/>
                                  </a:rPr>
                                  <m:t>𝑹</m:t>
                                </m:r>
                              </m:e>
                              <m:sub>
                                <m:r>
                                  <a:rPr lang="en-US" altLang="zh-CN" sz="2200" b="1" i="1" kern="100" smtClean="0">
                                    <a:effectLst/>
                                    <a:latin typeface="Cambria Math" panose="02040503050406030204" pitchFamily="18" charset="0"/>
                                    <a:ea typeface="+mj-ea"/>
                                    <a:cs typeface="Times New Roman" panose="02020603050405020304" pitchFamily="18" charset="0"/>
                                  </a:rPr>
                                  <m:t>𝟐</m:t>
                                </m:r>
                              </m:sub>
                            </m:sSub>
                            <m:r>
                              <a:rPr lang="en-US" altLang="zh-CN" sz="2200" b="1" i="1" kern="100" smtClean="0">
                                <a:effectLst/>
                                <a:latin typeface="Cambria Math" panose="02040503050406030204" pitchFamily="18" charset="0"/>
                                <a:ea typeface="+mj-ea"/>
                                <a:cs typeface="Times New Roman" panose="02020603050405020304" pitchFamily="18" charset="0"/>
                              </a:rPr>
                              <m:t>,</m:t>
                            </m:r>
                            <m:r>
                              <a:rPr lang="en-US" altLang="zh-CN" sz="2200" b="1" i="1" kern="100" smtClean="0">
                                <a:effectLst/>
                                <a:latin typeface="Cambria Math" panose="02040503050406030204" pitchFamily="18" charset="0"/>
                                <a:ea typeface="+mj-ea"/>
                                <a:cs typeface="Times New Roman" panose="02020603050405020304" pitchFamily="18" charset="0"/>
                              </a:rPr>
                              <m:t>𝑨</m:t>
                            </m:r>
                          </m:e>
                        </m:d>
                      </m:e>
                    </m:d>
                  </m:oMath>
                </a14:m>
                <a:endParaRPr lang="zh-CN" altLang="zh-CN" sz="2200" b="1" kern="100" dirty="0">
                  <a:effectLst/>
                  <a:latin typeface="+mj-ea"/>
                  <a:ea typeface="+mj-ea"/>
                  <a:cs typeface="Times New Roman" panose="02020603050405020304" pitchFamily="18" charset="0"/>
                </a:endParaRPr>
              </a:p>
              <a:p>
                <a:pPr marL="342900" indent="-342900">
                  <a:buFont typeface="Wingdings" panose="05000000000000000000" pitchFamily="2" charset="2"/>
                  <a:buChar char="p"/>
                </a:pPr>
                <a:endParaRPr lang="zh-CN" altLang="en-US" sz="2400" b="1" dirty="0">
                  <a:latin typeface="+mj-ea"/>
                  <a:ea typeface="+mj-ea"/>
                </a:endParaRPr>
              </a:p>
            </p:txBody>
          </p:sp>
        </mc:Choice>
        <mc:Fallback xmlns="">
          <p:sp>
            <p:nvSpPr>
              <p:cNvPr id="5" name="文本框 4">
                <a:extLst>
                  <a:ext uri="{FF2B5EF4-FFF2-40B4-BE49-F238E27FC236}">
                    <a16:creationId xmlns:a16="http://schemas.microsoft.com/office/drawing/2014/main" xmlns:a14="http://schemas.microsoft.com/office/drawing/2010/main" xmlns="" id="{4C000441-9570-D8C5-567A-CC1649A0B64A}"/>
                  </a:ext>
                </a:extLst>
              </p:cNvPr>
              <p:cNvSpPr txBox="1">
                <a:spLocks noRot="1" noChangeAspect="1" noMove="1" noResize="1" noEditPoints="1" noAdjustHandles="1" noChangeArrowheads="1" noChangeShapeType="1" noTextEdit="1"/>
              </p:cNvSpPr>
              <p:nvPr/>
            </p:nvSpPr>
            <p:spPr>
              <a:xfrm>
                <a:off x="1008000" y="1126800"/>
                <a:ext cx="10827434" cy="4336893"/>
              </a:xfrm>
              <a:prstGeom prst="rect">
                <a:avLst/>
              </a:prstGeom>
              <a:blipFill rotWithShape="0">
                <a:blip r:embed="rId3"/>
                <a:stretch>
                  <a:fillRect l="-6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67987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60DF8D7-81DD-2319-D7B0-8C20FDEB3712}"/>
              </a:ext>
            </a:extLst>
          </p:cNvPr>
          <p:cNvSpPr>
            <a:spLocks noGrp="1"/>
          </p:cNvSpPr>
          <p:nvPr>
            <p:ph type="sldNum" sz="quarter" idx="10"/>
          </p:nvPr>
        </p:nvSpPr>
        <p:spPr/>
        <p:txBody>
          <a:bodyPr/>
          <a:lstStyle/>
          <a:p>
            <a:fld id="{4B0D34C0-35A8-654C-9FBA-7B4E017BD630}" type="slidenum">
              <a:rPr lang="en-US" altLang="zh-CN" smtClean="0"/>
              <a:t>68</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4" name="页脚占位符 3">
            <a:extLst>
              <a:ext uri="{FF2B5EF4-FFF2-40B4-BE49-F238E27FC236}">
                <a16:creationId xmlns:a16="http://schemas.microsoft.com/office/drawing/2014/main" id="{5F5FC55E-F7A4-DD54-97D4-7EA428AFAD6A}"/>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9655360" cy="4395947"/>
              </a:xfrm>
              <a:prstGeom prst="rect">
                <a:avLst/>
              </a:prstGeom>
            </p:spPr>
            <p:txBody>
              <a:bodyPr wrap="square">
                <a:spAutoFit/>
              </a:bodyPr>
              <a:lstStyle/>
              <a:p>
                <a:pPr marL="457200" indent="-457200" algn="just">
                  <a:lnSpc>
                    <a:spcPct val="150000"/>
                  </a:lnSpc>
                  <a:buFont typeface="Wingdings" pitchFamily="2" charset="2"/>
                  <a:buChar char="Ø"/>
                </a:pPr>
                <a:r>
                  <a:rPr lang="zh-CN" altLang="zh-CN" sz="2200" b="1" kern="100" dirty="0">
                    <a:latin typeface="+mj-ea"/>
                    <a:ea typeface="+mj-ea"/>
                    <a:cs typeface="Times New Roman" panose="02020603050405020304" pitchFamily="18" charset="0"/>
                  </a:rPr>
                  <a:t>对于关系</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𝑹</m:t>
                        </m:r>
                      </m:e>
                      <m:sub>
                        <m:r>
                          <a:rPr lang="en-US" altLang="zh-CN" sz="2200" b="1" i="1" kern="100">
                            <a:latin typeface="Cambria Math" panose="02040503050406030204" pitchFamily="18" charset="0"/>
                            <a:ea typeface="+mj-ea"/>
                            <a:cs typeface="Times New Roman" panose="02020603050405020304" pitchFamily="18" charset="0"/>
                          </a:rPr>
                          <m:t>𝟏</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𝑹</m:t>
                        </m:r>
                      </m:e>
                      <m:sub>
                        <m:r>
                          <a:rPr lang="en-US" altLang="zh-CN" sz="2200" b="1" i="1" kern="100">
                            <a:latin typeface="Cambria Math" panose="02040503050406030204" pitchFamily="18" charset="0"/>
                            <a:ea typeface="+mj-ea"/>
                            <a:cs typeface="Times New Roman" panose="02020603050405020304" pitchFamily="18" charset="0"/>
                          </a:rPr>
                          <m:t>𝟐</m:t>
                        </m:r>
                      </m:sub>
                    </m:sSub>
                  </m:oMath>
                </a14:m>
                <a:r>
                  <a:rPr lang="zh-CN" altLang="zh-CN" sz="2200" b="1" kern="100" dirty="0">
                    <a:latin typeface="+mj-ea"/>
                    <a:ea typeface="+mj-ea"/>
                    <a:cs typeface="Times New Roman" panose="02020603050405020304" pitchFamily="18" charset="0"/>
                  </a:rPr>
                  <a:t>中</a:t>
                </a:r>
                <a:r>
                  <a:rPr lang="zh-CN" altLang="en-US" sz="2200" b="1" kern="100" dirty="0">
                    <a:latin typeface="+mj-ea"/>
                    <a:ea typeface="+mj-ea"/>
                    <a:cs typeface="Times New Roman" panose="02020603050405020304" pitchFamily="18" charset="0"/>
                  </a:rPr>
                  <a:t>公</a:t>
                </a:r>
                <a:r>
                  <a:rPr lang="zh-CN" altLang="zh-CN" sz="2200" b="1" kern="100" dirty="0">
                    <a:latin typeface="+mj-ea"/>
                    <a:ea typeface="+mj-ea"/>
                    <a:cs typeface="Times New Roman" panose="02020603050405020304" pitchFamily="18" charset="0"/>
                  </a:rPr>
                  <a:t>有的属性</a:t>
                </a:r>
                <a14:m>
                  <m:oMath xmlns:m="http://schemas.openxmlformats.org/officeDocument/2006/math">
                    <m:r>
                      <a:rPr lang="en-US" altLang="zh-CN" sz="2200" b="1" i="1" kern="100" smtClean="0">
                        <a:latin typeface="Cambria Math" panose="02040503050406030204" pitchFamily="18" charset="0"/>
                        <a:ea typeface="+mj-ea"/>
                        <a:cs typeface="Times New Roman" panose="02020603050405020304" pitchFamily="18" charset="0"/>
                      </a:rPr>
                      <m:t>𝑨</m:t>
                    </m:r>
                  </m:oMath>
                </a14:m>
                <a:endParaRPr lang="en-US" altLang="zh-CN" sz="22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i="1" kern="100">
                            <a:latin typeface="Cambria Math" panose="02040503050406030204" pitchFamily="18" charset="0"/>
                            <a:ea typeface="+mj-ea"/>
                            <a:cs typeface="Times New Roman" panose="02020603050405020304" pitchFamily="18" charset="0"/>
                          </a:rPr>
                          <m:t>A</m:t>
                        </m:r>
                      </m:e>
                    </m:d>
                    <m:r>
                      <a:rPr lang="en-US" altLang="zh-CN" sz="2000" kern="100">
                        <a:latin typeface="Cambria Math" panose="02040503050406030204" pitchFamily="18" charset="0"/>
                        <a:ea typeface="+mj-ea"/>
                        <a:cs typeface="Times New Roman" panose="02020603050405020304" pitchFamily="18" charset="0"/>
                      </a:rPr>
                      <m:t>=</m:t>
                    </m:r>
                    <m:r>
                      <m:rPr>
                        <m:sty m:val="p"/>
                      </m:rPr>
                      <a:rPr lang="en-US" altLang="zh-CN" sz="2000" b="0" i="0" kern="100" smtClean="0">
                        <a:latin typeface="Cambria Math" panose="02040503050406030204" pitchFamily="18" charset="0"/>
                        <a:ea typeface="+mj-ea"/>
                        <a:cs typeface="Times New Roman" panose="02020603050405020304" pitchFamily="18" charset="0"/>
                      </a:rPr>
                      <m:t>min</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𝐴</m:t>
                            </m:r>
                          </m:e>
                        </m:d>
                      </m:e>
                    </m:d>
                  </m:oMath>
                </a14:m>
                <a:endParaRPr lang="en-US" altLang="zh-CN" sz="2000" kern="100" dirty="0">
                  <a:latin typeface="+mj-ea"/>
                  <a:ea typeface="+mj-ea"/>
                  <a:cs typeface="Times New Roman" panose="02020603050405020304" pitchFamily="18" charset="0"/>
                </a:endParaRPr>
              </a:p>
              <a:p>
                <a:pPr marL="457200" indent="-457200" algn="just">
                  <a:lnSpc>
                    <a:spcPct val="150000"/>
                  </a:lnSpc>
                  <a:buFont typeface="Wingdings" pitchFamily="2" charset="2"/>
                  <a:buChar char="Ø"/>
                </a:pPr>
                <a:r>
                  <a:rPr lang="zh-CN" altLang="zh-CN" sz="2200" b="1" kern="100" dirty="0">
                    <a:latin typeface="+mj-ea"/>
                    <a:ea typeface="+mj-ea"/>
                    <a:cs typeface="Times New Roman" panose="02020603050405020304" pitchFamily="18" charset="0"/>
                  </a:rPr>
                  <a:t>对于其它并非关系</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𝑹</m:t>
                        </m:r>
                      </m:e>
                      <m:sub>
                        <m:r>
                          <a:rPr lang="en-US" altLang="zh-CN" sz="2200" b="1" i="1" kern="100">
                            <a:latin typeface="Cambria Math" panose="02040503050406030204" pitchFamily="18" charset="0"/>
                            <a:ea typeface="+mj-ea"/>
                            <a:cs typeface="Times New Roman" panose="02020603050405020304" pitchFamily="18" charset="0"/>
                          </a:rPr>
                          <m:t>𝟏</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𝑹</m:t>
                        </m:r>
                      </m:e>
                      <m:sub>
                        <m:r>
                          <a:rPr lang="en-US" altLang="zh-CN" sz="2200" b="1" i="1" kern="100">
                            <a:latin typeface="Cambria Math" panose="02040503050406030204" pitchFamily="18" charset="0"/>
                            <a:ea typeface="+mj-ea"/>
                            <a:cs typeface="Times New Roman" panose="02020603050405020304" pitchFamily="18" charset="0"/>
                          </a:rPr>
                          <m:t>𝟐</m:t>
                        </m:r>
                      </m:sub>
                    </m:sSub>
                  </m:oMath>
                </a14:m>
                <a:r>
                  <a:rPr lang="zh-CN" altLang="zh-CN" sz="2200" b="1" kern="100" dirty="0">
                    <a:latin typeface="+mj-ea"/>
                    <a:ea typeface="+mj-ea"/>
                    <a:cs typeface="Times New Roman" panose="02020603050405020304" pitchFamily="18" charset="0"/>
                  </a:rPr>
                  <a:t>中</a:t>
                </a:r>
                <a:r>
                  <a:rPr lang="zh-CN" altLang="en-US" sz="2200" b="1" kern="100" dirty="0">
                    <a:latin typeface="+mj-ea"/>
                    <a:ea typeface="+mj-ea"/>
                    <a:cs typeface="Times New Roman" panose="02020603050405020304" pitchFamily="18" charset="0"/>
                  </a:rPr>
                  <a:t>公</a:t>
                </a:r>
                <a:r>
                  <a:rPr lang="zh-CN" altLang="zh-CN" sz="2200" b="1" kern="100" dirty="0">
                    <a:latin typeface="+mj-ea"/>
                    <a:ea typeface="+mj-ea"/>
                    <a:cs typeface="Times New Roman" panose="02020603050405020304" pitchFamily="18" charset="0"/>
                  </a:rPr>
                  <a:t>有，因而不参与连接的属性</a:t>
                </a:r>
                <a14:m>
                  <m:oMath xmlns:m="http://schemas.openxmlformats.org/officeDocument/2006/math">
                    <m:r>
                      <a:rPr lang="en-US" altLang="zh-CN" sz="2200" b="1" i="1" kern="100">
                        <a:latin typeface="Cambria Math" panose="02040503050406030204" pitchFamily="18" charset="0"/>
                        <a:ea typeface="+mj-ea"/>
                        <a:cs typeface="Times New Roman" panose="02020603050405020304" pitchFamily="18" charset="0"/>
                      </a:rPr>
                      <m:t>𝐖</m:t>
                    </m:r>
                  </m:oMath>
                </a14:m>
                <a:r>
                  <a:rPr lang="zh-CN" altLang="zh-CN" sz="2200" b="1" kern="100" dirty="0">
                    <a:latin typeface="+mj-ea"/>
                    <a:ea typeface="+mj-ea"/>
                    <a:cs typeface="Times New Roman" panose="02020603050405020304" pitchFamily="18" charset="0"/>
                  </a:rPr>
                  <a:t>，不妨设</a:t>
                </a:r>
                <a14:m>
                  <m:oMath xmlns:m="http://schemas.openxmlformats.org/officeDocument/2006/math">
                    <m:r>
                      <a:rPr lang="en-US" altLang="zh-CN" sz="2200" b="1" i="1" kern="100">
                        <a:latin typeface="Cambria Math" panose="02040503050406030204" pitchFamily="18" charset="0"/>
                        <a:ea typeface="+mj-ea"/>
                        <a:cs typeface="Times New Roman" panose="02020603050405020304" pitchFamily="18" charset="0"/>
                      </a:rPr>
                      <m:t>𝐖</m:t>
                    </m:r>
                  </m:oMath>
                </a14:m>
                <a:r>
                  <a:rPr lang="zh-CN" altLang="zh-CN" sz="2200" b="1" kern="100" dirty="0">
                    <a:latin typeface="+mj-ea"/>
                    <a:ea typeface="+mj-ea"/>
                    <a:cs typeface="Times New Roman" panose="02020603050405020304" pitchFamily="18" charset="0"/>
                  </a:rPr>
                  <a:t>是关系</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i="1" kern="100">
                            <a:latin typeface="Cambria Math" panose="02040503050406030204" pitchFamily="18" charset="0"/>
                            <a:ea typeface="+mj-ea"/>
                            <a:cs typeface="Times New Roman" panose="02020603050405020304" pitchFamily="18" charset="0"/>
                          </a:rPr>
                          <m:t>𝑹</m:t>
                        </m:r>
                      </m:e>
                      <m:sub>
                        <m:r>
                          <a:rPr lang="en-US" altLang="zh-CN" sz="2200" b="1" i="0" kern="100" smtClean="0">
                            <a:latin typeface="Cambria Math" panose="02040503050406030204" pitchFamily="18" charset="0"/>
                            <a:ea typeface="+mj-ea"/>
                            <a:cs typeface="Times New Roman" panose="02020603050405020304" pitchFamily="18" charset="0"/>
                          </a:rPr>
                          <m:t>𝟐</m:t>
                        </m:r>
                      </m:sub>
                    </m:sSub>
                  </m:oMath>
                </a14:m>
                <a:r>
                  <a:rPr lang="zh-CN" altLang="zh-CN" sz="2200" b="1" kern="100" dirty="0">
                    <a:latin typeface="+mj-ea"/>
                    <a:ea typeface="+mj-ea"/>
                    <a:cs typeface="Times New Roman" panose="02020603050405020304" pitchFamily="18" charset="0"/>
                  </a:rPr>
                  <a:t>中的属性</a:t>
                </a:r>
                <a:endParaRPr lang="en-US" altLang="zh-CN" sz="22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𝑊</m:t>
                        </m:r>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b="0" i="0" kern="100" smtClean="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𝑊</m:t>
                        </m:r>
                      </m:e>
                    </m:d>
                  </m:oMath>
                </a14:m>
                <a:endParaRPr lang="en-US" altLang="zh-CN" sz="2000" kern="100" dirty="0">
                  <a:latin typeface="+mj-ea"/>
                  <a:ea typeface="+mj-ea"/>
                  <a:cs typeface="Times New Roman" panose="02020603050405020304" pitchFamily="18" charset="0"/>
                </a:endParaRPr>
              </a:p>
              <a:p>
                <a:pPr marL="457200" indent="-457200" algn="just">
                  <a:lnSpc>
                    <a:spcPct val="150000"/>
                  </a:lnSpc>
                  <a:buFont typeface="Wingdings" pitchFamily="2" charset="2"/>
                  <a:buChar char="Ø"/>
                </a:pPr>
                <a:r>
                  <a:rPr lang="zh-CN" altLang="en-US" sz="2200" b="1" kern="100" dirty="0">
                    <a:latin typeface="+mj-ea"/>
                    <a:ea typeface="+mj-ea"/>
                    <a:cs typeface="Times New Roman" panose="02020603050405020304" pitchFamily="18" charset="0"/>
                  </a:rPr>
                  <a:t>对连接结果的基数估计</a:t>
                </a:r>
                <a:endParaRPr lang="en-US" altLang="zh-CN" sz="22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e>
                        </m:d>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num>
                      <m:den>
                        <m:r>
                          <m:rPr>
                            <m:sty m:val="p"/>
                          </m:rPr>
                          <a:rPr lang="en-US" altLang="zh-CN" sz="2000" kern="100">
                            <a:latin typeface="Cambria Math" panose="02040503050406030204" pitchFamily="18" charset="0"/>
                            <a:ea typeface="+mj-ea"/>
                            <a:cs typeface="Times New Roman" panose="02020603050405020304" pitchFamily="18" charset="0"/>
                          </a:rPr>
                          <m:t>max</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den>
                    </m:f>
                  </m:oMath>
                </a14:m>
                <a:endParaRPr lang="en-US" altLang="zh-CN" sz="2000" kern="100" dirty="0">
                  <a:latin typeface="+mj-ea"/>
                  <a:ea typeface="+mj-ea"/>
                  <a:cs typeface="Times New Roman" panose="02020603050405020304" pitchFamily="18" charset="0"/>
                </a:endParaRPr>
              </a:p>
              <a:p>
                <a:pPr marL="342900" indent="-342900" algn="just">
                  <a:lnSpc>
                    <a:spcPct val="150000"/>
                  </a:lnSpc>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26800"/>
                <a:ext cx="9655360" cy="4395947"/>
              </a:xfrm>
              <a:prstGeom prst="rect">
                <a:avLst/>
              </a:prstGeom>
              <a:blipFill rotWithShape="0">
                <a:blip r:embed="rId3"/>
                <a:stretch>
                  <a:fillRect l="-694" r="-8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88085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4C0C0FA-3C32-2DC5-40DA-D07960709379}"/>
              </a:ext>
            </a:extLst>
          </p:cNvPr>
          <p:cNvSpPr>
            <a:spLocks noGrp="1"/>
          </p:cNvSpPr>
          <p:nvPr>
            <p:ph type="sldNum" sz="quarter" idx="10"/>
          </p:nvPr>
        </p:nvSpPr>
        <p:spPr/>
        <p:txBody>
          <a:bodyPr/>
          <a:lstStyle/>
          <a:p>
            <a:fld id="{4B0D34C0-35A8-654C-9FBA-7B4E017BD630}" type="slidenum">
              <a:rPr lang="en-US" altLang="zh-CN" smtClean="0"/>
              <a:t>69</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连接运算的基数估计示例</a:t>
            </a:r>
            <a:endParaRPr kumimoji="1" lang="zh-CN" altLang="en-US" dirty="0"/>
          </a:p>
        </p:txBody>
      </p:sp>
      <p:sp>
        <p:nvSpPr>
          <p:cNvPr id="6" name="页脚占位符 5">
            <a:extLst>
              <a:ext uri="{FF2B5EF4-FFF2-40B4-BE49-F238E27FC236}">
                <a16:creationId xmlns:a16="http://schemas.microsoft.com/office/drawing/2014/main" id="{9A80E2CC-0CE1-D8A3-A942-47D7AFA17BF0}"/>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1521440" cy="4527137"/>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zh-CN" sz="2200" b="1" kern="100" dirty="0">
                    <a:latin typeface="+mj-ea"/>
                    <a:ea typeface="+mj-ea"/>
                    <a:cs typeface="Times New Roman" panose="02020603050405020304" pitchFamily="18" charset="0"/>
                  </a:rPr>
                  <a:t>三个关系</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𝟏</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𝟐</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𝟑</m:t>
                        </m:r>
                      </m:sub>
                    </m:sSub>
                  </m:oMath>
                </a14:m>
                <a:r>
                  <a:rPr lang="zh-CN" altLang="zh-CN" sz="2200" b="1" kern="100" dirty="0">
                    <a:latin typeface="+mj-ea"/>
                    <a:ea typeface="+mj-ea"/>
                    <a:cs typeface="Times New Roman" panose="02020603050405020304" pitchFamily="18" charset="0"/>
                  </a:rPr>
                  <a:t>在属性</a:t>
                </a:r>
                <a14:m>
                  <m:oMath xmlns:m="http://schemas.openxmlformats.org/officeDocument/2006/math">
                    <m:r>
                      <a:rPr lang="en-US" altLang="zh-CN" sz="2200" b="1" kern="100">
                        <a:latin typeface="Cambria Math" panose="02040503050406030204" pitchFamily="18" charset="0"/>
                        <a:ea typeface="+mj-ea"/>
                        <a:cs typeface="Times New Roman" panose="02020603050405020304" pitchFamily="18" charset="0"/>
                      </a:rPr>
                      <m:t>𝐀</m:t>
                    </m:r>
                  </m:oMath>
                </a14:m>
                <a:r>
                  <a:rPr lang="zh-CN" altLang="zh-CN" sz="2200" b="1" kern="100" dirty="0">
                    <a:latin typeface="+mj-ea"/>
                    <a:ea typeface="+mj-ea"/>
                    <a:cs typeface="Times New Roman" panose="02020603050405020304" pitchFamily="18" charset="0"/>
                  </a:rPr>
                  <a:t>上进行自然连接</a:t>
                </a:r>
                <a:r>
                  <a:rPr lang="zh-CN" altLang="en-US" sz="2200" b="1" kern="100" dirty="0">
                    <a:latin typeface="+mj-ea"/>
                    <a:ea typeface="+mj-ea"/>
                    <a:cs typeface="Times New Roman" panose="02020603050405020304" pitchFamily="18" charset="0"/>
                  </a:rPr>
                  <a:t>，估计连接结果的基数</a:t>
                </a:r>
                <a:endParaRPr lang="en-US" altLang="zh-CN" sz="22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zh-CN" altLang="zh-CN" sz="2200" b="1"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200" b="1" kern="100" dirty="0">
                    <a:latin typeface="+mj-ea"/>
                    <a:ea typeface="+mj-ea"/>
                    <a:cs typeface="Times New Roman" panose="02020603050405020304" pitchFamily="18" charset="0"/>
                  </a:rPr>
                  <a:t>对</a:t>
                </a:r>
                <a14:m>
                  <m:oMath xmlns:m="http://schemas.openxmlformats.org/officeDocument/2006/math">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m:t>
                        </m:r>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𝟏</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𝟐</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𝟑</m:t>
                        </m:r>
                      </m:sub>
                    </m:sSub>
                    <m:r>
                      <a:rPr lang="zh-CN" altLang="en-US" sz="2200" b="1" kern="100">
                        <a:latin typeface="Cambria Math" panose="02040503050406030204" pitchFamily="18" charset="0"/>
                        <a:ea typeface="+mj-ea"/>
                        <a:cs typeface="Times New Roman" panose="02020603050405020304" pitchFamily="18" charset="0"/>
                      </a:rPr>
                      <m:t>和</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𝟏</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𝟐</m:t>
                        </m:r>
                      </m:sub>
                    </m:sSub>
                    <m:r>
                      <a:rPr lang="en-US" altLang="zh-CN" sz="2200" b="1" kern="100">
                        <a:latin typeface="Cambria Math" panose="02040503050406030204" pitchFamily="18" charset="0"/>
                        <a:ea typeface="+mj-ea"/>
                        <a:cs typeface="Times New Roman" panose="02020603050405020304" pitchFamily="18" charset="0"/>
                      </a:rPr>
                      <m:t>⋈</m:t>
                    </m:r>
                    <m:sSub>
                      <m:sSubPr>
                        <m:ctrlPr>
                          <a:rPr lang="zh-CN" altLang="zh-CN" sz="2200" b="1" i="1" kern="100">
                            <a:latin typeface="Cambria Math" panose="02040503050406030204" pitchFamily="18" charset="0"/>
                            <a:ea typeface="+mj-ea"/>
                            <a:cs typeface="Times New Roman" panose="02020603050405020304" pitchFamily="18" charset="0"/>
                          </a:rPr>
                        </m:ctrlPr>
                      </m:sSubPr>
                      <m:e>
                        <m:r>
                          <a:rPr lang="en-US" altLang="zh-CN" sz="2200" b="1" kern="100">
                            <a:latin typeface="Cambria Math" panose="02040503050406030204" pitchFamily="18" charset="0"/>
                            <a:ea typeface="+mj-ea"/>
                            <a:cs typeface="Times New Roman" panose="02020603050405020304" pitchFamily="18" charset="0"/>
                          </a:rPr>
                          <m:t>𝑹</m:t>
                        </m:r>
                      </m:e>
                      <m:sub>
                        <m:r>
                          <a:rPr lang="en-US" altLang="zh-CN" sz="2200" b="1" kern="100">
                            <a:latin typeface="Cambria Math" panose="02040503050406030204" pitchFamily="18" charset="0"/>
                            <a:ea typeface="+mj-ea"/>
                            <a:cs typeface="Times New Roman" panose="02020603050405020304" pitchFamily="18" charset="0"/>
                          </a:rPr>
                          <m:t>𝟑</m:t>
                        </m:r>
                      </m:sub>
                    </m:sSub>
                    <m:r>
                      <a:rPr lang="en-US" altLang="zh-CN" sz="2200" b="1" kern="100">
                        <a:latin typeface="Cambria Math" panose="02040503050406030204" pitchFamily="18" charset="0"/>
                        <a:ea typeface="+mj-ea"/>
                        <a:cs typeface="Times New Roman" panose="02020603050405020304" pitchFamily="18" charset="0"/>
                      </a:rPr>
                      <m:t>)</m:t>
                    </m:r>
                    <m:r>
                      <a:rPr lang="zh-CN" altLang="en-US" sz="2200" b="1" kern="100">
                        <a:latin typeface="Cambria Math" panose="02040503050406030204" pitchFamily="18" charset="0"/>
                        <a:ea typeface="+mj-ea"/>
                        <a:cs typeface="Times New Roman" panose="02020603050405020304" pitchFamily="18" charset="0"/>
                      </a:rPr>
                      <m:t>两种连接</m:t>
                    </m:r>
                  </m:oMath>
                </a14:m>
                <a:r>
                  <a:rPr lang="zh-CN" altLang="zh-CN" sz="2200" b="1" kern="100" dirty="0">
                    <a:latin typeface="+mj-ea"/>
                    <a:ea typeface="+mj-ea"/>
                    <a:cs typeface="Times New Roman" panose="02020603050405020304" pitchFamily="18" charset="0"/>
                  </a:rPr>
                  <a:t>顺序</a:t>
                </a:r>
                <a:r>
                  <a:rPr lang="zh-CN" altLang="en-US" sz="2200" b="1" kern="100" dirty="0">
                    <a:latin typeface="+mj-ea"/>
                    <a:ea typeface="+mj-ea"/>
                    <a:cs typeface="Times New Roman" panose="02020603050405020304" pitchFamily="18" charset="0"/>
                  </a:rPr>
                  <a:t>分别</a:t>
                </a:r>
                <a:r>
                  <a:rPr lang="zh-CN" altLang="zh-CN" sz="2200" b="1" kern="100" dirty="0">
                    <a:latin typeface="+mj-ea"/>
                    <a:ea typeface="+mj-ea"/>
                    <a:cs typeface="Times New Roman" panose="02020603050405020304" pitchFamily="18" charset="0"/>
                  </a:rPr>
                  <a:t>进行估计</a:t>
                </a:r>
                <a:endParaRPr lang="en-US" altLang="zh-CN" sz="2200" b="1" kern="100" dirty="0">
                  <a:latin typeface="+mj-ea"/>
                  <a:ea typeface="+mj-ea"/>
                  <a:cs typeface="Times New Roman" panose="02020603050405020304" pitchFamily="18" charset="0"/>
                </a:endParaRPr>
              </a:p>
              <a:p>
                <a:pPr marL="342900" indent="-3429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26800"/>
                <a:ext cx="11521440" cy="4527137"/>
              </a:xfrm>
              <a:prstGeom prst="rect">
                <a:avLst/>
              </a:prstGeom>
              <a:blipFill rotWithShape="0">
                <a:blip r:embed="rId3"/>
                <a:stretch>
                  <a:fillRect l="-5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D358EF96-33BE-3BF4-F188-A4E6591E34FC}"/>
                  </a:ext>
                </a:extLst>
              </p:cNvPr>
              <p:cNvGraphicFramePr>
                <a:graphicFrameLocks noGrp="1"/>
              </p:cNvGraphicFramePr>
              <p:nvPr>
                <p:extLst>
                  <p:ext uri="{D42A27DB-BD31-4B8C-83A1-F6EECF244321}">
                    <p14:modId xmlns:p14="http://schemas.microsoft.com/office/powerpoint/2010/main" val="13749374"/>
                  </p:ext>
                </p:extLst>
              </p:nvPr>
            </p:nvGraphicFramePr>
            <p:xfrm>
              <a:off x="2455026" y="1929398"/>
              <a:ext cx="7280706" cy="2218236"/>
            </p:xfrm>
            <a:graphic>
              <a:graphicData uri="http://schemas.openxmlformats.org/drawingml/2006/table">
                <a:tbl>
                  <a:tblPr firstRow="1" firstCol="1" bandRow="1">
                    <a:tableStyleId>{72833802-FEF1-4C79-8D5D-14CF1EAF98D9}</a:tableStyleId>
                  </a:tblPr>
                  <a:tblGrid>
                    <a:gridCol w="2426609">
                      <a:extLst>
                        <a:ext uri="{9D8B030D-6E8A-4147-A177-3AD203B41FA5}">
                          <a16:colId xmlns:a16="http://schemas.microsoft.com/office/drawing/2014/main" val="771932668"/>
                        </a:ext>
                      </a:extLst>
                    </a:gridCol>
                    <a:gridCol w="2426609">
                      <a:extLst>
                        <a:ext uri="{9D8B030D-6E8A-4147-A177-3AD203B41FA5}">
                          <a16:colId xmlns:a16="http://schemas.microsoft.com/office/drawing/2014/main" val="4120033317"/>
                        </a:ext>
                      </a:extLst>
                    </a:gridCol>
                    <a:gridCol w="2427488">
                      <a:extLst>
                        <a:ext uri="{9D8B030D-6E8A-4147-A177-3AD203B41FA5}">
                          <a16:colId xmlns:a16="http://schemas.microsoft.com/office/drawing/2014/main" val="378477707"/>
                        </a:ext>
                      </a:extLst>
                    </a:gridCol>
                  </a:tblGrid>
                  <a:tr h="554559">
                    <a:tc>
                      <a:txBody>
                        <a:bodyPr/>
                        <a:lstStyle/>
                        <a:p>
                          <a:pPr indent="127000" algn="ctr">
                            <a:lnSpc>
                              <a:spcPct val="150000"/>
                            </a:lnSpc>
                          </a:pPr>
                          <a:r>
                            <a:rPr lang="zh-CN" sz="2400" kern="100" dirty="0">
                              <a:effectLst/>
                            </a:rPr>
                            <a:t>关系</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altLang="zh-CN" sz="2400" i="1" kern="100" smtClean="0">
                                    <a:latin typeface="Cambria Math" panose="02040503050406030204" pitchFamily="18" charset="0"/>
                                    <a:ea typeface="SimHei" panose="02010609060101010101" pitchFamily="49" charset="-122"/>
                                    <a:cs typeface="Times New Roman" panose="02020603050405020304" pitchFamily="18" charset="0"/>
                                  </a:rPr>
                                  <m:t>𝑇</m:t>
                                </m:r>
                                <m:r>
                                  <a:rPr lang="en-US" sz="2400" kern="100">
                                    <a:effectLst/>
                                    <a:latin typeface="Cambria Math" panose="02040503050406030204" pitchFamily="18" charset="0"/>
                                  </a:rPr>
                                  <m:t>(</m:t>
                                </m:r>
                                <m:sSub>
                                  <m:sSubPr>
                                    <m:ctrlPr>
                                      <a:rPr lang="zh-CN" sz="2400" i="1" kern="100">
                                        <a:effectLst/>
                                        <a:latin typeface="Cambria Math" panose="02040503050406030204" pitchFamily="18" charset="0"/>
                                      </a:rPr>
                                    </m:ctrlPr>
                                  </m:sSubPr>
                                  <m:e>
                                    <m:r>
                                      <a:rPr lang="en-US" sz="2400" kern="100">
                                        <a:effectLst/>
                                        <a:latin typeface="Cambria Math" panose="02040503050406030204" pitchFamily="18" charset="0"/>
                                      </a:rPr>
                                      <m:t>𝑅</m:t>
                                    </m:r>
                                  </m:e>
                                  <m:sub>
                                    <m:r>
                                      <a:rPr lang="en-US" sz="2400" kern="100">
                                        <a:effectLst/>
                                        <a:latin typeface="Cambria Math" panose="02040503050406030204" pitchFamily="18" charset="0"/>
                                      </a:rPr>
                                      <m:t>𝑖</m:t>
                                    </m:r>
                                  </m:sub>
                                </m:sSub>
                                <m:r>
                                  <a:rPr lang="en-US" sz="2400" kern="100">
                                    <a:effectLst/>
                                    <a:latin typeface="Cambria Math" panose="02040503050406030204" pitchFamily="18" charset="0"/>
                                  </a:rPr>
                                  <m:t>)</m:t>
                                </m:r>
                              </m:oMath>
                            </m:oMathPara>
                          </a14:m>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2400" kern="100">
                                    <a:effectLst/>
                                    <a:latin typeface="Cambria Math" panose="02040503050406030204" pitchFamily="18" charset="0"/>
                                  </a:rPr>
                                  <m:t>𝑉</m:t>
                                </m:r>
                                <m:d>
                                  <m:dPr>
                                    <m:ctrlPr>
                                      <a:rPr lang="zh-CN" sz="2400" i="1" kern="100">
                                        <a:effectLst/>
                                        <a:latin typeface="Cambria Math" panose="02040503050406030204" pitchFamily="18" charset="0"/>
                                      </a:rPr>
                                    </m:ctrlPr>
                                  </m:dPr>
                                  <m:e>
                                    <m:sSub>
                                      <m:sSubPr>
                                        <m:ctrlPr>
                                          <a:rPr lang="zh-CN" sz="2400" i="1" kern="100">
                                            <a:effectLst/>
                                            <a:latin typeface="Cambria Math" panose="02040503050406030204" pitchFamily="18" charset="0"/>
                                          </a:rPr>
                                        </m:ctrlPr>
                                      </m:sSubPr>
                                      <m:e>
                                        <m:r>
                                          <a:rPr lang="en-US" sz="2400" kern="100">
                                            <a:effectLst/>
                                            <a:latin typeface="Cambria Math" panose="02040503050406030204" pitchFamily="18" charset="0"/>
                                          </a:rPr>
                                          <m:t>𝑅</m:t>
                                        </m:r>
                                      </m:e>
                                      <m:sub>
                                        <m:r>
                                          <a:rPr lang="en-US" sz="2400" kern="100">
                                            <a:effectLst/>
                                            <a:latin typeface="Cambria Math" panose="02040503050406030204" pitchFamily="18" charset="0"/>
                                          </a:rPr>
                                          <m:t>𝑖</m:t>
                                        </m:r>
                                      </m:sub>
                                    </m:sSub>
                                    <m:r>
                                      <a:rPr lang="en-US" sz="2400" kern="100">
                                        <a:effectLst/>
                                        <a:latin typeface="Cambria Math" panose="02040503050406030204" pitchFamily="18" charset="0"/>
                                      </a:rPr>
                                      <m:t>,</m:t>
                                    </m:r>
                                    <m:r>
                                      <a:rPr lang="en-US" sz="2400" kern="100">
                                        <a:effectLst/>
                                        <a:latin typeface="Cambria Math" panose="02040503050406030204" pitchFamily="18" charset="0"/>
                                      </a:rPr>
                                      <m:t>𝐴</m:t>
                                    </m:r>
                                  </m:e>
                                </m:d>
                              </m:oMath>
                            </m:oMathPara>
                          </a14:m>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388404674"/>
                      </a:ext>
                    </a:extLst>
                  </a:tr>
                  <a:tr h="554559">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sSub>
                                  <m:sSubPr>
                                    <m:ctrlPr>
                                      <a:rPr lang="zh-CN" sz="2400" i="1" kern="100">
                                        <a:effectLst/>
                                        <a:latin typeface="Cambria Math" panose="02040503050406030204" pitchFamily="18" charset="0"/>
                                      </a:rPr>
                                    </m:ctrlPr>
                                  </m:sSubPr>
                                  <m:e>
                                    <m:r>
                                      <a:rPr lang="en-US" sz="2400" kern="100">
                                        <a:effectLst/>
                                        <a:latin typeface="Cambria Math" panose="02040503050406030204" pitchFamily="18" charset="0"/>
                                      </a:rPr>
                                      <m:t>𝑅</m:t>
                                    </m:r>
                                  </m:e>
                                  <m:sub>
                                    <m:r>
                                      <a:rPr lang="en-US" sz="2400" kern="100">
                                        <a:effectLst/>
                                        <a:latin typeface="Cambria Math" panose="02040503050406030204" pitchFamily="18" charset="0"/>
                                      </a:rPr>
                                      <m:t>1</m:t>
                                    </m:r>
                                  </m:sub>
                                </m:sSub>
                              </m:oMath>
                            </m:oMathPara>
                          </a14:m>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a:effectLst/>
                            </a:rPr>
                            <a:t>100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a:effectLst/>
                            </a:rPr>
                            <a:t>10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81213741"/>
                      </a:ext>
                    </a:extLst>
                  </a:tr>
                  <a:tr h="554559">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sSub>
                                  <m:sSubPr>
                                    <m:ctrlPr>
                                      <a:rPr lang="zh-CN" sz="2400" i="1" kern="100">
                                        <a:effectLst/>
                                        <a:latin typeface="Cambria Math" panose="02040503050406030204" pitchFamily="18" charset="0"/>
                                      </a:rPr>
                                    </m:ctrlPr>
                                  </m:sSubPr>
                                  <m:e>
                                    <m:r>
                                      <a:rPr lang="en-US" sz="2400" kern="100">
                                        <a:effectLst/>
                                        <a:latin typeface="Cambria Math" panose="02040503050406030204" pitchFamily="18" charset="0"/>
                                      </a:rPr>
                                      <m:t>𝑅</m:t>
                                    </m:r>
                                  </m:e>
                                  <m:sub>
                                    <m:r>
                                      <a:rPr lang="en-US" sz="2400" kern="100">
                                        <a:effectLst/>
                                        <a:latin typeface="Cambria Math" panose="02040503050406030204" pitchFamily="18" charset="0"/>
                                      </a:rPr>
                                      <m:t>2</m:t>
                                    </m:r>
                                  </m:sub>
                                </m:sSub>
                              </m:oMath>
                            </m:oMathPara>
                          </a14:m>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dirty="0">
                              <a:effectLst/>
                            </a:rPr>
                            <a:t>500</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a:effectLst/>
                            </a:rPr>
                            <a:t>20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966073954"/>
                      </a:ext>
                    </a:extLst>
                  </a:tr>
                  <a:tr h="554559">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sSub>
                                  <m:sSubPr>
                                    <m:ctrlPr>
                                      <a:rPr lang="zh-CN" sz="2400" i="1" kern="100">
                                        <a:effectLst/>
                                        <a:latin typeface="Cambria Math" panose="02040503050406030204" pitchFamily="18" charset="0"/>
                                      </a:rPr>
                                    </m:ctrlPr>
                                  </m:sSubPr>
                                  <m:e>
                                    <m:r>
                                      <a:rPr lang="en-US" sz="2400" kern="100">
                                        <a:effectLst/>
                                        <a:latin typeface="Cambria Math" panose="02040503050406030204" pitchFamily="18" charset="0"/>
                                      </a:rPr>
                                      <m:t>𝑅</m:t>
                                    </m:r>
                                  </m:e>
                                  <m:sub>
                                    <m:r>
                                      <a:rPr lang="en-US" sz="2400" kern="100">
                                        <a:effectLst/>
                                        <a:latin typeface="Cambria Math" panose="02040503050406030204" pitchFamily="18" charset="0"/>
                                      </a:rPr>
                                      <m:t>3</m:t>
                                    </m:r>
                                  </m:sub>
                                </m:sSub>
                              </m:oMath>
                            </m:oMathPara>
                          </a14:m>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a:effectLst/>
                            </a:rPr>
                            <a:t>1000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dirty="0">
                              <a:effectLst/>
                            </a:rPr>
                            <a:t>50</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660033539"/>
                      </a:ext>
                    </a:extLst>
                  </a:tr>
                </a:tbl>
              </a:graphicData>
            </a:graphic>
          </p:graphicFrame>
        </mc:Choice>
        <mc:Fallback xmlns="">
          <p:graphicFrame>
            <p:nvGraphicFramePr>
              <p:cNvPr id="3" name="表格 2">
                <a:extLst>
                  <a:ext uri="{FF2B5EF4-FFF2-40B4-BE49-F238E27FC236}">
                    <a16:creationId xmlns:a16="http://schemas.microsoft.com/office/drawing/2014/main" xmlns:a14="http://schemas.microsoft.com/office/drawing/2010/main" xmlns="" id="{D358EF96-33BE-3BF4-F188-A4E6591E34FC}"/>
                  </a:ext>
                </a:extLst>
              </p:cNvPr>
              <p:cNvGraphicFramePr>
                <a:graphicFrameLocks noGrp="1"/>
              </p:cNvGraphicFramePr>
              <p:nvPr>
                <p:extLst>
                  <p:ext uri="{D42A27DB-BD31-4B8C-83A1-F6EECF244321}">
                    <p14:modId xmlns:p14="http://schemas.microsoft.com/office/powerpoint/2010/main" val="13749374"/>
                  </p:ext>
                </p:extLst>
              </p:nvPr>
            </p:nvGraphicFramePr>
            <p:xfrm>
              <a:off x="2455026" y="1929398"/>
              <a:ext cx="7280706" cy="2218236"/>
            </p:xfrm>
            <a:graphic>
              <a:graphicData uri="http://schemas.openxmlformats.org/drawingml/2006/table">
                <a:tbl>
                  <a:tblPr firstRow="1" firstCol="1" bandRow="1">
                    <a:tableStyleId>{72833802-FEF1-4C79-8D5D-14CF1EAF98D9}</a:tableStyleId>
                  </a:tblPr>
                  <a:tblGrid>
                    <a:gridCol w="2426609">
                      <a:extLst>
                        <a:ext uri="{9D8B030D-6E8A-4147-A177-3AD203B41FA5}">
                          <a16:colId xmlns:a16="http://schemas.microsoft.com/office/drawing/2014/main" xmlns:a14="http://schemas.microsoft.com/office/drawing/2010/main" xmlns="" val="771932668"/>
                        </a:ext>
                      </a:extLst>
                    </a:gridCol>
                    <a:gridCol w="2426609">
                      <a:extLst>
                        <a:ext uri="{9D8B030D-6E8A-4147-A177-3AD203B41FA5}">
                          <a16:colId xmlns:a16="http://schemas.microsoft.com/office/drawing/2014/main" xmlns:a14="http://schemas.microsoft.com/office/drawing/2010/main" xmlns="" val="4120033317"/>
                        </a:ext>
                      </a:extLst>
                    </a:gridCol>
                    <a:gridCol w="2427488">
                      <a:extLst>
                        <a:ext uri="{9D8B030D-6E8A-4147-A177-3AD203B41FA5}">
                          <a16:colId xmlns:a16="http://schemas.microsoft.com/office/drawing/2014/main" xmlns:a14="http://schemas.microsoft.com/office/drawing/2010/main" xmlns="" val="378477707"/>
                        </a:ext>
                      </a:extLst>
                    </a:gridCol>
                  </a:tblGrid>
                  <a:tr h="554559">
                    <a:tc>
                      <a:txBody>
                        <a:bodyPr/>
                        <a:lstStyle/>
                        <a:p>
                          <a:pPr indent="127000" algn="ctr">
                            <a:lnSpc>
                              <a:spcPct val="150000"/>
                            </a:lnSpc>
                          </a:pPr>
                          <a:r>
                            <a:rPr lang="zh-CN" sz="2400" kern="100" dirty="0">
                              <a:effectLst/>
                            </a:rPr>
                            <a:t>关系</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100251" t="-1099" r="-100503" b="-321978"/>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199749" t="-1099" r="-251" b="-321978"/>
                          </a:stretch>
                        </a:blipFill>
                      </a:tcPr>
                    </a:tc>
                    <a:extLst>
                      <a:ext uri="{0D108BD9-81ED-4DB2-BD59-A6C34878D82A}">
                        <a16:rowId xmlns:a16="http://schemas.microsoft.com/office/drawing/2014/main" xmlns:a14="http://schemas.microsoft.com/office/drawing/2010/main" xmlns="" val="2388404674"/>
                      </a:ext>
                    </a:extLst>
                  </a:tr>
                  <a:tr h="554559">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t="-100000" r="-200000" b="-218478"/>
                          </a:stretch>
                        </a:blipFill>
                      </a:tcPr>
                    </a:tc>
                    <a:tc>
                      <a:txBody>
                        <a:bodyPr/>
                        <a:lstStyle/>
                        <a:p>
                          <a:pPr indent="127000" algn="ctr">
                            <a:lnSpc>
                              <a:spcPct val="150000"/>
                            </a:lnSpc>
                          </a:pPr>
                          <a:r>
                            <a:rPr lang="en-US" sz="2400" kern="100">
                              <a:effectLst/>
                            </a:rPr>
                            <a:t>100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a:effectLst/>
                            </a:rPr>
                            <a:t>10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81213741"/>
                      </a:ext>
                    </a:extLst>
                  </a:tr>
                  <a:tr h="554559">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t="-202198" r="-200000" b="-120879"/>
                          </a:stretch>
                        </a:blipFill>
                      </a:tcPr>
                    </a:tc>
                    <a:tc>
                      <a:txBody>
                        <a:bodyPr/>
                        <a:lstStyle/>
                        <a:p>
                          <a:pPr indent="127000" algn="ctr">
                            <a:lnSpc>
                              <a:spcPct val="150000"/>
                            </a:lnSpc>
                          </a:pPr>
                          <a:r>
                            <a:rPr lang="en-US" sz="2400" kern="100" dirty="0">
                              <a:effectLst/>
                            </a:rPr>
                            <a:t>500</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a:effectLst/>
                            </a:rPr>
                            <a:t>20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66073954"/>
                      </a:ext>
                    </a:extLst>
                  </a:tr>
                  <a:tr h="554559">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t="-302198" r="-200000" b="-20879"/>
                          </a:stretch>
                        </a:blipFill>
                      </a:tcPr>
                    </a:tc>
                    <a:tc>
                      <a:txBody>
                        <a:bodyPr/>
                        <a:lstStyle/>
                        <a:p>
                          <a:pPr indent="127000" algn="ctr">
                            <a:lnSpc>
                              <a:spcPct val="150000"/>
                            </a:lnSpc>
                          </a:pPr>
                          <a:r>
                            <a:rPr lang="en-US" sz="2400" kern="100">
                              <a:effectLst/>
                            </a:rPr>
                            <a:t>1000</a:t>
                          </a:r>
                          <a:endParaRPr lang="zh-CN" sz="2400" kern="1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indent="127000" algn="ctr">
                            <a:lnSpc>
                              <a:spcPct val="150000"/>
                            </a:lnSpc>
                          </a:pPr>
                          <a:r>
                            <a:rPr lang="en-US" sz="2400" kern="100" dirty="0">
                              <a:effectLst/>
                            </a:rPr>
                            <a:t>50</a:t>
                          </a:r>
                          <a:endParaRPr lang="zh-CN" sz="2400" kern="1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660033539"/>
                      </a:ext>
                    </a:extLst>
                  </a:tr>
                </a:tbl>
              </a:graphicData>
            </a:graphic>
          </p:graphicFrame>
        </mc:Fallback>
      </mc:AlternateContent>
    </p:spTree>
    <p:extLst>
      <p:ext uri="{BB962C8B-B14F-4D97-AF65-F5344CB8AC3E}">
        <p14:creationId xmlns:p14="http://schemas.microsoft.com/office/powerpoint/2010/main" val="22474351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05878B4-D4FA-D178-BED9-E4C798E63980}"/>
              </a:ext>
            </a:extLst>
          </p:cNvPr>
          <p:cNvSpPr>
            <a:spLocks noGrp="1"/>
          </p:cNvSpPr>
          <p:nvPr>
            <p:ph type="sldNum" sz="quarter" idx="10"/>
          </p:nvPr>
        </p:nvSpPr>
        <p:spPr/>
        <p:txBody>
          <a:bodyPr/>
          <a:lstStyle/>
          <a:p>
            <a:fld id="{4B0D34C0-35A8-654C-9FBA-7B4E017BD630}" type="slidenum">
              <a:rPr lang="en-US" altLang="zh-CN" smtClean="0"/>
              <a:t>70</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连接运算的基数估计示例</a:t>
            </a:r>
            <a:endParaRPr kumimoji="1" lang="zh-CN" altLang="en-US" dirty="0"/>
          </a:p>
        </p:txBody>
      </p:sp>
      <p:sp>
        <p:nvSpPr>
          <p:cNvPr id="4" name="页脚占位符 3">
            <a:extLst>
              <a:ext uri="{FF2B5EF4-FFF2-40B4-BE49-F238E27FC236}">
                <a16:creationId xmlns:a16="http://schemas.microsoft.com/office/drawing/2014/main" id="{5AFABF42-7132-D5C3-A2E1-42350D2118FD}"/>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1521440" cy="4085927"/>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对</a:t>
                </a:r>
                <a14:m>
                  <m:oMath xmlns:m="http://schemas.openxmlformats.org/officeDocument/2006/math">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𝟏</m:t>
                        </m:r>
                      </m:sub>
                    </m:sSub>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𝟐</m:t>
                        </m:r>
                      </m:sub>
                    </m:sSub>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𝟑</m:t>
                        </m:r>
                      </m:sub>
                    </m:sSub>
                    <m:r>
                      <a:rPr lang="en-US" altLang="zh-CN" sz="2400" b="1" kern="100">
                        <a:latin typeface="Cambria Math" panose="02040503050406030204" pitchFamily="18" charset="0"/>
                        <a:ea typeface="+mj-ea"/>
                        <a:cs typeface="Times New Roman" panose="02020603050405020304" pitchFamily="18" charset="0"/>
                      </a:rPr>
                      <m:t> </m:t>
                    </m:r>
                  </m:oMath>
                </a14:m>
                <a:r>
                  <a:rPr lang="zh-CN" altLang="en-US" sz="2400" b="1" kern="100" dirty="0">
                    <a:latin typeface="+mj-ea"/>
                    <a:ea typeface="+mj-ea"/>
                    <a:cs typeface="Times New Roman" panose="02020603050405020304" pitchFamily="18" charset="0"/>
                  </a:rPr>
                  <a:t>的连接顺序进行估计</a:t>
                </a:r>
                <a:endParaRPr lang="en-US" altLang="zh-CN" sz="24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b="0" i="1" kern="100">
                        <a:latin typeface="Cambria Math" panose="02040503050406030204" pitchFamily="18" charset="0"/>
                        <a:ea typeface="+mj-ea"/>
                        <a:cs typeface="Times New Roman" panose="02020603050405020304" pitchFamily="18" charset="0"/>
                      </a:rPr>
                      <m:t>𝑇</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e>
                    </m:d>
                    <m:r>
                      <a:rPr lang="en-US" altLang="zh-CN" sz="2000" b="0" i="1">
                        <a:latin typeface="Cambria Math" panose="02040503050406030204" pitchFamily="18" charset="0"/>
                        <a:ea typeface="+mj-ea"/>
                      </a:rPr>
                      <m:t>=</m:t>
                    </m:r>
                    <m:f>
                      <m:fPr>
                        <m:ctrlPr>
                          <a:rPr lang="zh-CN" altLang="zh-CN" sz="2000" i="1">
                            <a:latin typeface="Cambria Math" panose="02040503050406030204" pitchFamily="18" charset="0"/>
                            <a:ea typeface="+mj-ea"/>
                          </a:rPr>
                        </m:ctrlPr>
                      </m:fPr>
                      <m:num>
                        <m:r>
                          <a:rPr lang="en-US" altLang="zh-CN" sz="2000" b="0" i="1" smtClean="0">
                            <a:latin typeface="Cambria Math" panose="02040503050406030204" pitchFamily="18" charset="0"/>
                            <a:ea typeface="+mj-ea"/>
                          </a:rPr>
                          <m:t>𝑇</m:t>
                        </m:r>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r>
                          <a:rPr lang="en-US" altLang="zh-CN" sz="2000" b="0" i="1" smtClean="0">
                            <a:latin typeface="Cambria Math" panose="02040503050406030204" pitchFamily="18" charset="0"/>
                            <a:ea typeface="+mj-ea"/>
                          </a:rPr>
                          <m:t>𝑇</m:t>
                        </m:r>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r>
                          <a:rPr lang="en-US" altLang="zh-CN" sz="2000" b="0" i="1">
                            <a:latin typeface="Cambria Math" panose="02040503050406030204" pitchFamily="18" charset="0"/>
                            <a:ea typeface="+mj-ea"/>
                          </a:rPr>
                          <m:t>)</m:t>
                        </m:r>
                      </m:num>
                      <m:den>
                        <m:r>
                          <a:rPr lang="en-US" altLang="zh-CN" sz="2000" b="0" i="1">
                            <a:latin typeface="Cambria Math" panose="02040503050406030204" pitchFamily="18" charset="0"/>
                            <a:ea typeface="+mj-ea"/>
                          </a:rPr>
                          <m:t>𝑚𝑎𝑥</m:t>
                        </m:r>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r>
                          <a:rPr lang="en-US" altLang="zh-CN" sz="2000" b="0" i="1">
                            <a:latin typeface="Cambria Math" panose="02040503050406030204" pitchFamily="18" charset="0"/>
                            <a:ea typeface="+mj-ea"/>
                          </a:rPr>
                          <m:t>)</m:t>
                        </m:r>
                      </m:den>
                    </m:f>
                    <m:r>
                      <a:rPr lang="en-US" altLang="zh-CN" sz="2000" b="0" i="1">
                        <a:latin typeface="Cambria Math" panose="02040503050406030204" pitchFamily="18" charset="0"/>
                        <a:ea typeface="+mj-ea"/>
                      </a:rPr>
                      <m:t>= </m:t>
                    </m:r>
                    <m:f>
                      <m:fPr>
                        <m:ctrlPr>
                          <a:rPr lang="zh-CN" altLang="zh-CN" sz="2000" i="1">
                            <a:latin typeface="Cambria Math" panose="02040503050406030204" pitchFamily="18" charset="0"/>
                            <a:ea typeface="+mj-ea"/>
                          </a:rPr>
                        </m:ctrlPr>
                      </m:fPr>
                      <m:num>
                        <m:r>
                          <a:rPr lang="en-US" altLang="zh-CN" sz="2000" b="0" i="1">
                            <a:latin typeface="Cambria Math" panose="02040503050406030204" pitchFamily="18" charset="0"/>
                            <a:ea typeface="+mj-ea"/>
                          </a:rPr>
                          <m:t>100×500</m:t>
                        </m:r>
                      </m:num>
                      <m:den>
                        <m:r>
                          <a:rPr lang="en-US" altLang="zh-CN" sz="2000" b="0" i="1">
                            <a:latin typeface="Cambria Math" panose="02040503050406030204" pitchFamily="18" charset="0"/>
                            <a:ea typeface="+mj-ea"/>
                          </a:rPr>
                          <m:t>20</m:t>
                        </m:r>
                      </m:den>
                    </m:f>
                    <m:r>
                      <a:rPr lang="en-US" altLang="zh-CN" sz="2000" b="0" i="1">
                        <a:latin typeface="Cambria Math" panose="02040503050406030204" pitchFamily="18" charset="0"/>
                        <a:ea typeface="+mj-ea"/>
                      </a:rPr>
                      <m:t>=2500</m:t>
                    </m:r>
                  </m:oMath>
                </a14:m>
                <a:endParaRPr lang="en-US" altLang="zh-CN" sz="2000"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r>
                  <a:rPr lang="zh-CN" altLang="zh-CN" sz="2000" dirty="0">
                    <a:latin typeface="+mj-ea"/>
                    <a:ea typeface="+mj-ea"/>
                  </a:rPr>
                  <a:t>用</a:t>
                </a:r>
                <a14:m>
                  <m:oMath xmlns:m="http://schemas.openxmlformats.org/officeDocument/2006/math">
                    <m:sSup>
                      <m:sSupPr>
                        <m:ctrlPr>
                          <a:rPr lang="zh-CN" altLang="zh-CN" sz="2000" i="1">
                            <a:latin typeface="Cambria Math" panose="02040503050406030204" pitchFamily="18" charset="0"/>
                            <a:ea typeface="+mj-ea"/>
                          </a:rPr>
                        </m:ctrlPr>
                      </m:sSupPr>
                      <m:e>
                        <m:r>
                          <a:rPr lang="en-US" altLang="zh-CN" sz="2000" b="0" i="1">
                            <a:latin typeface="Cambria Math" panose="02040503050406030204" pitchFamily="18" charset="0"/>
                            <a:ea typeface="+mj-ea"/>
                          </a:rPr>
                          <m:t>𝑅</m:t>
                        </m:r>
                      </m:e>
                      <m:sup>
                        <m:r>
                          <a:rPr lang="en-US" altLang="zh-CN" sz="2000" b="0" i="1">
                            <a:latin typeface="Cambria Math" panose="02040503050406030204" pitchFamily="18" charset="0"/>
                            <a:ea typeface="+mj-ea"/>
                          </a:rPr>
                          <m:t>′</m:t>
                        </m:r>
                      </m:sup>
                    </m:sSup>
                  </m:oMath>
                </a14:m>
                <a:r>
                  <a:rPr lang="zh-CN" altLang="zh-CN" sz="2000" dirty="0">
                    <a:latin typeface="+mj-ea"/>
                    <a:ea typeface="+mj-ea"/>
                  </a:rPr>
                  <a:t>表示</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oMath>
                </a14:m>
                <a:r>
                  <a:rPr lang="zh-CN" altLang="en-US" sz="2000" dirty="0">
                    <a:latin typeface="+mj-ea"/>
                    <a:ea typeface="+mj-ea"/>
                  </a:rPr>
                  <a:t>，</a:t>
                </a:r>
                <a14:m>
                  <m:oMath xmlns:m="http://schemas.openxmlformats.org/officeDocument/2006/math">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p>
                          <m:sSupPr>
                            <m:ctrlPr>
                              <a:rPr lang="zh-CN" altLang="zh-CN" sz="2000" i="1">
                                <a:latin typeface="Cambria Math" panose="02040503050406030204" pitchFamily="18" charset="0"/>
                                <a:ea typeface="+mj-ea"/>
                              </a:rPr>
                            </m:ctrlPr>
                          </m:sSupPr>
                          <m:e>
                            <m:r>
                              <a:rPr lang="en-US" altLang="zh-CN" sz="2000" b="0" i="1">
                                <a:latin typeface="Cambria Math" panose="02040503050406030204" pitchFamily="18" charset="0"/>
                                <a:ea typeface="+mj-ea"/>
                              </a:rPr>
                              <m:t>𝑅</m:t>
                            </m:r>
                          </m:e>
                          <m:sup>
                            <m:r>
                              <a:rPr lang="en-US" altLang="zh-CN" sz="2000" b="0" i="1">
                                <a:latin typeface="Cambria Math" panose="02040503050406030204" pitchFamily="18" charset="0"/>
                                <a:ea typeface="+mj-ea"/>
                              </a:rPr>
                              <m:t>′</m:t>
                            </m:r>
                          </m:sup>
                        </m:sSup>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𝑚𝑖𝑛</m:t>
                    </m:r>
                    <m:d>
                      <m:dPr>
                        <m:ctrlPr>
                          <a:rPr lang="zh-CN" altLang="zh-CN" sz="2000" i="1">
                            <a:latin typeface="Cambria Math" panose="02040503050406030204" pitchFamily="18" charset="0"/>
                            <a:ea typeface="+mj-ea"/>
                          </a:rPr>
                        </m:ctrlPr>
                      </m:dPr>
                      <m:e>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1</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2</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e>
                    </m:d>
                    <m:r>
                      <a:rPr lang="en-US" altLang="zh-CN" sz="2000" b="0" i="1">
                        <a:latin typeface="Cambria Math" panose="02040503050406030204" pitchFamily="18" charset="0"/>
                        <a:ea typeface="+mj-ea"/>
                      </a:rPr>
                      <m:t>=10</m:t>
                    </m:r>
                  </m:oMath>
                </a14:m>
                <a:endParaRPr lang="en-US" altLang="zh-CN" sz="2000" dirty="0">
                  <a:latin typeface="+mj-ea"/>
                  <a:ea typeface="+mj-ea"/>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b="0" i="1" kern="100">
                        <a:latin typeface="Cambria Math" panose="02040503050406030204" pitchFamily="18" charset="0"/>
                        <a:ea typeface="+mj-ea"/>
                        <a:cs typeface="Times New Roman" panose="02020603050405020304" pitchFamily="18" charset="0"/>
                      </a:rPr>
                      <m:t>𝑇</m:t>
                    </m:r>
                    <m:d>
                      <m:dPr>
                        <m:ctrlPr>
                          <a:rPr lang="zh-CN" altLang="zh-CN" sz="2000" i="1">
                            <a:latin typeface="Cambria Math" panose="02040503050406030204" pitchFamily="18" charset="0"/>
                            <a:ea typeface="+mj-ea"/>
                          </a:rPr>
                        </m:ctrlPr>
                      </m:dPr>
                      <m:e>
                        <m:sSup>
                          <m:sSupPr>
                            <m:ctrlPr>
                              <a:rPr lang="zh-CN" altLang="zh-CN" sz="2000" i="1">
                                <a:latin typeface="Cambria Math" panose="02040503050406030204" pitchFamily="18" charset="0"/>
                                <a:ea typeface="+mj-ea"/>
                              </a:rPr>
                            </m:ctrlPr>
                          </m:sSupPr>
                          <m:e>
                            <m:r>
                              <a:rPr lang="en-US" altLang="zh-CN" sz="2000" b="0" i="1">
                                <a:latin typeface="Cambria Math" panose="02040503050406030204" pitchFamily="18" charset="0"/>
                                <a:ea typeface="+mj-ea"/>
                              </a:rPr>
                              <m:t>𝑅</m:t>
                            </m:r>
                          </m:e>
                          <m:sup>
                            <m:r>
                              <a:rPr lang="en-US" altLang="zh-CN" sz="2000" b="0" i="1">
                                <a:latin typeface="Cambria Math" panose="02040503050406030204" pitchFamily="18" charset="0"/>
                                <a:ea typeface="+mj-ea"/>
                              </a:rPr>
                              <m:t>′</m:t>
                            </m:r>
                          </m:sup>
                        </m:sSup>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3</m:t>
                            </m:r>
                          </m:sub>
                        </m:sSub>
                      </m:e>
                    </m:d>
                    <m:r>
                      <a:rPr lang="en-US" altLang="zh-CN" sz="2000" b="0" i="1">
                        <a:latin typeface="Cambria Math" panose="02040503050406030204" pitchFamily="18" charset="0"/>
                        <a:ea typeface="+mj-ea"/>
                      </a:rPr>
                      <m:t>=</m:t>
                    </m:r>
                    <m:f>
                      <m:fPr>
                        <m:ctrlPr>
                          <a:rPr lang="zh-CN" altLang="zh-CN" sz="2000" i="1">
                            <a:latin typeface="Cambria Math" panose="02040503050406030204" pitchFamily="18" charset="0"/>
                            <a:ea typeface="+mj-ea"/>
                          </a:rPr>
                        </m:ctrlPr>
                      </m:fPr>
                      <m:num>
                        <m:r>
                          <a:rPr lang="en-US" altLang="zh-CN" sz="2000" b="0" i="1" kern="100">
                            <a:latin typeface="Cambria Math" panose="02040503050406030204" pitchFamily="18" charset="0"/>
                            <a:ea typeface="+mj-ea"/>
                            <a:cs typeface="Times New Roman" panose="02020603050405020304" pitchFamily="18" charset="0"/>
                          </a:rPr>
                          <m:t>𝑇</m:t>
                        </m:r>
                        <m:r>
                          <a:rPr lang="en-US" altLang="zh-CN" sz="2000" b="0" i="1">
                            <a:latin typeface="Cambria Math" panose="02040503050406030204" pitchFamily="18" charset="0"/>
                            <a:ea typeface="+mj-ea"/>
                          </a:rPr>
                          <m:t>(</m:t>
                        </m:r>
                        <m:sSup>
                          <m:sSupPr>
                            <m:ctrlPr>
                              <a:rPr lang="zh-CN" altLang="zh-CN" sz="2000" i="1">
                                <a:latin typeface="Cambria Math" panose="02040503050406030204" pitchFamily="18" charset="0"/>
                                <a:ea typeface="+mj-ea"/>
                              </a:rPr>
                            </m:ctrlPr>
                          </m:sSupPr>
                          <m:e>
                            <m:r>
                              <a:rPr lang="en-US" altLang="zh-CN" sz="2000" b="0" i="1">
                                <a:latin typeface="Cambria Math" panose="02040503050406030204" pitchFamily="18" charset="0"/>
                                <a:ea typeface="+mj-ea"/>
                              </a:rPr>
                              <m:t>𝑅</m:t>
                            </m:r>
                          </m:e>
                          <m:sup>
                            <m:r>
                              <a:rPr lang="en-US" altLang="zh-CN" sz="2000" b="0" i="1">
                                <a:latin typeface="Cambria Math" panose="02040503050406030204" pitchFamily="18" charset="0"/>
                                <a:ea typeface="+mj-ea"/>
                              </a:rPr>
                              <m:t>′</m:t>
                            </m:r>
                          </m:sup>
                        </m:sSup>
                        <m:r>
                          <a:rPr lang="en-US" altLang="zh-CN" sz="2000" b="0" i="1">
                            <a:latin typeface="Cambria Math" panose="02040503050406030204" pitchFamily="18" charset="0"/>
                            <a:ea typeface="+mj-ea"/>
                          </a:rPr>
                          <m:t>)×</m:t>
                        </m:r>
                        <m:r>
                          <a:rPr lang="en-US" altLang="zh-CN" sz="2000" b="0" i="1" kern="100">
                            <a:latin typeface="Cambria Math" panose="02040503050406030204" pitchFamily="18" charset="0"/>
                            <a:ea typeface="+mj-ea"/>
                            <a:cs typeface="Times New Roman" panose="02020603050405020304" pitchFamily="18" charset="0"/>
                          </a:rPr>
                          <m:t>𝑇</m:t>
                        </m:r>
                        <m:r>
                          <a:rPr lang="en-US" altLang="zh-CN" sz="2000" b="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3</m:t>
                            </m:r>
                          </m:sub>
                        </m:sSub>
                        <m:r>
                          <a:rPr lang="en-US" altLang="zh-CN" sz="2000" b="0" i="1">
                            <a:latin typeface="Cambria Math" panose="02040503050406030204" pitchFamily="18" charset="0"/>
                            <a:ea typeface="+mj-ea"/>
                          </a:rPr>
                          <m:t>)</m:t>
                        </m:r>
                      </m:num>
                      <m:den>
                        <m:r>
                          <a:rPr lang="en-US" altLang="zh-CN" sz="2000" b="0" i="1">
                            <a:latin typeface="Cambria Math" panose="02040503050406030204" pitchFamily="18" charset="0"/>
                            <a:ea typeface="+mj-ea"/>
                          </a:rPr>
                          <m:t>𝑚𝑎𝑥</m:t>
                        </m:r>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p>
                              <m:sSupPr>
                                <m:ctrlPr>
                                  <a:rPr lang="zh-CN" altLang="zh-CN" sz="2000" i="1">
                                    <a:latin typeface="Cambria Math" panose="02040503050406030204" pitchFamily="18" charset="0"/>
                                    <a:ea typeface="+mj-ea"/>
                                  </a:rPr>
                                </m:ctrlPr>
                              </m:sSupPr>
                              <m:e>
                                <m:r>
                                  <a:rPr lang="en-US" altLang="zh-CN" sz="2000" b="0" i="1">
                                    <a:latin typeface="Cambria Math" panose="02040503050406030204" pitchFamily="18" charset="0"/>
                                    <a:ea typeface="+mj-ea"/>
                                  </a:rPr>
                                  <m:t>𝑅</m:t>
                                </m:r>
                              </m:e>
                              <m:sup>
                                <m:r>
                                  <a:rPr lang="en-US" altLang="zh-CN" sz="2000" b="0" i="1">
                                    <a:latin typeface="Cambria Math" panose="02040503050406030204" pitchFamily="18" charset="0"/>
                                    <a:ea typeface="+mj-ea"/>
                                  </a:rPr>
                                  <m:t>′</m:t>
                                </m:r>
                              </m:sup>
                            </m:sSup>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b="0" i="1">
                                    <a:latin typeface="Cambria Math" panose="02040503050406030204" pitchFamily="18" charset="0"/>
                                    <a:ea typeface="+mj-ea"/>
                                  </a:rPr>
                                  <m:t>𝑅</m:t>
                                </m:r>
                              </m:e>
                              <m:sub>
                                <m:r>
                                  <a:rPr lang="en-US" altLang="zh-CN" sz="2000" b="0" i="1">
                                    <a:latin typeface="Cambria Math" panose="02040503050406030204" pitchFamily="18" charset="0"/>
                                    <a:ea typeface="+mj-ea"/>
                                  </a:rPr>
                                  <m:t>3</m:t>
                                </m:r>
                              </m:sub>
                            </m:sSub>
                            <m:r>
                              <a:rPr lang="en-US" altLang="zh-CN" sz="2000" b="0" i="1">
                                <a:latin typeface="Cambria Math" panose="02040503050406030204" pitchFamily="18" charset="0"/>
                                <a:ea typeface="+mj-ea"/>
                              </a:rPr>
                              <m:t>,</m:t>
                            </m:r>
                            <m:r>
                              <a:rPr lang="en-US" altLang="zh-CN" sz="2000" b="0" i="1">
                                <a:latin typeface="Cambria Math" panose="02040503050406030204" pitchFamily="18" charset="0"/>
                                <a:ea typeface="+mj-ea"/>
                              </a:rPr>
                              <m:t>𝐴</m:t>
                            </m:r>
                          </m:e>
                        </m:d>
                        <m:r>
                          <a:rPr lang="en-US" altLang="zh-CN" sz="2000" b="0" i="1">
                            <a:latin typeface="Cambria Math" panose="02040503050406030204" pitchFamily="18" charset="0"/>
                            <a:ea typeface="+mj-ea"/>
                          </a:rPr>
                          <m:t>)</m:t>
                        </m:r>
                      </m:den>
                    </m:f>
                    <m:r>
                      <a:rPr lang="en-US" altLang="zh-CN" sz="2000" b="0" i="1">
                        <a:latin typeface="Cambria Math" panose="02040503050406030204" pitchFamily="18" charset="0"/>
                        <a:ea typeface="+mj-ea"/>
                      </a:rPr>
                      <m:t>= </m:t>
                    </m:r>
                    <m:f>
                      <m:fPr>
                        <m:ctrlPr>
                          <a:rPr lang="zh-CN" altLang="zh-CN" sz="2000" i="1">
                            <a:latin typeface="Cambria Math" panose="02040503050406030204" pitchFamily="18" charset="0"/>
                            <a:ea typeface="+mj-ea"/>
                          </a:rPr>
                        </m:ctrlPr>
                      </m:fPr>
                      <m:num>
                        <m:r>
                          <a:rPr lang="en-US" altLang="zh-CN" sz="2000" b="0" i="1">
                            <a:latin typeface="Cambria Math" panose="02040503050406030204" pitchFamily="18" charset="0"/>
                            <a:ea typeface="+mj-ea"/>
                          </a:rPr>
                          <m:t>2500×1000</m:t>
                        </m:r>
                      </m:num>
                      <m:den>
                        <m:r>
                          <a:rPr lang="en-US" altLang="zh-CN" sz="2000" b="0" i="1">
                            <a:latin typeface="Cambria Math" panose="02040503050406030204" pitchFamily="18" charset="0"/>
                            <a:ea typeface="+mj-ea"/>
                          </a:rPr>
                          <m:t>50</m:t>
                        </m:r>
                      </m:den>
                    </m:f>
                    <m:r>
                      <a:rPr lang="en-US" altLang="zh-CN" sz="2000" b="0" i="1">
                        <a:latin typeface="Cambria Math" panose="02040503050406030204" pitchFamily="18" charset="0"/>
                        <a:ea typeface="+mj-ea"/>
                      </a:rPr>
                      <m:t>=50000</m:t>
                    </m:r>
                  </m:oMath>
                </a14:m>
                <a:endParaRPr lang="zh-CN" altLang="zh-CN" sz="2000" i="1" dirty="0">
                  <a:latin typeface="+mj-ea"/>
                  <a:ea typeface="+mj-ea"/>
                </a:endParaRPr>
              </a:p>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因此对结果基数的估计为</a:t>
                </a:r>
                <a:r>
                  <a:rPr lang="en-US" altLang="zh-CN" sz="2400" b="1" kern="100" dirty="0">
                    <a:latin typeface="+mj-ea"/>
                    <a:ea typeface="+mj-ea"/>
                    <a:cs typeface="Times New Roman" panose="02020603050405020304" pitchFamily="18" charset="0"/>
                  </a:rPr>
                  <a:t>50000</a:t>
                </a: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26800"/>
                <a:ext cx="11521440" cy="4085927"/>
              </a:xfrm>
              <a:prstGeom prst="rect">
                <a:avLst/>
              </a:prstGeom>
              <a:blipFill rotWithShape="0">
                <a:blip r:embed="rId3"/>
                <a:stretch>
                  <a:fillRect l="-6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12498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46E587E-7D30-6AB2-2560-2DE8EA29EC7B}"/>
              </a:ext>
            </a:extLst>
          </p:cNvPr>
          <p:cNvSpPr>
            <a:spLocks noGrp="1"/>
          </p:cNvSpPr>
          <p:nvPr>
            <p:ph type="sldNum" sz="quarter" idx="10"/>
          </p:nvPr>
        </p:nvSpPr>
        <p:spPr/>
        <p:txBody>
          <a:bodyPr/>
          <a:lstStyle/>
          <a:p>
            <a:fld id="{4B0D34C0-35A8-654C-9FBA-7B4E017BD630}" type="slidenum">
              <a:rPr lang="en-US" altLang="zh-CN" smtClean="0"/>
              <a:t>71</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连接运算的基数估计示例</a:t>
            </a:r>
            <a:endParaRPr kumimoji="1" lang="zh-CN" altLang="en-US" dirty="0"/>
          </a:p>
        </p:txBody>
      </p:sp>
      <p:sp>
        <p:nvSpPr>
          <p:cNvPr id="4" name="页脚占位符 3">
            <a:extLst>
              <a:ext uri="{FF2B5EF4-FFF2-40B4-BE49-F238E27FC236}">
                <a16:creationId xmlns:a16="http://schemas.microsoft.com/office/drawing/2014/main" id="{2773921A-6B9A-4623-1817-AF39447CC141}"/>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1521440" cy="4027256"/>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对</a:t>
                </a:r>
                <a14:m>
                  <m:oMath xmlns:m="http://schemas.openxmlformats.org/officeDocument/2006/math">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𝟏</m:t>
                        </m:r>
                      </m:sub>
                    </m:sSub>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𝟐</m:t>
                        </m:r>
                      </m:sub>
                    </m:sSub>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𝟑</m:t>
                        </m:r>
                      </m:sub>
                    </m:sSub>
                    <m:r>
                      <a:rPr lang="en-US" altLang="zh-CN" sz="2400" b="1" kern="100">
                        <a:latin typeface="Cambria Math" panose="02040503050406030204" pitchFamily="18" charset="0"/>
                        <a:ea typeface="+mj-ea"/>
                        <a:cs typeface="Times New Roman" panose="02020603050405020304" pitchFamily="18" charset="0"/>
                      </a:rPr>
                      <m:t>)</m:t>
                    </m:r>
                  </m:oMath>
                </a14:m>
                <a:r>
                  <a:rPr lang="zh-CN" altLang="en-US" sz="2400" b="1" kern="100" dirty="0">
                    <a:latin typeface="+mj-ea"/>
                    <a:ea typeface="+mj-ea"/>
                    <a:cs typeface="Times New Roman" panose="02020603050405020304" pitchFamily="18" charset="0"/>
                  </a:rPr>
                  <a:t>的连接顺序进行估计</a:t>
                </a:r>
                <a:endParaRPr lang="en-US" altLang="zh-CN" sz="2400" b="1" kern="100" dirty="0">
                  <a:latin typeface="+mj-ea"/>
                  <a:ea typeface="+mj-ea"/>
                  <a:cs typeface="Times New Roman" panose="02020603050405020304" pitchFamily="18" charset="0"/>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3</m:t>
                            </m:r>
                          </m:sub>
                        </m:sSub>
                      </m:e>
                    </m:d>
                    <m:r>
                      <a:rPr lang="en-US" altLang="zh-CN" sz="2000">
                        <a:latin typeface="Cambria Math" panose="02040503050406030204" pitchFamily="18" charset="0"/>
                        <a:ea typeface="+mj-ea"/>
                      </a:rPr>
                      <m:t>=</m:t>
                    </m:r>
                    <m:f>
                      <m:fPr>
                        <m:ctrlPr>
                          <a:rPr lang="zh-CN" altLang="zh-CN" sz="2000" i="1">
                            <a:latin typeface="Cambria Math" panose="02040503050406030204" pitchFamily="18" charset="0"/>
                            <a:ea typeface="+mj-ea"/>
                          </a:rPr>
                        </m:ctrlPr>
                      </m:fPr>
                      <m:num>
                        <m:r>
                          <a:rPr lang="en-US" altLang="zh-CN" sz="2000" i="1" kern="100">
                            <a:latin typeface="Cambria Math" panose="02040503050406030204" pitchFamily="18" charset="0"/>
                            <a:ea typeface="+mj-ea"/>
                            <a:cs typeface="Times New Roman" panose="02020603050405020304" pitchFamily="18" charset="0"/>
                          </a:rPr>
                          <m:t>𝑇</m:t>
                        </m:r>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r>
                          <a:rPr lang="en-US" altLang="zh-CN" sz="2000">
                            <a:latin typeface="Cambria Math" panose="02040503050406030204" pitchFamily="18" charset="0"/>
                            <a:ea typeface="+mj-ea"/>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3</m:t>
                            </m:r>
                          </m:sub>
                        </m:sSub>
                        <m:r>
                          <a:rPr lang="en-US" altLang="zh-CN" sz="2000">
                            <a:latin typeface="Cambria Math" panose="02040503050406030204" pitchFamily="18" charset="0"/>
                            <a:ea typeface="+mj-ea"/>
                          </a:rPr>
                          <m:t>)</m:t>
                        </m:r>
                      </m:num>
                      <m:den>
                        <m:r>
                          <m:rPr>
                            <m:sty m:val="p"/>
                          </m:rPr>
                          <a:rPr lang="en-US" altLang="zh-CN" sz="2000">
                            <a:latin typeface="Cambria Math" panose="02040503050406030204" pitchFamily="18" charset="0"/>
                            <a:ea typeface="+mj-ea"/>
                          </a:rPr>
                          <m:t>max</m:t>
                        </m:r>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𝐴</m:t>
                            </m:r>
                          </m:e>
                        </m:d>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3</m:t>
                                </m:r>
                              </m:sub>
                            </m:sSub>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𝐴</m:t>
                            </m:r>
                          </m:e>
                        </m:d>
                        <m:r>
                          <a:rPr lang="en-US" altLang="zh-CN" sz="2000">
                            <a:latin typeface="Cambria Math" panose="02040503050406030204" pitchFamily="18" charset="0"/>
                            <a:ea typeface="+mj-ea"/>
                          </a:rPr>
                          <m:t>)</m:t>
                        </m:r>
                      </m:den>
                    </m:f>
                    <m:r>
                      <a:rPr lang="en-US" altLang="zh-CN" sz="2000">
                        <a:latin typeface="Cambria Math" panose="02040503050406030204" pitchFamily="18" charset="0"/>
                        <a:ea typeface="+mj-ea"/>
                      </a:rPr>
                      <m:t>= </m:t>
                    </m:r>
                    <m:f>
                      <m:fPr>
                        <m:ctrlPr>
                          <a:rPr lang="zh-CN" altLang="zh-CN" sz="2000" i="1">
                            <a:latin typeface="Cambria Math" panose="02040503050406030204" pitchFamily="18" charset="0"/>
                            <a:ea typeface="+mj-ea"/>
                          </a:rPr>
                        </m:ctrlPr>
                      </m:fPr>
                      <m:num>
                        <m:r>
                          <a:rPr lang="en-US" altLang="zh-CN" sz="2000">
                            <a:latin typeface="Cambria Math" panose="02040503050406030204" pitchFamily="18" charset="0"/>
                            <a:ea typeface="+mj-ea"/>
                          </a:rPr>
                          <m:t>500×1000</m:t>
                        </m:r>
                      </m:num>
                      <m:den>
                        <m:r>
                          <a:rPr lang="en-US" altLang="zh-CN" sz="2000">
                            <a:latin typeface="Cambria Math" panose="02040503050406030204" pitchFamily="18" charset="0"/>
                            <a:ea typeface="+mj-ea"/>
                          </a:rPr>
                          <m:t>50</m:t>
                        </m:r>
                      </m:den>
                    </m:f>
                    <m:r>
                      <a:rPr lang="en-US" altLang="zh-CN" sz="2000">
                        <a:latin typeface="Cambria Math" panose="02040503050406030204" pitchFamily="18" charset="0"/>
                        <a:ea typeface="+mj-ea"/>
                      </a:rPr>
                      <m:t>=10000</m:t>
                    </m:r>
                  </m:oMath>
                </a14:m>
                <a:endParaRPr lang="zh-CN" altLang="zh-CN" sz="2000" dirty="0">
                  <a:latin typeface="+mj-ea"/>
                  <a:ea typeface="+mj-ea"/>
                </a:endParaRPr>
              </a:p>
              <a:p>
                <a:pPr marL="914400" lvl="1" indent="-457200" algn="just">
                  <a:lnSpc>
                    <a:spcPct val="150000"/>
                  </a:lnSpc>
                  <a:buFont typeface="Arial" panose="020B0604020202020204" pitchFamily="34" charset="0"/>
                  <a:buChar char="•"/>
                </a:pPr>
                <a:r>
                  <a:rPr lang="zh-CN" altLang="zh-CN" sz="2000" dirty="0">
                    <a:latin typeface="+mj-ea"/>
                    <a:ea typeface="+mj-ea"/>
                  </a:rPr>
                  <a:t>用</a:t>
                </a:r>
                <a14:m>
                  <m:oMath xmlns:m="http://schemas.openxmlformats.org/officeDocument/2006/math">
                    <m:sSup>
                      <m:sSupPr>
                        <m:ctrlPr>
                          <a:rPr lang="zh-CN" altLang="zh-CN" sz="2000" i="1">
                            <a:latin typeface="Cambria Math" panose="02040503050406030204" pitchFamily="18" charset="0"/>
                            <a:ea typeface="+mj-ea"/>
                          </a:rPr>
                        </m:ctrlPr>
                      </m:sSupPr>
                      <m:e>
                        <m:r>
                          <a:rPr lang="en-US" altLang="zh-CN" sz="2000" i="1">
                            <a:latin typeface="Cambria Math" panose="02040503050406030204" pitchFamily="18" charset="0"/>
                            <a:ea typeface="+mj-ea"/>
                          </a:rPr>
                          <m:t>𝑅</m:t>
                        </m:r>
                      </m:e>
                      <m:sup>
                        <m:r>
                          <a:rPr lang="en-US" altLang="zh-CN" sz="2000" i="1">
                            <a:latin typeface="Cambria Math" panose="02040503050406030204" pitchFamily="18" charset="0"/>
                            <a:ea typeface="+mj-ea"/>
                          </a:rPr>
                          <m:t>′′</m:t>
                        </m:r>
                      </m:sup>
                    </m:sSup>
                  </m:oMath>
                </a14:m>
                <a:r>
                  <a:rPr lang="zh-CN" altLang="zh-CN" sz="2000" dirty="0">
                    <a:latin typeface="+mj-ea"/>
                    <a:ea typeface="+mj-ea"/>
                  </a:rPr>
                  <a:t>表示</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3</m:t>
                        </m:r>
                      </m:sub>
                    </m:sSub>
                  </m:oMath>
                </a14:m>
                <a:r>
                  <a:rPr lang="zh-CN" altLang="zh-CN" sz="2000" i="1" dirty="0">
                    <a:latin typeface="+mj-ea"/>
                    <a:ea typeface="+mj-ea"/>
                  </a:rPr>
                  <a:t> </a:t>
                </a:r>
                <a:r>
                  <a:rPr lang="zh-CN" altLang="en-US" sz="2000" dirty="0">
                    <a:latin typeface="+mj-ea"/>
                    <a:ea typeface="+mj-ea"/>
                  </a:rPr>
                  <a:t>，</a:t>
                </a:r>
                <a14:m>
                  <m:oMath xmlns:m="http://schemas.openxmlformats.org/officeDocument/2006/math">
                    <m:r>
                      <a:rPr lang="en-US" altLang="zh-CN" sz="200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p>
                          <m:sSupPr>
                            <m:ctrlPr>
                              <a:rPr lang="zh-CN" altLang="zh-CN" sz="2000" i="1">
                                <a:latin typeface="Cambria Math" panose="02040503050406030204" pitchFamily="18" charset="0"/>
                                <a:ea typeface="+mj-ea"/>
                              </a:rPr>
                            </m:ctrlPr>
                          </m:sSupPr>
                          <m:e>
                            <m:r>
                              <a:rPr lang="en-US" altLang="zh-CN" sz="2000" i="1">
                                <a:latin typeface="Cambria Math" panose="02040503050406030204" pitchFamily="18" charset="0"/>
                                <a:ea typeface="+mj-ea"/>
                              </a:rPr>
                              <m:t>𝑅</m:t>
                            </m:r>
                          </m:e>
                          <m:sup>
                            <m:r>
                              <a:rPr lang="en-US" altLang="zh-CN" sz="2000" i="1">
                                <a:latin typeface="Cambria Math" panose="02040503050406030204" pitchFamily="18" charset="0"/>
                                <a:ea typeface="+mj-ea"/>
                              </a:rPr>
                              <m:t>′′</m:t>
                            </m:r>
                          </m:sup>
                        </m:sSup>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𝐴</m:t>
                        </m:r>
                      </m:e>
                    </m:d>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𝑚𝑖𝑛</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𝐴</m:t>
                            </m:r>
                          </m:e>
                        </m:d>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3</m:t>
                                </m:r>
                              </m:sub>
                            </m:sSub>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𝐴</m:t>
                            </m:r>
                          </m:e>
                        </m:d>
                      </m:e>
                    </m:d>
                    <m:r>
                      <a:rPr lang="en-US" altLang="zh-CN" sz="2000" i="1">
                        <a:latin typeface="Cambria Math" panose="02040503050406030204" pitchFamily="18" charset="0"/>
                        <a:ea typeface="+mj-ea"/>
                      </a:rPr>
                      <m:t>=20</m:t>
                    </m:r>
                  </m:oMath>
                </a14:m>
                <a:endParaRPr lang="en-US" altLang="zh-CN" sz="2000" i="1" dirty="0">
                  <a:latin typeface="+mj-ea"/>
                  <a:ea typeface="+mj-ea"/>
                </a:endParaRPr>
              </a:p>
              <a:p>
                <a:pPr marL="914400" lvl="1" indent="-457200" algn="just">
                  <a:lnSpc>
                    <a:spcPct val="150000"/>
                  </a:lnSpc>
                  <a:buFont typeface="Arial" panose="020B0604020202020204" pitchFamily="34" charset="0"/>
                  <a:buChar char="•"/>
                </a:pP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sSup>
                          <m:sSupPr>
                            <m:ctrlPr>
                              <a:rPr lang="zh-CN" altLang="zh-CN" sz="2000" i="1">
                                <a:latin typeface="Cambria Math" panose="02040503050406030204" pitchFamily="18" charset="0"/>
                                <a:ea typeface="+mj-ea"/>
                              </a:rPr>
                            </m:ctrlPr>
                          </m:sSupPr>
                          <m:e>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𝑅</m:t>
                            </m:r>
                          </m:e>
                          <m:sup>
                            <m:r>
                              <a:rPr lang="en-US" altLang="zh-CN" sz="2000">
                                <a:latin typeface="Cambria Math" panose="02040503050406030204" pitchFamily="18" charset="0"/>
                                <a:ea typeface="+mj-ea"/>
                              </a:rPr>
                              <m:t>′′</m:t>
                            </m:r>
                          </m:sup>
                        </m:sSup>
                      </m:e>
                    </m:d>
                    <m:r>
                      <a:rPr lang="en-US" altLang="zh-CN" sz="2000">
                        <a:latin typeface="Cambria Math" panose="02040503050406030204" pitchFamily="18" charset="0"/>
                        <a:ea typeface="+mj-ea"/>
                      </a:rPr>
                      <m:t>=</m:t>
                    </m:r>
                    <m:f>
                      <m:fPr>
                        <m:ctrlPr>
                          <a:rPr lang="zh-CN" altLang="zh-CN" sz="2000" i="1">
                            <a:latin typeface="Cambria Math" panose="02040503050406030204" pitchFamily="18" charset="0"/>
                            <a:ea typeface="+mj-ea"/>
                          </a:rPr>
                        </m:ctrlPr>
                      </m:fPr>
                      <m:num>
                        <m:r>
                          <a:rPr lang="en-US" altLang="zh-CN" sz="2000" i="1" kern="100">
                            <a:latin typeface="Cambria Math" panose="02040503050406030204" pitchFamily="18" charset="0"/>
                            <a:ea typeface="+mj-ea"/>
                            <a:cs typeface="Times New Roman" panose="02020603050405020304" pitchFamily="18" charset="0"/>
                          </a:rPr>
                          <m:t>𝑇</m:t>
                        </m:r>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r>
                          <a:rPr lang="en-US" altLang="zh-CN" sz="2000">
                            <a:latin typeface="Cambria Math" panose="02040503050406030204" pitchFamily="18" charset="0"/>
                            <a:ea typeface="+mj-ea"/>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a:latin typeface="Cambria Math" panose="02040503050406030204" pitchFamily="18" charset="0"/>
                            <a:ea typeface="+mj-ea"/>
                          </a:rPr>
                          <m:t>(</m:t>
                        </m:r>
                        <m:sSup>
                          <m:sSupPr>
                            <m:ctrlPr>
                              <a:rPr lang="zh-CN" altLang="zh-CN" sz="2000" i="1">
                                <a:latin typeface="Cambria Math" panose="02040503050406030204" pitchFamily="18" charset="0"/>
                                <a:ea typeface="+mj-ea"/>
                              </a:rPr>
                            </m:ctrlPr>
                          </m:sSupPr>
                          <m:e>
                            <m:r>
                              <a:rPr lang="en-US" altLang="zh-CN" sz="2000">
                                <a:latin typeface="Cambria Math" panose="02040503050406030204" pitchFamily="18" charset="0"/>
                                <a:ea typeface="+mj-ea"/>
                              </a:rPr>
                              <m:t>𝑅</m:t>
                            </m:r>
                          </m:e>
                          <m:sup>
                            <m:r>
                              <a:rPr lang="en-US" altLang="zh-CN" sz="2000">
                                <a:latin typeface="Cambria Math" panose="02040503050406030204" pitchFamily="18" charset="0"/>
                                <a:ea typeface="+mj-ea"/>
                              </a:rPr>
                              <m:t>′′</m:t>
                            </m:r>
                          </m:sup>
                        </m:sSup>
                        <m:r>
                          <a:rPr lang="en-US" altLang="zh-CN" sz="2000">
                            <a:latin typeface="Cambria Math" panose="02040503050406030204" pitchFamily="18" charset="0"/>
                            <a:ea typeface="+mj-ea"/>
                          </a:rPr>
                          <m:t>)</m:t>
                        </m:r>
                      </m:num>
                      <m:den>
                        <m:r>
                          <m:rPr>
                            <m:sty m:val="p"/>
                          </m:rPr>
                          <a:rPr lang="en-US" altLang="zh-CN" sz="2000">
                            <a:latin typeface="Cambria Math" panose="02040503050406030204" pitchFamily="18" charset="0"/>
                            <a:ea typeface="+mj-ea"/>
                          </a:rPr>
                          <m:t>max</m:t>
                        </m:r>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𝐴</m:t>
                            </m:r>
                          </m:e>
                        </m:d>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sSup>
                              <m:sSupPr>
                                <m:ctrlPr>
                                  <a:rPr lang="zh-CN" altLang="zh-CN" sz="2000" i="1">
                                    <a:latin typeface="Cambria Math" panose="02040503050406030204" pitchFamily="18" charset="0"/>
                                    <a:ea typeface="+mj-ea"/>
                                  </a:rPr>
                                </m:ctrlPr>
                              </m:sSupPr>
                              <m:e>
                                <m:r>
                                  <a:rPr lang="en-US" altLang="zh-CN" sz="2000">
                                    <a:latin typeface="Cambria Math" panose="02040503050406030204" pitchFamily="18" charset="0"/>
                                    <a:ea typeface="+mj-ea"/>
                                  </a:rPr>
                                  <m:t>𝑅</m:t>
                                </m:r>
                              </m:e>
                              <m:sup>
                                <m:r>
                                  <a:rPr lang="en-US" altLang="zh-CN" sz="2000">
                                    <a:latin typeface="Cambria Math" panose="02040503050406030204" pitchFamily="18" charset="0"/>
                                    <a:ea typeface="+mj-ea"/>
                                  </a:rPr>
                                  <m:t>′′</m:t>
                                </m:r>
                              </m:sup>
                            </m:sSup>
                            <m:r>
                              <a:rPr lang="en-US" altLang="zh-CN" sz="2000">
                                <a:latin typeface="Cambria Math" panose="02040503050406030204" pitchFamily="18" charset="0"/>
                                <a:ea typeface="+mj-ea"/>
                              </a:rPr>
                              <m:t>,</m:t>
                            </m:r>
                            <m:r>
                              <a:rPr lang="en-US" altLang="zh-CN" sz="2000">
                                <a:latin typeface="Cambria Math" panose="02040503050406030204" pitchFamily="18" charset="0"/>
                                <a:ea typeface="+mj-ea"/>
                              </a:rPr>
                              <m:t>𝐴</m:t>
                            </m:r>
                          </m:e>
                        </m:d>
                        <m:r>
                          <a:rPr lang="en-US" altLang="zh-CN" sz="2000">
                            <a:latin typeface="Cambria Math" panose="02040503050406030204" pitchFamily="18" charset="0"/>
                            <a:ea typeface="+mj-ea"/>
                          </a:rPr>
                          <m:t>)</m:t>
                        </m:r>
                      </m:den>
                    </m:f>
                    <m:r>
                      <a:rPr lang="en-US" altLang="zh-CN" sz="2000">
                        <a:latin typeface="Cambria Math" panose="02040503050406030204" pitchFamily="18" charset="0"/>
                        <a:ea typeface="+mj-ea"/>
                      </a:rPr>
                      <m:t>= </m:t>
                    </m:r>
                    <m:f>
                      <m:fPr>
                        <m:ctrlPr>
                          <a:rPr lang="zh-CN" altLang="zh-CN" sz="2000" i="1">
                            <a:latin typeface="Cambria Math" panose="02040503050406030204" pitchFamily="18" charset="0"/>
                            <a:ea typeface="+mj-ea"/>
                          </a:rPr>
                        </m:ctrlPr>
                      </m:fPr>
                      <m:num>
                        <m:r>
                          <a:rPr lang="en-US" altLang="zh-CN" sz="2000">
                            <a:latin typeface="Cambria Math" panose="02040503050406030204" pitchFamily="18" charset="0"/>
                            <a:ea typeface="+mj-ea"/>
                          </a:rPr>
                          <m:t>100×10000</m:t>
                        </m:r>
                      </m:num>
                      <m:den>
                        <m:r>
                          <a:rPr lang="en-US" altLang="zh-CN" sz="2000">
                            <a:latin typeface="Cambria Math" panose="02040503050406030204" pitchFamily="18" charset="0"/>
                            <a:ea typeface="+mj-ea"/>
                          </a:rPr>
                          <m:t>20</m:t>
                        </m:r>
                      </m:den>
                    </m:f>
                    <m:r>
                      <a:rPr lang="en-US" altLang="zh-CN" sz="2000">
                        <a:latin typeface="Cambria Math" panose="02040503050406030204" pitchFamily="18" charset="0"/>
                        <a:ea typeface="+mj-ea"/>
                      </a:rPr>
                      <m:t>=50000</m:t>
                    </m:r>
                  </m:oMath>
                </a14:m>
                <a:endParaRPr lang="zh-CN" altLang="zh-CN" sz="2000" dirty="0">
                  <a:latin typeface="+mj-ea"/>
                  <a:ea typeface="+mj-ea"/>
                </a:endParaRPr>
              </a:p>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因此对结果基数的估计同样为</a:t>
                </a:r>
                <a:r>
                  <a:rPr lang="en-US" altLang="zh-CN" sz="2400" b="1" kern="100" dirty="0">
                    <a:latin typeface="+mj-ea"/>
                    <a:ea typeface="+mj-ea"/>
                    <a:cs typeface="Times New Roman" panose="02020603050405020304" pitchFamily="18" charset="0"/>
                  </a:rPr>
                  <a:t>50000</a:t>
                </a:r>
              </a:p>
              <a:p>
                <a:pPr marL="457200" indent="-457200" algn="just">
                  <a:lnSpc>
                    <a:spcPct val="150000"/>
                  </a:lnSpc>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26800"/>
                <a:ext cx="11521440" cy="4027256"/>
              </a:xfrm>
              <a:prstGeom prst="rect">
                <a:avLst/>
              </a:prstGeom>
              <a:blipFill rotWithShape="0">
                <a:blip r:embed="rId3"/>
                <a:stretch>
                  <a:fillRect l="-6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84001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DB9A327-ECD8-4102-A8EA-EDF1561E8B95}"/>
              </a:ext>
            </a:extLst>
          </p:cNvPr>
          <p:cNvSpPr>
            <a:spLocks noGrp="1"/>
          </p:cNvSpPr>
          <p:nvPr>
            <p:ph type="sldNum" sz="quarter" idx="10"/>
          </p:nvPr>
        </p:nvSpPr>
        <p:spPr/>
        <p:txBody>
          <a:bodyPr/>
          <a:lstStyle/>
          <a:p>
            <a:fld id="{4B0D34C0-35A8-654C-9FBA-7B4E017BD630}" type="slidenum">
              <a:rPr lang="en-US" altLang="zh-CN" smtClean="0"/>
              <a:t>72</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4" name="页脚占位符 3">
            <a:extLst>
              <a:ext uri="{FF2B5EF4-FFF2-40B4-BE49-F238E27FC236}">
                <a16:creationId xmlns:a16="http://schemas.microsoft.com/office/drawing/2014/main" id="{E27F3506-3855-A975-B9AB-C4D84362E9E3}"/>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1521440" cy="5058308"/>
              </a:xfrm>
              <a:prstGeom prst="rect">
                <a:avLst/>
              </a:prstGeom>
            </p:spPr>
            <p:txBody>
              <a:bodyPr wrap="square">
                <a:spAutoFit/>
              </a:bodyPr>
              <a:lstStyle/>
              <a:p>
                <a:pPr marL="342900" indent="-342900" algn="just">
                  <a:lnSpc>
                    <a:spcPct val="20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情况</a:t>
                </a:r>
                <a:r>
                  <a:rPr lang="en-US" altLang="zh-CN" sz="2400" b="1" kern="100" dirty="0">
                    <a:latin typeface="+mj-ea"/>
                    <a:ea typeface="+mj-ea"/>
                    <a:cs typeface="Times New Roman" panose="02020603050405020304" pitchFamily="18" charset="0"/>
                  </a:rPr>
                  <a:t>2:</a:t>
                </a:r>
                <a:r>
                  <a:rPr lang="zh-CN" altLang="en-US" sz="2400" b="1" kern="100" dirty="0">
                    <a:latin typeface="+mj-ea"/>
                    <a:ea typeface="+mj-ea"/>
                    <a:cs typeface="Times New Roman" panose="02020603050405020304" pitchFamily="18" charset="0"/>
                  </a:rPr>
                  <a:t> </a:t>
                </a:r>
                <a:r>
                  <a:rPr lang="zh-CN" altLang="en-US" sz="2400" b="1" kern="100" dirty="0">
                    <a:solidFill>
                      <a:srgbClr val="701988"/>
                    </a:solidFill>
                    <a:latin typeface="+mj-ea"/>
                    <a:ea typeface="+mj-ea"/>
                    <a:cs typeface="Times New Roman" panose="02020603050405020304" pitchFamily="18" charset="0"/>
                  </a:rPr>
                  <a:t>两个关系在多个属性上连接</a:t>
                </a:r>
              </a:p>
              <a:p>
                <a:pPr marL="457200" indent="-457200" algn="just">
                  <a:lnSpc>
                    <a:spcPct val="200000"/>
                  </a:lnSpc>
                  <a:buFont typeface="Arial" panose="020B0604020202020204" pitchFamily="34" charset="0"/>
                  <a:buChar char="•"/>
                </a:pPr>
                <a:r>
                  <a:rPr lang="zh-CN" altLang="zh-CN" sz="2000" kern="100" dirty="0">
                    <a:latin typeface="+mj-ea"/>
                    <a:ea typeface="+mj-ea"/>
                    <a:cs typeface="Times New Roman" panose="02020603050405020304" pitchFamily="18" charset="0"/>
                  </a:rPr>
                  <a:t>考虑两个关系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oMath>
                </a14:m>
                <a:r>
                  <a:rPr lang="zh-CN" altLang="zh-CN" sz="2000" kern="100" dirty="0">
                    <a:latin typeface="+mj-ea"/>
                    <a:ea typeface="+mj-ea"/>
                    <a:cs typeface="Times New Roman" panose="02020603050405020304" pitchFamily="18" charset="0"/>
                  </a:rPr>
                  <a:t>和</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d>
                      <m:dPr>
                        <m:ctrlPr>
                          <a:rPr lang="en-US"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e>
                    </m:d>
                    <m:r>
                      <a:rPr lang="zh-CN" altLang="en-US" sz="2000" kern="100">
                        <a:latin typeface="Cambria Math" panose="02040503050406030204" pitchFamily="18" charset="0"/>
                        <a:ea typeface="+mj-ea"/>
                        <a:cs typeface="Times New Roman" panose="02020603050405020304" pitchFamily="18" charset="0"/>
                      </a:rPr>
                      <m:t>。</m:t>
                    </m:r>
                  </m:oMath>
                </a14:m>
                <a:endParaRPr lang="en-US" altLang="zh-CN" sz="2000" kern="100" dirty="0">
                  <a:latin typeface="+mj-ea"/>
                  <a:ea typeface="+mj-ea"/>
                  <a:cs typeface="Times New Roman" panose="02020603050405020304" pitchFamily="18" charset="0"/>
                </a:endParaRPr>
              </a:p>
              <a:p>
                <a:pPr marL="457200" indent="-457200" algn="just">
                  <a:lnSpc>
                    <a:spcPct val="200000"/>
                  </a:lnSpc>
                  <a:buFont typeface="Arial" panose="020B0604020202020204" pitchFamily="34" charset="0"/>
                  <a:buChar char="•"/>
                </a:pPr>
                <a:r>
                  <a:rPr lang="zh-CN" altLang="zh-CN" sz="2000" kern="100" dirty="0">
                    <a:latin typeface="+mj-ea"/>
                    <a:ea typeface="+mj-ea"/>
                    <a:cs typeface="Times New Roman" panose="02020603050405020304" pitchFamily="18" charset="0"/>
                  </a:rPr>
                  <a:t>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oMath>
                </a14:m>
                <a:r>
                  <a:rPr lang="zh-CN" altLang="zh-CN" sz="2000" kern="100" dirty="0">
                    <a:latin typeface="+mj-ea"/>
                    <a:ea typeface="+mj-ea"/>
                    <a:cs typeface="Times New Roman" panose="02020603050405020304" pitchFamily="18" charset="0"/>
                  </a:rPr>
                  <a:t>为这两个关系进行自然连接的属性</a:t>
                </a:r>
                <a:r>
                  <a:rPr lang="zh-CN" altLang="en-US" sz="2000" kern="100" dirty="0">
                    <a:latin typeface="+mj-ea"/>
                    <a:ea typeface="+mj-ea"/>
                    <a:cs typeface="Times New Roman" panose="02020603050405020304" pitchFamily="18" charset="0"/>
                  </a:rPr>
                  <a:t>集合</a:t>
                </a:r>
                <a:r>
                  <a:rPr lang="zh-CN" altLang="zh-CN" sz="2000" kern="100" dirty="0">
                    <a:latin typeface="+mj-ea"/>
                    <a:ea typeface="+mj-ea"/>
                    <a:cs typeface="Times New Roman" panose="02020603050405020304" pitchFamily="18" charset="0"/>
                  </a:rPr>
                  <a:t>，</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𝐵</m:t>
                    </m:r>
                  </m:oMath>
                </a14:m>
                <a:r>
                  <a:rPr lang="zh-CN" altLang="zh-CN" sz="2000" kern="100" dirty="0">
                    <a:latin typeface="+mj-ea"/>
                    <a:ea typeface="+mj-ea"/>
                    <a:cs typeface="Times New Roman" panose="02020603050405020304" pitchFamily="18" charset="0"/>
                  </a:rPr>
                  <a:t>和</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𝐶</m:t>
                    </m:r>
                  </m:oMath>
                </a14:m>
                <a:r>
                  <a:rPr lang="zh-CN" altLang="zh-CN" sz="2000" kern="100" dirty="0">
                    <a:latin typeface="+mj-ea"/>
                    <a:ea typeface="+mj-ea"/>
                    <a:cs typeface="Times New Roman" panose="02020603050405020304" pitchFamily="18" charset="0"/>
                  </a:rPr>
                  <a:t>分别是关系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oMath>
                </a14:m>
                <a:r>
                  <a:rPr lang="zh-CN" altLang="zh-CN" sz="2000" kern="100" dirty="0">
                    <a:latin typeface="+mj-ea"/>
                    <a:ea typeface="+mj-ea"/>
                    <a:cs typeface="Times New Roman" panose="02020603050405020304" pitchFamily="18" charset="0"/>
                  </a:rPr>
                  <a:t>和</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oMath>
                </a14:m>
                <a:r>
                  <a:rPr lang="zh-CN" altLang="zh-CN" sz="2000" kern="100" dirty="0">
                    <a:latin typeface="+mj-ea"/>
                    <a:ea typeface="+mj-ea"/>
                    <a:cs typeface="Times New Roman" panose="02020603050405020304" pitchFamily="18" charset="0"/>
                  </a:rPr>
                  <a:t>的非连接属性。</a:t>
                </a:r>
                <a:endParaRPr lang="en-US" altLang="zh-CN" sz="2000" kern="100" dirty="0">
                  <a:latin typeface="+mj-ea"/>
                  <a:ea typeface="+mj-ea"/>
                  <a:cs typeface="Times New Roman" panose="02020603050405020304" pitchFamily="18" charset="0"/>
                </a:endParaRPr>
              </a:p>
              <a:p>
                <a:pPr marL="457200" indent="-457200" algn="just">
                  <a:lnSpc>
                    <a:spcPct val="200000"/>
                  </a:lnSpc>
                  <a:buFont typeface="Arial" panose="020B0604020202020204" pitchFamily="34" charset="0"/>
                  <a:buChar char="•"/>
                </a:pPr>
                <a:r>
                  <a:rPr lang="zh-CN" altLang="zh-CN" sz="2000" kern="100" dirty="0">
                    <a:latin typeface="+mj-ea"/>
                    <a:ea typeface="+mj-ea"/>
                    <a:cs typeface="Times New Roman" panose="02020603050405020304" pitchFamily="18" charset="0"/>
                  </a:rPr>
                  <a:t>要进行结果基数估计的自然连接是</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a:t>
                </a:r>
                <a:endParaRPr lang="en-US" altLang="zh-CN" sz="2000" kern="100" dirty="0">
                  <a:latin typeface="+mj-ea"/>
                  <a:ea typeface="+mj-ea"/>
                  <a:cs typeface="Times New Roman" panose="02020603050405020304" pitchFamily="18" charset="0"/>
                </a:endParaRPr>
              </a:p>
              <a:p>
                <a:pPr marL="457200" indent="-457200" algn="just">
                  <a:lnSpc>
                    <a:spcPct val="200000"/>
                  </a:lnSpc>
                  <a:buFont typeface="Arial" panose="020B0604020202020204" pitchFamily="34" charset="0"/>
                  <a:buChar char="•"/>
                </a:pPr>
                <a14:m>
                  <m:oMath xmlns:m="http://schemas.openxmlformats.org/officeDocument/2006/math">
                    <m:r>
                      <a:rPr lang="zh-CN" altLang="en-US" sz="2000" i="1" kern="100" dirty="0" smtClean="0">
                        <a:latin typeface="Cambria Math" panose="02040503050406030204" pitchFamily="18" charset="0"/>
                        <a:ea typeface="+mj-ea"/>
                        <a:cs typeface="Times New Roman" panose="02020603050405020304" pitchFamily="18" charset="0"/>
                      </a:rPr>
                      <m:t>基数估计</m:t>
                    </m:r>
                    <m:r>
                      <a:rPr lang="zh-CN" altLang="en-US" sz="2000" i="1" kern="100" dirty="0">
                        <a:latin typeface="Cambria Math" panose="02040503050406030204" pitchFamily="18" charset="0"/>
                        <a:ea typeface="+mj-ea"/>
                        <a:cs typeface="Times New Roman" panose="02020603050405020304" pitchFamily="18" charset="0"/>
                      </a:rPr>
                      <m:t>结果</m:t>
                    </m:r>
                    <m:r>
                      <a:rPr lang="zh-CN" altLang="en-US" sz="2000" i="1" kern="100" dirty="0" smtClean="0">
                        <a:latin typeface="Cambria Math" panose="02040503050406030204" pitchFamily="18" charset="0"/>
                        <a:ea typeface="+mj-ea"/>
                        <a:cs typeface="Times New Roman" panose="02020603050405020304" pitchFamily="18" charset="0"/>
                      </a:rPr>
                      <m:t>为</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𝐵</m:t>
                            </m:r>
                          </m:e>
                        </m:d>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𝐶</m:t>
                            </m:r>
                          </m:e>
                        </m:d>
                      </m:e>
                    </m:d>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num>
                      <m:den>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a:rPr lang="en-US" altLang="zh-CN" sz="2000" kern="100">
                                <a:latin typeface="Cambria Math" panose="02040503050406030204" pitchFamily="18" charset="0"/>
                                <a:ea typeface="+mj-ea"/>
                                <a:cs typeface="Times New Roman" panose="02020603050405020304" pitchFamily="18" charset="0"/>
                              </a:rPr>
                              <m:t>𝑎</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sub>
                          <m:sup/>
                          <m:e>
                            <m:r>
                              <m:rPr>
                                <m:sty m:val="p"/>
                              </m:rPr>
                              <a:rPr lang="en-US" altLang="zh-CN" sz="2000" kern="100">
                                <a:latin typeface="Cambria Math" panose="02040503050406030204" pitchFamily="18" charset="0"/>
                                <a:ea typeface="+mj-ea"/>
                                <a:cs typeface="Times New Roman" panose="02020603050405020304" pitchFamily="18" charset="0"/>
                              </a:rPr>
                              <m:t>max</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𝑎</m:t>
                                </m:r>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𝑎</m:t>
                                </m:r>
                              </m:e>
                            </m:d>
                            <m:r>
                              <a:rPr lang="en-US" altLang="zh-CN" sz="2000" kern="100">
                                <a:latin typeface="Cambria Math" panose="02040503050406030204" pitchFamily="18" charset="0"/>
                                <a:ea typeface="+mj-ea"/>
                                <a:cs typeface="Times New Roman" panose="02020603050405020304" pitchFamily="18" charset="0"/>
                              </a:rPr>
                              <m:t>)</m:t>
                            </m:r>
                          </m:e>
                        </m:nary>
                      </m:den>
                    </m:f>
                  </m:oMath>
                </a14:m>
                <a:endParaRPr lang="zh-CN" altLang="zh-CN" sz="2000" kern="100" dirty="0">
                  <a:latin typeface="+mj-ea"/>
                  <a:ea typeface="+mj-ea"/>
                  <a:cs typeface="Times New Roman" panose="02020603050405020304" pitchFamily="18" charset="0"/>
                </a:endParaRPr>
              </a:p>
              <a:p>
                <a:pPr marL="342900" indent="-342900" algn="just">
                  <a:lnSpc>
                    <a:spcPct val="200000"/>
                  </a:lnSpc>
                  <a:buFont typeface="Wingdings" pitchFamily="2" charset="2"/>
                  <a:buChar char="p"/>
                </a:pPr>
                <a:endParaRPr lang="en-US" altLang="zh-CN" sz="2400" kern="100" dirty="0">
                  <a:latin typeface="+mj-ea"/>
                  <a:ea typeface="+mj-ea"/>
                  <a:cs typeface="Times New Roman" panose="02020603050405020304" pitchFamily="18" charset="0"/>
                </a:endParaRPr>
              </a:p>
              <a:p>
                <a:pPr marL="342900" indent="-342900" algn="just">
                  <a:lnSpc>
                    <a:spcPct val="200000"/>
                  </a:lnSpc>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8000" y="1126800"/>
                <a:ext cx="11521440" cy="5058308"/>
              </a:xfrm>
              <a:prstGeom prst="rect">
                <a:avLst/>
              </a:prstGeom>
              <a:blipFill>
                <a:blip r:embed="rId3"/>
                <a:stretch>
                  <a:fillRect l="-7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239882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D0A0B1D-0198-0389-A904-044ED11C6BB5}"/>
                  </a:ext>
                </a:extLst>
              </p:cNvPr>
              <p:cNvSpPr/>
              <p:nvPr/>
            </p:nvSpPr>
            <p:spPr>
              <a:xfrm>
                <a:off x="1008000" y="1126800"/>
                <a:ext cx="11521440" cy="4298869"/>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400" b="1" kern="100" dirty="0">
                    <a:latin typeface="+mj-ea"/>
                    <a:ea typeface="+mj-ea"/>
                    <a:cs typeface="Times New Roman" panose="02020603050405020304" pitchFamily="18" charset="0"/>
                  </a:rPr>
                  <a:t>两个关系</a:t>
                </a:r>
                <a14:m>
                  <m:oMath xmlns:m="http://schemas.openxmlformats.org/officeDocument/2006/math">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i="1" kern="100">
                            <a:latin typeface="Cambria Math" panose="02040503050406030204" pitchFamily="18" charset="0"/>
                            <a:ea typeface="+mj-ea"/>
                            <a:cs typeface="Times New Roman" panose="02020603050405020304" pitchFamily="18" charset="0"/>
                          </a:rPr>
                          <m:t>𝑹</m:t>
                        </m:r>
                      </m:e>
                      <m:sub>
                        <m:r>
                          <a:rPr lang="en-US" altLang="zh-CN" sz="2400" b="1" i="1" kern="100">
                            <a:latin typeface="Cambria Math" panose="02040503050406030204" pitchFamily="18" charset="0"/>
                            <a:ea typeface="+mj-ea"/>
                            <a:cs typeface="Times New Roman" panose="02020603050405020304" pitchFamily="18" charset="0"/>
                          </a:rPr>
                          <m:t>𝟏</m:t>
                        </m:r>
                      </m:sub>
                    </m:sSub>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i="1" kern="100">
                            <a:latin typeface="Cambria Math" panose="02040503050406030204" pitchFamily="18" charset="0"/>
                            <a:ea typeface="+mj-ea"/>
                            <a:cs typeface="Times New Roman" panose="02020603050405020304" pitchFamily="18" charset="0"/>
                          </a:rPr>
                          <m:t>𝑹</m:t>
                        </m:r>
                      </m:e>
                      <m:sub>
                        <m:r>
                          <a:rPr lang="en-US" altLang="zh-CN" sz="2400" b="1" i="1" kern="100">
                            <a:latin typeface="Cambria Math" panose="02040503050406030204" pitchFamily="18" charset="0"/>
                            <a:ea typeface="+mj-ea"/>
                            <a:cs typeface="Times New Roman" panose="02020603050405020304" pitchFamily="18" charset="0"/>
                          </a:rPr>
                          <m:t>𝟐</m:t>
                        </m:r>
                      </m:sub>
                    </m:sSub>
                  </m:oMath>
                </a14:m>
                <a:r>
                  <a:rPr lang="zh-CN" altLang="zh-CN" sz="2400" b="1" kern="100" dirty="0">
                    <a:latin typeface="+mj-ea"/>
                    <a:ea typeface="+mj-ea"/>
                    <a:cs typeface="Times New Roman" panose="02020603050405020304" pitchFamily="18" charset="0"/>
                  </a:rPr>
                  <a:t>在属性</a:t>
                </a:r>
                <a14:m>
                  <m:oMath xmlns:m="http://schemas.openxmlformats.org/officeDocument/2006/math">
                    <m:r>
                      <a:rPr lang="en-US" altLang="zh-CN" sz="2400" b="1" i="1" kern="100">
                        <a:latin typeface="Cambria Math" panose="02040503050406030204" pitchFamily="18" charset="0"/>
                        <a:ea typeface="+mj-ea"/>
                        <a:cs typeface="Times New Roman" panose="02020603050405020304" pitchFamily="18" charset="0"/>
                      </a:rPr>
                      <m:t>𝐀</m:t>
                    </m:r>
                    <m:r>
                      <a:rPr lang="en-US" altLang="zh-CN" sz="2400" b="1" kern="100">
                        <a:latin typeface="Cambria Math" panose="02040503050406030204" pitchFamily="18" charset="0"/>
                        <a:ea typeface="+mj-ea"/>
                        <a:cs typeface="Times New Roman" panose="02020603050405020304" pitchFamily="18" charset="0"/>
                      </a:rPr>
                      <m:t>,</m:t>
                    </m:r>
                    <m:r>
                      <a:rPr lang="en-US" altLang="zh-CN" sz="2400" b="1" i="1" kern="100">
                        <a:latin typeface="Cambria Math" panose="02040503050406030204" pitchFamily="18" charset="0"/>
                        <a:ea typeface="+mj-ea"/>
                        <a:cs typeface="Times New Roman" panose="02020603050405020304" pitchFamily="18" charset="0"/>
                      </a:rPr>
                      <m:t>𝐁</m:t>
                    </m:r>
                  </m:oMath>
                </a14:m>
                <a:r>
                  <a:rPr lang="zh-CN" altLang="zh-CN" sz="2400" b="1" kern="100" dirty="0">
                    <a:latin typeface="+mj-ea"/>
                    <a:ea typeface="+mj-ea"/>
                    <a:cs typeface="Times New Roman" panose="02020603050405020304" pitchFamily="18" charset="0"/>
                  </a:rPr>
                  <a:t>上进行自然连接</a:t>
                </a:r>
                <a:r>
                  <a:rPr lang="zh-CN" altLang="en-US" sz="2400" b="1" kern="100" dirty="0">
                    <a:latin typeface="+mj-ea"/>
                    <a:ea typeface="+mj-ea"/>
                    <a:cs typeface="Times New Roman" panose="02020603050405020304" pitchFamily="18" charset="0"/>
                  </a:rPr>
                  <a:t>，估计连接结果基数</a:t>
                </a: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a:p>
                <a:pPr marL="457200" indent="-457200" algn="just">
                  <a:lnSpc>
                    <a:spcPct val="150000"/>
                  </a:lnSpc>
                  <a:buFont typeface="Wingdings" pitchFamily="2" charset="2"/>
                  <a:buChar char="p"/>
                </a:pPr>
                <a:endParaRPr lang="zh-CN" altLang="zh-CN" sz="2400" b="1" kern="100" dirty="0">
                  <a:latin typeface="+mj-ea"/>
                  <a:ea typeface="+mj-ea"/>
                  <a:cs typeface="Times New Roman" panose="02020603050405020304" pitchFamily="18" charset="0"/>
                </a:endParaRPr>
              </a:p>
              <a:p>
                <a:pPr marL="457200" indent="-457200" algn="just">
                  <a:lnSpc>
                    <a:spcPct val="150000"/>
                  </a:lnSpc>
                  <a:buFont typeface="Wingdings" panose="05000000000000000000" pitchFamily="2" charset="2"/>
                  <a:buChar char="Ø"/>
                </a:pPr>
                <a14:m>
                  <m:oMath xmlns:m="http://schemas.openxmlformats.org/officeDocument/2006/math">
                    <m:r>
                      <a:rPr lang="en-US" altLang="zh-CN" sz="2400" b="1" kern="100">
                        <a:latin typeface="Cambria Math" panose="02040503050406030204" pitchFamily="18" charset="0"/>
                        <a:ea typeface="+mj-ea"/>
                        <a:cs typeface="Times New Roman" panose="02020603050405020304" pitchFamily="18" charset="0"/>
                      </a:rPr>
                      <m:t>𝑻</m:t>
                    </m:r>
                    <m:d>
                      <m:dPr>
                        <m:ctrlPr>
                          <a:rPr lang="zh-CN" altLang="zh-CN" sz="2400" b="1" i="1" kern="100">
                            <a:latin typeface="Cambria Math" panose="02040503050406030204" pitchFamily="18" charset="0"/>
                            <a:ea typeface="+mj-ea"/>
                            <a:cs typeface="Times New Roman" panose="02020603050405020304" pitchFamily="18" charset="0"/>
                          </a:rPr>
                        </m:ctrlPr>
                      </m:dPr>
                      <m:e>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𝟏</m:t>
                            </m:r>
                          </m:sub>
                        </m:sSub>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𝟐</m:t>
                            </m:r>
                          </m:sub>
                        </m:sSub>
                      </m:e>
                    </m:d>
                    <m:r>
                      <a:rPr lang="en-US" altLang="zh-CN" sz="2400" b="1" kern="100">
                        <a:latin typeface="Cambria Math" panose="02040503050406030204" pitchFamily="18" charset="0"/>
                        <a:ea typeface="+mj-ea"/>
                        <a:cs typeface="Times New Roman" panose="02020603050405020304" pitchFamily="18" charset="0"/>
                      </a:rPr>
                      <m:t>=</m:t>
                    </m:r>
                    <m:f>
                      <m:fPr>
                        <m:ctrlPr>
                          <a:rPr lang="zh-CN" altLang="zh-CN" sz="2400" b="1" i="1" kern="100">
                            <a:latin typeface="Cambria Math" panose="02040503050406030204" pitchFamily="18" charset="0"/>
                            <a:ea typeface="+mj-ea"/>
                            <a:cs typeface="Times New Roman" panose="02020603050405020304" pitchFamily="18" charset="0"/>
                          </a:rPr>
                        </m:ctrlPr>
                      </m:fPr>
                      <m:num>
                        <m:r>
                          <a:rPr lang="en-US" altLang="zh-CN" sz="2400" b="1" kern="100">
                            <a:latin typeface="Cambria Math" panose="02040503050406030204" pitchFamily="18" charset="0"/>
                            <a:ea typeface="+mj-ea"/>
                            <a:cs typeface="Times New Roman" panose="02020603050405020304" pitchFamily="18" charset="0"/>
                          </a:rPr>
                          <m:t>𝑻</m:t>
                        </m:r>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𝟏</m:t>
                            </m:r>
                          </m:sub>
                        </m:sSub>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𝑻</m:t>
                        </m:r>
                        <m:r>
                          <a:rPr lang="en-US" altLang="zh-CN" sz="2400" b="1" kern="100">
                            <a:latin typeface="Cambria Math" panose="02040503050406030204" pitchFamily="18" charset="0"/>
                            <a:ea typeface="+mj-ea"/>
                            <a:cs typeface="Times New Roman" panose="02020603050405020304" pitchFamily="18" charset="0"/>
                          </a:rPr>
                          <m:t>(</m:t>
                        </m:r>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𝟐</m:t>
                            </m:r>
                          </m:sub>
                        </m:sSub>
                        <m:r>
                          <a:rPr lang="en-US" altLang="zh-CN" sz="2400" b="1" kern="100">
                            <a:latin typeface="Cambria Math" panose="02040503050406030204" pitchFamily="18" charset="0"/>
                            <a:ea typeface="+mj-ea"/>
                            <a:cs typeface="Times New Roman" panose="02020603050405020304" pitchFamily="18" charset="0"/>
                          </a:rPr>
                          <m:t>)</m:t>
                        </m:r>
                      </m:num>
                      <m:den>
                        <m:r>
                          <a:rPr lang="en-US" altLang="zh-CN" sz="2400" b="1" kern="100">
                            <a:latin typeface="Cambria Math" panose="02040503050406030204" pitchFamily="18" charset="0"/>
                            <a:ea typeface="+mj-ea"/>
                            <a:cs typeface="Times New Roman" panose="02020603050405020304" pitchFamily="18" charset="0"/>
                          </a:rPr>
                          <m:t>𝐦𝐚𝐱</m:t>
                        </m:r>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𝐕</m:t>
                        </m:r>
                        <m:d>
                          <m:dPr>
                            <m:ctrlPr>
                              <a:rPr lang="zh-CN" altLang="zh-CN" sz="2400" b="1" i="1" kern="100">
                                <a:latin typeface="Cambria Math" panose="02040503050406030204" pitchFamily="18" charset="0"/>
                                <a:ea typeface="+mj-ea"/>
                                <a:cs typeface="Times New Roman" panose="02020603050405020304" pitchFamily="18" charset="0"/>
                              </a:rPr>
                            </m:ctrlPr>
                          </m:dPr>
                          <m:e>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𝟏</m:t>
                                </m:r>
                              </m:sub>
                            </m:sSub>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𝑨</m:t>
                            </m:r>
                          </m:e>
                        </m:d>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𝐕</m:t>
                        </m:r>
                        <m:d>
                          <m:dPr>
                            <m:ctrlPr>
                              <a:rPr lang="zh-CN" altLang="zh-CN" sz="2400" b="1" i="1" kern="100">
                                <a:latin typeface="Cambria Math" panose="02040503050406030204" pitchFamily="18" charset="0"/>
                                <a:ea typeface="+mj-ea"/>
                                <a:cs typeface="Times New Roman" panose="02020603050405020304" pitchFamily="18" charset="0"/>
                              </a:rPr>
                            </m:ctrlPr>
                          </m:dPr>
                          <m:e>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𝟐</m:t>
                                </m:r>
                              </m:sub>
                            </m:sSub>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𝑨</m:t>
                            </m:r>
                          </m:e>
                        </m:d>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𝐦𝐚𝐱</m:t>
                        </m:r>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𝐕</m:t>
                        </m:r>
                        <m:d>
                          <m:dPr>
                            <m:ctrlPr>
                              <a:rPr lang="zh-CN" altLang="zh-CN" sz="2400" b="1" i="1" kern="100">
                                <a:latin typeface="Cambria Math" panose="02040503050406030204" pitchFamily="18" charset="0"/>
                                <a:ea typeface="+mj-ea"/>
                                <a:cs typeface="Times New Roman" panose="02020603050405020304" pitchFamily="18" charset="0"/>
                              </a:rPr>
                            </m:ctrlPr>
                          </m:dPr>
                          <m:e>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𝟏</m:t>
                                </m:r>
                              </m:sub>
                            </m:sSub>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𝑨</m:t>
                            </m:r>
                          </m:e>
                        </m:d>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𝐕</m:t>
                        </m:r>
                        <m:d>
                          <m:dPr>
                            <m:ctrlPr>
                              <a:rPr lang="zh-CN" altLang="zh-CN" sz="2400" b="1" i="1" kern="100">
                                <a:latin typeface="Cambria Math" panose="02040503050406030204" pitchFamily="18" charset="0"/>
                                <a:ea typeface="+mj-ea"/>
                                <a:cs typeface="Times New Roman" panose="02020603050405020304" pitchFamily="18" charset="0"/>
                              </a:rPr>
                            </m:ctrlPr>
                          </m:dPr>
                          <m:e>
                            <m:sSub>
                              <m:sSubPr>
                                <m:ctrlPr>
                                  <a:rPr lang="zh-CN" altLang="zh-CN" sz="2400" b="1" i="1" kern="100">
                                    <a:latin typeface="Cambria Math" panose="02040503050406030204" pitchFamily="18" charset="0"/>
                                    <a:ea typeface="+mj-ea"/>
                                    <a:cs typeface="Times New Roman" panose="02020603050405020304" pitchFamily="18" charset="0"/>
                                  </a:rPr>
                                </m:ctrlPr>
                              </m:sSubPr>
                              <m:e>
                                <m:r>
                                  <a:rPr lang="en-US" altLang="zh-CN" sz="2400" b="1" kern="100">
                                    <a:latin typeface="Cambria Math" panose="02040503050406030204" pitchFamily="18" charset="0"/>
                                    <a:ea typeface="+mj-ea"/>
                                    <a:cs typeface="Times New Roman" panose="02020603050405020304" pitchFamily="18" charset="0"/>
                                  </a:rPr>
                                  <m:t>𝑹</m:t>
                                </m:r>
                              </m:e>
                              <m:sub>
                                <m:r>
                                  <a:rPr lang="en-US" altLang="zh-CN" sz="2400" b="1" kern="100">
                                    <a:latin typeface="Cambria Math" panose="02040503050406030204" pitchFamily="18" charset="0"/>
                                    <a:ea typeface="+mj-ea"/>
                                    <a:cs typeface="Times New Roman" panose="02020603050405020304" pitchFamily="18" charset="0"/>
                                  </a:rPr>
                                  <m:t>𝟐</m:t>
                                </m:r>
                              </m:sub>
                            </m:sSub>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𝑨</m:t>
                            </m:r>
                          </m:e>
                        </m:d>
                        <m:r>
                          <a:rPr lang="en-US" altLang="zh-CN" sz="2400" b="1" kern="100">
                            <a:latin typeface="Cambria Math" panose="02040503050406030204" pitchFamily="18" charset="0"/>
                            <a:ea typeface="+mj-ea"/>
                            <a:cs typeface="Times New Roman" panose="02020603050405020304" pitchFamily="18" charset="0"/>
                          </a:rPr>
                          <m:t>)</m:t>
                        </m:r>
                      </m:den>
                    </m:f>
                    <m:r>
                      <a:rPr lang="en-US" altLang="zh-CN" sz="2400" b="1" kern="100">
                        <a:latin typeface="Cambria Math" panose="02040503050406030204" pitchFamily="18" charset="0"/>
                        <a:ea typeface="+mj-ea"/>
                        <a:cs typeface="Times New Roman" panose="02020603050405020304" pitchFamily="18" charset="0"/>
                      </a:rPr>
                      <m:t>= </m:t>
                    </m:r>
                    <m:f>
                      <m:fPr>
                        <m:ctrlPr>
                          <a:rPr lang="zh-CN" altLang="zh-CN" sz="2400" b="1" i="1" kern="100">
                            <a:latin typeface="Cambria Math" panose="02040503050406030204" pitchFamily="18" charset="0"/>
                            <a:ea typeface="+mj-ea"/>
                            <a:cs typeface="Times New Roman" panose="02020603050405020304" pitchFamily="18" charset="0"/>
                          </a:rPr>
                        </m:ctrlPr>
                      </m:fPr>
                      <m:num>
                        <m:r>
                          <a:rPr lang="en-US" altLang="zh-CN" sz="2400" b="1" kern="100">
                            <a:latin typeface="Cambria Math" panose="02040503050406030204" pitchFamily="18" charset="0"/>
                            <a:ea typeface="+mj-ea"/>
                            <a:cs typeface="Times New Roman" panose="02020603050405020304" pitchFamily="18" charset="0"/>
                          </a:rPr>
                          <m:t>𝟏𝟎𝟎</m:t>
                        </m:r>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𝟓𝟎𝟎</m:t>
                        </m:r>
                      </m:num>
                      <m:den>
                        <m:r>
                          <a:rPr lang="en-US" altLang="zh-CN" sz="2400" b="1" kern="100">
                            <a:latin typeface="Cambria Math" panose="02040503050406030204" pitchFamily="18" charset="0"/>
                            <a:ea typeface="+mj-ea"/>
                            <a:cs typeface="Times New Roman" panose="02020603050405020304" pitchFamily="18" charset="0"/>
                          </a:rPr>
                          <m:t>𝟐𝟎</m:t>
                        </m:r>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𝟏𝟎</m:t>
                        </m:r>
                      </m:den>
                    </m:f>
                    <m:r>
                      <a:rPr lang="en-US" altLang="zh-CN" sz="2400" b="1" kern="100">
                        <a:latin typeface="Cambria Math" panose="02040503050406030204" pitchFamily="18" charset="0"/>
                        <a:ea typeface="+mj-ea"/>
                        <a:cs typeface="Times New Roman" panose="02020603050405020304" pitchFamily="18" charset="0"/>
                      </a:rPr>
                      <m:t>=</m:t>
                    </m:r>
                    <m:r>
                      <a:rPr lang="en-US" altLang="zh-CN" sz="2400" b="1" kern="100">
                        <a:latin typeface="Cambria Math" panose="02040503050406030204" pitchFamily="18" charset="0"/>
                        <a:ea typeface="+mj-ea"/>
                        <a:cs typeface="Times New Roman" panose="02020603050405020304" pitchFamily="18" charset="0"/>
                      </a:rPr>
                      <m:t>𝟐𝟓𝟎</m:t>
                    </m:r>
                  </m:oMath>
                </a14:m>
                <a:endParaRPr lang="zh-CN" altLang="zh-CN" sz="2400" b="1" kern="100" dirty="0">
                  <a:latin typeface="+mj-ea"/>
                  <a:ea typeface="+mj-ea"/>
                  <a:cs typeface="Times New Roman" panose="02020603050405020304" pitchFamily="18" charset="0"/>
                </a:endParaRPr>
              </a:p>
              <a:p>
                <a:pPr marL="342900" indent="-342900" algn="just">
                  <a:lnSpc>
                    <a:spcPct val="150000"/>
                  </a:lnSpc>
                  <a:buFont typeface="Wingdings" pitchFamily="2" charset="2"/>
                  <a:buChar char="p"/>
                </a:pPr>
                <a:endParaRPr lang="en-US" altLang="zh-CN" sz="2400" b="1" kern="100" dirty="0">
                  <a:latin typeface="+mj-ea"/>
                  <a:ea typeface="+mj-ea"/>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xmlns:a14="http://schemas.microsoft.com/office/drawing/2010/main" xmlns="" id="{ED0A0B1D-0198-0389-A904-044ED11C6BB5}"/>
                  </a:ext>
                </a:extLst>
              </p:cNvPr>
              <p:cNvSpPr>
                <a:spLocks noRot="1" noChangeAspect="1" noMove="1" noResize="1" noEditPoints="1" noAdjustHandles="1" noChangeArrowheads="1" noChangeShapeType="1" noTextEdit="1"/>
              </p:cNvSpPr>
              <p:nvPr/>
            </p:nvSpPr>
            <p:spPr>
              <a:xfrm>
                <a:off x="1008000" y="1126800"/>
                <a:ext cx="11521440" cy="4298869"/>
              </a:xfrm>
              <a:prstGeom prst="rect">
                <a:avLst/>
              </a:prstGeom>
              <a:blipFill rotWithShape="0">
                <a:blip r:embed="rId3"/>
                <a:stretch>
                  <a:fillRect l="-688"/>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46E587E-7D30-6AB2-2560-2DE8EA29EC7B}"/>
              </a:ext>
            </a:extLst>
          </p:cNvPr>
          <p:cNvSpPr>
            <a:spLocks noGrp="1"/>
          </p:cNvSpPr>
          <p:nvPr>
            <p:ph type="sldNum" sz="quarter" idx="10"/>
          </p:nvPr>
        </p:nvSpPr>
        <p:spPr/>
        <p:txBody>
          <a:bodyPr/>
          <a:lstStyle/>
          <a:p>
            <a:fld id="{4B0D34C0-35A8-654C-9FBA-7B4E017BD630}" type="slidenum">
              <a:rPr lang="en-US" altLang="zh-CN" smtClean="0"/>
              <a:t>73</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连接运算的基数估计示例（</a:t>
            </a:r>
            <a:r>
              <a:rPr lang="en-US" altLang="zh-CN" dirty="0"/>
              <a:t>2</a:t>
            </a:r>
            <a:r>
              <a:rPr lang="zh-CN" altLang="en-US" dirty="0"/>
              <a:t>）</a:t>
            </a:r>
            <a:endParaRPr kumimoji="1" lang="zh-CN" altLang="en-US" dirty="0"/>
          </a:p>
        </p:txBody>
      </p:sp>
      <p:sp>
        <p:nvSpPr>
          <p:cNvPr id="5" name="页脚占位符 4">
            <a:extLst>
              <a:ext uri="{FF2B5EF4-FFF2-40B4-BE49-F238E27FC236}">
                <a16:creationId xmlns:a16="http://schemas.microsoft.com/office/drawing/2014/main" id="{B29ACD10-96B6-5D99-B74A-4E2A95D1C99D}"/>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E432BDBE-FF79-00E6-033B-5354D2001C0E}"/>
                  </a:ext>
                </a:extLst>
              </p:cNvPr>
              <p:cNvGraphicFramePr>
                <a:graphicFrameLocks noGrp="1"/>
              </p:cNvGraphicFramePr>
              <p:nvPr>
                <p:extLst>
                  <p:ext uri="{D42A27DB-BD31-4B8C-83A1-F6EECF244321}">
                    <p14:modId xmlns:p14="http://schemas.microsoft.com/office/powerpoint/2010/main" val="1584436833"/>
                  </p:ext>
                </p:extLst>
              </p:nvPr>
            </p:nvGraphicFramePr>
            <p:xfrm>
              <a:off x="3463925" y="2064657"/>
              <a:ext cx="5264150" cy="1645920"/>
            </p:xfrm>
            <a:graphic>
              <a:graphicData uri="http://schemas.openxmlformats.org/drawingml/2006/table">
                <a:tbl>
                  <a:tblPr firstRow="1" firstCol="1" bandRow="1">
                    <a:tableStyleId>{72833802-FEF1-4C79-8D5D-14CF1EAF98D9}</a:tableStyleId>
                  </a:tblPr>
                  <a:tblGrid>
                    <a:gridCol w="1285875">
                      <a:extLst>
                        <a:ext uri="{9D8B030D-6E8A-4147-A177-3AD203B41FA5}">
                          <a16:colId xmlns:a16="http://schemas.microsoft.com/office/drawing/2014/main" val="541242375"/>
                        </a:ext>
                      </a:extLst>
                    </a:gridCol>
                    <a:gridCol w="1347470">
                      <a:extLst>
                        <a:ext uri="{9D8B030D-6E8A-4147-A177-3AD203B41FA5}">
                          <a16:colId xmlns:a16="http://schemas.microsoft.com/office/drawing/2014/main" val="4249031650"/>
                        </a:ext>
                      </a:extLst>
                    </a:gridCol>
                    <a:gridCol w="1386205">
                      <a:extLst>
                        <a:ext uri="{9D8B030D-6E8A-4147-A177-3AD203B41FA5}">
                          <a16:colId xmlns:a16="http://schemas.microsoft.com/office/drawing/2014/main" val="2159991448"/>
                        </a:ext>
                      </a:extLst>
                    </a:gridCol>
                    <a:gridCol w="1244600">
                      <a:extLst>
                        <a:ext uri="{9D8B030D-6E8A-4147-A177-3AD203B41FA5}">
                          <a16:colId xmlns:a16="http://schemas.microsoft.com/office/drawing/2014/main" val="1183564049"/>
                        </a:ext>
                      </a:extLst>
                    </a:gridCol>
                  </a:tblGrid>
                  <a:tr h="0">
                    <a:tc>
                      <a:txBody>
                        <a:bodyPr/>
                        <a:lstStyle/>
                        <a:p>
                          <a:pPr marL="0" indent="127000" algn="ctr" defTabSz="844083" rtl="0" eaLnBrk="1" latinLnBrk="0" hangingPunct="1">
                            <a:lnSpc>
                              <a:spcPct val="150000"/>
                            </a:lnSpc>
                          </a:pPr>
                          <a:r>
                            <a:rPr lang="zh-CN" altLang="en-US" sz="2400" b="1" kern="100" dirty="0">
                              <a:solidFill>
                                <a:schemeClr val="lt1"/>
                              </a:solidFill>
                              <a:effectLst/>
                              <a:latin typeface="+mj-ea"/>
                              <a:ea typeface="+mj-ea"/>
                            </a:rPr>
                            <a:t>关系</a:t>
                          </a:r>
                          <a:endParaRPr lang="zh-CN" altLang="en-US" sz="2400" b="1" kern="100" dirty="0">
                            <a:solidFill>
                              <a:schemeClr val="lt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r>
                                  <a:rPr lang="en-US" altLang="zh-CN" sz="2400" i="1" kern="100" smtClean="0">
                                    <a:latin typeface="Cambria Math" panose="02040503050406030204" pitchFamily="18" charset="0"/>
                                    <a:ea typeface="+mj-ea"/>
                                    <a:cs typeface="Times New Roman" panose="02020603050405020304" pitchFamily="18" charset="0"/>
                                  </a:rPr>
                                  <m:t>𝑇</m:t>
                                </m:r>
                                <m:r>
                                  <a:rPr lang="en-US" sz="2400" b="1" kern="100">
                                    <a:solidFill>
                                      <a:schemeClr val="lt1"/>
                                    </a:solidFill>
                                    <a:effectLst/>
                                    <a:latin typeface="Cambria Math" panose="02040503050406030204" pitchFamily="18" charset="0"/>
                                    <a:ea typeface="+mj-ea"/>
                                  </a:rPr>
                                  <m:t>(</m:t>
                                </m:r>
                                <m:sSub>
                                  <m:sSubPr>
                                    <m:ctrlPr>
                                      <a:rPr lang="zh-CN" altLang="en-US" sz="2400" b="1" i="1" kern="100">
                                        <a:solidFill>
                                          <a:schemeClr val="lt1"/>
                                        </a:solidFill>
                                        <a:effectLst/>
                                        <a:latin typeface="Cambria Math" panose="02040503050406030204" pitchFamily="18" charset="0"/>
                                        <a:ea typeface="+mj-ea"/>
                                      </a:rPr>
                                    </m:ctrlPr>
                                  </m:sSubPr>
                                  <m:e>
                                    <m:r>
                                      <a:rPr lang="en-US" sz="2400" b="1" kern="100">
                                        <a:solidFill>
                                          <a:schemeClr val="lt1"/>
                                        </a:solidFill>
                                        <a:effectLst/>
                                        <a:latin typeface="Cambria Math" panose="02040503050406030204" pitchFamily="18" charset="0"/>
                                        <a:ea typeface="+mj-ea"/>
                                      </a:rPr>
                                      <m:t>𝑅</m:t>
                                    </m:r>
                                  </m:e>
                                  <m:sub>
                                    <m:r>
                                      <a:rPr lang="en-US" sz="2400" b="1" kern="100">
                                        <a:solidFill>
                                          <a:schemeClr val="lt1"/>
                                        </a:solidFill>
                                        <a:effectLst/>
                                        <a:latin typeface="Cambria Math" panose="02040503050406030204" pitchFamily="18" charset="0"/>
                                        <a:ea typeface="+mj-ea"/>
                                      </a:rPr>
                                      <m:t>𝑖</m:t>
                                    </m:r>
                                  </m:sub>
                                </m:sSub>
                                <m:r>
                                  <a:rPr lang="en-US" sz="2400" b="1" kern="100">
                                    <a:solidFill>
                                      <a:schemeClr val="lt1"/>
                                    </a:solidFill>
                                    <a:effectLst/>
                                    <a:latin typeface="Cambria Math" panose="02040503050406030204" pitchFamily="18" charset="0"/>
                                    <a:ea typeface="+mj-ea"/>
                                  </a:rPr>
                                  <m:t>)</m:t>
                                </m:r>
                              </m:oMath>
                            </m:oMathPara>
                          </a14:m>
                          <a:endParaRPr lang="zh-CN" altLang="en-US" sz="2400" b="1" kern="100" dirty="0">
                            <a:solidFill>
                              <a:schemeClr val="lt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r>
                                  <a:rPr lang="en-US" sz="2400" b="1" kern="100">
                                    <a:solidFill>
                                      <a:schemeClr val="lt1"/>
                                    </a:solidFill>
                                    <a:effectLst/>
                                    <a:latin typeface="Cambria Math" panose="02040503050406030204" pitchFamily="18" charset="0"/>
                                    <a:ea typeface="+mj-ea"/>
                                  </a:rPr>
                                  <m:t>𝑉</m:t>
                                </m:r>
                                <m:d>
                                  <m:dPr>
                                    <m:ctrlPr>
                                      <a:rPr lang="zh-CN" altLang="en-US" sz="2400" b="1" i="1" kern="100">
                                        <a:solidFill>
                                          <a:schemeClr val="lt1"/>
                                        </a:solidFill>
                                        <a:effectLst/>
                                        <a:latin typeface="Cambria Math" panose="02040503050406030204" pitchFamily="18" charset="0"/>
                                        <a:ea typeface="+mj-ea"/>
                                      </a:rPr>
                                    </m:ctrlPr>
                                  </m:dPr>
                                  <m:e>
                                    <m:sSub>
                                      <m:sSubPr>
                                        <m:ctrlPr>
                                          <a:rPr lang="zh-CN" altLang="en-US" sz="2400" b="1" i="1" kern="100">
                                            <a:solidFill>
                                              <a:schemeClr val="lt1"/>
                                            </a:solidFill>
                                            <a:effectLst/>
                                            <a:latin typeface="Cambria Math" panose="02040503050406030204" pitchFamily="18" charset="0"/>
                                            <a:ea typeface="+mj-ea"/>
                                          </a:rPr>
                                        </m:ctrlPr>
                                      </m:sSubPr>
                                      <m:e>
                                        <m:r>
                                          <a:rPr lang="en-US" sz="2400" b="1" kern="100">
                                            <a:solidFill>
                                              <a:schemeClr val="lt1"/>
                                            </a:solidFill>
                                            <a:effectLst/>
                                            <a:latin typeface="Cambria Math" panose="02040503050406030204" pitchFamily="18" charset="0"/>
                                            <a:ea typeface="+mj-ea"/>
                                          </a:rPr>
                                          <m:t>𝑅</m:t>
                                        </m:r>
                                      </m:e>
                                      <m:sub>
                                        <m:r>
                                          <a:rPr lang="en-US" sz="2400" b="1" kern="100">
                                            <a:solidFill>
                                              <a:schemeClr val="lt1"/>
                                            </a:solidFill>
                                            <a:effectLst/>
                                            <a:latin typeface="Cambria Math" panose="02040503050406030204" pitchFamily="18" charset="0"/>
                                            <a:ea typeface="+mj-ea"/>
                                          </a:rPr>
                                          <m:t>𝑖</m:t>
                                        </m:r>
                                      </m:sub>
                                    </m:sSub>
                                    <m:r>
                                      <a:rPr lang="en-US" sz="2400" b="1" kern="100">
                                        <a:solidFill>
                                          <a:schemeClr val="lt1"/>
                                        </a:solidFill>
                                        <a:effectLst/>
                                        <a:latin typeface="Cambria Math" panose="02040503050406030204" pitchFamily="18" charset="0"/>
                                        <a:ea typeface="+mj-ea"/>
                                      </a:rPr>
                                      <m:t>,</m:t>
                                    </m:r>
                                    <m:r>
                                      <a:rPr lang="en-US" sz="2400" b="1" kern="100">
                                        <a:solidFill>
                                          <a:schemeClr val="lt1"/>
                                        </a:solidFill>
                                        <a:effectLst/>
                                        <a:latin typeface="Cambria Math" panose="02040503050406030204" pitchFamily="18" charset="0"/>
                                        <a:ea typeface="+mj-ea"/>
                                      </a:rPr>
                                      <m:t>𝐴</m:t>
                                    </m:r>
                                  </m:e>
                                </m:d>
                              </m:oMath>
                            </m:oMathPara>
                          </a14:m>
                          <a:endParaRPr lang="zh-CN" altLang="en-US" sz="2400" b="1" kern="100" dirty="0">
                            <a:solidFill>
                              <a:schemeClr val="lt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r>
                                  <a:rPr lang="en-US" sz="2400" b="1" kern="100">
                                    <a:solidFill>
                                      <a:schemeClr val="lt1"/>
                                    </a:solidFill>
                                    <a:effectLst/>
                                    <a:latin typeface="Cambria Math" panose="02040503050406030204" pitchFamily="18" charset="0"/>
                                    <a:ea typeface="+mj-ea"/>
                                  </a:rPr>
                                  <m:t>𝑉</m:t>
                                </m:r>
                                <m:d>
                                  <m:dPr>
                                    <m:ctrlPr>
                                      <a:rPr lang="zh-CN" altLang="en-US" sz="2400" b="1" i="1" kern="100">
                                        <a:solidFill>
                                          <a:schemeClr val="lt1"/>
                                        </a:solidFill>
                                        <a:effectLst/>
                                        <a:latin typeface="Cambria Math" panose="02040503050406030204" pitchFamily="18" charset="0"/>
                                        <a:ea typeface="+mj-ea"/>
                                      </a:rPr>
                                    </m:ctrlPr>
                                  </m:dPr>
                                  <m:e>
                                    <m:sSub>
                                      <m:sSubPr>
                                        <m:ctrlPr>
                                          <a:rPr lang="zh-CN" altLang="en-US" sz="2400" b="1" i="1" kern="100">
                                            <a:solidFill>
                                              <a:schemeClr val="lt1"/>
                                            </a:solidFill>
                                            <a:effectLst/>
                                            <a:latin typeface="Cambria Math" panose="02040503050406030204" pitchFamily="18" charset="0"/>
                                            <a:ea typeface="+mj-ea"/>
                                          </a:rPr>
                                        </m:ctrlPr>
                                      </m:sSubPr>
                                      <m:e>
                                        <m:r>
                                          <a:rPr lang="en-US" sz="2400" b="1" kern="100">
                                            <a:solidFill>
                                              <a:schemeClr val="lt1"/>
                                            </a:solidFill>
                                            <a:effectLst/>
                                            <a:latin typeface="Cambria Math" panose="02040503050406030204" pitchFamily="18" charset="0"/>
                                            <a:ea typeface="+mj-ea"/>
                                          </a:rPr>
                                          <m:t>𝑅</m:t>
                                        </m:r>
                                      </m:e>
                                      <m:sub>
                                        <m:r>
                                          <a:rPr lang="en-US" sz="2400" b="1" kern="100">
                                            <a:solidFill>
                                              <a:schemeClr val="lt1"/>
                                            </a:solidFill>
                                            <a:effectLst/>
                                            <a:latin typeface="Cambria Math" panose="02040503050406030204" pitchFamily="18" charset="0"/>
                                            <a:ea typeface="+mj-ea"/>
                                          </a:rPr>
                                          <m:t>𝑖</m:t>
                                        </m:r>
                                      </m:sub>
                                    </m:sSub>
                                    <m:r>
                                      <a:rPr lang="en-US" sz="2400" b="1" kern="100">
                                        <a:solidFill>
                                          <a:schemeClr val="lt1"/>
                                        </a:solidFill>
                                        <a:effectLst/>
                                        <a:latin typeface="Cambria Math" panose="02040503050406030204" pitchFamily="18" charset="0"/>
                                        <a:ea typeface="+mj-ea"/>
                                      </a:rPr>
                                      <m:t>,</m:t>
                                    </m:r>
                                    <m:r>
                                      <a:rPr lang="en-US" sz="2400" b="1" kern="100">
                                        <a:solidFill>
                                          <a:schemeClr val="lt1"/>
                                        </a:solidFill>
                                        <a:effectLst/>
                                        <a:latin typeface="Cambria Math" panose="02040503050406030204" pitchFamily="18" charset="0"/>
                                        <a:ea typeface="+mj-ea"/>
                                      </a:rPr>
                                      <m:t>𝐵</m:t>
                                    </m:r>
                                  </m:e>
                                </m:d>
                              </m:oMath>
                            </m:oMathPara>
                          </a14:m>
                          <a:endParaRPr lang="zh-CN" altLang="en-US" sz="2400" b="1" kern="100" dirty="0">
                            <a:solidFill>
                              <a:schemeClr val="lt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2592080520"/>
                      </a:ext>
                    </a:extLst>
                  </a:tr>
                  <a:tr h="0">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sSub>
                                  <m:sSubPr>
                                    <m:ctrlPr>
                                      <a:rPr lang="zh-CN" altLang="en-US" sz="2400" b="1" i="1" kern="100" smtClean="0">
                                        <a:solidFill>
                                          <a:schemeClr val="tx1"/>
                                        </a:solidFill>
                                        <a:effectLst/>
                                        <a:latin typeface="Cambria Math" panose="02040503050406030204" pitchFamily="18" charset="0"/>
                                        <a:ea typeface="+mj-ea"/>
                                      </a:rPr>
                                    </m:ctrlPr>
                                  </m:sSubPr>
                                  <m:e>
                                    <m:r>
                                      <a:rPr lang="en-US" sz="2400" b="1" kern="100">
                                        <a:solidFill>
                                          <a:schemeClr val="tx1"/>
                                        </a:solidFill>
                                        <a:effectLst/>
                                        <a:latin typeface="Cambria Math" panose="02040503050406030204" pitchFamily="18" charset="0"/>
                                        <a:ea typeface="+mj-ea"/>
                                      </a:rPr>
                                      <m:t>𝑅</m:t>
                                    </m:r>
                                  </m:e>
                                  <m:sub>
                                    <m:r>
                                      <a:rPr lang="en-US" sz="2400" b="1" kern="100">
                                        <a:solidFill>
                                          <a:schemeClr val="tx1"/>
                                        </a:solidFill>
                                        <a:effectLst/>
                                        <a:latin typeface="Cambria Math" panose="02040503050406030204" pitchFamily="18" charset="0"/>
                                        <a:ea typeface="+mj-ea"/>
                                      </a:rPr>
                                      <m:t>1</m:t>
                                    </m:r>
                                  </m:sub>
                                </m:sSub>
                              </m:oMath>
                            </m:oMathPara>
                          </a14:m>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100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10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5</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3932205356"/>
                      </a:ext>
                    </a:extLst>
                  </a:tr>
                  <a:tr h="0">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sSub>
                                  <m:sSubPr>
                                    <m:ctrlPr>
                                      <a:rPr lang="zh-CN" altLang="en-US" sz="2400" b="1" i="1" kern="100" smtClean="0">
                                        <a:solidFill>
                                          <a:schemeClr val="tx1"/>
                                        </a:solidFill>
                                        <a:effectLst/>
                                        <a:latin typeface="Cambria Math" panose="02040503050406030204" pitchFamily="18" charset="0"/>
                                        <a:ea typeface="+mj-ea"/>
                                      </a:rPr>
                                    </m:ctrlPr>
                                  </m:sSubPr>
                                  <m:e>
                                    <m:r>
                                      <a:rPr lang="en-US" sz="2400" b="1" kern="100">
                                        <a:solidFill>
                                          <a:schemeClr val="tx1"/>
                                        </a:solidFill>
                                        <a:effectLst/>
                                        <a:latin typeface="Cambria Math" panose="02040503050406030204" pitchFamily="18" charset="0"/>
                                        <a:ea typeface="+mj-ea"/>
                                      </a:rPr>
                                      <m:t>𝑅</m:t>
                                    </m:r>
                                  </m:e>
                                  <m:sub>
                                    <m:r>
                                      <a:rPr lang="en-US" sz="2400" b="1" kern="100">
                                        <a:solidFill>
                                          <a:schemeClr val="tx1"/>
                                        </a:solidFill>
                                        <a:effectLst/>
                                        <a:latin typeface="Cambria Math" panose="02040503050406030204" pitchFamily="18" charset="0"/>
                                        <a:ea typeface="+mj-ea"/>
                                      </a:rPr>
                                      <m:t>2</m:t>
                                    </m:r>
                                  </m:sub>
                                </m:sSub>
                              </m:oMath>
                            </m:oMathPara>
                          </a14:m>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500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20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10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407486992"/>
                      </a:ext>
                    </a:extLst>
                  </a:tr>
                </a:tbl>
              </a:graphicData>
            </a:graphic>
          </p:graphicFrame>
        </mc:Choice>
        <mc:Fallback xmlns="">
          <p:graphicFrame>
            <p:nvGraphicFramePr>
              <p:cNvPr id="4" name="表格 3">
                <a:extLst>
                  <a:ext uri="{FF2B5EF4-FFF2-40B4-BE49-F238E27FC236}">
                    <a16:creationId xmlns:a16="http://schemas.microsoft.com/office/drawing/2014/main" xmlns:a14="http://schemas.microsoft.com/office/drawing/2010/main" xmlns="" id="{E432BDBE-FF79-00E6-033B-5354D2001C0E}"/>
                  </a:ext>
                </a:extLst>
              </p:cNvPr>
              <p:cNvGraphicFramePr>
                <a:graphicFrameLocks noGrp="1"/>
              </p:cNvGraphicFramePr>
              <p:nvPr>
                <p:extLst>
                  <p:ext uri="{D42A27DB-BD31-4B8C-83A1-F6EECF244321}">
                    <p14:modId xmlns:p14="http://schemas.microsoft.com/office/powerpoint/2010/main" val="1584436833"/>
                  </p:ext>
                </p:extLst>
              </p:nvPr>
            </p:nvGraphicFramePr>
            <p:xfrm>
              <a:off x="3463925" y="2064657"/>
              <a:ext cx="5264150" cy="1645920"/>
            </p:xfrm>
            <a:graphic>
              <a:graphicData uri="http://schemas.openxmlformats.org/drawingml/2006/table">
                <a:tbl>
                  <a:tblPr firstRow="1" firstCol="1" bandRow="1">
                    <a:tableStyleId>{72833802-FEF1-4C79-8D5D-14CF1EAF98D9}</a:tableStyleId>
                  </a:tblPr>
                  <a:tblGrid>
                    <a:gridCol w="1285875">
                      <a:extLst>
                        <a:ext uri="{9D8B030D-6E8A-4147-A177-3AD203B41FA5}">
                          <a16:colId xmlns:a16="http://schemas.microsoft.com/office/drawing/2014/main" xmlns:a14="http://schemas.microsoft.com/office/drawing/2010/main" xmlns="" val="541242375"/>
                        </a:ext>
                      </a:extLst>
                    </a:gridCol>
                    <a:gridCol w="1347470">
                      <a:extLst>
                        <a:ext uri="{9D8B030D-6E8A-4147-A177-3AD203B41FA5}">
                          <a16:colId xmlns:a16="http://schemas.microsoft.com/office/drawing/2014/main" xmlns:a14="http://schemas.microsoft.com/office/drawing/2010/main" xmlns="" val="4249031650"/>
                        </a:ext>
                      </a:extLst>
                    </a:gridCol>
                    <a:gridCol w="1386205">
                      <a:extLst>
                        <a:ext uri="{9D8B030D-6E8A-4147-A177-3AD203B41FA5}">
                          <a16:colId xmlns:a16="http://schemas.microsoft.com/office/drawing/2014/main" xmlns:a14="http://schemas.microsoft.com/office/drawing/2010/main" xmlns="" val="2159991448"/>
                        </a:ext>
                      </a:extLst>
                    </a:gridCol>
                    <a:gridCol w="1244600">
                      <a:extLst>
                        <a:ext uri="{9D8B030D-6E8A-4147-A177-3AD203B41FA5}">
                          <a16:colId xmlns:a16="http://schemas.microsoft.com/office/drawing/2014/main" xmlns:a14="http://schemas.microsoft.com/office/drawing/2010/main" xmlns="" val="1183564049"/>
                        </a:ext>
                      </a:extLst>
                    </a:gridCol>
                  </a:tblGrid>
                  <a:tr h="548640">
                    <a:tc>
                      <a:txBody>
                        <a:bodyPr/>
                        <a:lstStyle/>
                        <a:p>
                          <a:pPr marL="0" indent="127000" algn="ctr" defTabSz="844083" rtl="0" eaLnBrk="1" latinLnBrk="0" hangingPunct="1">
                            <a:lnSpc>
                              <a:spcPct val="150000"/>
                            </a:lnSpc>
                          </a:pPr>
                          <a:r>
                            <a:rPr lang="zh-CN" altLang="en-US" sz="2400" b="1" kern="100" dirty="0">
                              <a:solidFill>
                                <a:schemeClr val="lt1"/>
                              </a:solidFill>
                              <a:effectLst/>
                              <a:latin typeface="+mj-ea"/>
                              <a:ea typeface="+mj-ea"/>
                            </a:rPr>
                            <a:t>关系</a:t>
                          </a:r>
                          <a:endParaRPr lang="zh-CN" altLang="en-US" sz="2400" b="1" kern="100" dirty="0">
                            <a:solidFill>
                              <a:schemeClr val="lt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95928" r="-195928" b="-223333"/>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189912" r="-89912" b="-223333"/>
                          </a:stretch>
                        </a:blipFill>
                      </a:tcPr>
                    </a:tc>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324020" r="-490" b="-223333"/>
                          </a:stretch>
                        </a:blipFill>
                      </a:tcPr>
                    </a:tc>
                    <a:extLst>
                      <a:ext uri="{0D108BD9-81ED-4DB2-BD59-A6C34878D82A}">
                        <a16:rowId xmlns:a16="http://schemas.microsoft.com/office/drawing/2014/main" xmlns:a14="http://schemas.microsoft.com/office/drawing/2010/main" xmlns="" val="2592080520"/>
                      </a:ext>
                    </a:extLst>
                  </a:tr>
                  <a:tr h="548640">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474" t="-98901" r="-309953" b="-120879"/>
                          </a:stretch>
                        </a:blipFill>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100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10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5</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32205356"/>
                      </a:ext>
                    </a:extLst>
                  </a:tr>
                  <a:tr h="548640">
                    <a:tc>
                      <a:txBody>
                        <a:bodyPr/>
                        <a:lstStyle/>
                        <a:p>
                          <a:endParaRPr lang="zh-CN"/>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474" t="-201111" r="-309953" b="-22222"/>
                          </a:stretch>
                        </a:blipFill>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500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20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2400" b="1" kern="100" dirty="0">
                              <a:solidFill>
                                <a:schemeClr val="tx1"/>
                              </a:solidFill>
                              <a:effectLst/>
                              <a:latin typeface="+mj-ea"/>
                              <a:ea typeface="+mj-ea"/>
                            </a:rPr>
                            <a:t>10</a:t>
                          </a:r>
                          <a:endParaRPr lang="zh-CN" altLang="en-US" sz="2400" b="1" kern="100" dirty="0">
                            <a:solidFill>
                              <a:schemeClr val="tx1"/>
                            </a:solidFill>
                            <a:effectLst/>
                            <a:latin typeface="+mj-ea"/>
                            <a:ea typeface="+mj-ea"/>
                            <a:cs typeface="+mn-cs"/>
                          </a:endParaRPr>
                        </a:p>
                      </a:txBody>
                      <a:tcPr marL="68580" marR="68580"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407486992"/>
                      </a:ext>
                    </a:extLst>
                  </a:tr>
                </a:tbl>
              </a:graphicData>
            </a:graphic>
          </p:graphicFrame>
        </mc:Fallback>
      </mc:AlternateContent>
    </p:spTree>
    <p:extLst>
      <p:ext uri="{BB962C8B-B14F-4D97-AF65-F5344CB8AC3E}">
        <p14:creationId xmlns:p14="http://schemas.microsoft.com/office/powerpoint/2010/main" val="40729895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1D1AF2B-ECE2-F0CB-E8EA-276AF78C6FEF}"/>
              </a:ext>
            </a:extLst>
          </p:cNvPr>
          <p:cNvSpPr>
            <a:spLocks noGrp="1"/>
          </p:cNvSpPr>
          <p:nvPr>
            <p:ph type="sldNum" sz="quarter" idx="10"/>
          </p:nvPr>
        </p:nvSpPr>
        <p:spPr/>
        <p:txBody>
          <a:bodyPr/>
          <a:lstStyle/>
          <a:p>
            <a:fld id="{4B0D34C0-35A8-654C-9FBA-7B4E017BD630}" type="slidenum">
              <a:rPr lang="en-US" altLang="zh-CN" smtClean="0"/>
              <a:t>74</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a:t>
            </a:r>
            <a:endParaRPr kumimoji="1" lang="zh-CN" altLang="en-US" dirty="0"/>
          </a:p>
        </p:txBody>
      </p:sp>
      <p:sp>
        <p:nvSpPr>
          <p:cNvPr id="4" name="页脚占位符 3">
            <a:extLst>
              <a:ext uri="{FF2B5EF4-FFF2-40B4-BE49-F238E27FC236}">
                <a16:creationId xmlns:a16="http://schemas.microsoft.com/office/drawing/2014/main" id="{0CC1B939-0CE1-B10E-4FAA-202C33F7F83D}"/>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0090897" cy="5946884"/>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情况</a:t>
                </a:r>
                <a:r>
                  <a:rPr lang="en-US" altLang="zh-CN" sz="2400" b="1" kern="100" dirty="0">
                    <a:latin typeface="+mj-ea"/>
                    <a:ea typeface="+mj-ea"/>
                    <a:cs typeface="Times New Roman" panose="02020603050405020304" pitchFamily="18" charset="0"/>
                  </a:rPr>
                  <a:t>3:</a:t>
                </a:r>
                <a:r>
                  <a:rPr lang="zh-CN" altLang="en-US" sz="2400" b="1" kern="100" dirty="0">
                    <a:latin typeface="+mj-ea"/>
                    <a:ea typeface="+mj-ea"/>
                    <a:cs typeface="Times New Roman" panose="02020603050405020304" pitchFamily="18" charset="0"/>
                  </a:rPr>
                  <a:t> </a:t>
                </a:r>
                <a:r>
                  <a:rPr lang="zh-CN" altLang="en-US" sz="2400" b="1" kern="100" dirty="0">
                    <a:solidFill>
                      <a:srgbClr val="701988"/>
                    </a:solidFill>
                    <a:latin typeface="+mj-ea"/>
                    <a:ea typeface="+mj-ea"/>
                    <a:cs typeface="Times New Roman" panose="02020603050405020304" pitchFamily="18" charset="0"/>
                  </a:rPr>
                  <a:t>多个关系在多个属性上连接</a:t>
                </a:r>
                <a:endParaRPr lang="en-US" altLang="zh-CN" sz="2400" b="1" kern="100" dirty="0">
                  <a:solidFill>
                    <a:srgbClr val="701988"/>
                  </a:solidFill>
                  <a:latin typeface="+mj-ea"/>
                  <a:ea typeface="+mj-ea"/>
                  <a:cs typeface="Times New Roman" panose="02020603050405020304" pitchFamily="18" charset="0"/>
                </a:endParaRPr>
              </a:p>
              <a:p>
                <a:pPr marL="457200" indent="-4572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考虑</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𝑚</m:t>
                    </m:r>
                  </m:oMath>
                </a14:m>
                <a:r>
                  <a:rPr lang="zh-CN" altLang="zh-CN" sz="2000" kern="100" dirty="0">
                    <a:latin typeface="+mj-ea"/>
                    <a:ea typeface="+mj-ea"/>
                    <a:cs typeface="Times New Roman" panose="02020603050405020304" pitchFamily="18" charset="0"/>
                  </a:rPr>
                  <a:t>个关系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 </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𝑚</m:t>
                        </m:r>
                      </m:sub>
                    </m:sSub>
                  </m:oMath>
                </a14:m>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其自然连接相当于在</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 </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𝑚</m:t>
                        </m:r>
                      </m:sub>
                    </m:sSub>
                  </m:oMath>
                </a14:m>
                <a:r>
                  <a:rPr lang="zh-CN" altLang="zh-CN" sz="2000" kern="100" dirty="0">
                    <a:latin typeface="+mj-ea"/>
                    <a:ea typeface="+mj-ea"/>
                    <a:cs typeface="Times New Roman" panose="02020603050405020304" pitchFamily="18" charset="0"/>
                  </a:rPr>
                  <a:t>的笛卡尔积上加入重名属性取值相等的限制</a:t>
                </a:r>
                <a14:m>
                  <m:oMath xmlns:m="http://schemas.openxmlformats.org/officeDocument/2006/math">
                    <m:r>
                      <a:rPr lang="zh-CN" altLang="en-US" sz="2000" kern="100">
                        <a:latin typeface="Cambria Math" panose="02040503050406030204" pitchFamily="18" charset="0"/>
                        <a:ea typeface="+mj-ea"/>
                        <a:cs typeface="Times New Roman" panose="02020603050405020304" pitchFamily="18" charset="0"/>
                      </a:rPr>
                      <m:t>。</m:t>
                    </m:r>
                  </m:oMath>
                </a14:m>
                <a:endParaRPr lang="en-US" altLang="zh-CN" sz="2000" kern="100" dirty="0">
                  <a:solidFill>
                    <a:srgbClr val="0432FF"/>
                  </a:solidFill>
                  <a:latin typeface="+mj-ea"/>
                  <a:ea typeface="+mj-ea"/>
                  <a:cs typeface="Times New Roman" panose="02020603050405020304" pitchFamily="18" charset="0"/>
                </a:endParaRPr>
              </a:p>
              <a:p>
                <a:pPr marL="457200" indent="-4572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对于任意一个自然连接属性</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𝐴</m:t>
                    </m:r>
                  </m:oMath>
                </a14:m>
                <a:r>
                  <a:rPr lang="zh-CN" altLang="zh-CN" sz="2000" kern="100" dirty="0">
                    <a:latin typeface="+mj-ea"/>
                    <a:ea typeface="+mj-ea"/>
                    <a:cs typeface="Times New Roman" panose="02020603050405020304" pitchFamily="18" charset="0"/>
                  </a:rPr>
                  <a:t>，假设其涉及的关系集合为</a:t>
                </a:r>
                <a14:m>
                  <m:oMath xmlns:m="http://schemas.openxmlformats.org/officeDocument/2006/math">
                    <m:r>
                      <a:rPr lang="en-US" altLang="zh-CN" sz="2000" b="0" i="1" kern="100" smtClean="0">
                        <a:latin typeface="Cambria Math" panose="02040503050406030204" pitchFamily="18" charset="0"/>
                        <a:ea typeface="+mj-ea"/>
                        <a:cs typeface="Times New Roman" panose="02020603050405020304" pitchFamily="18" charset="0"/>
                      </a:rPr>
                      <m:t>𝑄</m:t>
                    </m:r>
                  </m:oMath>
                </a14:m>
                <a:r>
                  <a:rPr lang="zh-CN" altLang="zh-CN" sz="2000" kern="100" dirty="0">
                    <a:latin typeface="+mj-ea"/>
                    <a:ea typeface="+mj-ea"/>
                    <a:cs typeface="Times New Roman" panose="02020603050405020304" pitchFamily="18" charset="0"/>
                  </a:rPr>
                  <a:t>，则笛卡尔积结果中的任意一个元组</a:t>
                </a:r>
                <a:r>
                  <a:rPr lang="zh-CN" altLang="zh-CN" sz="2000" kern="100" dirty="0">
                    <a:solidFill>
                      <a:srgbClr val="0000FF"/>
                    </a:solidFill>
                    <a:latin typeface="+mj-ea"/>
                    <a:ea typeface="+mj-ea"/>
                    <a:cs typeface="Times New Roman" panose="02020603050405020304" pitchFamily="18" charset="0"/>
                  </a:rPr>
                  <a:t>符合该连接限制的概率为</a:t>
                </a:r>
                <a:endParaRPr lang="en-US" altLang="zh-CN" sz="2000" kern="100" dirty="0">
                  <a:solidFill>
                    <a:srgbClr val="0000FF"/>
                  </a:solidFill>
                  <a:latin typeface="+mj-ea"/>
                  <a:ea typeface="+mj-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mj-ea"/>
                        </a:rPr>
                        <m:t>𝑃</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𝐴</m:t>
                          </m:r>
                        </m:e>
                      </m:d>
                      <m:r>
                        <a:rPr lang="en-US" altLang="zh-CN" sz="2000" i="1">
                          <a:latin typeface="Cambria Math" panose="02040503050406030204" pitchFamily="18" charset="0"/>
                          <a:ea typeface="+mj-ea"/>
                        </a:rPr>
                        <m:t>=</m:t>
                      </m:r>
                      <m:d>
                        <m:dPr>
                          <m:begChr m:val="{"/>
                          <m:endChr m:val=""/>
                          <m:ctrlPr>
                            <a:rPr lang="zh-CN" altLang="zh-CN" sz="2000" i="1">
                              <a:latin typeface="Cambria Math" panose="02040503050406030204" pitchFamily="18" charset="0"/>
                              <a:ea typeface="+mj-ea"/>
                            </a:rPr>
                          </m:ctrlPr>
                        </m:dPr>
                        <m:e>
                          <m:eqArr>
                            <m:eqArrPr>
                              <m:ctrlPr>
                                <a:rPr lang="zh-CN" altLang="zh-CN" sz="2000" i="1">
                                  <a:latin typeface="Cambria Math" panose="02040503050406030204" pitchFamily="18" charset="0"/>
                                  <a:ea typeface="+mj-ea"/>
                                </a:rPr>
                              </m:ctrlPr>
                            </m:eqArrPr>
                            <m:e>
                              <m:f>
                                <m:fPr>
                                  <m:ctrlPr>
                                    <a:rPr lang="zh-CN" altLang="zh-CN" sz="2000" i="1">
                                      <a:latin typeface="Cambria Math" panose="02040503050406030204" pitchFamily="18" charset="0"/>
                                      <a:ea typeface="+mj-ea"/>
                                    </a:rPr>
                                  </m:ctrlPr>
                                </m:fPr>
                                <m:num>
                                  <m:r>
                                    <a:rPr lang="en-US" altLang="zh-CN" sz="2000" i="1">
                                      <a:latin typeface="Cambria Math" panose="02040503050406030204" pitchFamily="18" charset="0"/>
                                      <a:ea typeface="+mj-ea"/>
                                    </a:rPr>
                                    <m:t>1</m:t>
                                  </m:r>
                                </m:num>
                                <m:den>
                                  <m:r>
                                    <a:rPr lang="en-US" altLang="zh-CN" sz="2000" i="1">
                                      <a:latin typeface="Cambria Math" panose="02040503050406030204" pitchFamily="18" charset="0"/>
                                      <a:ea typeface="+mj-ea"/>
                                    </a:rPr>
                                    <m:t>𝑉</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𝑅</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𝐴</m:t>
                                  </m:r>
                                  <m:r>
                                    <a:rPr lang="en-US" altLang="zh-CN" sz="2000" i="1">
                                      <a:latin typeface="Cambria Math" panose="02040503050406030204" pitchFamily="18" charset="0"/>
                                      <a:ea typeface="+mj-ea"/>
                                    </a:rPr>
                                    <m:t>)</m:t>
                                  </m:r>
                                </m:den>
                              </m:f>
                              <m:r>
                                <a:rPr lang="en-US" altLang="zh-CN" sz="2000" i="1">
                                  <a:latin typeface="Cambria Math" panose="02040503050406030204" pitchFamily="18" charset="0"/>
                                  <a:ea typeface="+mj-ea"/>
                                </a:rPr>
                                <m:t>, </m:t>
                              </m:r>
                              <m:r>
                                <a:rPr lang="zh-CN" altLang="zh-CN" sz="2000">
                                  <a:latin typeface="Cambria Math" panose="02040503050406030204" pitchFamily="18" charset="0"/>
                                  <a:ea typeface="+mj-ea"/>
                                </a:rPr>
                                <m:t>其中</m:t>
                              </m:r>
                              <m:r>
                                <a:rPr lang="en-US" altLang="zh-CN" sz="2000" i="1">
                                  <a:latin typeface="Cambria Math" panose="02040503050406030204" pitchFamily="18" charset="0"/>
                                  <a:ea typeface="+mj-ea"/>
                                </a:rPr>
                                <m:t>𝑅</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𝑄</m:t>
                              </m:r>
                              <m:r>
                                <a:rPr lang="en-US" altLang="zh-CN" sz="2000" i="1">
                                  <a:latin typeface="Cambria Math" panose="02040503050406030204" pitchFamily="18" charset="0"/>
                                  <a:ea typeface="+mj-ea"/>
                                </a:rPr>
                                <m:t>, </m:t>
                              </m:r>
                              <m:r>
                                <a:rPr lang="en-US" altLang="zh-CN" sz="2000">
                                  <a:latin typeface="Cambria Math" panose="02040503050406030204" pitchFamily="18" charset="0"/>
                                  <a:ea typeface="+mj-ea"/>
                                </a:rPr>
                                <m:t>                              </m:t>
                              </m:r>
                              <m:r>
                                <a:rPr lang="zh-CN" altLang="zh-CN" sz="2000">
                                  <a:latin typeface="Cambria Math" panose="02040503050406030204" pitchFamily="18" charset="0"/>
                                  <a:ea typeface="+mj-ea"/>
                                </a:rPr>
                                <m:t>若</m:t>
                              </m:r>
                              <m:d>
                                <m:dPr>
                                  <m:begChr m:val="|"/>
                                  <m:endChr m:val="|"/>
                                  <m:ctrlPr>
                                    <a:rPr lang="zh-CN" altLang="zh-CN" sz="2000" i="1">
                                      <a:latin typeface="Cambria Math" panose="02040503050406030204" pitchFamily="18" charset="0"/>
                                      <a:ea typeface="+mj-ea"/>
                                    </a:rPr>
                                  </m:ctrlPr>
                                </m:dPr>
                                <m:e>
                                  <m:r>
                                    <m:rPr>
                                      <m:sty m:val="p"/>
                                    </m:rPr>
                                    <a:rPr lang="en-US" altLang="zh-CN" sz="2000">
                                      <a:latin typeface="Cambria Math" panose="02040503050406030204" pitchFamily="18" charset="0"/>
                                      <a:ea typeface="+mj-ea"/>
                                    </a:rPr>
                                    <m:t>Q</m:t>
                                  </m:r>
                                </m:e>
                              </m:d>
                              <m:r>
                                <a:rPr lang="en-US" altLang="zh-CN" sz="2000">
                                  <a:latin typeface="Cambria Math" panose="02040503050406030204" pitchFamily="18" charset="0"/>
                                  <a:ea typeface="+mj-ea"/>
                                </a:rPr>
                                <m:t>=1</m:t>
                              </m:r>
                            </m:e>
                            <m:e>
                              <m:f>
                                <m:fPr>
                                  <m:ctrlPr>
                                    <a:rPr lang="zh-CN" altLang="zh-CN" sz="2000" i="1">
                                      <a:latin typeface="Cambria Math" panose="02040503050406030204" pitchFamily="18" charset="0"/>
                                      <a:ea typeface="+mj-ea"/>
                                    </a:rPr>
                                  </m:ctrlPr>
                                </m:fPr>
                                <m:num>
                                  <m:sSub>
                                    <m:sSubPr>
                                      <m:ctrlPr>
                                        <a:rPr lang="zh-CN" altLang="zh-CN" sz="2000" i="1">
                                          <a:latin typeface="Cambria Math" panose="02040503050406030204" pitchFamily="18" charset="0"/>
                                          <a:ea typeface="+mj-ea"/>
                                        </a:rPr>
                                      </m:ctrlPr>
                                    </m:sSubPr>
                                    <m:e>
                                      <m:r>
                                        <m:rPr>
                                          <m:sty m:val="p"/>
                                        </m:rPr>
                                        <a:rPr lang="en-US" altLang="zh-CN" sz="2000">
                                          <a:latin typeface="Cambria Math" panose="02040503050406030204" pitchFamily="18" charset="0"/>
                                          <a:ea typeface="+mj-ea"/>
                                        </a:rPr>
                                        <m:t>min</m:t>
                                      </m:r>
                                    </m:e>
                                    <m:sub>
                                      <m:r>
                                        <a:rPr lang="en-US" altLang="zh-CN" sz="2000" i="1">
                                          <a:latin typeface="Cambria Math" panose="02040503050406030204" pitchFamily="18" charset="0"/>
                                          <a:ea typeface="+mj-ea"/>
                                        </a:rPr>
                                        <m:t>𝑅</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𝑄</m:t>
                                      </m:r>
                                    </m:sub>
                                  </m:sSub>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𝑉</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𝑅</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𝐴</m:t>
                                  </m:r>
                                  <m:r>
                                    <a:rPr lang="en-US" altLang="zh-CN" sz="2000" i="1">
                                      <a:latin typeface="Cambria Math" panose="02040503050406030204" pitchFamily="18" charset="0"/>
                                      <a:ea typeface="+mj-ea"/>
                                    </a:rPr>
                                    <m:t>)}</m:t>
                                  </m:r>
                                </m:num>
                                <m:den>
                                  <m:nary>
                                    <m:naryPr>
                                      <m:chr m:val="∏"/>
                                      <m:limLoc m:val="undOvr"/>
                                      <m:supHide m:val="on"/>
                                      <m:ctrlPr>
                                        <a:rPr lang="zh-CN" altLang="zh-CN" sz="2000" i="1">
                                          <a:latin typeface="Cambria Math" panose="02040503050406030204" pitchFamily="18" charset="0"/>
                                          <a:ea typeface="+mj-ea"/>
                                        </a:rPr>
                                      </m:ctrlPr>
                                    </m:naryPr>
                                    <m:sub>
                                      <m:r>
                                        <a:rPr lang="en-US" altLang="zh-CN" sz="2000" i="1">
                                          <a:latin typeface="Cambria Math" panose="02040503050406030204" pitchFamily="18" charset="0"/>
                                          <a:ea typeface="+mj-ea"/>
                                        </a:rPr>
                                        <m:t>𝑅</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𝑄</m:t>
                                      </m:r>
                                    </m:sub>
                                    <m:sup/>
                                    <m:e>
                                      <m:r>
                                        <a:rPr lang="en-US" altLang="zh-CN" sz="2000" i="1">
                                          <a:latin typeface="Cambria Math" panose="02040503050406030204" pitchFamily="18" charset="0"/>
                                          <a:ea typeface="+mj-ea"/>
                                        </a:rPr>
                                        <m:t>𝑉</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𝑅</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𝐴</m:t>
                                          </m:r>
                                        </m:e>
                                      </m:d>
                                    </m:e>
                                  </m:nary>
                                </m:den>
                              </m:f>
                              <m:r>
                                <a:rPr lang="en-US" altLang="zh-CN" sz="2000" i="1">
                                  <a:latin typeface="Cambria Math" panose="02040503050406030204" pitchFamily="18" charset="0"/>
                                  <a:ea typeface="+mj-ea"/>
                                </a:rPr>
                                <m:t>,                                   </m:t>
                              </m:r>
                              <m:r>
                                <a:rPr lang="zh-CN" altLang="zh-CN" sz="2000">
                                  <a:latin typeface="Cambria Math" panose="02040503050406030204" pitchFamily="18" charset="0"/>
                                  <a:ea typeface="+mj-ea"/>
                                </a:rPr>
                                <m:t>若</m:t>
                              </m:r>
                              <m:d>
                                <m:dPr>
                                  <m:begChr m:val="|"/>
                                  <m:endChr m:val="|"/>
                                  <m:ctrlPr>
                                    <a:rPr lang="zh-CN" altLang="zh-CN" sz="2000" i="1">
                                      <a:latin typeface="Cambria Math" panose="02040503050406030204" pitchFamily="18" charset="0"/>
                                      <a:ea typeface="+mj-ea"/>
                                    </a:rPr>
                                  </m:ctrlPr>
                                </m:dPr>
                                <m:e>
                                  <m:r>
                                    <m:rPr>
                                      <m:sty m:val="p"/>
                                    </m:rPr>
                                    <a:rPr lang="en-US" altLang="zh-CN" sz="2000">
                                      <a:latin typeface="Cambria Math" panose="02040503050406030204" pitchFamily="18" charset="0"/>
                                      <a:ea typeface="+mj-ea"/>
                                    </a:rPr>
                                    <m:t>Q</m:t>
                                  </m:r>
                                </m:e>
                              </m:d>
                              <m:r>
                                <a:rPr lang="en-US" altLang="zh-CN" sz="2000">
                                  <a:latin typeface="Cambria Math" panose="02040503050406030204" pitchFamily="18" charset="0"/>
                                  <a:ea typeface="+mj-ea"/>
                                </a:rPr>
                                <m:t>≠1</m:t>
                              </m:r>
                            </m:e>
                          </m:eqArr>
                        </m:e>
                      </m:d>
                    </m:oMath>
                  </m:oMathPara>
                </a14:m>
                <a:endParaRPr lang="zh-CN" altLang="zh-CN" sz="2000" dirty="0">
                  <a:latin typeface="+mj-ea"/>
                  <a:ea typeface="+mj-ea"/>
                </a:endParaRPr>
              </a:p>
              <a:p>
                <a:pPr marL="457200" indent="-457200" algn="just">
                  <a:lnSpc>
                    <a:spcPct val="150000"/>
                  </a:lnSpc>
                  <a:buFont typeface="Arial" panose="020B0604020202020204" pitchFamily="34" charset="0"/>
                  <a:buChar char="•"/>
                </a:pPr>
                <a14:m>
                  <m:oMath xmlns:m="http://schemas.openxmlformats.org/officeDocument/2006/math">
                    <m:r>
                      <a:rPr lang="zh-CN" altLang="en-US" sz="2000" kern="100" dirty="0">
                        <a:latin typeface="Cambria Math" panose="02040503050406030204" pitchFamily="18" charset="0"/>
                        <a:ea typeface="+mj-ea"/>
                        <a:cs typeface="Times New Roman" panose="02020603050405020304" pitchFamily="18" charset="0"/>
                      </a:rPr>
                      <m:t>对结果的基数估计</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 </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𝑚</m:t>
                            </m:r>
                          </m:sub>
                        </m:sSub>
                      </m:e>
                    </m:d>
                    <m:r>
                      <a:rPr lang="en-US" altLang="zh-CN" sz="2000" kern="100">
                        <a:latin typeface="Cambria Math" panose="02040503050406030204" pitchFamily="18" charset="0"/>
                        <a:ea typeface="+mj-ea"/>
                        <a:cs typeface="Times New Roman" panose="02020603050405020304" pitchFamily="18" charset="0"/>
                      </a:rPr>
                      <m:t>=</m:t>
                    </m:r>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a:rPr lang="en-US" altLang="zh-CN" sz="2000" kern="100">
                            <a:latin typeface="Cambria Math" panose="02040503050406030204" pitchFamily="18" charset="0"/>
                            <a:ea typeface="+mj-ea"/>
                            <a:cs typeface="Times New Roman" panose="02020603050405020304" pitchFamily="18" charset="0"/>
                          </a:rPr>
                          <m:t>1≤</m:t>
                        </m:r>
                        <m:r>
                          <a:rPr lang="en-US" altLang="zh-CN" sz="2000" kern="100">
                            <a:latin typeface="Cambria Math" panose="02040503050406030204" pitchFamily="18" charset="0"/>
                            <a:ea typeface="+mj-ea"/>
                            <a:cs typeface="Times New Roman" panose="02020603050405020304" pitchFamily="18" charset="0"/>
                          </a:rPr>
                          <m:t>𝑖</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𝑚</m:t>
                        </m:r>
                      </m:sub>
                      <m:sup/>
                      <m:e>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𝑖</m:t>
                            </m:r>
                          </m:sub>
                        </m:sSub>
                        <m:r>
                          <a:rPr lang="en-US" altLang="zh-CN" sz="2000" kern="100">
                            <a:latin typeface="Cambria Math" panose="02040503050406030204" pitchFamily="18" charset="0"/>
                            <a:ea typeface="+mj-ea"/>
                            <a:cs typeface="Times New Roman" panose="02020603050405020304" pitchFamily="18" charset="0"/>
                          </a:rPr>
                          <m:t>)</m:t>
                        </m:r>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𝑆</m:t>
                            </m:r>
                          </m:sub>
                          <m:sup/>
                          <m:e>
                            <m:r>
                              <a:rPr lang="en-US" altLang="zh-CN" sz="2000" kern="100">
                                <a:latin typeface="Cambria Math" panose="02040503050406030204" pitchFamily="18" charset="0"/>
                                <a:ea typeface="+mj-ea"/>
                                <a:cs typeface="Times New Roman" panose="02020603050405020304" pitchFamily="18" charset="0"/>
                              </a:rPr>
                              <m:t>𝑃</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e>
                        </m:nary>
                      </m:e>
                    </m:nary>
                  </m:oMath>
                </a14:m>
                <a:endParaRPr lang="en-US" altLang="zh-CN" sz="2000" kern="100" dirty="0">
                  <a:latin typeface="+mj-ea"/>
                  <a:ea typeface="+mj-ea"/>
                  <a:cs typeface="Times New Roman" panose="02020603050405020304" pitchFamily="18" charset="0"/>
                </a:endParaRPr>
              </a:p>
              <a:p>
                <a:pPr marL="457200" indent="-457200" algn="just">
                  <a:lnSpc>
                    <a:spcPct val="150000"/>
                  </a:lnSpc>
                  <a:buFont typeface="Arial" panose="020B0604020202020204" pitchFamily="34" charset="0"/>
                  <a:buChar char="•"/>
                </a:pPr>
                <a:r>
                  <a:rPr lang="zh-CN" altLang="en-US" sz="2000" kern="100" dirty="0">
                    <a:latin typeface="+mj-ea"/>
                    <a:ea typeface="+mj-ea"/>
                    <a:cs typeface="Times New Roman" panose="02020603050405020304" pitchFamily="18" charset="0"/>
                  </a:rPr>
                  <a:t>其中</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𝑆</m:t>
                    </m:r>
                  </m:oMath>
                </a14:m>
                <a:r>
                  <a:rPr lang="zh-CN" altLang="en-US" sz="2000" kern="100" dirty="0">
                    <a:latin typeface="+mj-ea"/>
                    <a:ea typeface="+mj-ea"/>
                    <a:cs typeface="Times New Roman" panose="02020603050405020304" pitchFamily="18" charset="0"/>
                  </a:rPr>
                  <a:t>表示</a:t>
                </a:r>
                <a:r>
                  <a:rPr lang="zh-CN" altLang="zh-CN" sz="2000" kern="100" dirty="0">
                    <a:latin typeface="+mj-ea"/>
                    <a:ea typeface="+mj-ea"/>
                    <a:cs typeface="Times New Roman" panose="02020603050405020304" pitchFamily="18" charset="0"/>
                  </a:rPr>
                  <a:t>涉及的连接属性集合</a:t>
                </a:r>
              </a:p>
              <a:p>
                <a:pPr marL="342900" indent="-342900" algn="just">
                  <a:lnSpc>
                    <a:spcPct val="150000"/>
                  </a:lnSpc>
                  <a:buFont typeface="Wingdings" pitchFamily="2" charset="2"/>
                  <a:buChar char="p"/>
                </a:pPr>
                <a:endParaRPr lang="en-US" altLang="zh-CN" sz="2400" kern="100" dirty="0">
                  <a:latin typeface="+mj-ea"/>
                  <a:ea typeface="+mj-ea"/>
                  <a:cs typeface="Times New Roman" panose="02020603050405020304" pitchFamily="18" charset="0"/>
                </a:endParaRPr>
              </a:p>
              <a:p>
                <a:pPr marL="342900" indent="-342900" algn="just">
                  <a:lnSpc>
                    <a:spcPct val="150000"/>
                  </a:lnSpc>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E9022766-FD25-1EAE-DC13-7DF9313EFC75}"/>
                  </a:ext>
                </a:extLst>
              </p:cNvPr>
              <p:cNvSpPr>
                <a:spLocks noRot="1" noChangeAspect="1" noMove="1" noResize="1" noEditPoints="1" noAdjustHandles="1" noChangeArrowheads="1" noChangeShapeType="1" noTextEdit="1"/>
              </p:cNvSpPr>
              <p:nvPr/>
            </p:nvSpPr>
            <p:spPr>
              <a:xfrm>
                <a:off x="1008000" y="1126800"/>
                <a:ext cx="10090897" cy="5946884"/>
              </a:xfrm>
              <a:prstGeom prst="rect">
                <a:avLst/>
              </a:prstGeom>
              <a:blipFill>
                <a:blip r:embed="rId3"/>
                <a:stretch>
                  <a:fillRect l="-879" r="-5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496714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D0A0B1D-0198-0389-A904-044ED11C6BB5}"/>
                  </a:ext>
                </a:extLst>
              </p:cNvPr>
              <p:cNvSpPr/>
              <p:nvPr/>
            </p:nvSpPr>
            <p:spPr>
              <a:xfrm>
                <a:off x="1008000" y="1126800"/>
                <a:ext cx="10133448" cy="2862322"/>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000" kern="100" dirty="0">
                    <a:latin typeface="+mj-ea"/>
                    <a:ea typeface="+mj-ea"/>
                    <a:cs typeface="Times New Roman" panose="02020603050405020304" pitchFamily="18" charset="0"/>
                  </a:rPr>
                  <a:t>三个关系</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1</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2</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3</m:t>
                        </m:r>
                      </m:sub>
                    </m:sSub>
                  </m:oMath>
                </a14:m>
                <a:r>
                  <a:rPr lang="zh-CN" altLang="zh-CN" sz="2000" kern="100" dirty="0">
                    <a:latin typeface="+mj-ea"/>
                    <a:ea typeface="+mj-ea"/>
                    <a:cs typeface="Times New Roman" panose="02020603050405020304" pitchFamily="18" charset="0"/>
                  </a:rPr>
                  <a:t>在属性</a:t>
                </a:r>
                <a14:m>
                  <m:oMath xmlns:m="http://schemas.openxmlformats.org/officeDocument/2006/math">
                    <m:r>
                      <m:rPr>
                        <m:sty m:val="p"/>
                      </m:rPr>
                      <a:rPr lang="en-US" altLang="zh-CN" sz="2000" b="0" i="1" kern="100">
                        <a:latin typeface="Cambria Math" panose="02040503050406030204" pitchFamily="18" charset="0"/>
                        <a:ea typeface="+mj-ea"/>
                        <a:cs typeface="Times New Roman" panose="02020603050405020304" pitchFamily="18" charset="0"/>
                      </a:rPr>
                      <m:t>A</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B</m:t>
                    </m:r>
                  </m:oMath>
                </a14:m>
                <a:r>
                  <a:rPr lang="zh-CN" altLang="zh-CN" sz="2000" kern="100" dirty="0">
                    <a:latin typeface="+mj-ea"/>
                    <a:ea typeface="+mj-ea"/>
                    <a:cs typeface="Times New Roman" panose="02020603050405020304" pitchFamily="18" charset="0"/>
                  </a:rPr>
                  <a:t>上进行自然连接，</a:t>
                </a:r>
                <a14:m>
                  <m:oMath xmlns:m="http://schemas.openxmlformats.org/officeDocument/2006/math">
                    <m:r>
                      <m:rPr>
                        <m:sty m:val="p"/>
                      </m:rPr>
                      <a:rPr lang="en-US" altLang="zh-CN" sz="2000" b="0" i="1" kern="100">
                        <a:latin typeface="Cambria Math" panose="02040503050406030204" pitchFamily="18" charset="0"/>
                        <a:ea typeface="+mj-ea"/>
                        <a:cs typeface="Times New Roman" panose="02020603050405020304" pitchFamily="18" charset="0"/>
                      </a:rPr>
                      <m:t>S</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A</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B</m:t>
                    </m:r>
                    <m:r>
                      <a:rPr lang="en-US" altLang="zh-CN" sz="2000" b="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，表格中用横线表示某个关系不存在该属性 </a:t>
                </a:r>
                <a:r>
                  <a:rPr lang="zh-CN" altLang="en-US" sz="2000" kern="100" dirty="0">
                    <a:latin typeface="+mj-ea"/>
                    <a:ea typeface="+mj-ea"/>
                    <a:cs typeface="Times New Roman" panose="02020603050405020304" pitchFamily="18" charset="0"/>
                  </a:rPr>
                  <a:t>，估计连接结果基数</a:t>
                </a:r>
                <a:endParaRPr lang="en-US" altLang="zh-CN" sz="2000" kern="100" dirty="0">
                  <a:latin typeface="+mj-ea"/>
                  <a:ea typeface="+mj-ea"/>
                  <a:cs typeface="Times New Roman" panose="02020603050405020304" pitchFamily="18" charset="0"/>
                </a:endParaRPr>
              </a:p>
              <a:p>
                <a:pPr marL="457200" indent="-457200" algn="just">
                  <a:buFont typeface="Wingdings" pitchFamily="2" charset="2"/>
                  <a:buChar char="p"/>
                </a:pPr>
                <a:endParaRPr lang="en-US" altLang="zh-CN" sz="2400" kern="100" dirty="0">
                  <a:latin typeface="+mj-ea"/>
                  <a:ea typeface="+mj-ea"/>
                  <a:cs typeface="Times New Roman" panose="02020603050405020304" pitchFamily="18" charset="0"/>
                </a:endParaRPr>
              </a:p>
              <a:p>
                <a:pPr marL="457200" indent="-457200" algn="just">
                  <a:buFont typeface="Wingdings" pitchFamily="2" charset="2"/>
                  <a:buChar char="p"/>
                </a:pPr>
                <a:endParaRPr lang="en-US" altLang="zh-CN" sz="2400" kern="100" dirty="0">
                  <a:latin typeface="+mj-ea"/>
                  <a:ea typeface="+mj-ea"/>
                  <a:cs typeface="Times New Roman" panose="02020603050405020304" pitchFamily="18" charset="0"/>
                </a:endParaRPr>
              </a:p>
              <a:p>
                <a:pPr marL="457200" indent="-457200" algn="just">
                  <a:buFont typeface="Wingdings" pitchFamily="2" charset="2"/>
                  <a:buChar char="p"/>
                </a:pPr>
                <a:endParaRPr lang="en-US" altLang="zh-CN" sz="2400" kern="100" dirty="0">
                  <a:latin typeface="+mj-ea"/>
                  <a:ea typeface="+mj-ea"/>
                  <a:cs typeface="Times New Roman" panose="02020603050405020304" pitchFamily="18" charset="0"/>
                </a:endParaRPr>
              </a:p>
              <a:p>
                <a:pPr marL="457200" indent="-457200" algn="just">
                  <a:buFont typeface="Wingdings" pitchFamily="2" charset="2"/>
                  <a:buChar char="p"/>
                </a:pPr>
                <a:endParaRPr lang="zh-CN" altLang="zh-CN" sz="2400" kern="100" dirty="0">
                  <a:latin typeface="+mj-ea"/>
                  <a:ea typeface="+mj-ea"/>
                  <a:cs typeface="Times New Roman" panose="02020603050405020304" pitchFamily="18" charset="0"/>
                </a:endParaRPr>
              </a:p>
              <a:p>
                <a:pPr marL="342900" indent="-342900" algn="just">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ED0A0B1D-0198-0389-A904-044ED11C6BB5}"/>
                  </a:ext>
                </a:extLst>
              </p:cNvPr>
              <p:cNvSpPr>
                <a:spLocks noRot="1" noChangeAspect="1" noMove="1" noResize="1" noEditPoints="1" noAdjustHandles="1" noChangeArrowheads="1" noChangeShapeType="1" noTextEdit="1"/>
              </p:cNvSpPr>
              <p:nvPr/>
            </p:nvSpPr>
            <p:spPr>
              <a:xfrm>
                <a:off x="1008000" y="1126800"/>
                <a:ext cx="10133448" cy="2862322"/>
              </a:xfrm>
              <a:prstGeom prst="rect">
                <a:avLst/>
              </a:prstGeom>
              <a:blipFill>
                <a:blip r:embed="rId3"/>
                <a:stretch>
                  <a:fillRect l="-501" r="-626"/>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46E587E-7D30-6AB2-2560-2DE8EA29EC7B}"/>
              </a:ext>
            </a:extLst>
          </p:cNvPr>
          <p:cNvSpPr>
            <a:spLocks noGrp="1"/>
          </p:cNvSpPr>
          <p:nvPr>
            <p:ph type="sldNum" sz="quarter" idx="10"/>
          </p:nvPr>
        </p:nvSpPr>
        <p:spPr/>
        <p:txBody>
          <a:bodyPr/>
          <a:lstStyle/>
          <a:p>
            <a:fld id="{4B0D34C0-35A8-654C-9FBA-7B4E017BD630}" type="slidenum">
              <a:rPr lang="en-US" altLang="zh-CN" smtClean="0"/>
              <a:t>75</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连接运算的基数估计示例（</a:t>
            </a:r>
            <a:r>
              <a:rPr lang="en-US" altLang="zh-CN" dirty="0"/>
              <a:t>3</a:t>
            </a:r>
            <a:r>
              <a:rPr lang="zh-CN" altLang="en-US" dirty="0"/>
              <a:t>）</a:t>
            </a:r>
            <a:endParaRPr kumimoji="1" lang="zh-CN" altLang="en-US" dirty="0"/>
          </a:p>
        </p:txBody>
      </p:sp>
      <p:sp>
        <p:nvSpPr>
          <p:cNvPr id="4" name="页脚占位符 3">
            <a:extLst>
              <a:ext uri="{FF2B5EF4-FFF2-40B4-BE49-F238E27FC236}">
                <a16:creationId xmlns:a16="http://schemas.microsoft.com/office/drawing/2014/main" id="{D3A98758-659A-E1CC-D168-F5C4A33EF756}"/>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B744FCA-B7D3-688D-73E6-E842DB28EBB0}"/>
                  </a:ext>
                </a:extLst>
              </p:cNvPr>
              <p:cNvGraphicFramePr>
                <a:graphicFrameLocks noGrp="1"/>
              </p:cNvGraphicFramePr>
              <p:nvPr>
                <p:extLst>
                  <p:ext uri="{D42A27DB-BD31-4B8C-83A1-F6EECF244321}">
                    <p14:modId xmlns:p14="http://schemas.microsoft.com/office/powerpoint/2010/main" val="3284760999"/>
                  </p:ext>
                </p:extLst>
              </p:nvPr>
            </p:nvGraphicFramePr>
            <p:xfrm>
              <a:off x="3804292" y="2308315"/>
              <a:ext cx="4583416" cy="1674291"/>
            </p:xfrm>
            <a:graphic>
              <a:graphicData uri="http://schemas.openxmlformats.org/drawingml/2006/table">
                <a:tbl>
                  <a:tblPr firstRow="1" firstCol="1" bandRow="1">
                    <a:tableStyleId>{72833802-FEF1-4C79-8D5D-14CF1EAF98D9}</a:tableStyleId>
                  </a:tblPr>
                  <a:tblGrid>
                    <a:gridCol w="1119592">
                      <a:extLst>
                        <a:ext uri="{9D8B030D-6E8A-4147-A177-3AD203B41FA5}">
                          <a16:colId xmlns:a16="http://schemas.microsoft.com/office/drawing/2014/main" val="485145419"/>
                        </a:ext>
                      </a:extLst>
                    </a:gridCol>
                    <a:gridCol w="1173222">
                      <a:extLst>
                        <a:ext uri="{9D8B030D-6E8A-4147-A177-3AD203B41FA5}">
                          <a16:colId xmlns:a16="http://schemas.microsoft.com/office/drawing/2014/main" val="2656601924"/>
                        </a:ext>
                      </a:extLst>
                    </a:gridCol>
                    <a:gridCol w="1206948">
                      <a:extLst>
                        <a:ext uri="{9D8B030D-6E8A-4147-A177-3AD203B41FA5}">
                          <a16:colId xmlns:a16="http://schemas.microsoft.com/office/drawing/2014/main" val="3571338254"/>
                        </a:ext>
                      </a:extLst>
                    </a:gridCol>
                    <a:gridCol w="1083654">
                      <a:extLst>
                        <a:ext uri="{9D8B030D-6E8A-4147-A177-3AD203B41FA5}">
                          <a16:colId xmlns:a16="http://schemas.microsoft.com/office/drawing/2014/main" val="3870075818"/>
                        </a:ext>
                      </a:extLst>
                    </a:gridCol>
                  </a:tblGrid>
                  <a:tr h="477693">
                    <a:tc>
                      <a:txBody>
                        <a:bodyPr/>
                        <a:lstStyle/>
                        <a:p>
                          <a:pPr marL="0" indent="127000" algn="ctr" defTabSz="844083" rtl="0" eaLnBrk="1" latinLnBrk="0" hangingPunct="1">
                            <a:lnSpc>
                              <a:spcPct val="150000"/>
                            </a:lnSpc>
                          </a:pPr>
                          <a:r>
                            <a:rPr lang="zh-CN" altLang="en-US" sz="2100" b="1" kern="100" dirty="0">
                              <a:solidFill>
                                <a:schemeClr val="lt1"/>
                              </a:solidFill>
                              <a:effectLst/>
                              <a:latin typeface="+mj-ea"/>
                              <a:ea typeface="+mj-ea"/>
                            </a:rPr>
                            <a:t>关系</a:t>
                          </a:r>
                          <a:endParaRPr lang="zh-CN" altLang="en-US" sz="2100" b="1" kern="100" dirty="0">
                            <a:solidFill>
                              <a:schemeClr val="lt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r>
                                  <a:rPr lang="en-US" altLang="zh-CN" sz="2100" i="1" kern="100" smtClean="0">
                                    <a:latin typeface="Cambria Math" panose="02040503050406030204" pitchFamily="18" charset="0"/>
                                    <a:ea typeface="+mj-ea"/>
                                    <a:cs typeface="Times New Roman" panose="02020603050405020304" pitchFamily="18" charset="0"/>
                                  </a:rPr>
                                  <m:t>𝑇</m:t>
                                </m:r>
                                <m:r>
                                  <a:rPr lang="en-US" sz="2100" b="1" kern="100">
                                    <a:solidFill>
                                      <a:schemeClr val="lt1"/>
                                    </a:solidFill>
                                    <a:effectLst/>
                                    <a:latin typeface="Cambria Math" panose="02040503050406030204" pitchFamily="18" charset="0"/>
                                    <a:ea typeface="+mj-ea"/>
                                  </a:rPr>
                                  <m:t>(</m:t>
                                </m:r>
                                <m:sSub>
                                  <m:sSubPr>
                                    <m:ctrlPr>
                                      <a:rPr lang="zh-CN" altLang="en-US" sz="2100" b="1" i="1" kern="100">
                                        <a:solidFill>
                                          <a:schemeClr val="lt1"/>
                                        </a:solidFill>
                                        <a:effectLst/>
                                        <a:latin typeface="Cambria Math" panose="02040503050406030204" pitchFamily="18" charset="0"/>
                                        <a:ea typeface="+mj-ea"/>
                                      </a:rPr>
                                    </m:ctrlPr>
                                  </m:sSubPr>
                                  <m:e>
                                    <m:r>
                                      <a:rPr lang="en-US" sz="2100" b="1" kern="100">
                                        <a:solidFill>
                                          <a:schemeClr val="lt1"/>
                                        </a:solidFill>
                                        <a:effectLst/>
                                        <a:latin typeface="Cambria Math" panose="02040503050406030204" pitchFamily="18" charset="0"/>
                                        <a:ea typeface="+mj-ea"/>
                                      </a:rPr>
                                      <m:t>𝑅</m:t>
                                    </m:r>
                                  </m:e>
                                  <m:sub>
                                    <m:r>
                                      <a:rPr lang="en-US" sz="2100" b="1" kern="100">
                                        <a:solidFill>
                                          <a:schemeClr val="lt1"/>
                                        </a:solidFill>
                                        <a:effectLst/>
                                        <a:latin typeface="Cambria Math" panose="02040503050406030204" pitchFamily="18" charset="0"/>
                                        <a:ea typeface="+mj-ea"/>
                                      </a:rPr>
                                      <m:t>𝑖</m:t>
                                    </m:r>
                                  </m:sub>
                                </m:sSub>
                                <m:r>
                                  <a:rPr lang="en-US" sz="2100" b="1" kern="100">
                                    <a:solidFill>
                                      <a:schemeClr val="lt1"/>
                                    </a:solidFill>
                                    <a:effectLst/>
                                    <a:latin typeface="Cambria Math" panose="02040503050406030204" pitchFamily="18" charset="0"/>
                                    <a:ea typeface="+mj-ea"/>
                                  </a:rPr>
                                  <m:t>)</m:t>
                                </m:r>
                              </m:oMath>
                            </m:oMathPara>
                          </a14:m>
                          <a:endParaRPr lang="zh-CN" altLang="en-US" sz="2100" b="1" kern="100" dirty="0">
                            <a:solidFill>
                              <a:schemeClr val="lt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r>
                                  <a:rPr lang="en-US" sz="2100" b="1" kern="100">
                                    <a:solidFill>
                                      <a:schemeClr val="lt1"/>
                                    </a:solidFill>
                                    <a:effectLst/>
                                    <a:latin typeface="Cambria Math" panose="02040503050406030204" pitchFamily="18" charset="0"/>
                                    <a:ea typeface="+mj-ea"/>
                                  </a:rPr>
                                  <m:t>𝑉</m:t>
                                </m:r>
                                <m:d>
                                  <m:dPr>
                                    <m:ctrlPr>
                                      <a:rPr lang="zh-CN" altLang="en-US" sz="2100" b="1" i="1" kern="100">
                                        <a:solidFill>
                                          <a:schemeClr val="lt1"/>
                                        </a:solidFill>
                                        <a:effectLst/>
                                        <a:latin typeface="Cambria Math" panose="02040503050406030204" pitchFamily="18" charset="0"/>
                                        <a:ea typeface="+mj-ea"/>
                                      </a:rPr>
                                    </m:ctrlPr>
                                  </m:dPr>
                                  <m:e>
                                    <m:sSub>
                                      <m:sSubPr>
                                        <m:ctrlPr>
                                          <a:rPr lang="zh-CN" altLang="en-US" sz="2100" b="1" i="1" kern="100">
                                            <a:solidFill>
                                              <a:schemeClr val="lt1"/>
                                            </a:solidFill>
                                            <a:effectLst/>
                                            <a:latin typeface="Cambria Math" panose="02040503050406030204" pitchFamily="18" charset="0"/>
                                            <a:ea typeface="+mj-ea"/>
                                          </a:rPr>
                                        </m:ctrlPr>
                                      </m:sSubPr>
                                      <m:e>
                                        <m:r>
                                          <a:rPr lang="en-US" sz="2100" b="1" kern="100">
                                            <a:solidFill>
                                              <a:schemeClr val="lt1"/>
                                            </a:solidFill>
                                            <a:effectLst/>
                                            <a:latin typeface="Cambria Math" panose="02040503050406030204" pitchFamily="18" charset="0"/>
                                            <a:ea typeface="+mj-ea"/>
                                          </a:rPr>
                                          <m:t>𝑅</m:t>
                                        </m:r>
                                      </m:e>
                                      <m:sub>
                                        <m:r>
                                          <a:rPr lang="en-US" sz="2100" b="1" kern="100">
                                            <a:solidFill>
                                              <a:schemeClr val="lt1"/>
                                            </a:solidFill>
                                            <a:effectLst/>
                                            <a:latin typeface="Cambria Math" panose="02040503050406030204" pitchFamily="18" charset="0"/>
                                            <a:ea typeface="+mj-ea"/>
                                          </a:rPr>
                                          <m:t>𝑖</m:t>
                                        </m:r>
                                      </m:sub>
                                    </m:sSub>
                                    <m:r>
                                      <a:rPr lang="en-US" sz="2100" b="1" kern="100">
                                        <a:solidFill>
                                          <a:schemeClr val="lt1"/>
                                        </a:solidFill>
                                        <a:effectLst/>
                                        <a:latin typeface="Cambria Math" panose="02040503050406030204" pitchFamily="18" charset="0"/>
                                        <a:ea typeface="+mj-ea"/>
                                      </a:rPr>
                                      <m:t>,</m:t>
                                    </m:r>
                                    <m:r>
                                      <a:rPr lang="en-US" sz="2100" b="1" kern="100">
                                        <a:solidFill>
                                          <a:schemeClr val="lt1"/>
                                        </a:solidFill>
                                        <a:effectLst/>
                                        <a:latin typeface="Cambria Math" panose="02040503050406030204" pitchFamily="18" charset="0"/>
                                        <a:ea typeface="+mj-ea"/>
                                      </a:rPr>
                                      <m:t>𝐴</m:t>
                                    </m:r>
                                  </m:e>
                                </m:d>
                              </m:oMath>
                            </m:oMathPara>
                          </a14:m>
                          <a:endParaRPr lang="zh-CN" altLang="en-US" sz="2100" b="1" kern="100" dirty="0">
                            <a:solidFill>
                              <a:schemeClr val="lt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r>
                                  <a:rPr lang="en-US" sz="2100" b="1" kern="100">
                                    <a:solidFill>
                                      <a:schemeClr val="lt1"/>
                                    </a:solidFill>
                                    <a:effectLst/>
                                    <a:latin typeface="Cambria Math" panose="02040503050406030204" pitchFamily="18" charset="0"/>
                                    <a:ea typeface="+mj-ea"/>
                                  </a:rPr>
                                  <m:t>𝑉</m:t>
                                </m:r>
                                <m:d>
                                  <m:dPr>
                                    <m:ctrlPr>
                                      <a:rPr lang="zh-CN" altLang="en-US" sz="2100" b="1" i="1" kern="100">
                                        <a:solidFill>
                                          <a:schemeClr val="lt1"/>
                                        </a:solidFill>
                                        <a:effectLst/>
                                        <a:latin typeface="Cambria Math" panose="02040503050406030204" pitchFamily="18" charset="0"/>
                                        <a:ea typeface="+mj-ea"/>
                                      </a:rPr>
                                    </m:ctrlPr>
                                  </m:dPr>
                                  <m:e>
                                    <m:sSub>
                                      <m:sSubPr>
                                        <m:ctrlPr>
                                          <a:rPr lang="zh-CN" altLang="en-US" sz="2100" b="1" i="1" kern="100">
                                            <a:solidFill>
                                              <a:schemeClr val="lt1"/>
                                            </a:solidFill>
                                            <a:effectLst/>
                                            <a:latin typeface="Cambria Math" panose="02040503050406030204" pitchFamily="18" charset="0"/>
                                            <a:ea typeface="+mj-ea"/>
                                          </a:rPr>
                                        </m:ctrlPr>
                                      </m:sSubPr>
                                      <m:e>
                                        <m:r>
                                          <a:rPr lang="en-US" sz="2100" b="1" kern="100">
                                            <a:solidFill>
                                              <a:schemeClr val="lt1"/>
                                            </a:solidFill>
                                            <a:effectLst/>
                                            <a:latin typeface="Cambria Math" panose="02040503050406030204" pitchFamily="18" charset="0"/>
                                            <a:ea typeface="+mj-ea"/>
                                          </a:rPr>
                                          <m:t>𝑅</m:t>
                                        </m:r>
                                      </m:e>
                                      <m:sub>
                                        <m:r>
                                          <a:rPr lang="en-US" sz="2100" b="1" kern="100">
                                            <a:solidFill>
                                              <a:schemeClr val="lt1"/>
                                            </a:solidFill>
                                            <a:effectLst/>
                                            <a:latin typeface="Cambria Math" panose="02040503050406030204" pitchFamily="18" charset="0"/>
                                            <a:ea typeface="+mj-ea"/>
                                          </a:rPr>
                                          <m:t>𝑖</m:t>
                                        </m:r>
                                      </m:sub>
                                    </m:sSub>
                                    <m:r>
                                      <a:rPr lang="en-US" sz="2100" b="1" kern="100">
                                        <a:solidFill>
                                          <a:schemeClr val="lt1"/>
                                        </a:solidFill>
                                        <a:effectLst/>
                                        <a:latin typeface="Cambria Math" panose="02040503050406030204" pitchFamily="18" charset="0"/>
                                        <a:ea typeface="+mj-ea"/>
                                      </a:rPr>
                                      <m:t>,</m:t>
                                    </m:r>
                                    <m:r>
                                      <a:rPr lang="en-US" sz="2100" b="1" kern="100">
                                        <a:solidFill>
                                          <a:schemeClr val="lt1"/>
                                        </a:solidFill>
                                        <a:effectLst/>
                                        <a:latin typeface="Cambria Math" panose="02040503050406030204" pitchFamily="18" charset="0"/>
                                        <a:ea typeface="+mj-ea"/>
                                      </a:rPr>
                                      <m:t>𝐵</m:t>
                                    </m:r>
                                  </m:e>
                                </m:d>
                              </m:oMath>
                            </m:oMathPara>
                          </a14:m>
                          <a:endParaRPr lang="zh-CN" altLang="en-US" sz="2100" b="1" kern="100" dirty="0">
                            <a:solidFill>
                              <a:schemeClr val="lt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extLst>
                      <a:ext uri="{0D108BD9-81ED-4DB2-BD59-A6C34878D82A}">
                        <a16:rowId xmlns:a16="http://schemas.microsoft.com/office/drawing/2014/main" val="3204809168"/>
                      </a:ext>
                    </a:extLst>
                  </a:tr>
                  <a:tr h="398077">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sSub>
                                  <m:sSubPr>
                                    <m:ctrlPr>
                                      <a:rPr lang="zh-CN" altLang="en-US" sz="1700" b="1" i="1" kern="100" smtClean="0">
                                        <a:solidFill>
                                          <a:schemeClr val="tx1"/>
                                        </a:solidFill>
                                        <a:effectLst/>
                                        <a:latin typeface="Cambria Math" panose="02040503050406030204" pitchFamily="18" charset="0"/>
                                        <a:ea typeface="+mj-ea"/>
                                      </a:rPr>
                                    </m:ctrlPr>
                                  </m:sSubPr>
                                  <m:e>
                                    <m:r>
                                      <a:rPr lang="en-US" sz="1700" b="1" kern="100">
                                        <a:solidFill>
                                          <a:schemeClr val="tx1"/>
                                        </a:solidFill>
                                        <a:effectLst/>
                                        <a:latin typeface="Cambria Math" panose="02040503050406030204" pitchFamily="18" charset="0"/>
                                        <a:ea typeface="+mj-ea"/>
                                      </a:rPr>
                                      <m:t>𝑅</m:t>
                                    </m:r>
                                  </m:e>
                                  <m:sub>
                                    <m:r>
                                      <a:rPr lang="en-US" sz="1700" b="1" kern="100">
                                        <a:solidFill>
                                          <a:schemeClr val="tx1"/>
                                        </a:solidFill>
                                        <a:effectLst/>
                                        <a:latin typeface="Cambria Math" panose="02040503050406030204" pitchFamily="18" charset="0"/>
                                        <a:ea typeface="+mj-ea"/>
                                      </a:rPr>
                                      <m:t>1</m:t>
                                    </m:r>
                                  </m:sub>
                                </m:sSub>
                              </m:oMath>
                            </m:oMathPara>
                          </a14:m>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100</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a:solidFill>
                                <a:schemeClr val="tx1"/>
                              </a:solidFill>
                              <a:effectLst/>
                              <a:latin typeface="+mj-ea"/>
                              <a:ea typeface="+mj-ea"/>
                            </a:rPr>
                            <a:t>10</a:t>
                          </a:r>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a:solidFill>
                                <a:schemeClr val="tx1"/>
                              </a:solidFill>
                              <a:effectLst/>
                              <a:latin typeface="+mj-ea"/>
                              <a:ea typeface="+mj-ea"/>
                            </a:rPr>
                            <a:t>2</a:t>
                          </a:r>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4195144968"/>
                      </a:ext>
                    </a:extLst>
                  </a:tr>
                  <a:tr h="398077">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sSub>
                                  <m:sSubPr>
                                    <m:ctrlPr>
                                      <a:rPr lang="zh-CN" altLang="en-US" sz="1700" b="1" i="1" kern="100" smtClean="0">
                                        <a:solidFill>
                                          <a:schemeClr val="tx1"/>
                                        </a:solidFill>
                                        <a:effectLst/>
                                        <a:latin typeface="Cambria Math" panose="02040503050406030204" pitchFamily="18" charset="0"/>
                                        <a:ea typeface="+mj-ea"/>
                                      </a:rPr>
                                    </m:ctrlPr>
                                  </m:sSubPr>
                                  <m:e>
                                    <m:r>
                                      <a:rPr lang="en-US" sz="1700" b="1" kern="100">
                                        <a:solidFill>
                                          <a:schemeClr val="tx1"/>
                                        </a:solidFill>
                                        <a:effectLst/>
                                        <a:latin typeface="Cambria Math" panose="02040503050406030204" pitchFamily="18" charset="0"/>
                                        <a:ea typeface="+mj-ea"/>
                                      </a:rPr>
                                      <m:t>𝑅</m:t>
                                    </m:r>
                                  </m:e>
                                  <m:sub>
                                    <m:r>
                                      <a:rPr lang="en-US" sz="1700" b="1" kern="100">
                                        <a:solidFill>
                                          <a:schemeClr val="tx1"/>
                                        </a:solidFill>
                                        <a:effectLst/>
                                        <a:latin typeface="Cambria Math" panose="02040503050406030204" pitchFamily="18" charset="0"/>
                                        <a:ea typeface="+mj-ea"/>
                                      </a:rPr>
                                      <m:t>2</m:t>
                                    </m:r>
                                  </m:sub>
                                </m:sSub>
                              </m:oMath>
                            </m:oMathPara>
                          </a14:m>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500</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4</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2585565581"/>
                      </a:ext>
                    </a:extLst>
                  </a:tr>
                  <a:tr h="398077">
                    <a:tc>
                      <a:txBody>
                        <a:bodyPr/>
                        <a:lstStyle/>
                        <a:p>
                          <a:pPr marL="0" indent="127000" algn="ctr" defTabSz="844083" rtl="0" eaLnBrk="1" latinLnBrk="0" hangingPunct="1">
                            <a:lnSpc>
                              <a:spcPct val="150000"/>
                            </a:lnSpc>
                          </a:pPr>
                          <a14:m>
                            <m:oMathPara xmlns:m="http://schemas.openxmlformats.org/officeDocument/2006/math">
                              <m:oMathParaPr>
                                <m:jc m:val="centerGroup"/>
                              </m:oMathParaPr>
                              <m:oMath xmlns:m="http://schemas.openxmlformats.org/officeDocument/2006/math">
                                <m:sSub>
                                  <m:sSubPr>
                                    <m:ctrlPr>
                                      <a:rPr lang="zh-CN" altLang="en-US" sz="1700" b="1" i="1" kern="100" smtClean="0">
                                        <a:solidFill>
                                          <a:schemeClr val="tx1"/>
                                        </a:solidFill>
                                        <a:effectLst/>
                                        <a:latin typeface="Cambria Math" panose="02040503050406030204" pitchFamily="18" charset="0"/>
                                        <a:ea typeface="+mj-ea"/>
                                      </a:rPr>
                                    </m:ctrlPr>
                                  </m:sSubPr>
                                  <m:e>
                                    <m:r>
                                      <a:rPr lang="en-US" sz="1700" b="1" kern="100">
                                        <a:solidFill>
                                          <a:schemeClr val="tx1"/>
                                        </a:solidFill>
                                        <a:effectLst/>
                                        <a:latin typeface="Cambria Math" panose="02040503050406030204" pitchFamily="18" charset="0"/>
                                        <a:ea typeface="+mj-ea"/>
                                      </a:rPr>
                                      <m:t>𝑅</m:t>
                                    </m:r>
                                  </m:e>
                                  <m:sub>
                                    <m:r>
                                      <a:rPr lang="en-US" sz="1700" b="1" kern="100">
                                        <a:solidFill>
                                          <a:schemeClr val="tx1"/>
                                        </a:solidFill>
                                        <a:effectLst/>
                                        <a:latin typeface="Cambria Math" panose="02040503050406030204" pitchFamily="18" charset="0"/>
                                        <a:ea typeface="+mj-ea"/>
                                      </a:rPr>
                                      <m:t>3</m:t>
                                    </m:r>
                                  </m:sub>
                                </m:sSub>
                              </m:oMath>
                            </m:oMathPara>
                          </a14:m>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a:solidFill>
                                <a:schemeClr val="tx1"/>
                              </a:solidFill>
                              <a:effectLst/>
                              <a:latin typeface="+mj-ea"/>
                              <a:ea typeface="+mj-ea"/>
                            </a:rPr>
                            <a:t>1000</a:t>
                          </a:r>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50</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5</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val="920774094"/>
                      </a:ext>
                    </a:extLst>
                  </a:tr>
                </a:tbl>
              </a:graphicData>
            </a:graphic>
          </p:graphicFrame>
        </mc:Choice>
        <mc:Fallback xmlns="">
          <p:graphicFrame>
            <p:nvGraphicFramePr>
              <p:cNvPr id="5" name="表格 4">
                <a:extLst>
                  <a:ext uri="{FF2B5EF4-FFF2-40B4-BE49-F238E27FC236}">
                    <a16:creationId xmlns:a16="http://schemas.microsoft.com/office/drawing/2014/main" xmlns:a14="http://schemas.microsoft.com/office/drawing/2010/main" xmlns="" id="{AB744FCA-B7D3-688D-73E6-E842DB28EBB0}"/>
                  </a:ext>
                </a:extLst>
              </p:cNvPr>
              <p:cNvGraphicFramePr>
                <a:graphicFrameLocks noGrp="1"/>
              </p:cNvGraphicFramePr>
              <p:nvPr>
                <p:extLst>
                  <p:ext uri="{D42A27DB-BD31-4B8C-83A1-F6EECF244321}">
                    <p14:modId xmlns:p14="http://schemas.microsoft.com/office/powerpoint/2010/main" val="3284760999"/>
                  </p:ext>
                </p:extLst>
              </p:nvPr>
            </p:nvGraphicFramePr>
            <p:xfrm>
              <a:off x="3804292" y="2308315"/>
              <a:ext cx="4583416" cy="1674291"/>
            </p:xfrm>
            <a:graphic>
              <a:graphicData uri="http://schemas.openxmlformats.org/drawingml/2006/table">
                <a:tbl>
                  <a:tblPr firstRow="1" firstCol="1" bandRow="1">
                    <a:tableStyleId>{72833802-FEF1-4C79-8D5D-14CF1EAF98D9}</a:tableStyleId>
                  </a:tblPr>
                  <a:tblGrid>
                    <a:gridCol w="1119592">
                      <a:extLst>
                        <a:ext uri="{9D8B030D-6E8A-4147-A177-3AD203B41FA5}">
                          <a16:colId xmlns:a16="http://schemas.microsoft.com/office/drawing/2014/main" xmlns:a14="http://schemas.microsoft.com/office/drawing/2010/main" xmlns="" val="485145419"/>
                        </a:ext>
                      </a:extLst>
                    </a:gridCol>
                    <a:gridCol w="1173222">
                      <a:extLst>
                        <a:ext uri="{9D8B030D-6E8A-4147-A177-3AD203B41FA5}">
                          <a16:colId xmlns:a16="http://schemas.microsoft.com/office/drawing/2014/main" xmlns:a14="http://schemas.microsoft.com/office/drawing/2010/main" xmlns="" val="2656601924"/>
                        </a:ext>
                      </a:extLst>
                    </a:gridCol>
                    <a:gridCol w="1206948">
                      <a:extLst>
                        <a:ext uri="{9D8B030D-6E8A-4147-A177-3AD203B41FA5}">
                          <a16:colId xmlns:a16="http://schemas.microsoft.com/office/drawing/2014/main" xmlns:a14="http://schemas.microsoft.com/office/drawing/2010/main" xmlns="" val="3571338254"/>
                        </a:ext>
                      </a:extLst>
                    </a:gridCol>
                    <a:gridCol w="1083654">
                      <a:extLst>
                        <a:ext uri="{9D8B030D-6E8A-4147-A177-3AD203B41FA5}">
                          <a16:colId xmlns:a16="http://schemas.microsoft.com/office/drawing/2014/main" xmlns:a14="http://schemas.microsoft.com/office/drawing/2010/main" xmlns="" val="3870075818"/>
                        </a:ext>
                      </a:extLst>
                    </a:gridCol>
                  </a:tblGrid>
                  <a:tr h="480060">
                    <a:tc>
                      <a:txBody>
                        <a:bodyPr/>
                        <a:lstStyle/>
                        <a:p>
                          <a:pPr marL="0" indent="127000" algn="ctr" defTabSz="844083" rtl="0" eaLnBrk="1" latinLnBrk="0" hangingPunct="1">
                            <a:lnSpc>
                              <a:spcPct val="150000"/>
                            </a:lnSpc>
                          </a:pPr>
                          <a:r>
                            <a:rPr lang="zh-CN" altLang="en-US" sz="2100" b="1" kern="100" dirty="0">
                              <a:solidFill>
                                <a:schemeClr val="lt1"/>
                              </a:solidFill>
                              <a:effectLst/>
                              <a:latin typeface="+mj-ea"/>
                              <a:ea typeface="+mj-ea"/>
                            </a:rPr>
                            <a:t>关系</a:t>
                          </a:r>
                          <a:endParaRPr lang="zh-CN" altLang="en-US" sz="2100" b="1" kern="100" dirty="0">
                            <a:solidFill>
                              <a:schemeClr val="lt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solidFill>
                          <a:srgbClr val="701988"/>
                        </a:solidFill>
                      </a:tcPr>
                    </a:tc>
                    <a:tc>
                      <a:txBody>
                        <a:bodyPr/>
                        <a:lstStyle/>
                        <a:p>
                          <a:endParaRPr lang="zh-CN"/>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96354" r="-196354" b="-264557"/>
                          </a:stretch>
                        </a:blipFill>
                      </a:tcPr>
                    </a:tc>
                    <a:tc>
                      <a:txBody>
                        <a:bodyPr/>
                        <a:lstStyle/>
                        <a:p>
                          <a:endParaRPr lang="zh-CN"/>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190404" r="-90404" b="-264557"/>
                          </a:stretch>
                        </a:blipFill>
                      </a:tcPr>
                    </a:tc>
                    <a:tc>
                      <a:txBody>
                        <a:bodyPr/>
                        <a:lstStyle/>
                        <a:p>
                          <a:endParaRPr lang="zh-CN"/>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323034" r="-562" b="-264557"/>
                          </a:stretch>
                        </a:blipFill>
                      </a:tcPr>
                    </a:tc>
                    <a:extLst>
                      <a:ext uri="{0D108BD9-81ED-4DB2-BD59-A6C34878D82A}">
                        <a16:rowId xmlns:a16="http://schemas.microsoft.com/office/drawing/2014/main" xmlns:a14="http://schemas.microsoft.com/office/drawing/2010/main" xmlns="" val="3204809168"/>
                      </a:ext>
                    </a:extLst>
                  </a:tr>
                  <a:tr h="398077">
                    <a:tc>
                      <a:txBody>
                        <a:bodyPr/>
                        <a:lstStyle/>
                        <a:p>
                          <a:endParaRPr lang="zh-CN"/>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543" t="-119697" r="-309239" b="-216667"/>
                          </a:stretch>
                        </a:blipFill>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100</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a:solidFill>
                                <a:schemeClr val="tx1"/>
                              </a:solidFill>
                              <a:effectLst/>
                              <a:latin typeface="+mj-ea"/>
                              <a:ea typeface="+mj-ea"/>
                            </a:rPr>
                            <a:t>10</a:t>
                          </a:r>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a:solidFill>
                                <a:schemeClr val="tx1"/>
                              </a:solidFill>
                              <a:effectLst/>
                              <a:latin typeface="+mj-ea"/>
                              <a:ea typeface="+mj-ea"/>
                            </a:rPr>
                            <a:t>2</a:t>
                          </a:r>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95144968"/>
                      </a:ext>
                    </a:extLst>
                  </a:tr>
                  <a:tr h="398077">
                    <a:tc>
                      <a:txBody>
                        <a:bodyPr/>
                        <a:lstStyle/>
                        <a:p>
                          <a:endParaRPr lang="zh-CN"/>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543" t="-223077" r="-309239" b="-120000"/>
                          </a:stretch>
                        </a:blipFill>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500</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4</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585565581"/>
                      </a:ext>
                    </a:extLst>
                  </a:tr>
                  <a:tr h="398077">
                    <a:tc>
                      <a:txBody>
                        <a:bodyPr/>
                        <a:lstStyle/>
                        <a:p>
                          <a:endParaRPr lang="zh-CN"/>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blipFill rotWithShape="0">
                          <a:blip r:embed="rId4"/>
                          <a:stretch>
                            <a:fillRect l="-543" t="-318182" r="-309239" b="-18182"/>
                          </a:stretch>
                        </a:blipFill>
                      </a:tcPr>
                    </a:tc>
                    <a:tc>
                      <a:txBody>
                        <a:bodyPr/>
                        <a:lstStyle/>
                        <a:p>
                          <a:pPr marL="0" indent="127000" algn="ctr" defTabSz="844083" rtl="0" eaLnBrk="1" latinLnBrk="0" hangingPunct="1">
                            <a:lnSpc>
                              <a:spcPct val="150000"/>
                            </a:lnSpc>
                          </a:pPr>
                          <a:r>
                            <a:rPr lang="en-US" sz="1700" b="1" kern="100">
                              <a:solidFill>
                                <a:schemeClr val="tx1"/>
                              </a:solidFill>
                              <a:effectLst/>
                              <a:latin typeface="+mj-ea"/>
                              <a:ea typeface="+mj-ea"/>
                            </a:rPr>
                            <a:t>1000</a:t>
                          </a:r>
                          <a:endParaRPr lang="zh-CN" altLang="en-US" sz="1700" b="1" kern="10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50</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tc>
                      <a:txBody>
                        <a:bodyPr/>
                        <a:lstStyle/>
                        <a:p>
                          <a:pPr marL="0" indent="127000" algn="ctr" defTabSz="844083" rtl="0" eaLnBrk="1" latinLnBrk="0" hangingPunct="1">
                            <a:lnSpc>
                              <a:spcPct val="150000"/>
                            </a:lnSpc>
                          </a:pPr>
                          <a:r>
                            <a:rPr lang="en-US" sz="1700" b="1" kern="100" dirty="0">
                              <a:solidFill>
                                <a:schemeClr val="tx1"/>
                              </a:solidFill>
                              <a:effectLst/>
                              <a:latin typeface="+mj-ea"/>
                              <a:ea typeface="+mj-ea"/>
                            </a:rPr>
                            <a:t>5</a:t>
                          </a:r>
                          <a:endParaRPr lang="zh-CN" altLang="en-US" sz="1700" b="1" kern="100" dirty="0">
                            <a:solidFill>
                              <a:schemeClr val="tx1"/>
                            </a:solidFill>
                            <a:effectLst/>
                            <a:latin typeface="+mj-ea"/>
                            <a:ea typeface="+mj-ea"/>
                            <a:cs typeface="+mn-cs"/>
                          </a:endParaRPr>
                        </a:p>
                      </a:txBody>
                      <a:tcPr marL="59712" marR="59712" marT="0" marB="0" anchor="ctr">
                        <a:lnL w="6350" cap="flat" cmpd="sng" algn="ctr">
                          <a:solidFill>
                            <a:srgbClr val="701988"/>
                          </a:solidFill>
                          <a:prstDash val="solid"/>
                          <a:round/>
                          <a:headEnd type="none" w="med" len="med"/>
                          <a:tailEnd type="none" w="med" len="med"/>
                        </a:lnL>
                        <a:lnR w="6350" cap="flat" cmpd="sng" algn="ctr">
                          <a:solidFill>
                            <a:srgbClr val="701988"/>
                          </a:solidFill>
                          <a:prstDash val="solid"/>
                          <a:round/>
                          <a:headEnd type="none" w="med" len="med"/>
                          <a:tailEnd type="none" w="med" len="med"/>
                        </a:lnR>
                        <a:lnT w="6350" cap="flat" cmpd="sng" algn="ctr">
                          <a:solidFill>
                            <a:srgbClr val="701988"/>
                          </a:solidFill>
                          <a:prstDash val="solid"/>
                          <a:round/>
                          <a:headEnd type="none" w="med" len="med"/>
                          <a:tailEnd type="none" w="med" len="med"/>
                        </a:lnT>
                        <a:lnB w="6350" cap="flat" cmpd="sng" algn="ctr">
                          <a:solidFill>
                            <a:srgbClr val="701988"/>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20774094"/>
                      </a:ext>
                    </a:extLst>
                  </a:tr>
                </a:tbl>
              </a:graphicData>
            </a:graphic>
          </p:graphicFrame>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04725AF-8F49-BD03-5415-DC3A9AA98D74}"/>
                  </a:ext>
                </a:extLst>
              </p:cNvPr>
              <p:cNvSpPr/>
              <p:nvPr/>
            </p:nvSpPr>
            <p:spPr>
              <a:xfrm>
                <a:off x="1008000" y="3920073"/>
                <a:ext cx="11521440" cy="4014882"/>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zh-CN" sz="2000" kern="100" dirty="0">
                    <a:latin typeface="+mj-ea"/>
                    <a:ea typeface="+mj-ea"/>
                    <a:cs typeface="Times New Roman" panose="02020603050405020304" pitchFamily="18" charset="0"/>
                  </a:rPr>
                  <a:t>对于属性</a:t>
                </a:r>
                <a14:m>
                  <m:oMath xmlns:m="http://schemas.openxmlformats.org/officeDocument/2006/math">
                    <m:r>
                      <m:rPr>
                        <m:sty m:val="p"/>
                      </m:rPr>
                      <a:rPr lang="en-US" altLang="zh-CN" sz="2000" b="0" i="1" kern="100">
                        <a:latin typeface="Cambria Math" panose="02040503050406030204" pitchFamily="18" charset="0"/>
                        <a:ea typeface="+mj-ea"/>
                        <a:cs typeface="Times New Roman" panose="02020603050405020304" pitchFamily="18" charset="0"/>
                      </a:rPr>
                      <m:t>A</m:t>
                    </m:r>
                  </m:oMath>
                </a14:m>
                <a:r>
                  <a:rPr lang="zh-CN" altLang="zh-CN" sz="2000" kern="100" dirty="0">
                    <a:latin typeface="+mj-ea"/>
                    <a:ea typeface="+mj-ea"/>
                    <a:cs typeface="Times New Roman" panose="02020603050405020304" pitchFamily="18" charset="0"/>
                  </a:rPr>
                  <a:t>的限制，</a:t>
                </a:r>
                <a14:m>
                  <m:oMath xmlns:m="http://schemas.openxmlformats.org/officeDocument/2006/math">
                    <m:r>
                      <m:rPr>
                        <m:sty m:val="p"/>
                      </m:rPr>
                      <a:rPr lang="en-US" altLang="zh-CN" sz="2000" b="0" i="1" kern="100">
                        <a:latin typeface="Cambria Math" panose="02040503050406030204" pitchFamily="18" charset="0"/>
                        <a:ea typeface="+mj-ea"/>
                        <a:cs typeface="Times New Roman" panose="02020603050405020304" pitchFamily="18" charset="0"/>
                      </a:rPr>
                      <m:t>P</m:t>
                    </m:r>
                    <m:d>
                      <m:dPr>
                        <m:ctrlPr>
                          <a:rPr lang="zh-CN" altLang="zh-CN" sz="2000" i="1" kern="100">
                            <a:latin typeface="Cambria Math" panose="02040503050406030204" pitchFamily="18" charset="0"/>
                            <a:ea typeface="+mj-ea"/>
                            <a:cs typeface="Times New Roman" panose="02020603050405020304" pitchFamily="18" charset="0"/>
                          </a:rPr>
                        </m:ctrlPr>
                      </m:dPr>
                      <m:e>
                        <m:r>
                          <m:rPr>
                            <m:sty m:val="p"/>
                          </m:rPr>
                          <a:rPr lang="en-US" altLang="zh-CN" sz="2000" b="0" i="1" kern="100">
                            <a:latin typeface="Cambria Math" panose="02040503050406030204" pitchFamily="18" charset="0"/>
                            <a:ea typeface="+mj-ea"/>
                            <a:cs typeface="Times New Roman" panose="02020603050405020304" pitchFamily="18" charset="0"/>
                          </a:rPr>
                          <m:t>A</m:t>
                        </m:r>
                      </m:e>
                    </m:d>
                    <m:r>
                      <a:rPr lang="en-US" altLang="zh-CN" sz="2000" b="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min</m:t>
                            </m:r>
                          </m:e>
                          <m:sub>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1</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smtClean="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0" kern="100" smtClean="0">
                                    <a:latin typeface="Cambria Math" panose="02040503050406030204" pitchFamily="18" charset="0"/>
                                    <a:ea typeface="+mj-ea"/>
                                    <a:cs typeface="Times New Roman" panose="02020603050405020304" pitchFamily="18" charset="0"/>
                                  </a:rPr>
                                  <m:t>3</m:t>
                                </m:r>
                              </m:sub>
                            </m:sSub>
                            <m:r>
                              <a:rPr lang="en-US" altLang="zh-CN" sz="2000" b="0" kern="100">
                                <a:latin typeface="Cambria Math" panose="02040503050406030204" pitchFamily="18" charset="0"/>
                                <a:ea typeface="+mj-ea"/>
                                <a:cs typeface="Times New Roman" panose="02020603050405020304" pitchFamily="18" charset="0"/>
                              </a:rPr>
                              <m:t>}</m:t>
                            </m:r>
                          </m:sub>
                        </m:sSub>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V</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A</m:t>
                        </m:r>
                        <m:r>
                          <a:rPr lang="en-US" altLang="zh-CN" sz="2000" b="0" kern="100">
                            <a:latin typeface="Cambria Math" panose="02040503050406030204" pitchFamily="18" charset="0"/>
                            <a:ea typeface="+mj-ea"/>
                            <a:cs typeface="Times New Roman" panose="02020603050405020304" pitchFamily="18" charset="0"/>
                          </a:rPr>
                          <m:t>)}</m:t>
                        </m:r>
                      </m:num>
                      <m:den>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1</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0" kern="100" smtClean="0">
                                    <a:latin typeface="Cambria Math" panose="02040503050406030204" pitchFamily="18" charset="0"/>
                                    <a:ea typeface="+mj-ea"/>
                                    <a:cs typeface="Times New Roman" panose="02020603050405020304" pitchFamily="18" charset="0"/>
                                  </a:rPr>
                                  <m:t>3</m:t>
                                </m:r>
                              </m:sub>
                            </m:sSub>
                            <m:r>
                              <a:rPr lang="en-US" altLang="zh-CN" sz="2000" b="0" kern="100">
                                <a:latin typeface="Cambria Math" panose="02040503050406030204" pitchFamily="18" charset="0"/>
                                <a:ea typeface="+mj-ea"/>
                                <a:cs typeface="Times New Roman" panose="02020603050405020304" pitchFamily="18" charset="0"/>
                              </a:rPr>
                              <m:t>}</m:t>
                            </m:r>
                          </m:sub>
                          <m:sup/>
                          <m:e>
                            <m:r>
                              <m:rPr>
                                <m:sty m:val="p"/>
                              </m:rPr>
                              <a:rPr lang="en-US" altLang="zh-CN" sz="2000" b="0" i="1" kern="100">
                                <a:latin typeface="Cambria Math" panose="02040503050406030204" pitchFamily="18" charset="0"/>
                                <a:ea typeface="+mj-ea"/>
                                <a:cs typeface="Times New Roman" panose="02020603050405020304" pitchFamily="18" charset="0"/>
                              </a:rPr>
                              <m:t>V</m:t>
                            </m:r>
                            <m:d>
                              <m:dPr>
                                <m:ctrlPr>
                                  <a:rPr lang="zh-CN" altLang="zh-CN" sz="2000" i="1" kern="100">
                                    <a:latin typeface="Cambria Math" panose="02040503050406030204" pitchFamily="18" charset="0"/>
                                    <a:ea typeface="+mj-ea"/>
                                    <a:cs typeface="Times New Roman" panose="02020603050405020304" pitchFamily="18" charset="0"/>
                                  </a:rPr>
                                </m:ctrlPr>
                              </m:dPr>
                              <m:e>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A</m:t>
                                </m:r>
                              </m:e>
                            </m:d>
                          </m:e>
                        </m:nary>
                      </m:den>
                    </m:f>
                    <m:r>
                      <a:rPr lang="en-US" altLang="zh-CN" sz="2000" b="0" kern="100">
                        <a:latin typeface="Cambria Math" panose="02040503050406030204" pitchFamily="18" charset="0"/>
                        <a:ea typeface="+mj-ea"/>
                        <a:cs typeface="Times New Roman" panose="02020603050405020304" pitchFamily="18" charset="0"/>
                      </a:rPr>
                      <m:t>= </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b="0" i="1" kern="100">
                            <a:latin typeface="Cambria Math" panose="02040503050406030204" pitchFamily="18" charset="0"/>
                            <a:ea typeface="+mj-ea"/>
                            <a:cs typeface="Times New Roman" panose="02020603050405020304" pitchFamily="18" charset="0"/>
                          </a:rPr>
                          <m:t>10</m:t>
                        </m:r>
                      </m:num>
                      <m:den>
                        <m:r>
                          <a:rPr lang="en-US" altLang="zh-CN" sz="2000" b="0" i="1" kern="100">
                            <a:latin typeface="Cambria Math" panose="02040503050406030204" pitchFamily="18" charset="0"/>
                            <a:ea typeface="+mj-ea"/>
                            <a:cs typeface="Times New Roman" panose="02020603050405020304" pitchFamily="18" charset="0"/>
                          </a:rPr>
                          <m:t>10</m:t>
                        </m:r>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50</m:t>
                        </m:r>
                      </m:den>
                    </m:f>
                    <m:r>
                      <a:rPr lang="en-US" altLang="zh-CN" sz="2000" b="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b="0" i="1" kern="100">
                            <a:latin typeface="Cambria Math" panose="02040503050406030204" pitchFamily="18" charset="0"/>
                            <a:ea typeface="+mj-ea"/>
                            <a:cs typeface="Times New Roman" panose="02020603050405020304" pitchFamily="18" charset="0"/>
                          </a:rPr>
                          <m:t>1</m:t>
                        </m:r>
                      </m:num>
                      <m:den>
                        <m:r>
                          <a:rPr lang="en-US" altLang="zh-CN" sz="2000" b="0" i="1" kern="100">
                            <a:latin typeface="Cambria Math" panose="02040503050406030204" pitchFamily="18" charset="0"/>
                            <a:ea typeface="+mj-ea"/>
                            <a:cs typeface="Times New Roman" panose="02020603050405020304" pitchFamily="18" charset="0"/>
                          </a:rPr>
                          <m:t>50</m:t>
                        </m:r>
                      </m:den>
                    </m:f>
                  </m:oMath>
                </a14:m>
                <a:endParaRPr lang="en-US" altLang="zh-CN" sz="2000" kern="100" dirty="0">
                  <a:latin typeface="+mj-ea"/>
                  <a:ea typeface="+mj-ea"/>
                  <a:cs typeface="Times New Roman" panose="02020603050405020304" pitchFamily="18" charset="0"/>
                </a:endParaRPr>
              </a:p>
              <a:p>
                <a:pPr marL="457200" indent="-457200" algn="just">
                  <a:lnSpc>
                    <a:spcPct val="150000"/>
                  </a:lnSpc>
                  <a:buFont typeface="Wingdings" panose="05000000000000000000" pitchFamily="2" charset="2"/>
                  <a:buChar char="Ø"/>
                </a:pPr>
                <a:r>
                  <a:rPr lang="zh-CN" altLang="zh-CN" sz="2000" kern="100" dirty="0">
                    <a:latin typeface="+mj-ea"/>
                    <a:ea typeface="+mj-ea"/>
                    <a:cs typeface="Times New Roman" panose="02020603050405020304" pitchFamily="18" charset="0"/>
                  </a:rPr>
                  <a:t>对于属性</a:t>
                </a:r>
                <a14:m>
                  <m:oMath xmlns:m="http://schemas.openxmlformats.org/officeDocument/2006/math">
                    <m:r>
                      <m:rPr>
                        <m:sty m:val="p"/>
                      </m:rPr>
                      <a:rPr lang="en-US" altLang="zh-CN" sz="2000" b="0" i="1" kern="100">
                        <a:latin typeface="Cambria Math" panose="02040503050406030204" pitchFamily="18" charset="0"/>
                        <a:ea typeface="+mj-ea"/>
                        <a:cs typeface="Times New Roman" panose="02020603050405020304" pitchFamily="18" charset="0"/>
                      </a:rPr>
                      <m:t>B</m:t>
                    </m:r>
                  </m:oMath>
                </a14:m>
                <a:r>
                  <a:rPr lang="zh-CN" altLang="zh-CN" sz="2000" kern="100" dirty="0">
                    <a:latin typeface="+mj-ea"/>
                    <a:ea typeface="+mj-ea"/>
                    <a:cs typeface="Times New Roman" panose="02020603050405020304" pitchFamily="18" charset="0"/>
                  </a:rPr>
                  <a:t>的限制，</a:t>
                </a:r>
                <a14:m>
                  <m:oMath xmlns:m="http://schemas.openxmlformats.org/officeDocument/2006/math">
                    <m:r>
                      <m:rPr>
                        <m:sty m:val="p"/>
                      </m:rPr>
                      <a:rPr lang="en-US" altLang="zh-CN" sz="2000" b="0" i="1" kern="100">
                        <a:latin typeface="Cambria Math" panose="02040503050406030204" pitchFamily="18" charset="0"/>
                        <a:ea typeface="+mj-ea"/>
                        <a:cs typeface="Times New Roman" panose="02020603050405020304" pitchFamily="18" charset="0"/>
                      </a:rPr>
                      <m:t>P</m:t>
                    </m:r>
                    <m:d>
                      <m:dPr>
                        <m:ctrlPr>
                          <a:rPr lang="zh-CN" altLang="zh-CN" sz="2000" i="1" kern="100">
                            <a:latin typeface="Cambria Math" panose="02040503050406030204" pitchFamily="18" charset="0"/>
                            <a:ea typeface="+mj-ea"/>
                            <a:cs typeface="Times New Roman" panose="02020603050405020304" pitchFamily="18" charset="0"/>
                          </a:rPr>
                        </m:ctrlPr>
                      </m:dPr>
                      <m:e>
                        <m:r>
                          <m:rPr>
                            <m:sty m:val="p"/>
                          </m:rPr>
                          <a:rPr lang="en-US" altLang="zh-CN" sz="2000" b="0" i="1" kern="100">
                            <a:latin typeface="Cambria Math" panose="02040503050406030204" pitchFamily="18" charset="0"/>
                            <a:ea typeface="+mj-ea"/>
                            <a:cs typeface="Times New Roman" panose="02020603050405020304" pitchFamily="18" charset="0"/>
                          </a:rPr>
                          <m:t>B</m:t>
                        </m:r>
                      </m:e>
                    </m:d>
                    <m:r>
                      <a:rPr lang="en-US" altLang="zh-CN" sz="2000" b="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min</m:t>
                            </m:r>
                          </m:e>
                          <m:sub>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1</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2</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3</m:t>
                                </m:r>
                              </m:sub>
                            </m:sSub>
                            <m:r>
                              <a:rPr lang="en-US" altLang="zh-CN" sz="2000" b="0" kern="100">
                                <a:latin typeface="Cambria Math" panose="02040503050406030204" pitchFamily="18" charset="0"/>
                                <a:ea typeface="+mj-ea"/>
                                <a:cs typeface="Times New Roman" panose="02020603050405020304" pitchFamily="18" charset="0"/>
                              </a:rPr>
                              <m:t>}</m:t>
                            </m:r>
                          </m:sub>
                        </m:sSub>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V</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B</m:t>
                        </m:r>
                        <m:r>
                          <a:rPr lang="en-US" altLang="zh-CN" sz="2000" b="0" kern="100">
                            <a:latin typeface="Cambria Math" panose="02040503050406030204" pitchFamily="18" charset="0"/>
                            <a:ea typeface="+mj-ea"/>
                            <a:cs typeface="Times New Roman" panose="02020603050405020304" pitchFamily="18" charset="0"/>
                          </a:rPr>
                          <m:t>)}</m:t>
                        </m:r>
                      </m:num>
                      <m:den>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1</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2</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3</m:t>
                                </m:r>
                              </m:sub>
                            </m:sSub>
                            <m:r>
                              <a:rPr lang="en-US" altLang="zh-CN" sz="2000" b="0" kern="100">
                                <a:latin typeface="Cambria Math" panose="02040503050406030204" pitchFamily="18" charset="0"/>
                                <a:ea typeface="+mj-ea"/>
                                <a:cs typeface="Times New Roman" panose="02020603050405020304" pitchFamily="18" charset="0"/>
                              </a:rPr>
                              <m:t>}</m:t>
                            </m:r>
                          </m:sub>
                          <m:sup/>
                          <m:e>
                            <m:r>
                              <m:rPr>
                                <m:sty m:val="p"/>
                              </m:rPr>
                              <a:rPr lang="en-US" altLang="zh-CN" sz="2000" b="0" i="1" kern="100">
                                <a:latin typeface="Cambria Math" panose="02040503050406030204" pitchFamily="18" charset="0"/>
                                <a:ea typeface="+mj-ea"/>
                                <a:cs typeface="Times New Roman" panose="02020603050405020304" pitchFamily="18" charset="0"/>
                              </a:rPr>
                              <m:t>V</m:t>
                            </m:r>
                            <m:d>
                              <m:dPr>
                                <m:ctrlPr>
                                  <a:rPr lang="zh-CN" altLang="zh-CN" sz="2000" i="1" kern="100">
                                    <a:latin typeface="Cambria Math" panose="02040503050406030204" pitchFamily="18" charset="0"/>
                                    <a:ea typeface="+mj-ea"/>
                                    <a:cs typeface="Times New Roman" panose="02020603050405020304" pitchFamily="18" charset="0"/>
                                  </a:rPr>
                                </m:ctrlPr>
                              </m:dPr>
                              <m:e>
                                <m:r>
                                  <m:rPr>
                                    <m:sty m:val="p"/>
                                  </m:rPr>
                                  <a:rPr lang="en-US" altLang="zh-CN" sz="2000" b="0" i="1" kern="100">
                                    <a:latin typeface="Cambria Math" panose="02040503050406030204" pitchFamily="18" charset="0"/>
                                    <a:ea typeface="+mj-ea"/>
                                    <a:cs typeface="Times New Roman" panose="02020603050405020304" pitchFamily="18" charset="0"/>
                                  </a:rPr>
                                  <m:t>R</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B</m:t>
                                </m:r>
                              </m:e>
                            </m:d>
                          </m:e>
                        </m:nary>
                      </m:den>
                    </m:f>
                    <m:r>
                      <a:rPr lang="en-US" altLang="zh-CN" sz="2000" b="0" kern="100">
                        <a:latin typeface="Cambria Math" panose="02040503050406030204" pitchFamily="18" charset="0"/>
                        <a:ea typeface="+mj-ea"/>
                        <a:cs typeface="Times New Roman" panose="02020603050405020304" pitchFamily="18" charset="0"/>
                      </a:rPr>
                      <m:t>= </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b="0" i="1" kern="100">
                            <a:latin typeface="Cambria Math" panose="02040503050406030204" pitchFamily="18" charset="0"/>
                            <a:ea typeface="+mj-ea"/>
                            <a:cs typeface="Times New Roman" panose="02020603050405020304" pitchFamily="18" charset="0"/>
                          </a:rPr>
                          <m:t>2</m:t>
                        </m:r>
                      </m:num>
                      <m:den>
                        <m:r>
                          <a:rPr lang="en-US" altLang="zh-CN" sz="2000" b="0" i="1" kern="100">
                            <a:latin typeface="Cambria Math" panose="02040503050406030204" pitchFamily="18" charset="0"/>
                            <a:ea typeface="+mj-ea"/>
                            <a:cs typeface="Times New Roman" panose="02020603050405020304" pitchFamily="18" charset="0"/>
                          </a:rPr>
                          <m:t>2</m:t>
                        </m:r>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4</m:t>
                        </m:r>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5</m:t>
                        </m:r>
                      </m:den>
                    </m:f>
                    <m:r>
                      <a:rPr lang="en-US" altLang="zh-CN" sz="2000" b="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b="0" i="1" kern="100">
                            <a:latin typeface="Cambria Math" panose="02040503050406030204" pitchFamily="18" charset="0"/>
                            <a:ea typeface="+mj-ea"/>
                            <a:cs typeface="Times New Roman" panose="02020603050405020304" pitchFamily="18" charset="0"/>
                          </a:rPr>
                          <m:t>1</m:t>
                        </m:r>
                      </m:num>
                      <m:den>
                        <m:r>
                          <a:rPr lang="en-US" altLang="zh-CN" sz="2000" b="0" i="1" kern="100">
                            <a:latin typeface="Cambria Math" panose="02040503050406030204" pitchFamily="18" charset="0"/>
                            <a:ea typeface="+mj-ea"/>
                            <a:cs typeface="Times New Roman" panose="02020603050405020304" pitchFamily="18" charset="0"/>
                          </a:rPr>
                          <m:t>20</m:t>
                        </m:r>
                      </m:den>
                    </m:f>
                  </m:oMath>
                </a14:m>
                <a:endParaRPr lang="en-US" altLang="zh-CN" sz="2000" kern="100" dirty="0">
                  <a:latin typeface="+mj-ea"/>
                  <a:ea typeface="+mj-ea"/>
                  <a:cs typeface="Times New Roman" panose="02020603050405020304" pitchFamily="18" charset="0"/>
                </a:endParaRPr>
              </a:p>
              <a:p>
                <a:pPr marL="457200" indent="-457200" algn="just">
                  <a:lnSpc>
                    <a:spcPct val="150000"/>
                  </a:lnSpc>
                  <a:buFont typeface="Wingdings" panose="05000000000000000000" pitchFamily="2" charset="2"/>
                  <a:buChar char="Ø"/>
                </a:pPr>
                <a14:m>
                  <m:oMath xmlns:m="http://schemas.openxmlformats.org/officeDocument/2006/math">
                    <m:r>
                      <m:rPr>
                        <m:sty m:val="p"/>
                      </m:rPr>
                      <a:rPr lang="en-US" altLang="zh-CN" sz="2000" b="0" i="1" kern="100">
                        <a:latin typeface="Cambria Math" panose="02040503050406030204" pitchFamily="18" charset="0"/>
                        <a:ea typeface="+mj-ea"/>
                        <a:cs typeface="Times New Roman" panose="02020603050405020304" pitchFamily="18" charset="0"/>
                      </a:rPr>
                      <m:t>T</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1</m:t>
                            </m:r>
                          </m:sub>
                        </m:sSub>
                        <m:r>
                          <a:rPr lang="en-US" altLang="zh-CN" sz="2000" b="0" kern="100">
                            <a:latin typeface="Cambria Math" panose="02040503050406030204" pitchFamily="18" charset="0"/>
                            <a:ea typeface="+mj-ea"/>
                            <a:cs typeface="Times New Roman" panose="02020603050405020304" pitchFamily="18" charset="0"/>
                          </a:rPr>
                          <m:t>⋈ </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2</m:t>
                            </m:r>
                          </m:sub>
                        </m:sSub>
                        <m:r>
                          <a:rPr lang="en-US" altLang="zh-CN" sz="2000" b="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a:rPr lang="en-US" altLang="zh-CN" sz="2000" b="0" i="1" kern="100">
                                <a:latin typeface="Cambria Math" panose="02040503050406030204" pitchFamily="18" charset="0"/>
                                <a:ea typeface="+mj-ea"/>
                                <a:cs typeface="Times New Roman" panose="02020603050405020304" pitchFamily="18" charset="0"/>
                              </a:rPr>
                              <m:t>3</m:t>
                            </m:r>
                          </m:sub>
                        </m:sSub>
                      </m:e>
                    </m:d>
                    <m:r>
                      <a:rPr lang="en-US" altLang="zh-CN" sz="2000" b="0" kern="100">
                        <a:latin typeface="Cambria Math" panose="02040503050406030204" pitchFamily="18" charset="0"/>
                        <a:ea typeface="+mj-ea"/>
                        <a:cs typeface="Times New Roman" panose="02020603050405020304" pitchFamily="18" charset="0"/>
                      </a:rPr>
                      <m:t>=</m:t>
                    </m:r>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a:rPr lang="en-US" altLang="zh-CN" sz="2000" b="0" i="1" kern="100">
                            <a:latin typeface="Cambria Math" panose="02040503050406030204" pitchFamily="18" charset="0"/>
                            <a:ea typeface="+mj-ea"/>
                            <a:cs typeface="Times New Roman" panose="02020603050405020304" pitchFamily="18" charset="0"/>
                          </a:rPr>
                          <m:t>1</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i</m:t>
                        </m:r>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3</m:t>
                        </m:r>
                      </m:sub>
                      <m:sup/>
                      <m:e>
                        <m:r>
                          <m:rPr>
                            <m:sty m:val="p"/>
                          </m:rPr>
                          <a:rPr lang="en-US" altLang="zh-CN" sz="2000" b="0" i="1" kern="100">
                            <a:latin typeface="Cambria Math" panose="02040503050406030204" pitchFamily="18" charset="0"/>
                            <a:ea typeface="+mj-ea"/>
                            <a:cs typeface="Times New Roman" panose="02020603050405020304" pitchFamily="18" charset="0"/>
                          </a:rPr>
                          <m:t>T</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1" kern="100">
                                    <a:latin typeface="Cambria Math" panose="02040503050406030204" pitchFamily="18" charset="0"/>
                                    <a:ea typeface="+mj-ea"/>
                                    <a:cs typeface="Times New Roman" panose="02020603050405020304" pitchFamily="18" charset="0"/>
                                  </a:rPr>
                                  <m:t>R</m:t>
                                </m:r>
                              </m:e>
                              <m:sub>
                                <m:r>
                                  <m:rPr>
                                    <m:sty m:val="p"/>
                                  </m:rPr>
                                  <a:rPr lang="en-US" altLang="zh-CN" sz="2000" b="0" i="1" kern="100">
                                    <a:latin typeface="Cambria Math" panose="02040503050406030204" pitchFamily="18" charset="0"/>
                                    <a:ea typeface="+mj-ea"/>
                                    <a:cs typeface="Times New Roman" panose="02020603050405020304" pitchFamily="18" charset="0"/>
                                  </a:rPr>
                                  <m:t>i</m:t>
                                </m:r>
                              </m:sub>
                            </m:sSub>
                          </m:e>
                        </m:d>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m:rPr>
                                <m:sty m:val="p"/>
                              </m:rPr>
                              <a:rPr lang="en-US" altLang="zh-CN" sz="2000" b="0" i="1" kern="100">
                                <a:latin typeface="Cambria Math" panose="02040503050406030204" pitchFamily="18" charset="0"/>
                                <a:ea typeface="+mj-ea"/>
                                <a:cs typeface="Times New Roman" panose="02020603050405020304" pitchFamily="18" charset="0"/>
                              </a:rPr>
                              <m:t>A</m:t>
                            </m:r>
                            <m:r>
                              <a:rPr lang="en-US" altLang="zh-CN" sz="2000" b="0" kern="100">
                                <a:latin typeface="Cambria Math" panose="02040503050406030204" pitchFamily="18" charset="0"/>
                                <a:ea typeface="+mj-ea"/>
                                <a:cs typeface="Times New Roman" panose="02020603050405020304" pitchFamily="18" charset="0"/>
                              </a:rPr>
                              <m:t>∈</m:t>
                            </m:r>
                            <m:r>
                              <m:rPr>
                                <m:sty m:val="p"/>
                              </m:rPr>
                              <a:rPr lang="en-US" altLang="zh-CN" sz="2000" b="0" i="1" kern="100">
                                <a:latin typeface="Cambria Math" panose="02040503050406030204" pitchFamily="18" charset="0"/>
                                <a:ea typeface="+mj-ea"/>
                                <a:cs typeface="Times New Roman" panose="02020603050405020304" pitchFamily="18" charset="0"/>
                              </a:rPr>
                              <m:t>S</m:t>
                            </m:r>
                          </m:sub>
                          <m:sup/>
                          <m:e>
                            <m:r>
                              <m:rPr>
                                <m:sty m:val="p"/>
                              </m:rPr>
                              <a:rPr lang="en-US" altLang="zh-CN" sz="2000" b="0" i="1" kern="100">
                                <a:latin typeface="Cambria Math" panose="02040503050406030204" pitchFamily="18" charset="0"/>
                                <a:ea typeface="+mj-ea"/>
                                <a:cs typeface="Times New Roman" panose="02020603050405020304" pitchFamily="18" charset="0"/>
                              </a:rPr>
                              <m:t>P</m:t>
                            </m:r>
                            <m:d>
                              <m:dPr>
                                <m:ctrlPr>
                                  <a:rPr lang="zh-CN" altLang="zh-CN" sz="2000" i="1" kern="100">
                                    <a:latin typeface="Cambria Math" panose="02040503050406030204" pitchFamily="18" charset="0"/>
                                    <a:ea typeface="+mj-ea"/>
                                    <a:cs typeface="Times New Roman" panose="02020603050405020304" pitchFamily="18" charset="0"/>
                                  </a:rPr>
                                </m:ctrlPr>
                              </m:dPr>
                              <m:e>
                                <m:r>
                                  <m:rPr>
                                    <m:sty m:val="p"/>
                                  </m:rPr>
                                  <a:rPr lang="en-US" altLang="zh-CN" sz="2000" b="0" i="1" kern="100">
                                    <a:latin typeface="Cambria Math" panose="02040503050406030204" pitchFamily="18" charset="0"/>
                                    <a:ea typeface="+mj-ea"/>
                                    <a:cs typeface="Times New Roman" panose="02020603050405020304" pitchFamily="18" charset="0"/>
                                  </a:rPr>
                                  <m:t>A</m:t>
                                </m:r>
                              </m:e>
                            </m:d>
                          </m:e>
                        </m:nary>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100</m:t>
                        </m:r>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500</m:t>
                        </m:r>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1000</m:t>
                        </m:r>
                        <m:r>
                          <a:rPr lang="en-US" altLang="zh-CN" sz="2000" b="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b="0" i="1" kern="100">
                                <a:latin typeface="Cambria Math" panose="02040503050406030204" pitchFamily="18" charset="0"/>
                                <a:ea typeface="+mj-ea"/>
                                <a:cs typeface="Times New Roman" panose="02020603050405020304" pitchFamily="18" charset="0"/>
                              </a:rPr>
                              <m:t>1</m:t>
                            </m:r>
                          </m:num>
                          <m:den>
                            <m:r>
                              <a:rPr lang="en-US" altLang="zh-CN" sz="2000" b="0" i="1" kern="100">
                                <a:latin typeface="Cambria Math" panose="02040503050406030204" pitchFamily="18" charset="0"/>
                                <a:ea typeface="+mj-ea"/>
                                <a:cs typeface="Times New Roman" panose="02020603050405020304" pitchFamily="18" charset="0"/>
                              </a:rPr>
                              <m:t>50</m:t>
                            </m:r>
                          </m:den>
                        </m:f>
                      </m:e>
                    </m:nary>
                    <m:r>
                      <a:rPr lang="en-US" altLang="zh-CN" sz="2000" b="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b="0" i="1" kern="100">
                            <a:latin typeface="Cambria Math" panose="02040503050406030204" pitchFamily="18" charset="0"/>
                            <a:ea typeface="+mj-ea"/>
                            <a:cs typeface="Times New Roman" panose="02020603050405020304" pitchFamily="18" charset="0"/>
                          </a:rPr>
                          <m:t>1</m:t>
                        </m:r>
                      </m:num>
                      <m:den>
                        <m:r>
                          <a:rPr lang="en-US" altLang="zh-CN" sz="2000" b="0" i="1" kern="100">
                            <a:latin typeface="Cambria Math" panose="02040503050406030204" pitchFamily="18" charset="0"/>
                            <a:ea typeface="+mj-ea"/>
                            <a:cs typeface="Times New Roman" panose="02020603050405020304" pitchFamily="18" charset="0"/>
                          </a:rPr>
                          <m:t>20</m:t>
                        </m:r>
                      </m:den>
                    </m:f>
                    <m:r>
                      <a:rPr lang="en-US" altLang="zh-CN" sz="2000" b="0" kern="100">
                        <a:latin typeface="Cambria Math" panose="02040503050406030204" pitchFamily="18" charset="0"/>
                        <a:ea typeface="+mj-ea"/>
                        <a:cs typeface="Times New Roman" panose="02020603050405020304" pitchFamily="18" charset="0"/>
                      </a:rPr>
                      <m:t>=</m:t>
                    </m:r>
                    <m:r>
                      <a:rPr lang="en-US" altLang="zh-CN" sz="2000" b="0" i="1" kern="100">
                        <a:latin typeface="Cambria Math" panose="02040503050406030204" pitchFamily="18" charset="0"/>
                        <a:ea typeface="+mj-ea"/>
                        <a:cs typeface="Times New Roman" panose="02020603050405020304" pitchFamily="18" charset="0"/>
                      </a:rPr>
                      <m:t>50000</m:t>
                    </m:r>
                  </m:oMath>
                </a14:m>
                <a:r>
                  <a:rPr lang="zh-CN" altLang="zh-CN" sz="2000" kern="100" dirty="0">
                    <a:latin typeface="+mj-ea"/>
                    <a:ea typeface="+mj-ea"/>
                    <a:cs typeface="Times New Roman" panose="02020603050405020304" pitchFamily="18" charset="0"/>
                  </a:rPr>
                  <a:t> </a:t>
                </a:r>
                <a:endParaRPr lang="en-US" altLang="zh-CN" sz="2000" kern="100" dirty="0">
                  <a:latin typeface="+mj-ea"/>
                  <a:ea typeface="+mj-ea"/>
                  <a:cs typeface="Times New Roman" panose="02020603050405020304" pitchFamily="18" charset="0"/>
                </a:endParaRPr>
              </a:p>
              <a:p>
                <a:pPr marL="457200" indent="-457200" algn="just">
                  <a:buFont typeface="Wingdings" pitchFamily="2" charset="2"/>
                  <a:buChar char="p"/>
                </a:pPr>
                <a:endParaRPr lang="en-US" altLang="zh-CN" sz="2400" kern="100" dirty="0">
                  <a:latin typeface="+mj-ea"/>
                  <a:ea typeface="+mj-ea"/>
                  <a:cs typeface="Times New Roman" panose="02020603050405020304" pitchFamily="18" charset="0"/>
                </a:endParaRPr>
              </a:p>
              <a:p>
                <a:pPr marL="457200" indent="-457200" algn="just">
                  <a:buFont typeface="Wingdings" pitchFamily="2" charset="2"/>
                  <a:buChar char="p"/>
                </a:pPr>
                <a:endParaRPr lang="en-US" altLang="zh-CN" sz="2400" kern="100" dirty="0">
                  <a:latin typeface="+mj-ea"/>
                  <a:ea typeface="+mj-ea"/>
                  <a:cs typeface="Times New Roman" panose="02020603050405020304" pitchFamily="18" charset="0"/>
                </a:endParaRPr>
              </a:p>
              <a:p>
                <a:pPr marL="457200" indent="-457200" algn="just">
                  <a:buFont typeface="Wingdings" pitchFamily="2" charset="2"/>
                  <a:buChar char="p"/>
                </a:pPr>
                <a:endParaRPr lang="zh-CN" altLang="zh-CN" sz="2400" kern="100" dirty="0">
                  <a:latin typeface="+mj-ea"/>
                  <a:ea typeface="+mj-ea"/>
                  <a:cs typeface="Times New Roman" panose="02020603050405020304" pitchFamily="18" charset="0"/>
                </a:endParaRPr>
              </a:p>
              <a:p>
                <a:pPr marL="342900" indent="-342900" algn="just">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804725AF-8F49-BD03-5415-DC3A9AA98D74}"/>
                  </a:ext>
                </a:extLst>
              </p:cNvPr>
              <p:cNvSpPr>
                <a:spLocks noRot="1" noChangeAspect="1" noMove="1" noResize="1" noEditPoints="1" noAdjustHandles="1" noChangeArrowheads="1" noChangeShapeType="1" noTextEdit="1"/>
              </p:cNvSpPr>
              <p:nvPr/>
            </p:nvSpPr>
            <p:spPr>
              <a:xfrm>
                <a:off x="1008000" y="3920073"/>
                <a:ext cx="11521440" cy="4014882"/>
              </a:xfrm>
              <a:prstGeom prst="rect">
                <a:avLst/>
              </a:prstGeom>
              <a:blipFill>
                <a:blip r:embed="rId5"/>
                <a:stretch>
                  <a:fillRect l="-4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90511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D6F9165-E79D-8C23-A851-63C4CD4CE508}"/>
              </a:ext>
            </a:extLst>
          </p:cNvPr>
          <p:cNvSpPr>
            <a:spLocks noGrp="1"/>
          </p:cNvSpPr>
          <p:nvPr>
            <p:ph type="sldNum" sz="quarter" idx="10"/>
          </p:nvPr>
        </p:nvSpPr>
        <p:spPr/>
        <p:txBody>
          <a:bodyPr/>
          <a:lstStyle/>
          <a:p>
            <a:fld id="{4B0D34C0-35A8-654C-9FBA-7B4E017BD630}" type="slidenum">
              <a:rPr lang="en-US" altLang="zh-CN" smtClean="0"/>
              <a:t>76</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其他算子的基数估计</a:t>
            </a:r>
            <a:endParaRPr kumimoji="1" lang="zh-CN" altLang="en-US" dirty="0"/>
          </a:p>
        </p:txBody>
      </p:sp>
      <p:sp>
        <p:nvSpPr>
          <p:cNvPr id="4" name="页脚占位符 3">
            <a:extLst>
              <a:ext uri="{FF2B5EF4-FFF2-40B4-BE49-F238E27FC236}">
                <a16:creationId xmlns:a16="http://schemas.microsoft.com/office/drawing/2014/main" id="{6A2B6587-85BD-A651-72A2-F4FDED628C60}"/>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1521440" cy="5504199"/>
              </a:xfrm>
              <a:prstGeom prst="rect">
                <a:avLst/>
              </a:prstGeom>
            </p:spPr>
            <p:txBody>
              <a:bodyPr wrap="square">
                <a:spAutoFit/>
              </a:bodyPr>
              <a:lstStyle/>
              <a:p>
                <a:pPr marL="457200" indent="-4572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投影运算</a:t>
                </a:r>
                <a:endParaRPr lang="en-US" altLang="zh-CN" sz="24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对于投影</a:t>
                </a:r>
                <a14:m>
                  <m:oMath xmlns:m="http://schemas.openxmlformats.org/officeDocument/2006/math">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Π</m:t>
                        </m:r>
                      </m:e>
                      <m:sub>
                        <m:r>
                          <m:rPr>
                            <m:sty m:val="p"/>
                          </m:rPr>
                          <a:rPr lang="en-US" altLang="zh-CN" sz="2000" kern="100">
                            <a:latin typeface="Cambria Math" panose="02040503050406030204" pitchFamily="18" charset="0"/>
                            <a:ea typeface="+mj-ea"/>
                            <a:cs typeface="Times New Roman" panose="02020603050405020304" pitchFamily="18" charset="0"/>
                          </a:rPr>
                          <m:t>A</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oMath>
                </a14:m>
                <a:r>
                  <a:rPr lang="zh-CN" altLang="zh-CN" sz="2000" kern="100" dirty="0">
                    <a:latin typeface="+mj-ea"/>
                    <a:ea typeface="+mj-ea"/>
                    <a:cs typeface="Times New Roman" panose="02020603050405020304" pitchFamily="18" charset="0"/>
                  </a:rPr>
                  <a:t>，由于投影过程中会去除重复元组，因此可以估计为：</a:t>
                </a:r>
              </a:p>
              <a:p>
                <a:pPr/>
                <a14:m>
                  <m:oMathPara xmlns:m="http://schemas.openxmlformats.org/officeDocument/2006/math">
                    <m:oMathParaPr>
                      <m:jc m:val="centerGroup"/>
                    </m:oMathParaPr>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Π</m:t>
                              </m:r>
                            </m:e>
                            <m:sub>
                              <m:r>
                                <m:rPr>
                                  <m:sty m:val="p"/>
                                </m:rPr>
                                <a:rPr lang="en-US" altLang="zh-CN" sz="2000" kern="100">
                                  <a:latin typeface="Cambria Math" panose="02040503050406030204" pitchFamily="18" charset="0"/>
                                  <a:ea typeface="+mj-ea"/>
                                  <a:cs typeface="Times New Roman" panose="02020603050405020304" pitchFamily="18" charset="0"/>
                                </a:rPr>
                                <m:t>A</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e>
                      </m:d>
                      <m:r>
                        <a:rPr lang="en-US" altLang="zh-CN" sz="2000" kern="100">
                          <a:latin typeface="Cambria Math" panose="02040503050406030204" pitchFamily="18" charset="0"/>
                          <a:ea typeface="+mj-ea"/>
                          <a:cs typeface="Times New Roman" panose="02020603050405020304" pitchFamily="18" charset="0"/>
                        </a:rPr>
                        <m:t>= </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Π</m:t>
                              </m:r>
                            </m:e>
                            <m:sub>
                              <m:r>
                                <m:rPr>
                                  <m:sty m:val="p"/>
                                </m:rPr>
                                <a:rPr lang="en-US" altLang="zh-CN" sz="2000" kern="100">
                                  <a:latin typeface="Cambria Math" panose="02040503050406030204" pitchFamily="18" charset="0"/>
                                  <a:ea typeface="+mj-ea"/>
                                  <a:cs typeface="Times New Roman" panose="02020603050405020304" pitchFamily="18" charset="0"/>
                                </a:rPr>
                                <m:t>A</m:t>
                              </m:r>
                            </m:sub>
                          </m:sSub>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𝑉</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d>
                    </m:oMath>
                  </m:oMathPara>
                </a14:m>
                <a:endParaRPr lang="en-US" altLang="zh-CN" sz="2000" kern="100" dirty="0">
                  <a:latin typeface="+mj-ea"/>
                  <a:ea typeface="+mj-ea"/>
                  <a:cs typeface="Times New Roman" panose="02020603050405020304" pitchFamily="18" charset="0"/>
                </a:endParaRPr>
              </a:p>
              <a:p>
                <a:pPr marL="457200" indent="-4572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并运算</a:t>
                </a:r>
                <a:endParaRPr lang="en-US" altLang="zh-CN" sz="24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对于多集的并，由于多集可以包含重复元组，</a:t>
                </a:r>
                <a:r>
                  <a:rPr lang="zh-CN" altLang="en-US" sz="2000" kern="100" dirty="0">
                    <a:latin typeface="+mj-ea"/>
                    <a:ea typeface="+mj-ea"/>
                    <a:cs typeface="Times New Roman" panose="02020603050405020304" pitchFamily="18" charset="0"/>
                  </a:rPr>
                  <a:t>故</a:t>
                </a:r>
                <a14:m>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a:t>
                </a:r>
                <a:endParaRPr lang="en-US" altLang="zh-CN" sz="2000"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对于集合的并，一般以</a:t>
                </a:r>
                <a14:m>
                  <m:oMath xmlns:m="http://schemas.openxmlformats.org/officeDocument/2006/math">
                    <m:f>
                      <m:fPr>
                        <m:ctrlPr>
                          <a:rPr lang="zh-CN" altLang="zh-CN" sz="2000" i="1" kern="100">
                            <a:latin typeface="Cambria Math" panose="02040503050406030204" pitchFamily="18" charset="0"/>
                            <a:ea typeface="+mj-ea"/>
                            <a:cs typeface="Times New Roman" panose="02020603050405020304" pitchFamily="18" charset="0"/>
                          </a:rPr>
                        </m:ctrlPr>
                      </m:fPr>
                      <m:num>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b="0" i="0" kern="100" smtClean="0">
                                <a:latin typeface="Cambria Math" panose="02040503050406030204" pitchFamily="18" charset="0"/>
                                <a:ea typeface="+mj-ea"/>
                                <a:cs typeface="Times New Roman" panose="02020603050405020304" pitchFamily="18" charset="0"/>
                              </a:rPr>
                              <m:t>m</m:t>
                            </m:r>
                            <m:r>
                              <a:rPr lang="en-US" altLang="zh-CN" sz="2000" kern="100">
                                <a:latin typeface="Cambria Math" panose="02040503050406030204" pitchFamily="18" charset="0"/>
                                <a:ea typeface="+mj-ea"/>
                                <a:cs typeface="Times New Roman" panose="02020603050405020304" pitchFamily="18" charset="0"/>
                              </a:rPr>
                              <m:t>𝑎𝑥</m:t>
                            </m:r>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𝑇</m:t>
                        </m:r>
                        <m:r>
                          <a:rPr lang="en-US" altLang="zh-CN" sz="2000" kern="100">
                            <a:latin typeface="Cambria Math" panose="02040503050406030204" pitchFamily="18" charset="0"/>
                            <a:ea typeface="+mj-ea"/>
                            <a:cs typeface="Times New Roman" panose="02020603050405020304" pitchFamily="18" charset="0"/>
                          </a:rPr>
                          <m:t>(</m:t>
                        </m:r>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r>
                          <a:rPr lang="en-US" altLang="zh-CN" sz="2000" kern="100">
                            <a:latin typeface="Cambria Math" panose="02040503050406030204" pitchFamily="18" charset="0"/>
                            <a:ea typeface="+mj-ea"/>
                            <a:cs typeface="Times New Roman" panose="02020603050405020304" pitchFamily="18" charset="0"/>
                          </a:rPr>
                          <m:t>)</m:t>
                        </m:r>
                      </m:num>
                      <m:den>
                        <m:r>
                          <a:rPr lang="en-US" altLang="zh-CN" sz="2000" kern="100">
                            <a:latin typeface="Cambria Math" panose="02040503050406030204" pitchFamily="18" charset="0"/>
                            <a:ea typeface="+mj-ea"/>
                            <a:cs typeface="Times New Roman" panose="02020603050405020304" pitchFamily="18" charset="0"/>
                          </a:rPr>
                          <m:t>2</m:t>
                        </m:r>
                      </m:den>
                    </m:f>
                  </m:oMath>
                </a14:m>
                <a:r>
                  <a:rPr lang="zh-CN" altLang="zh-CN" sz="2000" kern="100" dirty="0">
                    <a:latin typeface="+mj-ea"/>
                    <a:ea typeface="+mj-ea"/>
                    <a:cs typeface="Times New Roman" panose="02020603050405020304" pitchFamily="18" charset="0"/>
                  </a:rPr>
                  <a:t> </a:t>
                </a:r>
                <a:r>
                  <a:rPr lang="zh-CN" altLang="en-US" sz="2000" kern="100" dirty="0">
                    <a:latin typeface="+mj-ea"/>
                    <a:ea typeface="+mj-ea"/>
                    <a:cs typeface="Times New Roman" panose="02020603050405020304" pitchFamily="18" charset="0"/>
                  </a:rPr>
                  <a:t>作为估计。</a:t>
                </a:r>
                <a:endParaRPr lang="en-US" altLang="zh-CN" sz="2000" kern="100" dirty="0">
                  <a:latin typeface="+mj-ea"/>
                  <a:ea typeface="+mj-ea"/>
                  <a:cs typeface="Times New Roman" panose="02020603050405020304" pitchFamily="18" charset="0"/>
                </a:endParaRPr>
              </a:p>
              <a:p>
                <a:pPr marL="457200" indent="-4572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交运算</a:t>
                </a:r>
                <a:endParaRPr lang="en-US" altLang="zh-CN" sz="24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对于两关系的交</a:t>
                </a:r>
                <a:r>
                  <a:rPr lang="zh-CN" altLang="en-US" sz="2000" kern="100" dirty="0">
                    <a:latin typeface="+mj-ea"/>
                    <a:ea typeface="+mj-ea"/>
                    <a:cs typeface="Times New Roman" panose="02020603050405020304" pitchFamily="18" charset="0"/>
                  </a:rPr>
                  <a:t>，一般以</a:t>
                </a:r>
                <a14:m>
                  <m:oMath xmlns:m="http://schemas.openxmlformats.org/officeDocument/2006/math">
                    <m:f>
                      <m:fPr>
                        <m:ctrlPr>
                          <a:rPr lang="zh-CN" altLang="zh-CN" sz="2000" i="1" kern="100">
                            <a:latin typeface="Cambria Math" panose="02040503050406030204" pitchFamily="18" charset="0"/>
                            <a:ea typeface="+mj-ea"/>
                            <a:cs typeface="Times New Roman" panose="02020603050405020304" pitchFamily="18" charset="0"/>
                          </a:rPr>
                        </m:ctrlPr>
                      </m:fPr>
                      <m:num>
                        <m:r>
                          <m:rPr>
                            <m:sty m:val="p"/>
                          </m:rPr>
                          <a:rPr lang="en-US" altLang="zh-CN" sz="2000" kern="100">
                            <a:latin typeface="Cambria Math" panose="02040503050406030204" pitchFamily="18" charset="0"/>
                            <a:ea typeface="+mj-ea"/>
                            <a:cs typeface="Times New Roman" panose="02020603050405020304" pitchFamily="18" charset="0"/>
                          </a:rPr>
                          <m:t>min</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e>
                        </m:d>
                        <m:r>
                          <a:rPr lang="en-US" altLang="zh-CN" sz="2000" kern="100">
                            <a:latin typeface="Cambria Math" panose="02040503050406030204" pitchFamily="18" charset="0"/>
                            <a:ea typeface="+mj-ea"/>
                            <a:cs typeface="Times New Roman" panose="02020603050405020304" pitchFamily="18" charset="0"/>
                          </a:rPr>
                          <m:t>)</m:t>
                        </m:r>
                      </m:num>
                      <m:den>
                        <m:r>
                          <a:rPr lang="en-US" altLang="zh-CN" sz="2000" kern="100">
                            <a:latin typeface="Cambria Math" panose="02040503050406030204" pitchFamily="18" charset="0"/>
                            <a:ea typeface="+mj-ea"/>
                            <a:cs typeface="Times New Roman" panose="02020603050405020304" pitchFamily="18" charset="0"/>
                          </a:rPr>
                          <m:t>2</m:t>
                        </m:r>
                      </m:den>
                    </m:f>
                  </m:oMath>
                </a14:m>
                <a:r>
                  <a:rPr lang="zh-CN" altLang="zh-CN" sz="2000" kern="100" dirty="0">
                    <a:latin typeface="+mj-ea"/>
                    <a:ea typeface="+mj-ea"/>
                    <a:cs typeface="Times New Roman" panose="02020603050405020304" pitchFamily="18" charset="0"/>
                  </a:rPr>
                  <a:t>作为估计</a:t>
                </a:r>
              </a:p>
              <a:p>
                <a:pPr marL="342900" indent="-342900" algn="just">
                  <a:lnSpc>
                    <a:spcPct val="150000"/>
                  </a:lnSpc>
                  <a:buFont typeface="Wingdings" pitchFamily="2" charset="2"/>
                  <a:buChar char="p"/>
                </a:pPr>
                <a:endParaRPr lang="en-US" altLang="zh-CN" sz="2400" kern="100" dirty="0">
                  <a:latin typeface="+mj-ea"/>
                  <a:ea typeface="+mj-ea"/>
                  <a:cs typeface="Times New Roman" panose="02020603050405020304" pitchFamily="18" charset="0"/>
                </a:endParaRPr>
              </a:p>
              <a:p>
                <a:pPr marL="342900" indent="-342900" algn="just">
                  <a:lnSpc>
                    <a:spcPct val="150000"/>
                  </a:lnSpc>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26800"/>
                <a:ext cx="11521440" cy="5504199"/>
              </a:xfrm>
              <a:prstGeom prst="rect">
                <a:avLst/>
              </a:prstGeom>
              <a:blipFill rotWithShape="0">
                <a:blip r:embed="rId3"/>
                <a:stretch>
                  <a:fillRect l="-6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329998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45BD35E-2E8F-9905-0EED-4850C671B44E}"/>
              </a:ext>
            </a:extLst>
          </p:cNvPr>
          <p:cNvSpPr>
            <a:spLocks noGrp="1"/>
          </p:cNvSpPr>
          <p:nvPr>
            <p:ph type="sldNum" sz="quarter" idx="10"/>
          </p:nvPr>
        </p:nvSpPr>
        <p:spPr/>
        <p:txBody>
          <a:bodyPr/>
          <a:lstStyle/>
          <a:p>
            <a:fld id="{4B0D34C0-35A8-654C-9FBA-7B4E017BD630}" type="slidenum">
              <a:rPr lang="en-US" altLang="zh-CN" smtClean="0"/>
              <a:t>77</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其他算子的基数估计</a:t>
            </a:r>
            <a:endParaRPr kumimoji="1" lang="zh-CN" altLang="en-US" dirty="0"/>
          </a:p>
        </p:txBody>
      </p:sp>
      <p:sp>
        <p:nvSpPr>
          <p:cNvPr id="4" name="页脚占位符 3">
            <a:extLst>
              <a:ext uri="{FF2B5EF4-FFF2-40B4-BE49-F238E27FC236}">
                <a16:creationId xmlns:a16="http://schemas.microsoft.com/office/drawing/2014/main" id="{396597A4-F601-0DED-E0F9-0083F94834BA}"/>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9022766-FD25-1EAE-DC13-7DF9313EFC75}"/>
                  </a:ext>
                </a:extLst>
              </p:cNvPr>
              <p:cNvSpPr/>
              <p:nvPr/>
            </p:nvSpPr>
            <p:spPr>
              <a:xfrm>
                <a:off x="1008000" y="1126800"/>
                <a:ext cx="10226057" cy="4826706"/>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差运算</a:t>
                </a:r>
                <a:endParaRPr lang="en-US" altLang="zh-CN" sz="24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对于两关系的</a:t>
                </a:r>
                <a:r>
                  <a:rPr lang="zh-CN" altLang="en-US" sz="2000" kern="100" dirty="0">
                    <a:latin typeface="+mj-ea"/>
                    <a:ea typeface="+mj-ea"/>
                    <a:cs typeface="Times New Roman" panose="02020603050405020304" pitchFamily="18" charset="0"/>
                  </a:rPr>
                  <a:t>差，一般以</a:t>
                </a:r>
                <a14:m>
                  <m:oMath xmlns:m="http://schemas.openxmlformats.org/officeDocument/2006/math">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2∙</m:t>
                        </m:r>
                        <m:r>
                          <a:rPr lang="en-US" altLang="zh-CN" sz="2000"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1</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𝑅</m:t>
                                </m:r>
                              </m:e>
                              <m:sub>
                                <m:r>
                                  <a:rPr lang="en-US" altLang="zh-CN" sz="2000" kern="100">
                                    <a:latin typeface="Cambria Math" panose="02040503050406030204" pitchFamily="18" charset="0"/>
                                    <a:ea typeface="+mj-ea"/>
                                    <a:cs typeface="Times New Roman" panose="02020603050405020304" pitchFamily="18" charset="0"/>
                                  </a:rPr>
                                  <m:t>2</m:t>
                                </m:r>
                              </m:sub>
                            </m:sSub>
                          </m:e>
                        </m:d>
                      </m:num>
                      <m:den>
                        <m:r>
                          <a:rPr lang="en-US" altLang="zh-CN" sz="2000" kern="100">
                            <a:latin typeface="Cambria Math" panose="02040503050406030204" pitchFamily="18" charset="0"/>
                            <a:ea typeface="+mj-ea"/>
                            <a:cs typeface="Times New Roman" panose="02020603050405020304" pitchFamily="18" charset="0"/>
                          </a:rPr>
                          <m:t>2</m:t>
                        </m:r>
                      </m:den>
                    </m:f>
                  </m:oMath>
                </a14:m>
                <a:r>
                  <a:rPr lang="zh-CN" altLang="zh-CN" sz="2000" kern="100" dirty="0">
                    <a:latin typeface="+mj-ea"/>
                    <a:ea typeface="+mj-ea"/>
                    <a:cs typeface="Times New Roman" panose="02020603050405020304" pitchFamily="18" charset="0"/>
                  </a:rPr>
                  <a:t>作为估计</a:t>
                </a:r>
              </a:p>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去重运算</a:t>
                </a:r>
                <a:endParaRPr lang="en-US" altLang="zh-CN" sz="24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对于属性集合为</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𝑆</m:t>
                    </m:r>
                  </m:oMath>
                </a14:m>
                <a:r>
                  <a:rPr lang="zh-CN" altLang="zh-CN" sz="2000" kern="100" dirty="0">
                    <a:latin typeface="+mj-ea"/>
                    <a:ea typeface="+mj-ea"/>
                    <a:cs typeface="Times New Roman" panose="02020603050405020304" pitchFamily="18" charset="0"/>
                  </a:rPr>
                  <a:t>的关系</a:t>
                </a:r>
                <a14:m>
                  <m:oMath xmlns:m="http://schemas.openxmlformats.org/officeDocument/2006/math">
                    <m:r>
                      <m:rPr>
                        <m:sty m:val="p"/>
                      </m:rPr>
                      <a:rPr lang="en-US" altLang="zh-CN" sz="2000" kern="100">
                        <a:latin typeface="Cambria Math" panose="02040503050406030204" pitchFamily="18" charset="0"/>
                        <a:ea typeface="+mj-ea"/>
                        <a:cs typeface="Times New Roman" panose="02020603050405020304" pitchFamily="18" charset="0"/>
                      </a:rPr>
                      <m:t>R</m:t>
                    </m:r>
                  </m:oMath>
                </a14:m>
                <a:r>
                  <a:rPr lang="zh-CN" altLang="zh-CN" sz="2000" kern="100" dirty="0">
                    <a:latin typeface="+mj-ea"/>
                    <a:ea typeface="+mj-ea"/>
                    <a:cs typeface="Times New Roman" panose="02020603050405020304" pitchFamily="18" charset="0"/>
                  </a:rPr>
                  <a:t>，</a:t>
                </a:r>
                <a14:m>
                  <m:oMath xmlns:m="http://schemas.openxmlformats.org/officeDocument/2006/math">
                    <m:r>
                      <a:rPr lang="zh-CN" altLang="en-US" sz="2000" kern="100" dirty="0">
                        <a:latin typeface="Cambria Math" panose="02040503050406030204" pitchFamily="18" charset="0"/>
                        <a:ea typeface="+mj-ea"/>
                        <a:cs typeface="Times New Roman" panose="02020603050405020304" pitchFamily="18" charset="0"/>
                      </a:rPr>
                      <m:t>一般取</m:t>
                    </m:r>
                    <m:r>
                      <m:rPr>
                        <m:sty m:val="p"/>
                      </m:rPr>
                      <a:rPr lang="en-US" altLang="zh-CN" sz="2000" kern="100">
                        <a:latin typeface="Cambria Math" panose="02040503050406030204" pitchFamily="18" charset="0"/>
                        <a:ea typeface="+mj-ea"/>
                        <a:cs typeface="Times New Roman" panose="02020603050405020304" pitchFamily="18" charset="0"/>
                      </a:rPr>
                      <m:t>min</m:t>
                    </m:r>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num>
                      <m:den>
                        <m:r>
                          <a:rPr lang="en-US" altLang="zh-CN" sz="2000" kern="100">
                            <a:latin typeface="Cambria Math" panose="02040503050406030204" pitchFamily="18" charset="0"/>
                            <a:ea typeface="+mj-ea"/>
                            <a:cs typeface="Times New Roman" panose="02020603050405020304" pitchFamily="18" charset="0"/>
                          </a:rPr>
                          <m:t>2</m:t>
                        </m:r>
                      </m:den>
                    </m:f>
                    <m:r>
                      <a:rPr lang="en-US" altLang="zh-CN" sz="2000" kern="100">
                        <a:latin typeface="Cambria Math" panose="02040503050406030204" pitchFamily="18" charset="0"/>
                        <a:ea typeface="+mj-ea"/>
                        <a:cs typeface="Times New Roman" panose="02020603050405020304" pitchFamily="18" charset="0"/>
                      </a:rPr>
                      <m:t>,</m:t>
                    </m:r>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𝑆</m:t>
                        </m:r>
                      </m:sub>
                      <m:sup/>
                      <m:e>
                        <m:r>
                          <a:rPr lang="en-US" altLang="zh-CN" sz="2000" kern="100">
                            <a:latin typeface="Cambria Math" panose="02040503050406030204" pitchFamily="18" charset="0"/>
                            <a:ea typeface="+mj-ea"/>
                            <a:cs typeface="Times New Roman" panose="02020603050405020304" pitchFamily="18" charset="0"/>
                          </a:rPr>
                          <m:t>𝑉</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nary>
                    <m:r>
                      <a:rPr lang="en-US" altLang="zh-CN" sz="2000" kern="100">
                        <a:latin typeface="Cambria Math" panose="02040503050406030204" pitchFamily="18" charset="0"/>
                        <a:ea typeface="+mj-ea"/>
                        <a:cs typeface="Times New Roman" panose="02020603050405020304" pitchFamily="18" charset="0"/>
                      </a:rPr>
                      <m:t>))</m:t>
                    </m:r>
                  </m:oMath>
                </a14:m>
                <a:r>
                  <a:rPr lang="zh-CN" altLang="en-US" sz="2000" kern="100" dirty="0">
                    <a:latin typeface="+mj-ea"/>
                    <a:ea typeface="+mj-ea"/>
                    <a:cs typeface="Times New Roman" panose="02020603050405020304" pitchFamily="18" charset="0"/>
                  </a:rPr>
                  <a:t>作为估计</a:t>
                </a:r>
                <a:r>
                  <a:rPr lang="zh-CN" altLang="zh-CN" sz="2000" kern="100" dirty="0">
                    <a:latin typeface="+mj-ea"/>
                    <a:ea typeface="+mj-ea"/>
                    <a:cs typeface="Times New Roman" panose="02020603050405020304" pitchFamily="18" charset="0"/>
                  </a:rPr>
                  <a:t> </a:t>
                </a:r>
                <a:endParaRPr lang="en-US" altLang="zh-CN" sz="2000" kern="100" dirty="0">
                  <a:latin typeface="+mj-ea"/>
                  <a:ea typeface="+mj-ea"/>
                  <a:cs typeface="Times New Roman" panose="02020603050405020304" pitchFamily="18" charset="0"/>
                </a:endParaRPr>
              </a:p>
              <a:p>
                <a:pPr marL="342900" indent="-342900" algn="just">
                  <a:lnSpc>
                    <a:spcPct val="150000"/>
                  </a:lnSpc>
                  <a:buFont typeface="Wingdings" panose="05000000000000000000" pitchFamily="2" charset="2"/>
                  <a:buChar char="Ø"/>
                </a:pPr>
                <a:r>
                  <a:rPr lang="zh-CN" altLang="en-US" sz="2400" b="1" kern="100" dirty="0">
                    <a:latin typeface="+mj-ea"/>
                    <a:ea typeface="+mj-ea"/>
                    <a:cs typeface="Times New Roman" panose="02020603050405020304" pitchFamily="18" charset="0"/>
                  </a:rPr>
                  <a:t>分组聚集运算</a:t>
                </a:r>
                <a:endParaRPr lang="en-US" altLang="zh-CN" sz="2400" b="1" kern="100" dirty="0">
                  <a:latin typeface="+mj-ea"/>
                  <a:ea typeface="+mj-ea"/>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对于关系</a:t>
                </a:r>
                <a14:m>
                  <m:oMath xmlns:m="http://schemas.openxmlformats.org/officeDocument/2006/math">
                    <m:r>
                      <m:rPr>
                        <m:sty m:val="p"/>
                      </m:rPr>
                      <a:rPr lang="en-US" altLang="zh-CN" sz="2000" kern="100">
                        <a:latin typeface="Cambria Math" panose="02040503050406030204" pitchFamily="18" charset="0"/>
                        <a:ea typeface="+mj-ea"/>
                        <a:cs typeface="Times New Roman" panose="02020603050405020304" pitchFamily="18" charset="0"/>
                      </a:rPr>
                      <m:t>R</m:t>
                    </m:r>
                  </m:oMath>
                </a14:m>
                <a:r>
                  <a:rPr lang="zh-CN" altLang="zh-CN" sz="2000" kern="100" dirty="0">
                    <a:latin typeface="+mj-ea"/>
                    <a:ea typeface="+mj-ea"/>
                    <a:cs typeface="Times New Roman" panose="02020603050405020304" pitchFamily="18" charset="0"/>
                  </a:rPr>
                  <a:t>，以及对其进行的分组操作</a:t>
                </a:r>
                <a14:m>
                  <m:oMath xmlns:m="http://schemas.openxmlformats.org/officeDocument/2006/math">
                    <m:sSub>
                      <m:sSubPr>
                        <m:ctrlPr>
                          <a:rPr lang="en-US"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 </m:t>
                        </m:r>
                      </m:e>
                      <m:sub>
                        <m:r>
                          <a:rPr lang="en-US" altLang="zh-CN" sz="2000" kern="100">
                            <a:latin typeface="Cambria Math" panose="02040503050406030204" pitchFamily="18" charset="0"/>
                            <a:ea typeface="+mj-ea"/>
                            <a:cs typeface="Times New Roman" panose="02020603050405020304" pitchFamily="18" charset="0"/>
                          </a:rPr>
                          <m:t>𝐺</m:t>
                        </m:r>
                      </m:sub>
                    </m:sSub>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kern="100">
                            <a:latin typeface="Cambria Math" panose="02040503050406030204" pitchFamily="18" charset="0"/>
                            <a:ea typeface="+mj-ea"/>
                            <a:cs typeface="Times New Roman" panose="02020603050405020304" pitchFamily="18" charset="0"/>
                          </a:rPr>
                          <m:t>𝒢</m:t>
                        </m:r>
                      </m:e>
                      <m:sub>
                        <m:r>
                          <a:rPr lang="en-US" altLang="zh-CN" sz="2000" kern="100">
                            <a:latin typeface="Cambria Math" panose="02040503050406030204" pitchFamily="18" charset="0"/>
                            <a:ea typeface="+mj-ea"/>
                            <a:cs typeface="Times New Roman" panose="02020603050405020304" pitchFamily="18" charset="0"/>
                          </a:rPr>
                          <m:t>𝐶</m:t>
                        </m:r>
                      </m:sub>
                    </m:sSub>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a:t>
                </a:r>
                <a:r>
                  <a:rPr lang="zh-CN" altLang="en-US" sz="2000" kern="100" dirty="0">
                    <a:latin typeface="+mj-ea"/>
                    <a:ea typeface="+mj-ea"/>
                    <a:cs typeface="Times New Roman" panose="02020603050405020304" pitchFamily="18" charset="0"/>
                  </a:rPr>
                  <a:t>其中</a:t>
                </a:r>
                <a14:m>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𝐺</m:t>
                    </m:r>
                  </m:oMath>
                </a14:m>
                <a:r>
                  <a:rPr lang="zh-CN" altLang="zh-CN" sz="2000" kern="100" dirty="0">
                    <a:latin typeface="+mj-ea"/>
                    <a:ea typeface="+mj-ea"/>
                    <a:cs typeface="Times New Roman" panose="02020603050405020304" pitchFamily="18" charset="0"/>
                  </a:rPr>
                  <a:t>是分组属性集合</a:t>
                </a:r>
                <a:r>
                  <a:rPr lang="zh-CN" altLang="en-US" sz="2000" kern="100" dirty="0">
                    <a:latin typeface="+mj-ea"/>
                    <a:ea typeface="+mj-ea"/>
                    <a:cs typeface="Times New Roman" panose="02020603050405020304" pitchFamily="18" charset="0"/>
                  </a:rPr>
                  <a:t>，一般</a:t>
                </a:r>
                <a:r>
                  <a:rPr lang="zh-CN" altLang="zh-CN" sz="2000" kern="100" dirty="0">
                    <a:latin typeface="+mj-ea"/>
                    <a:ea typeface="+mj-ea"/>
                    <a:cs typeface="Times New Roman" panose="02020603050405020304" pitchFamily="18" charset="0"/>
                  </a:rPr>
                  <a:t>以</a:t>
                </a:r>
                <a14:m>
                  <m:oMath xmlns:m="http://schemas.openxmlformats.org/officeDocument/2006/math">
                    <m:r>
                      <m:rPr>
                        <m:sty m:val="p"/>
                      </m:rPr>
                      <a:rPr lang="en-US" altLang="zh-CN" sz="2000" kern="100">
                        <a:latin typeface="Cambria Math" panose="02040503050406030204" pitchFamily="18" charset="0"/>
                        <a:ea typeface="+mj-ea"/>
                        <a:cs typeface="Times New Roman" panose="02020603050405020304" pitchFamily="18" charset="0"/>
                      </a:rPr>
                      <m:t>min</m:t>
                    </m:r>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𝑇</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kern="100">
                                <a:latin typeface="Cambria Math" panose="02040503050406030204" pitchFamily="18" charset="0"/>
                                <a:ea typeface="+mj-ea"/>
                                <a:cs typeface="Times New Roman" panose="02020603050405020304" pitchFamily="18" charset="0"/>
                              </a:rPr>
                              <m:t>𝑅</m:t>
                            </m:r>
                          </m:e>
                        </m:d>
                      </m:num>
                      <m:den>
                        <m:r>
                          <a:rPr lang="en-US" altLang="zh-CN" sz="2000" kern="100">
                            <a:latin typeface="Cambria Math" panose="02040503050406030204" pitchFamily="18" charset="0"/>
                            <a:ea typeface="+mj-ea"/>
                            <a:cs typeface="Times New Roman" panose="02020603050405020304" pitchFamily="18" charset="0"/>
                          </a:rPr>
                          <m:t>2</m:t>
                        </m:r>
                      </m:den>
                    </m:f>
                    <m:r>
                      <a:rPr lang="en-US" altLang="zh-CN" sz="2000" kern="100">
                        <a:latin typeface="Cambria Math" panose="02040503050406030204" pitchFamily="18" charset="0"/>
                        <a:ea typeface="+mj-ea"/>
                        <a:cs typeface="Times New Roman" panose="02020603050405020304" pitchFamily="18" charset="0"/>
                      </a:rPr>
                      <m:t>,</m:t>
                    </m:r>
                    <m:nary>
                      <m:naryPr>
                        <m:chr m:val="∏"/>
                        <m:limLoc m:val="undOvr"/>
                        <m:supHide m:val="on"/>
                        <m:ctrlPr>
                          <a:rPr lang="zh-CN" altLang="zh-CN" sz="2000" i="1" kern="100">
                            <a:latin typeface="Cambria Math" panose="02040503050406030204" pitchFamily="18" charset="0"/>
                            <a:ea typeface="+mj-ea"/>
                            <a:cs typeface="Times New Roman" panose="02020603050405020304" pitchFamily="18" charset="0"/>
                          </a:rPr>
                        </m:ctrlPr>
                      </m:naryPr>
                      <m:sub>
                        <m:r>
                          <a:rPr lang="en-US" altLang="zh-CN" sz="2000" kern="100">
                            <a:latin typeface="Cambria Math" panose="02040503050406030204" pitchFamily="18" charset="0"/>
                            <a:ea typeface="+mj-ea"/>
                            <a:cs typeface="Times New Roman" panose="02020603050405020304" pitchFamily="18" charset="0"/>
                          </a:rPr>
                          <m:t>𝐴</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𝐺</m:t>
                        </m:r>
                      </m:sub>
                      <m:sup/>
                      <m:e>
                        <m:r>
                          <a:rPr lang="en-US" altLang="zh-CN" sz="2000" kern="100">
                            <a:latin typeface="Cambria Math" panose="02040503050406030204" pitchFamily="18" charset="0"/>
                            <a:ea typeface="+mj-ea"/>
                            <a:cs typeface="Times New Roman" panose="02020603050405020304" pitchFamily="18" charset="0"/>
                          </a:rPr>
                          <m:t>𝑉</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𝑅</m:t>
                        </m:r>
                        <m:r>
                          <a:rPr lang="en-US" altLang="zh-CN" sz="2000" kern="100">
                            <a:latin typeface="Cambria Math" panose="02040503050406030204" pitchFamily="18" charset="0"/>
                            <a:ea typeface="+mj-ea"/>
                            <a:cs typeface="Times New Roman" panose="02020603050405020304" pitchFamily="18" charset="0"/>
                          </a:rPr>
                          <m:t>,</m:t>
                        </m:r>
                        <m:r>
                          <a:rPr lang="en-US" altLang="zh-CN" sz="2000" kern="100">
                            <a:latin typeface="Cambria Math" panose="02040503050406030204" pitchFamily="18" charset="0"/>
                            <a:ea typeface="+mj-ea"/>
                            <a:cs typeface="Times New Roman" panose="02020603050405020304" pitchFamily="18" charset="0"/>
                          </a:rPr>
                          <m:t>𝐴</m:t>
                        </m:r>
                      </m:e>
                    </m:nary>
                    <m:r>
                      <a:rPr lang="en-US" altLang="zh-CN" sz="2000" kern="100">
                        <a:latin typeface="Cambria Math" panose="02040503050406030204" pitchFamily="18" charset="0"/>
                        <a:ea typeface="+mj-ea"/>
                        <a:cs typeface="Times New Roman" panose="02020603050405020304" pitchFamily="18" charset="0"/>
                      </a:rPr>
                      <m:t>))</m:t>
                    </m:r>
                  </m:oMath>
                </a14:m>
                <a:r>
                  <a:rPr lang="zh-CN" altLang="zh-CN" sz="2000" kern="100" dirty="0">
                    <a:latin typeface="+mj-ea"/>
                    <a:ea typeface="+mj-ea"/>
                    <a:cs typeface="Times New Roman" panose="02020603050405020304" pitchFamily="18" charset="0"/>
                  </a:rPr>
                  <a:t>作为结果的大小估计</a:t>
                </a:r>
                <a:endParaRPr lang="en-US" altLang="zh-CN" sz="2000" kern="100" dirty="0">
                  <a:latin typeface="+mj-ea"/>
                  <a:ea typeface="+mj-ea"/>
                  <a:cs typeface="Times New Roman" panose="02020603050405020304" pitchFamily="18" charset="0"/>
                </a:endParaRPr>
              </a:p>
              <a:p>
                <a:pPr marL="342900" indent="-342900" algn="just">
                  <a:lnSpc>
                    <a:spcPct val="150000"/>
                  </a:lnSpc>
                  <a:buFont typeface="Wingdings" pitchFamily="2" charset="2"/>
                  <a:buChar char="p"/>
                </a:pPr>
                <a:endParaRPr lang="en-US" altLang="zh-CN" sz="2400" kern="100" dirty="0">
                  <a:latin typeface="+mj-ea"/>
                  <a:ea typeface="+mj-ea"/>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xmlns:a14="http://schemas.microsoft.com/office/drawing/2010/main" xmlns="" id="{E9022766-FD25-1EAE-DC13-7DF9313EFC75}"/>
                  </a:ext>
                </a:extLst>
              </p:cNvPr>
              <p:cNvSpPr>
                <a:spLocks noRot="1" noChangeAspect="1" noMove="1" noResize="1" noEditPoints="1" noAdjustHandles="1" noChangeArrowheads="1" noChangeShapeType="1" noTextEdit="1"/>
              </p:cNvSpPr>
              <p:nvPr/>
            </p:nvSpPr>
            <p:spPr>
              <a:xfrm>
                <a:off x="1008000" y="1126800"/>
                <a:ext cx="10226057" cy="4826706"/>
              </a:xfrm>
              <a:prstGeom prst="rect">
                <a:avLst/>
              </a:prstGeom>
              <a:blipFill rotWithShape="0">
                <a:blip r:embed="rId3"/>
                <a:stretch>
                  <a:fillRect l="-775" r="-5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587351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2D6DF86-42BB-86E0-93CA-FF6787A27643}"/>
              </a:ext>
            </a:extLst>
          </p:cNvPr>
          <p:cNvSpPr>
            <a:spLocks noGrp="1"/>
          </p:cNvSpPr>
          <p:nvPr>
            <p:ph type="sldNum" sz="quarter" idx="10"/>
          </p:nvPr>
        </p:nvSpPr>
        <p:spPr/>
        <p:txBody>
          <a:bodyPr/>
          <a:lstStyle/>
          <a:p>
            <a:fld id="{87BBDC00-B9E2-4EFD-9306-2934E87247C6}" type="slidenum">
              <a:rPr lang="zh-CN" altLang="en-US" smtClean="0"/>
              <a:pPr/>
              <a:t>78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基于数据画像的基数估计</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7999" y="1126800"/>
            <a:ext cx="10260891" cy="5005387"/>
          </a:xfrm>
        </p:spPr>
        <p:txBody>
          <a:bodyPr/>
          <a:lstStyle/>
          <a:p>
            <a:pPr>
              <a:lnSpc>
                <a:spcPct val="150000"/>
              </a:lnSpc>
              <a:buFont typeface="Wingdings" panose="05000000000000000000" pitchFamily="2" charset="2"/>
              <a:buChar char="Ø"/>
            </a:pPr>
            <a:r>
              <a:rPr lang="zh-CN" altLang="en-US" sz="2200" b="1" dirty="0"/>
              <a:t>数据画像（</a:t>
            </a:r>
            <a:r>
              <a:rPr lang="en-US" altLang="zh-CN" sz="2200" b="1" dirty="0"/>
              <a:t>data</a:t>
            </a:r>
            <a:r>
              <a:rPr lang="zh-CN" altLang="en-US" sz="2200" b="1" dirty="0"/>
              <a:t> </a:t>
            </a:r>
            <a:r>
              <a:rPr lang="en-US" altLang="zh-CN" sz="2200" b="1" dirty="0"/>
              <a:t>sketch</a:t>
            </a:r>
            <a:r>
              <a:rPr lang="zh-CN" altLang="en-US" sz="2200" b="1" dirty="0"/>
              <a:t>）：通过建立能够较为准确近似数据信息的</a:t>
            </a:r>
            <a:r>
              <a:rPr lang="zh-CN" altLang="en-US" sz="2200" b="1" dirty="0">
                <a:solidFill>
                  <a:srgbClr val="701988"/>
                </a:solidFill>
              </a:rPr>
              <a:t>概率性的数据结构来替代直方图</a:t>
            </a:r>
            <a:r>
              <a:rPr lang="zh-CN" altLang="en-US" sz="2200" b="1" dirty="0"/>
              <a:t>，在一些应用场景中可以进一步提高基数估计的准确度</a:t>
            </a:r>
            <a:endParaRPr lang="en-US" altLang="zh-CN" sz="2200" dirty="0"/>
          </a:p>
          <a:p>
            <a:pPr>
              <a:lnSpc>
                <a:spcPct val="150000"/>
              </a:lnSpc>
              <a:buFont typeface="Wingdings" panose="05000000000000000000" pitchFamily="2" charset="2"/>
              <a:buChar char="Ø"/>
            </a:pPr>
            <a:r>
              <a:rPr lang="zh-CN" altLang="en-US" sz="2200" b="1" dirty="0"/>
              <a:t>估计数据</a:t>
            </a:r>
            <a:r>
              <a:rPr lang="zh-CN" altLang="en-US" sz="2200" b="1" dirty="0">
                <a:solidFill>
                  <a:srgbClr val="701988"/>
                </a:solidFill>
              </a:rPr>
              <a:t>出现的频率</a:t>
            </a:r>
            <a:endParaRPr lang="en-US" altLang="zh-CN" sz="2200" b="1" dirty="0">
              <a:solidFill>
                <a:srgbClr val="701988"/>
              </a:solidFill>
            </a:endParaRPr>
          </a:p>
          <a:p>
            <a:pPr lvl="1">
              <a:lnSpc>
                <a:spcPct val="150000"/>
              </a:lnSpc>
              <a:buFont typeface="Arial" panose="020B0604020202020204" pitchFamily="34" charset="0"/>
              <a:buChar char="•"/>
            </a:pPr>
            <a:r>
              <a:rPr lang="en-US" altLang="zh-CN" sz="2200" dirty="0"/>
              <a:t>Count-Min</a:t>
            </a:r>
            <a:r>
              <a:rPr lang="zh-CN" altLang="en-US" sz="2200" dirty="0"/>
              <a:t>算法</a:t>
            </a:r>
            <a:endParaRPr lang="en-US" altLang="zh-CN" sz="2200" dirty="0"/>
          </a:p>
          <a:p>
            <a:pPr>
              <a:lnSpc>
                <a:spcPct val="150000"/>
              </a:lnSpc>
              <a:buFont typeface="Wingdings" panose="05000000000000000000" pitchFamily="2" charset="2"/>
              <a:buChar char="Ø"/>
            </a:pPr>
            <a:r>
              <a:rPr lang="zh-CN" altLang="en-US" sz="2200" b="1" dirty="0"/>
              <a:t>估计数据中</a:t>
            </a:r>
            <a:r>
              <a:rPr lang="zh-CN" altLang="en-US" sz="2200" b="1" dirty="0">
                <a:solidFill>
                  <a:srgbClr val="701988"/>
                </a:solidFill>
              </a:rPr>
              <a:t>不同元素个数（</a:t>
            </a:r>
            <a:r>
              <a:rPr lang="en-US" altLang="zh-CN" sz="2200" b="1" dirty="0">
                <a:solidFill>
                  <a:srgbClr val="701988"/>
                </a:solidFill>
              </a:rPr>
              <a:t>Distinct</a:t>
            </a:r>
            <a:r>
              <a:rPr lang="zh-CN" altLang="en-US" sz="2200" b="1" dirty="0">
                <a:solidFill>
                  <a:srgbClr val="701988"/>
                </a:solidFill>
              </a:rPr>
              <a:t>）</a:t>
            </a:r>
            <a:endParaRPr lang="en-US" altLang="zh-CN" sz="2200" b="1" dirty="0">
              <a:solidFill>
                <a:srgbClr val="701988"/>
              </a:solidFill>
            </a:endParaRPr>
          </a:p>
          <a:p>
            <a:pPr lvl="1">
              <a:lnSpc>
                <a:spcPct val="150000"/>
              </a:lnSpc>
              <a:buFont typeface="Arial" panose="020B0604020202020204" pitchFamily="34" charset="0"/>
              <a:buChar char="•"/>
            </a:pPr>
            <a:r>
              <a:rPr lang="en-US" altLang="zh-CN" sz="2200" dirty="0"/>
              <a:t>HyperLogLog</a:t>
            </a:r>
            <a:r>
              <a:rPr lang="zh-CN" altLang="en-US" sz="2200" dirty="0"/>
              <a:t>算法</a:t>
            </a:r>
            <a:endParaRPr lang="zh-CN" altLang="zh-CN" sz="2200" dirty="0"/>
          </a:p>
          <a:p>
            <a:pPr marL="0" indent="0">
              <a:lnSpc>
                <a:spcPct val="150000"/>
              </a:lnSpc>
              <a:buNone/>
            </a:pPr>
            <a:r>
              <a:rPr lang="zh-CN" altLang="zh-CN" sz="2400" dirty="0"/>
              <a:t> </a:t>
            </a:r>
            <a:endParaRPr kumimoji="1" lang="zh-CN" altLang="en-US" sz="2400" dirty="0"/>
          </a:p>
        </p:txBody>
      </p:sp>
      <p:sp>
        <p:nvSpPr>
          <p:cNvPr id="4" name="页脚占位符 3">
            <a:extLst>
              <a:ext uri="{FF2B5EF4-FFF2-40B4-BE49-F238E27FC236}">
                <a16:creationId xmlns:a16="http://schemas.microsoft.com/office/drawing/2014/main" id="{0AE74B66-24BD-C859-C55A-22417D088016}"/>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35964659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F8C265B-217F-9F11-AA06-B660378F8463}"/>
              </a:ext>
            </a:extLst>
          </p:cNvPr>
          <p:cNvSpPr>
            <a:spLocks noGrp="1"/>
          </p:cNvSpPr>
          <p:nvPr>
            <p:ph type="sldNum" sz="quarter" idx="10"/>
          </p:nvPr>
        </p:nvSpPr>
        <p:spPr/>
        <p:txBody>
          <a:bodyPr/>
          <a:lstStyle/>
          <a:p>
            <a:fld id="{87BBDC00-B9E2-4EFD-9306-2934E87247C6}" type="slidenum">
              <a:rPr lang="zh-CN" altLang="en-US" smtClean="0"/>
              <a:pPr/>
              <a:t>79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6801"/>
            <a:ext cx="10874188" cy="3715166"/>
          </a:xfrm>
        </p:spPr>
        <p:txBody>
          <a:bodyPr/>
          <a:lstStyle/>
          <a:p>
            <a:pPr>
              <a:lnSpc>
                <a:spcPct val="150000"/>
              </a:lnSpc>
              <a:buFont typeface="Wingdings" panose="05000000000000000000" pitchFamily="2" charset="2"/>
              <a:buChar char="Ø"/>
            </a:pPr>
            <a:r>
              <a:rPr lang="zh-CN" altLang="en-US" b="1" dirty="0"/>
              <a:t>考虑一个简单情况</a:t>
            </a:r>
            <a:endParaRPr lang="en-US" altLang="zh-CN" b="1" dirty="0"/>
          </a:p>
          <a:p>
            <a:pPr>
              <a:lnSpc>
                <a:spcPct val="150000"/>
              </a:lnSpc>
              <a:buFont typeface="Wingdings" panose="05000000000000000000" pitchFamily="2" charset="2"/>
              <a:buChar char="Ø"/>
            </a:pPr>
            <a:r>
              <a:rPr lang="zh-CN" altLang="en-US" b="1" dirty="0"/>
              <a:t>给定一列数据，建立一个哈希函数</a:t>
            </a:r>
            <a:r>
              <a:rPr lang="en-US" altLang="zh-CN" b="1" dirty="0"/>
              <a:t>H</a:t>
            </a:r>
            <a:r>
              <a:rPr lang="zh-CN" altLang="en-US" b="1" dirty="0"/>
              <a:t>，以及一个</a:t>
            </a:r>
            <a:r>
              <a:rPr lang="en-US" altLang="zh-CN" b="1" dirty="0"/>
              <a:t>w</a:t>
            </a:r>
            <a:r>
              <a:rPr lang="zh-CN" altLang="en-US" b="1" dirty="0"/>
              <a:t>项的数据画像</a:t>
            </a:r>
            <a:endParaRPr lang="en-US" altLang="zh-CN" b="1" dirty="0"/>
          </a:p>
          <a:p>
            <a:pPr lvl="1">
              <a:lnSpc>
                <a:spcPct val="150000"/>
              </a:lnSpc>
              <a:buFont typeface="Arial" panose="020B0604020202020204" pitchFamily="34" charset="0"/>
              <a:buChar char="•"/>
            </a:pPr>
            <a:r>
              <a:rPr lang="en-US" altLang="zh-CN" dirty="0"/>
              <a:t>M[</a:t>
            </a:r>
            <a:r>
              <a:rPr lang="en-US" altLang="zh-CN" dirty="0" err="1"/>
              <a:t>i</a:t>
            </a:r>
            <a:r>
              <a:rPr lang="en-US" altLang="zh-CN" dirty="0"/>
              <a:t>]</a:t>
            </a:r>
            <a:r>
              <a:rPr lang="zh-CN" altLang="en-US" dirty="0"/>
              <a:t>被初始化为</a:t>
            </a:r>
            <a:r>
              <a:rPr lang="en-US" altLang="zh-CN" dirty="0"/>
              <a:t>0</a:t>
            </a:r>
            <a:r>
              <a:rPr lang="zh-CN" altLang="en-US" dirty="0"/>
              <a:t>，</a:t>
            </a:r>
            <a:r>
              <a:rPr lang="en-US" altLang="zh-CN" dirty="0"/>
              <a:t>0</a:t>
            </a:r>
            <a:r>
              <a:rPr lang="zh-CN" altLang="en-US" dirty="0"/>
              <a:t>≤</a:t>
            </a:r>
            <a:r>
              <a:rPr lang="en-US" altLang="zh-CN" dirty="0" err="1"/>
              <a:t>i</a:t>
            </a:r>
            <a:r>
              <a:rPr lang="zh-CN" altLang="en-US" dirty="0"/>
              <a:t>≤</a:t>
            </a:r>
            <a:r>
              <a:rPr lang="en-US" altLang="zh-CN" dirty="0"/>
              <a:t>w-1</a:t>
            </a:r>
          </a:p>
          <a:p>
            <a:pPr lvl="1">
              <a:lnSpc>
                <a:spcPct val="150000"/>
              </a:lnSpc>
              <a:buFont typeface="Arial" panose="020B0604020202020204" pitchFamily="34" charset="0"/>
              <a:buChar char="•"/>
            </a:pPr>
            <a:r>
              <a:rPr lang="zh-CN" altLang="en-US" dirty="0"/>
              <a:t>对该列数据的每一个取值</a:t>
            </a:r>
            <a:r>
              <a:rPr lang="en-US" altLang="zh-CN" dirty="0"/>
              <a:t>v</a:t>
            </a:r>
          </a:p>
          <a:p>
            <a:pPr lvl="1">
              <a:lnSpc>
                <a:spcPct val="150000"/>
              </a:lnSpc>
              <a:buFont typeface="Arial" panose="020B0604020202020204" pitchFamily="34" charset="0"/>
              <a:buChar char="•"/>
            </a:pPr>
            <a:r>
              <a:rPr lang="en-US" altLang="zh-CN" dirty="0"/>
              <a:t>M[H[v]%w]++</a:t>
            </a:r>
          </a:p>
          <a:p>
            <a:pPr>
              <a:lnSpc>
                <a:spcPct val="150000"/>
              </a:lnSpc>
              <a:buFont typeface="Wingdings" panose="05000000000000000000" pitchFamily="2" charset="2"/>
              <a:buChar char="Ø"/>
            </a:pPr>
            <a:r>
              <a:rPr lang="zh-CN" altLang="en-US" b="1" dirty="0"/>
              <a:t>给定值</a:t>
            </a:r>
            <a:r>
              <a:rPr lang="en-US" altLang="zh-CN" b="1" dirty="0"/>
              <a:t>x</a:t>
            </a:r>
            <a:r>
              <a:rPr lang="zh-CN" altLang="en-US" b="1" dirty="0"/>
              <a:t>，用</a:t>
            </a:r>
            <a:r>
              <a:rPr lang="en-US" altLang="zh-CN" b="1" dirty="0"/>
              <a:t>M[H[x]%w]</a:t>
            </a:r>
            <a:r>
              <a:rPr lang="zh-CN" altLang="en-US" b="1" dirty="0"/>
              <a:t>来估计基数</a:t>
            </a:r>
            <a:endParaRPr lang="en-US" altLang="zh-CN" b="1" dirty="0"/>
          </a:p>
          <a:p>
            <a:pPr marL="0" indent="0">
              <a:buNone/>
            </a:pPr>
            <a:r>
              <a:rPr lang="zh-CN" altLang="zh-CN" sz="2400" dirty="0"/>
              <a:t> </a:t>
            </a:r>
            <a:endParaRPr kumimoji="1" lang="zh-CN" altLang="en-US" sz="2400" dirty="0"/>
          </a:p>
        </p:txBody>
      </p:sp>
      <p:sp>
        <p:nvSpPr>
          <p:cNvPr id="5" name="页脚占位符 4">
            <a:extLst>
              <a:ext uri="{FF2B5EF4-FFF2-40B4-BE49-F238E27FC236}">
                <a16:creationId xmlns:a16="http://schemas.microsoft.com/office/drawing/2014/main" id="{3098528B-A7A0-01E9-F737-FE64055C023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矩形 3">
            <a:extLst>
              <a:ext uri="{FF2B5EF4-FFF2-40B4-BE49-F238E27FC236}">
                <a16:creationId xmlns:a16="http://schemas.microsoft.com/office/drawing/2014/main" id="{820F19D4-AAD5-74F5-75DA-4F9103C311F2}"/>
              </a:ext>
            </a:extLst>
          </p:cNvPr>
          <p:cNvSpPr/>
          <p:nvPr/>
        </p:nvSpPr>
        <p:spPr>
          <a:xfrm>
            <a:off x="3999912" y="5370593"/>
            <a:ext cx="4192173" cy="461665"/>
          </a:xfrm>
          <a:prstGeom prst="rect">
            <a:avLst/>
          </a:prstGeom>
        </p:spPr>
        <p:txBody>
          <a:bodyPr wrap="none">
            <a:spAutoFit/>
          </a:bodyPr>
          <a:lstStyle/>
          <a:p>
            <a:r>
              <a:rPr kumimoji="1" lang="zh-CN" altLang="en-US" sz="2400" dirty="0">
                <a:latin typeface="+mj-ea"/>
                <a:ea typeface="+mj-ea"/>
                <a:cs typeface="Arial"/>
              </a:rPr>
              <a:t>由于哈希冲突，常常</a:t>
            </a:r>
            <a:r>
              <a:rPr kumimoji="1" lang="zh-CN" altLang="en-US" sz="2400" b="1" dirty="0">
                <a:solidFill>
                  <a:srgbClr val="701988"/>
                </a:solidFill>
                <a:latin typeface="+mj-ea"/>
                <a:ea typeface="+mj-ea"/>
                <a:cs typeface="Arial"/>
              </a:rPr>
              <a:t>高估基数</a:t>
            </a:r>
            <a:endParaRPr kumimoji="1" lang="en-US" altLang="zh-CN" sz="2400" b="1" dirty="0">
              <a:solidFill>
                <a:srgbClr val="701988"/>
              </a:solidFill>
              <a:latin typeface="+mj-ea"/>
              <a:ea typeface="+mj-ea"/>
              <a:cs typeface="Arial"/>
            </a:endParaRPr>
          </a:p>
        </p:txBody>
      </p:sp>
    </p:spTree>
    <p:extLst>
      <p:ext uri="{BB962C8B-B14F-4D97-AF65-F5344CB8AC3E}">
        <p14:creationId xmlns:p14="http://schemas.microsoft.com/office/powerpoint/2010/main" val="25463113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EED26D2E-7A3F-4F10-BD9D-CEBB2C6CD655}"/>
              </a:ext>
            </a:extLst>
          </p:cNvPr>
          <p:cNvSpPr/>
          <p:nvPr/>
        </p:nvSpPr>
        <p:spPr>
          <a:xfrm>
            <a:off x="2130292" y="4484914"/>
            <a:ext cx="7944307" cy="198602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9828530D-7BEA-98CC-7038-0A63F521779B}"/>
              </a:ext>
            </a:extLst>
          </p:cNvPr>
          <p:cNvSpPr>
            <a:spLocks noGrp="1"/>
          </p:cNvSpPr>
          <p:nvPr>
            <p:ph type="sldNum" sz="quarter" idx="10"/>
          </p:nvPr>
        </p:nvSpPr>
        <p:spPr/>
        <p:txBody>
          <a:bodyPr/>
          <a:lstStyle/>
          <a:p>
            <a:fld id="{87BBDC00-B9E2-4EFD-9306-2934E87247C6}" type="slidenum">
              <a:rPr lang="zh-CN" altLang="en-US" smtClean="0"/>
              <a:pPr/>
              <a:t>80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6800"/>
                <a:ext cx="10874188" cy="5005387"/>
              </a:xfrm>
            </p:spPr>
            <p:txBody>
              <a:bodyPr/>
              <a:lstStyle/>
              <a:p>
                <a:pPr>
                  <a:lnSpc>
                    <a:spcPct val="150000"/>
                  </a:lnSpc>
                  <a:buFont typeface="Wingdings" panose="05000000000000000000" pitchFamily="2" charset="2"/>
                  <a:buChar char="Ø"/>
                </a:pPr>
                <a:r>
                  <a:rPr lang="zh-CN" altLang="en-US" sz="2200" b="1" dirty="0"/>
                  <a:t>考虑使用</a:t>
                </a:r>
                <a:r>
                  <a:rPr lang="en-US" altLang="zh-CN" sz="2200" b="1" dirty="0"/>
                  <a:t>d</a:t>
                </a:r>
                <a:r>
                  <a:rPr lang="zh-CN" altLang="en-US" sz="2200" b="1" dirty="0"/>
                  <a:t>个哈希函数来减少哈希冲突的出现</a:t>
                </a:r>
                <a:endParaRPr lang="en-US" altLang="zh-CN" sz="2200" b="1" dirty="0"/>
              </a:p>
              <a:p>
                <a:pPr>
                  <a:lnSpc>
                    <a:spcPct val="150000"/>
                  </a:lnSpc>
                  <a:buFont typeface="Wingdings" panose="05000000000000000000" pitchFamily="2" charset="2"/>
                  <a:buChar char="Ø"/>
                </a:pPr>
                <a:r>
                  <a:rPr lang="zh-CN" altLang="en-US" sz="2200" b="1" dirty="0"/>
                  <a:t>建立有</a:t>
                </a:r>
                <a:r>
                  <a:rPr lang="en-US" altLang="zh-CN" sz="2200" b="1" i="1" dirty="0">
                    <a:solidFill>
                      <a:srgbClr val="701988"/>
                    </a:solidFill>
                  </a:rPr>
                  <a:t>d</a:t>
                </a:r>
                <a:r>
                  <a:rPr lang="zh-CN" altLang="en-US" sz="2200" b="1" dirty="0">
                    <a:solidFill>
                      <a:srgbClr val="FF0000"/>
                    </a:solidFill>
                  </a:rPr>
                  <a:t> </a:t>
                </a:r>
                <a:r>
                  <a:rPr lang="zh-CN" altLang="en-US" sz="2200" b="1" dirty="0"/>
                  <a:t>行</a:t>
                </a:r>
                <a:r>
                  <a:rPr lang="en-US" altLang="zh-CN" sz="2200" b="1" i="1" dirty="0">
                    <a:solidFill>
                      <a:srgbClr val="701988"/>
                    </a:solidFill>
                  </a:rPr>
                  <a:t>w</a:t>
                </a:r>
                <a:r>
                  <a:rPr lang="zh-CN" altLang="en-US" sz="2200" b="1" i="1" dirty="0"/>
                  <a:t> </a:t>
                </a:r>
                <a:r>
                  <a:rPr lang="zh-CN" altLang="en-US" sz="2200" b="1" dirty="0"/>
                  <a:t>列的矩阵</a:t>
                </a:r>
                <a:r>
                  <a:rPr lang="en-US" altLang="zh-CN" sz="2200" b="1" dirty="0"/>
                  <a:t>M</a:t>
                </a:r>
                <a:r>
                  <a:rPr lang="zh-CN" altLang="en-US" sz="2200" b="1" dirty="0"/>
                  <a:t>，初始化为</a:t>
                </a:r>
                <a:r>
                  <a:rPr lang="en-US" altLang="zh-CN" sz="2200" b="1" dirty="0"/>
                  <a:t>0</a:t>
                </a:r>
                <a:r>
                  <a:rPr lang="zh-CN" altLang="en-US" sz="2200" b="1" dirty="0"/>
                  <a:t>；对应于</a:t>
                </a:r>
                <a:r>
                  <a:rPr lang="en-US" altLang="zh-CN" sz="2200" b="1" dirty="0">
                    <a:solidFill>
                      <a:srgbClr val="701988"/>
                    </a:solidFill>
                  </a:rPr>
                  <a:t>d</a:t>
                </a:r>
                <a:r>
                  <a:rPr lang="zh-CN" altLang="en-US" sz="2200" b="1" dirty="0">
                    <a:solidFill>
                      <a:srgbClr val="701988"/>
                    </a:solidFill>
                  </a:rPr>
                  <a:t>个哈希函数</a:t>
                </a:r>
                <a:endParaRPr lang="en-US" altLang="zh-CN" sz="2200" b="1" dirty="0">
                  <a:solidFill>
                    <a:srgbClr val="701988"/>
                  </a:solidFill>
                </a:endParaRPr>
              </a:p>
              <a:p>
                <a:pPr>
                  <a:lnSpc>
                    <a:spcPct val="150000"/>
                  </a:lnSpc>
                  <a:buFont typeface="Wingdings" panose="05000000000000000000" pitchFamily="2" charset="2"/>
                  <a:buChar char="Ø"/>
                </a:pPr>
                <a:r>
                  <a:rPr lang="zh-CN" altLang="en-US" sz="2200" b="1" dirty="0"/>
                  <a:t>对每个值 </a:t>
                </a:r>
                <a:r>
                  <a:rPr lang="en-US" altLang="zh-CN" sz="2200" b="1" dirty="0"/>
                  <a:t>v</a:t>
                </a:r>
                <a:r>
                  <a:rPr lang="zh-CN" altLang="en-US" sz="2200" b="1" dirty="0"/>
                  <a:t>，以及每个哈希函数 </a:t>
                </a:r>
                <a14:m>
                  <m:oMath xmlns:m="http://schemas.openxmlformats.org/officeDocument/2006/math">
                    <m:sSub>
                      <m:sSubPr>
                        <m:ctrlPr>
                          <a:rPr lang="en-US" altLang="zh-CN" sz="2200" b="1" i="1" smtClean="0">
                            <a:solidFill>
                              <a:srgbClr val="701988"/>
                            </a:solidFill>
                            <a:latin typeface="Cambria Math" panose="02040503050406030204" pitchFamily="18" charset="0"/>
                          </a:rPr>
                        </m:ctrlPr>
                      </m:sSubPr>
                      <m:e>
                        <m:r>
                          <a:rPr lang="en-US" altLang="zh-CN" sz="2200" b="1" i="1" smtClean="0">
                            <a:solidFill>
                              <a:srgbClr val="701988"/>
                            </a:solidFill>
                            <a:latin typeface="Cambria Math" panose="02040503050406030204" pitchFamily="18" charset="0"/>
                          </a:rPr>
                          <m:t>𝒉</m:t>
                        </m:r>
                      </m:e>
                      <m:sub>
                        <m:r>
                          <a:rPr lang="en-US" altLang="zh-CN" sz="2200" b="1" i="1" smtClean="0">
                            <a:solidFill>
                              <a:srgbClr val="701988"/>
                            </a:solidFill>
                            <a:latin typeface="Cambria Math" panose="02040503050406030204" pitchFamily="18" charset="0"/>
                          </a:rPr>
                          <m:t>𝒊</m:t>
                        </m:r>
                      </m:sub>
                    </m:sSub>
                  </m:oMath>
                </a14:m>
                <a:r>
                  <a:rPr lang="en-US" altLang="zh-CN" sz="2200" b="1" dirty="0">
                    <a:solidFill>
                      <a:srgbClr val="FF0000"/>
                    </a:solidFill>
                  </a:rPr>
                  <a:t> </a:t>
                </a:r>
                <a:r>
                  <a:rPr lang="en-US" altLang="zh-CN" sz="2200" b="1" dirty="0"/>
                  <a:t>:</a:t>
                </a:r>
              </a:p>
              <a:p>
                <a:pPr lvl="1">
                  <a:lnSpc>
                    <a:spcPct val="150000"/>
                  </a:lnSpc>
                  <a:buFont typeface="Arial" panose="020B0604020202020204" pitchFamily="34" charset="0"/>
                  <a:buChar char="•"/>
                </a:pPr>
                <a:r>
                  <a:rPr lang="en-US" altLang="zh-CN" dirty="0"/>
                  <a:t>M[</a:t>
                </a:r>
                <a:r>
                  <a:rPr lang="en-US" altLang="zh-CN" dirty="0" err="1"/>
                  <a:t>i</a:t>
                </a:r>
                <a:r>
                  <a:rPr lang="en-US" altLang="zh-CN" dirty="0"/>
                  <a:t>][</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i="0">
                            <a:solidFill>
                              <a:schemeClr val="tx1"/>
                            </a:solidFill>
                            <a:latin typeface="Cambria Math" panose="02040503050406030204" pitchFamily="18" charset="0"/>
                          </a:rPr>
                          <m:t>h</m:t>
                        </m:r>
                      </m:e>
                      <m:sub>
                        <m:r>
                          <m:rPr>
                            <m:sty m:val="p"/>
                          </m:rPr>
                          <a:rPr lang="en-US" altLang="zh-CN" i="0">
                            <a:solidFill>
                              <a:schemeClr val="tx1"/>
                            </a:solidFill>
                            <a:latin typeface="Cambria Math" panose="02040503050406030204" pitchFamily="18" charset="0"/>
                          </a:rPr>
                          <m:t>i</m:t>
                        </m:r>
                      </m:sub>
                    </m:sSub>
                    <m:r>
                      <a:rPr lang="en-US" altLang="zh-CN" b="0" i="0" smtClean="0">
                        <a:solidFill>
                          <a:schemeClr val="tx1"/>
                        </a:solidFill>
                        <a:latin typeface="Cambria Math" panose="02040503050406030204" pitchFamily="18" charset="0"/>
                      </a:rPr>
                      <m:t>(</m:t>
                    </m:r>
                    <m:r>
                      <m:rPr>
                        <m:sty m:val="p"/>
                      </m:rPr>
                      <a:rPr lang="en-US" altLang="zh-CN" b="0" i="0" smtClean="0">
                        <a:solidFill>
                          <a:schemeClr val="tx1"/>
                        </a:solidFill>
                        <a:latin typeface="Cambria Math" panose="02040503050406030204" pitchFamily="18" charset="0"/>
                      </a:rPr>
                      <m:t>v</m:t>
                    </m:r>
                    <m:r>
                      <a:rPr lang="en-US" altLang="zh-CN" b="0" i="0" smtClean="0">
                        <a:solidFill>
                          <a:schemeClr val="tx1"/>
                        </a:solidFill>
                        <a:latin typeface="Cambria Math" panose="02040503050406030204" pitchFamily="18" charset="0"/>
                      </a:rPr>
                      <m:t>)</m:t>
                    </m:r>
                  </m:oMath>
                </a14:m>
                <a:r>
                  <a:rPr lang="en-US" altLang="zh-CN" dirty="0"/>
                  <a:t>]=M[</a:t>
                </a:r>
                <a:r>
                  <a:rPr lang="en-US" altLang="zh-CN" dirty="0" err="1"/>
                  <a:t>i</a:t>
                </a:r>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h</m:t>
                        </m:r>
                      </m:e>
                      <m:sub>
                        <m:r>
                          <m:rPr>
                            <m:sty m:val="p"/>
                          </m:rPr>
                          <a:rPr lang="en-US" altLang="zh-CN">
                            <a:latin typeface="Cambria Math" panose="02040503050406030204" pitchFamily="18" charset="0"/>
                          </a:rPr>
                          <m:t>i</m:t>
                        </m:r>
                      </m:sub>
                    </m:sSub>
                    <m:r>
                      <a:rPr lang="en-US" altLang="zh-CN">
                        <a:latin typeface="Cambria Math" panose="02040503050406030204" pitchFamily="18" charset="0"/>
                      </a:rPr>
                      <m:t>(</m:t>
                    </m:r>
                    <m:r>
                      <m:rPr>
                        <m:sty m:val="p"/>
                      </m:rPr>
                      <a:rPr lang="en-US" altLang="zh-CN">
                        <a:latin typeface="Cambria Math" panose="02040503050406030204" pitchFamily="18" charset="0"/>
                      </a:rPr>
                      <m:t>v</m:t>
                    </m:r>
                    <m:r>
                      <a:rPr lang="en-US" altLang="zh-CN">
                        <a:latin typeface="Cambria Math" panose="02040503050406030204" pitchFamily="18" charset="0"/>
                      </a:rPr>
                      <m:t>)</m:t>
                    </m:r>
                  </m:oMath>
                </a14:m>
                <a:r>
                  <a:rPr lang="en-US" altLang="zh-CN" dirty="0"/>
                  <a:t>]+1;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h</m:t>
                        </m:r>
                      </m:e>
                      <m:sub>
                        <m:r>
                          <m:rPr>
                            <m:sty m:val="p"/>
                          </m:rPr>
                          <a:rPr lang="en-US" altLang="zh-CN">
                            <a:latin typeface="Cambria Math" panose="02040503050406030204" pitchFamily="18" charset="0"/>
                          </a:rPr>
                          <m:t>i</m:t>
                        </m:r>
                      </m:sub>
                    </m:sSub>
                    <m:d>
                      <m:dPr>
                        <m:ctrlPr>
                          <a:rPr lang="en-US" altLang="zh-CN" i="1">
                            <a:latin typeface="Cambria Math" panose="02040503050406030204" pitchFamily="18" charset="0"/>
                          </a:rPr>
                        </m:ctrlPr>
                      </m:dPr>
                      <m:e>
                        <m:r>
                          <m:rPr>
                            <m:sty m:val="p"/>
                          </m:rPr>
                          <a:rPr lang="en-US" altLang="zh-CN">
                            <a:latin typeface="Cambria Math" panose="02040503050406030204" pitchFamily="18" charset="0"/>
                          </a:rPr>
                          <m:t>v</m:t>
                        </m:r>
                      </m:e>
                    </m:d>
                  </m:oMath>
                </a14:m>
                <a:r>
                  <a:rPr lang="en-US" altLang="zh-CN" dirty="0"/>
                  <a:t> in [0,w)</a:t>
                </a:r>
              </a:p>
              <a:p>
                <a:pPr>
                  <a:lnSpc>
                    <a:spcPct val="150000"/>
                  </a:lnSpc>
                  <a:buFont typeface="Wingdings" panose="05000000000000000000" pitchFamily="2" charset="2"/>
                  <a:buChar char="Ø"/>
                </a:pPr>
                <a:r>
                  <a:rPr lang="zh-CN" altLang="en-US" sz="2200" dirty="0"/>
                  <a:t>给定值</a:t>
                </a:r>
                <a:r>
                  <a:rPr lang="en-US" altLang="zh-CN" sz="2200" dirty="0"/>
                  <a:t>x</a:t>
                </a:r>
                <a:r>
                  <a:rPr lang="zh-CN" altLang="en-US" sz="2200" dirty="0"/>
                  <a:t>，</a:t>
                </a:r>
                <a:r>
                  <a:rPr lang="en-US" altLang="zh-CN" sz="2200" dirty="0"/>
                  <a:t>x</a:t>
                </a:r>
                <a:r>
                  <a:rPr lang="zh-CN" altLang="en-US" sz="2200" dirty="0"/>
                  <a:t>出现的频率</a:t>
                </a:r>
                <a:r>
                  <a:rPr lang="en-US" altLang="zh-CN" sz="2200" dirty="0"/>
                  <a:t>f(x)</a:t>
                </a:r>
                <a:r>
                  <a:rPr lang="zh-CN" altLang="en-US" sz="2200" dirty="0"/>
                  <a:t>可以被估计为：</a:t>
                </a:r>
                <a:endParaRPr lang="en-US" altLang="zh-CN" sz="2200" dirty="0"/>
              </a:p>
              <a:p>
                <a:pPr lvl="1">
                  <a:lnSpc>
                    <a:spcPct val="150000"/>
                  </a:lnSpc>
                  <a:buFont typeface="Arial" panose="020B0604020202020204" pitchFamily="34" charset="0"/>
                  <a:buChar char="•"/>
                </a:pPr>
                <a:r>
                  <a:rPr lang="en-US" altLang="zh-CN" dirty="0"/>
                  <a:t>f(x)=min</a:t>
                </a:r>
                <a:r>
                  <a:rPr lang="en-US" altLang="zh-CN" baseline="-25000" dirty="0"/>
                  <a:t>i in [0,d-1]</a:t>
                </a:r>
                <a:r>
                  <a:rPr lang="en-US" altLang="zh-CN" dirty="0"/>
                  <a:t>M[</a:t>
                </a:r>
                <a:r>
                  <a:rPr lang="en-US" altLang="zh-CN" dirty="0" err="1"/>
                  <a:t>i</a:t>
                </a:r>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h</m:t>
                        </m:r>
                      </m:e>
                      <m:sub>
                        <m:r>
                          <m:rPr>
                            <m:sty m:val="p"/>
                          </m:rPr>
                          <a:rPr lang="en-US" altLang="zh-CN">
                            <a:latin typeface="Cambria Math" panose="02040503050406030204" pitchFamily="18" charset="0"/>
                          </a:rPr>
                          <m:t>i</m:t>
                        </m:r>
                      </m:sub>
                    </m:sSub>
                    <m:r>
                      <a:rPr lang="en-US" altLang="zh-CN">
                        <a:latin typeface="Cambria Math" panose="02040503050406030204" pitchFamily="18" charset="0"/>
                      </a:rPr>
                      <m:t>(</m:t>
                    </m:r>
                    <m:r>
                      <m:rPr>
                        <m:sty m:val="p"/>
                      </m:rPr>
                      <a:rPr lang="en-US" altLang="zh-CN">
                        <a:latin typeface="Cambria Math" panose="02040503050406030204" pitchFamily="18" charset="0"/>
                      </a:rPr>
                      <m:t>v</m:t>
                    </m:r>
                    <m:r>
                      <a:rPr lang="en-US" altLang="zh-CN">
                        <a:latin typeface="Cambria Math" panose="02040503050406030204" pitchFamily="18" charset="0"/>
                      </a:rPr>
                      <m:t>)</m:t>
                    </m:r>
                  </m:oMath>
                </a14:m>
                <a:r>
                  <a:rPr lang="en-US" altLang="zh-CN" dirty="0"/>
                  <a:t>]</a:t>
                </a:r>
              </a:p>
              <a:p>
                <a:pPr marL="0" indent="0">
                  <a:buNone/>
                </a:pPr>
                <a:endParaRPr kumimoji="1" lang="zh-CN" altLang="en-US" dirty="0"/>
              </a:p>
            </p:txBody>
          </p:sp>
        </mc:Choice>
        <mc:Fallback xmlns="">
          <p:sp>
            <p:nvSpPr>
              <p:cNvPr id="6" name="内容占位符 2">
                <a:extLst>
                  <a:ext uri="{FF2B5EF4-FFF2-40B4-BE49-F238E27FC236}">
                    <a16:creationId xmlns:a16="http://schemas.microsoft.com/office/drawing/2014/main" xmlns:a14="http://schemas.microsoft.com/office/drawing/2010/main" xmlns="" id="{7EA54C3D-4D1D-DC4E-5A95-6E41FA08A00D}"/>
                  </a:ext>
                </a:extLst>
              </p:cNvPr>
              <p:cNvSpPr>
                <a:spLocks noGrp="1" noRot="1" noChangeAspect="1" noMove="1" noResize="1" noEditPoints="1" noAdjustHandles="1" noChangeArrowheads="1" noChangeShapeType="1" noTextEdit="1"/>
              </p:cNvSpPr>
              <p:nvPr>
                <p:ph idx="1"/>
              </p:nvPr>
            </p:nvSpPr>
            <p:spPr>
              <a:xfrm>
                <a:off x="1008000" y="1126800"/>
                <a:ext cx="10874188" cy="5005387"/>
              </a:xfrm>
              <a:blipFill rotWithShape="0">
                <a:blip r:embed="rId3"/>
                <a:stretch>
                  <a:fillRect l="-617"/>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D718643D-81F6-DFF6-1C00-449B0E748A22}"/>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7" name="图片 6">
            <a:extLst>
              <a:ext uri="{FF2B5EF4-FFF2-40B4-BE49-F238E27FC236}">
                <a16:creationId xmlns:a16="http://schemas.microsoft.com/office/drawing/2014/main" id="{867446B5-61B8-4B7E-BD40-9CA874C827B7}"/>
              </a:ext>
            </a:extLst>
          </p:cNvPr>
          <p:cNvPicPr>
            <a:picLocks noChangeAspect="1"/>
          </p:cNvPicPr>
          <p:nvPr/>
        </p:nvPicPr>
        <p:blipFill>
          <a:blip r:embed="rId4">
            <a:duotone>
              <a:prstClr val="black"/>
              <a:schemeClr val="accent3">
                <a:tint val="45000"/>
                <a:satMod val="400000"/>
              </a:schemeClr>
            </a:duotone>
          </a:blip>
          <a:stretch>
            <a:fillRect/>
          </a:stretch>
        </p:blipFill>
        <p:spPr>
          <a:xfrm>
            <a:off x="2487680" y="4557242"/>
            <a:ext cx="7303730" cy="1845803"/>
          </a:xfrm>
          <a:prstGeom prst="rect">
            <a:avLst/>
          </a:prstGeom>
        </p:spPr>
      </p:pic>
    </p:spTree>
    <p:extLst>
      <p:ext uri="{BB962C8B-B14F-4D97-AF65-F5344CB8AC3E}">
        <p14:creationId xmlns:p14="http://schemas.microsoft.com/office/powerpoint/2010/main" val="23608339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EED26D2E-7A3F-4F10-BD9D-CEBB2C6CD655}"/>
              </a:ext>
            </a:extLst>
          </p:cNvPr>
          <p:cNvSpPr/>
          <p:nvPr/>
        </p:nvSpPr>
        <p:spPr>
          <a:xfrm>
            <a:off x="2130292" y="3785208"/>
            <a:ext cx="7944307" cy="226217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0BE0FC70-ACF6-D756-4147-7D1D771CCFBA}"/>
              </a:ext>
            </a:extLst>
          </p:cNvPr>
          <p:cNvSpPr>
            <a:spLocks noGrp="1"/>
          </p:cNvSpPr>
          <p:nvPr>
            <p:ph type="sldNum" sz="quarter" idx="10"/>
          </p:nvPr>
        </p:nvSpPr>
        <p:spPr/>
        <p:txBody>
          <a:bodyPr/>
          <a:lstStyle/>
          <a:p>
            <a:fld id="{87BBDC00-B9E2-4EFD-9306-2934E87247C6}" type="slidenum">
              <a:rPr lang="zh-CN" altLang="en-US" smtClean="0"/>
              <a:pPr/>
              <a:t>81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6800"/>
            <a:ext cx="10874188" cy="1912491"/>
          </a:xfrm>
        </p:spPr>
        <p:txBody>
          <a:bodyPr/>
          <a:lstStyle/>
          <a:p>
            <a:pPr>
              <a:lnSpc>
                <a:spcPct val="150000"/>
              </a:lnSpc>
              <a:buFont typeface="Wingdings" panose="05000000000000000000" pitchFamily="2" charset="2"/>
              <a:buChar char="Ø"/>
            </a:pPr>
            <a:r>
              <a:rPr lang="zh-CN" altLang="en-US" sz="2200" dirty="0"/>
              <a:t> </a:t>
            </a:r>
            <a:r>
              <a:rPr lang="en-US" altLang="zh-CN" sz="2200" b="1" dirty="0">
                <a:solidFill>
                  <a:srgbClr val="701988"/>
                </a:solidFill>
              </a:rPr>
              <a:t>d=4 </a:t>
            </a:r>
            <a:r>
              <a:rPr lang="zh-CN" altLang="en-US" sz="2200" b="1" dirty="0">
                <a:solidFill>
                  <a:srgbClr val="701988"/>
                </a:solidFill>
              </a:rPr>
              <a:t>个哈希函数，</a:t>
            </a:r>
            <a:r>
              <a:rPr lang="en-US" altLang="zh-CN" sz="2200" b="1" dirty="0">
                <a:solidFill>
                  <a:srgbClr val="701988"/>
                </a:solidFill>
              </a:rPr>
              <a:t> w=7</a:t>
            </a:r>
            <a:r>
              <a:rPr lang="zh-CN" altLang="en-US" sz="2200" b="1" dirty="0">
                <a:solidFill>
                  <a:srgbClr val="701988"/>
                </a:solidFill>
              </a:rPr>
              <a:t> 列</a:t>
            </a:r>
            <a:endParaRPr lang="en-US" altLang="zh-CN" sz="2200" b="1" dirty="0">
              <a:solidFill>
                <a:srgbClr val="701988"/>
              </a:solidFill>
            </a:endParaRPr>
          </a:p>
          <a:p>
            <a:pPr>
              <a:lnSpc>
                <a:spcPct val="150000"/>
              </a:lnSpc>
              <a:buFont typeface="Wingdings" panose="05000000000000000000" pitchFamily="2" charset="2"/>
              <a:buChar char="Ø"/>
            </a:pPr>
            <a:r>
              <a:rPr lang="en-US" altLang="zh-CN" sz="2200" b="1" dirty="0"/>
              <a:t> </a:t>
            </a:r>
            <a:r>
              <a:rPr lang="zh-CN" altLang="en-US" sz="2200" b="1" dirty="0"/>
              <a:t>给定值</a:t>
            </a:r>
            <a:r>
              <a:rPr lang="en-US" altLang="zh-CN" sz="2200" b="1" dirty="0"/>
              <a:t>{2,3,2,4,3,2,5}:</a:t>
            </a:r>
          </a:p>
          <a:p>
            <a:pPr lvl="1">
              <a:lnSpc>
                <a:spcPct val="150000"/>
              </a:lnSpc>
              <a:buFont typeface="Arial" panose="020B0604020202020204" pitchFamily="34" charset="0"/>
              <a:buChar char="•"/>
            </a:pPr>
            <a:r>
              <a:rPr lang="en-US" altLang="zh-CN" sz="2200" dirty="0"/>
              <a:t>h</a:t>
            </a:r>
            <a:r>
              <a:rPr lang="en-US" altLang="zh-CN" sz="2200" baseline="-25000" dirty="0"/>
              <a:t>0</a:t>
            </a:r>
            <a:r>
              <a:rPr lang="en-US" altLang="zh-CN" sz="2200" dirty="0"/>
              <a:t>(v)=</a:t>
            </a:r>
            <a:r>
              <a:rPr lang="en-US" altLang="zh-CN" sz="2200" dirty="0" err="1"/>
              <a:t>v%w</a:t>
            </a:r>
            <a:r>
              <a:rPr lang="en-US" altLang="zh-CN" sz="2200" dirty="0"/>
              <a:t>; h</a:t>
            </a:r>
            <a:r>
              <a:rPr lang="en-US" altLang="zh-CN" sz="2200" baseline="-25000" dirty="0"/>
              <a:t>1</a:t>
            </a:r>
            <a:r>
              <a:rPr lang="en-US" altLang="zh-CN" sz="2200" dirty="0"/>
              <a:t>(v)=v</a:t>
            </a:r>
            <a:r>
              <a:rPr lang="en-US" altLang="zh-CN" sz="2200" baseline="30000" dirty="0"/>
              <a:t>2</a:t>
            </a:r>
            <a:r>
              <a:rPr lang="en-US" altLang="zh-CN" sz="2200" dirty="0"/>
              <a:t>%w; h</a:t>
            </a:r>
            <a:r>
              <a:rPr lang="en-US" altLang="zh-CN" sz="2200" baseline="-25000" dirty="0"/>
              <a:t>2</a:t>
            </a:r>
            <a:r>
              <a:rPr lang="en-US" altLang="zh-CN" sz="2200" dirty="0"/>
              <a:t>(v)=(2v+1)%w; h</a:t>
            </a:r>
            <a:r>
              <a:rPr lang="en-US" altLang="zh-CN" sz="2200" baseline="-25000" dirty="0"/>
              <a:t>3</a:t>
            </a:r>
            <a:r>
              <a:rPr lang="en-US" altLang="zh-CN" sz="2200" dirty="0"/>
              <a:t>(v)=(3v</a:t>
            </a:r>
            <a:r>
              <a:rPr lang="en-US" altLang="zh-CN" sz="2200" baseline="30000" dirty="0"/>
              <a:t>2</a:t>
            </a:r>
            <a:r>
              <a:rPr lang="en-US" altLang="zh-CN" sz="2200" dirty="0"/>
              <a:t>+1)%w;</a:t>
            </a:r>
          </a:p>
          <a:p>
            <a:pPr>
              <a:lnSpc>
                <a:spcPct val="150000"/>
              </a:lnSpc>
              <a:buFont typeface="Wingdings" panose="05000000000000000000" pitchFamily="2" charset="2"/>
              <a:buChar char="Ø"/>
            </a:pPr>
            <a:r>
              <a:rPr lang="zh-CN" altLang="en-US" sz="2200" b="1" dirty="0"/>
              <a:t>加入 </a:t>
            </a:r>
            <a:r>
              <a:rPr lang="en-US" altLang="zh-CN" sz="2200" b="1" u="sng" dirty="0">
                <a:solidFill>
                  <a:srgbClr val="0432FF"/>
                </a:solidFill>
              </a:rPr>
              <a:t>2</a:t>
            </a:r>
          </a:p>
          <a:p>
            <a:pPr marL="0" indent="0">
              <a:buNone/>
            </a:pPr>
            <a:r>
              <a:rPr lang="zh-CN" altLang="zh-CN" dirty="0"/>
              <a:t> </a:t>
            </a:r>
            <a:endParaRPr kumimoji="1" lang="zh-CN" altLang="en-US" dirty="0"/>
          </a:p>
        </p:txBody>
      </p:sp>
      <p:sp>
        <p:nvSpPr>
          <p:cNvPr id="5" name="页脚占位符 4">
            <a:extLst>
              <a:ext uri="{FF2B5EF4-FFF2-40B4-BE49-F238E27FC236}">
                <a16:creationId xmlns:a16="http://schemas.microsoft.com/office/drawing/2014/main" id="{4A137B10-59F8-8B74-7FD6-5EAA3F0B531E}"/>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9BBD9E57-3816-DA1C-D242-5908C128BBBF}"/>
              </a:ext>
            </a:extLst>
          </p:cNvPr>
          <p:cNvPicPr>
            <a:picLocks noChangeAspect="1"/>
          </p:cNvPicPr>
          <p:nvPr/>
        </p:nvPicPr>
        <p:blipFill>
          <a:blip r:embed="rId3">
            <a:grayscl/>
          </a:blip>
          <a:stretch>
            <a:fillRect/>
          </a:stretch>
        </p:blipFill>
        <p:spPr>
          <a:xfrm>
            <a:off x="2607421" y="3870505"/>
            <a:ext cx="7081664" cy="1952977"/>
          </a:xfrm>
          <a:prstGeom prst="rect">
            <a:avLst/>
          </a:prstGeom>
        </p:spPr>
      </p:pic>
    </p:spTree>
    <p:extLst>
      <p:ext uri="{BB962C8B-B14F-4D97-AF65-F5344CB8AC3E}">
        <p14:creationId xmlns:p14="http://schemas.microsoft.com/office/powerpoint/2010/main" val="24893916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EED26D2E-7A3F-4F10-BD9D-CEBB2C6CD655}"/>
              </a:ext>
            </a:extLst>
          </p:cNvPr>
          <p:cNvSpPr/>
          <p:nvPr/>
        </p:nvSpPr>
        <p:spPr>
          <a:xfrm>
            <a:off x="2130292" y="3735977"/>
            <a:ext cx="7944307" cy="216843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A8E4C92D-F4E3-7466-DAF4-8A17338C57E1}"/>
              </a:ext>
            </a:extLst>
          </p:cNvPr>
          <p:cNvSpPr>
            <a:spLocks noGrp="1"/>
          </p:cNvSpPr>
          <p:nvPr>
            <p:ph type="sldNum" sz="quarter" idx="10"/>
          </p:nvPr>
        </p:nvSpPr>
        <p:spPr/>
        <p:txBody>
          <a:bodyPr/>
          <a:lstStyle/>
          <a:p>
            <a:fld id="{87BBDC00-B9E2-4EFD-9306-2934E87247C6}" type="slidenum">
              <a:rPr lang="zh-CN" altLang="en-US" smtClean="0"/>
              <a:pPr/>
              <a:t>82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6801"/>
            <a:ext cx="10874188" cy="3784834"/>
          </a:xfrm>
        </p:spPr>
        <p:txBody>
          <a:bodyPr/>
          <a:lstStyle/>
          <a:p>
            <a:pPr>
              <a:lnSpc>
                <a:spcPct val="150000"/>
              </a:lnSpc>
              <a:buFont typeface="Wingdings" panose="05000000000000000000" pitchFamily="2" charset="2"/>
              <a:buChar char="Ø"/>
            </a:pPr>
            <a:r>
              <a:rPr lang="zh-CN" altLang="en-US" sz="2200" dirty="0">
                <a:solidFill>
                  <a:srgbClr val="701988"/>
                </a:solidFill>
              </a:rPr>
              <a:t> </a:t>
            </a:r>
            <a:r>
              <a:rPr lang="en-US" altLang="zh-CN" sz="2200" b="1" dirty="0">
                <a:solidFill>
                  <a:srgbClr val="701988"/>
                </a:solidFill>
              </a:rPr>
              <a:t>d=4 </a:t>
            </a:r>
            <a:r>
              <a:rPr lang="zh-CN" altLang="en-US" sz="2200" b="1" dirty="0">
                <a:solidFill>
                  <a:srgbClr val="701988"/>
                </a:solidFill>
              </a:rPr>
              <a:t>个哈希函数，</a:t>
            </a:r>
            <a:r>
              <a:rPr lang="en-US" altLang="zh-CN" sz="2200" b="1" dirty="0">
                <a:solidFill>
                  <a:srgbClr val="701988"/>
                </a:solidFill>
              </a:rPr>
              <a:t> w=7</a:t>
            </a:r>
            <a:r>
              <a:rPr lang="zh-CN" altLang="en-US" sz="2200" b="1" dirty="0">
                <a:solidFill>
                  <a:srgbClr val="701988"/>
                </a:solidFill>
              </a:rPr>
              <a:t> 列</a:t>
            </a:r>
            <a:endParaRPr lang="en-US" altLang="zh-CN" sz="2200" b="1" dirty="0">
              <a:solidFill>
                <a:srgbClr val="701988"/>
              </a:solidFill>
            </a:endParaRPr>
          </a:p>
          <a:p>
            <a:pPr>
              <a:lnSpc>
                <a:spcPct val="150000"/>
              </a:lnSpc>
              <a:buFont typeface="Wingdings" panose="05000000000000000000" pitchFamily="2" charset="2"/>
              <a:buChar char="Ø"/>
            </a:pPr>
            <a:r>
              <a:rPr lang="en-US" altLang="zh-CN" sz="2200" dirty="0"/>
              <a:t> </a:t>
            </a:r>
            <a:r>
              <a:rPr lang="zh-CN" altLang="en-US" sz="2200" b="1" dirty="0"/>
              <a:t>给定值</a:t>
            </a:r>
            <a:r>
              <a:rPr lang="en-US" altLang="zh-CN" sz="2200" b="1" dirty="0"/>
              <a:t>{2,3,2,4,3,2,5}:</a:t>
            </a:r>
          </a:p>
          <a:p>
            <a:pPr lvl="1">
              <a:lnSpc>
                <a:spcPct val="150000"/>
              </a:lnSpc>
              <a:buFont typeface="Arial" panose="020B0604020202020204" pitchFamily="34" charset="0"/>
              <a:buChar char="•"/>
            </a:pPr>
            <a:r>
              <a:rPr lang="en-US" altLang="zh-CN" sz="2200" dirty="0"/>
              <a:t>h</a:t>
            </a:r>
            <a:r>
              <a:rPr lang="en-US" altLang="zh-CN" sz="2200" baseline="-25000" dirty="0"/>
              <a:t>0</a:t>
            </a:r>
            <a:r>
              <a:rPr lang="en-US" altLang="zh-CN" sz="2200" dirty="0"/>
              <a:t>(v)=</a:t>
            </a:r>
            <a:r>
              <a:rPr lang="en-US" altLang="zh-CN" sz="2200" dirty="0" err="1"/>
              <a:t>v%w</a:t>
            </a:r>
            <a:r>
              <a:rPr lang="en-US" altLang="zh-CN" sz="2200" dirty="0"/>
              <a:t>; h</a:t>
            </a:r>
            <a:r>
              <a:rPr lang="en-US" altLang="zh-CN" sz="2200" baseline="-25000" dirty="0"/>
              <a:t>1</a:t>
            </a:r>
            <a:r>
              <a:rPr lang="en-US" altLang="zh-CN" sz="2200" dirty="0"/>
              <a:t>(v)=v</a:t>
            </a:r>
            <a:r>
              <a:rPr lang="en-US" altLang="zh-CN" sz="2200" baseline="30000" dirty="0"/>
              <a:t>2</a:t>
            </a:r>
            <a:r>
              <a:rPr lang="en-US" altLang="zh-CN" sz="2200" dirty="0"/>
              <a:t>%w; h</a:t>
            </a:r>
            <a:r>
              <a:rPr lang="en-US" altLang="zh-CN" sz="2200" baseline="-25000" dirty="0"/>
              <a:t>2</a:t>
            </a:r>
            <a:r>
              <a:rPr lang="en-US" altLang="zh-CN" sz="2200" dirty="0"/>
              <a:t>(v)=(2v+1)%w; h</a:t>
            </a:r>
            <a:r>
              <a:rPr lang="en-US" altLang="zh-CN" sz="2200" baseline="-25000" dirty="0"/>
              <a:t>3</a:t>
            </a:r>
            <a:r>
              <a:rPr lang="en-US" altLang="zh-CN" sz="2200" dirty="0"/>
              <a:t>(v)=(3v</a:t>
            </a:r>
            <a:r>
              <a:rPr lang="en-US" altLang="zh-CN" sz="2200" baseline="30000" dirty="0"/>
              <a:t>2</a:t>
            </a:r>
            <a:r>
              <a:rPr lang="en-US" altLang="zh-CN" sz="2200" dirty="0"/>
              <a:t>+1)%w;</a:t>
            </a:r>
          </a:p>
          <a:p>
            <a:pPr>
              <a:lnSpc>
                <a:spcPct val="150000"/>
              </a:lnSpc>
              <a:buFont typeface="Wingdings" panose="05000000000000000000" pitchFamily="2" charset="2"/>
              <a:buChar char="Ø"/>
            </a:pPr>
            <a:r>
              <a:rPr lang="zh-CN" altLang="en-US" sz="2200" b="1" dirty="0"/>
              <a:t>加入 </a:t>
            </a:r>
            <a:r>
              <a:rPr lang="en-US" altLang="zh-CN" sz="2200" b="1" dirty="0"/>
              <a:t>2</a:t>
            </a:r>
            <a:r>
              <a:rPr lang="zh-CN" altLang="en-US" sz="2200" b="1" dirty="0"/>
              <a:t>，</a:t>
            </a:r>
            <a:r>
              <a:rPr lang="en-US" altLang="zh-CN" sz="2200" b="1" u="sng" dirty="0">
                <a:solidFill>
                  <a:srgbClr val="0432FF"/>
                </a:solidFill>
              </a:rPr>
              <a:t>3</a:t>
            </a:r>
          </a:p>
          <a:p>
            <a:pPr marL="0" indent="0">
              <a:buNone/>
            </a:pPr>
            <a:r>
              <a:rPr lang="zh-CN" altLang="zh-CN" dirty="0"/>
              <a:t> </a:t>
            </a:r>
            <a:endParaRPr kumimoji="1" lang="zh-CN" altLang="en-US" dirty="0"/>
          </a:p>
        </p:txBody>
      </p:sp>
      <p:sp>
        <p:nvSpPr>
          <p:cNvPr id="5" name="页脚占位符 4">
            <a:extLst>
              <a:ext uri="{FF2B5EF4-FFF2-40B4-BE49-F238E27FC236}">
                <a16:creationId xmlns:a16="http://schemas.microsoft.com/office/drawing/2014/main" id="{277C2C6C-FC5C-499D-B2BB-DCEA7A1A9A31}"/>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2" name="图片 1">
            <a:extLst>
              <a:ext uri="{FF2B5EF4-FFF2-40B4-BE49-F238E27FC236}">
                <a16:creationId xmlns:a16="http://schemas.microsoft.com/office/drawing/2014/main" id="{99F85860-9973-6B80-1092-23AB19C3A207}"/>
              </a:ext>
            </a:extLst>
          </p:cNvPr>
          <p:cNvPicPr>
            <a:picLocks noChangeAspect="1"/>
          </p:cNvPicPr>
          <p:nvPr/>
        </p:nvPicPr>
        <p:blipFill>
          <a:blip r:embed="rId3"/>
          <a:stretch>
            <a:fillRect/>
          </a:stretch>
        </p:blipFill>
        <p:spPr>
          <a:xfrm>
            <a:off x="2391552" y="3842976"/>
            <a:ext cx="7440426" cy="2001829"/>
          </a:xfrm>
          <a:prstGeom prst="rect">
            <a:avLst/>
          </a:prstGeom>
        </p:spPr>
      </p:pic>
    </p:spTree>
    <p:extLst>
      <p:ext uri="{BB962C8B-B14F-4D97-AF65-F5344CB8AC3E}">
        <p14:creationId xmlns:p14="http://schemas.microsoft.com/office/powerpoint/2010/main" val="26695606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EED26D2E-7A3F-4F10-BD9D-CEBB2C6CD655}"/>
              </a:ext>
            </a:extLst>
          </p:cNvPr>
          <p:cNvSpPr/>
          <p:nvPr/>
        </p:nvSpPr>
        <p:spPr>
          <a:xfrm>
            <a:off x="2130292" y="3735977"/>
            <a:ext cx="7944307" cy="216843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10E8C129-4B43-AF81-4E49-B4542CB891D5}"/>
              </a:ext>
            </a:extLst>
          </p:cNvPr>
          <p:cNvSpPr>
            <a:spLocks noGrp="1"/>
          </p:cNvSpPr>
          <p:nvPr>
            <p:ph type="sldNum" sz="quarter" idx="10"/>
          </p:nvPr>
        </p:nvSpPr>
        <p:spPr/>
        <p:txBody>
          <a:bodyPr/>
          <a:lstStyle/>
          <a:p>
            <a:fld id="{87BBDC00-B9E2-4EFD-9306-2934E87247C6}" type="slidenum">
              <a:rPr lang="zh-CN" altLang="en-US" smtClean="0"/>
              <a:pPr/>
              <a:t>83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5538"/>
            <a:ext cx="10874188" cy="3315833"/>
          </a:xfrm>
        </p:spPr>
        <p:txBody>
          <a:bodyPr/>
          <a:lstStyle/>
          <a:p>
            <a:pPr>
              <a:lnSpc>
                <a:spcPct val="150000"/>
              </a:lnSpc>
              <a:buFont typeface="Wingdings" panose="05000000000000000000" pitchFamily="2" charset="2"/>
              <a:buChar char="Ø"/>
            </a:pPr>
            <a:r>
              <a:rPr lang="zh-CN" altLang="en-US" sz="2200" b="1" dirty="0">
                <a:solidFill>
                  <a:srgbClr val="701988"/>
                </a:solidFill>
              </a:rPr>
              <a:t> </a:t>
            </a:r>
            <a:r>
              <a:rPr lang="en-US" altLang="zh-CN" sz="2200" b="1" dirty="0">
                <a:solidFill>
                  <a:srgbClr val="701988"/>
                </a:solidFill>
              </a:rPr>
              <a:t>d=4 </a:t>
            </a:r>
            <a:r>
              <a:rPr lang="zh-CN" altLang="en-US" sz="2200" b="1" dirty="0">
                <a:solidFill>
                  <a:srgbClr val="701988"/>
                </a:solidFill>
              </a:rPr>
              <a:t>个哈希函数，</a:t>
            </a:r>
            <a:r>
              <a:rPr lang="en-US" altLang="zh-CN" sz="2200" b="1" dirty="0">
                <a:solidFill>
                  <a:srgbClr val="701988"/>
                </a:solidFill>
              </a:rPr>
              <a:t> w=7</a:t>
            </a:r>
            <a:r>
              <a:rPr lang="zh-CN" altLang="en-US" sz="2200" b="1" dirty="0">
                <a:solidFill>
                  <a:srgbClr val="701988"/>
                </a:solidFill>
              </a:rPr>
              <a:t> 列</a:t>
            </a:r>
            <a:endParaRPr lang="en-US" altLang="zh-CN" sz="2200" b="1" dirty="0">
              <a:solidFill>
                <a:srgbClr val="701988"/>
              </a:solidFill>
            </a:endParaRPr>
          </a:p>
          <a:p>
            <a:pPr>
              <a:lnSpc>
                <a:spcPct val="150000"/>
              </a:lnSpc>
              <a:buFont typeface="Wingdings" panose="05000000000000000000" pitchFamily="2" charset="2"/>
              <a:buChar char="Ø"/>
            </a:pPr>
            <a:r>
              <a:rPr lang="en-US" altLang="zh-CN" sz="2200" dirty="0"/>
              <a:t> </a:t>
            </a:r>
            <a:r>
              <a:rPr lang="zh-CN" altLang="en-US" sz="2200" b="1" dirty="0"/>
              <a:t>给定值</a:t>
            </a:r>
            <a:r>
              <a:rPr lang="en-US" altLang="zh-CN" sz="2200" b="1" dirty="0"/>
              <a:t>{2,3,2,4,3,2,5}:</a:t>
            </a:r>
          </a:p>
          <a:p>
            <a:pPr lvl="1">
              <a:lnSpc>
                <a:spcPct val="150000"/>
              </a:lnSpc>
              <a:buFont typeface="Arial" panose="020B0604020202020204" pitchFamily="34" charset="0"/>
              <a:buChar char="•"/>
            </a:pPr>
            <a:r>
              <a:rPr lang="en-US" altLang="zh-CN" sz="2200" dirty="0"/>
              <a:t>h</a:t>
            </a:r>
            <a:r>
              <a:rPr lang="en-US" altLang="zh-CN" sz="2200" baseline="-25000" dirty="0"/>
              <a:t>0</a:t>
            </a:r>
            <a:r>
              <a:rPr lang="en-US" altLang="zh-CN" sz="2200" dirty="0"/>
              <a:t>(v)=</a:t>
            </a:r>
            <a:r>
              <a:rPr lang="en-US" altLang="zh-CN" sz="2200" dirty="0" err="1"/>
              <a:t>v%w</a:t>
            </a:r>
            <a:r>
              <a:rPr lang="en-US" altLang="zh-CN" sz="2200" dirty="0"/>
              <a:t>; h</a:t>
            </a:r>
            <a:r>
              <a:rPr lang="en-US" altLang="zh-CN" sz="2200" baseline="-25000" dirty="0"/>
              <a:t>1</a:t>
            </a:r>
            <a:r>
              <a:rPr lang="en-US" altLang="zh-CN" sz="2200" dirty="0"/>
              <a:t>(v)=v</a:t>
            </a:r>
            <a:r>
              <a:rPr lang="en-US" altLang="zh-CN" sz="2200" baseline="30000" dirty="0"/>
              <a:t>2</a:t>
            </a:r>
            <a:r>
              <a:rPr lang="en-US" altLang="zh-CN" sz="2200" dirty="0"/>
              <a:t>%w; h</a:t>
            </a:r>
            <a:r>
              <a:rPr lang="en-US" altLang="zh-CN" sz="2200" baseline="-25000" dirty="0"/>
              <a:t>2</a:t>
            </a:r>
            <a:r>
              <a:rPr lang="en-US" altLang="zh-CN" sz="2200" dirty="0"/>
              <a:t>(v)=(2v+1)%w; h</a:t>
            </a:r>
            <a:r>
              <a:rPr lang="en-US" altLang="zh-CN" sz="2200" baseline="-25000" dirty="0"/>
              <a:t>3</a:t>
            </a:r>
            <a:r>
              <a:rPr lang="en-US" altLang="zh-CN" sz="2200" dirty="0"/>
              <a:t>(v)=(3v</a:t>
            </a:r>
            <a:r>
              <a:rPr lang="en-US" altLang="zh-CN" sz="2200" baseline="30000" dirty="0"/>
              <a:t>2</a:t>
            </a:r>
            <a:r>
              <a:rPr lang="en-US" altLang="zh-CN" sz="2200" dirty="0"/>
              <a:t>+1)%w;</a:t>
            </a:r>
          </a:p>
          <a:p>
            <a:pPr>
              <a:lnSpc>
                <a:spcPct val="150000"/>
              </a:lnSpc>
              <a:buFont typeface="Wingdings" panose="05000000000000000000" pitchFamily="2" charset="2"/>
              <a:buChar char="Ø"/>
            </a:pPr>
            <a:r>
              <a:rPr lang="zh-CN" altLang="en-US" sz="2200" b="1" dirty="0"/>
              <a:t>加入 </a:t>
            </a:r>
            <a:r>
              <a:rPr lang="en-US" altLang="zh-CN" sz="2200" b="1" dirty="0"/>
              <a:t>2</a:t>
            </a:r>
            <a:r>
              <a:rPr lang="zh-CN" altLang="en-US" sz="2200" b="1" dirty="0"/>
              <a:t>，</a:t>
            </a:r>
            <a:r>
              <a:rPr lang="en-US" altLang="zh-CN" sz="2200" b="1" u="sng" dirty="0">
                <a:solidFill>
                  <a:srgbClr val="0432FF"/>
                </a:solidFill>
              </a:rPr>
              <a:t>3</a:t>
            </a:r>
          </a:p>
          <a:p>
            <a:pPr marL="0" indent="0">
              <a:buNone/>
            </a:pPr>
            <a:r>
              <a:rPr lang="zh-CN" altLang="zh-CN" dirty="0"/>
              <a:t> </a:t>
            </a:r>
            <a:endParaRPr kumimoji="1" lang="zh-CN" altLang="en-US" dirty="0"/>
          </a:p>
        </p:txBody>
      </p:sp>
      <p:sp>
        <p:nvSpPr>
          <p:cNvPr id="5" name="页脚占位符 4">
            <a:extLst>
              <a:ext uri="{FF2B5EF4-FFF2-40B4-BE49-F238E27FC236}">
                <a16:creationId xmlns:a16="http://schemas.microsoft.com/office/drawing/2014/main" id="{051D0138-4089-E9D7-2F13-BC516C7FC37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2" name="图片 1">
            <a:extLst>
              <a:ext uri="{FF2B5EF4-FFF2-40B4-BE49-F238E27FC236}">
                <a16:creationId xmlns:a16="http://schemas.microsoft.com/office/drawing/2014/main" id="{99F85860-9973-6B80-1092-23AB19C3A207}"/>
              </a:ext>
            </a:extLst>
          </p:cNvPr>
          <p:cNvPicPr>
            <a:picLocks noChangeAspect="1"/>
          </p:cNvPicPr>
          <p:nvPr/>
        </p:nvPicPr>
        <p:blipFill>
          <a:blip r:embed="rId3"/>
          <a:stretch>
            <a:fillRect/>
          </a:stretch>
        </p:blipFill>
        <p:spPr>
          <a:xfrm>
            <a:off x="2213570" y="3825287"/>
            <a:ext cx="7331024" cy="1972395"/>
          </a:xfrm>
          <a:prstGeom prst="rect">
            <a:avLst/>
          </a:prstGeom>
        </p:spPr>
      </p:pic>
    </p:spTree>
    <p:extLst>
      <p:ext uri="{BB962C8B-B14F-4D97-AF65-F5344CB8AC3E}">
        <p14:creationId xmlns:p14="http://schemas.microsoft.com/office/powerpoint/2010/main" val="3658912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EED26D2E-7A3F-4F10-BD9D-CEBB2C6CD655}"/>
              </a:ext>
            </a:extLst>
          </p:cNvPr>
          <p:cNvSpPr/>
          <p:nvPr/>
        </p:nvSpPr>
        <p:spPr>
          <a:xfrm>
            <a:off x="2130292" y="3735977"/>
            <a:ext cx="7944307" cy="216843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11705EF7-5A9B-EC3F-1B4D-DBD3D9A77C1A}"/>
              </a:ext>
            </a:extLst>
          </p:cNvPr>
          <p:cNvSpPr>
            <a:spLocks noGrp="1"/>
          </p:cNvSpPr>
          <p:nvPr>
            <p:ph type="sldNum" sz="quarter" idx="10"/>
          </p:nvPr>
        </p:nvSpPr>
        <p:spPr/>
        <p:txBody>
          <a:bodyPr/>
          <a:lstStyle/>
          <a:p>
            <a:fld id="{87BBDC00-B9E2-4EFD-9306-2934E87247C6}" type="slidenum">
              <a:rPr lang="zh-CN" altLang="en-US" smtClean="0"/>
              <a:pPr/>
              <a:t>84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5538"/>
            <a:ext cx="10874188" cy="5005387"/>
          </a:xfrm>
        </p:spPr>
        <p:txBody>
          <a:bodyPr/>
          <a:lstStyle/>
          <a:p>
            <a:pPr>
              <a:lnSpc>
                <a:spcPct val="150000"/>
              </a:lnSpc>
              <a:buFont typeface="Wingdings" panose="05000000000000000000" pitchFamily="2" charset="2"/>
              <a:buChar char="Ø"/>
            </a:pPr>
            <a:r>
              <a:rPr lang="zh-CN" altLang="en-US" sz="2200" dirty="0">
                <a:solidFill>
                  <a:srgbClr val="701988"/>
                </a:solidFill>
              </a:rPr>
              <a:t> </a:t>
            </a:r>
            <a:r>
              <a:rPr lang="en-US" altLang="zh-CN" sz="2200" b="1" dirty="0">
                <a:solidFill>
                  <a:srgbClr val="701988"/>
                </a:solidFill>
              </a:rPr>
              <a:t>d=4 </a:t>
            </a:r>
            <a:r>
              <a:rPr lang="zh-CN" altLang="en-US" sz="2200" b="1" dirty="0">
                <a:solidFill>
                  <a:srgbClr val="701988"/>
                </a:solidFill>
              </a:rPr>
              <a:t>个哈希函数，</a:t>
            </a:r>
            <a:r>
              <a:rPr lang="en-US" altLang="zh-CN" sz="2200" b="1" dirty="0">
                <a:solidFill>
                  <a:srgbClr val="701988"/>
                </a:solidFill>
              </a:rPr>
              <a:t> w=7</a:t>
            </a:r>
            <a:r>
              <a:rPr lang="zh-CN" altLang="en-US" sz="2200" b="1" dirty="0">
                <a:solidFill>
                  <a:srgbClr val="701988"/>
                </a:solidFill>
              </a:rPr>
              <a:t> 列</a:t>
            </a:r>
            <a:endParaRPr lang="en-US" altLang="zh-CN" sz="2200" b="1" dirty="0">
              <a:solidFill>
                <a:srgbClr val="701988"/>
              </a:solidFill>
            </a:endParaRPr>
          </a:p>
          <a:p>
            <a:pPr>
              <a:lnSpc>
                <a:spcPct val="150000"/>
              </a:lnSpc>
              <a:buFont typeface="Wingdings" panose="05000000000000000000" pitchFamily="2" charset="2"/>
              <a:buChar char="Ø"/>
            </a:pPr>
            <a:r>
              <a:rPr lang="en-US" altLang="zh-CN" sz="2200" dirty="0"/>
              <a:t> </a:t>
            </a:r>
            <a:r>
              <a:rPr lang="zh-CN" altLang="en-US" sz="2200" b="1" dirty="0"/>
              <a:t>给定值</a:t>
            </a:r>
            <a:r>
              <a:rPr lang="en-US" altLang="zh-CN" sz="2200" b="1" dirty="0"/>
              <a:t>{2,3,2,4,3,2,5}:</a:t>
            </a:r>
          </a:p>
          <a:p>
            <a:pPr lvl="1">
              <a:lnSpc>
                <a:spcPct val="150000"/>
              </a:lnSpc>
              <a:buFont typeface="Arial" panose="020B0604020202020204" pitchFamily="34" charset="0"/>
              <a:buChar char="•"/>
            </a:pPr>
            <a:r>
              <a:rPr lang="en-US" altLang="zh-CN" sz="2200" dirty="0"/>
              <a:t>h</a:t>
            </a:r>
            <a:r>
              <a:rPr lang="en-US" altLang="zh-CN" sz="2200" baseline="-25000" dirty="0"/>
              <a:t>0</a:t>
            </a:r>
            <a:r>
              <a:rPr lang="en-US" altLang="zh-CN" sz="2200" dirty="0"/>
              <a:t>(v)=</a:t>
            </a:r>
            <a:r>
              <a:rPr lang="en-US" altLang="zh-CN" sz="2200" dirty="0" err="1"/>
              <a:t>v%w</a:t>
            </a:r>
            <a:r>
              <a:rPr lang="en-US" altLang="zh-CN" sz="2200" dirty="0"/>
              <a:t>; h</a:t>
            </a:r>
            <a:r>
              <a:rPr lang="en-US" altLang="zh-CN" sz="2200" baseline="-25000" dirty="0"/>
              <a:t>1</a:t>
            </a:r>
            <a:r>
              <a:rPr lang="en-US" altLang="zh-CN" sz="2200" dirty="0"/>
              <a:t>(v)=v</a:t>
            </a:r>
            <a:r>
              <a:rPr lang="en-US" altLang="zh-CN" sz="2200" baseline="30000" dirty="0"/>
              <a:t>2</a:t>
            </a:r>
            <a:r>
              <a:rPr lang="en-US" altLang="zh-CN" sz="2200" dirty="0"/>
              <a:t>%w; h</a:t>
            </a:r>
            <a:r>
              <a:rPr lang="en-US" altLang="zh-CN" sz="2200" baseline="-25000" dirty="0"/>
              <a:t>2</a:t>
            </a:r>
            <a:r>
              <a:rPr lang="en-US" altLang="zh-CN" sz="2200" dirty="0"/>
              <a:t>(v)=(2v+1)%w; h</a:t>
            </a:r>
            <a:r>
              <a:rPr lang="en-US" altLang="zh-CN" sz="2200" baseline="-25000" dirty="0"/>
              <a:t>3</a:t>
            </a:r>
            <a:r>
              <a:rPr lang="en-US" altLang="zh-CN" sz="2200" dirty="0"/>
              <a:t>(v)=(3v</a:t>
            </a:r>
            <a:r>
              <a:rPr lang="en-US" altLang="zh-CN" sz="2200" baseline="30000" dirty="0"/>
              <a:t>2</a:t>
            </a:r>
            <a:r>
              <a:rPr lang="en-US" altLang="zh-CN" sz="2200" dirty="0"/>
              <a:t>+1)%w;</a:t>
            </a:r>
          </a:p>
          <a:p>
            <a:pPr>
              <a:lnSpc>
                <a:spcPct val="150000"/>
              </a:lnSpc>
              <a:buFont typeface="Wingdings" panose="05000000000000000000" pitchFamily="2" charset="2"/>
              <a:buChar char="Ø"/>
            </a:pPr>
            <a:r>
              <a:rPr lang="zh-CN" altLang="en-US" sz="2200" b="1" dirty="0"/>
              <a:t>加入 </a:t>
            </a:r>
            <a:r>
              <a:rPr lang="en-US" altLang="zh-CN" sz="2200" b="1" dirty="0"/>
              <a:t>2</a:t>
            </a:r>
            <a:r>
              <a:rPr lang="zh-CN" altLang="en-US" sz="2200" b="1" dirty="0"/>
              <a:t>，</a:t>
            </a:r>
            <a:r>
              <a:rPr lang="en-US" altLang="zh-CN" sz="2200" b="1" dirty="0"/>
              <a:t>3</a:t>
            </a:r>
            <a:r>
              <a:rPr lang="zh-CN" altLang="en-US" sz="2200" b="1" dirty="0"/>
              <a:t>，</a:t>
            </a:r>
            <a:r>
              <a:rPr lang="en-US" altLang="zh-CN" sz="2200" b="1" u="sng" dirty="0">
                <a:solidFill>
                  <a:srgbClr val="0432FF"/>
                </a:solidFill>
              </a:rPr>
              <a:t>2</a:t>
            </a:r>
          </a:p>
          <a:p>
            <a:pPr marL="0" indent="0">
              <a:lnSpc>
                <a:spcPct val="150000"/>
              </a:lnSpc>
              <a:buNone/>
            </a:pPr>
            <a:r>
              <a:rPr lang="zh-CN" altLang="zh-CN" dirty="0"/>
              <a:t> </a:t>
            </a:r>
            <a:endParaRPr kumimoji="1" lang="zh-CN" altLang="en-US" dirty="0"/>
          </a:p>
        </p:txBody>
      </p:sp>
      <p:sp>
        <p:nvSpPr>
          <p:cNvPr id="5" name="页脚占位符 4">
            <a:extLst>
              <a:ext uri="{FF2B5EF4-FFF2-40B4-BE49-F238E27FC236}">
                <a16:creationId xmlns:a16="http://schemas.microsoft.com/office/drawing/2014/main" id="{4001F573-B4CF-AE01-1862-52AC3C68DE6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36776974-588F-D58A-B256-218FB4FC7918}"/>
              </a:ext>
            </a:extLst>
          </p:cNvPr>
          <p:cNvPicPr>
            <a:picLocks noChangeAspect="1"/>
          </p:cNvPicPr>
          <p:nvPr/>
        </p:nvPicPr>
        <p:blipFill>
          <a:blip r:embed="rId3"/>
          <a:stretch>
            <a:fillRect/>
          </a:stretch>
        </p:blipFill>
        <p:spPr>
          <a:xfrm>
            <a:off x="2217381" y="3839167"/>
            <a:ext cx="7742642" cy="1960740"/>
          </a:xfrm>
          <a:prstGeom prst="rect">
            <a:avLst/>
          </a:prstGeom>
        </p:spPr>
      </p:pic>
    </p:spTree>
    <p:extLst>
      <p:ext uri="{BB962C8B-B14F-4D97-AF65-F5344CB8AC3E}">
        <p14:creationId xmlns:p14="http://schemas.microsoft.com/office/powerpoint/2010/main" val="19858071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EED26D2E-7A3F-4F10-BD9D-CEBB2C6CD655}"/>
              </a:ext>
            </a:extLst>
          </p:cNvPr>
          <p:cNvSpPr/>
          <p:nvPr/>
        </p:nvSpPr>
        <p:spPr>
          <a:xfrm>
            <a:off x="2130292" y="3735977"/>
            <a:ext cx="7944307" cy="216843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5DDA883E-5DB7-C5F7-D1F3-1E002890B187}"/>
              </a:ext>
            </a:extLst>
          </p:cNvPr>
          <p:cNvSpPr>
            <a:spLocks noGrp="1"/>
          </p:cNvSpPr>
          <p:nvPr>
            <p:ph type="sldNum" sz="quarter" idx="10"/>
          </p:nvPr>
        </p:nvSpPr>
        <p:spPr/>
        <p:txBody>
          <a:bodyPr/>
          <a:lstStyle/>
          <a:p>
            <a:fld id="{87BBDC00-B9E2-4EFD-9306-2934E87247C6}" type="slidenum">
              <a:rPr lang="zh-CN" altLang="en-US" smtClean="0"/>
              <a:pPr/>
              <a:t>85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5538"/>
            <a:ext cx="10874188" cy="5005387"/>
          </a:xfrm>
        </p:spPr>
        <p:txBody>
          <a:bodyPr/>
          <a:lstStyle/>
          <a:p>
            <a:pPr>
              <a:lnSpc>
                <a:spcPct val="150000"/>
              </a:lnSpc>
              <a:buFont typeface="Wingdings" panose="05000000000000000000" pitchFamily="2" charset="2"/>
              <a:buChar char="Ø"/>
            </a:pPr>
            <a:r>
              <a:rPr lang="zh-CN" altLang="en-US" sz="2200" b="1" dirty="0">
                <a:solidFill>
                  <a:srgbClr val="701988"/>
                </a:solidFill>
              </a:rPr>
              <a:t> </a:t>
            </a:r>
            <a:r>
              <a:rPr lang="en-US" altLang="zh-CN" sz="2200" b="1" dirty="0">
                <a:solidFill>
                  <a:srgbClr val="701988"/>
                </a:solidFill>
              </a:rPr>
              <a:t>d=4 </a:t>
            </a:r>
            <a:r>
              <a:rPr lang="zh-CN" altLang="en-US" sz="2200" b="1" dirty="0">
                <a:solidFill>
                  <a:srgbClr val="701988"/>
                </a:solidFill>
              </a:rPr>
              <a:t>个哈希函数，</a:t>
            </a:r>
            <a:r>
              <a:rPr lang="en-US" altLang="zh-CN" sz="2200" b="1" dirty="0">
                <a:solidFill>
                  <a:srgbClr val="701988"/>
                </a:solidFill>
              </a:rPr>
              <a:t> w=7</a:t>
            </a:r>
            <a:r>
              <a:rPr lang="zh-CN" altLang="en-US" sz="2200" b="1" dirty="0">
                <a:solidFill>
                  <a:srgbClr val="701988"/>
                </a:solidFill>
              </a:rPr>
              <a:t> 列</a:t>
            </a:r>
            <a:endParaRPr lang="en-US" altLang="zh-CN" sz="2200" b="1" dirty="0">
              <a:solidFill>
                <a:srgbClr val="701988"/>
              </a:solidFill>
            </a:endParaRPr>
          </a:p>
          <a:p>
            <a:pPr>
              <a:lnSpc>
                <a:spcPct val="150000"/>
              </a:lnSpc>
              <a:buFont typeface="Wingdings" panose="05000000000000000000" pitchFamily="2" charset="2"/>
              <a:buChar char="Ø"/>
            </a:pPr>
            <a:r>
              <a:rPr lang="en-US" altLang="zh-CN" sz="2200" dirty="0"/>
              <a:t> </a:t>
            </a:r>
            <a:r>
              <a:rPr lang="zh-CN" altLang="en-US" sz="2200" b="1" dirty="0"/>
              <a:t>给定值</a:t>
            </a:r>
            <a:r>
              <a:rPr lang="en-US" altLang="zh-CN" sz="2200" b="1" dirty="0"/>
              <a:t>{2,3,2,4,3,2,5}:</a:t>
            </a:r>
          </a:p>
          <a:p>
            <a:pPr lvl="1">
              <a:lnSpc>
                <a:spcPct val="150000"/>
              </a:lnSpc>
              <a:buFont typeface="Arial" panose="020B0604020202020204" pitchFamily="34" charset="0"/>
              <a:buChar char="•"/>
            </a:pPr>
            <a:r>
              <a:rPr lang="en-US" altLang="zh-CN" sz="2200" dirty="0"/>
              <a:t>h</a:t>
            </a:r>
            <a:r>
              <a:rPr lang="en-US" altLang="zh-CN" sz="2200" baseline="-25000" dirty="0"/>
              <a:t>0</a:t>
            </a:r>
            <a:r>
              <a:rPr lang="en-US" altLang="zh-CN" sz="2200" dirty="0"/>
              <a:t>(v)=</a:t>
            </a:r>
            <a:r>
              <a:rPr lang="en-US" altLang="zh-CN" sz="2200" dirty="0" err="1"/>
              <a:t>v%w</a:t>
            </a:r>
            <a:r>
              <a:rPr lang="en-US" altLang="zh-CN" sz="2200" dirty="0"/>
              <a:t>; h</a:t>
            </a:r>
            <a:r>
              <a:rPr lang="en-US" altLang="zh-CN" sz="2200" baseline="-25000" dirty="0"/>
              <a:t>1</a:t>
            </a:r>
            <a:r>
              <a:rPr lang="en-US" altLang="zh-CN" sz="2200" dirty="0"/>
              <a:t>(v)=v</a:t>
            </a:r>
            <a:r>
              <a:rPr lang="en-US" altLang="zh-CN" sz="2200" baseline="30000" dirty="0"/>
              <a:t>2</a:t>
            </a:r>
            <a:r>
              <a:rPr lang="en-US" altLang="zh-CN" sz="2200" dirty="0"/>
              <a:t>%w; h</a:t>
            </a:r>
            <a:r>
              <a:rPr lang="en-US" altLang="zh-CN" sz="2200" baseline="-25000" dirty="0"/>
              <a:t>2</a:t>
            </a:r>
            <a:r>
              <a:rPr lang="en-US" altLang="zh-CN" sz="2200" dirty="0"/>
              <a:t>(v)=(2v+1)%w; h</a:t>
            </a:r>
            <a:r>
              <a:rPr lang="en-US" altLang="zh-CN" sz="2200" baseline="-25000" dirty="0"/>
              <a:t>3</a:t>
            </a:r>
            <a:r>
              <a:rPr lang="en-US" altLang="zh-CN" sz="2200" dirty="0"/>
              <a:t>(v)=(3v</a:t>
            </a:r>
            <a:r>
              <a:rPr lang="en-US" altLang="zh-CN" sz="2200" baseline="30000" dirty="0"/>
              <a:t>2</a:t>
            </a:r>
            <a:r>
              <a:rPr lang="en-US" altLang="zh-CN" sz="2200" dirty="0"/>
              <a:t>+1)%w;</a:t>
            </a:r>
          </a:p>
          <a:p>
            <a:pPr>
              <a:lnSpc>
                <a:spcPct val="150000"/>
              </a:lnSpc>
              <a:buFont typeface="Wingdings" panose="05000000000000000000" pitchFamily="2" charset="2"/>
              <a:buChar char="Ø"/>
            </a:pPr>
            <a:r>
              <a:rPr lang="zh-CN" altLang="en-US" sz="2200" b="1" dirty="0"/>
              <a:t>加入 </a:t>
            </a:r>
            <a:r>
              <a:rPr lang="en-US" altLang="zh-CN" sz="2200" b="1" dirty="0"/>
              <a:t>2</a:t>
            </a:r>
            <a:r>
              <a:rPr lang="zh-CN" altLang="en-US" sz="2200" b="1" dirty="0"/>
              <a:t>，</a:t>
            </a:r>
            <a:r>
              <a:rPr lang="en-US" altLang="zh-CN" sz="2200" b="1" dirty="0"/>
              <a:t>3</a:t>
            </a:r>
            <a:r>
              <a:rPr lang="zh-CN" altLang="en-US" sz="2200" b="1" dirty="0"/>
              <a:t>，</a:t>
            </a:r>
            <a:r>
              <a:rPr lang="en-US" altLang="zh-CN" sz="2200" b="1" dirty="0"/>
              <a:t>2</a:t>
            </a:r>
            <a:r>
              <a:rPr lang="zh-CN" altLang="en-US" sz="2200" b="1" dirty="0"/>
              <a:t>，</a:t>
            </a:r>
            <a:r>
              <a:rPr lang="en-US" altLang="zh-CN" sz="2200" b="1" u="sng" dirty="0">
                <a:solidFill>
                  <a:srgbClr val="0432FF"/>
                </a:solidFill>
              </a:rPr>
              <a:t>4</a:t>
            </a:r>
          </a:p>
          <a:p>
            <a:pPr marL="0" indent="0">
              <a:buNone/>
            </a:pPr>
            <a:r>
              <a:rPr lang="zh-CN" altLang="zh-CN" dirty="0"/>
              <a:t> </a:t>
            </a:r>
            <a:endParaRPr kumimoji="1" lang="zh-CN" altLang="en-US" dirty="0"/>
          </a:p>
        </p:txBody>
      </p:sp>
      <p:sp>
        <p:nvSpPr>
          <p:cNvPr id="5" name="页脚占位符 4">
            <a:extLst>
              <a:ext uri="{FF2B5EF4-FFF2-40B4-BE49-F238E27FC236}">
                <a16:creationId xmlns:a16="http://schemas.microsoft.com/office/drawing/2014/main" id="{551166A8-87CD-2401-4670-CC457512281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2" name="图片 1">
            <a:extLst>
              <a:ext uri="{FF2B5EF4-FFF2-40B4-BE49-F238E27FC236}">
                <a16:creationId xmlns:a16="http://schemas.microsoft.com/office/drawing/2014/main" id="{2DB8C255-8791-0878-73E3-9F712785F41C}"/>
              </a:ext>
            </a:extLst>
          </p:cNvPr>
          <p:cNvPicPr>
            <a:picLocks noChangeAspect="1"/>
          </p:cNvPicPr>
          <p:nvPr/>
        </p:nvPicPr>
        <p:blipFill>
          <a:blip r:embed="rId3"/>
          <a:stretch>
            <a:fillRect/>
          </a:stretch>
        </p:blipFill>
        <p:spPr>
          <a:xfrm>
            <a:off x="2297987" y="3805649"/>
            <a:ext cx="7597782" cy="2030911"/>
          </a:xfrm>
          <a:prstGeom prst="rect">
            <a:avLst/>
          </a:prstGeom>
        </p:spPr>
      </p:pic>
    </p:spTree>
    <p:extLst>
      <p:ext uri="{BB962C8B-B14F-4D97-AF65-F5344CB8AC3E}">
        <p14:creationId xmlns:p14="http://schemas.microsoft.com/office/powerpoint/2010/main" val="20856781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EED26D2E-7A3F-4F10-BD9D-CEBB2C6CD655}"/>
              </a:ext>
            </a:extLst>
          </p:cNvPr>
          <p:cNvSpPr/>
          <p:nvPr/>
        </p:nvSpPr>
        <p:spPr>
          <a:xfrm>
            <a:off x="2130292" y="3735977"/>
            <a:ext cx="7944307" cy="239494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F7A08E30-E92C-46FD-FF64-738183E6725E}"/>
              </a:ext>
            </a:extLst>
          </p:cNvPr>
          <p:cNvSpPr>
            <a:spLocks noGrp="1"/>
          </p:cNvSpPr>
          <p:nvPr>
            <p:ph type="sldNum" sz="quarter" idx="10"/>
          </p:nvPr>
        </p:nvSpPr>
        <p:spPr/>
        <p:txBody>
          <a:bodyPr/>
          <a:lstStyle/>
          <a:p>
            <a:fld id="{87BBDC00-B9E2-4EFD-9306-2934E87247C6}" type="slidenum">
              <a:rPr lang="zh-CN" altLang="en-US" smtClean="0"/>
              <a:pPr/>
              <a:t>86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Count-Min</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125538"/>
            <a:ext cx="10874188" cy="5005387"/>
          </a:xfrm>
        </p:spPr>
        <p:txBody>
          <a:bodyPr/>
          <a:lstStyle/>
          <a:p>
            <a:pPr>
              <a:lnSpc>
                <a:spcPct val="150000"/>
              </a:lnSpc>
              <a:buFont typeface="Wingdings" panose="05000000000000000000" pitchFamily="2" charset="2"/>
              <a:buChar char="Ø"/>
            </a:pPr>
            <a:r>
              <a:rPr lang="zh-CN" altLang="en-US" sz="2200" b="1" dirty="0">
                <a:solidFill>
                  <a:srgbClr val="701988"/>
                </a:solidFill>
              </a:rPr>
              <a:t> </a:t>
            </a:r>
            <a:r>
              <a:rPr lang="en-US" altLang="zh-CN" sz="2200" b="1" dirty="0">
                <a:solidFill>
                  <a:srgbClr val="701988"/>
                </a:solidFill>
              </a:rPr>
              <a:t>d=4 </a:t>
            </a:r>
            <a:r>
              <a:rPr lang="zh-CN" altLang="en-US" sz="2200" b="1" dirty="0">
                <a:solidFill>
                  <a:srgbClr val="701988"/>
                </a:solidFill>
              </a:rPr>
              <a:t>个哈希函数，</a:t>
            </a:r>
            <a:r>
              <a:rPr lang="en-US" altLang="zh-CN" sz="2200" b="1" dirty="0">
                <a:solidFill>
                  <a:srgbClr val="701988"/>
                </a:solidFill>
              </a:rPr>
              <a:t> w=7</a:t>
            </a:r>
            <a:r>
              <a:rPr lang="zh-CN" altLang="en-US" sz="2200" b="1" dirty="0">
                <a:solidFill>
                  <a:srgbClr val="701988"/>
                </a:solidFill>
              </a:rPr>
              <a:t> 列</a:t>
            </a:r>
            <a:endParaRPr lang="en-US" altLang="zh-CN" sz="2200" b="1" dirty="0">
              <a:solidFill>
                <a:srgbClr val="701988"/>
              </a:solidFill>
            </a:endParaRPr>
          </a:p>
          <a:p>
            <a:pPr>
              <a:lnSpc>
                <a:spcPct val="150000"/>
              </a:lnSpc>
              <a:buFont typeface="Wingdings" panose="05000000000000000000" pitchFamily="2" charset="2"/>
              <a:buChar char="Ø"/>
            </a:pPr>
            <a:r>
              <a:rPr lang="en-US" altLang="zh-CN" sz="2200" dirty="0"/>
              <a:t> </a:t>
            </a:r>
            <a:r>
              <a:rPr lang="zh-CN" altLang="en-US" sz="2200" b="1" dirty="0"/>
              <a:t>给定值</a:t>
            </a:r>
            <a:r>
              <a:rPr lang="en-US" altLang="zh-CN" sz="2200" b="1" dirty="0"/>
              <a:t>{2,3,2,4,3,2,5}:</a:t>
            </a:r>
          </a:p>
          <a:p>
            <a:pPr lvl="1">
              <a:lnSpc>
                <a:spcPct val="150000"/>
              </a:lnSpc>
              <a:buFont typeface="Arial" panose="020B0604020202020204" pitchFamily="34" charset="0"/>
              <a:buChar char="•"/>
            </a:pPr>
            <a:r>
              <a:rPr lang="en-US" altLang="zh-CN" sz="2200" dirty="0"/>
              <a:t>h</a:t>
            </a:r>
            <a:r>
              <a:rPr lang="en-US" altLang="zh-CN" sz="2200" baseline="-25000" dirty="0"/>
              <a:t>0</a:t>
            </a:r>
            <a:r>
              <a:rPr lang="en-US" altLang="zh-CN" sz="2200" dirty="0"/>
              <a:t>(v)=</a:t>
            </a:r>
            <a:r>
              <a:rPr lang="en-US" altLang="zh-CN" sz="2200" dirty="0" err="1"/>
              <a:t>v%w</a:t>
            </a:r>
            <a:r>
              <a:rPr lang="en-US" altLang="zh-CN" sz="2200" dirty="0"/>
              <a:t>; h</a:t>
            </a:r>
            <a:r>
              <a:rPr lang="en-US" altLang="zh-CN" sz="2200" baseline="-25000" dirty="0"/>
              <a:t>1</a:t>
            </a:r>
            <a:r>
              <a:rPr lang="en-US" altLang="zh-CN" sz="2200" dirty="0"/>
              <a:t>(v)=v</a:t>
            </a:r>
            <a:r>
              <a:rPr lang="en-US" altLang="zh-CN" sz="2200" baseline="30000" dirty="0"/>
              <a:t>2</a:t>
            </a:r>
            <a:r>
              <a:rPr lang="en-US" altLang="zh-CN" sz="2200" dirty="0"/>
              <a:t>%w; h</a:t>
            </a:r>
            <a:r>
              <a:rPr lang="en-US" altLang="zh-CN" sz="2200" baseline="-25000" dirty="0"/>
              <a:t>2</a:t>
            </a:r>
            <a:r>
              <a:rPr lang="en-US" altLang="zh-CN" sz="2200" dirty="0"/>
              <a:t>(v)=(2v+1)%w; h</a:t>
            </a:r>
            <a:r>
              <a:rPr lang="en-US" altLang="zh-CN" sz="2200" baseline="-25000" dirty="0"/>
              <a:t>3</a:t>
            </a:r>
            <a:r>
              <a:rPr lang="en-US" altLang="zh-CN" sz="2200" dirty="0"/>
              <a:t>(v)=(3v</a:t>
            </a:r>
            <a:r>
              <a:rPr lang="en-US" altLang="zh-CN" sz="2200" baseline="30000" dirty="0"/>
              <a:t>2</a:t>
            </a:r>
            <a:r>
              <a:rPr lang="en-US" altLang="zh-CN" sz="2200" dirty="0"/>
              <a:t>+1)%w;</a:t>
            </a:r>
          </a:p>
          <a:p>
            <a:pPr>
              <a:lnSpc>
                <a:spcPct val="150000"/>
              </a:lnSpc>
              <a:buFont typeface="Wingdings" panose="05000000000000000000" pitchFamily="2" charset="2"/>
              <a:buChar char="Ø"/>
            </a:pPr>
            <a:r>
              <a:rPr lang="zh-CN" altLang="en-US" sz="2200" b="1" dirty="0"/>
              <a:t>加入 </a:t>
            </a:r>
            <a:r>
              <a:rPr lang="en-US" altLang="zh-CN" sz="2200" b="1" dirty="0"/>
              <a:t>2</a:t>
            </a:r>
            <a:r>
              <a:rPr lang="zh-CN" altLang="en-US" sz="2200" b="1" dirty="0"/>
              <a:t>，</a:t>
            </a:r>
            <a:r>
              <a:rPr lang="en-US" altLang="zh-CN" sz="2200" b="1" dirty="0"/>
              <a:t>3</a:t>
            </a:r>
            <a:r>
              <a:rPr lang="zh-CN" altLang="en-US" sz="2200" b="1" dirty="0"/>
              <a:t>，</a:t>
            </a:r>
            <a:r>
              <a:rPr lang="en-US" altLang="zh-CN" sz="2200" b="1" dirty="0"/>
              <a:t>2</a:t>
            </a:r>
            <a:r>
              <a:rPr lang="zh-CN" altLang="en-US" sz="2200" b="1" dirty="0"/>
              <a:t>，</a:t>
            </a:r>
            <a:r>
              <a:rPr lang="en-US" altLang="zh-CN" sz="2200" b="1" dirty="0"/>
              <a:t>4</a:t>
            </a:r>
            <a:r>
              <a:rPr lang="zh-CN" altLang="en-US" sz="2200" b="1" dirty="0"/>
              <a:t>，</a:t>
            </a:r>
            <a:r>
              <a:rPr lang="en-US" altLang="zh-CN" sz="2200" b="1" u="sng" dirty="0">
                <a:solidFill>
                  <a:srgbClr val="0432FF"/>
                </a:solidFill>
              </a:rPr>
              <a:t>5</a:t>
            </a:r>
          </a:p>
          <a:p>
            <a:pPr marL="0" indent="0">
              <a:buNone/>
            </a:pPr>
            <a:r>
              <a:rPr lang="zh-CN" altLang="zh-CN" dirty="0"/>
              <a:t> </a:t>
            </a:r>
            <a:endParaRPr kumimoji="1" lang="zh-CN" altLang="en-US" dirty="0"/>
          </a:p>
        </p:txBody>
      </p:sp>
      <p:sp>
        <p:nvSpPr>
          <p:cNvPr id="5" name="页脚占位符 4">
            <a:extLst>
              <a:ext uri="{FF2B5EF4-FFF2-40B4-BE49-F238E27FC236}">
                <a16:creationId xmlns:a16="http://schemas.microsoft.com/office/drawing/2014/main" id="{97C322AA-6FA9-B1A3-6507-B9F4E6A55EE5}"/>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901789E8-DA73-E8BF-6B75-224EEB3E5322}"/>
              </a:ext>
            </a:extLst>
          </p:cNvPr>
          <p:cNvPicPr>
            <a:picLocks noChangeAspect="1"/>
          </p:cNvPicPr>
          <p:nvPr/>
        </p:nvPicPr>
        <p:blipFill>
          <a:blip r:embed="rId3"/>
          <a:stretch>
            <a:fillRect/>
          </a:stretch>
        </p:blipFill>
        <p:spPr>
          <a:xfrm>
            <a:off x="2901945" y="3854612"/>
            <a:ext cx="6390106" cy="2152300"/>
          </a:xfrm>
          <a:prstGeom prst="rect">
            <a:avLst/>
          </a:prstGeom>
        </p:spPr>
      </p:pic>
    </p:spTree>
    <p:extLst>
      <p:ext uri="{BB962C8B-B14F-4D97-AF65-F5344CB8AC3E}">
        <p14:creationId xmlns:p14="http://schemas.microsoft.com/office/powerpoint/2010/main" val="26137339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CE4289B-28AA-F59A-BEF6-3E4CCBD432C5}"/>
              </a:ext>
            </a:extLst>
          </p:cNvPr>
          <p:cNvSpPr>
            <a:spLocks noGrp="1"/>
          </p:cNvSpPr>
          <p:nvPr>
            <p:ph type="sldNum" sz="quarter" idx="10"/>
          </p:nvPr>
        </p:nvSpPr>
        <p:spPr/>
        <p:txBody>
          <a:bodyPr/>
          <a:lstStyle/>
          <a:p>
            <a:fld id="{87BBDC00-B9E2-4EFD-9306-2934E87247C6}" type="slidenum">
              <a:rPr lang="zh-CN" altLang="en-US" smtClean="0"/>
              <a:pPr/>
              <a:t>87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HyperLogLog</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511759"/>
            <a:ext cx="10874188" cy="5005387"/>
          </a:xfrm>
        </p:spPr>
        <p:txBody>
          <a:bodyPr/>
          <a:lstStyle/>
          <a:p>
            <a:pPr marL="342900" lvl="1" indent="-342900">
              <a:buFont typeface="Wingdings" panose="05000000000000000000" pitchFamily="2" charset="2"/>
              <a:buChar char="Ø"/>
            </a:pPr>
            <a:r>
              <a:rPr lang="zh-CN" altLang="en-US" sz="2400" b="1" dirty="0"/>
              <a:t>估计某列不同取值个数</a:t>
            </a:r>
            <a:endParaRPr lang="en-US" altLang="zh-CN" sz="2400" b="1" dirty="0"/>
          </a:p>
          <a:p>
            <a:pPr lvl="1">
              <a:buFont typeface="Arial" panose="020B0604020202020204" pitchFamily="34" charset="0"/>
              <a:buChar char="•"/>
            </a:pPr>
            <a:r>
              <a:rPr lang="zh-CN" altLang="en-US" dirty="0"/>
              <a:t>线性扫描进行统计：过于</a:t>
            </a:r>
            <a:r>
              <a:rPr lang="zh-CN" altLang="en-US" b="1" dirty="0">
                <a:solidFill>
                  <a:srgbClr val="701988"/>
                </a:solidFill>
              </a:rPr>
              <a:t>低效</a:t>
            </a:r>
            <a:endParaRPr lang="en-US" altLang="zh-CN" b="1" dirty="0">
              <a:solidFill>
                <a:srgbClr val="701988"/>
              </a:solidFill>
            </a:endParaRPr>
          </a:p>
          <a:p>
            <a:pPr lvl="1">
              <a:buFont typeface="Arial" panose="020B0604020202020204" pitchFamily="34" charset="0"/>
              <a:buChar char="•"/>
            </a:pPr>
            <a:r>
              <a:rPr lang="zh-CN" altLang="en-US" dirty="0"/>
              <a:t>哈希：</a:t>
            </a:r>
            <a:r>
              <a:rPr lang="zh-CN" altLang="en-US" b="1" dirty="0">
                <a:solidFill>
                  <a:srgbClr val="701988"/>
                </a:solidFill>
              </a:rPr>
              <a:t>空间占用过大</a:t>
            </a:r>
            <a:endParaRPr lang="en-US" altLang="zh-CN" b="1" dirty="0">
              <a:solidFill>
                <a:srgbClr val="701988"/>
              </a:solidFill>
            </a:endParaRPr>
          </a:p>
          <a:p>
            <a:pPr marL="422041" lvl="1" indent="0">
              <a:buNone/>
            </a:pPr>
            <a:r>
              <a:rPr lang="en-US" altLang="zh-CN" sz="2400" dirty="0"/>
              <a:t>	…</a:t>
            </a:r>
          </a:p>
          <a:p>
            <a:pPr marL="422041" lvl="1" indent="0">
              <a:buNone/>
            </a:pPr>
            <a:endParaRPr lang="en-US" altLang="zh-CN" sz="2400" dirty="0"/>
          </a:p>
          <a:p>
            <a:pPr marL="342900" lvl="1" indent="-342900">
              <a:buFont typeface="Wingdings" panose="05000000000000000000" pitchFamily="2" charset="2"/>
              <a:buChar char="Ø"/>
            </a:pPr>
            <a:r>
              <a:rPr lang="en-US" altLang="zh-CN" sz="2400" b="1" dirty="0"/>
              <a:t>HyperLogLog</a:t>
            </a:r>
          </a:p>
          <a:p>
            <a:pPr marL="712186" lvl="2" indent="-342900">
              <a:buFont typeface="Arial" panose="020B0604020202020204" pitchFamily="34" charset="0"/>
              <a:buChar char="•"/>
            </a:pPr>
            <a:r>
              <a:rPr lang="zh-CN" altLang="en-US" sz="2000" dirty="0"/>
              <a:t>只需要</a:t>
            </a:r>
            <a:r>
              <a:rPr lang="en-US" altLang="zh-CN" sz="2000" b="1" dirty="0">
                <a:solidFill>
                  <a:srgbClr val="701988"/>
                </a:solidFill>
              </a:rPr>
              <a:t>12KB</a:t>
            </a:r>
            <a:r>
              <a:rPr lang="zh-CN" altLang="en-US" sz="2000" dirty="0"/>
              <a:t>的内存，就可以计算最高达</a:t>
            </a:r>
            <a:r>
              <a:rPr lang="en-US" altLang="zh-CN" sz="2000" b="1" dirty="0">
                <a:solidFill>
                  <a:srgbClr val="701988"/>
                </a:solidFill>
              </a:rPr>
              <a:t>2</a:t>
            </a:r>
            <a:r>
              <a:rPr lang="en-US" altLang="zh-CN" sz="2000" b="1" baseline="30000" dirty="0">
                <a:solidFill>
                  <a:srgbClr val="701988"/>
                </a:solidFill>
              </a:rPr>
              <a:t>64</a:t>
            </a:r>
            <a:r>
              <a:rPr lang="zh-CN" altLang="en-US" sz="2000" dirty="0"/>
              <a:t>个不同元素的基数</a:t>
            </a:r>
            <a:endParaRPr lang="en-US" altLang="zh-CN" sz="2000" dirty="0"/>
          </a:p>
          <a:p>
            <a:pPr marL="712186" lvl="2" indent="-342900">
              <a:buFont typeface="Arial" panose="020B0604020202020204" pitchFamily="34" charset="0"/>
              <a:buChar char="•"/>
            </a:pPr>
            <a:r>
              <a:rPr lang="zh-CN" altLang="en-US" sz="2000" dirty="0"/>
              <a:t>广泛应用在内存数据库</a:t>
            </a:r>
            <a:r>
              <a:rPr lang="en-US" altLang="zh-CN" sz="2000" dirty="0"/>
              <a:t>Redis</a:t>
            </a:r>
            <a:r>
              <a:rPr lang="zh-CN" altLang="en-US" sz="2000" dirty="0"/>
              <a:t>、大数据运算框架</a:t>
            </a:r>
            <a:r>
              <a:rPr lang="en-US" altLang="zh-CN" sz="2000" dirty="0"/>
              <a:t>Spark</a:t>
            </a:r>
            <a:r>
              <a:rPr lang="zh-CN" altLang="en-US" sz="2000" dirty="0"/>
              <a:t>、</a:t>
            </a:r>
            <a:r>
              <a:rPr lang="en-US" altLang="zh-CN" sz="2000" dirty="0" err="1"/>
              <a:t>Flink</a:t>
            </a:r>
            <a:r>
              <a:rPr lang="zh-CN" altLang="en-US" sz="2000" dirty="0"/>
              <a:t>中</a:t>
            </a:r>
            <a:endParaRPr lang="en-US" altLang="zh-CN" sz="2000" dirty="0"/>
          </a:p>
          <a:p>
            <a:pPr marL="422041" lvl="1" indent="0">
              <a:buNone/>
            </a:pPr>
            <a:endParaRPr lang="en-US" altLang="zh-CN" sz="2400" dirty="0"/>
          </a:p>
          <a:p>
            <a:pPr lvl="1">
              <a:buFont typeface="Wingdings" pitchFamily="2" charset="2"/>
              <a:buChar char="Ø"/>
            </a:pPr>
            <a:endParaRPr lang="en-US" altLang="zh-CN" sz="2400" dirty="0"/>
          </a:p>
          <a:p>
            <a:pPr lvl="1">
              <a:buFont typeface="Wingdings" pitchFamily="2" charset="2"/>
              <a:buChar char="Ø"/>
            </a:pPr>
            <a:endParaRPr lang="en-US" altLang="zh-CN" sz="2400" dirty="0"/>
          </a:p>
          <a:p>
            <a:pPr lvl="1">
              <a:buFont typeface="Wingdings" pitchFamily="2" charset="2"/>
              <a:buChar char="Ø"/>
            </a:pPr>
            <a:endParaRPr lang="en-US" altLang="zh-CN" sz="2400" dirty="0"/>
          </a:p>
          <a:p>
            <a:pPr>
              <a:buFont typeface="Wingdings" pitchFamily="2" charset="2"/>
              <a:buChar char="p"/>
            </a:pPr>
            <a:endParaRPr lang="en-US" altLang="zh-CN" dirty="0"/>
          </a:p>
          <a:p>
            <a:pPr lvl="1">
              <a:buFont typeface="Wingdings" pitchFamily="2" charset="2"/>
              <a:buChar char="p"/>
            </a:pPr>
            <a:endParaRPr lang="en-US" altLang="zh-CN" sz="2400" dirty="0"/>
          </a:p>
          <a:p>
            <a:pPr marL="0" indent="0">
              <a:buNone/>
            </a:pPr>
            <a:r>
              <a:rPr lang="zh-CN" altLang="zh-CN" dirty="0"/>
              <a:t> </a:t>
            </a:r>
            <a:endParaRPr kumimoji="1" lang="zh-CN" altLang="en-US" dirty="0"/>
          </a:p>
        </p:txBody>
      </p:sp>
      <p:sp>
        <p:nvSpPr>
          <p:cNvPr id="4" name="页脚占位符 3">
            <a:extLst>
              <a:ext uri="{FF2B5EF4-FFF2-40B4-BE49-F238E27FC236}">
                <a16:creationId xmlns:a16="http://schemas.microsoft.com/office/drawing/2014/main" id="{DF2A56CA-7FD4-1877-9901-F5CAF8BB6DC3}"/>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25427262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831E8EA-367E-8DE8-1E7C-0DF9B10D8271}"/>
              </a:ext>
            </a:extLst>
          </p:cNvPr>
          <p:cNvSpPr>
            <a:spLocks noGrp="1"/>
          </p:cNvSpPr>
          <p:nvPr>
            <p:ph type="sldNum" sz="quarter" idx="10"/>
          </p:nvPr>
        </p:nvSpPr>
        <p:spPr/>
        <p:txBody>
          <a:bodyPr/>
          <a:lstStyle/>
          <a:p>
            <a:fld id="{87BBDC00-B9E2-4EFD-9306-2934E87247C6}" type="slidenum">
              <a:rPr lang="zh-CN" altLang="en-US" smtClean="0"/>
              <a:pPr/>
              <a:t>88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HyperLogLog</a:t>
            </a:r>
            <a:r>
              <a:rPr lang="zh-CN" altLang="en-US" dirty="0"/>
              <a:t>算法</a:t>
            </a:r>
            <a:endParaRPr kumimoji="1" lang="zh-CN" altLang="en-US" dirty="0"/>
          </a:p>
        </p:txBody>
      </p:sp>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37851" y="1134000"/>
            <a:ext cx="10533237" cy="5005387"/>
          </a:xfrm>
        </p:spPr>
        <p:txBody>
          <a:bodyPr/>
          <a:lstStyle/>
          <a:p>
            <a:pPr>
              <a:lnSpc>
                <a:spcPct val="150000"/>
              </a:lnSpc>
              <a:spcBef>
                <a:spcPts val="0"/>
              </a:spcBef>
              <a:buFont typeface="Wingdings" panose="05000000000000000000" pitchFamily="2" charset="2"/>
              <a:buChar char="Ø"/>
            </a:pPr>
            <a:r>
              <a:rPr lang="zh-CN" altLang="en-US" sz="2200" b="1" dirty="0"/>
              <a:t>核心思想：假设我们有一个</a:t>
            </a:r>
            <a:r>
              <a:rPr lang="zh-CN" altLang="en-US" sz="2200" b="1" dirty="0">
                <a:solidFill>
                  <a:srgbClr val="701988"/>
                </a:solidFill>
              </a:rPr>
              <a:t>完美</a:t>
            </a:r>
            <a:r>
              <a:rPr lang="zh-CN" altLang="en-US" sz="2200" b="1" dirty="0"/>
              <a:t>的哈希函数</a:t>
            </a:r>
            <a:r>
              <a:rPr lang="en-US" altLang="zh-CN" sz="2200" b="1" dirty="0"/>
              <a:t>h</a:t>
            </a:r>
            <a:r>
              <a:rPr lang="zh-CN" altLang="en-US" sz="2200" b="1" dirty="0"/>
              <a:t>，以</a:t>
            </a:r>
            <a:r>
              <a:rPr lang="en-US" altLang="zh-CN" sz="2200" b="1" dirty="0"/>
              <a:t>[1,r]</a:t>
            </a:r>
            <a:r>
              <a:rPr lang="zh-CN" altLang="en-US" sz="2200" b="1" dirty="0"/>
              <a:t>的整数位输入，输出一个</a:t>
            </a:r>
            <a:r>
              <a:rPr lang="en-US" altLang="zh-CN" sz="2200" b="1" dirty="0"/>
              <a:t>[0,n]</a:t>
            </a:r>
            <a:r>
              <a:rPr lang="zh-CN" altLang="en-US" sz="2200" b="1" dirty="0"/>
              <a:t>之间整数形式的哈希值</a:t>
            </a:r>
            <a:endParaRPr lang="en-US" altLang="zh-CN" sz="2200" b="1" dirty="0"/>
          </a:p>
          <a:p>
            <a:pPr lvl="1">
              <a:lnSpc>
                <a:spcPct val="150000"/>
              </a:lnSpc>
              <a:spcBef>
                <a:spcPts val="0"/>
              </a:spcBef>
              <a:buFont typeface="Arial" panose="020B0604020202020204" pitchFamily="34" charset="0"/>
              <a:buChar char="•"/>
            </a:pPr>
            <a:r>
              <a:rPr lang="zh-CN" altLang="en-US" dirty="0"/>
              <a:t>“</a:t>
            </a:r>
            <a:r>
              <a:rPr lang="zh-CN" altLang="en-US" b="1" dirty="0">
                <a:solidFill>
                  <a:srgbClr val="701988"/>
                </a:solidFill>
              </a:rPr>
              <a:t>完美</a:t>
            </a:r>
            <a:r>
              <a:rPr lang="zh-CN" altLang="en-US" dirty="0"/>
              <a:t>”指：</a:t>
            </a:r>
            <a:r>
              <a:rPr lang="en-US" altLang="zh-CN" dirty="0"/>
              <a:t>[1,r]</a:t>
            </a:r>
            <a:r>
              <a:rPr lang="zh-CN" altLang="en-US" dirty="0"/>
              <a:t>的输入对应的哈希值为</a:t>
            </a:r>
            <a:r>
              <a:rPr lang="en-US" altLang="zh-CN" dirty="0"/>
              <a:t>[0,n]</a:t>
            </a:r>
            <a:r>
              <a:rPr lang="zh-CN" altLang="en-US" dirty="0"/>
              <a:t>的均匀分布</a:t>
            </a:r>
            <a:endParaRPr lang="en-US" altLang="zh-CN" dirty="0"/>
          </a:p>
          <a:p>
            <a:pPr>
              <a:lnSpc>
                <a:spcPct val="150000"/>
              </a:lnSpc>
              <a:spcBef>
                <a:spcPts val="0"/>
              </a:spcBef>
              <a:buFont typeface="Wingdings" panose="05000000000000000000" pitchFamily="2" charset="2"/>
              <a:buChar char="Ø"/>
            </a:pPr>
            <a:r>
              <a:rPr lang="zh-CN" altLang="en-US" sz="2200" b="1" dirty="0"/>
              <a:t>二进制形式下，哈希值后缀零个数的期望概率为：</a:t>
            </a:r>
            <a:endParaRPr lang="en-US" altLang="zh-CN" sz="2200" b="1" dirty="0"/>
          </a:p>
          <a:p>
            <a:pPr lvl="1">
              <a:lnSpc>
                <a:spcPct val="150000"/>
              </a:lnSpc>
              <a:spcBef>
                <a:spcPts val="0"/>
              </a:spcBef>
              <a:buFont typeface="Arial" panose="020B0604020202020204" pitchFamily="34" charset="0"/>
              <a:buChar char="•"/>
            </a:pPr>
            <a:r>
              <a:rPr lang="en-US" altLang="zh-CN" dirty="0"/>
              <a:t>1</a:t>
            </a:r>
            <a:r>
              <a:rPr lang="zh-CN" altLang="en-US" dirty="0"/>
              <a:t>个连续后缀</a:t>
            </a:r>
            <a:r>
              <a:rPr lang="en-US" altLang="zh-CN" dirty="0"/>
              <a:t>0</a:t>
            </a:r>
            <a:r>
              <a:rPr lang="zh-CN" altLang="en-US" dirty="0"/>
              <a:t>的概率：</a:t>
            </a:r>
            <a:r>
              <a:rPr lang="en-US" altLang="zh-CN" dirty="0"/>
              <a:t>1/2</a:t>
            </a:r>
          </a:p>
          <a:p>
            <a:pPr lvl="1">
              <a:lnSpc>
                <a:spcPct val="150000"/>
              </a:lnSpc>
              <a:spcBef>
                <a:spcPts val="0"/>
              </a:spcBef>
              <a:buFont typeface="Arial" panose="020B0604020202020204" pitchFamily="34" charset="0"/>
              <a:buChar char="•"/>
            </a:pPr>
            <a:r>
              <a:rPr lang="en-US" altLang="zh-CN" dirty="0"/>
              <a:t>2</a:t>
            </a:r>
            <a:r>
              <a:rPr lang="zh-CN" altLang="en-US" dirty="0"/>
              <a:t>个连续后缀</a:t>
            </a:r>
            <a:r>
              <a:rPr lang="en-US" altLang="zh-CN" dirty="0"/>
              <a:t>0</a:t>
            </a:r>
            <a:r>
              <a:rPr lang="zh-CN" altLang="en-US" dirty="0"/>
              <a:t>的概率：</a:t>
            </a:r>
            <a:r>
              <a:rPr lang="en-US" altLang="zh-CN" dirty="0"/>
              <a:t>1/4</a:t>
            </a:r>
          </a:p>
          <a:p>
            <a:pPr lvl="1">
              <a:lnSpc>
                <a:spcPct val="150000"/>
              </a:lnSpc>
              <a:spcBef>
                <a:spcPts val="0"/>
              </a:spcBef>
              <a:buFont typeface="Arial" panose="020B0604020202020204" pitchFamily="34" charset="0"/>
              <a:buChar char="•"/>
            </a:pPr>
            <a:r>
              <a:rPr lang="en-US" altLang="zh-CN" dirty="0"/>
              <a:t>3</a:t>
            </a:r>
            <a:r>
              <a:rPr lang="zh-CN" altLang="en-US" dirty="0"/>
              <a:t>个连续后缀</a:t>
            </a:r>
            <a:r>
              <a:rPr lang="en-US" altLang="zh-CN" dirty="0"/>
              <a:t>0</a:t>
            </a:r>
            <a:r>
              <a:rPr lang="zh-CN" altLang="en-US" dirty="0"/>
              <a:t>的概率：</a:t>
            </a:r>
            <a:r>
              <a:rPr lang="en-US" altLang="zh-CN" dirty="0"/>
              <a:t>1/8</a:t>
            </a:r>
          </a:p>
          <a:p>
            <a:pPr lvl="1">
              <a:lnSpc>
                <a:spcPct val="150000"/>
              </a:lnSpc>
              <a:spcBef>
                <a:spcPts val="0"/>
              </a:spcBef>
              <a:buFont typeface="Arial" panose="020B0604020202020204" pitchFamily="34" charset="0"/>
              <a:buChar char="•"/>
            </a:pPr>
            <a:r>
              <a:rPr lang="en-US" altLang="zh-CN" dirty="0"/>
              <a:t>4</a:t>
            </a:r>
            <a:r>
              <a:rPr lang="zh-CN" altLang="en-US" dirty="0"/>
              <a:t>个连续后缀</a:t>
            </a:r>
            <a:r>
              <a:rPr lang="en-US" altLang="zh-CN" dirty="0"/>
              <a:t>0</a:t>
            </a:r>
            <a:r>
              <a:rPr lang="zh-CN" altLang="en-US" dirty="0"/>
              <a:t>的概率：</a:t>
            </a:r>
            <a:r>
              <a:rPr lang="en-US" altLang="zh-CN" dirty="0"/>
              <a:t>1/16</a:t>
            </a:r>
          </a:p>
          <a:p>
            <a:pPr marL="422041" lvl="1" indent="0">
              <a:lnSpc>
                <a:spcPct val="150000"/>
              </a:lnSpc>
              <a:spcBef>
                <a:spcPts val="0"/>
              </a:spcBef>
              <a:buNone/>
            </a:pPr>
            <a:r>
              <a:rPr lang="en-US" altLang="zh-CN" dirty="0"/>
              <a:t>	…</a:t>
            </a:r>
          </a:p>
          <a:p>
            <a:pPr lvl="1">
              <a:lnSpc>
                <a:spcPct val="150000"/>
              </a:lnSpc>
              <a:spcBef>
                <a:spcPts val="0"/>
              </a:spcBef>
              <a:buFont typeface="Arial" panose="020B0604020202020204" pitchFamily="34" charset="0"/>
              <a:buChar char="•"/>
            </a:pPr>
            <a:r>
              <a:rPr lang="en-US" altLang="zh-CN" dirty="0"/>
              <a:t>w&lt;log n </a:t>
            </a:r>
            <a:r>
              <a:rPr lang="zh-CN" altLang="en-US" dirty="0"/>
              <a:t>个连续后缀</a:t>
            </a:r>
            <a:r>
              <a:rPr lang="en-US" altLang="zh-CN" dirty="0"/>
              <a:t>0</a:t>
            </a:r>
            <a:r>
              <a:rPr lang="zh-CN" altLang="en-US" dirty="0"/>
              <a:t>的概率 </a:t>
            </a:r>
            <a:r>
              <a:rPr lang="en-US" altLang="zh-CN" dirty="0"/>
              <a:t>1/2</a:t>
            </a:r>
            <a:r>
              <a:rPr lang="en-US" altLang="zh-CN" baseline="30000" dirty="0"/>
              <a:t>w</a:t>
            </a:r>
            <a:endParaRPr lang="en-US" altLang="zh-CN" dirty="0"/>
          </a:p>
          <a:p>
            <a:pPr lvl="1">
              <a:buFont typeface="Wingdings" pitchFamily="2" charset="2"/>
              <a:buChar char="Ø"/>
            </a:pPr>
            <a:endParaRPr lang="en-US" altLang="zh-CN" sz="2400" dirty="0"/>
          </a:p>
          <a:p>
            <a:pPr lvl="1">
              <a:buFont typeface="Wingdings" pitchFamily="2" charset="2"/>
              <a:buChar char="Ø"/>
            </a:pPr>
            <a:endParaRPr lang="en-US" altLang="zh-CN" sz="2400" dirty="0"/>
          </a:p>
          <a:p>
            <a:pPr lvl="1">
              <a:buFont typeface="Wingdings" pitchFamily="2" charset="2"/>
              <a:buChar char="Ø"/>
            </a:pPr>
            <a:endParaRPr lang="en-US" altLang="zh-CN" sz="2400" dirty="0"/>
          </a:p>
          <a:p>
            <a:pPr>
              <a:buFont typeface="Wingdings" pitchFamily="2" charset="2"/>
              <a:buChar char="p"/>
            </a:pPr>
            <a:endParaRPr lang="en-US" altLang="zh-CN" dirty="0"/>
          </a:p>
          <a:p>
            <a:pPr lvl="1">
              <a:buFont typeface="Wingdings" pitchFamily="2" charset="2"/>
              <a:buChar char="p"/>
            </a:pPr>
            <a:endParaRPr lang="en-US" altLang="zh-CN" sz="2400" dirty="0"/>
          </a:p>
          <a:p>
            <a:pPr marL="0" indent="0">
              <a:buNone/>
            </a:pPr>
            <a:r>
              <a:rPr lang="zh-CN" altLang="zh-CN" dirty="0"/>
              <a:t> </a:t>
            </a:r>
            <a:endParaRPr kumimoji="1" lang="zh-CN" altLang="en-US" dirty="0"/>
          </a:p>
        </p:txBody>
      </p:sp>
      <p:sp>
        <p:nvSpPr>
          <p:cNvPr id="5" name="页脚占位符 4">
            <a:extLst>
              <a:ext uri="{FF2B5EF4-FFF2-40B4-BE49-F238E27FC236}">
                <a16:creationId xmlns:a16="http://schemas.microsoft.com/office/drawing/2014/main" id="{C52DF6E1-3E21-AB03-CF12-4C2F2735C933}"/>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0ED9851C-747A-F637-33C8-FD515F81B0BD}"/>
              </a:ext>
            </a:extLst>
          </p:cNvPr>
          <p:cNvPicPr>
            <a:picLocks noChangeAspect="1"/>
          </p:cNvPicPr>
          <p:nvPr/>
        </p:nvPicPr>
        <p:blipFill>
          <a:blip r:embed="rId3"/>
          <a:stretch>
            <a:fillRect/>
          </a:stretch>
        </p:blipFill>
        <p:spPr>
          <a:xfrm>
            <a:off x="7050596" y="3751730"/>
            <a:ext cx="2857500" cy="1905000"/>
          </a:xfrm>
          <a:prstGeom prst="rect">
            <a:avLst/>
          </a:prstGeom>
        </p:spPr>
      </p:pic>
    </p:spTree>
    <p:extLst>
      <p:ext uri="{BB962C8B-B14F-4D97-AF65-F5344CB8AC3E}">
        <p14:creationId xmlns:p14="http://schemas.microsoft.com/office/powerpoint/2010/main" val="17347442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EED26D2E-7A3F-4F10-BD9D-CEBB2C6CD655}"/>
              </a:ext>
            </a:extLst>
          </p:cNvPr>
          <p:cNvSpPr/>
          <p:nvPr/>
        </p:nvSpPr>
        <p:spPr>
          <a:xfrm>
            <a:off x="6270171" y="1468521"/>
            <a:ext cx="4871277" cy="216843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B820515D-BEDD-97EB-9F52-87F183D7D0CF}"/>
              </a:ext>
            </a:extLst>
          </p:cNvPr>
          <p:cNvSpPr>
            <a:spLocks noGrp="1"/>
          </p:cNvSpPr>
          <p:nvPr>
            <p:ph type="sldNum" sz="quarter" idx="10"/>
          </p:nvPr>
        </p:nvSpPr>
        <p:spPr/>
        <p:txBody>
          <a:bodyPr/>
          <a:lstStyle/>
          <a:p>
            <a:fld id="{87BBDC00-B9E2-4EFD-9306-2934E87247C6}" type="slidenum">
              <a:rPr lang="zh-CN" altLang="en-US" smtClean="0"/>
              <a:pPr/>
              <a:t>89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HyperLogLog</a:t>
            </a:r>
            <a:r>
              <a:rPr lang="zh-CN" altLang="en-US" dirty="0"/>
              <a:t>算法</a:t>
            </a:r>
            <a:endParaRPr kumimoji="1" lang="zh-CN" altLang="en-US"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444501" y="1280457"/>
                <a:ext cx="5651499" cy="5005387"/>
              </a:xfrm>
            </p:spPr>
            <p:txBody>
              <a:bodyPr/>
              <a:lstStyle/>
              <a:p>
                <a:pPr>
                  <a:lnSpc>
                    <a:spcPct val="150000"/>
                  </a:lnSpc>
                  <a:buFont typeface="Wingdings" panose="05000000000000000000" pitchFamily="2" charset="2"/>
                  <a:buChar char="Ø"/>
                </a:pPr>
                <a:r>
                  <a:rPr lang="zh-CN" altLang="zh-CN" sz="2200" dirty="0"/>
                  <a:t>用</a:t>
                </a:r>
                <a14:m>
                  <m:oMath xmlns:m="http://schemas.openxmlformats.org/officeDocument/2006/math">
                    <m:r>
                      <a:rPr lang="en-US" altLang="zh-CN" sz="2200" b="0" i="1">
                        <a:latin typeface="Cambria Math" panose="02040503050406030204" pitchFamily="18" charset="0"/>
                      </a:rPr>
                      <m:t>𝑓</m:t>
                    </m:r>
                    <m:d>
                      <m:dPr>
                        <m:ctrlPr>
                          <a:rPr lang="zh-CN" altLang="zh-CN" sz="2200" i="1">
                            <a:latin typeface="Cambria Math" panose="02040503050406030204" pitchFamily="18" charset="0"/>
                          </a:rPr>
                        </m:ctrlPr>
                      </m:dPr>
                      <m:e>
                        <m:r>
                          <a:rPr lang="en-US" altLang="zh-CN" sz="2200" b="0" i="1">
                            <a:latin typeface="Cambria Math" panose="02040503050406030204" pitchFamily="18" charset="0"/>
                          </a:rPr>
                          <m:t>𝑥</m:t>
                        </m:r>
                      </m:e>
                    </m:d>
                  </m:oMath>
                </a14:m>
                <a:r>
                  <a:rPr lang="zh-CN" altLang="zh-CN" sz="2200" dirty="0"/>
                  <a:t>表示</a:t>
                </a:r>
                <a14:m>
                  <m:oMath xmlns:m="http://schemas.openxmlformats.org/officeDocument/2006/math">
                    <m:r>
                      <a:rPr lang="en-US" altLang="zh-CN" sz="2200" b="0" i="1">
                        <a:latin typeface="Cambria Math" panose="02040503050406030204" pitchFamily="18" charset="0"/>
                      </a:rPr>
                      <m:t>𝑥</m:t>
                    </m:r>
                  </m:oMath>
                </a14:m>
                <a:r>
                  <a:rPr lang="zh-CN" altLang="zh-CN" sz="2200" dirty="0"/>
                  <a:t>在二进制下后缀中第一个</a:t>
                </a:r>
                <a:r>
                  <a:rPr lang="en-US" altLang="zh-CN" sz="2200" dirty="0"/>
                  <a:t>1</a:t>
                </a:r>
                <a:r>
                  <a:rPr lang="zh-CN" altLang="zh-CN" sz="2200" dirty="0"/>
                  <a:t>出现的位置</a:t>
                </a:r>
                <a:endParaRPr lang="en-US" altLang="zh-CN" sz="2200" dirty="0"/>
              </a:p>
              <a:p>
                <a:pPr>
                  <a:lnSpc>
                    <a:spcPct val="150000"/>
                  </a:lnSpc>
                  <a:buFont typeface="Wingdings" panose="05000000000000000000" pitchFamily="2" charset="2"/>
                  <a:buChar char="Ø"/>
                </a:pPr>
                <a:r>
                  <a:rPr lang="zh-CN" altLang="zh-CN" sz="2200" dirty="0"/>
                  <a:t>对于经过哈希后均匀分布的随机数集</a:t>
                </a:r>
                <a14:m>
                  <m:oMath xmlns:m="http://schemas.openxmlformats.org/officeDocument/2006/math">
                    <m:r>
                      <a:rPr lang="en-US" altLang="zh-CN" sz="2200" b="0" i="1">
                        <a:latin typeface="Cambria Math" panose="02040503050406030204" pitchFamily="18" charset="0"/>
                      </a:rPr>
                      <m:t>𝑆</m:t>
                    </m:r>
                  </m:oMath>
                </a14:m>
                <a:r>
                  <a:rPr lang="zh-CN" altLang="zh-CN" sz="2200" dirty="0"/>
                  <a:t>，考虑</a:t>
                </a:r>
                <a14:m>
                  <m:oMath xmlns:m="http://schemas.openxmlformats.org/officeDocument/2006/math">
                    <m:r>
                      <a:rPr lang="en-US" altLang="zh-CN" sz="2200" b="0" i="1">
                        <a:latin typeface="Cambria Math" panose="02040503050406030204" pitchFamily="18" charset="0"/>
                      </a:rPr>
                      <m:t>𝑆</m:t>
                    </m:r>
                  </m:oMath>
                </a14:m>
                <a:r>
                  <a:rPr lang="zh-CN" altLang="zh-CN" sz="2200" dirty="0"/>
                  <a:t>中所有数字的二进制表示，定义</a:t>
                </a:r>
                <a14:m>
                  <m:oMath xmlns:m="http://schemas.openxmlformats.org/officeDocument/2006/math">
                    <m:r>
                      <a:rPr lang="en-US" altLang="zh-CN" sz="2200" b="0" i="1">
                        <a:latin typeface="Cambria Math" panose="02040503050406030204" pitchFamily="18" charset="0"/>
                      </a:rPr>
                      <m:t>𝑘</m:t>
                    </m:r>
                    <m:r>
                      <a:rPr lang="en-US" altLang="zh-CN" sz="2200" b="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b="0" i="1">
                            <a:latin typeface="Cambria Math" panose="02040503050406030204" pitchFamily="18" charset="0"/>
                          </a:rPr>
                          <m:t>𝑚𝑎𝑥</m:t>
                        </m:r>
                      </m:e>
                      <m:sub>
                        <m:r>
                          <a:rPr lang="en-US" altLang="zh-CN" sz="2200" b="0" i="1">
                            <a:latin typeface="Cambria Math" panose="02040503050406030204" pitchFamily="18" charset="0"/>
                          </a:rPr>
                          <m:t>𝑎</m:t>
                        </m:r>
                        <m:r>
                          <a:rPr lang="en-US" altLang="zh-CN" sz="2200" b="0">
                            <a:latin typeface="Cambria Math" panose="02040503050406030204" pitchFamily="18" charset="0"/>
                          </a:rPr>
                          <m:t>∈</m:t>
                        </m:r>
                        <m:r>
                          <a:rPr lang="en-US" altLang="zh-CN" sz="2200" b="0" i="1">
                            <a:latin typeface="Cambria Math" panose="02040503050406030204" pitchFamily="18" charset="0"/>
                          </a:rPr>
                          <m:t>𝑆</m:t>
                        </m:r>
                      </m:sub>
                    </m:sSub>
                    <m:d>
                      <m:dPr>
                        <m:ctrlPr>
                          <a:rPr lang="zh-CN" altLang="zh-CN" sz="2200" i="1">
                            <a:latin typeface="Cambria Math" panose="02040503050406030204" pitchFamily="18" charset="0"/>
                          </a:rPr>
                        </m:ctrlPr>
                      </m:dPr>
                      <m:e>
                        <m:r>
                          <a:rPr lang="en-US" altLang="zh-CN" sz="2200" b="0" i="1">
                            <a:latin typeface="Cambria Math" panose="02040503050406030204" pitchFamily="18" charset="0"/>
                          </a:rPr>
                          <m:t>𝑓</m:t>
                        </m:r>
                        <m:d>
                          <m:dPr>
                            <m:ctrlPr>
                              <a:rPr lang="zh-CN" altLang="zh-CN" sz="2200" i="1">
                                <a:latin typeface="Cambria Math" panose="02040503050406030204" pitchFamily="18" charset="0"/>
                              </a:rPr>
                            </m:ctrlPr>
                          </m:dPr>
                          <m:e>
                            <m:r>
                              <a:rPr lang="en-US" altLang="zh-CN" sz="2200" b="0" i="1">
                                <a:latin typeface="Cambria Math" panose="02040503050406030204" pitchFamily="18" charset="0"/>
                              </a:rPr>
                              <m:t>𝑎</m:t>
                            </m:r>
                          </m:e>
                        </m:d>
                      </m:e>
                    </m:d>
                  </m:oMath>
                </a14:m>
                <a:r>
                  <a:rPr lang="zh-CN" altLang="zh-CN" sz="2200" dirty="0"/>
                  <a:t> </a:t>
                </a:r>
                <a:endParaRPr lang="en-US" altLang="zh-CN" sz="2200" dirty="0"/>
              </a:p>
              <a:p>
                <a:pPr>
                  <a:lnSpc>
                    <a:spcPct val="150000"/>
                  </a:lnSpc>
                  <a:buFont typeface="Wingdings" panose="05000000000000000000" pitchFamily="2" charset="2"/>
                  <a:buChar char="Ø"/>
                </a:pPr>
                <a:r>
                  <a:rPr lang="zh-CN" altLang="zh-CN" sz="2200" dirty="0"/>
                  <a:t>对于</a:t>
                </a:r>
                <a14:m>
                  <m:oMath xmlns:m="http://schemas.openxmlformats.org/officeDocument/2006/math">
                    <m:sSub>
                      <m:sSubPr>
                        <m:ctrlPr>
                          <a:rPr lang="zh-CN" altLang="zh-CN" sz="2200" i="1">
                            <a:latin typeface="Cambria Math" panose="02040503050406030204" pitchFamily="18" charset="0"/>
                          </a:rPr>
                        </m:ctrlPr>
                      </m:sSubPr>
                      <m:e>
                        <m:r>
                          <a:rPr lang="en-US" altLang="zh-CN" sz="2200" b="0" i="1">
                            <a:latin typeface="Cambria Math" panose="02040503050406030204" pitchFamily="18" charset="0"/>
                          </a:rPr>
                          <m:t>𝑚𝑎𝑥</m:t>
                        </m:r>
                      </m:e>
                      <m:sub>
                        <m:r>
                          <a:rPr lang="en-US" altLang="zh-CN" sz="2200" b="0" i="1">
                            <a:latin typeface="Cambria Math" panose="02040503050406030204" pitchFamily="18" charset="0"/>
                          </a:rPr>
                          <m:t>𝑎</m:t>
                        </m:r>
                        <m:r>
                          <a:rPr lang="en-US" altLang="zh-CN" sz="2200" b="0">
                            <a:latin typeface="Cambria Math" panose="02040503050406030204" pitchFamily="18" charset="0"/>
                          </a:rPr>
                          <m:t>∈</m:t>
                        </m:r>
                        <m:r>
                          <a:rPr lang="en-US" altLang="zh-CN" sz="2200" b="0" i="1">
                            <a:latin typeface="Cambria Math" panose="02040503050406030204" pitchFamily="18" charset="0"/>
                          </a:rPr>
                          <m:t>𝑆</m:t>
                        </m:r>
                      </m:sub>
                    </m:sSub>
                    <m:d>
                      <m:dPr>
                        <m:ctrlPr>
                          <a:rPr lang="zh-CN" altLang="zh-CN" sz="2200" i="1">
                            <a:latin typeface="Cambria Math" panose="02040503050406030204" pitchFamily="18" charset="0"/>
                          </a:rPr>
                        </m:ctrlPr>
                      </m:dPr>
                      <m:e>
                        <m:r>
                          <a:rPr lang="en-US" altLang="zh-CN" sz="2200" b="0" i="1">
                            <a:latin typeface="Cambria Math" panose="02040503050406030204" pitchFamily="18" charset="0"/>
                          </a:rPr>
                          <m:t>𝑓</m:t>
                        </m:r>
                        <m:d>
                          <m:dPr>
                            <m:ctrlPr>
                              <a:rPr lang="zh-CN" altLang="zh-CN" sz="2200" i="1">
                                <a:latin typeface="Cambria Math" panose="02040503050406030204" pitchFamily="18" charset="0"/>
                              </a:rPr>
                            </m:ctrlPr>
                          </m:dPr>
                          <m:e>
                            <m:r>
                              <a:rPr lang="en-US" altLang="zh-CN" sz="2200" b="0" i="1">
                                <a:latin typeface="Cambria Math" panose="02040503050406030204" pitchFamily="18" charset="0"/>
                              </a:rPr>
                              <m:t>𝑎</m:t>
                            </m:r>
                          </m:e>
                        </m:d>
                      </m:e>
                    </m:d>
                    <m:r>
                      <a:rPr lang="en-US" altLang="zh-CN" sz="2200" b="0">
                        <a:latin typeface="Cambria Math" panose="02040503050406030204" pitchFamily="18" charset="0"/>
                      </a:rPr>
                      <m:t>=</m:t>
                    </m:r>
                    <m:r>
                      <a:rPr lang="en-US" altLang="zh-CN" sz="2200" b="0" i="1">
                        <a:latin typeface="Cambria Math" panose="02040503050406030204" pitchFamily="18" charset="0"/>
                      </a:rPr>
                      <m:t>𝑘</m:t>
                    </m:r>
                  </m:oMath>
                </a14:m>
                <a:r>
                  <a:rPr lang="zh-CN" altLang="zh-CN" sz="2200" dirty="0"/>
                  <a:t>的数组</a:t>
                </a:r>
                <a14:m>
                  <m:oMath xmlns:m="http://schemas.openxmlformats.org/officeDocument/2006/math">
                    <m:r>
                      <a:rPr lang="en-US" altLang="zh-CN" sz="2200" b="0" i="1">
                        <a:latin typeface="Cambria Math" panose="02040503050406030204" pitchFamily="18" charset="0"/>
                      </a:rPr>
                      <m:t>𝑆</m:t>
                    </m:r>
                  </m:oMath>
                </a14:m>
                <a:r>
                  <a:rPr lang="zh-CN" altLang="zh-CN" sz="2200" dirty="0"/>
                  <a:t>，其基数的期望为</a:t>
                </a:r>
                <a14:m>
                  <m:oMath xmlns:m="http://schemas.openxmlformats.org/officeDocument/2006/math">
                    <m:sSup>
                      <m:sSupPr>
                        <m:ctrlPr>
                          <a:rPr lang="zh-CN" altLang="zh-CN" sz="2200" i="1" smtClean="0">
                            <a:solidFill>
                              <a:srgbClr val="701988"/>
                            </a:solidFill>
                            <a:latin typeface="Cambria Math" panose="02040503050406030204" pitchFamily="18" charset="0"/>
                          </a:rPr>
                        </m:ctrlPr>
                      </m:sSupPr>
                      <m:e>
                        <m:r>
                          <a:rPr lang="en-US" altLang="zh-CN" sz="2200" b="0" i="1">
                            <a:solidFill>
                              <a:srgbClr val="701988"/>
                            </a:solidFill>
                            <a:latin typeface="Cambria Math" panose="02040503050406030204" pitchFamily="18" charset="0"/>
                          </a:rPr>
                          <m:t>2</m:t>
                        </m:r>
                      </m:e>
                      <m:sup>
                        <m:r>
                          <a:rPr lang="en-US" altLang="zh-CN" sz="2200" b="0" i="1">
                            <a:solidFill>
                              <a:srgbClr val="701988"/>
                            </a:solidFill>
                            <a:latin typeface="Cambria Math" panose="02040503050406030204" pitchFamily="18" charset="0"/>
                          </a:rPr>
                          <m:t>𝑘</m:t>
                        </m:r>
                      </m:sup>
                    </m:sSup>
                  </m:oMath>
                </a14:m>
                <a:endParaRPr lang="en-US" altLang="zh-CN" sz="2200" dirty="0"/>
              </a:p>
              <a:p>
                <a:pPr lvl="1">
                  <a:lnSpc>
                    <a:spcPct val="150000"/>
                  </a:lnSpc>
                  <a:buFont typeface="Arial" panose="020B0604020202020204" pitchFamily="34" charset="0"/>
                  <a:buChar char="•"/>
                </a:pPr>
                <a:r>
                  <a:rPr lang="zh-CN" altLang="en-US" sz="2200" dirty="0"/>
                  <a:t>所有数据放在一起，估计值</a:t>
                </a:r>
                <a:r>
                  <a:rPr lang="zh-CN" altLang="en-US" sz="2200" dirty="0">
                    <a:solidFill>
                      <a:srgbClr val="701988"/>
                    </a:solidFill>
                  </a:rPr>
                  <a:t>误差大</a:t>
                </a:r>
                <a:endParaRPr lang="en-US" altLang="zh-CN" sz="2200" dirty="0">
                  <a:solidFill>
                    <a:srgbClr val="701988"/>
                  </a:solidFill>
                </a:endParaRPr>
              </a:p>
              <a:p>
                <a:pPr>
                  <a:buFont typeface="Wingdings" pitchFamily="2" charset="2"/>
                  <a:buChar char="p"/>
                </a:pPr>
                <a:endParaRPr lang="en-US" altLang="zh-CN" dirty="0"/>
              </a:p>
              <a:p>
                <a:pPr lvl="1">
                  <a:buFont typeface="Wingdings" pitchFamily="2" charset="2"/>
                  <a:buChar char="p"/>
                </a:pPr>
                <a:endParaRPr lang="en-US" altLang="zh-CN" sz="2400" dirty="0"/>
              </a:p>
              <a:p>
                <a:pPr marL="0" indent="0">
                  <a:buNone/>
                </a:pPr>
                <a:r>
                  <a:rPr lang="zh-CN" altLang="zh-CN" dirty="0"/>
                  <a:t> </a:t>
                </a:r>
                <a:endParaRPr kumimoji="1" lang="zh-CN" altLang="en-US" dirty="0"/>
              </a:p>
            </p:txBody>
          </p:sp>
        </mc:Choice>
        <mc:Fallback xmlns="">
          <p:sp>
            <p:nvSpPr>
              <p:cNvPr id="6" name="内容占位符 2">
                <a:extLst>
                  <a:ext uri="{FF2B5EF4-FFF2-40B4-BE49-F238E27FC236}">
                    <a16:creationId xmlns:a16="http://schemas.microsoft.com/office/drawing/2014/main" id="{7EA54C3D-4D1D-DC4E-5A95-6E41FA08A00D}"/>
                  </a:ext>
                </a:extLst>
              </p:cNvPr>
              <p:cNvSpPr>
                <a:spLocks noGrp="1" noRot="1" noChangeAspect="1" noMove="1" noResize="1" noEditPoints="1" noAdjustHandles="1" noChangeArrowheads="1" noChangeShapeType="1" noTextEdit="1"/>
              </p:cNvSpPr>
              <p:nvPr>
                <p:ph idx="1"/>
              </p:nvPr>
            </p:nvSpPr>
            <p:spPr>
              <a:xfrm>
                <a:off x="444501" y="1280457"/>
                <a:ext cx="5651499" cy="5005387"/>
              </a:xfrm>
              <a:blipFill>
                <a:blip r:embed="rId3"/>
                <a:stretch>
                  <a:fillRect l="-134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6F01FC01-38FA-1802-DB68-CB45222ECCE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5" name="内容占位符 6">
            <a:extLst>
              <a:ext uri="{FF2B5EF4-FFF2-40B4-BE49-F238E27FC236}">
                <a16:creationId xmlns:a16="http://schemas.microsoft.com/office/drawing/2014/main" id="{0CB1FBEE-02C5-201D-B9ED-3190774308BB}"/>
              </a:ext>
            </a:extLst>
          </p:cNvPr>
          <p:cNvPicPr>
            <a:picLocks noChangeAspect="1"/>
          </p:cNvPicPr>
          <p:nvPr/>
        </p:nvPicPr>
        <p:blipFill>
          <a:blip r:embed="rId4"/>
          <a:srcRect/>
          <a:stretch/>
        </p:blipFill>
        <p:spPr bwMode="auto">
          <a:xfrm>
            <a:off x="6668255" y="1585681"/>
            <a:ext cx="4016073" cy="19607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5D368450-C094-3E7E-57EE-9A56834DC3BC}"/>
              </a:ext>
            </a:extLst>
          </p:cNvPr>
          <p:cNvSpPr txBox="1">
            <a:spLocks/>
          </p:cNvSpPr>
          <p:nvPr/>
        </p:nvSpPr>
        <p:spPr bwMode="auto">
          <a:xfrm>
            <a:off x="7527206" y="3963109"/>
            <a:ext cx="3835481" cy="1235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itchFamily="2" charset="2"/>
              <a:buChar char="p"/>
            </a:pPr>
            <a:r>
              <a:rPr lang="zh-CN" altLang="en-US" sz="2400" b="1" kern="0" dirty="0">
                <a:latin typeface="+mj-ea"/>
                <a:ea typeface="+mj-ea"/>
              </a:rPr>
              <a:t>实际基数：</a:t>
            </a:r>
            <a:r>
              <a:rPr lang="en-US" altLang="zh-CN" sz="2400" b="1" kern="0" dirty="0">
                <a:latin typeface="+mj-ea"/>
                <a:ea typeface="+mj-ea"/>
              </a:rPr>
              <a:t>3</a:t>
            </a:r>
          </a:p>
          <a:p>
            <a:pPr>
              <a:buFont typeface="Wingdings" pitchFamily="2" charset="2"/>
              <a:buChar char="p"/>
            </a:pPr>
            <a:r>
              <a:rPr lang="zh-CN" altLang="en-US" sz="2400" b="1" kern="0" dirty="0">
                <a:latin typeface="+mj-ea"/>
                <a:ea typeface="+mj-ea"/>
              </a:rPr>
              <a:t>估计基数：</a:t>
            </a:r>
            <a:r>
              <a:rPr lang="en-US" altLang="zh-CN" sz="2400" b="1" kern="0" dirty="0">
                <a:solidFill>
                  <a:srgbClr val="0432FF"/>
                </a:solidFill>
                <a:latin typeface="+mj-ea"/>
                <a:ea typeface="+mj-ea"/>
              </a:rPr>
              <a:t>8</a:t>
            </a:r>
            <a:endParaRPr lang="zh-CN" altLang="en-US" sz="2400" b="1" kern="0" dirty="0">
              <a:solidFill>
                <a:srgbClr val="0432FF"/>
              </a:solidFill>
              <a:latin typeface="+mj-ea"/>
              <a:ea typeface="+mj-ea"/>
            </a:endParaRPr>
          </a:p>
        </p:txBody>
      </p:sp>
      <p:sp>
        <p:nvSpPr>
          <p:cNvPr id="8" name="文本框 7">
            <a:extLst>
              <a:ext uri="{FF2B5EF4-FFF2-40B4-BE49-F238E27FC236}">
                <a16:creationId xmlns:a16="http://schemas.microsoft.com/office/drawing/2014/main" id="{E4011104-1A16-0BC4-2E40-8DD8BDEEFE19}"/>
              </a:ext>
            </a:extLst>
          </p:cNvPr>
          <p:cNvSpPr txBox="1"/>
          <p:nvPr/>
        </p:nvSpPr>
        <p:spPr>
          <a:xfrm>
            <a:off x="6372156" y="5187115"/>
            <a:ext cx="4685545" cy="4616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en-US" sz="2200" dirty="0">
                <a:latin typeface="+mj-ea"/>
                <a:ea typeface="+mj-ea"/>
              </a:rPr>
              <a:t>计算</a:t>
            </a:r>
            <a:r>
              <a:rPr lang="zh-CN" altLang="en-US" sz="2200" b="1" dirty="0">
                <a:solidFill>
                  <a:srgbClr val="701988"/>
                </a:solidFill>
                <a:latin typeface="+mj-ea"/>
                <a:ea typeface="+mj-ea"/>
              </a:rPr>
              <a:t>全局的</a:t>
            </a:r>
            <a:r>
              <a:rPr lang="en-US" altLang="zh-CN" sz="2200" b="1" dirty="0">
                <a:solidFill>
                  <a:srgbClr val="701988"/>
                </a:solidFill>
                <a:latin typeface="+mj-ea"/>
                <a:ea typeface="+mj-ea"/>
              </a:rPr>
              <a:t>k</a:t>
            </a:r>
            <a:r>
              <a:rPr lang="zh-CN" altLang="en-US" sz="2200" b="1" dirty="0">
                <a:solidFill>
                  <a:srgbClr val="701988"/>
                </a:solidFill>
                <a:latin typeface="+mj-ea"/>
                <a:ea typeface="+mj-ea"/>
              </a:rPr>
              <a:t>，误差很大</a:t>
            </a:r>
            <a:r>
              <a:rPr lang="zh-CN" altLang="en-US" sz="2400" dirty="0">
                <a:solidFill>
                  <a:srgbClr val="701988"/>
                </a:solidFill>
                <a:latin typeface="+mj-ea"/>
                <a:ea typeface="+mj-ea"/>
              </a:rPr>
              <a:t>！</a:t>
            </a:r>
          </a:p>
        </p:txBody>
      </p:sp>
    </p:spTree>
    <p:extLst>
      <p:ext uri="{BB962C8B-B14F-4D97-AF65-F5344CB8AC3E}">
        <p14:creationId xmlns:p14="http://schemas.microsoft.com/office/powerpoint/2010/main" val="37884996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252DFE-E610-EF6C-66FD-6B5CBDBDA5C7}"/>
              </a:ext>
            </a:extLst>
          </p:cNvPr>
          <p:cNvSpPr>
            <a:spLocks noGrp="1"/>
          </p:cNvSpPr>
          <p:nvPr>
            <p:ph type="sldNum" sz="quarter" idx="10"/>
          </p:nvPr>
        </p:nvSpPr>
        <p:spPr/>
        <p:txBody>
          <a:bodyPr/>
          <a:lstStyle/>
          <a:p>
            <a:fld id="{87BBDC00-B9E2-4EFD-9306-2934E87247C6}" type="slidenum">
              <a:rPr lang="zh-CN" altLang="en-US" smtClean="0"/>
              <a:pPr/>
              <a:t>90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HyperLogLog</a:t>
            </a:r>
            <a:r>
              <a:rPr lang="zh-CN" altLang="en-US" dirty="0"/>
              <a:t>算法</a:t>
            </a:r>
            <a:endParaRPr kumimoji="1" lang="zh-CN" altLang="en-US"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7EA54C3D-4D1D-DC4E-5A95-6E41FA08A00D}"/>
                  </a:ext>
                </a:extLst>
              </p:cNvPr>
              <p:cNvSpPr>
                <a:spLocks noGrp="1"/>
              </p:cNvSpPr>
              <p:nvPr>
                <p:ph idx="1"/>
              </p:nvPr>
            </p:nvSpPr>
            <p:spPr>
              <a:xfrm>
                <a:off x="1008000" y="1300972"/>
                <a:ext cx="10874188" cy="5005387"/>
              </a:xfrm>
            </p:spPr>
            <p:txBody>
              <a:bodyPr/>
              <a:lstStyle/>
              <a:p>
                <a:pPr>
                  <a:buFont typeface="Wingdings" panose="05000000000000000000" pitchFamily="2" charset="2"/>
                  <a:buChar char="Ø"/>
                </a:pPr>
                <a:r>
                  <a:rPr lang="zh-CN" altLang="en-US" b="1" dirty="0"/>
                  <a:t>改进：将数据按照哈希值放入</a:t>
                </a:r>
                <a:r>
                  <a:rPr lang="en-US" altLang="zh-CN" b="1" dirty="0">
                    <a:solidFill>
                      <a:srgbClr val="701988"/>
                    </a:solidFill>
                  </a:rPr>
                  <a:t>m</a:t>
                </a:r>
                <a:r>
                  <a:rPr lang="zh-CN" altLang="en-US" b="1" dirty="0"/>
                  <a:t>个（默认</a:t>
                </a:r>
                <a:r>
                  <a:rPr lang="en-US" altLang="zh-CN" b="1" dirty="0"/>
                  <a:t>16384</a:t>
                </a:r>
                <a:r>
                  <a:rPr lang="zh-CN" altLang="en-US" b="1" dirty="0"/>
                  <a:t>个）桶中</a:t>
                </a:r>
                <a:endParaRPr lang="en-US" altLang="zh-CN" b="1" dirty="0"/>
              </a:p>
              <a:p>
                <a:pPr lvl="1">
                  <a:lnSpc>
                    <a:spcPct val="150000"/>
                  </a:lnSpc>
                  <a:buFont typeface="Arial" panose="020B0604020202020204" pitchFamily="34" charset="0"/>
                  <a:buChar char="•"/>
                </a:pPr>
                <a:r>
                  <a:rPr lang="zh-CN" altLang="zh-CN" dirty="0"/>
                  <a:t>数据划分为</a:t>
                </a:r>
                <a14:m>
                  <m:oMath xmlns:m="http://schemas.openxmlformats.org/officeDocument/2006/math">
                    <m:sSub>
                      <m:sSubPr>
                        <m:ctrlPr>
                          <a:rPr lang="zh-CN" altLang="zh-CN" i="1" smtClean="0">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𝑆</m:t>
                        </m:r>
                      </m:e>
                      <m:sub>
                        <m:r>
                          <a:rPr lang="en-US" altLang="zh-CN" smtClean="0">
                            <a:solidFill>
                              <a:schemeClr val="tx1"/>
                            </a:solidFill>
                            <a:latin typeface="Cambria Math" panose="02040503050406030204" pitchFamily="18" charset="0"/>
                          </a:rPr>
                          <m:t>1</m:t>
                        </m:r>
                      </m:sub>
                    </m:sSub>
                    <m:r>
                      <a:rPr lang="zh-CN"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𝑆</m:t>
                        </m:r>
                      </m:e>
                      <m:sub>
                        <m:r>
                          <a:rPr lang="en-US" altLang="zh-CN" smtClean="0">
                            <a:solidFill>
                              <a:schemeClr val="tx1"/>
                            </a:solidFill>
                            <a:latin typeface="Cambria Math" panose="02040503050406030204" pitchFamily="18" charset="0"/>
                          </a:rPr>
                          <m:t>2</m:t>
                        </m:r>
                      </m:sub>
                    </m:sSub>
                    <m:r>
                      <a:rPr lang="zh-CN"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𝑆</m:t>
                        </m:r>
                      </m:e>
                      <m:sub>
                        <m:r>
                          <a:rPr lang="en-US" altLang="zh-CN" smtClean="0">
                            <a:solidFill>
                              <a:schemeClr val="tx1"/>
                            </a:solidFill>
                            <a:latin typeface="Cambria Math" panose="02040503050406030204" pitchFamily="18" charset="0"/>
                          </a:rPr>
                          <m:t>3</m:t>
                        </m:r>
                      </m:sub>
                    </m:sSub>
                    <m:r>
                      <a:rPr lang="zh-CN" altLang="zh-CN">
                        <a:solidFill>
                          <a:schemeClr val="tx1"/>
                        </a:solidFill>
                        <a:latin typeface="Cambria Math" panose="02040503050406030204" pitchFamily="18" charset="0"/>
                      </a:rPr>
                      <m:t>、</m:t>
                    </m:r>
                    <m:r>
                      <a:rPr lang="en-US" altLang="zh-CN" smtClean="0">
                        <a:solidFill>
                          <a:schemeClr val="tx1"/>
                        </a:solidFill>
                        <a:latin typeface="Cambria Math" panose="02040503050406030204" pitchFamily="18" charset="0"/>
                      </a:rPr>
                      <m:t>⋯</m:t>
                    </m:r>
                    <m:r>
                      <a:rPr lang="zh-CN"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𝑆</m:t>
                        </m:r>
                      </m:e>
                      <m:sub>
                        <m:r>
                          <a:rPr lang="en-US" altLang="zh-CN" smtClean="0">
                            <a:solidFill>
                              <a:schemeClr val="tx1"/>
                            </a:solidFill>
                            <a:latin typeface="Cambria Math" panose="02040503050406030204" pitchFamily="18" charset="0"/>
                          </a:rPr>
                          <m:t>𝑚</m:t>
                        </m:r>
                      </m:sub>
                    </m:sSub>
                  </m:oMath>
                </a14:m>
                <a:r>
                  <a:rPr lang="zh-CN" altLang="zh-CN" dirty="0">
                    <a:solidFill>
                      <a:schemeClr val="tx1"/>
                    </a:solidFill>
                  </a:rPr>
                  <a:t> </a:t>
                </a:r>
                <a:endParaRPr lang="en-US" altLang="zh-CN" dirty="0">
                  <a:solidFill>
                    <a:schemeClr val="tx1"/>
                  </a:solidFill>
                </a:endParaRPr>
              </a:p>
              <a:p>
                <a:pPr lvl="1">
                  <a:lnSpc>
                    <a:spcPct val="150000"/>
                  </a:lnSpc>
                  <a:buFont typeface="Arial" panose="020B0604020202020204" pitchFamily="34" charset="0"/>
                  <a:buChar char="•"/>
                </a:pPr>
                <a:r>
                  <a:rPr lang="zh-CN" altLang="zh-CN" dirty="0"/>
                  <a:t>每个桶分别计算桶内数据的</a:t>
                </a:r>
                <a14:m>
                  <m:oMath xmlns:m="http://schemas.openxmlformats.org/officeDocument/2006/math">
                    <m:r>
                      <a:rPr lang="en-US" altLang="zh-CN" smtClean="0">
                        <a:solidFill>
                          <a:srgbClr val="701988"/>
                        </a:solidFill>
                        <a:latin typeface="Cambria Math" panose="02040503050406030204" pitchFamily="18" charset="0"/>
                      </a:rPr>
                      <m:t>𝑘</m:t>
                    </m:r>
                  </m:oMath>
                </a14:m>
                <a:r>
                  <a:rPr lang="zh-CN" altLang="zh-CN" dirty="0"/>
                  <a:t>值，得到</a:t>
                </a:r>
                <a14:m>
                  <m:oMath xmlns:m="http://schemas.openxmlformats.org/officeDocument/2006/math">
                    <m:sSub>
                      <m:sSubPr>
                        <m:ctrlPr>
                          <a:rPr lang="zh-CN" altLang="zh-CN" i="1" smtClean="0">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𝑘</m:t>
                        </m:r>
                      </m:e>
                      <m:sub>
                        <m:r>
                          <a:rPr lang="en-US" altLang="zh-CN" smtClean="0">
                            <a:solidFill>
                              <a:schemeClr val="tx1"/>
                            </a:solidFill>
                            <a:latin typeface="Cambria Math" panose="02040503050406030204" pitchFamily="18" charset="0"/>
                          </a:rPr>
                          <m:t>1</m:t>
                        </m:r>
                      </m:sub>
                    </m:sSub>
                    <m:r>
                      <a:rPr lang="zh-CN"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𝑘</m:t>
                        </m:r>
                      </m:e>
                      <m:sub>
                        <m:r>
                          <a:rPr lang="en-US" altLang="zh-CN" smtClean="0">
                            <a:solidFill>
                              <a:schemeClr val="tx1"/>
                            </a:solidFill>
                            <a:latin typeface="Cambria Math" panose="02040503050406030204" pitchFamily="18" charset="0"/>
                          </a:rPr>
                          <m:t>2</m:t>
                        </m:r>
                      </m:sub>
                    </m:sSub>
                    <m:r>
                      <a:rPr lang="zh-CN"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𝑘</m:t>
                        </m:r>
                      </m:e>
                      <m:sub>
                        <m:r>
                          <a:rPr lang="en-US" altLang="zh-CN" smtClean="0">
                            <a:solidFill>
                              <a:schemeClr val="tx1"/>
                            </a:solidFill>
                            <a:latin typeface="Cambria Math" panose="02040503050406030204" pitchFamily="18" charset="0"/>
                          </a:rPr>
                          <m:t>3</m:t>
                        </m:r>
                      </m:sub>
                    </m:sSub>
                    <m:r>
                      <a:rPr lang="zh-CN" altLang="zh-CN">
                        <a:solidFill>
                          <a:schemeClr val="tx1"/>
                        </a:solidFill>
                        <a:latin typeface="Cambria Math" panose="02040503050406030204" pitchFamily="18" charset="0"/>
                      </a:rPr>
                      <m:t>、</m:t>
                    </m:r>
                    <m:r>
                      <a:rPr lang="en-US" altLang="zh-CN" smtClean="0">
                        <a:solidFill>
                          <a:schemeClr val="tx1"/>
                        </a:solidFill>
                        <a:latin typeface="Cambria Math" panose="02040503050406030204" pitchFamily="18" charset="0"/>
                      </a:rPr>
                      <m:t>⋯</m:t>
                    </m:r>
                    <m:r>
                      <a:rPr lang="zh-CN" altLang="zh-CN">
                        <a:solidFill>
                          <a:schemeClr val="tx1"/>
                        </a:solidFill>
                        <a:latin typeface="Cambria Math" panose="02040503050406030204" pitchFamily="18" charset="0"/>
                      </a:rPr>
                      <m:t>、</m:t>
                    </m:r>
                    <m:sSub>
                      <m:sSubPr>
                        <m:ctrlPr>
                          <a:rPr lang="zh-CN" altLang="zh-CN" i="1">
                            <a:solidFill>
                              <a:schemeClr val="tx1"/>
                            </a:solidFill>
                            <a:latin typeface="Cambria Math" panose="02040503050406030204" pitchFamily="18" charset="0"/>
                          </a:rPr>
                        </m:ctrlPr>
                      </m:sSubPr>
                      <m:e>
                        <m:r>
                          <a:rPr lang="en-US" altLang="zh-CN" smtClean="0">
                            <a:solidFill>
                              <a:schemeClr val="tx1"/>
                            </a:solidFill>
                            <a:latin typeface="Cambria Math" panose="02040503050406030204" pitchFamily="18" charset="0"/>
                          </a:rPr>
                          <m:t>𝑘</m:t>
                        </m:r>
                      </m:e>
                      <m:sub>
                        <m:r>
                          <a:rPr lang="en-US" altLang="zh-CN" smtClean="0">
                            <a:solidFill>
                              <a:schemeClr val="tx1"/>
                            </a:solidFill>
                            <a:latin typeface="Cambria Math" panose="02040503050406030204" pitchFamily="18" charset="0"/>
                          </a:rPr>
                          <m:t>𝑚</m:t>
                        </m:r>
                      </m:sub>
                    </m:sSub>
                  </m:oMath>
                </a14:m>
                <a:r>
                  <a:rPr lang="zh-CN" altLang="zh-CN" dirty="0">
                    <a:solidFill>
                      <a:schemeClr val="tx1"/>
                    </a:solidFill>
                  </a:rPr>
                  <a:t> </a:t>
                </a:r>
                <a:endParaRPr lang="en-US" altLang="zh-CN" dirty="0"/>
              </a:p>
              <a:p>
                <a:pPr lvl="1">
                  <a:lnSpc>
                    <a:spcPct val="150000"/>
                  </a:lnSpc>
                  <a:buFont typeface="Arial" panose="020B0604020202020204" pitchFamily="34" charset="0"/>
                  <a:buChar char="•"/>
                </a:pPr>
                <a:r>
                  <a:rPr lang="zh-CN" altLang="zh-CN" dirty="0"/>
                  <a:t>计算这些</a:t>
                </a:r>
                <a14:m>
                  <m:oMath xmlns:m="http://schemas.openxmlformats.org/officeDocument/2006/math">
                    <m:r>
                      <a:rPr lang="en-US" altLang="zh-CN" smtClean="0">
                        <a:solidFill>
                          <a:srgbClr val="701988"/>
                        </a:solidFill>
                        <a:latin typeface="Cambria Math" panose="02040503050406030204" pitchFamily="18" charset="0"/>
                      </a:rPr>
                      <m:t>𝑘</m:t>
                    </m:r>
                  </m:oMath>
                </a14:m>
                <a:r>
                  <a:rPr lang="zh-CN" altLang="zh-CN" dirty="0"/>
                  <a:t>的调和平均值</a:t>
                </a:r>
                <a14:m>
                  <m:oMath xmlns:m="http://schemas.openxmlformats.org/officeDocument/2006/math">
                    <m:sSup>
                      <m:sSupPr>
                        <m:ctrlPr>
                          <a:rPr lang="zh-CN"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𝑘</m:t>
                        </m:r>
                      </m:e>
                      <m:sup>
                        <m:r>
                          <a:rPr lang="en-US" altLang="zh-CN" b="0" smtClean="0">
                            <a:solidFill>
                              <a:schemeClr val="tx1"/>
                            </a:solidFill>
                            <a:latin typeface="Cambria Math" panose="02040503050406030204" pitchFamily="18" charset="0"/>
                          </a:rPr>
                          <m:t>′</m:t>
                        </m:r>
                      </m:sup>
                    </m:sSup>
                    <m:r>
                      <a:rPr lang="en-US" altLang="zh-CN" b="1" smtClean="0">
                        <a:solidFill>
                          <a:schemeClr val="tx1"/>
                        </a:solidFill>
                        <a:latin typeface="Cambria Math" panose="02040503050406030204" pitchFamily="18" charset="0"/>
                      </a:rPr>
                      <m:t>=</m:t>
                    </m:r>
                    <m:f>
                      <m:fPr>
                        <m:ctrlPr>
                          <a:rPr lang="zh-CN" altLang="zh-CN" b="1" i="1">
                            <a:solidFill>
                              <a:schemeClr val="tx1"/>
                            </a:solidFill>
                            <a:latin typeface="Cambria Math" panose="02040503050406030204" pitchFamily="18" charset="0"/>
                          </a:rPr>
                        </m:ctrlPr>
                      </m:fPr>
                      <m:num>
                        <m:r>
                          <a:rPr lang="en-US" altLang="zh-CN" b="1" i="1" smtClean="0">
                            <a:solidFill>
                              <a:schemeClr val="tx1"/>
                            </a:solidFill>
                            <a:latin typeface="Cambria Math" panose="02040503050406030204" pitchFamily="18" charset="0"/>
                          </a:rPr>
                          <m:t>𝒎</m:t>
                        </m:r>
                      </m:num>
                      <m:den>
                        <m:f>
                          <m:fPr>
                            <m:ctrlPr>
                              <a:rPr lang="zh-CN" altLang="zh-CN" b="1" i="1">
                                <a:solidFill>
                                  <a:schemeClr val="tx1"/>
                                </a:solidFill>
                                <a:latin typeface="Cambria Math" panose="02040503050406030204" pitchFamily="18" charset="0"/>
                              </a:rPr>
                            </m:ctrlPr>
                          </m:fPr>
                          <m:num>
                            <m:r>
                              <a:rPr lang="en-US" altLang="zh-CN" b="1" i="1" smtClean="0">
                                <a:solidFill>
                                  <a:schemeClr val="tx1"/>
                                </a:solidFill>
                                <a:latin typeface="Cambria Math" panose="02040503050406030204" pitchFamily="18" charset="0"/>
                              </a:rPr>
                              <m:t>𝟏</m:t>
                            </m:r>
                          </m:num>
                          <m:den>
                            <m:sSub>
                              <m:sSubPr>
                                <m:ctrlPr>
                                  <a:rPr lang="zh-CN" altLang="zh-CN" b="1" i="1">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𝒌</m:t>
                                </m:r>
                              </m:e>
                              <m:sub>
                                <m:r>
                                  <a:rPr lang="en-US" altLang="zh-CN" b="1" i="1" smtClean="0">
                                    <a:solidFill>
                                      <a:schemeClr val="tx1"/>
                                    </a:solidFill>
                                    <a:latin typeface="Cambria Math" panose="02040503050406030204" pitchFamily="18" charset="0"/>
                                  </a:rPr>
                                  <m:t>𝟏</m:t>
                                </m:r>
                              </m:sub>
                            </m:sSub>
                          </m:den>
                        </m:f>
                        <m:r>
                          <a:rPr lang="en-US" altLang="zh-CN" b="1" smtClean="0">
                            <a:solidFill>
                              <a:schemeClr val="tx1"/>
                            </a:solidFill>
                            <a:latin typeface="Cambria Math" panose="02040503050406030204" pitchFamily="18" charset="0"/>
                          </a:rPr>
                          <m:t>+</m:t>
                        </m:r>
                        <m:f>
                          <m:fPr>
                            <m:ctrlPr>
                              <a:rPr lang="zh-CN" altLang="zh-CN" b="1" i="1">
                                <a:solidFill>
                                  <a:schemeClr val="tx1"/>
                                </a:solidFill>
                                <a:latin typeface="Cambria Math" panose="02040503050406030204" pitchFamily="18" charset="0"/>
                              </a:rPr>
                            </m:ctrlPr>
                          </m:fPr>
                          <m:num>
                            <m:r>
                              <a:rPr lang="en-US" altLang="zh-CN" b="1" i="1" smtClean="0">
                                <a:solidFill>
                                  <a:schemeClr val="tx1"/>
                                </a:solidFill>
                                <a:latin typeface="Cambria Math" panose="02040503050406030204" pitchFamily="18" charset="0"/>
                              </a:rPr>
                              <m:t>𝟏</m:t>
                            </m:r>
                          </m:num>
                          <m:den>
                            <m:sSub>
                              <m:sSubPr>
                                <m:ctrlPr>
                                  <a:rPr lang="zh-CN" altLang="zh-CN" b="1" i="1">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𝒌</m:t>
                                </m:r>
                              </m:e>
                              <m:sub>
                                <m:r>
                                  <a:rPr lang="en-US" altLang="zh-CN" b="1" i="1" smtClean="0">
                                    <a:solidFill>
                                      <a:schemeClr val="tx1"/>
                                    </a:solidFill>
                                    <a:latin typeface="Cambria Math" panose="02040503050406030204" pitchFamily="18" charset="0"/>
                                  </a:rPr>
                                  <m:t>𝟐</m:t>
                                </m:r>
                              </m:sub>
                            </m:sSub>
                          </m:den>
                        </m:f>
                        <m:r>
                          <a:rPr lang="en-US" altLang="zh-CN" b="1" smtClean="0">
                            <a:solidFill>
                              <a:schemeClr val="tx1"/>
                            </a:solidFill>
                            <a:latin typeface="Cambria Math" panose="02040503050406030204" pitchFamily="18" charset="0"/>
                          </a:rPr>
                          <m:t>+⋯+</m:t>
                        </m:r>
                        <m:f>
                          <m:fPr>
                            <m:ctrlPr>
                              <a:rPr lang="zh-CN" altLang="zh-CN" b="1" i="1">
                                <a:solidFill>
                                  <a:schemeClr val="tx1"/>
                                </a:solidFill>
                                <a:latin typeface="Cambria Math" panose="02040503050406030204" pitchFamily="18" charset="0"/>
                              </a:rPr>
                            </m:ctrlPr>
                          </m:fPr>
                          <m:num>
                            <m:r>
                              <a:rPr lang="en-US" altLang="zh-CN" b="1" i="1" smtClean="0">
                                <a:solidFill>
                                  <a:schemeClr val="tx1"/>
                                </a:solidFill>
                                <a:latin typeface="Cambria Math" panose="02040503050406030204" pitchFamily="18" charset="0"/>
                              </a:rPr>
                              <m:t>𝟏</m:t>
                            </m:r>
                          </m:num>
                          <m:den>
                            <m:sSub>
                              <m:sSubPr>
                                <m:ctrlPr>
                                  <a:rPr lang="zh-CN" altLang="zh-CN" b="1" i="1">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𝒌</m:t>
                                </m:r>
                              </m:e>
                              <m:sub>
                                <m:r>
                                  <a:rPr lang="en-US" altLang="zh-CN" b="1" i="1" smtClean="0">
                                    <a:solidFill>
                                      <a:schemeClr val="tx1"/>
                                    </a:solidFill>
                                    <a:latin typeface="Cambria Math" panose="02040503050406030204" pitchFamily="18" charset="0"/>
                                  </a:rPr>
                                  <m:t>𝒎</m:t>
                                </m:r>
                              </m:sub>
                            </m:sSub>
                          </m:den>
                        </m:f>
                      </m:den>
                    </m:f>
                  </m:oMath>
                </a14:m>
                <a:r>
                  <a:rPr lang="zh-CN" altLang="zh-CN" dirty="0">
                    <a:solidFill>
                      <a:schemeClr val="tx1"/>
                    </a:solidFill>
                  </a:rPr>
                  <a:t> </a:t>
                </a:r>
                <a:endParaRPr lang="en-US" altLang="zh-CN" dirty="0"/>
              </a:p>
              <a:p>
                <a:pPr lvl="1">
                  <a:lnSpc>
                    <a:spcPct val="150000"/>
                  </a:lnSpc>
                  <a:buFont typeface="Arial" panose="020B0604020202020204" pitchFamily="34" charset="0"/>
                  <a:buChar char="•"/>
                </a:pPr>
                <a:r>
                  <a:rPr lang="zh-CN" altLang="zh-CN" dirty="0"/>
                  <a:t>将</a:t>
                </a:r>
                <a14:m>
                  <m:oMath xmlns:m="http://schemas.openxmlformats.org/officeDocument/2006/math">
                    <m:sSup>
                      <m:sSupPr>
                        <m:ctrlPr>
                          <a:rPr lang="zh-CN" altLang="zh-CN" i="1" smtClean="0">
                            <a:solidFill>
                              <a:srgbClr val="701988"/>
                            </a:solidFill>
                            <a:latin typeface="Cambria Math" panose="02040503050406030204" pitchFamily="18" charset="0"/>
                          </a:rPr>
                        </m:ctrlPr>
                      </m:sSupPr>
                      <m:e>
                        <m:r>
                          <a:rPr lang="en-US" altLang="zh-CN" b="0" i="1">
                            <a:solidFill>
                              <a:srgbClr val="701988"/>
                            </a:solidFill>
                            <a:latin typeface="Cambria Math" panose="02040503050406030204" pitchFamily="18" charset="0"/>
                          </a:rPr>
                          <m:t>𝑘</m:t>
                        </m:r>
                      </m:e>
                      <m:sup>
                        <m:r>
                          <a:rPr lang="en-US" altLang="zh-CN" b="0">
                            <a:solidFill>
                              <a:srgbClr val="701988"/>
                            </a:solidFill>
                            <a:latin typeface="Cambria Math" panose="02040503050406030204" pitchFamily="18" charset="0"/>
                          </a:rPr>
                          <m:t>′</m:t>
                        </m:r>
                      </m:sup>
                    </m:sSup>
                  </m:oMath>
                </a14:m>
                <a:r>
                  <a:rPr lang="zh-CN" altLang="zh-CN" dirty="0"/>
                  <a:t>作为估计基数时采用的更加准确的参考数据 </a:t>
                </a:r>
                <a:endParaRPr lang="en-US" altLang="zh-CN" dirty="0"/>
              </a:p>
              <a:p>
                <a:pPr lvl="1">
                  <a:lnSpc>
                    <a:spcPct val="150000"/>
                  </a:lnSpc>
                  <a:buFont typeface="Arial" panose="020B0604020202020204" pitchFamily="34" charset="0"/>
                  <a:buChar char="•"/>
                </a:pPr>
                <a:r>
                  <a:rPr lang="zh-CN" altLang="zh-CN" dirty="0"/>
                  <a:t>使用</a:t>
                </a:r>
                <a14:m>
                  <m:oMath xmlns:m="http://schemas.openxmlformats.org/officeDocument/2006/math">
                    <m:sSup>
                      <m:sSupPr>
                        <m:ctrlPr>
                          <a:rPr lang="zh-CN" altLang="zh-CN" i="1" smtClean="0">
                            <a:solidFill>
                              <a:srgbClr val="701988"/>
                            </a:solidFill>
                            <a:latin typeface="Cambria Math" panose="02040503050406030204" pitchFamily="18" charset="0"/>
                          </a:rPr>
                        </m:ctrlPr>
                      </m:sSupPr>
                      <m:e>
                        <m:r>
                          <a:rPr lang="en-US" altLang="zh-CN" b="0" i="1" smtClean="0">
                            <a:solidFill>
                              <a:srgbClr val="701988"/>
                            </a:solidFill>
                            <a:latin typeface="Cambria Math" panose="02040503050406030204" pitchFamily="18" charset="0"/>
                          </a:rPr>
                          <m:t>2</m:t>
                        </m:r>
                      </m:e>
                      <m:sup>
                        <m:sSup>
                          <m:sSupPr>
                            <m:ctrlPr>
                              <a:rPr lang="zh-CN" altLang="zh-CN" i="1">
                                <a:solidFill>
                                  <a:srgbClr val="701988"/>
                                </a:solidFill>
                                <a:latin typeface="Cambria Math" panose="02040503050406030204" pitchFamily="18" charset="0"/>
                              </a:rPr>
                            </m:ctrlPr>
                          </m:sSupPr>
                          <m:e>
                            <m:r>
                              <a:rPr lang="en-US" altLang="zh-CN" b="0" i="1" smtClean="0">
                                <a:solidFill>
                                  <a:srgbClr val="701988"/>
                                </a:solidFill>
                                <a:latin typeface="Cambria Math" panose="02040503050406030204" pitchFamily="18" charset="0"/>
                              </a:rPr>
                              <m:t>𝑘</m:t>
                            </m:r>
                          </m:e>
                          <m:sup>
                            <m:r>
                              <a:rPr lang="en-US" altLang="zh-CN" b="0" smtClean="0">
                                <a:solidFill>
                                  <a:srgbClr val="701988"/>
                                </a:solidFill>
                                <a:latin typeface="Cambria Math" panose="02040503050406030204" pitchFamily="18" charset="0"/>
                              </a:rPr>
                              <m:t>′</m:t>
                            </m:r>
                          </m:sup>
                        </m:sSup>
                      </m:sup>
                    </m:sSup>
                  </m:oMath>
                </a14:m>
                <a:r>
                  <a:rPr lang="zh-CN" altLang="zh-CN" dirty="0"/>
                  <a:t>作为对基数的估计</a:t>
                </a:r>
                <a:endParaRPr lang="en-US" altLang="zh-CN" dirty="0"/>
              </a:p>
              <a:p>
                <a:pPr>
                  <a:buFont typeface="Wingdings" pitchFamily="2" charset="2"/>
                  <a:buChar char="p"/>
                </a:pPr>
                <a:endParaRPr lang="en-US" altLang="zh-CN" sz="2800" dirty="0"/>
              </a:p>
              <a:p>
                <a:pPr lvl="1">
                  <a:buFont typeface="Wingdings" pitchFamily="2" charset="2"/>
                  <a:buChar char="p"/>
                </a:pPr>
                <a:endParaRPr lang="en-US" altLang="zh-CN" sz="2400" dirty="0"/>
              </a:p>
              <a:p>
                <a:pPr marL="0" indent="0">
                  <a:buNone/>
                </a:pPr>
                <a:r>
                  <a:rPr lang="zh-CN" altLang="zh-CN" sz="2000" dirty="0"/>
                  <a:t> </a:t>
                </a:r>
                <a:endParaRPr kumimoji="1" lang="zh-CN" altLang="en-US" sz="2000" dirty="0"/>
              </a:p>
            </p:txBody>
          </p:sp>
        </mc:Choice>
        <mc:Fallback xmlns="">
          <p:sp>
            <p:nvSpPr>
              <p:cNvPr id="6" name="内容占位符 2">
                <a:extLst>
                  <a:ext uri="{FF2B5EF4-FFF2-40B4-BE49-F238E27FC236}">
                    <a16:creationId xmlns:a16="http://schemas.microsoft.com/office/drawing/2014/main" id="{7EA54C3D-4D1D-DC4E-5A95-6E41FA08A00D}"/>
                  </a:ext>
                </a:extLst>
              </p:cNvPr>
              <p:cNvSpPr>
                <a:spLocks noGrp="1" noRot="1" noChangeAspect="1" noMove="1" noResize="1" noEditPoints="1" noAdjustHandles="1" noChangeArrowheads="1" noChangeShapeType="1" noTextEdit="1"/>
              </p:cNvSpPr>
              <p:nvPr>
                <p:ph idx="1"/>
              </p:nvPr>
            </p:nvSpPr>
            <p:spPr>
              <a:xfrm>
                <a:off x="1008000" y="1300972"/>
                <a:ext cx="10874188" cy="5005387"/>
              </a:xfrm>
              <a:blipFill>
                <a:blip r:embed="rId3"/>
                <a:stretch>
                  <a:fillRect l="-817" t="-101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F0730CF-2970-4529-5F26-8D07322F021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41298452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0FF52922-3D42-4412-80D4-E8608AC407DF}"/>
              </a:ext>
            </a:extLst>
          </p:cNvPr>
          <p:cNvSpPr/>
          <p:nvPr/>
        </p:nvSpPr>
        <p:spPr>
          <a:xfrm>
            <a:off x="1741714" y="2624319"/>
            <a:ext cx="8691155" cy="304620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CC0457C1-FE0F-F430-1CF4-02E22DF155F1}"/>
              </a:ext>
            </a:extLst>
          </p:cNvPr>
          <p:cNvSpPr>
            <a:spLocks noGrp="1"/>
          </p:cNvSpPr>
          <p:nvPr>
            <p:ph type="sldNum" sz="quarter" idx="10"/>
          </p:nvPr>
        </p:nvSpPr>
        <p:spPr/>
        <p:txBody>
          <a:bodyPr/>
          <a:lstStyle/>
          <a:p>
            <a:fld id="{87BBDC00-B9E2-4EFD-9306-2934E87247C6}" type="slidenum">
              <a:rPr lang="zh-CN" altLang="en-US" smtClean="0"/>
              <a:pPr/>
              <a:t>91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HyperLogLog</a:t>
            </a:r>
            <a:r>
              <a:rPr lang="zh-CN" altLang="en-US" dirty="0"/>
              <a:t>算法示例（</a:t>
            </a:r>
            <a:r>
              <a:rPr lang="en-US" altLang="zh-CN" dirty="0"/>
              <a:t>2</a:t>
            </a:r>
            <a:r>
              <a:rPr lang="zh-CN" altLang="en-US" dirty="0"/>
              <a:t>）</a:t>
            </a:r>
            <a:endParaRPr kumimoji="1" lang="zh-CN" altLang="en-US" dirty="0"/>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0B707DED-0586-CAFB-0291-BBB60D774E55}"/>
                  </a:ext>
                </a:extLst>
              </p:cNvPr>
              <p:cNvSpPr>
                <a:spLocks noGrp="1"/>
              </p:cNvSpPr>
              <p:nvPr>
                <p:ph idx="1"/>
              </p:nvPr>
            </p:nvSpPr>
            <p:spPr>
              <a:xfrm>
                <a:off x="1008000" y="1126800"/>
                <a:ext cx="10874188" cy="5005387"/>
              </a:xfrm>
            </p:spPr>
            <p:txBody>
              <a:bodyPr/>
              <a:lstStyle/>
              <a:p>
                <a:pPr>
                  <a:lnSpc>
                    <a:spcPct val="150000"/>
                  </a:lnSpc>
                  <a:buFont typeface="Wingdings" panose="05000000000000000000" pitchFamily="2" charset="2"/>
                  <a:buChar char="Ø"/>
                </a:pPr>
                <a:r>
                  <a:rPr lang="zh-CN" altLang="en-US" b="1" dirty="0"/>
                  <a:t>实际基数：</a:t>
                </a:r>
                <a:r>
                  <a:rPr lang="en-US" altLang="zh-CN" b="1" dirty="0"/>
                  <a:t>3</a:t>
                </a:r>
              </a:p>
              <a:p>
                <a:pPr>
                  <a:lnSpc>
                    <a:spcPct val="150000"/>
                  </a:lnSpc>
                  <a:buFont typeface="Wingdings" panose="05000000000000000000" pitchFamily="2" charset="2"/>
                  <a:buChar char="Ø"/>
                </a:pPr>
                <a:r>
                  <a:rPr kumimoji="1" lang="zh-CN" altLang="en-US" b="1" dirty="0"/>
                  <a:t>估计基数：</a:t>
                </a:r>
                <a:r>
                  <a:rPr kumimoji="1" lang="en-US" altLang="zh-CN" b="1" dirty="0"/>
                  <a:t>2.83</a:t>
                </a:r>
                <a14:m>
                  <m:oMath xmlns:m="http://schemas.openxmlformats.org/officeDocument/2006/math">
                    <m:r>
                      <a:rPr kumimoji="1" lang="en-US" altLang="zh-CN" b="1" i="1" smtClean="0">
                        <a:latin typeface="Cambria Math" panose="02040503050406030204" pitchFamily="18" charset="0"/>
                      </a:rPr>
                      <m:t>≈</m:t>
                    </m:r>
                    <m:r>
                      <a:rPr kumimoji="1" lang="en-US" altLang="zh-CN" b="1" i="1" smtClean="0">
                        <a:solidFill>
                          <a:srgbClr val="701988"/>
                        </a:solidFill>
                        <a:latin typeface="Cambria Math" panose="02040503050406030204" pitchFamily="18" charset="0"/>
                      </a:rPr>
                      <m:t>𝟑</m:t>
                    </m:r>
                  </m:oMath>
                </a14:m>
                <a:endParaRPr kumimoji="1" lang="zh-CN" altLang="en-US" b="1" dirty="0"/>
              </a:p>
            </p:txBody>
          </p:sp>
        </mc:Choice>
        <mc:Fallback xmlns="">
          <p:sp>
            <p:nvSpPr>
              <p:cNvPr id="7" name="内容占位符 2">
                <a:extLst>
                  <a:ext uri="{FF2B5EF4-FFF2-40B4-BE49-F238E27FC236}">
                    <a16:creationId xmlns:a16="http://schemas.microsoft.com/office/drawing/2014/main" xmlns:a14="http://schemas.microsoft.com/office/drawing/2010/main" xmlns="" id="{0B707DED-0586-CAFB-0291-BBB60D774E55}"/>
                  </a:ext>
                </a:extLst>
              </p:cNvPr>
              <p:cNvSpPr>
                <a:spLocks noGrp="1" noRot="1" noChangeAspect="1" noMove="1" noResize="1" noEditPoints="1" noAdjustHandles="1" noChangeArrowheads="1" noChangeShapeType="1" noTextEdit="1"/>
              </p:cNvSpPr>
              <p:nvPr>
                <p:ph idx="1"/>
              </p:nvPr>
            </p:nvSpPr>
            <p:spPr>
              <a:xfrm>
                <a:off x="1008000" y="1126800"/>
                <a:ext cx="10874188" cy="5005387"/>
              </a:xfrm>
              <a:blipFill rotWithShape="0">
                <a:blip r:embed="rId3"/>
                <a:stretch>
                  <a:fillRect l="-729"/>
                </a:stretch>
              </a:blipFill>
            </p:spPr>
            <p:txBody>
              <a:bodyPr/>
              <a:lstStyle/>
              <a:p>
                <a:r>
                  <a:rPr lang="zh-CN" altLang="en-US">
                    <a:noFill/>
                  </a:rPr>
                  <a:t> </a:t>
                </a:r>
              </a:p>
            </p:txBody>
          </p:sp>
        </mc:Fallback>
      </mc:AlternateContent>
      <p:sp>
        <p:nvSpPr>
          <p:cNvPr id="6" name="页脚占位符 5">
            <a:extLst>
              <a:ext uri="{FF2B5EF4-FFF2-40B4-BE49-F238E27FC236}">
                <a16:creationId xmlns:a16="http://schemas.microsoft.com/office/drawing/2014/main" id="{250C40C3-7F57-9BD2-40A9-8E50967F4BE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5" name="图片 4">
            <a:extLst>
              <a:ext uri="{FF2B5EF4-FFF2-40B4-BE49-F238E27FC236}">
                <a16:creationId xmlns:a16="http://schemas.microsoft.com/office/drawing/2014/main" id="{AA8E54F4-4946-6FE7-61D3-B3DAC96F0BA9}"/>
              </a:ext>
            </a:extLst>
          </p:cNvPr>
          <p:cNvPicPr>
            <a:picLocks noChangeAspect="1"/>
          </p:cNvPicPr>
          <p:nvPr/>
        </p:nvPicPr>
        <p:blipFill>
          <a:blip r:embed="rId4"/>
          <a:srcRect/>
          <a:stretch/>
        </p:blipFill>
        <p:spPr>
          <a:xfrm>
            <a:off x="2222573" y="2946941"/>
            <a:ext cx="7766157" cy="2353808"/>
          </a:xfrm>
          <a:prstGeom prst="rect">
            <a:avLst/>
          </a:prstGeom>
        </p:spPr>
      </p:pic>
      <p:sp>
        <p:nvSpPr>
          <p:cNvPr id="4" name="文本框 3">
            <a:extLst>
              <a:ext uri="{FF2B5EF4-FFF2-40B4-BE49-F238E27FC236}">
                <a16:creationId xmlns:a16="http://schemas.microsoft.com/office/drawing/2014/main" id="{FEBA5B2E-3E5E-3AC1-506A-4751288DE8F2}"/>
              </a:ext>
            </a:extLst>
          </p:cNvPr>
          <p:cNvSpPr txBox="1"/>
          <p:nvPr/>
        </p:nvSpPr>
        <p:spPr>
          <a:xfrm>
            <a:off x="5812221" y="5807628"/>
            <a:ext cx="5917324" cy="430887"/>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en-US" sz="2200" dirty="0">
                <a:latin typeface="+mj-ea"/>
                <a:ea typeface="+mj-ea"/>
              </a:rPr>
              <a:t>分桶计算</a:t>
            </a:r>
            <a:r>
              <a:rPr lang="en-US" altLang="zh-CN" sz="2200" dirty="0">
                <a:latin typeface="+mj-ea"/>
                <a:ea typeface="+mj-ea"/>
              </a:rPr>
              <a:t>k</a:t>
            </a:r>
            <a:r>
              <a:rPr lang="zh-CN" altLang="en-US" sz="2200" dirty="0">
                <a:latin typeface="+mj-ea"/>
                <a:ea typeface="+mj-ea"/>
              </a:rPr>
              <a:t>，有效提高准确度</a:t>
            </a:r>
          </a:p>
        </p:txBody>
      </p:sp>
      <p:sp>
        <p:nvSpPr>
          <p:cNvPr id="10" name="文本框 9">
            <a:extLst>
              <a:ext uri="{FF2B5EF4-FFF2-40B4-BE49-F238E27FC236}">
                <a16:creationId xmlns:a16="http://schemas.microsoft.com/office/drawing/2014/main" id="{3E98C768-61D5-6347-F91D-10EED6FE86D0}"/>
              </a:ext>
            </a:extLst>
          </p:cNvPr>
          <p:cNvSpPr txBox="1"/>
          <p:nvPr/>
        </p:nvSpPr>
        <p:spPr>
          <a:xfrm>
            <a:off x="3532164" y="5283335"/>
            <a:ext cx="6167992" cy="369332"/>
          </a:xfrm>
          <a:prstGeom prst="rect">
            <a:avLst/>
          </a:prstGeom>
          <a:noFill/>
        </p:spPr>
        <p:txBody>
          <a:bodyPr wrap="square">
            <a:spAutoFit/>
          </a:bodyPr>
          <a:lstStyle/>
          <a:p>
            <a:r>
              <a:rPr lang="zh-CN" altLang="en-US" dirty="0"/>
              <a:t>按照第一位分桶</a:t>
            </a:r>
          </a:p>
        </p:txBody>
      </p:sp>
    </p:spTree>
    <p:extLst>
      <p:ext uri="{BB962C8B-B14F-4D97-AF65-F5344CB8AC3E}">
        <p14:creationId xmlns:p14="http://schemas.microsoft.com/office/powerpoint/2010/main" val="2112043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FA2A27-7AFB-4F38-45FE-881AA013CA29}"/>
              </a:ext>
            </a:extLst>
          </p:cNvPr>
          <p:cNvSpPr>
            <a:spLocks noGrp="1"/>
          </p:cNvSpPr>
          <p:nvPr>
            <p:ph type="sldNum" sz="quarter" idx="10"/>
          </p:nvPr>
        </p:nvSpPr>
        <p:spPr/>
        <p:txBody>
          <a:bodyPr/>
          <a:lstStyle/>
          <a:p>
            <a:fld id="{87BBDC00-B9E2-4EFD-9306-2934E87247C6}" type="slidenum">
              <a:rPr lang="zh-CN" altLang="en-US" smtClean="0"/>
              <a:pPr/>
              <a:t>92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en-US" altLang="zh-CN" dirty="0"/>
              <a:t>HyperLogLog</a:t>
            </a:r>
            <a:r>
              <a:rPr lang="zh-CN" altLang="en-US" dirty="0"/>
              <a:t>复杂度分析</a:t>
            </a:r>
            <a:endParaRPr kumimoji="1" lang="zh-CN" altLang="en-US" dirty="0"/>
          </a:p>
        </p:txBody>
      </p:sp>
      <p:sp>
        <p:nvSpPr>
          <p:cNvPr id="4" name="页脚占位符 3">
            <a:extLst>
              <a:ext uri="{FF2B5EF4-FFF2-40B4-BE49-F238E27FC236}">
                <a16:creationId xmlns:a16="http://schemas.microsoft.com/office/drawing/2014/main" id="{2445EA9C-2099-085E-AEAB-24B2306E1E82}"/>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464926"/>
                <a:ext cx="11069934"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kern="0" dirty="0">
                    <a:latin typeface="+mj-ea"/>
                    <a:ea typeface="+mj-ea"/>
                  </a:rPr>
                  <a:t>分桶个数</a:t>
                </a:r>
                <a14:m>
                  <m:oMath xmlns:m="http://schemas.openxmlformats.org/officeDocument/2006/math">
                    <m:r>
                      <a:rPr lang="en-US" altLang="zh-CN" sz="2400" b="1" i="1">
                        <a:latin typeface="Cambria Math" panose="02040503050406030204" pitchFamily="18" charset="0"/>
                        <a:ea typeface="+mj-ea"/>
                      </a:rPr>
                      <m:t>𝒎</m:t>
                    </m:r>
                  </m:oMath>
                </a14:m>
                <a:r>
                  <a:rPr lang="zh-CN" altLang="zh-CN" sz="2400" b="1" dirty="0">
                    <a:latin typeface="+mj-ea"/>
                    <a:ea typeface="+mj-ea"/>
                  </a:rPr>
                  <a:t> </a:t>
                </a:r>
                <a:r>
                  <a:rPr lang="zh-CN" altLang="en-US" sz="2400" b="1" dirty="0">
                    <a:latin typeface="+mj-ea"/>
                    <a:ea typeface="+mj-ea"/>
                  </a:rPr>
                  <a:t>，最大基数</a:t>
                </a:r>
                <a14:m>
                  <m:oMath xmlns:m="http://schemas.openxmlformats.org/officeDocument/2006/math">
                    <m:r>
                      <a:rPr lang="en-US" altLang="zh-CN" sz="2400" b="1" i="1" dirty="0" smtClean="0">
                        <a:latin typeface="Cambria Math" panose="02040503050406030204" pitchFamily="18" charset="0"/>
                        <a:ea typeface="+mj-ea"/>
                      </a:rPr>
                      <m:t>𝒏</m:t>
                    </m:r>
                  </m:oMath>
                </a14:m>
                <a:r>
                  <a:rPr lang="zh-CN" altLang="zh-CN" sz="2400" b="1" dirty="0">
                    <a:latin typeface="+mj-ea"/>
                    <a:ea typeface="+mj-ea"/>
                  </a:rPr>
                  <a:t> </a:t>
                </a:r>
                <a:endParaRPr lang="en-US" altLang="zh-CN" sz="2400" b="1" kern="0" dirty="0">
                  <a:latin typeface="+mj-ea"/>
                  <a:ea typeface="+mj-ea"/>
                </a:endParaRPr>
              </a:p>
              <a:p>
                <a:pPr>
                  <a:lnSpc>
                    <a:spcPct val="150000"/>
                  </a:lnSpc>
                  <a:buFont typeface="Wingdings" panose="05000000000000000000" pitchFamily="2" charset="2"/>
                  <a:buChar char="Ø"/>
                </a:pPr>
                <a:r>
                  <a:rPr lang="zh-CN" altLang="en-US" sz="2400" b="1" kern="0" dirty="0">
                    <a:latin typeface="+mj-ea"/>
                    <a:ea typeface="+mj-ea"/>
                  </a:rPr>
                  <a:t>空间复杂度：</a:t>
                </a:r>
                <a14:m>
                  <m:oMath xmlns:m="http://schemas.openxmlformats.org/officeDocument/2006/math">
                    <m:r>
                      <a:rPr lang="en-US" altLang="zh-CN" sz="2400" b="1" i="1" smtClean="0">
                        <a:solidFill>
                          <a:srgbClr val="701988"/>
                        </a:solidFill>
                        <a:latin typeface="Cambria Math" panose="02040503050406030204" pitchFamily="18" charset="0"/>
                        <a:ea typeface="+mj-ea"/>
                      </a:rPr>
                      <m:t>𝑶</m:t>
                    </m:r>
                    <m:r>
                      <a:rPr lang="en-US" altLang="zh-CN" sz="2400" b="1" i="1">
                        <a:solidFill>
                          <a:srgbClr val="701988"/>
                        </a:solidFill>
                        <a:latin typeface="Cambria Math" panose="02040503050406030204" pitchFamily="18" charset="0"/>
                        <a:ea typeface="+mj-ea"/>
                      </a:rPr>
                      <m:t>(</m:t>
                    </m:r>
                    <m:r>
                      <a:rPr lang="en-US" altLang="zh-CN" sz="2400" b="1" i="1">
                        <a:solidFill>
                          <a:srgbClr val="701988"/>
                        </a:solidFill>
                        <a:latin typeface="Cambria Math" panose="02040503050406030204" pitchFamily="18" charset="0"/>
                        <a:ea typeface="+mj-ea"/>
                      </a:rPr>
                      <m:t>𝒎𝒍𝒐𝒈</m:t>
                    </m:r>
                    <m:r>
                      <a:rPr lang="en-US" altLang="zh-CN" sz="2400" b="1" i="1">
                        <a:solidFill>
                          <a:srgbClr val="701988"/>
                        </a:solidFill>
                        <a:latin typeface="Cambria Math" panose="02040503050406030204" pitchFamily="18" charset="0"/>
                        <a:ea typeface="+mj-ea"/>
                      </a:rPr>
                      <m:t>(</m:t>
                    </m:r>
                    <m:func>
                      <m:funcPr>
                        <m:ctrlPr>
                          <a:rPr lang="zh-CN" altLang="zh-CN" sz="2400" b="1" i="1">
                            <a:solidFill>
                              <a:srgbClr val="701988"/>
                            </a:solidFill>
                            <a:latin typeface="Cambria Math" panose="02040503050406030204" pitchFamily="18" charset="0"/>
                            <a:ea typeface="+mj-ea"/>
                          </a:rPr>
                        </m:ctrlPr>
                      </m:funcPr>
                      <m:fName>
                        <m:r>
                          <a:rPr lang="en-US" altLang="zh-CN" sz="2400" b="1" i="1">
                            <a:solidFill>
                              <a:srgbClr val="701988"/>
                            </a:solidFill>
                            <a:latin typeface="Cambria Math" panose="02040503050406030204" pitchFamily="18" charset="0"/>
                            <a:ea typeface="+mj-ea"/>
                          </a:rPr>
                          <m:t>𝒍𝒐𝒈</m:t>
                        </m:r>
                      </m:fName>
                      <m:e>
                        <m:d>
                          <m:dPr>
                            <m:ctrlPr>
                              <a:rPr lang="zh-CN" altLang="zh-CN" sz="2400" b="1" i="1">
                                <a:solidFill>
                                  <a:srgbClr val="701988"/>
                                </a:solidFill>
                                <a:latin typeface="Cambria Math" panose="02040503050406030204" pitchFamily="18" charset="0"/>
                                <a:ea typeface="+mj-ea"/>
                              </a:rPr>
                            </m:ctrlPr>
                          </m:dPr>
                          <m:e>
                            <m:r>
                              <a:rPr lang="en-US" altLang="zh-CN" sz="2400" b="1" i="1">
                                <a:solidFill>
                                  <a:srgbClr val="701988"/>
                                </a:solidFill>
                                <a:latin typeface="Cambria Math" panose="02040503050406030204" pitchFamily="18" charset="0"/>
                                <a:ea typeface="+mj-ea"/>
                              </a:rPr>
                              <m:t>𝒏</m:t>
                            </m:r>
                          </m:e>
                        </m:d>
                      </m:e>
                    </m:func>
                    <m:r>
                      <a:rPr lang="en-US" altLang="zh-CN" sz="2400" b="1" i="1">
                        <a:solidFill>
                          <a:srgbClr val="701988"/>
                        </a:solidFill>
                        <a:latin typeface="Cambria Math" panose="02040503050406030204" pitchFamily="18" charset="0"/>
                        <a:ea typeface="+mj-ea"/>
                      </a:rPr>
                      <m:t>)</m:t>
                    </m:r>
                  </m:oMath>
                </a14:m>
                <a:endParaRPr lang="en-US" altLang="zh-CN" sz="2400" b="1" kern="0" dirty="0">
                  <a:solidFill>
                    <a:srgbClr val="701988"/>
                  </a:solidFill>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建立了</a:t>
                </a:r>
                <a14:m>
                  <m:oMath xmlns:m="http://schemas.openxmlformats.org/officeDocument/2006/math">
                    <m:r>
                      <a:rPr lang="en-US" altLang="zh-CN" sz="2000" i="1">
                        <a:latin typeface="Cambria Math" panose="02040503050406030204" pitchFamily="18" charset="0"/>
                        <a:ea typeface="+mj-ea"/>
                      </a:rPr>
                      <m:t>𝑚</m:t>
                    </m:r>
                  </m:oMath>
                </a14:m>
                <a:r>
                  <a:rPr lang="zh-CN" altLang="en-US" sz="2000" kern="0" dirty="0">
                    <a:latin typeface="+mj-ea"/>
                    <a:ea typeface="+mj-ea"/>
                  </a:rPr>
                  <a:t>个桶</a:t>
                </a:r>
                <a:endParaRPr lang="en-US" altLang="zh-CN" sz="2000" kern="0" dirty="0">
                  <a:latin typeface="+mj-ea"/>
                  <a:ea typeface="+mj-ea"/>
                </a:endParaRPr>
              </a:p>
              <a:p>
                <a:pPr lvl="1">
                  <a:lnSpc>
                    <a:spcPct val="150000"/>
                  </a:lnSpc>
                  <a:buFont typeface="Arial" panose="020B0604020202020204" pitchFamily="34" charset="0"/>
                  <a:buChar char="•"/>
                </a:pPr>
                <a:r>
                  <a:rPr lang="en-US" altLang="zh-CN" sz="2000" kern="0" dirty="0">
                    <a:latin typeface="+mj-ea"/>
                    <a:ea typeface="+mj-ea"/>
                  </a:rPr>
                  <a:t>n</a:t>
                </a:r>
                <a:r>
                  <a:rPr lang="zh-CN" altLang="zh-CN" sz="2000" kern="0" dirty="0">
                    <a:latin typeface="+mj-ea"/>
                    <a:ea typeface="+mj-ea"/>
                  </a:rPr>
                  <a:t>个不同元素</a:t>
                </a:r>
                <a:r>
                  <a:rPr lang="zh-CN" altLang="en-US" sz="2000" kern="0" dirty="0">
                    <a:latin typeface="+mj-ea"/>
                    <a:ea typeface="+mj-ea"/>
                  </a:rPr>
                  <a:t>哈希后</a:t>
                </a:r>
                <a:r>
                  <a:rPr lang="zh-CN" altLang="zh-CN" sz="2000" kern="0" dirty="0">
                    <a:latin typeface="+mj-ea"/>
                    <a:ea typeface="+mj-ea"/>
                  </a:rPr>
                  <a:t>最长</a:t>
                </a:r>
                <a:r>
                  <a:rPr lang="zh-CN" altLang="en-US" sz="2000" kern="0" dirty="0">
                    <a:latin typeface="+mj-ea"/>
                    <a:ea typeface="+mj-ea"/>
                  </a:rPr>
                  <a:t>后缀</a:t>
                </a:r>
                <a:r>
                  <a:rPr lang="zh-CN" altLang="zh-CN" sz="2000" kern="0" dirty="0">
                    <a:latin typeface="+mj-ea"/>
                    <a:ea typeface="+mj-ea"/>
                  </a:rPr>
                  <a:t>零的长度</a:t>
                </a:r>
                <a:r>
                  <a:rPr lang="zh-CN" altLang="en-US" sz="2000" kern="0" dirty="0">
                    <a:latin typeface="+mj-ea"/>
                    <a:ea typeface="+mj-ea"/>
                  </a:rPr>
                  <a:t>为</a:t>
                </a:r>
                <a14:m>
                  <m:oMath xmlns:m="http://schemas.openxmlformats.org/officeDocument/2006/math">
                    <m:r>
                      <a:rPr lang="en-US" altLang="zh-CN" sz="2000" kern="0">
                        <a:latin typeface="Cambria Math" panose="02040503050406030204" pitchFamily="18" charset="0"/>
                        <a:ea typeface="+mj-ea"/>
                      </a:rPr>
                      <m:t>𝑂</m:t>
                    </m:r>
                    <m:r>
                      <a:rPr lang="en-US" altLang="zh-CN" sz="2000" kern="0">
                        <a:latin typeface="Cambria Math" panose="02040503050406030204" pitchFamily="18" charset="0"/>
                        <a:ea typeface="+mj-ea"/>
                      </a:rPr>
                      <m:t>(</m:t>
                    </m:r>
                    <m:func>
                      <m:funcPr>
                        <m:ctrlPr>
                          <a:rPr lang="zh-CN" altLang="zh-CN" sz="2000" i="1" kern="0">
                            <a:latin typeface="Cambria Math" panose="02040503050406030204" pitchFamily="18" charset="0"/>
                            <a:ea typeface="+mj-ea"/>
                          </a:rPr>
                        </m:ctrlPr>
                      </m:funcPr>
                      <m:fName>
                        <m:r>
                          <m:rPr>
                            <m:sty m:val="p"/>
                          </m:rPr>
                          <a:rPr lang="en-US" altLang="zh-CN" sz="2000" kern="0">
                            <a:latin typeface="Cambria Math" panose="02040503050406030204" pitchFamily="18" charset="0"/>
                            <a:ea typeface="+mj-ea"/>
                          </a:rPr>
                          <m:t>log</m:t>
                        </m:r>
                      </m:fName>
                      <m:e>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𝑛</m:t>
                            </m:r>
                          </m:e>
                        </m:d>
                      </m:e>
                    </m:func>
                  </m:oMath>
                </a14:m>
                <a:endParaRPr lang="en-US" altLang="zh-CN" sz="2000" kern="0"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二进制存储，</a:t>
                </a:r>
                <a:r>
                  <a:rPr lang="en-US" altLang="zh-CN" sz="2000" kern="0" dirty="0">
                    <a:latin typeface="+mj-ea"/>
                    <a:ea typeface="+mj-ea"/>
                  </a:rPr>
                  <a:t> </a:t>
                </a:r>
                <a14:m>
                  <m:oMath xmlns:m="http://schemas.openxmlformats.org/officeDocument/2006/math">
                    <m:r>
                      <a:rPr lang="en-US" altLang="zh-CN" sz="2000" kern="0">
                        <a:latin typeface="Cambria Math" panose="02040503050406030204" pitchFamily="18" charset="0"/>
                        <a:ea typeface="+mj-ea"/>
                      </a:rPr>
                      <m:t>𝑂</m:t>
                    </m:r>
                    <m:r>
                      <a:rPr lang="en-US" altLang="zh-CN" sz="2000" kern="0">
                        <a:latin typeface="Cambria Math" panose="02040503050406030204" pitchFamily="18" charset="0"/>
                        <a:ea typeface="+mj-ea"/>
                      </a:rPr>
                      <m:t>(</m:t>
                    </m:r>
                    <m:func>
                      <m:funcPr>
                        <m:ctrlPr>
                          <a:rPr lang="zh-CN" altLang="zh-CN" sz="2000" i="1" kern="0">
                            <a:latin typeface="Cambria Math" panose="02040503050406030204" pitchFamily="18" charset="0"/>
                            <a:ea typeface="+mj-ea"/>
                          </a:rPr>
                        </m:ctrlPr>
                      </m:funcPr>
                      <m:fName>
                        <m:r>
                          <m:rPr>
                            <m:sty m:val="p"/>
                          </m:rPr>
                          <a:rPr lang="en-US" altLang="zh-CN" sz="2000" kern="0">
                            <a:latin typeface="Cambria Math" panose="02040503050406030204" pitchFamily="18" charset="0"/>
                            <a:ea typeface="+mj-ea"/>
                          </a:rPr>
                          <m:t>log</m:t>
                        </m:r>
                      </m:fName>
                      <m:e>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𝑛</m:t>
                            </m:r>
                          </m:e>
                        </m:d>
                      </m:e>
                    </m:func>
                  </m:oMath>
                </a14:m>
                <a:r>
                  <a:rPr lang="zh-CN" altLang="zh-CN" sz="2000" kern="0" dirty="0">
                    <a:latin typeface="+mj-ea"/>
                    <a:ea typeface="+mj-ea"/>
                  </a:rPr>
                  <a:t>种不同的后缀零长度，只需要</a:t>
                </a:r>
                <a14:m>
                  <m:oMath xmlns:m="http://schemas.openxmlformats.org/officeDocument/2006/math">
                    <m:r>
                      <a:rPr lang="en-US" altLang="zh-CN" sz="2000" kern="0">
                        <a:latin typeface="Cambria Math" panose="02040503050406030204" pitchFamily="18" charset="0"/>
                        <a:ea typeface="+mj-ea"/>
                      </a:rPr>
                      <m:t>𝑂</m:t>
                    </m:r>
                    <m:r>
                      <a:rPr lang="en-US" altLang="zh-CN" sz="2000" kern="0">
                        <a:latin typeface="Cambria Math" panose="02040503050406030204" pitchFamily="18" charset="0"/>
                        <a:ea typeface="+mj-ea"/>
                      </a:rPr>
                      <m:t>(</m:t>
                    </m:r>
                    <m:func>
                      <m:funcPr>
                        <m:ctrlPr>
                          <a:rPr lang="zh-CN" altLang="zh-CN" sz="2000" i="1" kern="0">
                            <a:latin typeface="Cambria Math" panose="02040503050406030204" pitchFamily="18" charset="0"/>
                            <a:ea typeface="+mj-ea"/>
                          </a:rPr>
                        </m:ctrlPr>
                      </m:funcPr>
                      <m:fName>
                        <m:r>
                          <m:rPr>
                            <m:sty m:val="p"/>
                          </m:rPr>
                          <a:rPr lang="en-US" altLang="zh-CN" sz="2000" kern="0">
                            <a:latin typeface="Cambria Math" panose="02040503050406030204" pitchFamily="18" charset="0"/>
                            <a:ea typeface="+mj-ea"/>
                          </a:rPr>
                          <m:t>log</m:t>
                        </m:r>
                        <m:r>
                          <a:rPr lang="en-US" altLang="zh-CN" sz="2000" kern="0">
                            <a:latin typeface="Cambria Math" panose="02040503050406030204" pitchFamily="18" charset="0"/>
                            <a:ea typeface="+mj-ea"/>
                          </a:rPr>
                          <m:t>(</m:t>
                        </m:r>
                        <m:r>
                          <m:rPr>
                            <m:sty m:val="p"/>
                          </m:rPr>
                          <a:rPr lang="en-US" altLang="zh-CN" sz="2000" kern="0">
                            <a:latin typeface="Cambria Math" panose="02040503050406030204" pitchFamily="18" charset="0"/>
                            <a:ea typeface="+mj-ea"/>
                          </a:rPr>
                          <m:t>log</m:t>
                        </m:r>
                      </m:fName>
                      <m:e>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𝑛</m:t>
                            </m:r>
                          </m:e>
                        </m:d>
                      </m:e>
                    </m:func>
                    <m:r>
                      <a:rPr lang="en-US" altLang="zh-CN" sz="2000" kern="0">
                        <a:latin typeface="Cambria Math" panose="02040503050406030204" pitchFamily="18" charset="0"/>
                        <a:ea typeface="+mj-ea"/>
                      </a:rPr>
                      <m:t>)</m:t>
                    </m:r>
                  </m:oMath>
                </a14:m>
                <a:r>
                  <a:rPr lang="zh-CN" altLang="zh-CN" sz="2000" kern="0" dirty="0">
                    <a:latin typeface="+mj-ea"/>
                    <a:ea typeface="+mj-ea"/>
                  </a:rPr>
                  <a:t>个位</a:t>
                </a:r>
                <a:r>
                  <a:rPr lang="zh-CN" altLang="en-US" sz="2000" kern="0" dirty="0">
                    <a:latin typeface="+mj-ea"/>
                    <a:ea typeface="+mj-ea"/>
                  </a:rPr>
                  <a:t>（</a:t>
                </a:r>
                <a:r>
                  <a:rPr lang="en-US" altLang="zh-CN" sz="2000" kern="0" dirty="0">
                    <a:latin typeface="+mj-ea"/>
                    <a:ea typeface="+mj-ea"/>
                  </a:rPr>
                  <a:t>bit</a:t>
                </a:r>
                <a:r>
                  <a:rPr lang="zh-CN" altLang="en-US" sz="2000" kern="0" dirty="0">
                    <a:latin typeface="+mj-ea"/>
                    <a:ea typeface="+mj-ea"/>
                  </a:rPr>
                  <a:t>）</a:t>
                </a:r>
                <a:r>
                  <a:rPr lang="zh-CN" altLang="zh-CN" sz="2000" kern="0" dirty="0">
                    <a:latin typeface="+mj-ea"/>
                    <a:ea typeface="+mj-ea"/>
                  </a:rPr>
                  <a:t>就能存储 </a:t>
                </a:r>
                <a:endParaRPr lang="en-US" altLang="zh-CN" sz="2000" kern="0" dirty="0">
                  <a:latin typeface="+mj-ea"/>
                  <a:ea typeface="+mj-ea"/>
                </a:endParaRPr>
              </a:p>
              <a:p>
                <a:pPr marL="342900" lvl="1" indent="-342900">
                  <a:lnSpc>
                    <a:spcPct val="150000"/>
                  </a:lnSpc>
                  <a:buFont typeface="Wingdings" panose="05000000000000000000" pitchFamily="2" charset="2"/>
                  <a:buChar char="Ø"/>
                </a:pPr>
                <a:r>
                  <a:rPr lang="zh-CN" altLang="en-US" sz="2400" b="1" kern="0" dirty="0">
                    <a:latin typeface="+mj-ea"/>
                    <a:ea typeface="+mj-ea"/>
                  </a:rPr>
                  <a:t>时间复杂度</a:t>
                </a:r>
                <a:r>
                  <a:rPr lang="zh-CN" altLang="en-US" sz="2400" b="1" i="1" dirty="0">
                    <a:latin typeface="+mj-ea"/>
                    <a:ea typeface="+mj-ea"/>
                  </a:rPr>
                  <a:t>：</a:t>
                </a:r>
                <a14:m>
                  <m:oMath xmlns:m="http://schemas.openxmlformats.org/officeDocument/2006/math">
                    <m:r>
                      <a:rPr lang="en-US" altLang="zh-CN" sz="2400" b="1" i="1" smtClean="0">
                        <a:solidFill>
                          <a:srgbClr val="701988"/>
                        </a:solidFill>
                        <a:latin typeface="Cambria Math" panose="02040503050406030204" pitchFamily="18" charset="0"/>
                        <a:ea typeface="+mj-ea"/>
                      </a:rPr>
                      <m:t>𝑶</m:t>
                    </m:r>
                    <m:r>
                      <a:rPr lang="en-US" altLang="zh-CN" sz="2400" b="1" i="1" smtClean="0">
                        <a:solidFill>
                          <a:srgbClr val="701988"/>
                        </a:solidFill>
                        <a:latin typeface="Cambria Math" panose="02040503050406030204" pitchFamily="18" charset="0"/>
                        <a:ea typeface="+mj-ea"/>
                      </a:rPr>
                      <m:t>(</m:t>
                    </m:r>
                    <m:r>
                      <a:rPr lang="en-US" altLang="zh-CN" sz="2400" b="1" i="1" smtClean="0">
                        <a:solidFill>
                          <a:srgbClr val="701988"/>
                        </a:solidFill>
                        <a:latin typeface="Cambria Math" panose="02040503050406030204" pitchFamily="18" charset="0"/>
                        <a:ea typeface="+mj-ea"/>
                      </a:rPr>
                      <m:t>𝒎</m:t>
                    </m:r>
                    <m:r>
                      <a:rPr lang="en-US" altLang="zh-CN" sz="2400" b="1" i="1" smtClean="0">
                        <a:solidFill>
                          <a:srgbClr val="701988"/>
                        </a:solidFill>
                        <a:latin typeface="Cambria Math" panose="02040503050406030204" pitchFamily="18" charset="0"/>
                        <a:ea typeface="+mj-ea"/>
                      </a:rPr>
                      <m:t>)</m:t>
                    </m:r>
                  </m:oMath>
                </a14:m>
                <a:endParaRPr lang="en-US" altLang="zh-CN" sz="2400" b="1" kern="0" dirty="0">
                  <a:solidFill>
                    <a:srgbClr val="FF0000"/>
                  </a:solidFill>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查询时只需要整合</a:t>
                </a:r>
                <a14:m>
                  <m:oMath xmlns:m="http://schemas.openxmlformats.org/officeDocument/2006/math">
                    <m:r>
                      <a:rPr lang="en-US" altLang="zh-CN" sz="2000" i="1">
                        <a:latin typeface="Cambria Math" panose="02040503050406030204" pitchFamily="18" charset="0"/>
                        <a:ea typeface="+mj-ea"/>
                      </a:rPr>
                      <m:t>𝑚</m:t>
                    </m:r>
                  </m:oMath>
                </a14:m>
                <a:r>
                  <a:rPr lang="zh-CN" altLang="en-US" sz="2000" kern="0" dirty="0">
                    <a:latin typeface="+mj-ea"/>
                    <a:ea typeface="+mj-ea"/>
                  </a:rPr>
                  <a:t>个桶的信息</a:t>
                </a:r>
                <a:endParaRPr lang="en-US" altLang="zh-CN" sz="2000" kern="0"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桶的个数</a:t>
                </a:r>
                <a14:m>
                  <m:oMath xmlns:m="http://schemas.openxmlformats.org/officeDocument/2006/math">
                    <m:r>
                      <a:rPr lang="en-US" altLang="zh-CN" sz="2000" i="1">
                        <a:latin typeface="Cambria Math" panose="02040503050406030204" pitchFamily="18" charset="0"/>
                        <a:ea typeface="+mj-ea"/>
                      </a:rPr>
                      <m:t>𝑚</m:t>
                    </m:r>
                  </m:oMath>
                </a14:m>
                <a:r>
                  <a:rPr lang="zh-CN" altLang="en-US" sz="2000" kern="0" dirty="0">
                    <a:latin typeface="+mj-ea"/>
                    <a:ea typeface="+mj-ea"/>
                  </a:rPr>
                  <a:t>常被视为一个固定的常数，因此也可以认为时间复杂度为</a:t>
                </a:r>
                <a14:m>
                  <m:oMath xmlns:m="http://schemas.openxmlformats.org/officeDocument/2006/math">
                    <m:r>
                      <a:rPr lang="en-US" altLang="zh-CN" sz="2000" i="1">
                        <a:latin typeface="Cambria Math" panose="02040503050406030204" pitchFamily="18" charset="0"/>
                        <a:ea typeface="+mj-ea"/>
                      </a:rPr>
                      <m:t>𝑂</m:t>
                    </m:r>
                    <m:r>
                      <a:rPr lang="en-US" altLang="zh-CN" sz="2000" i="1">
                        <a:latin typeface="Cambria Math" panose="02040503050406030204" pitchFamily="18" charset="0"/>
                        <a:ea typeface="+mj-ea"/>
                      </a:rPr>
                      <m:t>(1)</m:t>
                    </m:r>
                    <m:r>
                      <a:rPr lang="zh-CN" altLang="en-US" sz="2000" i="1" smtClean="0">
                        <a:latin typeface="Cambria Math" panose="02040503050406030204" pitchFamily="18" charset="0"/>
                        <a:ea typeface="+mj-ea"/>
                      </a:rPr>
                      <m:t>的</m:t>
                    </m:r>
                  </m:oMath>
                </a14:m>
                <a:endParaRPr lang="en-US" altLang="zh-CN" sz="2000" kern="0" dirty="0">
                  <a:latin typeface="+mj-ea"/>
                  <a:ea typeface="+mj-ea"/>
                </a:endParaRPr>
              </a:p>
              <a:p>
                <a:pPr lvl="1">
                  <a:lnSpc>
                    <a:spcPct val="150000"/>
                  </a:lnSpc>
                  <a:buFont typeface="Wingdings" pitchFamily="2" charset="2"/>
                  <a:buChar char="Ø"/>
                </a:pPr>
                <a:endParaRPr lang="en-US" altLang="zh-CN" sz="2400" kern="0" dirty="0">
                  <a:latin typeface="+mj-ea"/>
                  <a:ea typeface="+mj-ea"/>
                </a:endParaRPr>
              </a:p>
              <a:p>
                <a:pPr lvl="1">
                  <a:lnSpc>
                    <a:spcPct val="150000"/>
                  </a:lnSpc>
                  <a:buFont typeface="Wingdings" pitchFamily="2" charset="2"/>
                  <a:buChar char="Ø"/>
                </a:pPr>
                <a:endParaRPr lang="en-US" altLang="zh-CN" sz="2400" kern="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1008000" y="1464926"/>
                <a:ext cx="11069934" cy="4876801"/>
              </a:xfrm>
              <a:prstGeom prst="rect">
                <a:avLst/>
              </a:prstGeom>
              <a:blipFill>
                <a:blip r:embed="rId3"/>
                <a:stretch>
                  <a:fillRect l="-80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41373897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FA2A27-7AFB-4F38-45FE-881AA013CA29}"/>
              </a:ext>
            </a:extLst>
          </p:cNvPr>
          <p:cNvSpPr>
            <a:spLocks noGrp="1"/>
          </p:cNvSpPr>
          <p:nvPr>
            <p:ph type="sldNum" sz="quarter" idx="10"/>
          </p:nvPr>
        </p:nvSpPr>
        <p:spPr/>
        <p:txBody>
          <a:bodyPr/>
          <a:lstStyle/>
          <a:p>
            <a:fld id="{87BBDC00-B9E2-4EFD-9306-2934E87247C6}" type="slidenum">
              <a:rPr lang="zh-CN" altLang="en-US" smtClean="0"/>
              <a:pPr/>
              <a:t>93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基于采样的基数估计</a:t>
            </a:r>
            <a:endParaRPr kumimoji="1" lang="zh-CN" altLang="en-US" dirty="0"/>
          </a:p>
        </p:txBody>
      </p:sp>
      <p:sp>
        <p:nvSpPr>
          <p:cNvPr id="4" name="页脚占位符 3">
            <a:extLst>
              <a:ext uri="{FF2B5EF4-FFF2-40B4-BE49-F238E27FC236}">
                <a16:creationId xmlns:a16="http://schemas.microsoft.com/office/drawing/2014/main" id="{BD1E80DB-5086-A1C4-EFC3-8A33B82AF6A5}"/>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462579" y="1241948"/>
            <a:ext cx="11435379"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spcBef>
                <a:spcPts val="600"/>
              </a:spcBef>
              <a:buFont typeface="Wingdings" panose="05000000000000000000" pitchFamily="2" charset="2"/>
              <a:buChar char="Ø"/>
            </a:pPr>
            <a:r>
              <a:rPr lang="zh-CN" altLang="en-US" sz="2200" kern="0" dirty="0">
                <a:latin typeface="+mj-ea"/>
                <a:ea typeface="+mj-ea"/>
              </a:rPr>
              <a:t>使用所有数据来计算统计信息的代价较高，而且受到</a:t>
            </a:r>
            <a:r>
              <a:rPr lang="zh-CN" altLang="en-US" sz="2200" kern="0" dirty="0">
                <a:solidFill>
                  <a:srgbClr val="701988"/>
                </a:solidFill>
                <a:latin typeface="+mj-ea"/>
                <a:ea typeface="+mj-ea"/>
              </a:rPr>
              <a:t>统计信息不断动态改变</a:t>
            </a:r>
            <a:r>
              <a:rPr lang="zh-CN" altLang="en-US" sz="2200" kern="0" dirty="0">
                <a:latin typeface="+mj-ea"/>
                <a:ea typeface="+mj-ea"/>
              </a:rPr>
              <a:t>的影响</a:t>
            </a:r>
            <a:endParaRPr lang="en-US" altLang="zh-CN" sz="2200" kern="0" dirty="0">
              <a:latin typeface="+mj-ea"/>
              <a:ea typeface="+mj-ea"/>
            </a:endParaRPr>
          </a:p>
          <a:p>
            <a:pPr>
              <a:lnSpc>
                <a:spcPct val="150000"/>
              </a:lnSpc>
              <a:spcBef>
                <a:spcPts val="600"/>
              </a:spcBef>
              <a:buFont typeface="Wingdings" panose="05000000000000000000" pitchFamily="2" charset="2"/>
              <a:buChar char="Ø"/>
            </a:pPr>
            <a:r>
              <a:rPr lang="zh-CN" altLang="en-US" sz="2200" kern="0" dirty="0">
                <a:latin typeface="+mj-ea"/>
                <a:ea typeface="+mj-ea"/>
              </a:rPr>
              <a:t>数据库一般会选择在负载较低或发生了大量修改操作的时候才更新统计信息，以减少对正常业务的影响</a:t>
            </a:r>
            <a:endParaRPr lang="en-US" altLang="zh-CN" sz="2200" kern="0" dirty="0">
              <a:latin typeface="+mj-ea"/>
              <a:ea typeface="+mj-ea"/>
            </a:endParaRPr>
          </a:p>
          <a:p>
            <a:pPr>
              <a:lnSpc>
                <a:spcPct val="150000"/>
              </a:lnSpc>
              <a:spcBef>
                <a:spcPts val="600"/>
              </a:spcBef>
              <a:buFont typeface="Wingdings" panose="05000000000000000000" pitchFamily="2" charset="2"/>
              <a:buChar char="Ø"/>
            </a:pPr>
            <a:r>
              <a:rPr lang="zh-CN" altLang="en-US" sz="2200" kern="0" dirty="0">
                <a:latin typeface="+mj-ea"/>
                <a:ea typeface="+mj-ea"/>
              </a:rPr>
              <a:t>然而在关系表很大时，统计信息的更新仍然会给正常业务带来显著影响</a:t>
            </a:r>
            <a:endParaRPr lang="en-US" altLang="zh-CN" sz="2200" kern="0" dirty="0">
              <a:latin typeface="+mj-ea"/>
              <a:ea typeface="+mj-ea"/>
            </a:endParaRPr>
          </a:p>
          <a:p>
            <a:pPr>
              <a:lnSpc>
                <a:spcPct val="150000"/>
              </a:lnSpc>
              <a:spcBef>
                <a:spcPts val="600"/>
              </a:spcBef>
              <a:buFont typeface="Wingdings" panose="05000000000000000000" pitchFamily="2" charset="2"/>
              <a:buChar char="Ø"/>
            </a:pPr>
            <a:r>
              <a:rPr lang="zh-CN" altLang="en-US" sz="2200" kern="0" dirty="0">
                <a:latin typeface="+mj-ea"/>
                <a:ea typeface="+mj-ea"/>
              </a:rPr>
              <a:t>数据库在进行统计信息的计算和维护前，一般会使用</a:t>
            </a:r>
            <a:r>
              <a:rPr lang="zh-CN" altLang="en-US" sz="2200" kern="0" dirty="0">
                <a:solidFill>
                  <a:srgbClr val="701988"/>
                </a:solidFill>
                <a:latin typeface="+mj-ea"/>
                <a:ea typeface="+mj-ea"/>
              </a:rPr>
              <a:t>采样</a:t>
            </a:r>
            <a:r>
              <a:rPr lang="zh-CN" altLang="en-US" sz="2200" kern="0" dirty="0">
                <a:latin typeface="+mj-ea"/>
                <a:ea typeface="+mj-ea"/>
              </a:rPr>
              <a:t>方法维护</a:t>
            </a:r>
            <a:r>
              <a:rPr lang="zh-CN" altLang="en-US" sz="2200" kern="0" dirty="0">
                <a:solidFill>
                  <a:srgbClr val="701988"/>
                </a:solidFill>
                <a:latin typeface="+mj-ea"/>
                <a:ea typeface="+mj-ea"/>
              </a:rPr>
              <a:t>一个样本池</a:t>
            </a:r>
            <a:r>
              <a:rPr lang="zh-CN" altLang="en-US" sz="2200" kern="0" dirty="0">
                <a:latin typeface="+mj-ea"/>
                <a:ea typeface="+mj-ea"/>
              </a:rPr>
              <a:t>来代表其存储的全量元组</a:t>
            </a:r>
            <a:endParaRPr lang="en-US" altLang="zh-CN" sz="2200" kern="0" dirty="0">
              <a:latin typeface="+mj-ea"/>
              <a:ea typeface="+mj-ea"/>
            </a:endParaRPr>
          </a:p>
          <a:p>
            <a:pPr>
              <a:lnSpc>
                <a:spcPct val="150000"/>
              </a:lnSpc>
              <a:spcBef>
                <a:spcPts val="600"/>
              </a:spcBef>
              <a:buFont typeface="Wingdings" panose="05000000000000000000" pitchFamily="2" charset="2"/>
              <a:buChar char="Ø"/>
            </a:pPr>
            <a:r>
              <a:rPr lang="zh-CN" altLang="en-US" sz="2200" kern="0" dirty="0">
                <a:latin typeface="+mj-ea"/>
                <a:ea typeface="+mj-ea"/>
              </a:rPr>
              <a:t>优化器针对这个样本池来收集和维护统计信息，并在数据库发生更新时对应更新该样本池</a:t>
            </a:r>
            <a:endParaRPr lang="en-US" altLang="zh-CN" sz="2200" kern="0" dirty="0">
              <a:latin typeface="+mj-ea"/>
              <a:ea typeface="+mj-ea"/>
            </a:endParaRPr>
          </a:p>
          <a:p>
            <a:pPr>
              <a:lnSpc>
                <a:spcPct val="150000"/>
              </a:lnSpc>
              <a:spcBef>
                <a:spcPts val="600"/>
              </a:spcBef>
              <a:buFont typeface="Wingdings" panose="05000000000000000000" pitchFamily="2" charset="2"/>
              <a:buChar char="Ø"/>
            </a:pPr>
            <a:r>
              <a:rPr lang="zh-CN" altLang="en-US" sz="2200" kern="0" dirty="0">
                <a:latin typeface="+mj-ea"/>
                <a:ea typeface="+mj-ea"/>
              </a:rPr>
              <a:t>收集统计信息时机：业务闲、计划不准</a:t>
            </a:r>
            <a:endParaRPr lang="en-US" altLang="zh-CN" sz="2200" kern="0" dirty="0">
              <a:latin typeface="+mj-ea"/>
              <a:ea typeface="+mj-ea"/>
            </a:endParaRPr>
          </a:p>
          <a:p>
            <a:pPr lvl="1">
              <a:lnSpc>
                <a:spcPct val="150000"/>
              </a:lnSpc>
              <a:buFont typeface="Wingdings" pitchFamily="2" charset="2"/>
              <a:buChar char="Ø"/>
            </a:pPr>
            <a:endParaRPr lang="en-US" altLang="zh-CN" sz="2400" kern="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1102077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FA2A27-7AFB-4F38-45FE-881AA013CA29}"/>
              </a:ext>
            </a:extLst>
          </p:cNvPr>
          <p:cNvSpPr>
            <a:spLocks noGrp="1"/>
          </p:cNvSpPr>
          <p:nvPr>
            <p:ph type="sldNum" sz="quarter" idx="10"/>
          </p:nvPr>
        </p:nvSpPr>
        <p:spPr/>
        <p:txBody>
          <a:bodyPr/>
          <a:lstStyle/>
          <a:p>
            <a:fld id="{87BBDC00-B9E2-4EFD-9306-2934E87247C6}" type="slidenum">
              <a:rPr lang="zh-CN" altLang="en-US" smtClean="0"/>
              <a:pPr/>
              <a:t>94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基于采样的基数估计</a:t>
            </a:r>
            <a:endParaRPr kumimoji="1" lang="zh-CN" altLang="en-US" dirty="0"/>
          </a:p>
        </p:txBody>
      </p:sp>
      <p:sp>
        <p:nvSpPr>
          <p:cNvPr id="4" name="页脚占位符 3">
            <a:extLst>
              <a:ext uri="{FF2B5EF4-FFF2-40B4-BE49-F238E27FC236}">
                <a16:creationId xmlns:a16="http://schemas.microsoft.com/office/drawing/2014/main" id="{875FF2DA-03A1-2A92-D269-BE5179EC3AF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589031" y="1440308"/>
                <a:ext cx="10921051"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200" b="1" kern="0" dirty="0">
                    <a:latin typeface="+mj-ea"/>
                    <a:ea typeface="+mj-ea"/>
                  </a:rPr>
                  <a:t>蓄水池采样是一种</a:t>
                </a:r>
                <a:r>
                  <a:rPr lang="zh-CN" altLang="en-US" sz="2200" b="1" kern="0" dirty="0">
                    <a:solidFill>
                      <a:srgbClr val="701988"/>
                    </a:solidFill>
                    <a:latin typeface="+mj-ea"/>
                    <a:ea typeface="+mj-ea"/>
                  </a:rPr>
                  <a:t>随机采样</a:t>
                </a:r>
                <a:r>
                  <a:rPr lang="zh-CN" altLang="en-US" sz="2200" b="1" kern="0" dirty="0">
                    <a:latin typeface="+mj-ea"/>
                    <a:ea typeface="+mj-ea"/>
                  </a:rPr>
                  <a:t>算法，在不知道集合大小</a:t>
                </a:r>
                <a:r>
                  <a:rPr lang="en-US" altLang="zh-CN" sz="2200" b="1" kern="0" dirty="0">
                    <a:latin typeface="+mj-ea"/>
                    <a:ea typeface="+mj-ea"/>
                  </a:rPr>
                  <a:t>n</a:t>
                </a:r>
                <a:r>
                  <a:rPr lang="zh-CN" altLang="en-US" sz="2200" b="1" kern="0" dirty="0">
                    <a:latin typeface="+mj-ea"/>
                    <a:ea typeface="+mj-ea"/>
                  </a:rPr>
                  <a:t>的情况下，随机抽取</a:t>
                </a:r>
                <a:r>
                  <a:rPr lang="en-US" altLang="zh-CN" sz="2200" b="1" kern="0" dirty="0">
                    <a:latin typeface="+mj-ea"/>
                    <a:ea typeface="+mj-ea"/>
                  </a:rPr>
                  <a:t>k</a:t>
                </a:r>
                <a:r>
                  <a:rPr lang="zh-CN" altLang="en-US" sz="2200" b="1" kern="0" dirty="0">
                    <a:latin typeface="+mj-ea"/>
                    <a:ea typeface="+mj-ea"/>
                  </a:rPr>
                  <a:t>个样本。</a:t>
                </a:r>
                <a:endParaRPr lang="en-US" altLang="zh-CN" sz="2200" b="1" kern="0" dirty="0">
                  <a:latin typeface="+mj-ea"/>
                  <a:ea typeface="+mj-ea"/>
                </a:endParaRPr>
              </a:p>
              <a:p>
                <a:pPr>
                  <a:lnSpc>
                    <a:spcPct val="150000"/>
                  </a:lnSpc>
                  <a:buFont typeface="Wingdings" panose="05000000000000000000" pitchFamily="2" charset="2"/>
                  <a:buChar char="Ø"/>
                </a:pPr>
                <a:endParaRPr lang="en-US" altLang="zh-CN" sz="2200" kern="0" dirty="0">
                  <a:latin typeface="+mj-ea"/>
                  <a:ea typeface="+mj-ea"/>
                </a:endParaRPr>
              </a:p>
              <a:p>
                <a:pPr>
                  <a:lnSpc>
                    <a:spcPct val="150000"/>
                  </a:lnSpc>
                  <a:buFont typeface="Wingdings" panose="05000000000000000000" pitchFamily="2" charset="2"/>
                  <a:buChar char="Ø"/>
                </a:pPr>
                <a:r>
                  <a:rPr lang="zh-CN" altLang="en-US" sz="2200" b="1" kern="0" dirty="0">
                    <a:latin typeface="+mj-ea"/>
                    <a:ea typeface="+mj-ea"/>
                  </a:rPr>
                  <a:t>采样过程只需遍历一次集合中的所有元素，并且保证每个元素的被选取概率相同。采样的原理如下</a:t>
                </a:r>
                <a:r>
                  <a:rPr lang="zh-CN" altLang="en-US" sz="2200" kern="0" dirty="0">
                    <a:latin typeface="+mj-ea"/>
                    <a:ea typeface="+mj-ea"/>
                  </a:rPr>
                  <a:t>：</a:t>
                </a:r>
                <a:endParaRPr lang="en-US" altLang="zh-CN" sz="2200" kern="0"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维护一个大小为</a:t>
                </a:r>
                <a:r>
                  <a:rPr lang="en-US" altLang="zh-CN" sz="2000" kern="0" dirty="0">
                    <a:latin typeface="+mj-ea"/>
                    <a:ea typeface="+mj-ea"/>
                  </a:rPr>
                  <a:t>k</a:t>
                </a:r>
                <a:r>
                  <a:rPr lang="zh-CN" altLang="en-US" sz="2000" kern="0" dirty="0">
                    <a:latin typeface="+mj-ea"/>
                    <a:ea typeface="+mj-ea"/>
                  </a:rPr>
                  <a:t>的蓄水池，集合中</a:t>
                </a:r>
                <a:r>
                  <a:rPr lang="zh-CN" altLang="en-US" sz="2000" kern="0" dirty="0">
                    <a:solidFill>
                      <a:srgbClr val="701988"/>
                    </a:solidFill>
                    <a:latin typeface="+mj-ea"/>
                    <a:ea typeface="+mj-ea"/>
                  </a:rPr>
                  <a:t>前</a:t>
                </a:r>
                <a:r>
                  <a:rPr lang="en-US" altLang="zh-CN" sz="2000" kern="0" dirty="0">
                    <a:solidFill>
                      <a:srgbClr val="701988"/>
                    </a:solidFill>
                    <a:latin typeface="+mj-ea"/>
                    <a:ea typeface="+mj-ea"/>
                  </a:rPr>
                  <a:t>k</a:t>
                </a:r>
                <a:r>
                  <a:rPr lang="zh-CN" altLang="en-US" sz="2000" kern="0" dirty="0">
                    <a:solidFill>
                      <a:srgbClr val="701988"/>
                    </a:solidFill>
                    <a:latin typeface="+mj-ea"/>
                    <a:ea typeface="+mj-ea"/>
                  </a:rPr>
                  <a:t>个元素用于初始化蓄水池</a:t>
                </a:r>
                <a:endParaRPr lang="en-US" altLang="zh-CN" sz="2000" kern="0" dirty="0">
                  <a:solidFill>
                    <a:srgbClr val="701988"/>
                  </a:solidFill>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对于后续的</a:t>
                </a:r>
                <a:r>
                  <a:rPr lang="zh-CN" altLang="en-US" sz="2000" kern="0" dirty="0">
                    <a:solidFill>
                      <a:srgbClr val="701988"/>
                    </a:solidFill>
                    <a:latin typeface="+mj-ea"/>
                    <a:ea typeface="+mj-ea"/>
                  </a:rPr>
                  <a:t>第</a:t>
                </a:r>
                <a:r>
                  <a:rPr lang="en-US" altLang="zh-CN" sz="2000" kern="0" dirty="0" err="1">
                    <a:solidFill>
                      <a:srgbClr val="701988"/>
                    </a:solidFill>
                    <a:latin typeface="+mj-ea"/>
                    <a:ea typeface="+mj-ea"/>
                  </a:rPr>
                  <a:t>i</a:t>
                </a:r>
                <a:r>
                  <a:rPr lang="en-US" altLang="zh-CN" sz="2000" kern="0" dirty="0">
                    <a:solidFill>
                      <a:srgbClr val="701988"/>
                    </a:solidFill>
                    <a:latin typeface="+mj-ea"/>
                    <a:ea typeface="+mj-ea"/>
                  </a:rPr>
                  <a:t>(</a:t>
                </a:r>
                <a:r>
                  <a:rPr lang="en-US" altLang="zh-CN" sz="2000" kern="0" dirty="0" err="1">
                    <a:solidFill>
                      <a:srgbClr val="701988"/>
                    </a:solidFill>
                    <a:latin typeface="+mj-ea"/>
                    <a:ea typeface="+mj-ea"/>
                  </a:rPr>
                  <a:t>i</a:t>
                </a:r>
                <a:r>
                  <a:rPr lang="en-US" altLang="zh-CN" sz="2000" kern="0" dirty="0">
                    <a:solidFill>
                      <a:srgbClr val="701988"/>
                    </a:solidFill>
                    <a:latin typeface="+mj-ea"/>
                    <a:ea typeface="+mj-ea"/>
                  </a:rPr>
                  <a:t>&gt;k)</a:t>
                </a:r>
                <a:r>
                  <a:rPr lang="zh-CN" altLang="en-US" sz="2000" kern="0" dirty="0">
                    <a:solidFill>
                      <a:srgbClr val="701988"/>
                    </a:solidFill>
                    <a:latin typeface="+mj-ea"/>
                    <a:ea typeface="+mj-ea"/>
                  </a:rPr>
                  <a:t>个元素，都以</a:t>
                </a:r>
                <a14:m>
                  <m:oMath xmlns:m="http://schemas.openxmlformats.org/officeDocument/2006/math">
                    <m:f>
                      <m:fPr>
                        <m:ctrlPr>
                          <a:rPr lang="zh-CN" altLang="zh-CN" sz="2000" i="1" smtClean="0">
                            <a:solidFill>
                              <a:srgbClr val="701988"/>
                            </a:solidFill>
                            <a:effectLst/>
                            <a:latin typeface="Cambria Math" panose="02040503050406030204" pitchFamily="18" charset="0"/>
                            <a:ea typeface="+mj-ea"/>
                          </a:rPr>
                        </m:ctrlPr>
                      </m:fPr>
                      <m:num>
                        <m:r>
                          <a:rPr lang="en-US" altLang="zh-CN" sz="2000" i="1" kern="100">
                            <a:solidFill>
                              <a:srgbClr val="701988"/>
                            </a:solidFill>
                            <a:effectLst/>
                            <a:latin typeface="Cambria Math" panose="02040503050406030204" pitchFamily="18" charset="0"/>
                            <a:ea typeface="+mj-ea"/>
                            <a:cs typeface="Times New Roman" panose="02020603050405020304" pitchFamily="18" charset="0"/>
                          </a:rPr>
                          <m:t>𝑘</m:t>
                        </m:r>
                      </m:num>
                      <m:den>
                        <m:r>
                          <a:rPr lang="en-US" altLang="zh-CN" sz="2000" i="1" kern="100">
                            <a:solidFill>
                              <a:srgbClr val="701988"/>
                            </a:solidFill>
                            <a:effectLst/>
                            <a:latin typeface="Cambria Math" panose="02040503050406030204" pitchFamily="18" charset="0"/>
                            <a:ea typeface="+mj-ea"/>
                            <a:cs typeface="Times New Roman" panose="02020603050405020304" pitchFamily="18" charset="0"/>
                          </a:rPr>
                          <m:t>𝑖</m:t>
                        </m:r>
                      </m:den>
                    </m:f>
                  </m:oMath>
                </a14:m>
                <a:r>
                  <a:rPr lang="zh-CN" altLang="en-US" sz="2000" kern="0" dirty="0">
                    <a:solidFill>
                      <a:srgbClr val="701988"/>
                    </a:solidFill>
                    <a:latin typeface="+mj-ea"/>
                    <a:ea typeface="+mj-ea"/>
                  </a:rPr>
                  <a:t>的概率替换蓄水池中的元素</a:t>
                </a:r>
                <a:r>
                  <a:rPr lang="zh-CN" altLang="en-US" sz="2000" kern="0" dirty="0">
                    <a:latin typeface="+mj-ea"/>
                    <a:ea typeface="+mj-ea"/>
                  </a:rPr>
                  <a:t>，且蓄水池中每个元素被替换的概率均为</a:t>
                </a:r>
                <a14:m>
                  <m:oMath xmlns:m="http://schemas.openxmlformats.org/officeDocument/2006/math">
                    <m:f>
                      <m:fPr>
                        <m:ctrlPr>
                          <a:rPr lang="zh-CN" altLang="zh-CN" sz="2000" i="1">
                            <a:latin typeface="Cambria Math" panose="02040503050406030204" pitchFamily="18" charset="0"/>
                            <a:ea typeface="+mj-ea"/>
                          </a:rPr>
                        </m:ctrlPr>
                      </m:fPr>
                      <m:num>
                        <m:r>
                          <a:rPr lang="en-US" altLang="zh-CN" sz="2000" i="1">
                            <a:latin typeface="Cambria Math" panose="02040503050406030204" pitchFamily="18" charset="0"/>
                            <a:ea typeface="+mj-ea"/>
                          </a:rPr>
                          <m:t>1</m:t>
                        </m:r>
                      </m:num>
                      <m:den>
                        <m:r>
                          <a:rPr lang="en-US" altLang="zh-CN" sz="2000" i="1">
                            <a:latin typeface="Cambria Math" panose="02040503050406030204" pitchFamily="18" charset="0"/>
                            <a:ea typeface="+mj-ea"/>
                          </a:rPr>
                          <m:t>𝑘</m:t>
                        </m:r>
                      </m:den>
                    </m:f>
                  </m:oMath>
                </a14:m>
                <a:r>
                  <a:rPr lang="zh-CN" altLang="zh-CN" sz="2000" dirty="0">
                    <a:latin typeface="+mj-ea"/>
                    <a:ea typeface="+mj-ea"/>
                  </a:rPr>
                  <a:t> </a:t>
                </a:r>
                <a:endParaRPr lang="en-US" altLang="zh-CN" sz="2000" kern="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589031" y="1440308"/>
                <a:ext cx="10921051" cy="4876801"/>
              </a:xfrm>
              <a:prstGeom prst="rect">
                <a:avLst/>
              </a:prstGeom>
              <a:blipFill>
                <a:blip r:embed="rId3"/>
                <a:stretch>
                  <a:fillRect l="-581" r="-581"/>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55822205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FA2A27-7AFB-4F38-45FE-881AA013CA29}"/>
              </a:ext>
            </a:extLst>
          </p:cNvPr>
          <p:cNvSpPr>
            <a:spLocks noGrp="1"/>
          </p:cNvSpPr>
          <p:nvPr>
            <p:ph type="sldNum" sz="quarter" idx="10"/>
          </p:nvPr>
        </p:nvSpPr>
        <p:spPr/>
        <p:txBody>
          <a:bodyPr/>
          <a:lstStyle/>
          <a:p>
            <a:fld id="{87BBDC00-B9E2-4EFD-9306-2934E87247C6}" type="slidenum">
              <a:rPr lang="zh-CN" altLang="en-US" smtClean="0"/>
              <a:pPr/>
              <a:t>95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蓄水池采样证明</a:t>
            </a:r>
          </a:p>
        </p:txBody>
      </p:sp>
      <p:sp>
        <p:nvSpPr>
          <p:cNvPr id="5" name="页脚占位符 4">
            <a:extLst>
              <a:ext uri="{FF2B5EF4-FFF2-40B4-BE49-F238E27FC236}">
                <a16:creationId xmlns:a16="http://schemas.microsoft.com/office/drawing/2014/main" id="{324EE11F-2A1D-102A-8A8D-025F9951FFB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824448" cy="582168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spcBef>
                    <a:spcPts val="600"/>
                  </a:spcBef>
                  <a:buFont typeface="Wingdings" panose="05000000000000000000" pitchFamily="2" charset="2"/>
                  <a:buChar char="Ø"/>
                </a:pPr>
                <a:r>
                  <a:rPr lang="zh-CN" altLang="en-US" sz="2200" b="1" kern="0" dirty="0">
                    <a:latin typeface="+mj-ea"/>
                    <a:ea typeface="+mj-ea"/>
                  </a:rPr>
                  <a:t>对于第</a:t>
                </a:r>
                <a:r>
                  <a:rPr lang="en-US" altLang="zh-CN" sz="2200" b="1" kern="0" dirty="0" err="1">
                    <a:latin typeface="+mj-ea"/>
                    <a:ea typeface="+mj-ea"/>
                  </a:rPr>
                  <a:t>i</a:t>
                </a:r>
                <a:r>
                  <a:rPr lang="zh-CN" altLang="en-US" sz="2200" b="1" kern="0" dirty="0">
                    <a:latin typeface="+mj-ea"/>
                    <a:ea typeface="+mj-ea"/>
                  </a:rPr>
                  <a:t>项（</a:t>
                </a:r>
                <a:r>
                  <a:rPr lang="en-US" altLang="zh-CN" sz="2200" b="1" kern="0" dirty="0">
                    <a:latin typeface="+mj-ea"/>
                    <a:ea typeface="+mj-ea"/>
                  </a:rPr>
                  <a:t>i&lt;=k</a:t>
                </a:r>
                <a:r>
                  <a:rPr lang="zh-CN" altLang="en-US" sz="2200" b="1" kern="0" dirty="0">
                    <a:latin typeface="+mj-ea"/>
                    <a:ea typeface="+mj-ea"/>
                  </a:rPr>
                  <a:t>）</a:t>
                </a:r>
                <a:endParaRPr lang="en-US" altLang="zh-CN" sz="2200" b="1" kern="0" dirty="0">
                  <a:latin typeface="+mj-ea"/>
                  <a:ea typeface="+mj-ea"/>
                </a:endParaRPr>
              </a:p>
              <a:p>
                <a:pPr lvl="1">
                  <a:spcBef>
                    <a:spcPts val="600"/>
                  </a:spcBef>
                  <a:buFont typeface="Arial" panose="020B0604020202020204" pitchFamily="34" charset="0"/>
                  <a:buChar char="•"/>
                </a:pPr>
                <a:r>
                  <a:rPr lang="zh-CN" altLang="en-US" sz="2000" kern="0" dirty="0">
                    <a:latin typeface="+mj-ea"/>
                    <a:ea typeface="+mj-ea"/>
                  </a:rPr>
                  <a:t>根据算法定义，前</a:t>
                </a:r>
                <a:r>
                  <a:rPr lang="en-US" altLang="zh-CN" sz="2000" b="1" kern="0" dirty="0">
                    <a:solidFill>
                      <a:srgbClr val="0432FF"/>
                    </a:solidFill>
                    <a:latin typeface="+mj-ea"/>
                    <a:ea typeface="+mj-ea"/>
                  </a:rPr>
                  <a:t>k</a:t>
                </a:r>
                <a:r>
                  <a:rPr lang="zh-CN" altLang="en-US" sz="2000" kern="0" dirty="0">
                    <a:latin typeface="+mj-ea"/>
                    <a:ea typeface="+mj-ea"/>
                  </a:rPr>
                  <a:t>步中被选中的概率为</a:t>
                </a:r>
                <a:r>
                  <a:rPr lang="en-US" altLang="zh-CN" sz="2000" kern="0" dirty="0">
                    <a:latin typeface="+mj-ea"/>
                    <a:ea typeface="+mj-ea"/>
                  </a:rPr>
                  <a:t>1</a:t>
                </a:r>
              </a:p>
              <a:p>
                <a:pPr lvl="1">
                  <a:spcBef>
                    <a:spcPts val="600"/>
                  </a:spcBef>
                  <a:buFont typeface="Arial" panose="020B0604020202020204" pitchFamily="34" charset="0"/>
                  <a:buChar char="•"/>
                </a:pPr>
                <a:r>
                  <a:rPr lang="zh-CN" altLang="en-US" sz="2000" kern="0" dirty="0">
                    <a:latin typeface="+mj-ea"/>
                    <a:ea typeface="+mj-ea"/>
                  </a:rPr>
                  <a:t>第</a:t>
                </a:r>
                <a:r>
                  <a:rPr lang="en-US" altLang="zh-CN" sz="2000" b="1" kern="0" dirty="0">
                    <a:solidFill>
                      <a:srgbClr val="0432FF"/>
                    </a:solidFill>
                    <a:latin typeface="+mj-ea"/>
                    <a:ea typeface="+mj-ea"/>
                  </a:rPr>
                  <a:t>k+1</a:t>
                </a:r>
                <a:r>
                  <a:rPr lang="zh-CN" altLang="en-US" sz="2000" kern="0" dirty="0">
                    <a:latin typeface="+mj-ea"/>
                    <a:ea typeface="+mj-ea"/>
                  </a:rPr>
                  <a:t>步中，被替换的概率为：</a:t>
                </a:r>
                <a:endParaRPr lang="en-US" altLang="zh-CN" sz="2000" kern="0" dirty="0">
                  <a:latin typeface="+mj-ea"/>
                  <a:ea typeface="+mj-ea"/>
                </a:endParaRPr>
              </a:p>
              <a:p>
                <a:pPr lvl="2">
                  <a:spcBef>
                    <a:spcPts val="600"/>
                  </a:spcBef>
                  <a:buFont typeface="Arial" panose="020B0604020202020204" pitchFamily="34" charset="0"/>
                  <a:buChar char="•"/>
                </a:pPr>
                <a:r>
                  <a:rPr lang="zh-CN" altLang="en-US" sz="2000" kern="0" dirty="0">
                    <a:latin typeface="+mj-ea"/>
                    <a:ea typeface="+mj-ea"/>
                  </a:rPr>
                  <a:t>选中第</a:t>
                </a:r>
                <a:r>
                  <a:rPr lang="en-US" altLang="zh-CN" sz="2000" kern="0" dirty="0">
                    <a:latin typeface="+mj-ea"/>
                    <a:ea typeface="+mj-ea"/>
                  </a:rPr>
                  <a:t>k+1</a:t>
                </a:r>
                <a:r>
                  <a:rPr lang="zh-CN" altLang="en-US" sz="2000" kern="0" dirty="0">
                    <a:latin typeface="+mj-ea"/>
                    <a:ea typeface="+mj-ea"/>
                  </a:rPr>
                  <a:t>项的概率 * 选中</a:t>
                </a:r>
                <a:r>
                  <a:rPr lang="en-US" altLang="zh-CN" sz="2000" kern="0" dirty="0" err="1">
                    <a:latin typeface="+mj-ea"/>
                    <a:ea typeface="+mj-ea"/>
                  </a:rPr>
                  <a:t>i</a:t>
                </a:r>
                <a:r>
                  <a:rPr lang="zh-CN" altLang="en-US" sz="2000" kern="0" dirty="0">
                    <a:latin typeface="+mj-ea"/>
                    <a:ea typeface="+mj-ea"/>
                  </a:rPr>
                  <a:t>来替换的概率，即为 </a:t>
                </a:r>
                <a14:m>
                  <m:oMath xmlns:m="http://schemas.openxmlformats.org/officeDocument/2006/math">
                    <m:f>
                      <m:fPr>
                        <m:ctrlPr>
                          <a:rPr lang="en-US" altLang="zh-CN" sz="2000" i="1" kern="0" smtClea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𝑘</m:t>
                        </m:r>
                      </m:num>
                      <m:den>
                        <m:r>
                          <m:rPr>
                            <m:sty m:val="p"/>
                          </m:rPr>
                          <a:rPr lang="en-US" altLang="zh-CN" sz="2000" i="1" kern="0">
                            <a:latin typeface="Cambria Math" panose="02040503050406030204" pitchFamily="18" charset="0"/>
                            <a:ea typeface="+mj-ea"/>
                          </a:rPr>
                          <m:t>k</m:t>
                        </m:r>
                        <m:r>
                          <a:rPr lang="en-US" altLang="zh-CN" sz="2000" b="0" i="1" kern="0" smtClean="0">
                            <a:latin typeface="Cambria Math" panose="02040503050406030204" pitchFamily="18" charset="0"/>
                            <a:ea typeface="+mj-ea"/>
                          </a:rPr>
                          <m:t>+1</m:t>
                        </m:r>
                      </m:den>
                    </m:f>
                    <m:r>
                      <a:rPr lang="en-US" altLang="zh-CN" sz="2000" b="0" i="1" kern="0" smtClean="0">
                        <a:latin typeface="Cambria Math" panose="02040503050406030204" pitchFamily="18" charset="0"/>
                        <a:ea typeface="+mj-ea"/>
                      </a:rPr>
                      <m:t>∗</m:t>
                    </m:r>
                    <m:f>
                      <m:fPr>
                        <m:ctrlPr>
                          <a:rPr lang="en-US" altLang="zh-CN" sz="2000" i="1" ker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1</m:t>
                        </m:r>
                      </m:num>
                      <m:den>
                        <m:r>
                          <m:rPr>
                            <m:sty m:val="p"/>
                          </m:rPr>
                          <a:rPr lang="en-US" altLang="zh-CN" sz="2000" i="1" kern="0">
                            <a:latin typeface="Cambria Math" panose="02040503050406030204" pitchFamily="18" charset="0"/>
                            <a:ea typeface="+mj-ea"/>
                          </a:rPr>
                          <m:t>k</m:t>
                        </m:r>
                      </m:den>
                    </m:f>
                    <m:r>
                      <a:rPr lang="en-US" altLang="zh-CN" sz="2000" b="0" i="1" kern="0" smtClean="0">
                        <a:latin typeface="Cambria Math" panose="02040503050406030204" pitchFamily="18" charset="0"/>
                        <a:ea typeface="+mj-ea"/>
                      </a:rPr>
                      <m:t>=</m:t>
                    </m:r>
                    <m:f>
                      <m:fPr>
                        <m:ctrlPr>
                          <a:rPr lang="en-US" altLang="zh-CN" sz="2000" b="0" i="1" kern="0" smtClea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1</m:t>
                        </m:r>
                      </m:num>
                      <m:den>
                        <m:r>
                          <a:rPr lang="en-US" altLang="zh-CN" sz="2000" b="0" i="1" kern="0" smtClean="0">
                            <a:latin typeface="Cambria Math" panose="02040503050406030204" pitchFamily="18" charset="0"/>
                            <a:ea typeface="+mj-ea"/>
                          </a:rPr>
                          <m:t>𝑘</m:t>
                        </m:r>
                        <m:r>
                          <a:rPr lang="en-US" altLang="zh-CN" sz="2000" b="0" i="1" kern="0" smtClean="0">
                            <a:latin typeface="Cambria Math" panose="02040503050406030204" pitchFamily="18" charset="0"/>
                            <a:ea typeface="+mj-ea"/>
                          </a:rPr>
                          <m:t>+1</m:t>
                        </m:r>
                      </m:den>
                    </m:f>
                  </m:oMath>
                </a14:m>
                <a:endParaRPr lang="en-US" altLang="zh-CN" sz="2000" kern="0" dirty="0">
                  <a:latin typeface="+mj-ea"/>
                  <a:ea typeface="+mj-ea"/>
                </a:endParaRPr>
              </a:p>
              <a:p>
                <a:pPr lvl="1">
                  <a:spcBef>
                    <a:spcPts val="600"/>
                  </a:spcBef>
                  <a:buFont typeface="Arial" panose="020B0604020202020204" pitchFamily="34" charset="0"/>
                  <a:buChar char="•"/>
                </a:pPr>
                <a:r>
                  <a:rPr lang="zh-CN" altLang="en-US" sz="2000" kern="0" dirty="0">
                    <a:latin typeface="+mj-ea"/>
                    <a:ea typeface="+mj-ea"/>
                  </a:rPr>
                  <a:t>因此，第</a:t>
                </a:r>
                <a:r>
                  <a:rPr lang="en-US" altLang="zh-CN" sz="2000" b="1" kern="0" dirty="0">
                    <a:solidFill>
                      <a:srgbClr val="0432FF"/>
                    </a:solidFill>
                    <a:latin typeface="+mj-ea"/>
                    <a:ea typeface="+mj-ea"/>
                  </a:rPr>
                  <a:t>k+1</a:t>
                </a:r>
                <a:r>
                  <a:rPr lang="zh-CN" altLang="en-US" sz="2000" kern="0" dirty="0">
                    <a:latin typeface="+mj-ea"/>
                    <a:ea typeface="+mj-ea"/>
                  </a:rPr>
                  <a:t>步中，没有被替换的概率为：</a:t>
                </a:r>
                <a14:m>
                  <m:oMath xmlns:m="http://schemas.openxmlformats.org/officeDocument/2006/math">
                    <m:r>
                      <a:rPr lang="en-US" altLang="zh-CN" sz="2000" b="0" i="1" kern="0" smtClean="0">
                        <a:latin typeface="Cambria Math" panose="02040503050406030204" pitchFamily="18" charset="0"/>
                        <a:ea typeface="+mj-ea"/>
                      </a:rPr>
                      <m:t>1−</m:t>
                    </m:r>
                    <m:f>
                      <m:fPr>
                        <m:ctrlPr>
                          <a:rPr lang="en-US" altLang="zh-CN" sz="2000" b="0" i="1" kern="0" smtClea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1</m:t>
                        </m:r>
                      </m:num>
                      <m:den>
                        <m:r>
                          <a:rPr lang="en-US" altLang="zh-CN" sz="2000" i="1" kern="0">
                            <a:latin typeface="Cambria Math" panose="02040503050406030204" pitchFamily="18" charset="0"/>
                            <a:ea typeface="+mj-ea"/>
                          </a:rPr>
                          <m:t>𝑘</m:t>
                        </m:r>
                        <m:r>
                          <a:rPr lang="en-US" altLang="zh-CN" sz="2000" b="0" i="1" kern="0" smtClean="0">
                            <a:latin typeface="Cambria Math" panose="02040503050406030204" pitchFamily="18" charset="0"/>
                            <a:ea typeface="+mj-ea"/>
                          </a:rPr>
                          <m:t>+1</m:t>
                        </m:r>
                      </m:den>
                    </m:f>
                  </m:oMath>
                </a14:m>
                <a:r>
                  <a:rPr lang="en-US" altLang="zh-CN" sz="2000" kern="0" dirty="0">
                    <a:latin typeface="+mj-ea"/>
                    <a:ea typeface="+mj-ea"/>
                  </a:rPr>
                  <a:t> = </a:t>
                </a:r>
                <a14:m>
                  <m:oMath xmlns:m="http://schemas.openxmlformats.org/officeDocument/2006/math">
                    <m:f>
                      <m:fPr>
                        <m:ctrlPr>
                          <a:rPr lang="en-US" altLang="zh-CN" sz="2000" i="1" ker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𝑘</m:t>
                        </m:r>
                      </m:num>
                      <m:den>
                        <m:r>
                          <a:rPr lang="en-US" altLang="zh-CN" sz="2000" i="1" kern="0">
                            <a:latin typeface="Cambria Math" panose="02040503050406030204" pitchFamily="18" charset="0"/>
                            <a:ea typeface="+mj-ea"/>
                          </a:rPr>
                          <m:t>𝑘</m:t>
                        </m:r>
                        <m:r>
                          <a:rPr lang="en-US" altLang="zh-CN" sz="2000" i="1" kern="0">
                            <a:latin typeface="Cambria Math" panose="02040503050406030204" pitchFamily="18" charset="0"/>
                            <a:ea typeface="+mj-ea"/>
                          </a:rPr>
                          <m:t>+1</m:t>
                        </m:r>
                      </m:den>
                    </m:f>
                  </m:oMath>
                </a14:m>
                <a:endParaRPr lang="en-US" altLang="zh-CN" sz="2000" kern="0" dirty="0">
                  <a:latin typeface="+mj-ea"/>
                  <a:ea typeface="+mj-ea"/>
                </a:endParaRPr>
              </a:p>
              <a:p>
                <a:pPr lvl="1">
                  <a:spcBef>
                    <a:spcPts val="600"/>
                  </a:spcBef>
                  <a:buFont typeface="Arial" panose="020B0604020202020204" pitchFamily="34" charset="0"/>
                  <a:buChar char="•"/>
                </a:pPr>
                <a:r>
                  <a:rPr lang="zh-CN" altLang="en-US" sz="2000" kern="0" dirty="0">
                    <a:latin typeface="+mj-ea"/>
                    <a:ea typeface="+mj-ea"/>
                  </a:rPr>
                  <a:t>同理可得，在第</a:t>
                </a:r>
                <a:r>
                  <a:rPr lang="en-US" altLang="zh-CN" sz="2000" b="1" kern="0" dirty="0">
                    <a:solidFill>
                      <a:srgbClr val="0432FF"/>
                    </a:solidFill>
                    <a:latin typeface="+mj-ea"/>
                    <a:ea typeface="+mj-ea"/>
                  </a:rPr>
                  <a:t>k+2</a:t>
                </a:r>
                <a:r>
                  <a:rPr lang="zh-CN" altLang="en-US" sz="2000" kern="0" dirty="0">
                    <a:latin typeface="+mj-ea"/>
                    <a:ea typeface="+mj-ea"/>
                  </a:rPr>
                  <a:t>步中，没有被替换的概率为：</a:t>
                </a:r>
                <a:r>
                  <a:rPr lang="en-US" altLang="zh-CN" sz="2000" kern="0" dirty="0">
                    <a:latin typeface="+mj-ea"/>
                    <a:ea typeface="+mj-ea"/>
                  </a:rPr>
                  <a:t> </a:t>
                </a:r>
                <a14:m>
                  <m:oMath xmlns:m="http://schemas.openxmlformats.org/officeDocument/2006/math">
                    <m:f>
                      <m:fPr>
                        <m:ctrlPr>
                          <a:rPr lang="en-US" altLang="zh-CN" sz="2000" i="1" ker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𝑘</m:t>
                        </m:r>
                      </m:num>
                      <m:den>
                        <m:r>
                          <a:rPr lang="en-US" altLang="zh-CN" sz="2000" i="1" kern="0">
                            <a:latin typeface="Cambria Math" panose="02040503050406030204" pitchFamily="18" charset="0"/>
                            <a:ea typeface="+mj-ea"/>
                          </a:rPr>
                          <m:t>𝑘</m:t>
                        </m:r>
                        <m:r>
                          <a:rPr lang="en-US" altLang="zh-CN" sz="2000" i="1" kern="0">
                            <a:latin typeface="Cambria Math" panose="02040503050406030204" pitchFamily="18" charset="0"/>
                            <a:ea typeface="+mj-ea"/>
                          </a:rPr>
                          <m:t>+2</m:t>
                        </m:r>
                      </m:den>
                    </m:f>
                  </m:oMath>
                </a14:m>
                <a:endParaRPr lang="en-US" altLang="zh-CN" sz="2000" kern="0" dirty="0">
                  <a:latin typeface="+mj-ea"/>
                  <a:ea typeface="+mj-ea"/>
                </a:endParaRPr>
              </a:p>
              <a:p>
                <a:pPr lvl="1">
                  <a:spcBef>
                    <a:spcPts val="600"/>
                  </a:spcBef>
                  <a:buFont typeface="Arial" panose="020B0604020202020204" pitchFamily="34" charset="0"/>
                  <a:buChar char="•"/>
                </a:pPr>
                <a:r>
                  <a:rPr lang="zh-CN" altLang="en-US" sz="2000" kern="0" dirty="0">
                    <a:latin typeface="+mj-ea"/>
                    <a:ea typeface="+mj-ea"/>
                  </a:rPr>
                  <a:t>前</a:t>
                </a:r>
                <a:r>
                  <a:rPr lang="en-US" altLang="zh-CN" sz="2000" b="1" kern="0" dirty="0">
                    <a:solidFill>
                      <a:srgbClr val="0432FF"/>
                    </a:solidFill>
                    <a:latin typeface="+mj-ea"/>
                    <a:ea typeface="+mj-ea"/>
                  </a:rPr>
                  <a:t>n</a:t>
                </a:r>
                <a:r>
                  <a:rPr lang="zh-CN" altLang="en-US" sz="2000" kern="0" dirty="0">
                    <a:latin typeface="+mj-ea"/>
                    <a:ea typeface="+mj-ea"/>
                  </a:rPr>
                  <a:t>步没有被替换的概率：</a:t>
                </a:r>
                <a:endParaRPr lang="en-US" altLang="zh-CN" sz="2000" kern="0" dirty="0">
                  <a:latin typeface="+mj-ea"/>
                  <a:ea typeface="+mj-ea"/>
                </a:endParaRPr>
              </a:p>
              <a:p>
                <a:pPr marL="422041" lvl="1" indent="0">
                  <a:spcBef>
                    <a:spcPts val="600"/>
                  </a:spcBef>
                  <a:buNone/>
                </a:pPr>
                <a:r>
                  <a:rPr lang="zh-CN" altLang="en-US" sz="2000" kern="0" dirty="0">
                    <a:latin typeface="+mj-ea"/>
                    <a:ea typeface="+mj-ea"/>
                  </a:rPr>
                  <a:t> </a:t>
                </a:r>
                <a:r>
                  <a:rPr lang="en-US" altLang="zh-CN" sz="2000" kern="0" dirty="0">
                    <a:latin typeface="+mj-ea"/>
                    <a:ea typeface="+mj-ea"/>
                  </a:rPr>
                  <a:t>=</a:t>
                </a:r>
                <a:r>
                  <a:rPr lang="zh-CN" altLang="en-US" sz="2000" kern="0" dirty="0">
                    <a:latin typeface="+mj-ea"/>
                    <a:ea typeface="+mj-ea"/>
                  </a:rPr>
                  <a:t> 前</a:t>
                </a:r>
                <a:r>
                  <a:rPr lang="en-US" altLang="zh-CN" sz="2000" b="1" kern="0" dirty="0">
                    <a:solidFill>
                      <a:srgbClr val="0432FF"/>
                    </a:solidFill>
                    <a:latin typeface="+mj-ea"/>
                    <a:ea typeface="+mj-ea"/>
                  </a:rPr>
                  <a:t>k</a:t>
                </a:r>
                <a:r>
                  <a:rPr lang="zh-CN" altLang="en-US" sz="2000" kern="0" dirty="0">
                    <a:latin typeface="+mj-ea"/>
                    <a:ea typeface="+mj-ea"/>
                  </a:rPr>
                  <a:t>步没有被替换的概率 * 第</a:t>
                </a:r>
                <a:r>
                  <a:rPr lang="en-US" altLang="zh-CN" sz="2000" b="1" kern="0" dirty="0">
                    <a:solidFill>
                      <a:srgbClr val="0432FF"/>
                    </a:solidFill>
                    <a:latin typeface="+mj-ea"/>
                    <a:ea typeface="+mj-ea"/>
                  </a:rPr>
                  <a:t>k+1</a:t>
                </a:r>
                <a:r>
                  <a:rPr lang="zh-CN" altLang="en-US" sz="2000" kern="0" dirty="0">
                    <a:latin typeface="+mj-ea"/>
                    <a:ea typeface="+mj-ea"/>
                  </a:rPr>
                  <a:t>步没有被替换的概率 * 第</a:t>
                </a:r>
                <a:r>
                  <a:rPr lang="en-US" altLang="zh-CN" sz="2000" b="1" kern="0" dirty="0">
                    <a:solidFill>
                      <a:srgbClr val="0432FF"/>
                    </a:solidFill>
                    <a:latin typeface="+mj-ea"/>
                    <a:ea typeface="+mj-ea"/>
                  </a:rPr>
                  <a:t>k+2</a:t>
                </a:r>
                <a:r>
                  <a:rPr lang="zh-CN" altLang="en-US" sz="2000" kern="0" dirty="0">
                    <a:latin typeface="+mj-ea"/>
                    <a:ea typeface="+mj-ea"/>
                  </a:rPr>
                  <a:t>步</a:t>
                </a:r>
                <a:r>
                  <a:rPr lang="en-US" altLang="zh-CN" sz="2000" kern="0" dirty="0">
                    <a:latin typeface="+mj-ea"/>
                    <a:ea typeface="+mj-ea"/>
                  </a:rPr>
                  <a:t>…</a:t>
                </a:r>
              </a:p>
              <a:p>
                <a:pPr marL="422041" lvl="1" indent="0">
                  <a:spcBef>
                    <a:spcPts val="600"/>
                  </a:spcBef>
                  <a:buNone/>
                </a:pPr>
                <a:r>
                  <a:rPr lang="zh-CN" altLang="en-US" sz="2000" kern="0" dirty="0">
                    <a:latin typeface="+mj-ea"/>
                    <a:ea typeface="+mj-ea"/>
                  </a:rPr>
                  <a:t> </a:t>
                </a:r>
                <a:r>
                  <a:rPr lang="en-US" altLang="zh-CN" sz="2000" kern="0" dirty="0">
                    <a:latin typeface="+mj-ea"/>
                    <a:ea typeface="+mj-ea"/>
                  </a:rPr>
                  <a:t>=</a:t>
                </a:r>
                <a:r>
                  <a:rPr lang="zh-CN" altLang="en-US" sz="2000" kern="0" dirty="0">
                    <a:latin typeface="+mj-ea"/>
                    <a:ea typeface="+mj-ea"/>
                  </a:rPr>
                  <a:t> </a:t>
                </a:r>
                <a14:m>
                  <m:oMath xmlns:m="http://schemas.openxmlformats.org/officeDocument/2006/math">
                    <m:r>
                      <a:rPr lang="en-US" altLang="zh-CN" sz="2000" b="0" i="1" kern="0" smtClean="0">
                        <a:latin typeface="Cambria Math" panose="02040503050406030204" pitchFamily="18" charset="0"/>
                        <a:ea typeface="+mj-ea"/>
                      </a:rPr>
                      <m:t>1</m:t>
                    </m:r>
                    <m:r>
                      <a:rPr lang="zh-CN" altLang="en-US" sz="2000" b="0" i="1" kern="0" smtClean="0">
                        <a:latin typeface="Cambria Math" panose="02040503050406030204" pitchFamily="18" charset="0"/>
                        <a:ea typeface="+mj-ea"/>
                      </a:rPr>
                      <m:t>∗</m:t>
                    </m:r>
                    <m:f>
                      <m:fPr>
                        <m:ctrlPr>
                          <a:rPr lang="en-US" altLang="zh-CN" sz="2000" b="0" i="1" kern="0" smtClea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𝑘</m:t>
                        </m:r>
                      </m:num>
                      <m:den>
                        <m:r>
                          <a:rPr lang="en-US" altLang="zh-CN" sz="2000" b="0" i="1" kern="0" smtClean="0">
                            <a:latin typeface="Cambria Math" panose="02040503050406030204" pitchFamily="18" charset="0"/>
                            <a:ea typeface="+mj-ea"/>
                          </a:rPr>
                          <m:t>𝑘</m:t>
                        </m:r>
                        <m:r>
                          <a:rPr lang="en-US" altLang="zh-CN" sz="2000" b="0" i="1" kern="0" smtClean="0">
                            <a:latin typeface="Cambria Math" panose="02040503050406030204" pitchFamily="18" charset="0"/>
                            <a:ea typeface="+mj-ea"/>
                          </a:rPr>
                          <m:t>+1</m:t>
                        </m:r>
                      </m:den>
                    </m:f>
                    <m:r>
                      <a:rPr lang="en-US" altLang="zh-CN" sz="2000" b="0" i="1" kern="0" smtClean="0">
                        <a:latin typeface="Cambria Math" panose="02040503050406030204" pitchFamily="18" charset="0"/>
                        <a:ea typeface="+mj-ea"/>
                      </a:rPr>
                      <m:t>∗</m:t>
                    </m:r>
                    <m:f>
                      <m:fPr>
                        <m:ctrlPr>
                          <a:rPr lang="en-US" altLang="zh-CN" sz="2000" i="1" kern="0">
                            <a:latin typeface="Cambria Math" panose="02040503050406030204" pitchFamily="18" charset="0"/>
                            <a:ea typeface="+mj-ea"/>
                          </a:rPr>
                        </m:ctrlPr>
                      </m:fPr>
                      <m:num>
                        <m:r>
                          <a:rPr lang="en-US" altLang="zh-CN" sz="2000" i="1" kern="0">
                            <a:latin typeface="Cambria Math" panose="02040503050406030204" pitchFamily="18" charset="0"/>
                            <a:ea typeface="+mj-ea"/>
                          </a:rPr>
                          <m:t>𝑘</m:t>
                        </m:r>
                        <m:r>
                          <a:rPr lang="en-US" altLang="zh-CN" sz="2000" b="0" i="1" kern="0" smtClean="0">
                            <a:latin typeface="Cambria Math" panose="02040503050406030204" pitchFamily="18" charset="0"/>
                            <a:ea typeface="+mj-ea"/>
                          </a:rPr>
                          <m:t>+1</m:t>
                        </m:r>
                      </m:num>
                      <m:den>
                        <m:r>
                          <a:rPr lang="en-US" altLang="zh-CN" sz="2000" i="1" kern="0">
                            <a:latin typeface="Cambria Math" panose="02040503050406030204" pitchFamily="18" charset="0"/>
                            <a:ea typeface="+mj-ea"/>
                          </a:rPr>
                          <m:t>𝑘</m:t>
                        </m:r>
                        <m:r>
                          <a:rPr lang="en-US" altLang="zh-CN" sz="2000" i="1" kern="0">
                            <a:latin typeface="Cambria Math" panose="02040503050406030204" pitchFamily="18" charset="0"/>
                            <a:ea typeface="+mj-ea"/>
                          </a:rPr>
                          <m:t>+2</m:t>
                        </m:r>
                      </m:den>
                    </m:f>
                    <m:r>
                      <a:rPr lang="en-US" altLang="zh-CN" sz="2000" b="0" i="1" kern="0" smtClean="0">
                        <a:latin typeface="Cambria Math" panose="02040503050406030204" pitchFamily="18" charset="0"/>
                        <a:ea typeface="+mj-ea"/>
                      </a:rPr>
                      <m:t>∗</m:t>
                    </m:r>
                    <m:r>
                      <a:rPr lang="en-US" altLang="zh-CN" sz="2000" i="1" kern="0">
                        <a:latin typeface="Cambria Math" panose="02040503050406030204" pitchFamily="18" charset="0"/>
                        <a:ea typeface="+mj-ea"/>
                      </a:rPr>
                      <m:t>…</m:t>
                    </m:r>
                    <m:r>
                      <a:rPr lang="zh-CN" altLang="en-US" sz="2000" b="0" i="1" kern="0" smtClean="0">
                        <a:latin typeface="Cambria Math" panose="02040503050406030204" pitchFamily="18" charset="0"/>
                        <a:ea typeface="+mj-ea"/>
                      </a:rPr>
                      <m:t>∗</m:t>
                    </m:r>
                    <m:f>
                      <m:fPr>
                        <m:ctrlPr>
                          <a:rPr lang="en-US" altLang="zh-CN" sz="2000" i="1" ker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𝑛</m:t>
                        </m:r>
                        <m:r>
                          <a:rPr lang="en-US" altLang="zh-CN" sz="2000" b="0" i="1" kern="0" smtClean="0">
                            <a:latin typeface="Cambria Math" panose="02040503050406030204" pitchFamily="18" charset="0"/>
                            <a:ea typeface="+mj-ea"/>
                          </a:rPr>
                          <m:t>−1</m:t>
                        </m:r>
                      </m:num>
                      <m:den>
                        <m:r>
                          <a:rPr lang="en-US" altLang="zh-CN" sz="2000" b="0" i="1" kern="0" smtClean="0">
                            <a:latin typeface="Cambria Math" panose="02040503050406030204" pitchFamily="18" charset="0"/>
                            <a:ea typeface="+mj-ea"/>
                          </a:rPr>
                          <m:t>𝑛</m:t>
                        </m:r>
                      </m:den>
                    </m:f>
                  </m:oMath>
                </a14:m>
                <a:endParaRPr lang="en-US" altLang="zh-CN" sz="2000" kern="0" dirty="0">
                  <a:latin typeface="+mj-ea"/>
                  <a:ea typeface="+mj-ea"/>
                </a:endParaRPr>
              </a:p>
              <a:p>
                <a:pPr marL="422041" lvl="1" indent="0">
                  <a:spcBef>
                    <a:spcPts val="600"/>
                  </a:spcBef>
                  <a:buNone/>
                </a:pPr>
                <a:r>
                  <a:rPr lang="en-US" altLang="zh-CN" sz="2000" kern="0" dirty="0">
                    <a:latin typeface="+mj-ea"/>
                    <a:ea typeface="+mj-ea"/>
                  </a:rPr>
                  <a:t> = </a:t>
                </a:r>
                <a14:m>
                  <m:oMath xmlns:m="http://schemas.openxmlformats.org/officeDocument/2006/math">
                    <m:f>
                      <m:fPr>
                        <m:ctrlPr>
                          <a:rPr lang="en-US" altLang="zh-CN" sz="2000" i="1" kern="0" smtClean="0">
                            <a:latin typeface="Cambria Math" panose="02040503050406030204" pitchFamily="18" charset="0"/>
                            <a:ea typeface="+mj-ea"/>
                          </a:rPr>
                        </m:ctrlPr>
                      </m:fPr>
                      <m:num>
                        <m:r>
                          <a:rPr lang="en-US" altLang="zh-CN" sz="2000" b="0" i="1" kern="0" smtClean="0">
                            <a:latin typeface="Cambria Math" panose="02040503050406030204" pitchFamily="18" charset="0"/>
                            <a:ea typeface="+mj-ea"/>
                          </a:rPr>
                          <m:t>𝑘</m:t>
                        </m:r>
                      </m:num>
                      <m:den>
                        <m:r>
                          <a:rPr lang="en-US" altLang="zh-CN" sz="2000" b="0" i="1" kern="0" smtClean="0">
                            <a:latin typeface="Cambria Math" panose="02040503050406030204" pitchFamily="18" charset="0"/>
                            <a:ea typeface="+mj-ea"/>
                          </a:rPr>
                          <m:t>𝑛</m:t>
                        </m:r>
                      </m:den>
                    </m:f>
                  </m:oMath>
                </a14:m>
                <a:endParaRPr lang="en-US" altLang="zh-CN" sz="2000" kern="0" dirty="0">
                  <a:latin typeface="+mj-ea"/>
                  <a:ea typeface="+mj-ea"/>
                </a:endParaRPr>
              </a:p>
            </p:txBody>
          </p:sp>
        </mc:Choice>
        <mc:Fallback xmlns="">
          <p:sp>
            <p:nvSpPr>
              <p:cNvPr id="6" name="内容占位符 2">
                <a:extLst>
                  <a:ext uri="{FF2B5EF4-FFF2-40B4-BE49-F238E27FC236}">
                    <a16:creationId xmlns:a16="http://schemas.microsoft.com/office/drawing/2014/main" xmlns:a14="http://schemas.microsoft.com/office/drawing/2010/main" xmlns="" id="{3A77DD7A-E201-E5F7-A37D-D7A48E626DFE}"/>
                  </a:ext>
                </a:extLst>
              </p:cNvPr>
              <p:cNvSpPr txBox="1">
                <a:spLocks noRot="1" noChangeAspect="1" noMove="1" noResize="1" noEditPoints="1" noAdjustHandles="1" noChangeArrowheads="1" noChangeShapeType="1" noTextEdit="1"/>
              </p:cNvSpPr>
              <p:nvPr/>
            </p:nvSpPr>
            <p:spPr bwMode="auto">
              <a:xfrm>
                <a:off x="1008000" y="1126800"/>
                <a:ext cx="11824448" cy="5821682"/>
              </a:xfrm>
              <a:prstGeom prst="rect">
                <a:avLst/>
              </a:prstGeom>
              <a:blipFill rotWithShape="0">
                <a:blip r:embed="rId3"/>
                <a:stretch>
                  <a:fillRect l="-567" t="-73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Rectangle 2">
            <a:extLst>
              <a:ext uri="{FF2B5EF4-FFF2-40B4-BE49-F238E27FC236}">
                <a16:creationId xmlns:a16="http://schemas.microsoft.com/office/drawing/2014/main" id="{94FEA2D4-AA49-49C6-B12A-A305537AEFD7}"/>
              </a:ext>
            </a:extLst>
          </p:cNvPr>
          <p:cNvSpPr>
            <a:spLocks noChangeArrowheads="1"/>
          </p:cNvSpPr>
          <p:nvPr/>
        </p:nvSpPr>
        <p:spPr bwMode="auto">
          <a:xfrm>
            <a:off x="-1048979" y="3695699"/>
            <a:ext cx="1832732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7FE16C1F-C5B7-7E75-9A97-C27B25A86B7C}"/>
              </a:ext>
            </a:extLst>
          </p:cNvPr>
          <p:cNvSpPr>
            <a:spLocks noChangeArrowheads="1"/>
          </p:cNvSpPr>
          <p:nvPr/>
        </p:nvSpPr>
        <p:spPr bwMode="auto">
          <a:xfrm>
            <a:off x="-1048979" y="5092699"/>
            <a:ext cx="1832732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5187530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FA2A27-7AFB-4F38-45FE-881AA013CA29}"/>
              </a:ext>
            </a:extLst>
          </p:cNvPr>
          <p:cNvSpPr>
            <a:spLocks noGrp="1"/>
          </p:cNvSpPr>
          <p:nvPr>
            <p:ph type="sldNum" sz="quarter" idx="10"/>
          </p:nvPr>
        </p:nvSpPr>
        <p:spPr/>
        <p:txBody>
          <a:bodyPr/>
          <a:lstStyle/>
          <a:p>
            <a:fld id="{87BBDC00-B9E2-4EFD-9306-2934E87247C6}" type="slidenum">
              <a:rPr lang="zh-CN" altLang="en-US" smtClean="0"/>
              <a:pPr/>
              <a:t>96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蓄水池采样证明</a:t>
            </a:r>
          </a:p>
        </p:txBody>
      </p:sp>
      <p:sp>
        <p:nvSpPr>
          <p:cNvPr id="8" name="页脚占位符 7">
            <a:extLst>
              <a:ext uri="{FF2B5EF4-FFF2-40B4-BE49-F238E27FC236}">
                <a16:creationId xmlns:a16="http://schemas.microsoft.com/office/drawing/2014/main" id="{EF3188B6-6090-23FD-95AA-2E9E85E5D3D3}"/>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456894" cy="582168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en-US" sz="2200" b="1" kern="0" dirty="0">
                    <a:latin typeface="+mj-ea"/>
                    <a:ea typeface="+mj-ea"/>
                  </a:rPr>
                  <a:t>对于第</a:t>
                </a:r>
                <a:r>
                  <a:rPr lang="en-US" altLang="zh-CN" sz="2200" b="1" kern="0" dirty="0" err="1">
                    <a:latin typeface="+mj-ea"/>
                    <a:ea typeface="+mj-ea"/>
                  </a:rPr>
                  <a:t>i</a:t>
                </a:r>
                <a:r>
                  <a:rPr lang="zh-CN" altLang="en-US" sz="2200" b="1" kern="0" dirty="0">
                    <a:latin typeface="+mj-ea"/>
                    <a:ea typeface="+mj-ea"/>
                  </a:rPr>
                  <a:t>项（</a:t>
                </a:r>
                <a:r>
                  <a:rPr lang="en-US" altLang="zh-CN" sz="2200" b="1" kern="0" dirty="0" err="1">
                    <a:latin typeface="+mj-ea"/>
                    <a:ea typeface="+mj-ea"/>
                  </a:rPr>
                  <a:t>i</a:t>
                </a:r>
                <a:r>
                  <a:rPr lang="en-US" altLang="zh-CN" sz="2200" b="1" kern="0" dirty="0">
                    <a:latin typeface="+mj-ea"/>
                    <a:ea typeface="+mj-ea"/>
                  </a:rPr>
                  <a:t>&gt;k</a:t>
                </a:r>
                <a:r>
                  <a:rPr lang="zh-CN" altLang="en-US" sz="2200" b="1" kern="0" dirty="0">
                    <a:latin typeface="+mj-ea"/>
                    <a:ea typeface="+mj-ea"/>
                  </a:rPr>
                  <a:t>）</a:t>
                </a:r>
                <a:endParaRPr lang="en-US" altLang="zh-CN" sz="2200" b="1" kern="0" dirty="0">
                  <a:latin typeface="+mj-ea"/>
                  <a:ea typeface="+mj-ea"/>
                </a:endParaRPr>
              </a:p>
              <a:p>
                <a:pPr lvl="1">
                  <a:buFont typeface="Arial" panose="020B0604020202020204" pitchFamily="34" charset="0"/>
                  <a:buChar char="•"/>
                </a:pPr>
                <a:r>
                  <a:rPr lang="zh-CN" altLang="en-US" sz="2200" kern="0" dirty="0">
                    <a:latin typeface="+mj-ea"/>
                    <a:ea typeface="+mj-ea"/>
                  </a:rPr>
                  <a:t>根据算法定义，在第</a:t>
                </a:r>
                <a:r>
                  <a:rPr lang="en-US" altLang="zh-CN" sz="2200" b="1" kern="0" dirty="0" err="1">
                    <a:solidFill>
                      <a:srgbClr val="0432FF"/>
                    </a:solidFill>
                    <a:latin typeface="+mj-ea"/>
                    <a:ea typeface="+mj-ea"/>
                  </a:rPr>
                  <a:t>i</a:t>
                </a:r>
                <a:r>
                  <a:rPr lang="zh-CN" altLang="en-US" sz="2200" kern="0" dirty="0">
                    <a:latin typeface="+mj-ea"/>
                    <a:ea typeface="+mj-ea"/>
                  </a:rPr>
                  <a:t>步中被选中的概率为</a:t>
                </a:r>
                <a14:m>
                  <m:oMath xmlns:m="http://schemas.openxmlformats.org/officeDocument/2006/math">
                    <m:f>
                      <m:fPr>
                        <m:ctrlPr>
                          <a:rPr lang="en-US" altLang="zh-CN" sz="2200" i="1" kern="0" smtClean="0">
                            <a:latin typeface="Cambria Math" panose="02040503050406030204" pitchFamily="18" charset="0"/>
                            <a:ea typeface="+mj-ea"/>
                          </a:rPr>
                        </m:ctrlPr>
                      </m:fPr>
                      <m:num>
                        <m:r>
                          <a:rPr lang="en-US" altLang="zh-CN" sz="2200" b="0" i="1" kern="0" smtClean="0">
                            <a:latin typeface="Cambria Math" panose="02040503050406030204" pitchFamily="18" charset="0"/>
                            <a:ea typeface="+mj-ea"/>
                          </a:rPr>
                          <m:t>𝑘</m:t>
                        </m:r>
                      </m:num>
                      <m:den>
                        <m:r>
                          <a:rPr lang="en-US" altLang="zh-CN" sz="2200" b="0" i="1" kern="0" smtClean="0">
                            <a:latin typeface="Cambria Math" panose="02040503050406030204" pitchFamily="18" charset="0"/>
                            <a:ea typeface="+mj-ea"/>
                          </a:rPr>
                          <m:t>𝑖</m:t>
                        </m:r>
                      </m:den>
                    </m:f>
                  </m:oMath>
                </a14:m>
                <a:endParaRPr lang="en-US" altLang="zh-CN" sz="2200" kern="0" dirty="0">
                  <a:latin typeface="+mj-ea"/>
                  <a:ea typeface="+mj-ea"/>
                </a:endParaRPr>
              </a:p>
              <a:p>
                <a:pPr lvl="1">
                  <a:buFont typeface="Arial" panose="020B0604020202020204" pitchFamily="34" charset="0"/>
                  <a:buChar char="•"/>
                </a:pPr>
                <a:r>
                  <a:rPr lang="zh-CN" altLang="en-US" sz="2200" kern="0" dirty="0">
                    <a:latin typeface="+mj-ea"/>
                    <a:ea typeface="+mj-ea"/>
                  </a:rPr>
                  <a:t>按照先前的分析，在第</a:t>
                </a:r>
                <a:r>
                  <a:rPr lang="en-US" altLang="zh-CN" sz="2200" b="1" kern="0" dirty="0">
                    <a:solidFill>
                      <a:srgbClr val="0432FF"/>
                    </a:solidFill>
                    <a:latin typeface="+mj-ea"/>
                    <a:ea typeface="+mj-ea"/>
                  </a:rPr>
                  <a:t>j</a:t>
                </a:r>
                <a:r>
                  <a:rPr lang="zh-CN" altLang="en-US" sz="2200" kern="0" dirty="0">
                    <a:latin typeface="+mj-ea"/>
                    <a:ea typeface="+mj-ea"/>
                  </a:rPr>
                  <a:t>步（</a:t>
                </a:r>
                <a:r>
                  <a:rPr lang="en-US" altLang="zh-CN" sz="2200" kern="0" dirty="0">
                    <a:latin typeface="+mj-ea"/>
                    <a:ea typeface="+mj-ea"/>
                  </a:rPr>
                  <a:t>j&gt;</a:t>
                </a:r>
                <a:r>
                  <a:rPr lang="en-US" altLang="zh-CN" sz="2200" kern="0" dirty="0" err="1">
                    <a:latin typeface="+mj-ea"/>
                    <a:ea typeface="+mj-ea"/>
                  </a:rPr>
                  <a:t>i</a:t>
                </a:r>
                <a:r>
                  <a:rPr lang="zh-CN" altLang="en-US" sz="2200" kern="0" dirty="0">
                    <a:latin typeface="+mj-ea"/>
                    <a:ea typeface="+mj-ea"/>
                  </a:rPr>
                  <a:t>）中没有被替换的概率为：</a:t>
                </a:r>
                <a14:m>
                  <m:oMath xmlns:m="http://schemas.openxmlformats.org/officeDocument/2006/math">
                    <m:f>
                      <m:fPr>
                        <m:ctrlPr>
                          <a:rPr lang="en-US" altLang="zh-CN" sz="2200" i="1" kern="0" smtClean="0">
                            <a:latin typeface="Cambria Math" panose="02040503050406030204" pitchFamily="18" charset="0"/>
                            <a:ea typeface="+mj-ea"/>
                          </a:rPr>
                        </m:ctrlPr>
                      </m:fPr>
                      <m:num>
                        <m:r>
                          <a:rPr lang="en-US" altLang="zh-CN" sz="2200" b="0" i="1" kern="0" smtClean="0">
                            <a:latin typeface="Cambria Math" panose="02040503050406030204" pitchFamily="18" charset="0"/>
                            <a:ea typeface="+mj-ea"/>
                          </a:rPr>
                          <m:t>𝑗</m:t>
                        </m:r>
                        <m:r>
                          <a:rPr lang="en-US" altLang="zh-CN" sz="2200" b="0" i="1" kern="0" smtClean="0">
                            <a:latin typeface="Cambria Math" panose="02040503050406030204" pitchFamily="18" charset="0"/>
                            <a:ea typeface="+mj-ea"/>
                          </a:rPr>
                          <m:t>−1</m:t>
                        </m:r>
                      </m:num>
                      <m:den>
                        <m:r>
                          <a:rPr lang="en-US" altLang="zh-CN" sz="2200" b="0" i="1" kern="0" smtClean="0">
                            <a:latin typeface="Cambria Math" panose="02040503050406030204" pitchFamily="18" charset="0"/>
                            <a:ea typeface="+mj-ea"/>
                          </a:rPr>
                          <m:t>𝑗</m:t>
                        </m:r>
                      </m:den>
                    </m:f>
                  </m:oMath>
                </a14:m>
                <a:endParaRPr lang="en-US" altLang="zh-CN" sz="2200" kern="0" dirty="0">
                  <a:latin typeface="+mj-ea"/>
                  <a:ea typeface="+mj-ea"/>
                </a:endParaRPr>
              </a:p>
              <a:p>
                <a:pPr marL="422041" lvl="1" indent="0">
                  <a:buNone/>
                </a:pPr>
                <a:r>
                  <a:rPr lang="zh-CN" altLang="en-US" sz="2200" kern="0" dirty="0">
                    <a:latin typeface="+mj-ea"/>
                    <a:ea typeface="+mj-ea"/>
                  </a:rPr>
                  <a:t>所以，第</a:t>
                </a:r>
                <a:r>
                  <a:rPr lang="en-US" altLang="zh-CN" sz="2200" kern="0" dirty="0" err="1">
                    <a:latin typeface="+mj-ea"/>
                    <a:ea typeface="+mj-ea"/>
                  </a:rPr>
                  <a:t>i</a:t>
                </a:r>
                <a:r>
                  <a:rPr lang="zh-CN" altLang="en-US" sz="2200" kern="0" dirty="0">
                    <a:latin typeface="+mj-ea"/>
                    <a:ea typeface="+mj-ea"/>
                  </a:rPr>
                  <a:t>项在前</a:t>
                </a:r>
                <a:r>
                  <a:rPr lang="en-US" altLang="zh-CN" sz="2200" b="1" kern="0" dirty="0">
                    <a:solidFill>
                      <a:srgbClr val="0432FF"/>
                    </a:solidFill>
                    <a:latin typeface="+mj-ea"/>
                    <a:ea typeface="+mj-ea"/>
                  </a:rPr>
                  <a:t>n</a:t>
                </a:r>
                <a:r>
                  <a:rPr lang="zh-CN" altLang="en-US" sz="2200" kern="0" dirty="0">
                    <a:latin typeface="+mj-ea"/>
                    <a:ea typeface="+mj-ea"/>
                  </a:rPr>
                  <a:t>步中没有被替换的概率</a:t>
                </a:r>
                <a:endParaRPr lang="en-US" altLang="zh-CN" sz="2200" kern="0" dirty="0">
                  <a:latin typeface="+mj-ea"/>
                  <a:ea typeface="+mj-ea"/>
                </a:endParaRPr>
              </a:p>
              <a:p>
                <a:pPr marL="422041" lvl="1" indent="0">
                  <a:buNone/>
                </a:pPr>
                <a:r>
                  <a:rPr lang="en-US" altLang="zh-CN" sz="2200" kern="0" dirty="0">
                    <a:latin typeface="+mj-ea"/>
                    <a:ea typeface="+mj-ea"/>
                  </a:rPr>
                  <a:t>=</a:t>
                </a:r>
                <a:r>
                  <a:rPr lang="zh-CN" altLang="en-US" sz="2200" kern="0" dirty="0">
                    <a:latin typeface="+mj-ea"/>
                    <a:ea typeface="+mj-ea"/>
                  </a:rPr>
                  <a:t> 在第</a:t>
                </a:r>
                <a:r>
                  <a:rPr lang="en-US" altLang="zh-CN" sz="2200" b="1" kern="0" dirty="0" err="1">
                    <a:solidFill>
                      <a:srgbClr val="0432FF"/>
                    </a:solidFill>
                    <a:latin typeface="+mj-ea"/>
                    <a:ea typeface="+mj-ea"/>
                  </a:rPr>
                  <a:t>i</a:t>
                </a:r>
                <a:r>
                  <a:rPr lang="zh-CN" altLang="en-US" sz="2200" kern="0" dirty="0">
                    <a:latin typeface="+mj-ea"/>
                    <a:ea typeface="+mj-ea"/>
                  </a:rPr>
                  <a:t>步中被选中的概率 *</a:t>
                </a:r>
                <a:r>
                  <a:rPr lang="en-US" altLang="zh-CN" sz="2200" kern="0" dirty="0">
                    <a:latin typeface="+mj-ea"/>
                    <a:ea typeface="+mj-ea"/>
                  </a:rPr>
                  <a:t> </a:t>
                </a:r>
                <a:r>
                  <a:rPr lang="zh-CN" altLang="en-US" sz="2200" kern="0" dirty="0">
                    <a:latin typeface="+mj-ea"/>
                    <a:ea typeface="+mj-ea"/>
                  </a:rPr>
                  <a:t>在第</a:t>
                </a:r>
                <a:r>
                  <a:rPr lang="en-US" altLang="zh-CN" sz="2200" b="1" kern="0" dirty="0">
                    <a:solidFill>
                      <a:srgbClr val="0432FF"/>
                    </a:solidFill>
                    <a:latin typeface="+mj-ea"/>
                    <a:ea typeface="+mj-ea"/>
                  </a:rPr>
                  <a:t>i+1</a:t>
                </a:r>
                <a:r>
                  <a:rPr lang="zh-CN" altLang="en-US" sz="2200" kern="0" dirty="0">
                    <a:latin typeface="+mj-ea"/>
                    <a:ea typeface="+mj-ea"/>
                  </a:rPr>
                  <a:t>步没有被替换的概率</a:t>
                </a:r>
                <a:r>
                  <a:rPr lang="en-US" altLang="zh-CN" sz="2200" kern="0" dirty="0">
                    <a:latin typeface="+mj-ea"/>
                    <a:ea typeface="+mj-ea"/>
                  </a:rPr>
                  <a:t> *</a:t>
                </a:r>
                <a:r>
                  <a:rPr lang="zh-CN" altLang="en-US" sz="2200" kern="0" dirty="0">
                    <a:latin typeface="+mj-ea"/>
                    <a:ea typeface="+mj-ea"/>
                  </a:rPr>
                  <a:t>在第</a:t>
                </a:r>
                <a:r>
                  <a:rPr lang="en-US" altLang="zh-CN" sz="2200" b="1" kern="0" dirty="0">
                    <a:solidFill>
                      <a:srgbClr val="0432FF"/>
                    </a:solidFill>
                    <a:latin typeface="+mj-ea"/>
                    <a:ea typeface="+mj-ea"/>
                  </a:rPr>
                  <a:t>i+2</a:t>
                </a:r>
                <a:r>
                  <a:rPr lang="zh-CN" altLang="en-US" sz="2200" kern="0" dirty="0">
                    <a:latin typeface="+mj-ea"/>
                    <a:ea typeface="+mj-ea"/>
                  </a:rPr>
                  <a:t>步</a:t>
                </a:r>
                <a:r>
                  <a:rPr lang="en-US" altLang="zh-CN" sz="2200" kern="0" dirty="0">
                    <a:latin typeface="+mj-ea"/>
                    <a:ea typeface="+mj-ea"/>
                  </a:rPr>
                  <a:t>……</a:t>
                </a:r>
              </a:p>
              <a:p>
                <a:pPr marL="422041" lvl="1" indent="0">
                  <a:buNone/>
                </a:pPr>
                <a:r>
                  <a:rPr lang="en-US" altLang="zh-CN" sz="2200" kern="0" dirty="0">
                    <a:latin typeface="+mj-ea"/>
                    <a:ea typeface="+mj-ea"/>
                  </a:rPr>
                  <a:t>=</a:t>
                </a:r>
                <a:r>
                  <a:rPr lang="zh-CN" altLang="en-US" sz="2200" kern="0" dirty="0">
                    <a:latin typeface="+mj-ea"/>
                    <a:ea typeface="+mj-ea"/>
                  </a:rPr>
                  <a:t> </a:t>
                </a:r>
                <a14:m>
                  <m:oMath xmlns:m="http://schemas.openxmlformats.org/officeDocument/2006/math">
                    <m:f>
                      <m:fPr>
                        <m:ctrlPr>
                          <a:rPr lang="en-US" altLang="zh-CN" sz="2200" i="1" kern="0" smtClean="0">
                            <a:latin typeface="Cambria Math" panose="02040503050406030204" pitchFamily="18" charset="0"/>
                            <a:ea typeface="+mj-ea"/>
                          </a:rPr>
                        </m:ctrlPr>
                      </m:fPr>
                      <m:num>
                        <m:r>
                          <a:rPr lang="en-US" altLang="zh-CN" sz="2200" b="0" i="1" kern="0" smtClean="0">
                            <a:latin typeface="Cambria Math" panose="02040503050406030204" pitchFamily="18" charset="0"/>
                            <a:ea typeface="+mj-ea"/>
                          </a:rPr>
                          <m:t>𝑘</m:t>
                        </m:r>
                      </m:num>
                      <m:den>
                        <m:r>
                          <a:rPr lang="en-US" altLang="zh-CN" sz="2200" b="0" i="1" kern="0" smtClean="0">
                            <a:latin typeface="Cambria Math" panose="02040503050406030204" pitchFamily="18" charset="0"/>
                            <a:ea typeface="+mj-ea"/>
                          </a:rPr>
                          <m:t>𝑖</m:t>
                        </m:r>
                      </m:den>
                    </m:f>
                  </m:oMath>
                </a14:m>
                <a:r>
                  <a:rPr lang="zh-CN" altLang="en-US" sz="2200" kern="0" dirty="0">
                    <a:latin typeface="+mj-ea"/>
                    <a:ea typeface="+mj-ea"/>
                  </a:rPr>
                  <a:t> * </a:t>
                </a:r>
                <a14:m>
                  <m:oMath xmlns:m="http://schemas.openxmlformats.org/officeDocument/2006/math">
                    <m:f>
                      <m:fPr>
                        <m:ctrlPr>
                          <a:rPr lang="en-US" altLang="zh-CN" sz="2200" i="1" kern="0">
                            <a:latin typeface="Cambria Math" panose="02040503050406030204" pitchFamily="18" charset="0"/>
                            <a:ea typeface="+mj-ea"/>
                          </a:rPr>
                        </m:ctrlPr>
                      </m:fPr>
                      <m:num>
                        <m:r>
                          <a:rPr lang="en-US" altLang="zh-CN" sz="2200" b="0" i="1" kern="0" smtClean="0">
                            <a:latin typeface="Cambria Math" panose="02040503050406030204" pitchFamily="18" charset="0"/>
                            <a:ea typeface="+mj-ea"/>
                          </a:rPr>
                          <m:t>𝑖</m:t>
                        </m:r>
                      </m:num>
                      <m:den>
                        <m:r>
                          <a:rPr lang="en-US" altLang="zh-CN" sz="2200" i="1" kern="0">
                            <a:latin typeface="Cambria Math" panose="02040503050406030204" pitchFamily="18" charset="0"/>
                            <a:ea typeface="+mj-ea"/>
                          </a:rPr>
                          <m:t>𝑖</m:t>
                        </m:r>
                        <m:r>
                          <a:rPr lang="en-US" altLang="zh-CN" sz="2200" b="0" i="1" kern="0" smtClean="0">
                            <a:latin typeface="Cambria Math" panose="02040503050406030204" pitchFamily="18" charset="0"/>
                            <a:ea typeface="+mj-ea"/>
                          </a:rPr>
                          <m:t>+1</m:t>
                        </m:r>
                      </m:den>
                    </m:f>
                    <m:r>
                      <a:rPr lang="en-US" altLang="zh-CN" sz="2200" b="0" i="1" kern="0" smtClean="0">
                        <a:latin typeface="Cambria Math" panose="02040503050406030204" pitchFamily="18" charset="0"/>
                        <a:ea typeface="+mj-ea"/>
                      </a:rPr>
                      <m:t> ∗</m:t>
                    </m:r>
                    <m:r>
                      <a:rPr lang="en-US" altLang="zh-CN" sz="2200" i="1" kern="0">
                        <a:latin typeface="Cambria Math" panose="02040503050406030204" pitchFamily="18" charset="0"/>
                        <a:ea typeface="+mj-ea"/>
                      </a:rPr>
                      <m:t>…</m:t>
                    </m:r>
                    <m:r>
                      <a:rPr lang="en-US" altLang="zh-CN" sz="2200" b="0" i="1" kern="0" smtClean="0">
                        <a:latin typeface="Cambria Math" panose="02040503050406030204" pitchFamily="18" charset="0"/>
                        <a:ea typeface="+mj-ea"/>
                      </a:rPr>
                      <m:t>∗</m:t>
                    </m:r>
                    <m:f>
                      <m:fPr>
                        <m:ctrlPr>
                          <a:rPr lang="en-US" altLang="zh-CN" sz="2200" i="1" kern="0">
                            <a:latin typeface="Cambria Math" panose="02040503050406030204" pitchFamily="18" charset="0"/>
                            <a:ea typeface="+mj-ea"/>
                          </a:rPr>
                        </m:ctrlPr>
                      </m:fPr>
                      <m:num>
                        <m:r>
                          <a:rPr lang="en-US" altLang="zh-CN" sz="2200" b="0" i="1" kern="0" smtClean="0">
                            <a:latin typeface="Cambria Math" panose="02040503050406030204" pitchFamily="18" charset="0"/>
                            <a:ea typeface="+mj-ea"/>
                          </a:rPr>
                          <m:t>𝑛</m:t>
                        </m:r>
                        <m:r>
                          <a:rPr lang="en-US" altLang="zh-CN" sz="2200" b="0" i="1" kern="0" smtClean="0">
                            <a:latin typeface="Cambria Math" panose="02040503050406030204" pitchFamily="18" charset="0"/>
                            <a:ea typeface="+mj-ea"/>
                          </a:rPr>
                          <m:t>−1</m:t>
                        </m:r>
                      </m:num>
                      <m:den>
                        <m:r>
                          <a:rPr lang="en-US" altLang="zh-CN" sz="2200" b="0" i="1" kern="0" smtClean="0">
                            <a:latin typeface="Cambria Math" panose="02040503050406030204" pitchFamily="18" charset="0"/>
                            <a:ea typeface="+mj-ea"/>
                          </a:rPr>
                          <m:t>𝑛</m:t>
                        </m:r>
                      </m:den>
                    </m:f>
                  </m:oMath>
                </a14:m>
                <a:endParaRPr lang="en-US" altLang="zh-CN" sz="2200" kern="0" dirty="0">
                  <a:latin typeface="+mj-ea"/>
                  <a:ea typeface="+mj-ea"/>
                </a:endParaRPr>
              </a:p>
              <a:p>
                <a:pPr marL="422041" lvl="1" indent="0">
                  <a:buNone/>
                </a:pPr>
                <a:r>
                  <a:rPr lang="en-US" altLang="zh-CN" sz="2200" kern="0" dirty="0">
                    <a:latin typeface="+mj-ea"/>
                    <a:ea typeface="+mj-ea"/>
                  </a:rPr>
                  <a:t>= </a:t>
                </a:r>
                <a14:m>
                  <m:oMath xmlns:m="http://schemas.openxmlformats.org/officeDocument/2006/math">
                    <m:f>
                      <m:fPr>
                        <m:ctrlPr>
                          <a:rPr lang="en-US" altLang="zh-CN" sz="2200" i="1" kern="0" smtClean="0">
                            <a:latin typeface="Cambria Math" panose="02040503050406030204" pitchFamily="18" charset="0"/>
                            <a:ea typeface="+mj-ea"/>
                          </a:rPr>
                        </m:ctrlPr>
                      </m:fPr>
                      <m:num>
                        <m:r>
                          <a:rPr lang="en-US" altLang="zh-CN" sz="2200" b="0" i="1" kern="0" smtClean="0">
                            <a:latin typeface="Cambria Math" panose="02040503050406030204" pitchFamily="18" charset="0"/>
                            <a:ea typeface="+mj-ea"/>
                          </a:rPr>
                          <m:t>𝑘</m:t>
                        </m:r>
                      </m:num>
                      <m:den>
                        <m:r>
                          <a:rPr lang="en-US" altLang="zh-CN" sz="2200" b="0" i="1" kern="0" smtClean="0">
                            <a:latin typeface="Cambria Math" panose="02040503050406030204" pitchFamily="18" charset="0"/>
                            <a:ea typeface="+mj-ea"/>
                          </a:rPr>
                          <m:t>𝑛</m:t>
                        </m:r>
                      </m:den>
                    </m:f>
                    <m:r>
                      <a:rPr lang="en-US" altLang="zh-CN" sz="2200" b="0" i="1" kern="0" smtClean="0">
                        <a:latin typeface="Cambria Math" panose="02040503050406030204" pitchFamily="18" charset="0"/>
                        <a:ea typeface="+mj-ea"/>
                      </a:rPr>
                      <m:t> </m:t>
                    </m:r>
                  </m:oMath>
                </a14:m>
                <a:endParaRPr lang="en-US" altLang="zh-CN" sz="2200" kern="0" dirty="0">
                  <a:latin typeface="+mj-ea"/>
                  <a:ea typeface="+mj-ea"/>
                </a:endParaRPr>
              </a:p>
              <a:p>
                <a:pPr marL="0" indent="0">
                  <a:buFont typeface="Wingdings" charset="2"/>
                  <a:buNone/>
                </a:pPr>
                <a:r>
                  <a:rPr lang="en-US"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xmlns:a14="http://schemas.microsoft.com/office/drawing/2010/main" xmlns="" id="{3A77DD7A-E201-E5F7-A37D-D7A48E626DFE}"/>
                  </a:ext>
                </a:extLst>
              </p:cNvPr>
              <p:cNvSpPr txBox="1">
                <a:spLocks noRot="1" noChangeAspect="1" noMove="1" noResize="1" noEditPoints="1" noAdjustHandles="1" noChangeArrowheads="1" noChangeShapeType="1" noTextEdit="1"/>
              </p:cNvSpPr>
              <p:nvPr/>
            </p:nvSpPr>
            <p:spPr bwMode="auto">
              <a:xfrm>
                <a:off x="1008000" y="1126800"/>
                <a:ext cx="11456894" cy="5821682"/>
              </a:xfrm>
              <a:prstGeom prst="rect">
                <a:avLst/>
              </a:prstGeom>
              <a:blipFill rotWithShape="0">
                <a:blip r:embed="rId3"/>
                <a:stretch>
                  <a:fillRect l="-585" t="-73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Rectangle 2">
            <a:extLst>
              <a:ext uri="{FF2B5EF4-FFF2-40B4-BE49-F238E27FC236}">
                <a16:creationId xmlns:a16="http://schemas.microsoft.com/office/drawing/2014/main" id="{94FEA2D4-AA49-49C6-B12A-A305537AEFD7}"/>
              </a:ext>
            </a:extLst>
          </p:cNvPr>
          <p:cNvSpPr>
            <a:spLocks noChangeArrowheads="1"/>
          </p:cNvSpPr>
          <p:nvPr/>
        </p:nvSpPr>
        <p:spPr bwMode="auto">
          <a:xfrm>
            <a:off x="-1048979" y="3695699"/>
            <a:ext cx="1832732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7FE16C1F-C5B7-7E75-9A97-C27B25A86B7C}"/>
              </a:ext>
            </a:extLst>
          </p:cNvPr>
          <p:cNvSpPr>
            <a:spLocks noChangeArrowheads="1"/>
          </p:cNvSpPr>
          <p:nvPr/>
        </p:nvSpPr>
        <p:spPr bwMode="auto">
          <a:xfrm>
            <a:off x="-1048979" y="5092699"/>
            <a:ext cx="1832732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97D951A-B6DC-0327-D3C3-DAC8C2576C06}"/>
                  </a:ext>
                </a:extLst>
              </p:cNvPr>
              <p:cNvSpPr txBox="1"/>
              <p:nvPr/>
            </p:nvSpPr>
            <p:spPr>
              <a:xfrm>
                <a:off x="1974033" y="5261265"/>
                <a:ext cx="8085929" cy="58003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r>
                  <a:rPr lang="zh-CN" altLang="en-US" sz="2200" dirty="0">
                    <a:latin typeface="+mj-ea"/>
                    <a:ea typeface="+mj-ea"/>
                  </a:rPr>
                  <a:t>任意一项被采样的概率均为</a:t>
                </a:r>
                <a14:m>
                  <m:oMath xmlns:m="http://schemas.openxmlformats.org/officeDocument/2006/math">
                    <m:f>
                      <m:fPr>
                        <m:ctrlPr>
                          <a:rPr lang="en-US" altLang="zh-CN" sz="2200" i="1" kern="0" smtClean="0">
                            <a:latin typeface="Cambria Math" panose="02040503050406030204" pitchFamily="18" charset="0"/>
                            <a:ea typeface="+mj-ea"/>
                          </a:rPr>
                        </m:ctrlPr>
                      </m:fPr>
                      <m:num>
                        <m:r>
                          <a:rPr lang="en-US" altLang="zh-CN" sz="2200" b="0" i="1" kern="0" smtClean="0">
                            <a:latin typeface="Cambria Math" panose="02040503050406030204" pitchFamily="18" charset="0"/>
                            <a:ea typeface="+mj-ea"/>
                          </a:rPr>
                          <m:t>𝑘</m:t>
                        </m:r>
                      </m:num>
                      <m:den>
                        <m:r>
                          <a:rPr lang="en-US" altLang="zh-CN" sz="2200" b="0" i="1" kern="0" smtClean="0">
                            <a:latin typeface="Cambria Math" panose="02040503050406030204" pitchFamily="18" charset="0"/>
                            <a:ea typeface="+mj-ea"/>
                          </a:rPr>
                          <m:t>𝑛</m:t>
                        </m:r>
                      </m:den>
                    </m:f>
                    <m:r>
                      <a:rPr lang="en-US" altLang="zh-CN" sz="2200" b="0" i="1" kern="0" smtClean="0">
                        <a:latin typeface="Cambria Math" panose="02040503050406030204" pitchFamily="18" charset="0"/>
                        <a:ea typeface="+mj-ea"/>
                      </a:rPr>
                      <m:t> </m:t>
                    </m:r>
                  </m:oMath>
                </a14:m>
                <a:r>
                  <a:rPr lang="zh-CN" altLang="en-US" sz="2200" dirty="0">
                    <a:latin typeface="+mj-ea"/>
                    <a:ea typeface="+mj-ea"/>
                  </a:rPr>
                  <a:t>，是等概率随机采样</a:t>
                </a:r>
              </a:p>
            </p:txBody>
          </p:sp>
        </mc:Choice>
        <mc:Fallback xmlns="">
          <p:sp>
            <p:nvSpPr>
              <p:cNvPr id="5" name="文本框 4">
                <a:extLst>
                  <a:ext uri="{FF2B5EF4-FFF2-40B4-BE49-F238E27FC236}">
                    <a16:creationId xmlns:a16="http://schemas.microsoft.com/office/drawing/2014/main" xmlns:a14="http://schemas.microsoft.com/office/drawing/2010/main" xmlns="" id="{E97D951A-B6DC-0327-D3C3-DAC8C2576C06}"/>
                  </a:ext>
                </a:extLst>
              </p:cNvPr>
              <p:cNvSpPr txBox="1">
                <a:spLocks noRot="1" noChangeAspect="1" noMove="1" noResize="1" noEditPoints="1" noAdjustHandles="1" noChangeArrowheads="1" noChangeShapeType="1" noTextEdit="1"/>
              </p:cNvSpPr>
              <p:nvPr/>
            </p:nvSpPr>
            <p:spPr>
              <a:xfrm>
                <a:off x="1974033" y="5261265"/>
                <a:ext cx="8085929" cy="580031"/>
              </a:xfrm>
              <a:prstGeom prst="rect">
                <a:avLst/>
              </a:prstGeom>
              <a:blipFill rotWithShape="0">
                <a:blip r:embed="rId4"/>
                <a:stretch>
                  <a:fillRect/>
                </a:stretch>
              </a:blipFill>
              <a:ln>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Tree>
    <p:extLst>
      <p:ext uri="{BB962C8B-B14F-4D97-AF65-F5344CB8AC3E}">
        <p14:creationId xmlns:p14="http://schemas.microsoft.com/office/powerpoint/2010/main" val="6119058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3582296" y="1124935"/>
            <a:ext cx="4492102" cy="494237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3918046" y="1394931"/>
            <a:ext cx="3381802" cy="3551771"/>
          </a:xfrm>
        </p:spPr>
        <p:txBody>
          <a:bodyPr/>
          <a:lstStyle/>
          <a:p>
            <a:pPr marL="457200" indent="-457200">
              <a:lnSpc>
                <a:spcPct val="150000"/>
              </a:lnSpc>
              <a:buFont typeface="+mj-lt"/>
              <a:buAutoNum type="arabicPeriod"/>
            </a:pPr>
            <a:r>
              <a:rPr lang="zh-CN" altLang="en-US" dirty="0"/>
              <a:t>逻辑优化</a:t>
            </a:r>
            <a:r>
              <a:rPr lang="en-US" altLang="zh-CN" dirty="0"/>
              <a:t>(</a:t>
            </a:r>
            <a:r>
              <a:rPr lang="zh-CN" altLang="en-US" dirty="0"/>
              <a:t>查询重写</a:t>
            </a:r>
            <a:r>
              <a:rPr lang="en-US" altLang="zh-CN" dirty="0"/>
              <a:t>)</a:t>
            </a:r>
          </a:p>
          <a:p>
            <a:pPr marL="457200" indent="-457200">
              <a:lnSpc>
                <a:spcPct val="150000"/>
              </a:lnSpc>
              <a:buFont typeface="+mj-lt"/>
              <a:buAutoNum type="arabicPeriod"/>
            </a:pPr>
            <a:r>
              <a:rPr lang="zh-CN" altLang="en-US" b="1" dirty="0">
                <a:solidFill>
                  <a:srgbClr val="743481"/>
                </a:solidFill>
              </a:rPr>
              <a:t>物理优化</a:t>
            </a:r>
            <a:endParaRPr lang="en-US" altLang="zh-CN" b="1" dirty="0">
              <a:solidFill>
                <a:srgbClr val="743481"/>
              </a:solidFill>
            </a:endParaRPr>
          </a:p>
          <a:p>
            <a:pPr marL="826486" lvl="1" indent="-457200">
              <a:lnSpc>
                <a:spcPct val="150000"/>
              </a:lnSpc>
              <a:buFont typeface="Wingdings" pitchFamily="2" charset="2"/>
              <a:buChar char="l"/>
            </a:pPr>
            <a:r>
              <a:rPr lang="zh-CN" altLang="en-US" sz="2400" dirty="0"/>
              <a:t>代价估计</a:t>
            </a:r>
            <a:endParaRPr lang="en-US" altLang="zh-CN" sz="2400" dirty="0"/>
          </a:p>
          <a:p>
            <a:pPr marL="826486" lvl="1" indent="-457200">
              <a:lnSpc>
                <a:spcPct val="150000"/>
              </a:lnSpc>
              <a:buFont typeface="Wingdings" pitchFamily="2" charset="2"/>
              <a:buChar char="l"/>
            </a:pPr>
            <a:r>
              <a:rPr lang="zh-CN" altLang="en-US" sz="2400" b="1" dirty="0">
                <a:solidFill>
                  <a:srgbClr val="743481"/>
                </a:solidFill>
              </a:rPr>
              <a:t>连接顺序选择</a:t>
            </a:r>
            <a:endParaRPr lang="en-US" altLang="zh-CN" sz="2400" b="1" dirty="0">
              <a:solidFill>
                <a:srgbClr val="743481"/>
              </a:solidFill>
            </a:endParaRPr>
          </a:p>
          <a:p>
            <a:pPr marL="826486" lvl="1" indent="-457200">
              <a:lnSpc>
                <a:spcPct val="150000"/>
              </a:lnSpc>
              <a:buFont typeface="Wingdings" pitchFamily="2" charset="2"/>
              <a:buChar char="l"/>
            </a:pPr>
            <a:r>
              <a:rPr lang="zh-CN" altLang="en-US" sz="2400" dirty="0"/>
              <a:t>物理算子选择</a:t>
            </a:r>
            <a:endParaRPr lang="en-US" altLang="zh-CN" sz="2400" dirty="0"/>
          </a:p>
          <a:p>
            <a:pPr marL="457200" indent="-457200">
              <a:lnSpc>
                <a:spcPct val="150000"/>
              </a:lnSpc>
              <a:buFont typeface="+mj-lt"/>
              <a:buAutoNum type="arabicPeriod"/>
            </a:pPr>
            <a:r>
              <a:rPr lang="zh-CN" altLang="en-US" dirty="0"/>
              <a:t>优化器系统</a:t>
            </a:r>
            <a:endParaRPr lang="en-US" altLang="zh-CN" dirty="0"/>
          </a:p>
          <a:p>
            <a:pPr marL="457200" indent="-457200">
              <a:lnSpc>
                <a:spcPct val="150000"/>
              </a:lnSpc>
              <a:buFont typeface="+mj-lt"/>
              <a:buAutoNum type="arabicPeriod"/>
            </a:pPr>
            <a:r>
              <a:rPr lang="zh-CN" altLang="en-US" dirty="0"/>
              <a:t>物化视图 </a:t>
            </a:r>
          </a:p>
          <a:p>
            <a:pPr marL="514350" indent="-514350">
              <a:lnSpc>
                <a:spcPct val="150000"/>
              </a:lnSpc>
              <a:buFont typeface="+mj-lt"/>
              <a:buAutoNum type="arabicPeriod"/>
            </a:pPr>
            <a:endParaRPr lang="zh-CN" altLang="en-US" dirty="0"/>
          </a:p>
          <a:p>
            <a:pPr marL="514350" indent="-514350">
              <a:lnSpc>
                <a:spcPct val="150000"/>
              </a:lnSpc>
              <a:buFont typeface="+mj-lt"/>
              <a:buAutoNum type="arabicPeriod"/>
            </a:pPr>
            <a:endParaRPr lang="zh-CN" altLang="en-US" dirty="0"/>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a:xfrm>
            <a:off x="971550" y="53752"/>
            <a:ext cx="10090897" cy="678470"/>
          </a:xfrm>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2" name="页脚占位符 1">
            <a:extLst>
              <a:ext uri="{FF2B5EF4-FFF2-40B4-BE49-F238E27FC236}">
                <a16:creationId xmlns:a16="http://schemas.microsoft.com/office/drawing/2014/main" id="{1D284E60-CE14-ED1D-4912-BC1F24D092C0}"/>
              </a:ext>
            </a:extLst>
          </p:cNvPr>
          <p:cNvSpPr>
            <a:spLocks noGrp="1"/>
          </p:cNvSpPr>
          <p:nvPr>
            <p:ph type="ftr" sz="quarter" idx="11"/>
          </p:nvPr>
        </p:nvSpPr>
        <p:spPr/>
        <p:txBody>
          <a:bodyPr/>
          <a:lstStyle/>
          <a:p>
            <a:r>
              <a:rPr kumimoji="1" lang="zh-CN" altLang="en-US">
                <a:latin typeface="微软雅黑" panose="020B0503020204020204" pitchFamily="82" charset="2"/>
                <a:ea typeface="微软雅黑" panose="020B0503020204020204" pitchFamily="82" charset="2"/>
              </a:rPr>
              <a:t>数据库系统</a:t>
            </a:r>
            <a:r>
              <a:rPr kumimoji="1" lang="en-US" altLang="zh-CN">
                <a:latin typeface="微软雅黑" panose="020B0503020204020204" pitchFamily="82" charset="2"/>
                <a:ea typeface="微软雅黑" panose="020B0503020204020204" pitchFamily="82" charset="2"/>
              </a:rPr>
              <a:t>-</a:t>
            </a:r>
            <a:r>
              <a:rPr kumimoji="1" lang="zh-CN" altLang="en-US">
                <a:latin typeface="微软雅黑" panose="020B0503020204020204" pitchFamily="82" charset="2"/>
                <a:ea typeface="微软雅黑" panose="020B0503020204020204" pitchFamily="82" charset="2"/>
              </a:rPr>
              <a:t>存储系统</a:t>
            </a:r>
            <a:endParaRPr kumimoji="1" lang="zh-CN" altLang="en-US" dirty="0">
              <a:latin typeface="微软雅黑" panose="020B0503020204020204" pitchFamily="82" charset="2"/>
              <a:ea typeface="微软雅黑" panose="020B0503020204020204" pitchFamily="82" charset="2"/>
            </a:endParaRPr>
          </a:p>
        </p:txBody>
      </p:sp>
      <p:sp>
        <p:nvSpPr>
          <p:cNvPr id="4" name="灯片编号占位符 3">
            <a:extLst>
              <a:ext uri="{FF2B5EF4-FFF2-40B4-BE49-F238E27FC236}">
                <a16:creationId xmlns:a16="http://schemas.microsoft.com/office/drawing/2014/main" id="{C5B50267-C9DE-C0E9-C2B8-D7C9F2F05430}"/>
              </a:ext>
            </a:extLst>
          </p:cNvPr>
          <p:cNvSpPr>
            <a:spLocks noGrp="1"/>
          </p:cNvSpPr>
          <p:nvPr>
            <p:ph type="sldNum" sz="quarter" idx="12"/>
          </p:nvPr>
        </p:nvSpPr>
        <p:spPr/>
        <p:txBody>
          <a:bodyPr/>
          <a:lstStyle/>
          <a:p>
            <a:fld id="{4B0D34C0-35A8-654C-9FBA-7B4E017BD630}" type="slidenum">
              <a:rPr lang="en-US" altLang="zh-CN" smtClean="0">
                <a:latin typeface="微软雅黑" panose="020B0503020204020204" pitchFamily="82" charset="2"/>
                <a:ea typeface="微软雅黑" panose="020B0503020204020204" pitchFamily="82" charset="2"/>
              </a:rPr>
              <a:t>97</a:t>
            </a:fld>
            <a:endParaRPr kumimoji="1" lang="zh-CN" altLang="en-US">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15291387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A6F5E28-43C1-EF7F-8D4F-E915E84EBD44}"/>
              </a:ext>
            </a:extLst>
          </p:cNvPr>
          <p:cNvSpPr>
            <a:spLocks noGrp="1"/>
          </p:cNvSpPr>
          <p:nvPr>
            <p:ph type="sldNum" sz="quarter" idx="10"/>
          </p:nvPr>
        </p:nvSpPr>
        <p:spPr/>
        <p:txBody>
          <a:bodyPr/>
          <a:lstStyle/>
          <a:p>
            <a:fld id="{87BBDC00-B9E2-4EFD-9306-2934E87247C6}" type="slidenum">
              <a:rPr lang="zh-CN" altLang="en-US" smtClean="0"/>
              <a:pPr/>
              <a:t>98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连接树</a:t>
            </a:r>
            <a:endParaRPr kumimoji="1" lang="zh-CN" altLang="en-US" dirty="0"/>
          </a:p>
        </p:txBody>
      </p:sp>
      <p:sp>
        <p:nvSpPr>
          <p:cNvPr id="4" name="页脚占位符 3">
            <a:extLst>
              <a:ext uri="{FF2B5EF4-FFF2-40B4-BE49-F238E27FC236}">
                <a16:creationId xmlns:a16="http://schemas.microsoft.com/office/drawing/2014/main" id="{41C632A5-88CA-0986-2162-11E2B857F75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456894"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342900" lvl="1" indent="-342900">
              <a:lnSpc>
                <a:spcPct val="150000"/>
              </a:lnSpc>
              <a:buFont typeface="Wingdings" panose="05000000000000000000" pitchFamily="2" charset="2"/>
              <a:buChar char="Ø"/>
            </a:pPr>
            <a:r>
              <a:rPr lang="zh-CN" altLang="en-US" sz="2400" b="1" dirty="0">
                <a:solidFill>
                  <a:srgbClr val="701988"/>
                </a:solidFill>
                <a:latin typeface="+mj-ea"/>
                <a:ea typeface="+mj-ea"/>
              </a:rPr>
              <a:t>连接树（</a:t>
            </a:r>
            <a:r>
              <a:rPr lang="en-US" altLang="zh-CN" sz="2400" b="1" dirty="0">
                <a:solidFill>
                  <a:srgbClr val="701988"/>
                </a:solidFill>
                <a:latin typeface="+mj-ea"/>
                <a:ea typeface="+mj-ea"/>
              </a:rPr>
              <a:t>join tree</a:t>
            </a:r>
            <a:r>
              <a:rPr lang="zh-CN" altLang="en-US" sz="2400" b="1" dirty="0">
                <a:solidFill>
                  <a:srgbClr val="701988"/>
                </a:solidFill>
                <a:latin typeface="+mj-ea"/>
                <a:ea typeface="+mj-ea"/>
              </a:rPr>
              <a:t>）：</a:t>
            </a:r>
            <a:r>
              <a:rPr lang="zh-CN" altLang="en-US" sz="2400" b="1" dirty="0">
                <a:latin typeface="+mj-ea"/>
                <a:ea typeface="+mj-ea"/>
              </a:rPr>
              <a:t>表示</a:t>
            </a:r>
            <a:r>
              <a:rPr lang="en-US" altLang="zh-CN" sz="2400" b="1" dirty="0">
                <a:latin typeface="+mj-ea"/>
                <a:ea typeface="+mj-ea"/>
              </a:rPr>
              <a:t>n</a:t>
            </a:r>
            <a:r>
              <a:rPr lang="zh-CN" altLang="en-US" sz="2400" b="1" dirty="0">
                <a:latin typeface="+mj-ea"/>
                <a:ea typeface="+mj-ea"/>
              </a:rPr>
              <a:t>个关系连接时采用的连接顺序</a:t>
            </a:r>
            <a:endParaRPr lang="en-US" altLang="zh-CN" sz="2400" b="1"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二叉树</a:t>
            </a:r>
            <a:endParaRPr lang="en-US" altLang="zh-CN" sz="2000" kern="0"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内部节点都是连接运算</a:t>
            </a:r>
            <a:endParaRPr lang="en-US" altLang="zh-CN" sz="2000" kern="0" dirty="0">
              <a:latin typeface="+mj-ea"/>
              <a:ea typeface="+mj-ea"/>
            </a:endParaRPr>
          </a:p>
          <a:p>
            <a:pPr lvl="1">
              <a:lnSpc>
                <a:spcPct val="150000"/>
              </a:lnSpc>
              <a:buFont typeface="Arial" panose="020B0604020202020204" pitchFamily="34" charset="0"/>
              <a:buChar char="•"/>
            </a:pPr>
            <a:r>
              <a:rPr lang="en-US" altLang="zh-CN" sz="2000" kern="0" dirty="0">
                <a:latin typeface="+mj-ea"/>
                <a:ea typeface="+mj-ea"/>
              </a:rPr>
              <a:t>n</a:t>
            </a:r>
            <a:r>
              <a:rPr lang="zh-CN" altLang="en-US" sz="2000" kern="0" dirty="0">
                <a:latin typeface="+mj-ea"/>
                <a:ea typeface="+mj-ea"/>
              </a:rPr>
              <a:t>个叶子节点与</a:t>
            </a:r>
            <a:r>
              <a:rPr lang="en-US" altLang="zh-CN" sz="2000" kern="0" dirty="0">
                <a:latin typeface="+mj-ea"/>
                <a:ea typeface="+mj-ea"/>
              </a:rPr>
              <a:t>n</a:t>
            </a:r>
            <a:r>
              <a:rPr lang="zh-CN" altLang="en-US" sz="2000" kern="0" dirty="0">
                <a:latin typeface="+mj-ea"/>
                <a:ea typeface="+mj-ea"/>
              </a:rPr>
              <a:t>个关系一一对应</a:t>
            </a:r>
            <a:endParaRPr lang="en-US" altLang="zh-CN" sz="2000" kern="0" dirty="0">
              <a:latin typeface="+mj-ea"/>
              <a:ea typeface="+mj-ea"/>
            </a:endParaRPr>
          </a:p>
          <a:p>
            <a:pPr marL="342900" lvl="1" indent="-342900">
              <a:lnSpc>
                <a:spcPct val="150000"/>
              </a:lnSpc>
              <a:buFont typeface="Wingdings" panose="05000000000000000000" pitchFamily="2" charset="2"/>
              <a:buChar char="Ø"/>
            </a:pPr>
            <a:r>
              <a:rPr lang="zh-CN" altLang="en-US" sz="2400" b="1" dirty="0">
                <a:latin typeface="+mj-ea"/>
                <a:ea typeface="+mj-ea"/>
              </a:rPr>
              <a:t>连接树分类：</a:t>
            </a:r>
            <a:endParaRPr lang="en-US" altLang="zh-CN" sz="2400" b="1" dirty="0">
              <a:latin typeface="+mj-ea"/>
              <a:ea typeface="+mj-ea"/>
            </a:endParaRPr>
          </a:p>
          <a:p>
            <a:pPr lvl="1">
              <a:lnSpc>
                <a:spcPct val="150000"/>
              </a:lnSpc>
              <a:buFont typeface="Arial" panose="020B0604020202020204" pitchFamily="34" charset="0"/>
              <a:buChar char="•"/>
            </a:pPr>
            <a:r>
              <a:rPr lang="zh-CN" altLang="en-US" sz="2000" b="1" kern="0" dirty="0">
                <a:solidFill>
                  <a:srgbClr val="701988"/>
                </a:solidFill>
                <a:latin typeface="+mj-ea"/>
                <a:ea typeface="+mj-ea"/>
              </a:rPr>
              <a:t>左深连接树</a:t>
            </a:r>
            <a:r>
              <a:rPr lang="zh-CN" altLang="en-US" sz="2000" kern="0" dirty="0">
                <a:latin typeface="+mj-ea"/>
                <a:ea typeface="+mj-ea"/>
              </a:rPr>
              <a:t>：</a:t>
            </a:r>
            <a:r>
              <a:rPr lang="zh-CN" altLang="zh-CN" sz="2000" dirty="0">
                <a:latin typeface="+mj-ea"/>
                <a:ea typeface="+mj-ea"/>
              </a:rPr>
              <a:t>内部</a:t>
            </a:r>
            <a:r>
              <a:rPr lang="zh-CN" altLang="en-US" sz="2000" dirty="0">
                <a:latin typeface="+mj-ea"/>
                <a:ea typeface="+mj-ea"/>
              </a:rPr>
              <a:t>节点</a:t>
            </a:r>
            <a:r>
              <a:rPr lang="zh-CN" altLang="zh-CN" sz="2000" dirty="0">
                <a:latin typeface="+mj-ea"/>
                <a:ea typeface="+mj-ea"/>
              </a:rPr>
              <a:t>的右子</a:t>
            </a:r>
            <a:r>
              <a:rPr lang="zh-CN" altLang="en-US" sz="2000" dirty="0">
                <a:latin typeface="+mj-ea"/>
                <a:ea typeface="+mj-ea"/>
              </a:rPr>
              <a:t>节点</a:t>
            </a:r>
            <a:r>
              <a:rPr lang="zh-CN" altLang="zh-CN" sz="2000" dirty="0">
                <a:latin typeface="+mj-ea"/>
                <a:ea typeface="+mj-ea"/>
              </a:rPr>
              <a:t>都是叶子</a:t>
            </a:r>
            <a:r>
              <a:rPr lang="zh-CN" altLang="en-US" sz="2000" dirty="0">
                <a:latin typeface="+mj-ea"/>
                <a:ea typeface="+mj-ea"/>
              </a:rPr>
              <a:t>节点</a:t>
            </a:r>
            <a:r>
              <a:rPr lang="zh-CN" altLang="zh-CN" sz="2000" dirty="0">
                <a:latin typeface="+mj-ea"/>
                <a:ea typeface="+mj-ea"/>
              </a:rPr>
              <a:t>的连接树</a:t>
            </a:r>
            <a:endParaRPr lang="en-US" altLang="zh-CN" sz="2000" dirty="0">
              <a:latin typeface="+mj-ea"/>
              <a:ea typeface="+mj-ea"/>
            </a:endParaRPr>
          </a:p>
          <a:p>
            <a:pPr lvl="1">
              <a:lnSpc>
                <a:spcPct val="150000"/>
              </a:lnSpc>
              <a:buFont typeface="Arial" panose="020B0604020202020204" pitchFamily="34" charset="0"/>
              <a:buChar char="•"/>
            </a:pPr>
            <a:r>
              <a:rPr lang="zh-CN" altLang="en-US" sz="2000" b="1" dirty="0">
                <a:solidFill>
                  <a:srgbClr val="701988"/>
                </a:solidFill>
                <a:latin typeface="+mj-ea"/>
                <a:ea typeface="+mj-ea"/>
              </a:rPr>
              <a:t>右深连接树</a:t>
            </a:r>
            <a:r>
              <a:rPr lang="zh-CN" altLang="en-US" sz="2000" b="1" dirty="0">
                <a:latin typeface="+mj-ea"/>
                <a:ea typeface="+mj-ea"/>
              </a:rPr>
              <a:t>：</a:t>
            </a:r>
            <a:r>
              <a:rPr lang="zh-CN" altLang="zh-CN" sz="2000" dirty="0">
                <a:latin typeface="+mj-ea"/>
                <a:ea typeface="+mj-ea"/>
              </a:rPr>
              <a:t>内部</a:t>
            </a:r>
            <a:r>
              <a:rPr lang="zh-CN" altLang="en-US" sz="2000" dirty="0">
                <a:latin typeface="+mj-ea"/>
                <a:ea typeface="+mj-ea"/>
              </a:rPr>
              <a:t>节点</a:t>
            </a:r>
            <a:r>
              <a:rPr lang="zh-CN" altLang="zh-CN" sz="2000" dirty="0">
                <a:latin typeface="+mj-ea"/>
                <a:ea typeface="+mj-ea"/>
              </a:rPr>
              <a:t>的</a:t>
            </a:r>
            <a:r>
              <a:rPr lang="zh-CN" altLang="en-US" sz="2000" dirty="0">
                <a:latin typeface="+mj-ea"/>
                <a:ea typeface="+mj-ea"/>
              </a:rPr>
              <a:t>左</a:t>
            </a:r>
            <a:r>
              <a:rPr lang="zh-CN" altLang="zh-CN" sz="2000" dirty="0">
                <a:latin typeface="+mj-ea"/>
                <a:ea typeface="+mj-ea"/>
              </a:rPr>
              <a:t>子</a:t>
            </a:r>
            <a:r>
              <a:rPr lang="zh-CN" altLang="en-US" sz="2000" dirty="0">
                <a:latin typeface="+mj-ea"/>
                <a:ea typeface="+mj-ea"/>
              </a:rPr>
              <a:t>节点</a:t>
            </a:r>
            <a:r>
              <a:rPr lang="zh-CN" altLang="zh-CN" sz="2000" dirty="0">
                <a:latin typeface="+mj-ea"/>
                <a:ea typeface="+mj-ea"/>
              </a:rPr>
              <a:t>都是叶子</a:t>
            </a:r>
            <a:r>
              <a:rPr lang="zh-CN" altLang="en-US" sz="2000" dirty="0">
                <a:latin typeface="+mj-ea"/>
                <a:ea typeface="+mj-ea"/>
              </a:rPr>
              <a:t>节点</a:t>
            </a:r>
            <a:r>
              <a:rPr lang="zh-CN" altLang="zh-CN" sz="2000" dirty="0">
                <a:latin typeface="+mj-ea"/>
                <a:ea typeface="+mj-ea"/>
              </a:rPr>
              <a:t>的连接树</a:t>
            </a:r>
            <a:endParaRPr lang="en-US" altLang="zh-CN" sz="2000" dirty="0">
              <a:latin typeface="+mj-ea"/>
              <a:ea typeface="+mj-ea"/>
            </a:endParaRPr>
          </a:p>
          <a:p>
            <a:pPr lvl="1">
              <a:lnSpc>
                <a:spcPct val="150000"/>
              </a:lnSpc>
              <a:buFont typeface="Arial" panose="020B0604020202020204" pitchFamily="34" charset="0"/>
              <a:buChar char="•"/>
            </a:pPr>
            <a:r>
              <a:rPr lang="zh-CN" altLang="en-US" sz="2000" b="1" kern="0" dirty="0">
                <a:solidFill>
                  <a:srgbClr val="701988"/>
                </a:solidFill>
                <a:latin typeface="+mj-ea"/>
                <a:ea typeface="+mj-ea"/>
              </a:rPr>
              <a:t>浓密树</a:t>
            </a:r>
            <a:r>
              <a:rPr lang="zh-CN" altLang="en-US" sz="2000" b="1" kern="0" dirty="0">
                <a:latin typeface="+mj-ea"/>
                <a:ea typeface="+mj-ea"/>
              </a:rPr>
              <a:t>：</a:t>
            </a:r>
            <a:r>
              <a:rPr lang="zh-CN" altLang="en-US" sz="2000" kern="0" dirty="0">
                <a:latin typeface="+mj-ea"/>
                <a:ea typeface="+mj-ea"/>
              </a:rPr>
              <a:t>不是左深树和右深树的连接树</a:t>
            </a:r>
            <a:endParaRPr lang="en-US" altLang="zh-CN" sz="2000" kern="0" dirty="0">
              <a:latin typeface="+mj-ea"/>
              <a:ea typeface="+mj-ea"/>
            </a:endParaRPr>
          </a:p>
          <a:p>
            <a:pPr lvl="1">
              <a:lnSpc>
                <a:spcPct val="150000"/>
              </a:lnSpc>
              <a:buFont typeface="Wingdings" pitchFamily="2" charset="2"/>
              <a:buChar char="Ø"/>
            </a:pPr>
            <a:endParaRPr lang="en-US" altLang="zh-CN" sz="2400" kern="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204973311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0FF52922-3D42-4412-80D4-E8608AC407DF}"/>
              </a:ext>
            </a:extLst>
          </p:cNvPr>
          <p:cNvSpPr/>
          <p:nvPr/>
        </p:nvSpPr>
        <p:spPr>
          <a:xfrm>
            <a:off x="971509" y="1494428"/>
            <a:ext cx="10262551" cy="351229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6" name="灯片编号占位符 5">
            <a:extLst>
              <a:ext uri="{FF2B5EF4-FFF2-40B4-BE49-F238E27FC236}">
                <a16:creationId xmlns:a16="http://schemas.microsoft.com/office/drawing/2014/main" id="{AEEEB4CE-4515-1BA7-4041-E8D285EC47DB}"/>
              </a:ext>
            </a:extLst>
          </p:cNvPr>
          <p:cNvSpPr>
            <a:spLocks noGrp="1"/>
          </p:cNvSpPr>
          <p:nvPr>
            <p:ph type="sldNum" sz="quarter" idx="10"/>
          </p:nvPr>
        </p:nvSpPr>
        <p:spPr/>
        <p:txBody>
          <a:bodyPr/>
          <a:lstStyle/>
          <a:p>
            <a:fld id="{87BBDC00-B9E2-4EFD-9306-2934E87247C6}" type="slidenum">
              <a:rPr lang="zh-CN" altLang="en-US" smtClean="0"/>
              <a:pPr/>
              <a:t>99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连接树示例</a:t>
            </a:r>
            <a:endParaRPr kumimoji="1" lang="zh-CN" altLang="en-US" dirty="0"/>
          </a:p>
        </p:txBody>
      </p:sp>
      <p:sp>
        <p:nvSpPr>
          <p:cNvPr id="8" name="页脚占位符 7">
            <a:extLst>
              <a:ext uri="{FF2B5EF4-FFF2-40B4-BE49-F238E27FC236}">
                <a16:creationId xmlns:a16="http://schemas.microsoft.com/office/drawing/2014/main" id="{0DCF3047-3ED1-9672-86D4-ACBFA29598C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2" name="图片 1">
            <a:extLst>
              <a:ext uri="{FF2B5EF4-FFF2-40B4-BE49-F238E27FC236}">
                <a16:creationId xmlns:a16="http://schemas.microsoft.com/office/drawing/2014/main" id="{9BE03FBD-ABEE-0BD9-5E9D-BA01E0EC3451}"/>
              </a:ext>
            </a:extLst>
          </p:cNvPr>
          <p:cNvPicPr>
            <a:picLocks noChangeAspect="1"/>
          </p:cNvPicPr>
          <p:nvPr/>
        </p:nvPicPr>
        <p:blipFill>
          <a:blip r:embed="rId3"/>
          <a:stretch>
            <a:fillRect/>
          </a:stretch>
        </p:blipFill>
        <p:spPr>
          <a:xfrm>
            <a:off x="1393124" y="1525574"/>
            <a:ext cx="9489868" cy="3441085"/>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232BBF4-14C7-C6B6-950F-48AB29B265ED}"/>
                  </a:ext>
                </a:extLst>
              </p:cNvPr>
              <p:cNvSpPr/>
              <p:nvPr/>
            </p:nvSpPr>
            <p:spPr>
              <a:xfrm>
                <a:off x="129861" y="5325345"/>
                <a:ext cx="4310098" cy="830997"/>
              </a:xfrm>
              <a:prstGeom prst="rect">
                <a:avLst/>
              </a:prstGeom>
            </p:spPr>
            <p:txBody>
              <a:bodyPr wrap="square">
                <a:spAutoFit/>
              </a:bodyPr>
              <a:lstStyle/>
              <a:p>
                <a:pPr algn="ctr"/>
                <a:r>
                  <a:rPr lang="zh-CN" altLang="zh-CN" sz="2400" b="1" kern="100" dirty="0">
                    <a:latin typeface="+mj-ea"/>
                    <a:ea typeface="+mj-ea"/>
                    <a:cs typeface="Times New Roman" panose="02020603050405020304" pitchFamily="18" charset="0"/>
                  </a:rPr>
                  <a:t>左深连接树</a:t>
                </a:r>
                <a:endParaRPr lang="en-US" altLang="zh-CN" sz="2400" b="1" kern="100" dirty="0">
                  <a:latin typeface="+mj-ea"/>
                  <a:ea typeface="+mj-ea"/>
                  <a:cs typeface="Times New Roman" panose="02020603050405020304" pitchFamily="18" charset="0"/>
                </a:endParaRPr>
              </a:p>
              <a:p>
                <a:pPr algn="ctr"/>
                <a14:m>
                  <m:oMath xmlns:m="http://schemas.openxmlformats.org/officeDocument/2006/math">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1</m:t>
                        </m:r>
                      </m:sub>
                    </m:sSub>
                    <m:r>
                      <a:rPr lang="en-US" altLang="zh-CN" sz="2400" i="1" kern="100">
                        <a:latin typeface="Cambria Math" panose="02040503050406030204" pitchFamily="18" charset="0"/>
                        <a:ea typeface="+mj-ea"/>
                        <a:cs typeface="Times New Roman" panose="02020603050405020304" pitchFamily="18" charset="0"/>
                      </a:rPr>
                      <m:t>⋈ </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2</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3</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4</m:t>
                        </m:r>
                      </m:sub>
                    </m:sSub>
                  </m:oMath>
                </a14:m>
                <a:r>
                  <a:rPr lang="zh-CN" altLang="zh-CN" sz="2400" dirty="0">
                    <a:effectLst/>
                    <a:latin typeface="+mj-ea"/>
                    <a:ea typeface="+mj-ea"/>
                  </a:rPr>
                  <a:t> </a:t>
                </a:r>
                <a:endParaRPr lang="zh-CN" altLang="en-US" sz="2400" dirty="0">
                  <a:latin typeface="+mj-ea"/>
                  <a:ea typeface="+mj-ea"/>
                </a:endParaRPr>
              </a:p>
            </p:txBody>
          </p:sp>
        </mc:Choice>
        <mc:Fallback xmlns="">
          <p:sp>
            <p:nvSpPr>
              <p:cNvPr id="4" name="矩形 3">
                <a:extLst>
                  <a:ext uri="{FF2B5EF4-FFF2-40B4-BE49-F238E27FC236}">
                    <a16:creationId xmlns:a16="http://schemas.microsoft.com/office/drawing/2014/main" xmlns:a14="http://schemas.microsoft.com/office/drawing/2010/main" xmlns="" id="{6232BBF4-14C7-C6B6-950F-48AB29B265ED}"/>
                  </a:ext>
                </a:extLst>
              </p:cNvPr>
              <p:cNvSpPr>
                <a:spLocks noRot="1" noChangeAspect="1" noMove="1" noResize="1" noEditPoints="1" noAdjustHandles="1" noChangeArrowheads="1" noChangeShapeType="1" noTextEdit="1"/>
              </p:cNvSpPr>
              <p:nvPr/>
            </p:nvSpPr>
            <p:spPr>
              <a:xfrm>
                <a:off x="129861" y="5325345"/>
                <a:ext cx="4310098" cy="830997"/>
              </a:xfrm>
              <a:prstGeom prst="rect">
                <a:avLst/>
              </a:prstGeom>
              <a:blipFill rotWithShape="0">
                <a:blip r:embed="rId4"/>
                <a:stretch>
                  <a:fillRect t="-5882" b="-102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31CCEC2-CC60-D1BD-921C-5D58744746ED}"/>
                  </a:ext>
                </a:extLst>
              </p:cNvPr>
              <p:cNvSpPr/>
              <p:nvPr/>
            </p:nvSpPr>
            <p:spPr>
              <a:xfrm>
                <a:off x="3814377" y="5325344"/>
                <a:ext cx="4523975" cy="830997"/>
              </a:xfrm>
              <a:prstGeom prst="rect">
                <a:avLst/>
              </a:prstGeom>
            </p:spPr>
            <p:txBody>
              <a:bodyPr wrap="square">
                <a:spAutoFit/>
              </a:bodyPr>
              <a:lstStyle/>
              <a:p>
                <a:pPr algn="ctr"/>
                <a:r>
                  <a:rPr lang="zh-CN" altLang="zh-CN" sz="2400" b="1" kern="100" dirty="0">
                    <a:latin typeface="+mj-ea"/>
                    <a:ea typeface="+mj-ea"/>
                    <a:cs typeface="Times New Roman" panose="02020603050405020304" pitchFamily="18" charset="0"/>
                  </a:rPr>
                  <a:t>浓密树</a:t>
                </a:r>
                <a:endParaRPr lang="en-US" altLang="zh-CN" sz="2400" b="1" kern="100" dirty="0">
                  <a:latin typeface="+mj-ea"/>
                  <a:ea typeface="+mj-ea"/>
                  <a:cs typeface="Times New Roman" panose="02020603050405020304" pitchFamily="18" charset="0"/>
                </a:endParaRPr>
              </a:p>
              <a:p>
                <a:pPr algn="ctr"/>
                <a14:m>
                  <m:oMath xmlns:m="http://schemas.openxmlformats.org/officeDocument/2006/math">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1</m:t>
                        </m:r>
                      </m:sub>
                    </m:sSub>
                    <m:r>
                      <a:rPr lang="en-US" altLang="zh-CN" sz="2400" i="1" kern="100">
                        <a:latin typeface="Cambria Math" panose="02040503050406030204" pitchFamily="18" charset="0"/>
                        <a:ea typeface="+mj-ea"/>
                        <a:cs typeface="Times New Roman" panose="02020603050405020304" pitchFamily="18" charset="0"/>
                      </a:rPr>
                      <m:t>⋈ </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2</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m:t>
                        </m:r>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3</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4</m:t>
                        </m:r>
                      </m:sub>
                    </m:sSub>
                    <m:r>
                      <a:rPr lang="en-US" altLang="zh-CN" sz="2400" i="1" kern="100">
                        <a:latin typeface="Cambria Math" panose="02040503050406030204" pitchFamily="18" charset="0"/>
                        <a:ea typeface="+mj-ea"/>
                        <a:cs typeface="Times New Roman" panose="02020603050405020304" pitchFamily="18" charset="0"/>
                      </a:rPr>
                      <m:t>))</m:t>
                    </m:r>
                  </m:oMath>
                </a14:m>
                <a:r>
                  <a:rPr lang="zh-CN" altLang="zh-CN" sz="2400" dirty="0">
                    <a:effectLst/>
                    <a:latin typeface="+mj-ea"/>
                    <a:ea typeface="+mj-ea"/>
                  </a:rPr>
                  <a:t> </a:t>
                </a:r>
                <a:endParaRPr lang="zh-CN" altLang="en-US" sz="2400" dirty="0">
                  <a:latin typeface="+mj-ea"/>
                  <a:ea typeface="+mj-ea"/>
                </a:endParaRPr>
              </a:p>
            </p:txBody>
          </p:sp>
        </mc:Choice>
        <mc:Fallback xmlns="">
          <p:sp>
            <p:nvSpPr>
              <p:cNvPr id="5" name="矩形 4">
                <a:extLst>
                  <a:ext uri="{FF2B5EF4-FFF2-40B4-BE49-F238E27FC236}">
                    <a16:creationId xmlns:a16="http://schemas.microsoft.com/office/drawing/2014/main" xmlns:a14="http://schemas.microsoft.com/office/drawing/2010/main" xmlns="" id="{A31CCEC2-CC60-D1BD-921C-5D58744746ED}"/>
                  </a:ext>
                </a:extLst>
              </p:cNvPr>
              <p:cNvSpPr>
                <a:spLocks noRot="1" noChangeAspect="1" noMove="1" noResize="1" noEditPoints="1" noAdjustHandles="1" noChangeArrowheads="1" noChangeShapeType="1" noTextEdit="1"/>
              </p:cNvSpPr>
              <p:nvPr/>
            </p:nvSpPr>
            <p:spPr>
              <a:xfrm>
                <a:off x="3814377" y="5325344"/>
                <a:ext cx="4523975" cy="830997"/>
              </a:xfrm>
              <a:prstGeom prst="rect">
                <a:avLst/>
              </a:prstGeom>
              <a:blipFill rotWithShape="0">
                <a:blip r:embed="rId5"/>
                <a:stretch>
                  <a:fillRect t="-5882" b="-102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6E17A6B-7589-FF43-86C6-A01B16239E09}"/>
                  </a:ext>
                </a:extLst>
              </p:cNvPr>
              <p:cNvSpPr/>
              <p:nvPr/>
            </p:nvSpPr>
            <p:spPr>
              <a:xfrm>
                <a:off x="7750692" y="5325345"/>
                <a:ext cx="4203198" cy="830997"/>
              </a:xfrm>
              <a:prstGeom prst="rect">
                <a:avLst/>
              </a:prstGeom>
            </p:spPr>
            <p:txBody>
              <a:bodyPr wrap="square">
                <a:spAutoFit/>
              </a:bodyPr>
              <a:lstStyle/>
              <a:p>
                <a:pPr algn="ctr"/>
                <a:r>
                  <a:rPr lang="zh-CN" altLang="zh-CN" sz="2400" b="1" kern="100" dirty="0">
                    <a:latin typeface="+mj-ea"/>
                    <a:ea typeface="+mj-ea"/>
                    <a:cs typeface="Times New Roman" panose="02020603050405020304" pitchFamily="18" charset="0"/>
                  </a:rPr>
                  <a:t>右深连接树</a:t>
                </a:r>
                <a:endParaRPr lang="en-US" altLang="zh-CN" sz="2400" b="1" kern="100" dirty="0">
                  <a:latin typeface="+mj-ea"/>
                  <a:ea typeface="+mj-ea"/>
                  <a:cs typeface="Times New Roman" panose="02020603050405020304" pitchFamily="18" charset="0"/>
                </a:endParaRPr>
              </a:p>
              <a:p>
                <a:pPr algn="ctr"/>
                <a14:m>
                  <m:oMath xmlns:m="http://schemas.openxmlformats.org/officeDocument/2006/math">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1</m:t>
                        </m:r>
                      </m:sub>
                    </m:sSub>
                    <m:r>
                      <a:rPr lang="en-US" altLang="zh-CN" sz="2400" i="1" kern="100">
                        <a:latin typeface="Cambria Math" panose="02040503050406030204" pitchFamily="18" charset="0"/>
                        <a:ea typeface="+mj-ea"/>
                        <a:cs typeface="Times New Roman" panose="02020603050405020304" pitchFamily="18" charset="0"/>
                      </a:rPr>
                      <m:t>⋈ (</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2</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m:t>
                        </m:r>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3</m:t>
                        </m:r>
                      </m:sub>
                    </m:sSub>
                    <m:r>
                      <a:rPr lang="en-US" altLang="zh-CN" sz="2400" i="1" kern="100">
                        <a:latin typeface="Cambria Math" panose="02040503050406030204" pitchFamily="18" charset="0"/>
                        <a:ea typeface="+mj-ea"/>
                        <a:cs typeface="Times New Roman" panose="02020603050405020304" pitchFamily="18" charset="0"/>
                      </a:rPr>
                      <m:t>⋈</m:t>
                    </m:r>
                    <m:sSub>
                      <m:sSubPr>
                        <m:ctrlPr>
                          <a:rPr lang="zh-CN" altLang="zh-CN" sz="2400" i="1">
                            <a:effectLst/>
                            <a:latin typeface="Cambria Math" panose="02040503050406030204" pitchFamily="18" charset="0"/>
                            <a:ea typeface="+mj-ea"/>
                          </a:rPr>
                        </m:ctrlPr>
                      </m:sSubPr>
                      <m:e>
                        <m:r>
                          <a:rPr lang="en-US" altLang="zh-CN" sz="2400" i="1" kern="100">
                            <a:latin typeface="Cambria Math" panose="02040503050406030204" pitchFamily="18" charset="0"/>
                            <a:ea typeface="+mj-ea"/>
                            <a:cs typeface="Times New Roman" panose="02020603050405020304" pitchFamily="18" charset="0"/>
                          </a:rPr>
                          <m:t>𝑅</m:t>
                        </m:r>
                      </m:e>
                      <m:sub>
                        <m:r>
                          <a:rPr lang="en-US" altLang="zh-CN" sz="2400" i="1" kern="100">
                            <a:latin typeface="Cambria Math" panose="02040503050406030204" pitchFamily="18" charset="0"/>
                            <a:ea typeface="+mj-ea"/>
                            <a:cs typeface="Times New Roman" panose="02020603050405020304" pitchFamily="18" charset="0"/>
                          </a:rPr>
                          <m:t>4</m:t>
                        </m:r>
                      </m:sub>
                    </m:sSub>
                    <m:r>
                      <a:rPr lang="en-US" altLang="zh-CN" sz="2400" i="1" kern="100">
                        <a:latin typeface="Cambria Math" panose="02040503050406030204" pitchFamily="18" charset="0"/>
                        <a:ea typeface="+mj-ea"/>
                        <a:cs typeface="Times New Roman" panose="02020603050405020304" pitchFamily="18" charset="0"/>
                      </a:rPr>
                      <m:t>))</m:t>
                    </m:r>
                  </m:oMath>
                </a14:m>
                <a:r>
                  <a:rPr lang="zh-CN" altLang="zh-CN" sz="2400" dirty="0">
                    <a:effectLst/>
                    <a:latin typeface="+mj-ea"/>
                    <a:ea typeface="+mj-ea"/>
                  </a:rPr>
                  <a:t> </a:t>
                </a:r>
                <a:endParaRPr lang="zh-CN" altLang="en-US" sz="2400" dirty="0">
                  <a:latin typeface="+mj-ea"/>
                  <a:ea typeface="+mj-ea"/>
                </a:endParaRPr>
              </a:p>
            </p:txBody>
          </p:sp>
        </mc:Choice>
        <mc:Fallback xmlns="">
          <p:sp>
            <p:nvSpPr>
              <p:cNvPr id="7" name="矩形 6">
                <a:extLst>
                  <a:ext uri="{FF2B5EF4-FFF2-40B4-BE49-F238E27FC236}">
                    <a16:creationId xmlns:a16="http://schemas.microsoft.com/office/drawing/2014/main" xmlns:a14="http://schemas.microsoft.com/office/drawing/2010/main" xmlns="" id="{66E17A6B-7589-FF43-86C6-A01B16239E09}"/>
                  </a:ext>
                </a:extLst>
              </p:cNvPr>
              <p:cNvSpPr>
                <a:spLocks noRot="1" noChangeAspect="1" noMove="1" noResize="1" noEditPoints="1" noAdjustHandles="1" noChangeArrowheads="1" noChangeShapeType="1" noTextEdit="1"/>
              </p:cNvSpPr>
              <p:nvPr/>
            </p:nvSpPr>
            <p:spPr>
              <a:xfrm>
                <a:off x="7750692" y="5325345"/>
                <a:ext cx="4203198" cy="830997"/>
              </a:xfrm>
              <a:prstGeom prst="rect">
                <a:avLst/>
              </a:prstGeom>
              <a:blipFill rotWithShape="0">
                <a:blip r:embed="rId6"/>
                <a:stretch>
                  <a:fillRect t="-5882" b="-102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966109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4280C3-EF50-1A64-D4AC-B364EE0338A5}"/>
              </a:ext>
            </a:extLst>
          </p:cNvPr>
          <p:cNvSpPr>
            <a:spLocks noGrp="1"/>
          </p:cNvSpPr>
          <p:nvPr>
            <p:ph type="sldNum" sz="quarter" idx="10"/>
          </p:nvPr>
        </p:nvSpPr>
        <p:spPr/>
        <p:txBody>
          <a:bodyPr/>
          <a:lstStyle/>
          <a:p>
            <a:fld id="{87BBDC00-B9E2-4EFD-9306-2934E87247C6}" type="slidenum">
              <a:rPr lang="zh-CN" altLang="en-US" smtClean="0"/>
              <a:pPr/>
              <a:t>100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连接树数量规模分析</a:t>
            </a:r>
            <a:endParaRPr kumimoji="1" lang="zh-CN" altLang="en-US" dirty="0"/>
          </a:p>
        </p:txBody>
      </p:sp>
      <p:sp>
        <p:nvSpPr>
          <p:cNvPr id="4" name="页脚占位符 3">
            <a:extLst>
              <a:ext uri="{FF2B5EF4-FFF2-40B4-BE49-F238E27FC236}">
                <a16:creationId xmlns:a16="http://schemas.microsoft.com/office/drawing/2014/main" id="{30F3FB2D-B4BD-A6C8-16C2-4FA43B7310CE}"/>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456894"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en-US" altLang="zh-CN" sz="2200" b="1" kern="0" dirty="0">
                    <a:latin typeface="+mj-ea"/>
                    <a:ea typeface="+mj-ea"/>
                  </a:rPr>
                  <a:t>n</a:t>
                </a:r>
                <a:r>
                  <a:rPr lang="zh-CN" altLang="en-US" sz="2200" b="1" kern="0" dirty="0">
                    <a:latin typeface="+mj-ea"/>
                    <a:ea typeface="+mj-ea"/>
                  </a:rPr>
                  <a:t>个关系构成的结构不同的连接树个数为：</a:t>
                </a:r>
                <a:endParaRPr lang="en-US" altLang="zh-CN" sz="2200" b="1" kern="0" dirty="0">
                  <a:latin typeface="+mj-ea"/>
                  <a:ea typeface="+mj-ea"/>
                </a:endParaRPr>
              </a:p>
              <a:p>
                <a:pPr lvl="1">
                  <a:buFont typeface="Arial" panose="020B0604020202020204" pitchFamily="34" charset="0"/>
                  <a:buChar char="•"/>
                </a:pPr>
                <a14:m>
                  <m:oMath xmlns:m="http://schemas.openxmlformats.org/officeDocument/2006/math">
                    <m:sSub>
                      <m:sSubPr>
                        <m:ctrlPr>
                          <a:rPr lang="zh-CN" altLang="zh-CN" sz="2000" i="1" kern="0">
                            <a:latin typeface="Cambria Math" panose="02040503050406030204" pitchFamily="18" charset="0"/>
                            <a:ea typeface="+mj-ea"/>
                          </a:rPr>
                        </m:ctrlPr>
                      </m:sSubPr>
                      <m:e>
                        <m:r>
                          <a:rPr lang="en-US" altLang="zh-CN" sz="2000" kern="0">
                            <a:latin typeface="Cambria Math" panose="02040503050406030204" pitchFamily="18" charset="0"/>
                            <a:ea typeface="+mj-ea"/>
                          </a:rPr>
                          <m:t>𝐶</m:t>
                        </m:r>
                      </m:e>
                      <m:sub>
                        <m:r>
                          <a:rPr lang="en-US" altLang="zh-CN" sz="2000" kern="0">
                            <a:latin typeface="Cambria Math" panose="02040503050406030204" pitchFamily="18" charset="0"/>
                            <a:ea typeface="+mj-ea"/>
                          </a:rPr>
                          <m:t>𝑛</m:t>
                        </m:r>
                      </m:sub>
                    </m:sSub>
                    <m:r>
                      <a:rPr lang="en-US" altLang="zh-CN" sz="2000" kern="0">
                        <a:latin typeface="Cambria Math" panose="02040503050406030204" pitchFamily="18" charset="0"/>
                        <a:ea typeface="+mj-ea"/>
                      </a:rPr>
                      <m:t>=</m:t>
                    </m:r>
                    <m:f>
                      <m:fPr>
                        <m:ctrlPr>
                          <a:rPr lang="zh-CN" altLang="zh-CN" sz="2000" i="1" kern="0">
                            <a:latin typeface="Cambria Math" panose="02040503050406030204" pitchFamily="18" charset="0"/>
                            <a:ea typeface="+mj-ea"/>
                          </a:rPr>
                        </m:ctrlPr>
                      </m:fPr>
                      <m:num>
                        <m:r>
                          <a:rPr lang="en-US" altLang="zh-CN" sz="2000" kern="0">
                            <a:latin typeface="Cambria Math" panose="02040503050406030204" pitchFamily="18" charset="0"/>
                            <a:ea typeface="+mj-ea"/>
                          </a:rPr>
                          <m:t>1</m:t>
                        </m:r>
                      </m:num>
                      <m:den>
                        <m:r>
                          <a:rPr lang="en-US" altLang="zh-CN" sz="2000" kern="0">
                            <a:latin typeface="Cambria Math" panose="02040503050406030204" pitchFamily="18" charset="0"/>
                            <a:ea typeface="+mj-ea"/>
                          </a:rPr>
                          <m:t>𝑛</m:t>
                        </m:r>
                      </m:den>
                    </m:f>
                    <m:d>
                      <m:dPr>
                        <m:ctrlPr>
                          <a:rPr lang="zh-CN" altLang="zh-CN" sz="2000" i="1" kern="0">
                            <a:latin typeface="Cambria Math" panose="02040503050406030204" pitchFamily="18" charset="0"/>
                            <a:ea typeface="+mj-ea"/>
                          </a:rPr>
                        </m:ctrlPr>
                      </m:dPr>
                      <m:e>
                        <m:f>
                          <m:fPr>
                            <m:type m:val="noBar"/>
                            <m:ctrlPr>
                              <a:rPr lang="zh-CN" altLang="zh-CN" sz="2000" i="1" kern="0">
                                <a:latin typeface="Cambria Math" panose="02040503050406030204" pitchFamily="18" charset="0"/>
                                <a:ea typeface="+mj-ea"/>
                              </a:rPr>
                            </m:ctrlPr>
                          </m:fPr>
                          <m:num>
                            <m:r>
                              <a:rPr lang="en-US" altLang="zh-CN" sz="2000" kern="0">
                                <a:latin typeface="Cambria Math" panose="02040503050406030204" pitchFamily="18" charset="0"/>
                                <a:ea typeface="+mj-ea"/>
                              </a:rPr>
                              <m:t>2</m:t>
                            </m:r>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−2</m:t>
                            </m:r>
                          </m:num>
                          <m:den>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−1</m:t>
                            </m:r>
                          </m:den>
                        </m:f>
                      </m:e>
                    </m:d>
                    <m:r>
                      <a:rPr lang="en-US" altLang="zh-CN" sz="2000" kern="0">
                        <a:latin typeface="Cambria Math" panose="02040503050406030204" pitchFamily="18" charset="0"/>
                        <a:ea typeface="+mj-ea"/>
                      </a:rPr>
                      <m:t>=</m:t>
                    </m:r>
                    <m:f>
                      <m:fPr>
                        <m:ctrlPr>
                          <a:rPr lang="zh-CN" altLang="zh-CN" sz="2000" i="1" kern="0">
                            <a:latin typeface="Cambria Math" panose="02040503050406030204" pitchFamily="18" charset="0"/>
                            <a:ea typeface="+mj-ea"/>
                          </a:rPr>
                        </m:ctrlPr>
                      </m:fPr>
                      <m:num>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2</m:t>
                            </m:r>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−2</m:t>
                            </m:r>
                          </m:e>
                        </m:d>
                        <m:r>
                          <a:rPr lang="en-US" altLang="zh-CN" sz="2000" kern="0">
                            <a:latin typeface="Cambria Math" panose="02040503050406030204" pitchFamily="18" charset="0"/>
                            <a:ea typeface="+mj-ea"/>
                          </a:rPr>
                          <m:t>!</m:t>
                        </m:r>
                      </m:num>
                      <m:den>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m:t>
                        </m:r>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−1</m:t>
                            </m:r>
                          </m:e>
                        </m:d>
                        <m:r>
                          <a:rPr lang="en-US" altLang="zh-CN" sz="2000" kern="0">
                            <a:latin typeface="Cambria Math" panose="02040503050406030204" pitchFamily="18" charset="0"/>
                            <a:ea typeface="+mj-ea"/>
                          </a:rPr>
                          <m:t>!</m:t>
                        </m:r>
                      </m:den>
                    </m:f>
                  </m:oMath>
                </a14:m>
                <a:endParaRPr lang="en-US" altLang="zh-CN" sz="2000" kern="0" dirty="0">
                  <a:latin typeface="+mj-ea"/>
                  <a:ea typeface="+mj-ea"/>
                </a:endParaRPr>
              </a:p>
              <a:p>
                <a:pPr lvl="1">
                  <a:buFont typeface="Arial" panose="020B0604020202020204" pitchFamily="34" charset="0"/>
                  <a:buChar char="•"/>
                </a:pPr>
                <a:r>
                  <a:rPr lang="zh-CN" altLang="en-US" sz="2000" kern="0" dirty="0">
                    <a:latin typeface="+mj-ea"/>
                    <a:ea typeface="+mj-ea"/>
                  </a:rPr>
                  <a:t>恰好为著名的</a:t>
                </a:r>
                <a:r>
                  <a:rPr lang="zh-CN" altLang="en-US" sz="2000" b="1" kern="0" dirty="0">
                    <a:solidFill>
                      <a:srgbClr val="701988"/>
                    </a:solidFill>
                    <a:latin typeface="+mj-ea"/>
                    <a:ea typeface="+mj-ea"/>
                  </a:rPr>
                  <a:t>卡特兰数</a:t>
                </a:r>
                <a:r>
                  <a:rPr lang="zh-CN" altLang="zh-CN" sz="2000" kern="0" dirty="0">
                    <a:latin typeface="+mj-ea"/>
                    <a:ea typeface="+mj-ea"/>
                  </a:rPr>
                  <a:t>（</a:t>
                </a:r>
                <a:r>
                  <a:rPr lang="en-US" altLang="zh-CN" sz="2000" kern="0" dirty="0">
                    <a:latin typeface="+mj-ea"/>
                    <a:ea typeface="+mj-ea"/>
                  </a:rPr>
                  <a:t>Catalan number</a:t>
                </a:r>
                <a:r>
                  <a:rPr lang="zh-CN" altLang="zh-CN" sz="2000" kern="0" dirty="0">
                    <a:latin typeface="+mj-ea"/>
                    <a:ea typeface="+mj-ea"/>
                  </a:rPr>
                  <a:t>） </a:t>
                </a:r>
                <a:endParaRPr lang="en-US" altLang="zh-CN" sz="2000" kern="0" dirty="0">
                  <a:latin typeface="+mj-ea"/>
                  <a:ea typeface="+mj-ea"/>
                </a:endParaRPr>
              </a:p>
              <a:p>
                <a:pPr lvl="1">
                  <a:buFont typeface="Wingdings" pitchFamily="2" charset="2"/>
                  <a:buChar char="Ø"/>
                </a:pPr>
                <a:endParaRPr lang="zh-CN" altLang="zh-CN" sz="2400" kern="0" dirty="0">
                  <a:latin typeface="+mj-ea"/>
                  <a:ea typeface="+mj-ea"/>
                </a:endParaRPr>
              </a:p>
              <a:p>
                <a:pPr>
                  <a:buFont typeface="Wingdings" panose="05000000000000000000" pitchFamily="2" charset="2"/>
                  <a:buChar char="Ø"/>
                </a:pPr>
                <a14:m>
                  <m:oMath xmlns:m="http://schemas.openxmlformats.org/officeDocument/2006/math">
                    <m:r>
                      <m:rPr>
                        <m:nor/>
                      </m:rPr>
                      <a:rPr lang="zh-CN" altLang="en-US" sz="2200" b="1" kern="0" dirty="0">
                        <a:latin typeface="+mj-ea"/>
                        <a:ea typeface="+mj-ea"/>
                      </a:rPr>
                      <m:t>对于每个连接树结构</m:t>
                    </m:r>
                    <m:r>
                      <a:rPr lang="zh-CN" altLang="en-US" sz="2200" b="1" i="0" kern="0" dirty="0" smtClean="0">
                        <a:latin typeface="Cambria Math" panose="02040503050406030204" pitchFamily="18" charset="0"/>
                        <a:ea typeface="+mj-ea"/>
                      </a:rPr>
                      <m:t>，</m:t>
                    </m:r>
                    <m:r>
                      <a:rPr lang="en-US" altLang="zh-CN" sz="2200" b="1" i="1" kern="0">
                        <a:latin typeface="Cambria Math" panose="02040503050406030204" pitchFamily="18" charset="0"/>
                        <a:ea typeface="+mj-ea"/>
                      </a:rPr>
                      <m:t>𝐧</m:t>
                    </m:r>
                  </m:oMath>
                </a14:m>
                <a:r>
                  <a:rPr lang="zh-CN" altLang="zh-CN" sz="2200" b="1" kern="0" dirty="0">
                    <a:latin typeface="+mj-ea"/>
                    <a:ea typeface="+mj-ea"/>
                  </a:rPr>
                  <a:t>个关系的</a:t>
                </a:r>
                <a14:m>
                  <m:oMath xmlns:m="http://schemas.openxmlformats.org/officeDocument/2006/math">
                    <m:r>
                      <a:rPr lang="en-US" altLang="zh-CN" sz="2200" b="1" i="1" kern="0">
                        <a:latin typeface="Cambria Math" panose="02040503050406030204" pitchFamily="18" charset="0"/>
                        <a:ea typeface="+mj-ea"/>
                      </a:rPr>
                      <m:t>𝐧</m:t>
                    </m:r>
                    <m:r>
                      <a:rPr lang="en-US" altLang="zh-CN" sz="2200" b="1" kern="0">
                        <a:latin typeface="Cambria Math" panose="02040503050406030204" pitchFamily="18" charset="0"/>
                        <a:ea typeface="+mj-ea"/>
                      </a:rPr>
                      <m:t>!</m:t>
                    </m:r>
                  </m:oMath>
                </a14:m>
                <a:r>
                  <a:rPr lang="zh-CN" altLang="zh-CN" sz="2200" b="1" kern="0" dirty="0">
                    <a:latin typeface="+mj-ea"/>
                    <a:ea typeface="+mj-ea"/>
                  </a:rPr>
                  <a:t>个全排列</a:t>
                </a:r>
                <a:r>
                  <a:rPr lang="zh-CN" altLang="en-US" sz="2200" b="1" kern="0" dirty="0">
                    <a:latin typeface="+mj-ea"/>
                    <a:ea typeface="+mj-ea"/>
                  </a:rPr>
                  <a:t>中每个都对应一个连接树</a:t>
                </a:r>
                <a:endParaRPr lang="en-US" altLang="zh-CN" sz="2200" b="1" kern="0" dirty="0">
                  <a:latin typeface="+mj-ea"/>
                  <a:ea typeface="+mj-ea"/>
                </a:endParaRPr>
              </a:p>
              <a:p>
                <a:pPr lvl="1">
                  <a:buFont typeface="Arial" panose="020B0604020202020204" pitchFamily="34" charset="0"/>
                  <a:buChar char="•"/>
                </a:pPr>
                <a:r>
                  <a:rPr lang="zh-CN" altLang="en-US" sz="2000" kern="0" dirty="0">
                    <a:latin typeface="+mj-ea"/>
                    <a:ea typeface="+mj-ea"/>
                  </a:rPr>
                  <a:t>不同连接树个数为：</a:t>
                </a:r>
                <a14:m>
                  <m:oMath xmlns:m="http://schemas.openxmlformats.org/officeDocument/2006/math">
                    <m:r>
                      <m:rPr>
                        <m:sty m:val="p"/>
                      </m:rPr>
                      <a:rPr lang="en-US" altLang="zh-CN" sz="2000" kern="0">
                        <a:latin typeface="Cambria Math" panose="02040503050406030204" pitchFamily="18" charset="0"/>
                        <a:ea typeface="+mj-ea"/>
                      </a:rPr>
                      <m:t>NTree</m:t>
                    </m:r>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𝑛</m:t>
                        </m:r>
                      </m:e>
                    </m:d>
                    <m:r>
                      <a:rPr lang="en-US" altLang="zh-CN" sz="2000" kern="0">
                        <a:latin typeface="Cambria Math" panose="02040503050406030204" pitchFamily="18" charset="0"/>
                        <a:ea typeface="+mj-ea"/>
                      </a:rPr>
                      <m:t>=</m:t>
                    </m:r>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m:t>
                    </m:r>
                    <m:sSub>
                      <m:sSubPr>
                        <m:ctrlPr>
                          <a:rPr lang="zh-CN" altLang="zh-CN" sz="2000" i="1" kern="0">
                            <a:latin typeface="Cambria Math" panose="02040503050406030204" pitchFamily="18" charset="0"/>
                            <a:ea typeface="+mj-ea"/>
                          </a:rPr>
                        </m:ctrlPr>
                      </m:sSubPr>
                      <m:e>
                        <m:r>
                          <a:rPr lang="en-US" altLang="zh-CN" sz="2000" kern="0">
                            <a:latin typeface="Cambria Math" panose="02040503050406030204" pitchFamily="18" charset="0"/>
                            <a:ea typeface="+mj-ea"/>
                          </a:rPr>
                          <m:t>𝐶</m:t>
                        </m:r>
                      </m:e>
                      <m:sub>
                        <m:r>
                          <a:rPr lang="en-US" altLang="zh-CN" sz="2000" kern="0">
                            <a:latin typeface="Cambria Math" panose="02040503050406030204" pitchFamily="18" charset="0"/>
                            <a:ea typeface="+mj-ea"/>
                          </a:rPr>
                          <m:t>𝑛</m:t>
                        </m:r>
                      </m:sub>
                    </m:sSub>
                    <m:r>
                      <a:rPr lang="en-US" altLang="zh-CN" sz="2000" kern="0">
                        <a:latin typeface="Cambria Math" panose="02040503050406030204" pitchFamily="18" charset="0"/>
                        <a:ea typeface="+mj-ea"/>
                      </a:rPr>
                      <m:t>=</m:t>
                    </m:r>
                    <m:f>
                      <m:fPr>
                        <m:ctrlPr>
                          <a:rPr lang="zh-CN" altLang="zh-CN" sz="2000" i="1" kern="0">
                            <a:latin typeface="Cambria Math" panose="02040503050406030204" pitchFamily="18" charset="0"/>
                            <a:ea typeface="+mj-ea"/>
                          </a:rPr>
                        </m:ctrlPr>
                      </m:fPr>
                      <m:num>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2</m:t>
                            </m:r>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−2</m:t>
                            </m:r>
                          </m:e>
                        </m:d>
                        <m:r>
                          <a:rPr lang="en-US" altLang="zh-CN" sz="2000" kern="0">
                            <a:latin typeface="Cambria Math" panose="02040503050406030204" pitchFamily="18" charset="0"/>
                            <a:ea typeface="+mj-ea"/>
                          </a:rPr>
                          <m:t>!</m:t>
                        </m:r>
                      </m:num>
                      <m:den>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𝑛</m:t>
                            </m:r>
                            <m:r>
                              <a:rPr lang="en-US" altLang="zh-CN" sz="2000" kern="0">
                                <a:latin typeface="Cambria Math" panose="02040503050406030204" pitchFamily="18" charset="0"/>
                                <a:ea typeface="+mj-ea"/>
                              </a:rPr>
                              <m:t>−1</m:t>
                            </m:r>
                          </m:e>
                        </m:d>
                        <m:r>
                          <a:rPr lang="en-US" altLang="zh-CN" sz="2000" kern="0">
                            <a:latin typeface="Cambria Math" panose="02040503050406030204" pitchFamily="18" charset="0"/>
                            <a:ea typeface="+mj-ea"/>
                          </a:rPr>
                          <m:t>!</m:t>
                        </m:r>
                      </m:den>
                    </m:f>
                  </m:oMath>
                </a14:m>
                <a:endParaRPr lang="zh-CN" altLang="zh-CN" sz="2000" kern="0" dirty="0">
                  <a:latin typeface="+mj-ea"/>
                  <a:ea typeface="+mj-ea"/>
                </a:endParaRPr>
              </a:p>
              <a:p>
                <a:pPr lvl="1">
                  <a:buFont typeface="Arial" panose="020B0604020202020204" pitchFamily="34" charset="0"/>
                  <a:buChar char="•"/>
                </a:pPr>
                <a:r>
                  <a:rPr lang="zh-CN" altLang="en-US" sz="2000" kern="0" dirty="0">
                    <a:latin typeface="+mj-ea"/>
                    <a:ea typeface="+mj-ea"/>
                  </a:rPr>
                  <a:t>规模迅速增加，</a:t>
                </a:r>
                <a14:m>
                  <m:oMath xmlns:m="http://schemas.openxmlformats.org/officeDocument/2006/math">
                    <m:r>
                      <m:rPr>
                        <m:sty m:val="p"/>
                      </m:rPr>
                      <a:rPr lang="en-US" altLang="zh-CN" sz="2000" kern="0">
                        <a:latin typeface="Cambria Math" panose="02040503050406030204" pitchFamily="18" charset="0"/>
                        <a:ea typeface="+mj-ea"/>
                      </a:rPr>
                      <m:t>NTree</m:t>
                    </m:r>
                    <m:d>
                      <m:dPr>
                        <m:ctrlPr>
                          <a:rPr lang="zh-CN" altLang="zh-CN" sz="2000" i="1" kern="0">
                            <a:latin typeface="Cambria Math" panose="02040503050406030204" pitchFamily="18" charset="0"/>
                            <a:ea typeface="+mj-ea"/>
                          </a:rPr>
                        </m:ctrlPr>
                      </m:dPr>
                      <m:e>
                        <m:r>
                          <a:rPr lang="en-US" altLang="zh-CN" sz="2000" kern="0">
                            <a:latin typeface="Cambria Math" panose="02040503050406030204" pitchFamily="18" charset="0"/>
                            <a:ea typeface="+mj-ea"/>
                          </a:rPr>
                          <m:t>10</m:t>
                        </m:r>
                      </m:e>
                    </m:d>
                    <m:r>
                      <a:rPr lang="en-US" altLang="zh-CN" sz="2000" i="1" kern="0" smtClean="0">
                        <a:latin typeface="Cambria Math" panose="02040503050406030204" pitchFamily="18" charset="0"/>
                        <a:ea typeface="+mj-ea"/>
                      </a:rPr>
                      <m:t>≈</m:t>
                    </m:r>
                    <m:sSup>
                      <m:sSupPr>
                        <m:ctrlPr>
                          <a:rPr lang="en-US" altLang="zh-CN" sz="2000" i="1" kern="0" smtClean="0">
                            <a:latin typeface="Cambria Math" panose="02040503050406030204" pitchFamily="18" charset="0"/>
                            <a:ea typeface="+mj-ea"/>
                          </a:rPr>
                        </m:ctrlPr>
                      </m:sSupPr>
                      <m:e>
                        <m:r>
                          <a:rPr lang="en-US" altLang="zh-CN" sz="2000" b="0" i="1" kern="0" smtClean="0">
                            <a:latin typeface="Cambria Math" panose="02040503050406030204" pitchFamily="18" charset="0"/>
                            <a:ea typeface="+mj-ea"/>
                          </a:rPr>
                          <m:t>10</m:t>
                        </m:r>
                      </m:e>
                      <m:sup>
                        <m:r>
                          <a:rPr lang="en-US" altLang="zh-CN" sz="2000" b="0" i="1" kern="0" smtClean="0">
                            <a:latin typeface="Cambria Math" panose="02040503050406030204" pitchFamily="18" charset="0"/>
                            <a:ea typeface="+mj-ea"/>
                          </a:rPr>
                          <m:t>10</m:t>
                        </m:r>
                      </m:sup>
                    </m:sSup>
                  </m:oMath>
                </a14:m>
                <a:endParaRPr lang="en-US" altLang="zh-CN" sz="2000" kern="0" dirty="0">
                  <a:latin typeface="+mj-ea"/>
                  <a:ea typeface="+mj-ea"/>
                </a:endParaRPr>
              </a:p>
              <a:p>
                <a:pPr lvl="1">
                  <a:buFont typeface="Wingdings" pitchFamily="2" charset="2"/>
                  <a:buChar char="Ø"/>
                </a:pPr>
                <a:endParaRPr lang="zh-CN" altLang="zh-CN" sz="2400" kern="0" dirty="0">
                  <a:latin typeface="+mj-ea"/>
                  <a:ea typeface="+mj-ea"/>
                </a:endParaRPr>
              </a:p>
              <a:p>
                <a:pPr marL="342900" lvl="1" indent="-342900">
                  <a:buFont typeface="Wingdings" panose="05000000000000000000" pitchFamily="2" charset="2"/>
                  <a:buChar char="Ø"/>
                </a:pPr>
                <a:r>
                  <a:rPr lang="zh-CN" altLang="en-US" sz="2200" b="1" kern="0" dirty="0">
                    <a:latin typeface="+mj-ea"/>
                    <a:ea typeface="+mj-ea"/>
                  </a:rPr>
                  <a:t>只考虑部分连接树</a:t>
                </a:r>
                <a:r>
                  <a:rPr lang="en-US" altLang="zh-CN" sz="2200" b="1" kern="0" dirty="0">
                    <a:latin typeface="+mj-ea"/>
                    <a:ea typeface="+mj-ea"/>
                  </a:rPr>
                  <a:t>——</a:t>
                </a:r>
                <a:r>
                  <a:rPr lang="zh-CN" altLang="en-US" sz="2200" b="1" kern="0" dirty="0">
                    <a:solidFill>
                      <a:srgbClr val="701988"/>
                    </a:solidFill>
                    <a:latin typeface="+mj-ea"/>
                    <a:ea typeface="+mj-ea"/>
                  </a:rPr>
                  <a:t>左深连接树 </a:t>
                </a:r>
                <a:r>
                  <a:rPr lang="en-US" altLang="zh-CN" sz="2200" b="1" kern="0" dirty="0">
                    <a:solidFill>
                      <a:srgbClr val="701988"/>
                    </a:solidFill>
                    <a:latin typeface="+mj-ea"/>
                    <a:ea typeface="+mj-ea"/>
                  </a:rPr>
                  <a:t>n!</a:t>
                </a: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1008000" y="1126800"/>
                <a:ext cx="11456894" cy="4876801"/>
              </a:xfrm>
              <a:prstGeom prst="rect">
                <a:avLst/>
              </a:prstGeom>
              <a:blipFill>
                <a:blip r:embed="rId3"/>
                <a:stretch>
                  <a:fillRect l="-554" t="-779"/>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529466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290C840-52FE-8B83-E21B-BC04C0210C3B}"/>
              </a:ext>
            </a:extLst>
          </p:cNvPr>
          <p:cNvSpPr>
            <a:spLocks noGrp="1"/>
          </p:cNvSpPr>
          <p:nvPr>
            <p:ph type="sldNum" sz="quarter" idx="10"/>
          </p:nvPr>
        </p:nvSpPr>
        <p:spPr/>
        <p:txBody>
          <a:bodyPr/>
          <a:lstStyle/>
          <a:p>
            <a:fld id="{87BBDC00-B9E2-4EFD-9306-2934E87247C6}" type="slidenum">
              <a:rPr lang="zh-CN" altLang="en-US" smtClean="0"/>
              <a:pPr/>
              <a:t>101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左深连接树</a:t>
            </a:r>
          </a:p>
        </p:txBody>
      </p:sp>
      <p:sp>
        <p:nvSpPr>
          <p:cNvPr id="4" name="页脚占位符 3">
            <a:extLst>
              <a:ext uri="{FF2B5EF4-FFF2-40B4-BE49-F238E27FC236}">
                <a16:creationId xmlns:a16="http://schemas.microsoft.com/office/drawing/2014/main" id="{55720FF3-DB76-6A84-3D82-B636E29D2D4C}"/>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456894"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kern="0" dirty="0">
                    <a:latin typeface="+mj-ea"/>
                    <a:ea typeface="+mj-ea"/>
                  </a:rPr>
                  <a:t>相较于所有连接树，左深树</a:t>
                </a:r>
                <a:r>
                  <a:rPr lang="zh-CN" altLang="en-US" sz="2400" b="1" kern="0" dirty="0">
                    <a:solidFill>
                      <a:srgbClr val="701988"/>
                    </a:solidFill>
                    <a:latin typeface="+mj-ea"/>
                    <a:ea typeface="+mj-ea"/>
                  </a:rPr>
                  <a:t>数量很小 </a:t>
                </a:r>
                <a:r>
                  <a:rPr lang="en-US" altLang="zh-CN" sz="2400" b="1" kern="0" dirty="0">
                    <a:solidFill>
                      <a:srgbClr val="701988"/>
                    </a:solidFill>
                    <a:latin typeface="+mj-ea"/>
                    <a:ea typeface="+mj-ea"/>
                  </a:rPr>
                  <a:t>n!</a:t>
                </a:r>
                <a:r>
                  <a:rPr lang="zh-CN" altLang="en-US" sz="2400" b="1" kern="0" dirty="0">
                    <a:latin typeface="+mj-ea"/>
                    <a:ea typeface="+mj-ea"/>
                  </a:rPr>
                  <a:t>：</a:t>
                </a:r>
                <a:endParaRPr lang="en-US" altLang="zh-CN" sz="2400" b="1" kern="0" dirty="0">
                  <a:latin typeface="+mj-ea"/>
                  <a:ea typeface="+mj-ea"/>
                </a:endParaRPr>
              </a:p>
              <a:p>
                <a:pPr lvl="1">
                  <a:lnSpc>
                    <a:spcPct val="150000"/>
                  </a:lnSpc>
                  <a:buFont typeface="Arial" panose="020B0604020202020204" pitchFamily="34" charset="0"/>
                  <a:buChar char="•"/>
                </a:pPr>
                <a:r>
                  <a:rPr lang="zh-CN" altLang="zh-CN" sz="2000" dirty="0">
                    <a:latin typeface="+mj-ea"/>
                    <a:ea typeface="+mj-ea"/>
                  </a:rPr>
                  <a:t>对于</a:t>
                </a:r>
                <a14:m>
                  <m:oMath xmlns:m="http://schemas.openxmlformats.org/officeDocument/2006/math">
                    <m:r>
                      <a:rPr lang="en-US" altLang="zh-CN" sz="2000">
                        <a:latin typeface="Cambria Math" panose="02040503050406030204" pitchFamily="18" charset="0"/>
                        <a:ea typeface="+mj-ea"/>
                      </a:rPr>
                      <m:t>𝑛</m:t>
                    </m:r>
                  </m:oMath>
                </a14:m>
                <a:r>
                  <a:rPr lang="zh-CN" altLang="zh-CN" sz="2000" dirty="0">
                    <a:latin typeface="+mj-ea"/>
                    <a:ea typeface="+mj-ea"/>
                  </a:rPr>
                  <a:t>个关系连接</a:t>
                </a:r>
                <a:r>
                  <a:rPr lang="zh-CN" altLang="en-US" sz="2000" dirty="0">
                    <a:latin typeface="+mj-ea"/>
                    <a:ea typeface="+mj-ea"/>
                  </a:rPr>
                  <a:t>的情况</a:t>
                </a:r>
                <a:r>
                  <a:rPr lang="zh-CN" altLang="zh-CN" sz="2000" dirty="0">
                    <a:latin typeface="+mj-ea"/>
                    <a:ea typeface="+mj-ea"/>
                  </a:rPr>
                  <a:t>，只有</a:t>
                </a:r>
                <a14:m>
                  <m:oMath xmlns:m="http://schemas.openxmlformats.org/officeDocument/2006/math">
                    <m:r>
                      <a:rPr lang="en-US" altLang="zh-CN" sz="2000">
                        <a:latin typeface="Cambria Math" panose="02040503050406030204" pitchFamily="18" charset="0"/>
                        <a:ea typeface="+mj-ea"/>
                      </a:rPr>
                      <m:t>1</m:t>
                    </m:r>
                  </m:oMath>
                </a14:m>
                <a:r>
                  <a:rPr lang="zh-CN" altLang="zh-CN" sz="2000" dirty="0">
                    <a:latin typeface="+mj-ea"/>
                    <a:ea typeface="+mj-ea"/>
                  </a:rPr>
                  <a:t>个确定的左深树结构 </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例如，</a:t>
                </a:r>
                <a:r>
                  <a:rPr lang="zh-CN" altLang="zh-CN" sz="2000" dirty="0">
                    <a:latin typeface="+mj-ea"/>
                    <a:ea typeface="+mj-ea"/>
                  </a:rPr>
                  <a:t>当</a:t>
                </a:r>
                <a14:m>
                  <m:oMath xmlns:m="http://schemas.openxmlformats.org/officeDocument/2006/math">
                    <m:r>
                      <a:rPr lang="en-US" altLang="zh-CN" sz="2000">
                        <a:latin typeface="Cambria Math" panose="02040503050406030204" pitchFamily="18" charset="0"/>
                        <a:ea typeface="+mj-ea"/>
                      </a:rPr>
                      <m:t>𝑛</m:t>
                    </m:r>
                    <m:r>
                      <a:rPr lang="en-US" altLang="zh-CN" sz="2000">
                        <a:latin typeface="Cambria Math" panose="02040503050406030204" pitchFamily="18" charset="0"/>
                        <a:ea typeface="+mj-ea"/>
                      </a:rPr>
                      <m:t>=10</m:t>
                    </m:r>
                  </m:oMath>
                </a14:m>
                <a:r>
                  <a:rPr lang="zh-CN" altLang="zh-CN" sz="2000" dirty="0">
                    <a:latin typeface="+mj-ea"/>
                    <a:ea typeface="+mj-ea"/>
                  </a:rPr>
                  <a:t>时，左深树只占所有连接树数量的</a:t>
                </a:r>
                <a14:m>
                  <m:oMath xmlns:m="http://schemas.openxmlformats.org/officeDocument/2006/math">
                    <m:f>
                      <m:fPr>
                        <m:ctrlPr>
                          <a:rPr lang="zh-CN" altLang="zh-CN" sz="2000" i="1">
                            <a:latin typeface="Cambria Math" panose="02040503050406030204" pitchFamily="18" charset="0"/>
                            <a:ea typeface="+mj-ea"/>
                          </a:rPr>
                        </m:ctrlPr>
                      </m:fPr>
                      <m:num>
                        <m:r>
                          <a:rPr lang="en-US" altLang="zh-CN" sz="2000">
                            <a:latin typeface="Cambria Math" panose="02040503050406030204" pitchFamily="18" charset="0"/>
                            <a:ea typeface="+mj-ea"/>
                          </a:rPr>
                          <m:t>1</m:t>
                        </m:r>
                      </m:num>
                      <m:den>
                        <m:r>
                          <a:rPr lang="en-US" altLang="zh-CN" sz="2000">
                            <a:latin typeface="Cambria Math" panose="02040503050406030204" pitchFamily="18" charset="0"/>
                            <a:ea typeface="+mj-ea"/>
                          </a:rPr>
                          <m:t>4862</m:t>
                        </m:r>
                      </m:den>
                    </m:f>
                  </m:oMath>
                </a14:m>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左深</a:t>
                </a:r>
                <a:r>
                  <a:rPr lang="en-US" altLang="zh-CN" sz="2000" dirty="0">
                    <a:latin typeface="+mj-ea"/>
                    <a:ea typeface="+mj-ea"/>
                  </a:rPr>
                  <a:t>3628800  vs  </a:t>
                </a:r>
                <a:r>
                  <a:rPr lang="zh-CN" altLang="en-US" sz="2000" dirty="0">
                    <a:latin typeface="+mj-ea"/>
                    <a:ea typeface="+mj-ea"/>
                  </a:rPr>
                  <a:t>稠密</a:t>
                </a:r>
                <a:r>
                  <a:rPr lang="en-US" altLang="zh-CN" sz="2000" dirty="0">
                    <a:latin typeface="+mj-ea"/>
                    <a:ea typeface="+mj-ea"/>
                  </a:rPr>
                  <a:t>17643225600</a:t>
                </a:r>
              </a:p>
              <a:p>
                <a:pPr marL="422041" lvl="1" indent="0">
                  <a:lnSpc>
                    <a:spcPct val="150000"/>
                  </a:lnSpc>
                  <a:buNone/>
                </a:pPr>
                <a:endParaRPr lang="zh-CN" altLang="zh-CN" sz="2400" dirty="0">
                  <a:latin typeface="+mj-ea"/>
                  <a:ea typeface="+mj-ea"/>
                </a:endParaRPr>
              </a:p>
              <a:p>
                <a:pPr>
                  <a:lnSpc>
                    <a:spcPct val="150000"/>
                  </a:lnSpc>
                  <a:buFont typeface="Wingdings" panose="05000000000000000000" pitchFamily="2" charset="2"/>
                  <a:buChar char="Ø"/>
                </a:pPr>
                <a:r>
                  <a:rPr lang="zh-CN" altLang="en-US" sz="2400" b="1" kern="0" dirty="0">
                    <a:latin typeface="+mj-ea"/>
                    <a:ea typeface="+mj-ea"/>
                  </a:rPr>
                  <a:t>左深连接树每个右子节点均为基本关系，</a:t>
                </a:r>
                <a:r>
                  <a:rPr lang="zh-CN" altLang="en-US" sz="2400" b="1" kern="0" dirty="0">
                    <a:solidFill>
                      <a:srgbClr val="701988"/>
                    </a:solidFill>
                    <a:latin typeface="+mj-ea"/>
                    <a:ea typeface="+mj-ea"/>
                  </a:rPr>
                  <a:t>利于连接运算高效执行</a:t>
                </a:r>
                <a:endParaRPr lang="en-US" altLang="zh-CN" sz="2400" b="1" kern="0" dirty="0">
                  <a:solidFill>
                    <a:srgbClr val="701988"/>
                  </a:solidFill>
                  <a:latin typeface="+mj-ea"/>
                  <a:ea typeface="+mj-ea"/>
                </a:endParaRPr>
              </a:p>
              <a:p>
                <a:pPr lvl="1">
                  <a:lnSpc>
                    <a:spcPct val="150000"/>
                  </a:lnSpc>
                  <a:buFont typeface="Arial" panose="020B0604020202020204" pitchFamily="34" charset="0"/>
                  <a:buChar char="•"/>
                </a:pPr>
                <a:r>
                  <a:rPr lang="zh-CN" altLang="en-US" sz="2000" dirty="0">
                    <a:latin typeface="+mj-ea"/>
                    <a:ea typeface="+mj-ea"/>
                  </a:rPr>
                  <a:t>例如，嵌套循环连接可以利用基本关系已经建立的索引，执行更加高效</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避免将连接中一些过大的中间结果物化到磁盘上</a:t>
                </a:r>
                <a:endParaRPr lang="en-US" altLang="zh-CN" sz="2000" dirty="0">
                  <a:latin typeface="+mj-ea"/>
                  <a:ea typeface="+mj-ea"/>
                </a:endParaRPr>
              </a:p>
              <a:p>
                <a:pPr lvl="1">
                  <a:lnSpc>
                    <a:spcPct val="150000"/>
                  </a:lnSpc>
                  <a:buFont typeface="Wingdings" pitchFamily="2" charset="2"/>
                  <a:buChar char="Ø"/>
                </a:pPr>
                <a:endParaRPr lang="en-US" altLang="zh-CN" sz="2400" kern="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1008000" y="1126800"/>
                <a:ext cx="11456894" cy="4876801"/>
              </a:xfrm>
              <a:prstGeom prst="rect">
                <a:avLst/>
              </a:prstGeom>
              <a:blipFill>
                <a:blip r:embed="rId3"/>
                <a:stretch>
                  <a:fillRect l="-77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6684097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BA8498E-CCBD-BCF2-43F2-7363C6E99F0B}"/>
              </a:ext>
            </a:extLst>
          </p:cNvPr>
          <p:cNvSpPr>
            <a:spLocks noGrp="1"/>
          </p:cNvSpPr>
          <p:nvPr>
            <p:ph type="sldNum" sz="quarter" idx="10"/>
          </p:nvPr>
        </p:nvSpPr>
        <p:spPr/>
        <p:txBody>
          <a:bodyPr/>
          <a:lstStyle/>
          <a:p>
            <a:fld id="{87BBDC00-B9E2-4EFD-9306-2934E87247C6}" type="slidenum">
              <a:rPr lang="zh-CN" altLang="en-US" smtClean="0"/>
              <a:pPr/>
              <a:t>102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连接</a:t>
            </a:r>
            <a:r>
              <a:rPr lang="zh-CN" altLang="en-US" dirty="0"/>
              <a:t>顺序选择算法</a:t>
            </a:r>
            <a:endParaRPr kumimoji="1" lang="zh-CN" altLang="en-US" dirty="0"/>
          </a:p>
        </p:txBody>
      </p:sp>
      <p:sp>
        <p:nvSpPr>
          <p:cNvPr id="4" name="内容占位符 2">
            <a:extLst>
              <a:ext uri="{FF2B5EF4-FFF2-40B4-BE49-F238E27FC236}">
                <a16:creationId xmlns:a16="http://schemas.microsoft.com/office/drawing/2014/main" id="{67739DC5-5097-092C-9E71-8A8F8F487F13}"/>
              </a:ext>
            </a:extLst>
          </p:cNvPr>
          <p:cNvSpPr>
            <a:spLocks noGrp="1"/>
          </p:cNvSpPr>
          <p:nvPr>
            <p:ph idx="1"/>
          </p:nvPr>
        </p:nvSpPr>
        <p:spPr>
          <a:xfrm>
            <a:off x="4483100" y="2118184"/>
            <a:ext cx="5263328" cy="3594127"/>
          </a:xfrm>
        </p:spPr>
        <p:txBody>
          <a:bodyPr/>
          <a:lstStyle/>
          <a:p>
            <a:pPr marL="514350" indent="-514350">
              <a:lnSpc>
                <a:spcPct val="150000"/>
              </a:lnSpc>
              <a:buFont typeface="+mj-ea"/>
              <a:buAutoNum type="circleNumDbPlain"/>
            </a:pPr>
            <a:r>
              <a:rPr lang="zh-CN" altLang="en-US" sz="2800" b="1" dirty="0">
                <a:solidFill>
                  <a:srgbClr val="701988"/>
                </a:solidFill>
              </a:rPr>
              <a:t>动态规划算法</a:t>
            </a:r>
            <a:endParaRPr lang="en-US" altLang="zh-CN" sz="2800" b="1" dirty="0">
              <a:solidFill>
                <a:srgbClr val="701988"/>
              </a:solidFill>
            </a:endParaRPr>
          </a:p>
          <a:p>
            <a:pPr marL="514350" indent="-514350">
              <a:lnSpc>
                <a:spcPct val="150000"/>
              </a:lnSpc>
              <a:buFont typeface="+mj-ea"/>
              <a:buAutoNum type="circleNumDbPlain"/>
            </a:pPr>
            <a:r>
              <a:rPr lang="zh-CN" altLang="en-US" sz="2800" dirty="0"/>
              <a:t>贪心算法</a:t>
            </a:r>
            <a:endParaRPr lang="en-US" altLang="zh-CN" sz="2800" dirty="0"/>
          </a:p>
          <a:p>
            <a:pPr marL="514350" indent="-514350">
              <a:lnSpc>
                <a:spcPct val="150000"/>
              </a:lnSpc>
              <a:buFont typeface="+mj-ea"/>
              <a:buAutoNum type="circleNumDbPlain"/>
            </a:pPr>
            <a:r>
              <a:rPr lang="zh-CN" altLang="en-US" sz="2800" dirty="0"/>
              <a:t>遗传算法</a:t>
            </a:r>
            <a:endParaRPr lang="zh-CN" altLang="zh-CN" sz="2800" dirty="0"/>
          </a:p>
          <a:p>
            <a:pPr marL="0" indent="0">
              <a:lnSpc>
                <a:spcPct val="150000"/>
              </a:lnSpc>
              <a:buNone/>
            </a:pPr>
            <a:r>
              <a:rPr lang="zh-CN" altLang="zh-CN" sz="2800" b="1" dirty="0"/>
              <a:t> </a:t>
            </a:r>
            <a:endParaRPr kumimoji="1" lang="zh-CN" altLang="en-US" sz="2800" b="1" dirty="0"/>
          </a:p>
        </p:txBody>
      </p:sp>
      <p:sp>
        <p:nvSpPr>
          <p:cNvPr id="5" name="页脚占位符 4">
            <a:extLst>
              <a:ext uri="{FF2B5EF4-FFF2-40B4-BE49-F238E27FC236}">
                <a16:creationId xmlns:a16="http://schemas.microsoft.com/office/drawing/2014/main" id="{58B8FDDE-A864-6965-B304-167C1B15840E}"/>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27797107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6839013" y="1742660"/>
            <a:ext cx="5218006" cy="382325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pic>
        <p:nvPicPr>
          <p:cNvPr id="5" name="图片 4">
            <a:extLst>
              <a:ext uri="{FF2B5EF4-FFF2-40B4-BE49-F238E27FC236}">
                <a16:creationId xmlns:a16="http://schemas.microsoft.com/office/drawing/2014/main" id="{8C11B577-C17C-DB1B-396E-7371E7655F84}"/>
              </a:ext>
            </a:extLst>
          </p:cNvPr>
          <p:cNvPicPr>
            <a:picLocks noChangeAspect="1"/>
          </p:cNvPicPr>
          <p:nvPr/>
        </p:nvPicPr>
        <p:blipFill rotWithShape="1">
          <a:blip r:embed="rId3"/>
          <a:srcRect l="4108"/>
          <a:stretch/>
        </p:blipFill>
        <p:spPr>
          <a:xfrm>
            <a:off x="6983896" y="2444626"/>
            <a:ext cx="4969994" cy="2619532"/>
          </a:xfrm>
          <a:prstGeom prst="rect">
            <a:avLst/>
          </a:prstGeom>
        </p:spPr>
      </p:pic>
      <p:sp>
        <p:nvSpPr>
          <p:cNvPr id="2" name="灯片编号占位符 1">
            <a:extLst>
              <a:ext uri="{FF2B5EF4-FFF2-40B4-BE49-F238E27FC236}">
                <a16:creationId xmlns:a16="http://schemas.microsoft.com/office/drawing/2014/main" id="{2CD0B8CA-CC51-33BB-881D-FBB0056C491A}"/>
              </a:ext>
            </a:extLst>
          </p:cNvPr>
          <p:cNvSpPr>
            <a:spLocks noGrp="1"/>
          </p:cNvSpPr>
          <p:nvPr>
            <p:ph type="sldNum" sz="quarter" idx="10"/>
          </p:nvPr>
        </p:nvSpPr>
        <p:spPr/>
        <p:txBody>
          <a:bodyPr/>
          <a:lstStyle/>
          <a:p>
            <a:fld id="{87BBDC00-B9E2-4EFD-9306-2934E87247C6}" type="slidenum">
              <a:rPr lang="zh-CN" altLang="en-US" smtClean="0"/>
              <a:pPr/>
              <a:t>103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a:t>
            </a:r>
          </a:p>
        </p:txBody>
      </p:sp>
      <p:sp>
        <p:nvSpPr>
          <p:cNvPr id="4" name="页脚占位符 3">
            <a:extLst>
              <a:ext uri="{FF2B5EF4-FFF2-40B4-BE49-F238E27FC236}">
                <a16:creationId xmlns:a16="http://schemas.microsoft.com/office/drawing/2014/main" id="{E211F0C8-D731-6601-22D3-409EAB4FB6ED}"/>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374713" y="1322610"/>
                <a:ext cx="6464299"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20000"/>
                  </a:lnSpc>
                  <a:buFont typeface="Wingdings" panose="05000000000000000000" pitchFamily="2" charset="2"/>
                  <a:buChar char="Ø"/>
                </a:pPr>
                <a:r>
                  <a:rPr lang="zh-CN" altLang="en-US" sz="2400" b="1" kern="0" dirty="0">
                    <a:latin typeface="+mj-ea"/>
                    <a:ea typeface="+mj-ea"/>
                  </a:rPr>
                  <a:t>尽管只考虑左深树，枚举过程仍然</a:t>
                </a:r>
                <a:r>
                  <a:rPr lang="zh-CN" altLang="en-US" sz="2400" b="1" kern="0" dirty="0">
                    <a:solidFill>
                      <a:srgbClr val="701988"/>
                    </a:solidFill>
                    <a:latin typeface="+mj-ea"/>
                    <a:ea typeface="+mj-ea"/>
                  </a:rPr>
                  <a:t>花销很大</a:t>
                </a:r>
                <a:r>
                  <a:rPr lang="zh-CN" altLang="en-US" sz="2400" b="1" kern="0" dirty="0">
                    <a:latin typeface="+mj-ea"/>
                    <a:ea typeface="+mj-ea"/>
                  </a:rPr>
                  <a:t>：</a:t>
                </a:r>
                <a:endParaRPr lang="en-US" altLang="zh-CN" sz="2400" b="1" kern="0" dirty="0">
                  <a:latin typeface="+mj-ea"/>
                  <a:ea typeface="+mj-ea"/>
                </a:endParaRPr>
              </a:p>
              <a:p>
                <a:pPr lvl="1">
                  <a:lnSpc>
                    <a:spcPct val="120000"/>
                  </a:lnSpc>
                  <a:buFont typeface="Arial" panose="020B0604020202020204" pitchFamily="34" charset="0"/>
                  <a:buChar char="•"/>
                </a:pPr>
                <a:r>
                  <a:rPr lang="zh-CN" altLang="en-US" sz="2000" dirty="0">
                    <a:latin typeface="+mj-ea"/>
                    <a:ea typeface="+mj-ea"/>
                  </a:rPr>
                  <a:t>枚举过程中存在大量的</a:t>
                </a:r>
                <a:r>
                  <a:rPr lang="zh-CN" altLang="en-US" sz="2000" b="1" dirty="0">
                    <a:solidFill>
                      <a:srgbClr val="701988"/>
                    </a:solidFill>
                    <a:latin typeface="+mj-ea"/>
                    <a:ea typeface="+mj-ea"/>
                  </a:rPr>
                  <a:t>重复子结构</a:t>
                </a:r>
                <a:r>
                  <a:rPr lang="zh-CN" altLang="zh-CN" sz="2000" dirty="0">
                    <a:solidFill>
                      <a:srgbClr val="701988"/>
                    </a:solidFill>
                    <a:latin typeface="+mj-ea"/>
                    <a:ea typeface="+mj-ea"/>
                  </a:rPr>
                  <a:t> </a:t>
                </a:r>
                <a:endParaRPr lang="en-US" altLang="zh-CN" sz="2000" dirty="0">
                  <a:solidFill>
                    <a:srgbClr val="701988"/>
                  </a:solidFill>
                  <a:latin typeface="+mj-ea"/>
                  <a:ea typeface="+mj-ea"/>
                </a:endParaRPr>
              </a:p>
              <a:p>
                <a:pPr lvl="1">
                  <a:lnSpc>
                    <a:spcPct val="120000"/>
                  </a:lnSpc>
                  <a:buFont typeface="Arial" panose="020B0604020202020204" pitchFamily="34" charset="0"/>
                  <a:buChar char="•"/>
                </a:pPr>
                <a:r>
                  <a:rPr lang="zh-CN" altLang="en-US" sz="2000" dirty="0">
                    <a:latin typeface="+mj-ea"/>
                    <a:ea typeface="+mj-ea"/>
                  </a:rPr>
                  <a:t>考虑</a:t>
                </a:r>
                <a:r>
                  <a:rPr lang="zh-CN" altLang="zh-CN" sz="2000" dirty="0">
                    <a:latin typeface="+mj-ea"/>
                    <a:ea typeface="+mj-ea"/>
                  </a:rPr>
                  <a:t>枚举</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r>
                      <a:rPr lang="en-US" altLang="zh-CN" sz="2000">
                        <a:latin typeface="Cambria Math" panose="02040503050406030204" pitchFamily="18" charset="0"/>
                        <a:ea typeface="+mj-ea"/>
                      </a:rPr>
                      <m:t>, </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3</m:t>
                        </m:r>
                      </m:sub>
                    </m:sSub>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4</m:t>
                        </m:r>
                      </m:sub>
                    </m:sSub>
                    <m:r>
                      <a:rPr lang="en-US" altLang="zh-CN" sz="2000" i="1">
                        <a:latin typeface="Cambria Math" panose="02040503050406030204" pitchFamily="18" charset="0"/>
                        <a:ea typeface="+mj-ea"/>
                      </a:rPr>
                      <m:t> </m:t>
                    </m:r>
                    <m:r>
                      <a:rPr lang="zh-CN" altLang="en-US" sz="2000" i="1">
                        <a:latin typeface="Cambria Math" panose="02040503050406030204" pitchFamily="18" charset="0"/>
                        <a:ea typeface="+mj-ea"/>
                      </a:rPr>
                      <m:t>的连接顺序</m:t>
                    </m:r>
                  </m:oMath>
                </a14:m>
                <a:endParaRPr lang="en-US" altLang="zh-CN" sz="2000" dirty="0">
                  <a:latin typeface="+mj-ea"/>
                  <a:ea typeface="+mj-ea"/>
                </a:endParaRPr>
              </a:p>
              <a:p>
                <a:pPr lvl="2">
                  <a:lnSpc>
                    <a:spcPct val="120000"/>
                  </a:lnSpc>
                  <a:buFont typeface="Arial" panose="020B0604020202020204" pitchFamily="34" charset="0"/>
                  <a:buChar char="•"/>
                </a:pPr>
                <a14:m>
                  <m:oMath xmlns:m="http://schemas.openxmlformats.org/officeDocument/2006/math">
                    <m:d>
                      <m:dPr>
                        <m:ctrlPr>
                          <a:rPr lang="en-US" altLang="zh-CN" sz="2000" i="1">
                            <a:latin typeface="Cambria Math" panose="02040503050406030204" pitchFamily="18" charset="0"/>
                            <a:ea typeface="+mj-ea"/>
                          </a:rPr>
                        </m:ctrlPr>
                      </m:dPr>
                      <m:e>
                        <m:d>
                          <m:dPr>
                            <m:ctrlPr>
                              <a:rPr lang="en-US"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r>
                              <a:rPr lang="en-US" altLang="zh-CN" sz="2000">
                                <a:latin typeface="Cambria Math" panose="02040503050406030204" pitchFamily="18" charset="0"/>
                                <a:ea typeface="+mj-ea"/>
                              </a:rPr>
                              <m:t>⋈ </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e>
                        </m:d>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3</m:t>
                            </m:r>
                          </m:sub>
                        </m:sSub>
                      </m:e>
                    </m:d>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4</m:t>
                        </m:r>
                      </m:sub>
                    </m:sSub>
                  </m:oMath>
                </a14:m>
                <a:endParaRPr lang="en-US" altLang="zh-CN" sz="2000" i="1" dirty="0">
                  <a:latin typeface="+mj-ea"/>
                  <a:ea typeface="+mj-ea"/>
                </a:endParaRPr>
              </a:p>
              <a:p>
                <a:pPr lvl="2">
                  <a:lnSpc>
                    <a:spcPct val="120000"/>
                  </a:lnSpc>
                  <a:buFont typeface="Arial" panose="020B0604020202020204" pitchFamily="34" charset="0"/>
                  <a:buChar char="•"/>
                </a:pPr>
                <a14:m>
                  <m:oMath xmlns:m="http://schemas.openxmlformats.org/officeDocument/2006/math">
                    <m:d>
                      <m:dPr>
                        <m:ctrlPr>
                          <a:rPr lang="en-US" altLang="zh-CN" sz="2000" i="1">
                            <a:latin typeface="Cambria Math" panose="02040503050406030204" pitchFamily="18" charset="0"/>
                            <a:ea typeface="+mj-ea"/>
                          </a:rPr>
                        </m:ctrlPr>
                      </m:dPr>
                      <m:e>
                        <m:d>
                          <m:dPr>
                            <m:ctrlPr>
                              <a:rPr lang="en-US" altLang="zh-CN" sz="2000" i="1">
                                <a:latin typeface="Cambria Math" panose="02040503050406030204" pitchFamily="18" charset="0"/>
                                <a:ea typeface="+mj-ea"/>
                              </a:rPr>
                            </m:ctrlPr>
                          </m:dPr>
                          <m:e>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r>
                              <a:rPr lang="en-US" altLang="zh-CN" sz="2000">
                                <a:latin typeface="Cambria Math" panose="02040503050406030204" pitchFamily="18" charset="0"/>
                                <a:ea typeface="+mj-ea"/>
                              </a:rPr>
                              <m:t>⋈ </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e>
                        </m:d>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4</m:t>
                            </m:r>
                          </m:sub>
                        </m:sSub>
                      </m:e>
                    </m:d>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3</m:t>
                        </m:r>
                      </m:sub>
                    </m:sSub>
                  </m:oMath>
                </a14:m>
                <a:endParaRPr lang="en-US" altLang="zh-CN" sz="2000" i="1" dirty="0">
                  <a:latin typeface="+mj-ea"/>
                  <a:ea typeface="+mj-ea"/>
                </a:endParaRPr>
              </a:p>
              <a:p>
                <a:pPr lvl="2">
                  <a:lnSpc>
                    <a:spcPct val="120000"/>
                  </a:lnSpc>
                  <a:buFont typeface="Arial" panose="020B0604020202020204" pitchFamily="34" charset="0"/>
                  <a:buChar char="•"/>
                </a:pPr>
                <a14:m>
                  <m:oMath xmlns:m="http://schemas.openxmlformats.org/officeDocument/2006/math">
                    <m:sSub>
                      <m:sSubPr>
                        <m:ctrlPr>
                          <a:rPr lang="zh-CN" altLang="zh-CN" sz="2000" i="1" smtClean="0">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1</m:t>
                        </m:r>
                      </m:sub>
                    </m:sSub>
                    <m:r>
                      <a:rPr lang="en-US" altLang="zh-CN" sz="2000">
                        <a:latin typeface="Cambria Math" panose="02040503050406030204" pitchFamily="18" charset="0"/>
                        <a:ea typeface="+mj-ea"/>
                      </a:rPr>
                      <m:t>⋈ </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a:rPr lang="en-US" altLang="zh-CN" sz="2000">
                            <a:latin typeface="Cambria Math" panose="02040503050406030204" pitchFamily="18" charset="0"/>
                            <a:ea typeface="+mj-ea"/>
                          </a:rPr>
                          <m:t>2</m:t>
                        </m:r>
                      </m:sub>
                    </m:sSub>
                  </m:oMath>
                </a14:m>
                <a:r>
                  <a:rPr lang="zh-CN" altLang="zh-CN" sz="2000" dirty="0">
                    <a:latin typeface="+mj-ea"/>
                    <a:ea typeface="+mj-ea"/>
                  </a:rPr>
                  <a:t>的估计结果可以复用</a:t>
                </a:r>
              </a:p>
              <a:p>
                <a:pPr>
                  <a:lnSpc>
                    <a:spcPct val="120000"/>
                  </a:lnSpc>
                  <a:buFont typeface="Wingdings" panose="05000000000000000000" pitchFamily="2" charset="2"/>
                  <a:buChar char="Ø"/>
                </a:pPr>
                <a:r>
                  <a:rPr lang="zh-CN" altLang="en-US" sz="2400" b="1" kern="0" dirty="0">
                    <a:latin typeface="+mj-ea"/>
                    <a:ea typeface="+mj-ea"/>
                  </a:rPr>
                  <a:t>动态规划算法</a:t>
                </a:r>
                <a:endParaRPr lang="en-US" altLang="zh-CN" sz="2400" b="1" kern="0" dirty="0">
                  <a:latin typeface="+mj-ea"/>
                  <a:ea typeface="+mj-ea"/>
                </a:endParaRPr>
              </a:p>
              <a:p>
                <a:pPr lvl="1">
                  <a:lnSpc>
                    <a:spcPct val="120000"/>
                  </a:lnSpc>
                  <a:buFont typeface="Arial" panose="020B0604020202020204" pitchFamily="34" charset="0"/>
                  <a:buChar char="•"/>
                </a:pPr>
                <a:r>
                  <a:rPr lang="zh-CN" altLang="en-US" sz="2000" b="1" kern="0" dirty="0">
                    <a:latin typeface="+mj-ea"/>
                    <a:ea typeface="+mj-ea"/>
                  </a:rPr>
                  <a:t>核心思想：</a:t>
                </a:r>
                <a:r>
                  <a:rPr lang="zh-CN" altLang="zh-CN" sz="2000" dirty="0">
                    <a:latin typeface="+mj-ea"/>
                    <a:ea typeface="+mj-ea"/>
                  </a:rPr>
                  <a:t>将</a:t>
                </a:r>
                <a:r>
                  <a:rPr lang="zh-CN" altLang="en-US" sz="2000" dirty="0">
                    <a:latin typeface="+mj-ea"/>
                    <a:ea typeface="+mj-ea"/>
                  </a:rPr>
                  <a:t>计算过的</a:t>
                </a:r>
                <a:r>
                  <a:rPr lang="zh-CN" altLang="zh-CN" sz="2000" dirty="0">
                    <a:latin typeface="+mj-ea"/>
                    <a:ea typeface="+mj-ea"/>
                  </a:rPr>
                  <a:t>结果记忆化存储</a:t>
                </a:r>
                <a:endParaRPr lang="en-US" altLang="zh-CN" sz="2000" dirty="0">
                  <a:latin typeface="+mj-ea"/>
                  <a:ea typeface="+mj-ea"/>
                </a:endParaRPr>
              </a:p>
              <a:p>
                <a:pPr lvl="1">
                  <a:lnSpc>
                    <a:spcPct val="120000"/>
                  </a:lnSpc>
                  <a:buFont typeface="Arial" panose="020B0604020202020204" pitchFamily="34" charset="0"/>
                  <a:buChar char="•"/>
                </a:pPr>
                <a:r>
                  <a:rPr lang="zh-CN" altLang="en-US" sz="2000" dirty="0">
                    <a:latin typeface="+mj-ea"/>
                    <a:ea typeface="+mj-ea"/>
                  </a:rPr>
                  <a:t>当</a:t>
                </a:r>
                <a:r>
                  <a:rPr lang="zh-CN" altLang="zh-CN" sz="2000" dirty="0">
                    <a:latin typeface="+mj-ea"/>
                    <a:ea typeface="+mj-ea"/>
                  </a:rPr>
                  <a:t>遇到</a:t>
                </a:r>
                <a:r>
                  <a:rPr lang="zh-CN" altLang="en-US" sz="2000" dirty="0">
                    <a:latin typeface="+mj-ea"/>
                    <a:ea typeface="+mj-ea"/>
                  </a:rPr>
                  <a:t>重复的</a:t>
                </a:r>
                <a:r>
                  <a:rPr lang="zh-CN" altLang="zh-CN" sz="2000" dirty="0">
                    <a:latin typeface="+mj-ea"/>
                    <a:ea typeface="+mj-ea"/>
                  </a:rPr>
                  <a:t>相同子问题时</a:t>
                </a:r>
                <a:r>
                  <a:rPr lang="zh-CN" altLang="en-US" sz="2000" dirty="0">
                    <a:latin typeface="+mj-ea"/>
                    <a:ea typeface="+mj-ea"/>
                  </a:rPr>
                  <a:t>，</a:t>
                </a:r>
                <a:r>
                  <a:rPr lang="zh-CN" altLang="zh-CN" sz="2000" dirty="0">
                    <a:latin typeface="+mj-ea"/>
                    <a:ea typeface="+mj-ea"/>
                  </a:rPr>
                  <a:t>可以</a:t>
                </a:r>
                <a:r>
                  <a:rPr lang="zh-CN" altLang="zh-CN" sz="2000" b="1" dirty="0">
                    <a:solidFill>
                      <a:srgbClr val="701988"/>
                    </a:solidFill>
                    <a:latin typeface="+mj-ea"/>
                    <a:ea typeface="+mj-ea"/>
                  </a:rPr>
                  <a:t>直接利用计算过的结果</a:t>
                </a:r>
                <a:r>
                  <a:rPr lang="zh-CN" altLang="en-US" sz="2000" dirty="0">
                    <a:latin typeface="+mj-ea"/>
                    <a:ea typeface="+mj-ea"/>
                  </a:rPr>
                  <a:t>，</a:t>
                </a:r>
                <a:r>
                  <a:rPr lang="zh-CN" altLang="zh-CN" sz="2000" dirty="0">
                    <a:latin typeface="+mj-ea"/>
                    <a:ea typeface="+mj-ea"/>
                  </a:rPr>
                  <a:t>无需重新计算</a:t>
                </a:r>
                <a:r>
                  <a:rPr lang="zh-CN" altLang="en-US" sz="2000" dirty="0">
                    <a:latin typeface="+mj-ea"/>
                    <a:ea typeface="+mj-ea"/>
                  </a:rPr>
                  <a:t>。</a:t>
                </a:r>
                <a:endParaRPr lang="en-US" altLang="zh-CN" sz="2000" dirty="0">
                  <a:latin typeface="+mj-ea"/>
                  <a:ea typeface="+mj-ea"/>
                </a:endParaRPr>
              </a:p>
              <a:p>
                <a:pPr lvl="1">
                  <a:lnSpc>
                    <a:spcPct val="120000"/>
                  </a:lnSpc>
                  <a:buFont typeface="Arial" panose="020B0604020202020204" pitchFamily="34" charset="0"/>
                  <a:buChar char="•"/>
                </a:pPr>
                <a:r>
                  <a:rPr lang="zh-CN" altLang="en-US" sz="2000" dirty="0">
                    <a:latin typeface="+mj-ea"/>
                    <a:ea typeface="+mj-ea"/>
                  </a:rPr>
                  <a:t>由此实现</a:t>
                </a:r>
                <a:r>
                  <a:rPr lang="zh-CN" altLang="en-US" sz="2000" b="1" dirty="0">
                    <a:solidFill>
                      <a:srgbClr val="701988"/>
                    </a:solidFill>
                    <a:latin typeface="+mj-ea"/>
                    <a:ea typeface="+mj-ea"/>
                  </a:rPr>
                  <a:t>减少</a:t>
                </a:r>
                <a:r>
                  <a:rPr lang="zh-CN" altLang="zh-CN" sz="2000" b="1" dirty="0">
                    <a:solidFill>
                      <a:srgbClr val="701988"/>
                    </a:solidFill>
                    <a:latin typeface="+mj-ea"/>
                    <a:ea typeface="+mj-ea"/>
                  </a:rPr>
                  <a:t>计算量</a:t>
                </a:r>
                <a:endParaRPr lang="en-US" altLang="zh-CN" sz="2000" dirty="0">
                  <a:solidFill>
                    <a:srgbClr val="701988"/>
                  </a:solidFill>
                  <a:latin typeface="+mj-ea"/>
                  <a:ea typeface="+mj-ea"/>
                </a:endParaRPr>
              </a:p>
              <a:p>
                <a:pPr lvl="1">
                  <a:lnSpc>
                    <a:spcPct val="120000"/>
                  </a:lnSpc>
                  <a:buFont typeface="Wingdings" pitchFamily="2" charset="2"/>
                  <a:buChar char="Ø"/>
                </a:pPr>
                <a:endParaRPr lang="en-US" altLang="zh-CN" sz="2400" kern="0" dirty="0">
                  <a:latin typeface="+mj-ea"/>
                  <a:ea typeface="+mj-ea"/>
                </a:endParaRPr>
              </a:p>
              <a:p>
                <a:pPr>
                  <a:lnSpc>
                    <a:spcPct val="120000"/>
                  </a:lnSpc>
                  <a:buFont typeface="Wingdings" pitchFamily="2" charset="2"/>
                  <a:buChar char="p"/>
                </a:pPr>
                <a:endParaRPr lang="en-US" altLang="zh-CN" sz="2400" kern="0" dirty="0">
                  <a:latin typeface="+mj-ea"/>
                  <a:ea typeface="+mj-ea"/>
                </a:endParaRPr>
              </a:p>
              <a:p>
                <a:pPr lvl="1">
                  <a:lnSpc>
                    <a:spcPct val="120000"/>
                  </a:lnSpc>
                  <a:buFont typeface="Wingdings" pitchFamily="2" charset="2"/>
                  <a:buChar char="p"/>
                </a:pPr>
                <a:endParaRPr lang="en-US" altLang="zh-CN" sz="2400" kern="0" dirty="0">
                  <a:latin typeface="+mj-ea"/>
                  <a:ea typeface="+mj-ea"/>
                </a:endParaRPr>
              </a:p>
              <a:p>
                <a:pPr marL="0" indent="0">
                  <a:lnSpc>
                    <a:spcPct val="120000"/>
                  </a:lnSpc>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374713" y="1322610"/>
                <a:ext cx="6464299" cy="4876801"/>
              </a:xfrm>
              <a:prstGeom prst="rect">
                <a:avLst/>
              </a:prstGeom>
              <a:blipFill>
                <a:blip r:embed="rId4"/>
                <a:stretch>
                  <a:fillRect l="-1176" t="-260" r="-3529" b="-285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1716647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98CA461-CB38-8611-B255-7C00EB61D7BF}"/>
              </a:ext>
            </a:extLst>
          </p:cNvPr>
          <p:cNvSpPr>
            <a:spLocks noGrp="1"/>
          </p:cNvSpPr>
          <p:nvPr>
            <p:ph type="sldNum" sz="quarter" idx="10"/>
          </p:nvPr>
        </p:nvSpPr>
        <p:spPr/>
        <p:txBody>
          <a:bodyPr/>
          <a:lstStyle/>
          <a:p>
            <a:fld id="{87BBDC00-B9E2-4EFD-9306-2934E87247C6}" type="slidenum">
              <a:rPr lang="zh-CN" altLang="en-US" smtClean="0"/>
              <a:pPr/>
              <a:t>104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a:t>
            </a:r>
          </a:p>
        </p:txBody>
      </p:sp>
      <p:sp>
        <p:nvSpPr>
          <p:cNvPr id="4" name="页脚占位符 3">
            <a:extLst>
              <a:ext uri="{FF2B5EF4-FFF2-40B4-BE49-F238E27FC236}">
                <a16:creationId xmlns:a16="http://schemas.microsoft.com/office/drawing/2014/main" id="{0F4FA660-F471-1EBC-5DC8-ACE470E301B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523906" y="1144758"/>
                <a:ext cx="9749140"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zh-CN" sz="2400" b="1" dirty="0">
                    <a:latin typeface="+mj-ea"/>
                    <a:ea typeface="+mj-ea"/>
                  </a:rPr>
                  <a:t>当枚举到集合</a:t>
                </a:r>
                <a14:m>
                  <m:oMath xmlns:m="http://schemas.openxmlformats.org/officeDocument/2006/math">
                    <m:r>
                      <a:rPr lang="en-US" altLang="zh-CN" sz="2400" b="1" i="1">
                        <a:latin typeface="Cambria Math" panose="02040503050406030204" pitchFamily="18" charset="0"/>
                        <a:ea typeface="+mj-ea"/>
                      </a:rPr>
                      <m:t>𝑺</m:t>
                    </m:r>
                  </m:oMath>
                </a14:m>
                <a:r>
                  <a:rPr lang="zh-CN" altLang="zh-CN" sz="2400" b="1" dirty="0">
                    <a:latin typeface="+mj-ea"/>
                    <a:ea typeface="+mj-ea"/>
                  </a:rPr>
                  <a:t>时，按如下方式计算集合</a:t>
                </a:r>
                <a14:m>
                  <m:oMath xmlns:m="http://schemas.openxmlformats.org/officeDocument/2006/math">
                    <m:r>
                      <a:rPr lang="en-US" altLang="zh-CN" sz="2400" b="1" i="1">
                        <a:latin typeface="Cambria Math" panose="02040503050406030204" pitchFamily="18" charset="0"/>
                        <a:ea typeface="+mj-ea"/>
                      </a:rPr>
                      <m:t>𝑺</m:t>
                    </m:r>
                  </m:oMath>
                </a14:m>
                <a:r>
                  <a:rPr lang="zh-CN" altLang="zh-CN" sz="2400" b="1" dirty="0">
                    <a:latin typeface="+mj-ea"/>
                    <a:ea typeface="+mj-ea"/>
                  </a:rPr>
                  <a:t>的信息</a:t>
                </a:r>
                <a:r>
                  <a:rPr lang="zh-CN" altLang="en-US" sz="2400" b="1" dirty="0">
                    <a:latin typeface="+mj-ea"/>
                    <a:ea typeface="+mj-ea"/>
                  </a:rPr>
                  <a:t>（稠密树）</a:t>
                </a:r>
                <a:r>
                  <a:rPr lang="zh-CN" altLang="zh-CN" sz="2400" b="1" dirty="0">
                    <a:latin typeface="+mj-ea"/>
                    <a:ea typeface="+mj-ea"/>
                  </a:rPr>
                  <a:t>：</a:t>
                </a:r>
                <a:endParaRPr lang="en-US" altLang="zh-CN" sz="2400" b="1" dirty="0">
                  <a:latin typeface="+mj-ea"/>
                  <a:ea typeface="+mj-ea"/>
                </a:endParaRPr>
              </a:p>
              <a:p>
                <a:pPr lvl="1">
                  <a:buFont typeface="Arial" panose="020B0604020202020204" pitchFamily="34" charset="0"/>
                  <a:buChar char="•"/>
                </a:pPr>
                <a14:m>
                  <m:oMath xmlns:m="http://schemas.openxmlformats.org/officeDocument/2006/math">
                    <m:r>
                      <a:rPr lang="en-US" altLang="zh-CN" sz="2000" smtClean="0">
                        <a:solidFill>
                          <a:schemeClr val="tx1"/>
                        </a:solidFill>
                        <a:latin typeface="Cambria Math" panose="02040503050406030204" pitchFamily="18" charset="0"/>
                        <a:ea typeface="+mj-ea"/>
                      </a:rPr>
                      <m:t>𝐶</m:t>
                    </m:r>
                    <m:d>
                      <m:dPr>
                        <m:ctrlPr>
                          <a:rPr lang="zh-CN" altLang="zh-CN" sz="2000" i="1">
                            <a:solidFill>
                              <a:schemeClr val="tx1"/>
                            </a:solidFill>
                            <a:latin typeface="Cambria Math" panose="02040503050406030204" pitchFamily="18" charset="0"/>
                            <a:ea typeface="+mj-ea"/>
                          </a:rPr>
                        </m:ctrlPr>
                      </m:dPr>
                      <m:e>
                        <m:r>
                          <a:rPr lang="en-US" altLang="zh-CN" sz="2000">
                            <a:solidFill>
                              <a:schemeClr val="tx1"/>
                            </a:solidFill>
                            <a:latin typeface="Cambria Math" panose="02040503050406030204" pitchFamily="18" charset="0"/>
                            <a:ea typeface="+mj-ea"/>
                          </a:rPr>
                          <m:t>𝑆</m:t>
                        </m:r>
                      </m:e>
                    </m:d>
                  </m:oMath>
                </a14:m>
                <a:r>
                  <a:rPr lang="zh-CN" altLang="en-US" sz="2000" dirty="0">
                    <a:latin typeface="+mj-ea"/>
                    <a:ea typeface="+mj-ea"/>
                  </a:rPr>
                  <a:t>：连接的最小代价</a:t>
                </a:r>
                <a:endParaRPr lang="en-US" altLang="zh-CN" sz="2000" dirty="0">
                  <a:latin typeface="+mj-ea"/>
                  <a:ea typeface="+mj-ea"/>
                </a:endParaRPr>
              </a:p>
              <a:p>
                <a:pPr lvl="2">
                  <a:buFont typeface="Arial" panose="020B0604020202020204" pitchFamily="34" charset="0"/>
                  <a:buChar char="•"/>
                </a:pPr>
                <a14:m>
                  <m:oMath xmlns:m="http://schemas.openxmlformats.org/officeDocument/2006/math">
                    <m:d>
                      <m:dPr>
                        <m:begChr m:val="|"/>
                        <m:endChr m:val="|"/>
                        <m:ctrlPr>
                          <a:rPr lang="en-US" altLang="zh-CN" sz="2000" b="0" i="1" smtClean="0">
                            <a:solidFill>
                              <a:schemeClr val="tx1"/>
                            </a:solidFill>
                            <a:latin typeface="Cambria Math" panose="02040503050406030204" pitchFamily="18" charset="0"/>
                            <a:ea typeface="+mj-ea"/>
                          </a:rPr>
                        </m:ctrlPr>
                      </m:dPr>
                      <m:e>
                        <m:r>
                          <a:rPr lang="en-US" altLang="zh-CN" sz="2000">
                            <a:solidFill>
                              <a:schemeClr val="tx1"/>
                            </a:solidFill>
                            <a:latin typeface="Cambria Math" panose="02040503050406030204" pitchFamily="18" charset="0"/>
                            <a:ea typeface="+mj-ea"/>
                          </a:rPr>
                          <m:t>𝑆</m:t>
                        </m:r>
                      </m:e>
                    </m:d>
                    <m:r>
                      <a:rPr lang="en-US" altLang="zh-CN" sz="2000" b="0" i="0" smtClean="0">
                        <a:solidFill>
                          <a:schemeClr val="tx1"/>
                        </a:solidFill>
                        <a:latin typeface="Cambria Math" panose="02040503050406030204" pitchFamily="18" charset="0"/>
                        <a:ea typeface="+mj-ea"/>
                      </a:rPr>
                      <m:t>&gt;1</m:t>
                    </m:r>
                  </m:oMath>
                </a14:m>
                <a:r>
                  <a:rPr lang="en-US" altLang="zh-CN" sz="2000" dirty="0">
                    <a:latin typeface="+mj-ea"/>
                    <a:ea typeface="+mj-ea"/>
                  </a:rPr>
                  <a:t>:</a:t>
                </a:r>
              </a:p>
              <a:p>
                <a:pPr lvl="3">
                  <a:buFont typeface="Arial" panose="020B0604020202020204" pitchFamily="34" charset="0"/>
                  <a:buChar char="•"/>
                </a:pPr>
                <a:r>
                  <a:rPr lang="zh-CN" altLang="zh-CN" sz="2000" dirty="0">
                    <a:solidFill>
                      <a:srgbClr val="0000FF"/>
                    </a:solidFill>
                    <a:latin typeface="+mj-ea"/>
                    <a:ea typeface="+mj-ea"/>
                  </a:rPr>
                  <a:t>枚举集合</a:t>
                </a:r>
                <a14:m>
                  <m:oMath xmlns:m="http://schemas.openxmlformats.org/officeDocument/2006/math">
                    <m:r>
                      <a:rPr lang="en-US" altLang="zh-CN" sz="2000" b="0" i="1">
                        <a:solidFill>
                          <a:srgbClr val="0000FF"/>
                        </a:solidFill>
                        <a:latin typeface="Cambria Math" panose="02040503050406030204" pitchFamily="18" charset="0"/>
                        <a:ea typeface="+mj-ea"/>
                      </a:rPr>
                      <m:t>𝑆</m:t>
                    </m:r>
                  </m:oMath>
                </a14:m>
                <a:r>
                  <a:rPr lang="zh-CN" altLang="zh-CN" sz="2000" dirty="0">
                    <a:solidFill>
                      <a:srgbClr val="0000FF"/>
                    </a:solidFill>
                    <a:latin typeface="+mj-ea"/>
                    <a:ea typeface="+mj-ea"/>
                  </a:rPr>
                  <a:t>的</a:t>
                </a:r>
                <a:r>
                  <a:rPr lang="zh-CN" altLang="en-US" sz="2000" dirty="0">
                    <a:solidFill>
                      <a:srgbClr val="0000FF"/>
                    </a:solidFill>
                    <a:latin typeface="+mj-ea"/>
                    <a:ea typeface="+mj-ea"/>
                  </a:rPr>
                  <a:t>子集</a:t>
                </a:r>
                <a14:m>
                  <m:oMath xmlns:m="http://schemas.openxmlformats.org/officeDocument/2006/math">
                    <m:sSub>
                      <m:sSubPr>
                        <m:ctrlPr>
                          <a:rPr lang="zh-CN" altLang="zh-CN" sz="2000" i="1">
                            <a:solidFill>
                              <a:srgbClr val="0000FF"/>
                            </a:solidFill>
                            <a:latin typeface="Cambria Math" panose="02040503050406030204" pitchFamily="18" charset="0"/>
                            <a:ea typeface="+mj-ea"/>
                          </a:rPr>
                        </m:ctrlPr>
                      </m:sSubPr>
                      <m:e>
                        <m:r>
                          <a:rPr lang="en-US" altLang="zh-CN" sz="2000" b="0" i="1">
                            <a:solidFill>
                              <a:srgbClr val="0000FF"/>
                            </a:solidFill>
                            <a:latin typeface="Cambria Math" panose="02040503050406030204" pitchFamily="18" charset="0"/>
                            <a:ea typeface="+mj-ea"/>
                          </a:rPr>
                          <m:t>𝑆</m:t>
                        </m:r>
                      </m:e>
                      <m:sub>
                        <m:r>
                          <a:rPr lang="en-US" altLang="zh-CN" sz="2000" b="0" i="1">
                            <a:solidFill>
                              <a:srgbClr val="0000FF"/>
                            </a:solidFill>
                            <a:latin typeface="Cambria Math" panose="02040503050406030204" pitchFamily="18" charset="0"/>
                            <a:ea typeface="+mj-ea"/>
                          </a:rPr>
                          <m:t>𝑙</m:t>
                        </m:r>
                      </m:sub>
                    </m:sSub>
                  </m:oMath>
                </a14:m>
                <a:r>
                  <a:rPr lang="zh-CN" altLang="zh-CN" sz="2000" dirty="0">
                    <a:solidFill>
                      <a:srgbClr val="0000FF"/>
                    </a:solidFill>
                    <a:latin typeface="+mj-ea"/>
                    <a:ea typeface="+mj-ea"/>
                  </a:rPr>
                  <a:t>，</a:t>
                </a:r>
                <a:r>
                  <a:rPr lang="zh-CN" altLang="en-US" sz="2000" dirty="0">
                    <a:solidFill>
                      <a:srgbClr val="0000FF"/>
                    </a:solidFill>
                    <a:latin typeface="+mj-ea"/>
                    <a:ea typeface="+mj-ea"/>
                  </a:rPr>
                  <a:t>计算</a:t>
                </a:r>
                <a14:m>
                  <m:oMath xmlns:m="http://schemas.openxmlformats.org/officeDocument/2006/math">
                    <m:sSub>
                      <m:sSubPr>
                        <m:ctrlPr>
                          <a:rPr lang="zh-CN" altLang="zh-CN" sz="2000" i="1">
                            <a:solidFill>
                              <a:srgbClr val="0000FF"/>
                            </a:solidFill>
                            <a:latin typeface="Cambria Math" panose="02040503050406030204" pitchFamily="18" charset="0"/>
                            <a:ea typeface="+mj-ea"/>
                          </a:rPr>
                        </m:ctrlPr>
                      </m:sSubPr>
                      <m:e>
                        <m:r>
                          <a:rPr lang="en-US" altLang="zh-CN" sz="2000" b="0" i="1">
                            <a:solidFill>
                              <a:srgbClr val="0000FF"/>
                            </a:solidFill>
                            <a:latin typeface="Cambria Math" panose="02040503050406030204" pitchFamily="18" charset="0"/>
                            <a:ea typeface="+mj-ea"/>
                          </a:rPr>
                          <m:t>𝑆</m:t>
                        </m:r>
                      </m:e>
                      <m:sub>
                        <m:r>
                          <a:rPr lang="en-US" altLang="zh-CN" sz="2000" b="0" i="1">
                            <a:solidFill>
                              <a:srgbClr val="0000FF"/>
                            </a:solidFill>
                            <a:latin typeface="Cambria Math" panose="02040503050406030204" pitchFamily="18" charset="0"/>
                            <a:ea typeface="+mj-ea"/>
                          </a:rPr>
                          <m:t>𝑟</m:t>
                        </m:r>
                      </m:sub>
                    </m:sSub>
                    <m:r>
                      <a:rPr lang="en-US" altLang="zh-CN" sz="2000" b="0">
                        <a:solidFill>
                          <a:srgbClr val="0000FF"/>
                        </a:solidFill>
                        <a:latin typeface="Cambria Math" panose="02040503050406030204" pitchFamily="18" charset="0"/>
                        <a:ea typeface="+mj-ea"/>
                      </a:rPr>
                      <m:t>=</m:t>
                    </m:r>
                    <m:r>
                      <a:rPr lang="en-US" altLang="zh-CN" sz="2000" b="0" i="1">
                        <a:solidFill>
                          <a:srgbClr val="0000FF"/>
                        </a:solidFill>
                        <a:latin typeface="Cambria Math" panose="02040503050406030204" pitchFamily="18" charset="0"/>
                        <a:ea typeface="+mj-ea"/>
                      </a:rPr>
                      <m:t>𝑆</m:t>
                    </m:r>
                    <m:r>
                      <a:rPr lang="en-US" altLang="zh-CN" sz="2000" b="0">
                        <a:solidFill>
                          <a:srgbClr val="0000FF"/>
                        </a:solidFill>
                        <a:latin typeface="Cambria Math" panose="02040503050406030204" pitchFamily="18" charset="0"/>
                        <a:ea typeface="+mj-ea"/>
                      </a:rPr>
                      <m:t>−</m:t>
                    </m:r>
                    <m:sSub>
                      <m:sSubPr>
                        <m:ctrlPr>
                          <a:rPr lang="zh-CN" altLang="zh-CN" sz="2000" i="1">
                            <a:solidFill>
                              <a:srgbClr val="0000FF"/>
                            </a:solidFill>
                            <a:latin typeface="Cambria Math" panose="02040503050406030204" pitchFamily="18" charset="0"/>
                            <a:ea typeface="+mj-ea"/>
                          </a:rPr>
                        </m:ctrlPr>
                      </m:sSubPr>
                      <m:e>
                        <m:r>
                          <a:rPr lang="en-US" altLang="zh-CN" sz="2000" b="0" i="1">
                            <a:solidFill>
                              <a:srgbClr val="0000FF"/>
                            </a:solidFill>
                            <a:latin typeface="Cambria Math" panose="02040503050406030204" pitchFamily="18" charset="0"/>
                            <a:ea typeface="+mj-ea"/>
                          </a:rPr>
                          <m:t>𝑆</m:t>
                        </m:r>
                      </m:e>
                      <m:sub>
                        <m:r>
                          <a:rPr lang="en-US" altLang="zh-CN" sz="2000" b="0" i="1">
                            <a:solidFill>
                              <a:srgbClr val="0000FF"/>
                            </a:solidFill>
                            <a:latin typeface="Cambria Math" panose="02040503050406030204" pitchFamily="18" charset="0"/>
                            <a:ea typeface="+mj-ea"/>
                          </a:rPr>
                          <m:t>𝑙</m:t>
                        </m:r>
                      </m:sub>
                    </m:sSub>
                  </m:oMath>
                </a14:m>
                <a:r>
                  <a:rPr lang="zh-CN" altLang="zh-CN" sz="2000" dirty="0">
                    <a:solidFill>
                      <a:srgbClr val="0000FF"/>
                    </a:solidFill>
                    <a:latin typeface="+mj-ea"/>
                    <a:ea typeface="+mj-ea"/>
                  </a:rPr>
                  <a:t>， </a:t>
                </a:r>
                <a14:m>
                  <m:oMath xmlns:m="http://schemas.openxmlformats.org/officeDocument/2006/math">
                    <m:sSub>
                      <m:sSubPr>
                        <m:ctrlPr>
                          <a:rPr lang="zh-CN" altLang="zh-CN" sz="2000" i="1">
                            <a:solidFill>
                              <a:srgbClr val="0000FF"/>
                            </a:solidFill>
                            <a:latin typeface="Cambria Math" panose="02040503050406030204" pitchFamily="18" charset="0"/>
                            <a:ea typeface="+mj-ea"/>
                          </a:rPr>
                        </m:ctrlPr>
                      </m:sSubPr>
                      <m:e>
                        <m:r>
                          <a:rPr lang="en-US" altLang="zh-CN" sz="2000" b="0" i="1">
                            <a:solidFill>
                              <a:srgbClr val="0000FF"/>
                            </a:solidFill>
                            <a:latin typeface="Cambria Math" panose="02040503050406030204" pitchFamily="18" charset="0"/>
                            <a:ea typeface="+mj-ea"/>
                          </a:rPr>
                          <m:t>1</m:t>
                        </m:r>
                        <m:r>
                          <a:rPr lang="en-US" altLang="zh-CN" sz="2000" b="0">
                            <a:solidFill>
                              <a:srgbClr val="0000FF"/>
                            </a:solidFill>
                            <a:latin typeface="Cambria Math" panose="02040503050406030204" pitchFamily="18" charset="0"/>
                            <a:ea typeface="+mj-ea"/>
                          </a:rPr>
                          <m:t>≤|</m:t>
                        </m:r>
                        <m:r>
                          <a:rPr lang="en-US" altLang="zh-CN" sz="2000" b="0" i="1">
                            <a:solidFill>
                              <a:srgbClr val="0000FF"/>
                            </a:solidFill>
                            <a:latin typeface="Cambria Math" panose="02040503050406030204" pitchFamily="18" charset="0"/>
                            <a:ea typeface="+mj-ea"/>
                          </a:rPr>
                          <m:t>𝑆</m:t>
                        </m:r>
                      </m:e>
                      <m:sub>
                        <m:r>
                          <a:rPr lang="en-US" altLang="zh-CN" sz="2000" b="0" i="1">
                            <a:solidFill>
                              <a:srgbClr val="0000FF"/>
                            </a:solidFill>
                            <a:latin typeface="Cambria Math" panose="02040503050406030204" pitchFamily="18" charset="0"/>
                            <a:ea typeface="+mj-ea"/>
                          </a:rPr>
                          <m:t>𝑙</m:t>
                        </m:r>
                      </m:sub>
                    </m:sSub>
                    <m:r>
                      <a:rPr lang="en-US" altLang="zh-CN" sz="2000" b="0">
                        <a:solidFill>
                          <a:srgbClr val="0000FF"/>
                        </a:solidFill>
                        <a:latin typeface="Cambria Math" panose="02040503050406030204" pitchFamily="18" charset="0"/>
                        <a:ea typeface="+mj-ea"/>
                      </a:rPr>
                      <m:t>|≤</m:t>
                    </m:r>
                    <m:d>
                      <m:dPr>
                        <m:begChr m:val="|"/>
                        <m:endChr m:val="|"/>
                        <m:ctrlPr>
                          <a:rPr lang="zh-CN" altLang="zh-CN" sz="2000" i="1">
                            <a:solidFill>
                              <a:srgbClr val="0000FF"/>
                            </a:solidFill>
                            <a:latin typeface="Cambria Math" panose="02040503050406030204" pitchFamily="18" charset="0"/>
                            <a:ea typeface="+mj-ea"/>
                          </a:rPr>
                        </m:ctrlPr>
                      </m:dPr>
                      <m:e>
                        <m:r>
                          <a:rPr lang="en-US" altLang="zh-CN" sz="2000" b="0" i="1">
                            <a:solidFill>
                              <a:srgbClr val="0000FF"/>
                            </a:solidFill>
                            <a:latin typeface="Cambria Math" panose="02040503050406030204" pitchFamily="18" charset="0"/>
                            <a:ea typeface="+mj-ea"/>
                          </a:rPr>
                          <m:t>𝑆</m:t>
                        </m:r>
                      </m:e>
                    </m:d>
                    <m:r>
                      <a:rPr lang="en-US" altLang="zh-CN" sz="2000" b="0">
                        <a:solidFill>
                          <a:srgbClr val="0000FF"/>
                        </a:solidFill>
                        <a:latin typeface="Cambria Math" panose="02040503050406030204" pitchFamily="18" charset="0"/>
                        <a:ea typeface="+mj-ea"/>
                      </a:rPr>
                      <m:t>−</m:t>
                    </m:r>
                    <m:r>
                      <a:rPr lang="en-US" altLang="zh-CN" sz="2000" b="0" i="1">
                        <a:solidFill>
                          <a:srgbClr val="0000FF"/>
                        </a:solidFill>
                        <a:latin typeface="Cambria Math" panose="02040503050406030204" pitchFamily="18" charset="0"/>
                        <a:ea typeface="+mj-ea"/>
                      </a:rPr>
                      <m:t>1</m:t>
                    </m:r>
                  </m:oMath>
                </a14:m>
                <a:r>
                  <a:rPr lang="zh-CN" altLang="zh-CN" sz="2000" dirty="0">
                    <a:solidFill>
                      <a:srgbClr val="0000FF"/>
                    </a:solidFill>
                    <a:latin typeface="+mj-ea"/>
                    <a:ea typeface="+mj-ea"/>
                  </a:rPr>
                  <a:t> </a:t>
                </a:r>
                <a:endParaRPr lang="en-US" altLang="zh-CN" sz="2000" dirty="0">
                  <a:solidFill>
                    <a:srgbClr val="0000FF"/>
                  </a:solidFill>
                  <a:latin typeface="+mj-ea"/>
                  <a:ea typeface="+mj-ea"/>
                </a:endParaRPr>
              </a:p>
              <a:p>
                <a:pPr lvl="3">
                  <a:buFont typeface="Arial" panose="020B0604020202020204" pitchFamily="34" charset="0"/>
                  <a:buChar char="•"/>
                </a:pPr>
                <a14:m>
                  <m:oMath xmlns:m="http://schemas.openxmlformats.org/officeDocument/2006/math">
                    <m:r>
                      <a:rPr lang="zh-CN" altLang="en-US" sz="2000" b="0" i="1" dirty="0" smtClean="0">
                        <a:solidFill>
                          <a:srgbClr val="0000FF"/>
                        </a:solidFill>
                        <a:latin typeface="Cambria Math" panose="02040503050406030204" pitchFamily="18" charset="0"/>
                        <a:ea typeface="+mj-ea"/>
                      </a:rPr>
                      <m:t>状态</m:t>
                    </m:r>
                    <m:r>
                      <a:rPr lang="zh-CN" altLang="en-US" sz="2000" b="0" i="1" dirty="0">
                        <a:solidFill>
                          <a:srgbClr val="0000FF"/>
                        </a:solidFill>
                        <a:latin typeface="Cambria Math" panose="02040503050406030204" pitchFamily="18" charset="0"/>
                        <a:ea typeface="+mj-ea"/>
                      </a:rPr>
                      <m:t>转移</m:t>
                    </m:r>
                    <m:r>
                      <a:rPr lang="zh-CN" altLang="en-US" sz="2000" b="0" i="1" dirty="0" smtClean="0">
                        <a:solidFill>
                          <a:srgbClr val="0000FF"/>
                        </a:solidFill>
                        <a:latin typeface="Cambria Math" panose="02040503050406030204" pitchFamily="18" charset="0"/>
                        <a:ea typeface="+mj-ea"/>
                      </a:rPr>
                      <m:t>方程：</m:t>
                    </m:r>
                    <m:r>
                      <a:rPr lang="zh-CN" altLang="en-US" sz="2000" b="0" i="1" dirty="0" smtClean="0">
                        <a:solidFill>
                          <a:srgbClr val="0000FF"/>
                        </a:solidFill>
                        <a:latin typeface="Cambria Math" panose="02040503050406030204" pitchFamily="18" charset="0"/>
                        <a:ea typeface="+mj-ea"/>
                      </a:rPr>
                      <m:t> </m:t>
                    </m:r>
                  </m:oMath>
                </a14:m>
                <a:endParaRPr lang="en-US" altLang="zh-CN" sz="2000" i="1" dirty="0">
                  <a:solidFill>
                    <a:srgbClr val="0000FF"/>
                  </a:solidFill>
                  <a:latin typeface="Cambria Math" panose="02040503050406030204" pitchFamily="18" charset="0"/>
                  <a:ea typeface="+mj-ea"/>
                </a:endParaRPr>
              </a:p>
              <a:p>
                <a:pPr marL="844082" lvl="2" indent="0">
                  <a:buNone/>
                </a:pPr>
                <a14:m>
                  <m:oMathPara xmlns:m="http://schemas.openxmlformats.org/officeDocument/2006/math">
                    <m:oMathParaPr>
                      <m:jc m:val="centerGroup"/>
                    </m:oMathParaPr>
                    <m:oMath xmlns:m="http://schemas.openxmlformats.org/officeDocument/2006/math">
                      <m:r>
                        <a:rPr lang="en-US" altLang="zh-CN" sz="2000" smtClean="0">
                          <a:solidFill>
                            <a:srgbClr val="0000FF"/>
                          </a:solidFill>
                          <a:latin typeface="Cambria Math" panose="02040503050406030204" pitchFamily="18" charset="0"/>
                          <a:ea typeface="+mj-ea"/>
                        </a:rPr>
                        <m:t>𝐶</m:t>
                      </m:r>
                      <m:d>
                        <m:dPr>
                          <m:ctrlPr>
                            <a:rPr lang="zh-CN" altLang="zh-CN" sz="2000" i="1">
                              <a:solidFill>
                                <a:srgbClr val="0000FF"/>
                              </a:solidFill>
                              <a:latin typeface="Cambria Math" panose="02040503050406030204" pitchFamily="18" charset="0"/>
                              <a:ea typeface="+mj-ea"/>
                            </a:rPr>
                          </m:ctrlPr>
                        </m:dPr>
                        <m:e>
                          <m:r>
                            <a:rPr lang="en-US" altLang="zh-CN" sz="2000">
                              <a:solidFill>
                                <a:srgbClr val="0000FF"/>
                              </a:solidFill>
                              <a:latin typeface="Cambria Math" panose="02040503050406030204" pitchFamily="18" charset="0"/>
                              <a:ea typeface="+mj-ea"/>
                            </a:rPr>
                            <m:t>𝑆</m:t>
                          </m:r>
                        </m:e>
                      </m:d>
                      <m:r>
                        <a:rPr lang="en-US" altLang="zh-CN" sz="2000">
                          <a:solidFill>
                            <a:srgbClr val="0000FF"/>
                          </a:solidFill>
                          <a:latin typeface="Cambria Math" panose="02040503050406030204" pitchFamily="18" charset="0"/>
                          <a:ea typeface="+mj-ea"/>
                        </a:rPr>
                        <m:t>=</m:t>
                      </m:r>
                      <m:sSub>
                        <m:sSubPr>
                          <m:ctrlPr>
                            <a:rPr lang="zh-CN" altLang="zh-CN" sz="2000" i="1">
                              <a:solidFill>
                                <a:srgbClr val="0000FF"/>
                              </a:solidFill>
                              <a:latin typeface="Cambria Math" panose="02040503050406030204" pitchFamily="18" charset="0"/>
                              <a:ea typeface="+mj-ea"/>
                            </a:rPr>
                          </m:ctrlPr>
                        </m:sSubPr>
                        <m:e>
                          <m:r>
                            <m:rPr>
                              <m:sty m:val="p"/>
                            </m:rPr>
                            <a:rPr lang="en-US" altLang="zh-CN" sz="2000">
                              <a:solidFill>
                                <a:srgbClr val="0000FF"/>
                              </a:solidFill>
                              <a:latin typeface="Cambria Math" panose="02040503050406030204" pitchFamily="18" charset="0"/>
                              <a:ea typeface="+mj-ea"/>
                            </a:rPr>
                            <m:t>min</m:t>
                          </m:r>
                        </m:e>
                        <m:sub>
                          <m:sSub>
                            <m:sSubPr>
                              <m:ctrlPr>
                                <a:rPr lang="zh-CN" altLang="zh-CN" sz="2000" i="1">
                                  <a:solidFill>
                                    <a:srgbClr val="0000FF"/>
                                  </a:solidFill>
                                  <a:latin typeface="Cambria Math" panose="02040503050406030204" pitchFamily="18" charset="0"/>
                                  <a:ea typeface="+mj-ea"/>
                                </a:rPr>
                              </m:ctrlPr>
                            </m:sSubPr>
                            <m:e>
                              <m:r>
                                <a:rPr lang="en-US" altLang="zh-CN" sz="2000">
                                  <a:solidFill>
                                    <a:srgbClr val="0000FF"/>
                                  </a:solidFill>
                                  <a:latin typeface="Cambria Math" panose="02040503050406030204" pitchFamily="18" charset="0"/>
                                  <a:ea typeface="+mj-ea"/>
                                </a:rPr>
                                <m:t>𝑆</m:t>
                              </m:r>
                            </m:e>
                            <m:sub>
                              <m:r>
                                <a:rPr lang="en-US" altLang="zh-CN" sz="2000">
                                  <a:solidFill>
                                    <a:srgbClr val="0000FF"/>
                                  </a:solidFill>
                                  <a:latin typeface="Cambria Math" panose="02040503050406030204" pitchFamily="18" charset="0"/>
                                  <a:ea typeface="+mj-ea"/>
                                </a:rPr>
                                <m:t>𝑙</m:t>
                              </m:r>
                            </m:sub>
                          </m:sSub>
                          <m:r>
                            <a:rPr lang="en-US" altLang="zh-CN" sz="2000">
                              <a:solidFill>
                                <a:srgbClr val="0000FF"/>
                              </a:solidFill>
                              <a:latin typeface="Cambria Math" panose="02040503050406030204" pitchFamily="18" charset="0"/>
                              <a:ea typeface="+mj-ea"/>
                            </a:rPr>
                            <m:t>⊂</m:t>
                          </m:r>
                          <m:r>
                            <a:rPr lang="en-US" altLang="zh-CN" sz="2000">
                              <a:solidFill>
                                <a:srgbClr val="0000FF"/>
                              </a:solidFill>
                              <a:latin typeface="Cambria Math" panose="02040503050406030204" pitchFamily="18" charset="0"/>
                              <a:ea typeface="+mj-ea"/>
                            </a:rPr>
                            <m:t>𝑆</m:t>
                          </m:r>
                          <m:r>
                            <a:rPr lang="zh-CN" altLang="en-US" sz="2000" b="0" i="1" smtClean="0">
                              <a:solidFill>
                                <a:srgbClr val="0000FF"/>
                              </a:solidFill>
                              <a:latin typeface="Cambria Math" panose="02040503050406030204" pitchFamily="18" charset="0"/>
                              <a:ea typeface="+mj-ea"/>
                            </a:rPr>
                            <m:t> </m:t>
                          </m:r>
                          <m:r>
                            <a:rPr lang="en-US" altLang="zh-CN" sz="2000" b="0" i="1" smtClean="0">
                              <a:solidFill>
                                <a:srgbClr val="0000FF"/>
                              </a:solidFill>
                              <a:latin typeface="Cambria Math" panose="02040503050406030204" pitchFamily="18" charset="0"/>
                              <a:ea typeface="+mj-ea"/>
                            </a:rPr>
                            <m:t>&amp;</m:t>
                          </m:r>
                          <m:r>
                            <a:rPr lang="zh-CN" altLang="en-US" sz="2000" b="0" i="1" smtClean="0">
                              <a:solidFill>
                                <a:srgbClr val="0000FF"/>
                              </a:solidFill>
                              <a:latin typeface="Cambria Math" panose="02040503050406030204" pitchFamily="18" charset="0"/>
                              <a:ea typeface="+mj-ea"/>
                            </a:rPr>
                            <m:t> </m:t>
                          </m:r>
                          <m:sSub>
                            <m:sSubPr>
                              <m:ctrlPr>
                                <a:rPr lang="zh-CN" altLang="zh-CN" sz="2000" i="1">
                                  <a:solidFill>
                                    <a:srgbClr val="0000FF"/>
                                  </a:solidFill>
                                  <a:latin typeface="Cambria Math" panose="02040503050406030204" pitchFamily="18" charset="0"/>
                                  <a:ea typeface="+mj-ea"/>
                                </a:rPr>
                              </m:ctrlPr>
                            </m:sSubPr>
                            <m:e>
                              <m:r>
                                <a:rPr lang="en-US" altLang="zh-CN" sz="2000">
                                  <a:solidFill>
                                    <a:srgbClr val="0000FF"/>
                                  </a:solidFill>
                                  <a:latin typeface="Cambria Math" panose="02040503050406030204" pitchFamily="18" charset="0"/>
                                  <a:ea typeface="+mj-ea"/>
                                </a:rPr>
                                <m:t>𝑆</m:t>
                              </m:r>
                            </m:e>
                            <m:sub>
                              <m:r>
                                <a:rPr lang="en-US" altLang="zh-CN" sz="2000">
                                  <a:solidFill>
                                    <a:srgbClr val="0000FF"/>
                                  </a:solidFill>
                                  <a:latin typeface="Cambria Math" panose="02040503050406030204" pitchFamily="18" charset="0"/>
                                  <a:ea typeface="+mj-ea"/>
                                </a:rPr>
                                <m:t>𝑙</m:t>
                              </m:r>
                            </m:sub>
                          </m:sSub>
                          <m:r>
                            <a:rPr lang="en-US" altLang="zh-CN" sz="2000">
                              <a:solidFill>
                                <a:srgbClr val="0000FF"/>
                              </a:solidFill>
                              <a:latin typeface="Cambria Math" panose="02040503050406030204" pitchFamily="18" charset="0"/>
                              <a:ea typeface="+mj-ea"/>
                            </a:rPr>
                            <m:t>≠∅</m:t>
                          </m:r>
                        </m:sub>
                      </m:sSub>
                      <m:d>
                        <m:dPr>
                          <m:ctrlPr>
                            <a:rPr lang="zh-CN" altLang="zh-CN" sz="2000" i="1">
                              <a:solidFill>
                                <a:srgbClr val="0000FF"/>
                              </a:solidFill>
                              <a:latin typeface="Cambria Math" panose="02040503050406030204" pitchFamily="18" charset="0"/>
                              <a:ea typeface="+mj-ea"/>
                            </a:rPr>
                          </m:ctrlPr>
                        </m:dPr>
                        <m:e>
                          <m:r>
                            <a:rPr lang="en-US" altLang="zh-CN" sz="2000" b="0" i="1" smtClean="0">
                              <a:solidFill>
                                <a:srgbClr val="0000FF"/>
                              </a:solidFill>
                              <a:latin typeface="Cambria Math" panose="02040503050406030204" pitchFamily="18" charset="0"/>
                              <a:ea typeface="+mj-ea"/>
                            </a:rPr>
                            <m:t>𝐶</m:t>
                          </m:r>
                          <m:d>
                            <m:dPr>
                              <m:ctrlPr>
                                <a:rPr lang="zh-CN" altLang="zh-CN" sz="2000" i="1">
                                  <a:solidFill>
                                    <a:srgbClr val="0000FF"/>
                                  </a:solidFill>
                                  <a:latin typeface="Cambria Math" panose="02040503050406030204" pitchFamily="18" charset="0"/>
                                  <a:ea typeface="+mj-ea"/>
                                </a:rPr>
                              </m:ctrlPr>
                            </m:dPr>
                            <m:e>
                              <m:sSub>
                                <m:sSubPr>
                                  <m:ctrlPr>
                                    <a:rPr lang="zh-CN" altLang="zh-CN" sz="2000" i="1">
                                      <a:solidFill>
                                        <a:srgbClr val="0000FF"/>
                                      </a:solidFill>
                                      <a:latin typeface="Cambria Math" panose="02040503050406030204" pitchFamily="18" charset="0"/>
                                      <a:ea typeface="+mj-ea"/>
                                    </a:rPr>
                                  </m:ctrlPr>
                                </m:sSubPr>
                                <m:e>
                                  <m:r>
                                    <a:rPr lang="en-US" altLang="zh-CN" sz="2000">
                                      <a:solidFill>
                                        <a:srgbClr val="0000FF"/>
                                      </a:solidFill>
                                      <a:latin typeface="Cambria Math" panose="02040503050406030204" pitchFamily="18" charset="0"/>
                                      <a:ea typeface="+mj-ea"/>
                                    </a:rPr>
                                    <m:t>𝑆</m:t>
                                  </m:r>
                                </m:e>
                                <m:sub>
                                  <m:r>
                                    <a:rPr lang="en-US" altLang="zh-CN" sz="2000">
                                      <a:solidFill>
                                        <a:srgbClr val="0000FF"/>
                                      </a:solidFill>
                                      <a:latin typeface="Cambria Math" panose="02040503050406030204" pitchFamily="18" charset="0"/>
                                      <a:ea typeface="+mj-ea"/>
                                    </a:rPr>
                                    <m:t>𝑙</m:t>
                                  </m:r>
                                </m:sub>
                              </m:sSub>
                            </m:e>
                          </m:d>
                          <m:r>
                            <a:rPr lang="en-US" altLang="zh-CN" sz="2000">
                              <a:solidFill>
                                <a:srgbClr val="0000FF"/>
                              </a:solidFill>
                              <a:latin typeface="Cambria Math" panose="02040503050406030204" pitchFamily="18" charset="0"/>
                              <a:ea typeface="+mj-ea"/>
                            </a:rPr>
                            <m:t>+</m:t>
                          </m:r>
                          <m:r>
                            <a:rPr lang="en-US" altLang="zh-CN" sz="2000" b="0" i="1" smtClean="0">
                              <a:solidFill>
                                <a:srgbClr val="0000FF"/>
                              </a:solidFill>
                              <a:latin typeface="Cambria Math" panose="02040503050406030204" pitchFamily="18" charset="0"/>
                              <a:ea typeface="+mj-ea"/>
                            </a:rPr>
                            <m:t>𝐶</m:t>
                          </m:r>
                          <m:d>
                            <m:dPr>
                              <m:ctrlPr>
                                <a:rPr lang="zh-CN" altLang="zh-CN" sz="2000" i="1">
                                  <a:solidFill>
                                    <a:srgbClr val="0000FF"/>
                                  </a:solidFill>
                                  <a:latin typeface="Cambria Math" panose="02040503050406030204" pitchFamily="18" charset="0"/>
                                  <a:ea typeface="+mj-ea"/>
                                </a:rPr>
                              </m:ctrlPr>
                            </m:dPr>
                            <m:e>
                              <m:sSub>
                                <m:sSubPr>
                                  <m:ctrlPr>
                                    <a:rPr lang="zh-CN" altLang="zh-CN" sz="2000" i="1">
                                      <a:solidFill>
                                        <a:srgbClr val="0000FF"/>
                                      </a:solidFill>
                                      <a:latin typeface="Cambria Math" panose="02040503050406030204" pitchFamily="18" charset="0"/>
                                      <a:ea typeface="+mj-ea"/>
                                    </a:rPr>
                                  </m:ctrlPr>
                                </m:sSubPr>
                                <m:e>
                                  <m:r>
                                    <a:rPr lang="en-US" altLang="zh-CN" sz="2000">
                                      <a:solidFill>
                                        <a:srgbClr val="0000FF"/>
                                      </a:solidFill>
                                      <a:latin typeface="Cambria Math" panose="02040503050406030204" pitchFamily="18" charset="0"/>
                                      <a:ea typeface="+mj-ea"/>
                                    </a:rPr>
                                    <m:t>𝑆</m:t>
                                  </m:r>
                                </m:e>
                                <m:sub>
                                  <m:r>
                                    <a:rPr lang="en-US" altLang="zh-CN" sz="2000">
                                      <a:solidFill>
                                        <a:srgbClr val="0000FF"/>
                                      </a:solidFill>
                                      <a:latin typeface="Cambria Math" panose="02040503050406030204" pitchFamily="18" charset="0"/>
                                      <a:ea typeface="+mj-ea"/>
                                    </a:rPr>
                                    <m:t>𝑟</m:t>
                                  </m:r>
                                </m:sub>
                              </m:sSub>
                            </m:e>
                          </m:d>
                          <m:r>
                            <a:rPr lang="en-US" altLang="zh-CN" sz="2000" b="0" i="1" smtClean="0">
                              <a:solidFill>
                                <a:srgbClr val="0000FF"/>
                              </a:solidFill>
                              <a:latin typeface="Cambria Math" panose="02040503050406030204" pitchFamily="18" charset="0"/>
                              <a:ea typeface="+mj-ea"/>
                            </a:rPr>
                            <m:t>+</m:t>
                          </m:r>
                          <m:r>
                            <a:rPr lang="en-US" altLang="zh-CN" sz="2000" b="0" i="1" smtClean="0">
                              <a:solidFill>
                                <a:srgbClr val="0000FF"/>
                              </a:solidFill>
                              <a:latin typeface="Cambria Math" panose="02040503050406030204" pitchFamily="18" charset="0"/>
                              <a:ea typeface="+mj-ea"/>
                            </a:rPr>
                            <m:t>𝐶𝑜𝑠𝑡</m:t>
                          </m:r>
                          <m:r>
                            <a:rPr lang="en-US" altLang="zh-CN" sz="2000" b="0" i="1" smtClean="0">
                              <a:solidFill>
                                <a:srgbClr val="0000FF"/>
                              </a:solidFill>
                              <a:latin typeface="Cambria Math" panose="02040503050406030204" pitchFamily="18" charset="0"/>
                              <a:ea typeface="+mj-ea"/>
                            </a:rPr>
                            <m:t>(</m:t>
                          </m:r>
                          <m:sSub>
                            <m:sSubPr>
                              <m:ctrlPr>
                                <a:rPr lang="zh-CN" altLang="zh-CN" sz="2000" i="1">
                                  <a:solidFill>
                                    <a:srgbClr val="0000FF"/>
                                  </a:solidFill>
                                  <a:latin typeface="Cambria Math" panose="02040503050406030204" pitchFamily="18" charset="0"/>
                                </a:rPr>
                              </m:ctrlPr>
                            </m:sSubPr>
                            <m:e>
                              <m:r>
                                <a:rPr lang="en-US" altLang="zh-CN" sz="2000">
                                  <a:solidFill>
                                    <a:srgbClr val="0000FF"/>
                                  </a:solidFill>
                                  <a:latin typeface="Cambria Math" panose="02040503050406030204" pitchFamily="18" charset="0"/>
                                </a:rPr>
                                <m:t>𝑆</m:t>
                              </m:r>
                            </m:e>
                            <m:sub>
                              <m:r>
                                <a:rPr lang="en-US" altLang="zh-CN" sz="2000">
                                  <a:solidFill>
                                    <a:srgbClr val="0000FF"/>
                                  </a:solidFill>
                                  <a:latin typeface="Cambria Math" panose="02040503050406030204" pitchFamily="18" charset="0"/>
                                </a:rPr>
                                <m:t>𝑙</m:t>
                              </m:r>
                            </m:sub>
                          </m:sSub>
                          <m:r>
                            <a:rPr lang="en-US" altLang="zh-CN" sz="2000" b="0" i="1" smtClean="0">
                              <a:solidFill>
                                <a:srgbClr val="0000FF"/>
                              </a:solidFill>
                              <a:latin typeface="Cambria Math" panose="02040503050406030204" pitchFamily="18" charset="0"/>
                            </a:rPr>
                            <m:t>,</m:t>
                          </m:r>
                          <m:sSub>
                            <m:sSubPr>
                              <m:ctrlPr>
                                <a:rPr lang="zh-CN" altLang="zh-CN" sz="2000" i="1">
                                  <a:solidFill>
                                    <a:srgbClr val="0000FF"/>
                                  </a:solidFill>
                                  <a:latin typeface="Cambria Math" panose="02040503050406030204" pitchFamily="18" charset="0"/>
                                </a:rPr>
                              </m:ctrlPr>
                            </m:sSubPr>
                            <m:e>
                              <m:r>
                                <a:rPr lang="en-US" altLang="zh-CN" sz="2000">
                                  <a:solidFill>
                                    <a:srgbClr val="0000FF"/>
                                  </a:solidFill>
                                  <a:latin typeface="Cambria Math" panose="02040503050406030204" pitchFamily="18" charset="0"/>
                                </a:rPr>
                                <m:t>𝑆</m:t>
                              </m:r>
                            </m:e>
                            <m:sub>
                              <m:r>
                                <a:rPr lang="en-US" altLang="zh-CN" sz="2000" b="0" i="1" smtClean="0">
                                  <a:solidFill>
                                    <a:srgbClr val="0000FF"/>
                                  </a:solidFill>
                                  <a:latin typeface="Cambria Math" panose="02040503050406030204" pitchFamily="18" charset="0"/>
                                </a:rPr>
                                <m:t>𝑟</m:t>
                              </m:r>
                            </m:sub>
                          </m:sSub>
                          <m:r>
                            <a:rPr lang="en-US" altLang="zh-CN" sz="2000" b="0" i="1" smtClean="0">
                              <a:solidFill>
                                <a:srgbClr val="0000FF"/>
                              </a:solidFill>
                              <a:latin typeface="Cambria Math" panose="02040503050406030204" pitchFamily="18" charset="0"/>
                              <a:ea typeface="+mj-ea"/>
                            </a:rPr>
                            <m:t>)</m:t>
                          </m:r>
                        </m:e>
                      </m:d>
                    </m:oMath>
                  </m:oMathPara>
                </a14:m>
                <a:endParaRPr lang="en-US" altLang="zh-CN" sz="2000" dirty="0">
                  <a:solidFill>
                    <a:srgbClr val="0000FF"/>
                  </a:solidFill>
                  <a:latin typeface="+mj-ea"/>
                  <a:ea typeface="+mj-ea"/>
                </a:endParaRPr>
              </a:p>
              <a:p>
                <a:pPr lvl="2">
                  <a:buFont typeface="Arial" panose="020B0604020202020204" pitchFamily="34" charset="0"/>
                  <a:buChar char="•"/>
                </a:pPr>
                <a14:m>
                  <m:oMath xmlns:m="http://schemas.openxmlformats.org/officeDocument/2006/math">
                    <m:d>
                      <m:dPr>
                        <m:begChr m:val="|"/>
                        <m:endChr m:val="|"/>
                        <m:ctrlPr>
                          <a:rPr lang="en-US" altLang="zh-CN" sz="2000" b="0" i="1" smtClean="0">
                            <a:solidFill>
                              <a:schemeClr val="tx1"/>
                            </a:solidFill>
                            <a:latin typeface="Cambria Math" panose="02040503050406030204" pitchFamily="18" charset="0"/>
                            <a:ea typeface="+mj-ea"/>
                          </a:rPr>
                        </m:ctrlPr>
                      </m:dPr>
                      <m:e>
                        <m:r>
                          <a:rPr lang="en-US" altLang="zh-CN" sz="2000">
                            <a:solidFill>
                              <a:schemeClr val="tx1"/>
                            </a:solidFill>
                            <a:latin typeface="Cambria Math" panose="02040503050406030204" pitchFamily="18" charset="0"/>
                            <a:ea typeface="+mj-ea"/>
                          </a:rPr>
                          <m:t>𝑆</m:t>
                        </m:r>
                      </m:e>
                    </m:d>
                    <m:r>
                      <a:rPr lang="en-US" altLang="zh-CN" sz="2000" b="0" i="0" smtClean="0">
                        <a:solidFill>
                          <a:schemeClr val="tx1"/>
                        </a:solidFill>
                        <a:latin typeface="Cambria Math" panose="02040503050406030204" pitchFamily="18" charset="0"/>
                        <a:ea typeface="+mj-ea"/>
                      </a:rPr>
                      <m:t>=1</m:t>
                    </m:r>
                  </m:oMath>
                </a14:m>
                <a:r>
                  <a:rPr lang="en-US" altLang="zh-CN" sz="2000" dirty="0">
                    <a:latin typeface="+mj-ea"/>
                    <a:ea typeface="+mj-ea"/>
                  </a:rPr>
                  <a:t>:</a:t>
                </a:r>
              </a:p>
              <a:p>
                <a:pPr lvl="3">
                  <a:buFont typeface="Arial" panose="020B0604020202020204" pitchFamily="34" charset="0"/>
                  <a:buChar char="•"/>
                </a:pPr>
                <a14:m>
                  <m:oMath xmlns:m="http://schemas.openxmlformats.org/officeDocument/2006/math">
                    <m:r>
                      <a:rPr lang="en-US" altLang="zh-CN" sz="2000" smtClean="0">
                        <a:solidFill>
                          <a:srgbClr val="0000FF"/>
                        </a:solidFill>
                        <a:latin typeface="Cambria Math" panose="02040503050406030204" pitchFamily="18" charset="0"/>
                        <a:ea typeface="+mj-ea"/>
                      </a:rPr>
                      <m:t>𝐶</m:t>
                    </m:r>
                    <m:d>
                      <m:dPr>
                        <m:ctrlPr>
                          <a:rPr lang="zh-CN" altLang="zh-CN" sz="2000" i="1">
                            <a:solidFill>
                              <a:srgbClr val="0000FF"/>
                            </a:solidFill>
                            <a:latin typeface="Cambria Math" panose="02040503050406030204" pitchFamily="18" charset="0"/>
                            <a:ea typeface="+mj-ea"/>
                          </a:rPr>
                        </m:ctrlPr>
                      </m:dPr>
                      <m:e>
                        <m:r>
                          <a:rPr lang="en-US" altLang="zh-CN" sz="2000">
                            <a:solidFill>
                              <a:srgbClr val="0000FF"/>
                            </a:solidFill>
                            <a:latin typeface="Cambria Math" panose="02040503050406030204" pitchFamily="18" charset="0"/>
                            <a:ea typeface="+mj-ea"/>
                          </a:rPr>
                          <m:t>𝑆</m:t>
                        </m:r>
                      </m:e>
                    </m:d>
                    <m:r>
                      <a:rPr lang="en-US" altLang="zh-CN" sz="2000">
                        <a:solidFill>
                          <a:srgbClr val="0000FF"/>
                        </a:solidFill>
                        <a:latin typeface="Cambria Math" panose="02040503050406030204" pitchFamily="18" charset="0"/>
                        <a:ea typeface="+mj-ea"/>
                      </a:rPr>
                      <m:t>=</m:t>
                    </m:r>
                    <m:r>
                      <a:rPr lang="en-US" altLang="zh-CN" sz="2000" b="0" i="1" smtClean="0">
                        <a:solidFill>
                          <a:srgbClr val="0000FF"/>
                        </a:solidFill>
                        <a:latin typeface="Cambria Math" panose="02040503050406030204" pitchFamily="18" charset="0"/>
                        <a:ea typeface="+mj-ea"/>
                      </a:rPr>
                      <m:t>𝑇</m:t>
                    </m:r>
                    <m:r>
                      <a:rPr lang="en-US" altLang="zh-CN" sz="2000" b="0" i="1" smtClean="0">
                        <a:solidFill>
                          <a:srgbClr val="0000FF"/>
                        </a:solidFill>
                        <a:latin typeface="Cambria Math" panose="02040503050406030204" pitchFamily="18" charset="0"/>
                        <a:ea typeface="+mj-ea"/>
                      </a:rPr>
                      <m:t>(</m:t>
                    </m:r>
                    <m:r>
                      <a:rPr lang="en-US" altLang="zh-CN" sz="2000" b="0" i="1" smtClean="0">
                        <a:solidFill>
                          <a:srgbClr val="0000FF"/>
                        </a:solidFill>
                        <a:latin typeface="Cambria Math" panose="02040503050406030204" pitchFamily="18" charset="0"/>
                        <a:ea typeface="+mj-ea"/>
                      </a:rPr>
                      <m:t>𝑆</m:t>
                    </m:r>
                    <m:r>
                      <a:rPr lang="en-US" altLang="zh-CN" sz="2000" b="0" i="1" smtClean="0">
                        <a:solidFill>
                          <a:srgbClr val="0000FF"/>
                        </a:solidFill>
                        <a:latin typeface="Cambria Math" panose="02040503050406030204" pitchFamily="18" charset="0"/>
                        <a:ea typeface="+mj-ea"/>
                      </a:rPr>
                      <m:t>)</m:t>
                    </m:r>
                  </m:oMath>
                </a14:m>
                <a:endParaRPr lang="en-US" altLang="zh-CN" sz="2000" i="1" dirty="0">
                  <a:solidFill>
                    <a:srgbClr val="0000FF"/>
                  </a:solidFill>
                  <a:latin typeface="Cambria Math" panose="02040503050406030204" pitchFamily="18" charset="0"/>
                </a:endParaRPr>
              </a:p>
              <a:p>
                <a:pPr lvl="1">
                  <a:buFont typeface="Arial" panose="020B0604020202020204" pitchFamily="34" charset="0"/>
                  <a:buChar char="•"/>
                </a:pPr>
                <a14:m>
                  <m:oMath xmlns:m="http://schemas.openxmlformats.org/officeDocument/2006/math">
                    <m:r>
                      <a:rPr lang="en-US" altLang="zh-CN" sz="2000" b="0" i="1" smtClean="0">
                        <a:latin typeface="Cambria Math" panose="02040503050406030204" pitchFamily="18" charset="0"/>
                      </a:rPr>
                      <m:t>𝐶𝑜𝑠𝑡</m:t>
                    </m:r>
                    <m:d>
                      <m:dPr>
                        <m:ctrlPr>
                          <a:rPr lang="en-US"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𝑆</m:t>
                            </m:r>
                          </m:e>
                          <m:sub>
                            <m:r>
                              <a:rPr lang="en-US" altLang="zh-CN" sz="2000">
                                <a:latin typeface="Cambria Math" panose="02040503050406030204" pitchFamily="18" charset="0"/>
                              </a:rPr>
                              <m:t>𝑙</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𝑆</m:t>
                            </m:r>
                          </m:e>
                          <m:sub>
                            <m:r>
                              <a:rPr lang="en-US" altLang="zh-CN" sz="2000" i="1">
                                <a:latin typeface="Cambria Math" panose="02040503050406030204" pitchFamily="18" charset="0"/>
                              </a:rPr>
                              <m:t>𝑟</m:t>
                            </m:r>
                          </m:sub>
                        </m:sSub>
                      </m:e>
                    </m:d>
                    <m:r>
                      <a:rPr lang="en-US" altLang="zh-CN" sz="2000" b="0" i="1" smtClean="0">
                        <a:latin typeface="Cambria Math" panose="02040503050406030204" pitchFamily="18" charset="0"/>
                        <a:ea typeface="Cambria Math" panose="02040503050406030204" pitchFamily="18" charset="0"/>
                      </a:rPr>
                      <m:t>≈</m:t>
                    </m:r>
                    <m:r>
                      <a:rPr lang="zh-CN" altLang="en-US" sz="2000" b="0" i="1" smtClean="0">
                        <a:latin typeface="Cambria Math" panose="02040503050406030204" pitchFamily="18" charset="0"/>
                      </a:rPr>
                      <m:t> </m:t>
                    </m:r>
                    <m:r>
                      <a:rPr lang="en-US" altLang="zh-CN" sz="2000" i="1">
                        <a:latin typeface="Cambria Math" panose="02040503050406030204" pitchFamily="18" charset="0"/>
                      </a:rPr>
                      <m:t>𝑇</m:t>
                    </m:r>
                    <m:d>
                      <m:dPr>
                        <m:ctrlPr>
                          <a:rPr lang="zh-CN" altLang="zh-CN" sz="2000" i="1">
                            <a:latin typeface="Cambria Math" panose="02040503050406030204" pitchFamily="18" charset="0"/>
                          </a:rPr>
                        </m:ctrlPr>
                      </m:dPr>
                      <m:e>
                        <m:r>
                          <a:rPr lang="en-US" altLang="zh-CN" sz="2000">
                            <a:latin typeface="Cambria Math" panose="02040503050406030204" pitchFamily="18" charset="0"/>
                          </a:rPr>
                          <m:t>𝑆</m:t>
                        </m:r>
                      </m:e>
                    </m:d>
                  </m:oMath>
                </a14:m>
                <a:endParaRPr lang="en-US" altLang="zh-CN" sz="2000" dirty="0">
                  <a:latin typeface="+mj-ea"/>
                </a:endParaRPr>
              </a:p>
              <a:p>
                <a:pPr lvl="2">
                  <a:buFont typeface="Arial" panose="020B0604020202020204" pitchFamily="34" charset="0"/>
                  <a:buChar char="•"/>
                </a:pPr>
                <a:r>
                  <a:rPr lang="zh-CN" altLang="zh-CN" sz="2000" dirty="0">
                    <a:latin typeface="+mj-ea"/>
                  </a:rPr>
                  <a:t>按照</a:t>
                </a:r>
                <a:r>
                  <a:rPr lang="zh-CN" altLang="en-US" sz="2000" dirty="0">
                    <a:latin typeface="+mj-ea"/>
                  </a:rPr>
                  <a:t>连接运算的基数估计方法</a:t>
                </a:r>
                <a:r>
                  <a:rPr lang="zh-CN" altLang="zh-CN" sz="2000" dirty="0">
                    <a:latin typeface="+mj-ea"/>
                  </a:rPr>
                  <a:t>进行</a:t>
                </a:r>
                <a:r>
                  <a:rPr lang="zh-CN" altLang="en-US" sz="2000" dirty="0">
                    <a:latin typeface="+mj-ea"/>
                  </a:rPr>
                  <a:t>代价估算</a:t>
                </a:r>
                <a:endParaRPr lang="en-US" altLang="zh-CN" sz="2000" i="1" dirty="0">
                  <a:solidFill>
                    <a:schemeClr val="tx1"/>
                  </a:solidFill>
                  <a:latin typeface="Cambria Math" panose="02040503050406030204" pitchFamily="18" charset="0"/>
                  <a:ea typeface="+mj-ea"/>
                </a:endParaRPr>
              </a:p>
              <a:p>
                <a:pPr lvl="1">
                  <a:buFont typeface="Arial" panose="020B0604020202020204" pitchFamily="34" charset="0"/>
                  <a:buChar char="•"/>
                </a:pPr>
                <a14:m>
                  <m:oMath xmlns:m="http://schemas.openxmlformats.org/officeDocument/2006/math">
                    <m:r>
                      <m:rPr>
                        <m:sty m:val="p"/>
                      </m:rPr>
                      <a:rPr lang="en-US" altLang="zh-CN" sz="2000" i="1" dirty="0" smtClean="0">
                        <a:solidFill>
                          <a:schemeClr val="tx1"/>
                        </a:solidFill>
                        <a:latin typeface="Cambria Math" panose="02040503050406030204" pitchFamily="18" charset="0"/>
                        <a:ea typeface="+mj-ea"/>
                      </a:rPr>
                      <m:t>Seq</m:t>
                    </m:r>
                    <m:d>
                      <m:dPr>
                        <m:ctrlPr>
                          <a:rPr lang="zh-CN" altLang="zh-CN" sz="2000" i="1">
                            <a:solidFill>
                              <a:schemeClr val="tx1"/>
                            </a:solidFill>
                            <a:latin typeface="Cambria Math" panose="02040503050406030204" pitchFamily="18" charset="0"/>
                            <a:ea typeface="+mj-ea"/>
                          </a:rPr>
                        </m:ctrlPr>
                      </m:dPr>
                      <m:e>
                        <m:r>
                          <a:rPr lang="en-US" altLang="zh-CN" sz="2000">
                            <a:solidFill>
                              <a:schemeClr val="tx1"/>
                            </a:solidFill>
                            <a:latin typeface="Cambria Math" panose="02040503050406030204" pitchFamily="18" charset="0"/>
                            <a:ea typeface="+mj-ea"/>
                          </a:rPr>
                          <m:t>𝑆</m:t>
                        </m:r>
                      </m:e>
                    </m:d>
                  </m:oMath>
                </a14:m>
                <a:r>
                  <a:rPr lang="zh-CN" altLang="en-US" sz="2000" dirty="0">
                    <a:solidFill>
                      <a:srgbClr val="743481"/>
                    </a:solidFill>
                    <a:latin typeface="+mj-ea"/>
                    <a:ea typeface="+mj-ea"/>
                  </a:rPr>
                  <a:t>：连接的顺序</a:t>
                </a:r>
                <a:endParaRPr lang="zh-CN" altLang="zh-CN" sz="2000" dirty="0">
                  <a:solidFill>
                    <a:srgbClr val="743481"/>
                  </a:solidFill>
                  <a:latin typeface="+mj-ea"/>
                  <a:ea typeface="+mj-ea"/>
                </a:endParaRPr>
              </a:p>
              <a:p>
                <a:pPr lvl="2">
                  <a:buFont typeface="Arial" panose="020B0604020202020204" pitchFamily="34" charset="0"/>
                  <a:buChar char="•"/>
                </a:pPr>
                <a:r>
                  <a:rPr lang="zh-CN" altLang="zh-CN" sz="2000" dirty="0">
                    <a:latin typeface="+mj-ea"/>
                    <a:ea typeface="+mj-ea"/>
                  </a:rPr>
                  <a:t>确定了使</a:t>
                </a:r>
                <a14:m>
                  <m:oMath xmlns:m="http://schemas.openxmlformats.org/officeDocument/2006/math">
                    <m:r>
                      <a:rPr lang="en-US" altLang="zh-CN" sz="2000">
                        <a:latin typeface="Cambria Math" panose="02040503050406030204" pitchFamily="18" charset="0"/>
                        <a:ea typeface="+mj-ea"/>
                      </a:rPr>
                      <m:t>𝐶</m:t>
                    </m:r>
                    <m:d>
                      <m:dPr>
                        <m:ctrlPr>
                          <a:rPr lang="zh-CN" altLang="zh-CN" sz="2000" i="1">
                            <a:latin typeface="Cambria Math" panose="02040503050406030204" pitchFamily="18" charset="0"/>
                            <a:ea typeface="+mj-ea"/>
                          </a:rPr>
                        </m:ctrlPr>
                      </m:dPr>
                      <m:e>
                        <m:r>
                          <a:rPr lang="en-US" altLang="zh-CN" sz="2000">
                            <a:latin typeface="Cambria Math" panose="02040503050406030204" pitchFamily="18" charset="0"/>
                            <a:ea typeface="+mj-ea"/>
                          </a:rPr>
                          <m:t>𝑆</m:t>
                        </m:r>
                      </m:e>
                    </m:d>
                  </m:oMath>
                </a14:m>
                <a:r>
                  <a:rPr lang="zh-CN" altLang="zh-CN" sz="2000" dirty="0">
                    <a:latin typeface="+mj-ea"/>
                    <a:ea typeface="+mj-ea"/>
                  </a:rPr>
                  <a:t>最小的</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𝑆</m:t>
                        </m:r>
                      </m:e>
                      <m:sub>
                        <m:r>
                          <a:rPr lang="en-US" altLang="zh-CN" sz="2000">
                            <a:latin typeface="Cambria Math" panose="02040503050406030204" pitchFamily="18" charset="0"/>
                          </a:rPr>
                          <m:t>𝑙</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𝑆</m:t>
                        </m:r>
                      </m:e>
                      <m:sub>
                        <m:r>
                          <a:rPr lang="en-US" altLang="zh-CN" sz="2000" i="1">
                            <a:latin typeface="Cambria Math" panose="02040503050406030204" pitchFamily="18" charset="0"/>
                          </a:rPr>
                          <m:t>𝑟</m:t>
                        </m:r>
                      </m:sub>
                    </m:sSub>
                  </m:oMath>
                </a14:m>
                <a:r>
                  <a:rPr lang="zh-CN" altLang="zh-CN" sz="2000" dirty="0">
                    <a:latin typeface="+mj-ea"/>
                    <a:ea typeface="+mj-ea"/>
                  </a:rPr>
                  <a:t>后</a:t>
                </a:r>
                <a:r>
                  <a:rPr lang="zh-CN" altLang="en-US" sz="2000" dirty="0">
                    <a:latin typeface="+mj-ea"/>
                    <a:ea typeface="+mj-ea"/>
                  </a:rPr>
                  <a:t>可以得到最优连接顺序</a:t>
                </a:r>
                <a:endParaRPr lang="zh-CN" altLang="zh-CN" sz="2000" dirty="0">
                  <a:latin typeface="+mj-ea"/>
                  <a:ea typeface="+mj-ea"/>
                </a:endParaRPr>
              </a:p>
              <a:p>
                <a:pPr lvl="2">
                  <a:buFont typeface="Arial" panose="020B0604020202020204" pitchFamily="34" charset="0"/>
                  <a:buChar char="•"/>
                </a:pPr>
                <a14:m>
                  <m:oMath xmlns:m="http://schemas.openxmlformats.org/officeDocument/2006/math">
                    <m:r>
                      <m:rPr>
                        <m:sty m:val="p"/>
                      </m:rPr>
                      <a:rPr lang="en-US" altLang="zh-CN" sz="2000" smtClean="0">
                        <a:solidFill>
                          <a:srgbClr val="0000FF"/>
                        </a:solidFill>
                        <a:latin typeface="Cambria Math" panose="02040503050406030204" pitchFamily="18" charset="0"/>
                        <a:ea typeface="+mj-ea"/>
                      </a:rPr>
                      <m:t>Seq</m:t>
                    </m:r>
                    <m:d>
                      <m:dPr>
                        <m:ctrlPr>
                          <a:rPr lang="zh-CN" altLang="zh-CN" sz="2000" i="1">
                            <a:solidFill>
                              <a:srgbClr val="0000FF"/>
                            </a:solidFill>
                            <a:latin typeface="Cambria Math" panose="02040503050406030204" pitchFamily="18" charset="0"/>
                            <a:ea typeface="+mj-ea"/>
                          </a:rPr>
                        </m:ctrlPr>
                      </m:dPr>
                      <m:e>
                        <m:r>
                          <a:rPr lang="en-US" altLang="zh-CN" sz="2000">
                            <a:solidFill>
                              <a:srgbClr val="0000FF"/>
                            </a:solidFill>
                            <a:latin typeface="Cambria Math" panose="02040503050406030204" pitchFamily="18" charset="0"/>
                            <a:ea typeface="+mj-ea"/>
                          </a:rPr>
                          <m:t>𝑆</m:t>
                        </m:r>
                      </m:e>
                    </m:d>
                    <m:r>
                      <a:rPr lang="en-US" altLang="zh-CN" sz="2000">
                        <a:solidFill>
                          <a:srgbClr val="0000FF"/>
                        </a:solidFill>
                        <a:latin typeface="Cambria Math" panose="02040503050406030204" pitchFamily="18" charset="0"/>
                        <a:ea typeface="+mj-ea"/>
                      </a:rPr>
                      <m:t>=</m:t>
                    </m:r>
                    <m:r>
                      <m:rPr>
                        <m:sty m:val="p"/>
                      </m:rPr>
                      <a:rPr lang="en-US" altLang="zh-CN" sz="2000">
                        <a:solidFill>
                          <a:srgbClr val="0000FF"/>
                        </a:solidFill>
                        <a:latin typeface="Cambria Math" panose="02040503050406030204" pitchFamily="18" charset="0"/>
                        <a:ea typeface="+mj-ea"/>
                      </a:rPr>
                      <m:t>Seq</m:t>
                    </m:r>
                    <m:d>
                      <m:dPr>
                        <m:ctrlPr>
                          <a:rPr lang="zh-CN" altLang="zh-CN" sz="2000" i="1">
                            <a:solidFill>
                              <a:srgbClr val="0000FF"/>
                            </a:solidFill>
                            <a:latin typeface="Cambria Math" panose="02040503050406030204" pitchFamily="18" charset="0"/>
                            <a:ea typeface="+mj-ea"/>
                          </a:rPr>
                        </m:ctrlPr>
                      </m:dPr>
                      <m:e>
                        <m:sSub>
                          <m:sSubPr>
                            <m:ctrlPr>
                              <a:rPr lang="zh-CN" altLang="zh-CN" sz="2000" i="1">
                                <a:solidFill>
                                  <a:srgbClr val="0000FF"/>
                                </a:solidFill>
                                <a:latin typeface="Cambria Math" panose="02040503050406030204" pitchFamily="18" charset="0"/>
                                <a:ea typeface="+mj-ea"/>
                              </a:rPr>
                            </m:ctrlPr>
                          </m:sSubPr>
                          <m:e>
                            <m:r>
                              <a:rPr lang="en-US" altLang="zh-CN" sz="2000">
                                <a:solidFill>
                                  <a:srgbClr val="0000FF"/>
                                </a:solidFill>
                                <a:latin typeface="Cambria Math" panose="02040503050406030204" pitchFamily="18" charset="0"/>
                                <a:ea typeface="+mj-ea"/>
                              </a:rPr>
                              <m:t>𝑆</m:t>
                            </m:r>
                          </m:e>
                          <m:sub>
                            <m:r>
                              <a:rPr lang="en-US" altLang="zh-CN" sz="2000">
                                <a:solidFill>
                                  <a:srgbClr val="0000FF"/>
                                </a:solidFill>
                                <a:latin typeface="Cambria Math" panose="02040503050406030204" pitchFamily="18" charset="0"/>
                                <a:ea typeface="+mj-ea"/>
                              </a:rPr>
                              <m:t>𝑙</m:t>
                            </m:r>
                          </m:sub>
                        </m:sSub>
                      </m:e>
                    </m:d>
                    <m:sSub>
                      <m:sSubPr>
                        <m:ctrlPr>
                          <a:rPr lang="zh-CN" altLang="zh-CN" sz="2000" i="1">
                            <a:solidFill>
                              <a:srgbClr val="0000FF"/>
                            </a:solidFill>
                            <a:latin typeface="Cambria Math" panose="02040503050406030204" pitchFamily="18" charset="0"/>
                            <a:ea typeface="+mj-ea"/>
                          </a:rPr>
                        </m:ctrlPr>
                      </m:sSubPr>
                      <m:e>
                        <m:r>
                          <a:rPr lang="en-US" altLang="zh-CN" sz="2000">
                            <a:solidFill>
                              <a:srgbClr val="0000FF"/>
                            </a:solidFill>
                            <a:latin typeface="Cambria Math" panose="02040503050406030204" pitchFamily="18" charset="0"/>
                            <a:ea typeface="+mj-ea"/>
                          </a:rPr>
                          <m:t>⋈</m:t>
                        </m:r>
                        <m:r>
                          <m:rPr>
                            <m:sty m:val="p"/>
                          </m:rPr>
                          <a:rPr lang="en-US" altLang="zh-CN" sz="2000">
                            <a:solidFill>
                              <a:srgbClr val="0000FF"/>
                            </a:solidFill>
                            <a:latin typeface="Cambria Math" panose="02040503050406030204" pitchFamily="18" charset="0"/>
                            <a:ea typeface="+mj-ea"/>
                          </a:rPr>
                          <m:t>Seq</m:t>
                        </m:r>
                        <m:r>
                          <a:rPr lang="en-US" altLang="zh-CN" sz="2000">
                            <a:solidFill>
                              <a:srgbClr val="0000FF"/>
                            </a:solidFill>
                            <a:latin typeface="Cambria Math" panose="02040503050406030204" pitchFamily="18" charset="0"/>
                            <a:ea typeface="+mj-ea"/>
                          </a:rPr>
                          <m:t>(</m:t>
                        </m:r>
                        <m:r>
                          <a:rPr lang="en-US" altLang="zh-CN" sz="2000">
                            <a:solidFill>
                              <a:srgbClr val="0000FF"/>
                            </a:solidFill>
                            <a:latin typeface="Cambria Math" panose="02040503050406030204" pitchFamily="18" charset="0"/>
                            <a:ea typeface="+mj-ea"/>
                          </a:rPr>
                          <m:t>𝑆</m:t>
                        </m:r>
                      </m:e>
                      <m:sub>
                        <m:r>
                          <a:rPr lang="en-US" altLang="zh-CN" sz="2000">
                            <a:solidFill>
                              <a:srgbClr val="0000FF"/>
                            </a:solidFill>
                            <a:latin typeface="Cambria Math" panose="02040503050406030204" pitchFamily="18" charset="0"/>
                            <a:ea typeface="+mj-ea"/>
                          </a:rPr>
                          <m:t>𝑟</m:t>
                        </m:r>
                      </m:sub>
                    </m:sSub>
                    <m:r>
                      <a:rPr lang="en-US" altLang="zh-CN" sz="2000">
                        <a:solidFill>
                          <a:srgbClr val="0000FF"/>
                        </a:solidFill>
                        <a:latin typeface="Cambria Math" panose="02040503050406030204" pitchFamily="18" charset="0"/>
                        <a:ea typeface="+mj-ea"/>
                      </a:rPr>
                      <m:t>)</m:t>
                    </m:r>
                  </m:oMath>
                </a14:m>
                <a:endParaRPr lang="en-US" altLang="zh-CN" sz="2000" dirty="0">
                  <a:solidFill>
                    <a:srgbClr val="0000FF"/>
                  </a:solidFill>
                  <a:latin typeface="+mj-ea"/>
                  <a:ea typeface="+mj-ea"/>
                </a:endParaRPr>
              </a:p>
              <a:p>
                <a:pPr lvl="1">
                  <a:buFont typeface="Arial" panose="020B0604020202020204" pitchFamily="34" charset="0"/>
                  <a:buChar char="•"/>
                </a:pPr>
                <a:endParaRPr lang="zh-CN" altLang="zh-CN" sz="2000" dirty="0">
                  <a:latin typeface="+mj-ea"/>
                  <a:ea typeface="+mj-ea"/>
                </a:endParaRPr>
              </a:p>
              <a:p>
                <a:pPr lvl="1">
                  <a:buFont typeface="Wingdings" pitchFamily="2" charset="2"/>
                  <a:buChar char="Ø"/>
                </a:pPr>
                <a:endParaRPr lang="en-US" altLang="zh-CN" sz="2400" dirty="0">
                  <a:latin typeface="+mj-ea"/>
                  <a:ea typeface="+mj-ea"/>
                </a:endParaRPr>
              </a:p>
              <a:p>
                <a:pPr marL="422041" lvl="1" indent="0">
                  <a:buNone/>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523906" y="1144758"/>
                <a:ext cx="9749140" cy="4876801"/>
              </a:xfrm>
              <a:prstGeom prst="rect">
                <a:avLst/>
              </a:prstGeom>
              <a:blipFill>
                <a:blip r:embed="rId3"/>
                <a:stretch>
                  <a:fillRect l="-911" t="-1039" b="-519"/>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矩形标注 4">
            <a:extLst>
              <a:ext uri="{FF2B5EF4-FFF2-40B4-BE49-F238E27FC236}">
                <a16:creationId xmlns:a16="http://schemas.microsoft.com/office/drawing/2014/main" id="{1DF2FFE7-E493-5F6B-8751-E014E4DC2F1A}"/>
              </a:ext>
            </a:extLst>
          </p:cNvPr>
          <p:cNvSpPr/>
          <p:nvPr/>
        </p:nvSpPr>
        <p:spPr bwMode="auto">
          <a:xfrm>
            <a:off x="6723529" y="3583158"/>
            <a:ext cx="5174429" cy="956569"/>
          </a:xfrm>
          <a:prstGeom prst="wedgeRectCallout">
            <a:avLst>
              <a:gd name="adj1" fmla="val -50214"/>
              <a:gd name="adj2" fmla="val -58992"/>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276307E-26E9-4753-903E-9582DA9C3E07}"/>
                  </a:ext>
                </a:extLst>
              </p:cNvPr>
              <p:cNvSpPr txBox="1"/>
              <p:nvPr/>
            </p:nvSpPr>
            <p:spPr>
              <a:xfrm>
                <a:off x="6016998" y="3751277"/>
                <a:ext cx="6169510" cy="646331"/>
              </a:xfrm>
              <a:prstGeom prst="rect">
                <a:avLst/>
              </a:prstGeom>
              <a:noFill/>
            </p:spPr>
            <p:txBody>
              <a:bodyPr wrap="square">
                <a:spAutoFit/>
              </a:bodyPr>
              <a:lstStyle/>
              <a:p>
                <a:pPr marL="844082" lvl="2" indent="0">
                  <a:buNone/>
                </a:pPr>
                <a:r>
                  <a:rPr lang="zh-CN" altLang="en-US" sz="1800" dirty="0">
                    <a:solidFill>
                      <a:srgbClr val="0000FF"/>
                    </a:solidFill>
                    <a:latin typeface="Cambria Math" panose="02040503050406030204" pitchFamily="18" charset="0"/>
                    <a:ea typeface="+mj-ea"/>
                  </a:rPr>
                  <a:t>左深树：枚举每个表</a:t>
                </a:r>
                <a:r>
                  <a:rPr lang="en-US" altLang="zh-CN" sz="1800" dirty="0">
                    <a:solidFill>
                      <a:srgbClr val="0000FF"/>
                    </a:solidFill>
                    <a:latin typeface="Cambria Math" panose="02040503050406030204" pitchFamily="18" charset="0"/>
                    <a:ea typeface="+mj-ea"/>
                  </a:rPr>
                  <a:t>A</a:t>
                </a:r>
              </a:p>
              <a:p>
                <a:pPr marL="844082" lvl="2" indent="0">
                  <a:buNone/>
                </a:pPr>
                <a14:m>
                  <m:oMathPara xmlns:m="http://schemas.openxmlformats.org/officeDocument/2006/math">
                    <m:oMathParaPr>
                      <m:jc m:val="centerGroup"/>
                    </m:oMathParaPr>
                    <m:oMath xmlns:m="http://schemas.openxmlformats.org/officeDocument/2006/math">
                      <m:r>
                        <a:rPr lang="en-US" altLang="zh-CN" sz="1800" smtClean="0">
                          <a:solidFill>
                            <a:srgbClr val="0000FF"/>
                          </a:solidFill>
                          <a:latin typeface="Cambria Math" panose="02040503050406030204" pitchFamily="18" charset="0"/>
                          <a:ea typeface="+mj-ea"/>
                        </a:rPr>
                        <m:t>𝐶</m:t>
                      </m:r>
                      <m:d>
                        <m:dPr>
                          <m:ctrlPr>
                            <a:rPr lang="zh-CN" altLang="zh-CN" sz="1800" i="1">
                              <a:solidFill>
                                <a:srgbClr val="0000FF"/>
                              </a:solidFill>
                              <a:latin typeface="Cambria Math" panose="02040503050406030204" pitchFamily="18" charset="0"/>
                              <a:ea typeface="+mj-ea"/>
                            </a:rPr>
                          </m:ctrlPr>
                        </m:dPr>
                        <m:e>
                          <m:r>
                            <a:rPr lang="en-US" altLang="zh-CN" sz="1800">
                              <a:solidFill>
                                <a:srgbClr val="0000FF"/>
                              </a:solidFill>
                              <a:latin typeface="Cambria Math" panose="02040503050406030204" pitchFamily="18" charset="0"/>
                              <a:ea typeface="+mj-ea"/>
                            </a:rPr>
                            <m:t>𝑆</m:t>
                          </m:r>
                        </m:e>
                      </m:d>
                      <m:r>
                        <a:rPr lang="en-US" altLang="zh-CN" sz="1800">
                          <a:solidFill>
                            <a:srgbClr val="0000FF"/>
                          </a:solidFill>
                          <a:latin typeface="Cambria Math" panose="02040503050406030204" pitchFamily="18" charset="0"/>
                          <a:ea typeface="+mj-ea"/>
                        </a:rPr>
                        <m:t>=</m:t>
                      </m:r>
                      <m:r>
                        <m:rPr>
                          <m:sty m:val="p"/>
                        </m:rPr>
                        <a:rPr lang="en-US" altLang="zh-CN" i="1">
                          <a:solidFill>
                            <a:srgbClr val="0000FF"/>
                          </a:solidFill>
                          <a:latin typeface="Cambria Math" panose="02040503050406030204" pitchFamily="18" charset="0"/>
                          <a:ea typeface="+mj-ea"/>
                        </a:rPr>
                        <m:t>min</m:t>
                      </m:r>
                      <m:d>
                        <m:dPr>
                          <m:ctrlPr>
                            <a:rPr lang="zh-CN" altLang="zh-CN" sz="1800" i="1">
                              <a:solidFill>
                                <a:srgbClr val="0000FF"/>
                              </a:solidFill>
                              <a:latin typeface="Cambria Math" panose="02040503050406030204" pitchFamily="18" charset="0"/>
                              <a:ea typeface="+mj-ea"/>
                            </a:rPr>
                          </m:ctrlPr>
                        </m:dPr>
                        <m:e>
                          <m:r>
                            <a:rPr lang="en-US" altLang="zh-CN" sz="1800" b="0" i="1" smtClean="0">
                              <a:solidFill>
                                <a:srgbClr val="0000FF"/>
                              </a:solidFill>
                              <a:latin typeface="Cambria Math" panose="02040503050406030204" pitchFamily="18" charset="0"/>
                              <a:ea typeface="+mj-ea"/>
                            </a:rPr>
                            <m:t>𝐶</m:t>
                          </m:r>
                          <m:d>
                            <m:dPr>
                              <m:ctrlPr>
                                <a:rPr lang="zh-CN" altLang="zh-CN" sz="1800" i="1">
                                  <a:solidFill>
                                    <a:srgbClr val="0000FF"/>
                                  </a:solidFill>
                                  <a:latin typeface="Cambria Math" panose="02040503050406030204" pitchFamily="18" charset="0"/>
                                  <a:ea typeface="+mj-ea"/>
                                </a:rPr>
                              </m:ctrlPr>
                            </m:dPr>
                            <m:e>
                              <m:r>
                                <a:rPr lang="en-US" altLang="zh-CN" sz="1800" b="0" i="1" smtClean="0">
                                  <a:solidFill>
                                    <a:srgbClr val="0000FF"/>
                                  </a:solidFill>
                                  <a:latin typeface="Cambria Math" panose="02040503050406030204" pitchFamily="18" charset="0"/>
                                  <a:ea typeface="+mj-ea"/>
                                </a:rPr>
                                <m:t>𝐴</m:t>
                              </m:r>
                            </m:e>
                          </m:d>
                          <m:r>
                            <a:rPr lang="en-US" altLang="zh-CN" sz="1800">
                              <a:solidFill>
                                <a:srgbClr val="0000FF"/>
                              </a:solidFill>
                              <a:latin typeface="Cambria Math" panose="02040503050406030204" pitchFamily="18" charset="0"/>
                              <a:ea typeface="+mj-ea"/>
                            </a:rPr>
                            <m:t>+</m:t>
                          </m:r>
                          <m:r>
                            <a:rPr lang="en-US" altLang="zh-CN" sz="1800" b="0" i="1" smtClean="0">
                              <a:solidFill>
                                <a:srgbClr val="0000FF"/>
                              </a:solidFill>
                              <a:latin typeface="Cambria Math" panose="02040503050406030204" pitchFamily="18" charset="0"/>
                              <a:ea typeface="+mj-ea"/>
                            </a:rPr>
                            <m:t>𝐶</m:t>
                          </m:r>
                          <m:d>
                            <m:dPr>
                              <m:ctrlPr>
                                <a:rPr lang="zh-CN" altLang="zh-CN" sz="1800" i="1">
                                  <a:solidFill>
                                    <a:srgbClr val="0000FF"/>
                                  </a:solidFill>
                                  <a:latin typeface="Cambria Math" panose="02040503050406030204" pitchFamily="18" charset="0"/>
                                  <a:ea typeface="+mj-ea"/>
                                </a:rPr>
                              </m:ctrlPr>
                            </m:dPr>
                            <m:e>
                              <m:r>
                                <a:rPr lang="en-US" altLang="zh-CN" sz="1800" b="0" i="1" smtClean="0">
                                  <a:solidFill>
                                    <a:srgbClr val="0000FF"/>
                                  </a:solidFill>
                                  <a:latin typeface="Cambria Math" panose="02040503050406030204" pitchFamily="18" charset="0"/>
                                  <a:ea typeface="+mj-ea"/>
                                </a:rPr>
                                <m:t>𝑆</m:t>
                              </m:r>
                              <m:r>
                                <a:rPr lang="en-US" altLang="zh-CN" sz="1800" b="0" i="1" smtClean="0">
                                  <a:solidFill>
                                    <a:srgbClr val="0000FF"/>
                                  </a:solidFill>
                                  <a:latin typeface="Cambria Math" panose="02040503050406030204" pitchFamily="18" charset="0"/>
                                  <a:ea typeface="+mj-ea"/>
                                </a:rPr>
                                <m:t>−</m:t>
                              </m:r>
                              <m:r>
                                <a:rPr lang="en-US" altLang="zh-CN" sz="1800" b="0" i="1" smtClean="0">
                                  <a:solidFill>
                                    <a:srgbClr val="0000FF"/>
                                  </a:solidFill>
                                  <a:latin typeface="Cambria Math" panose="02040503050406030204" pitchFamily="18" charset="0"/>
                                  <a:ea typeface="+mj-ea"/>
                                </a:rPr>
                                <m:t>𝐴</m:t>
                              </m:r>
                            </m:e>
                          </m:d>
                          <m:r>
                            <a:rPr lang="en-US" altLang="zh-CN" sz="1800" b="0" i="1" smtClean="0">
                              <a:solidFill>
                                <a:srgbClr val="0000FF"/>
                              </a:solidFill>
                              <a:latin typeface="Cambria Math" panose="02040503050406030204" pitchFamily="18" charset="0"/>
                              <a:ea typeface="+mj-ea"/>
                            </a:rPr>
                            <m:t>+</m:t>
                          </m:r>
                          <m:r>
                            <a:rPr lang="en-US" altLang="zh-CN" sz="1800" b="0" i="1" smtClean="0">
                              <a:solidFill>
                                <a:srgbClr val="0000FF"/>
                              </a:solidFill>
                              <a:latin typeface="Cambria Math" panose="02040503050406030204" pitchFamily="18" charset="0"/>
                              <a:ea typeface="+mj-ea"/>
                            </a:rPr>
                            <m:t>𝐶𝑜𝑠𝑡</m:t>
                          </m:r>
                          <m:r>
                            <a:rPr lang="en-US" altLang="zh-CN" sz="1800" b="0" i="1" smtClean="0">
                              <a:solidFill>
                                <a:srgbClr val="0000FF"/>
                              </a:solidFill>
                              <a:latin typeface="Cambria Math" panose="02040503050406030204" pitchFamily="18" charset="0"/>
                              <a:ea typeface="+mj-ea"/>
                            </a:rPr>
                            <m:t>(</m:t>
                          </m:r>
                          <m:r>
                            <a:rPr lang="en-US" altLang="zh-CN" sz="1800" b="0" i="1" smtClean="0">
                              <a:solidFill>
                                <a:srgbClr val="0000FF"/>
                              </a:solidFill>
                              <a:latin typeface="Cambria Math" panose="02040503050406030204" pitchFamily="18" charset="0"/>
                            </a:rPr>
                            <m:t>𝑆</m:t>
                          </m:r>
                          <m:r>
                            <a:rPr lang="en-US" altLang="zh-CN" sz="1800" b="0" i="1" smtClean="0">
                              <a:solidFill>
                                <a:srgbClr val="0000FF"/>
                              </a:solidFill>
                              <a:latin typeface="Cambria Math" panose="02040503050406030204" pitchFamily="18" charset="0"/>
                            </a:rPr>
                            <m:t>−</m:t>
                          </m:r>
                          <m:r>
                            <a:rPr lang="en-US" altLang="zh-CN" sz="1800" b="0" i="1" smtClean="0">
                              <a:solidFill>
                                <a:srgbClr val="0000FF"/>
                              </a:solidFill>
                              <a:latin typeface="Cambria Math" panose="02040503050406030204" pitchFamily="18" charset="0"/>
                            </a:rPr>
                            <m:t>𝐴</m:t>
                          </m:r>
                          <m:r>
                            <a:rPr lang="en-US" altLang="zh-CN" sz="1800" b="0" i="1" smtClean="0">
                              <a:solidFill>
                                <a:srgbClr val="0000FF"/>
                              </a:solidFill>
                              <a:latin typeface="Cambria Math" panose="02040503050406030204" pitchFamily="18" charset="0"/>
                            </a:rPr>
                            <m:t>,</m:t>
                          </m:r>
                          <m:r>
                            <a:rPr lang="en-US" altLang="zh-CN" sz="1800" b="0" i="1" smtClean="0">
                              <a:solidFill>
                                <a:srgbClr val="0000FF"/>
                              </a:solidFill>
                              <a:latin typeface="Cambria Math" panose="02040503050406030204" pitchFamily="18" charset="0"/>
                            </a:rPr>
                            <m:t>𝐴</m:t>
                          </m:r>
                          <m:r>
                            <a:rPr lang="en-US" altLang="zh-CN" sz="1800" b="0" i="1" smtClean="0">
                              <a:solidFill>
                                <a:srgbClr val="0000FF"/>
                              </a:solidFill>
                              <a:latin typeface="Cambria Math" panose="02040503050406030204" pitchFamily="18" charset="0"/>
                              <a:ea typeface="+mj-ea"/>
                            </a:rPr>
                            <m:t>)</m:t>
                          </m:r>
                        </m:e>
                      </m:d>
                    </m:oMath>
                  </m:oMathPara>
                </a14:m>
                <a:endParaRPr lang="en-US" altLang="zh-CN" sz="1800" dirty="0">
                  <a:solidFill>
                    <a:srgbClr val="0000FF"/>
                  </a:solidFill>
                  <a:latin typeface="+mj-ea"/>
                  <a:ea typeface="+mj-ea"/>
                </a:endParaRPr>
              </a:p>
            </p:txBody>
          </p:sp>
        </mc:Choice>
        <mc:Fallback xmlns="">
          <p:sp>
            <p:nvSpPr>
              <p:cNvPr id="8" name="文本框 7">
                <a:extLst>
                  <a:ext uri="{FF2B5EF4-FFF2-40B4-BE49-F238E27FC236}">
                    <a16:creationId xmlns:a16="http://schemas.microsoft.com/office/drawing/2014/main" id="{B276307E-26E9-4753-903E-9582DA9C3E07}"/>
                  </a:ext>
                </a:extLst>
              </p:cNvPr>
              <p:cNvSpPr txBox="1">
                <a:spLocks noRot="1" noChangeAspect="1" noMove="1" noResize="1" noEditPoints="1" noAdjustHandles="1" noChangeArrowheads="1" noChangeShapeType="1" noTextEdit="1"/>
              </p:cNvSpPr>
              <p:nvPr/>
            </p:nvSpPr>
            <p:spPr>
              <a:xfrm>
                <a:off x="6016998" y="3751277"/>
                <a:ext cx="6169510" cy="646331"/>
              </a:xfrm>
              <a:prstGeom prst="rect">
                <a:avLst/>
              </a:prstGeom>
              <a:blipFill>
                <a:blip r:embed="rId4"/>
                <a:stretch>
                  <a:fillRect t="-3846" b="-76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553575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1701215" y="3547507"/>
            <a:ext cx="8782491" cy="284943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7" name="灯片编号占位符 6">
            <a:extLst>
              <a:ext uri="{FF2B5EF4-FFF2-40B4-BE49-F238E27FC236}">
                <a16:creationId xmlns:a16="http://schemas.microsoft.com/office/drawing/2014/main" id="{EB2CE2C5-1614-5571-A2C9-234FE2150A7C}"/>
              </a:ext>
            </a:extLst>
          </p:cNvPr>
          <p:cNvSpPr>
            <a:spLocks noGrp="1"/>
          </p:cNvSpPr>
          <p:nvPr>
            <p:ph type="sldNum" sz="quarter" idx="10"/>
          </p:nvPr>
        </p:nvSpPr>
        <p:spPr/>
        <p:txBody>
          <a:bodyPr/>
          <a:lstStyle/>
          <a:p>
            <a:fld id="{87BBDC00-B9E2-4EFD-9306-2934E87247C6}" type="slidenum">
              <a:rPr lang="zh-CN" altLang="en-US" smtClean="0"/>
              <a:pPr/>
              <a:t>105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动态规划算法示例</a:t>
            </a:r>
          </a:p>
        </p:txBody>
      </p:sp>
      <p:sp>
        <p:nvSpPr>
          <p:cNvPr id="4" name="页脚占位符 3">
            <a:extLst>
              <a:ext uri="{FF2B5EF4-FFF2-40B4-BE49-F238E27FC236}">
                <a16:creationId xmlns:a16="http://schemas.microsoft.com/office/drawing/2014/main" id="{C5EB4CA7-81A2-D30B-A523-F19F76E8DD0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1"/>
                <a:ext cx="11456894" cy="301989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zh-CN" sz="2400" b="1" kern="0" dirty="0">
                    <a:latin typeface="+mj-ea"/>
                    <a:ea typeface="+mj-ea"/>
                  </a:rPr>
                  <a:t>考虑为四个关系</a:t>
                </a:r>
                <a14:m>
                  <m:oMath xmlns:m="http://schemas.openxmlformats.org/officeDocument/2006/math">
                    <m:sSub>
                      <m:sSubPr>
                        <m:ctrlPr>
                          <a:rPr lang="zh-CN" altLang="zh-CN" sz="2400" b="1" i="1" kern="0">
                            <a:latin typeface="Cambria Math" panose="02040503050406030204" pitchFamily="18" charset="0"/>
                            <a:ea typeface="+mj-ea"/>
                          </a:rPr>
                        </m:ctrlPr>
                      </m:sSubPr>
                      <m:e>
                        <m:r>
                          <a:rPr lang="en-US" altLang="zh-CN" sz="2400" b="1" i="1" kern="0">
                            <a:latin typeface="Cambria Math" panose="02040503050406030204" pitchFamily="18" charset="0"/>
                            <a:ea typeface="+mj-ea"/>
                          </a:rPr>
                          <m:t>𝑹</m:t>
                        </m:r>
                      </m:e>
                      <m:sub>
                        <m:r>
                          <a:rPr lang="en-US" altLang="zh-CN" sz="2400" b="1" i="1" kern="0">
                            <a:latin typeface="Cambria Math" panose="02040503050406030204" pitchFamily="18" charset="0"/>
                            <a:ea typeface="+mj-ea"/>
                          </a:rPr>
                          <m:t>𝟏</m:t>
                        </m:r>
                      </m:sub>
                    </m:sSub>
                    <m:r>
                      <a:rPr lang="en-US" altLang="zh-CN" sz="2400" b="1" kern="0">
                        <a:latin typeface="Cambria Math" panose="02040503050406030204" pitchFamily="18" charset="0"/>
                        <a:ea typeface="+mj-ea"/>
                      </a:rPr>
                      <m:t>, </m:t>
                    </m:r>
                    <m:sSub>
                      <m:sSubPr>
                        <m:ctrlPr>
                          <a:rPr lang="zh-CN" altLang="zh-CN" sz="2400" b="1" i="1" kern="0">
                            <a:latin typeface="Cambria Math" panose="02040503050406030204" pitchFamily="18" charset="0"/>
                            <a:ea typeface="+mj-ea"/>
                          </a:rPr>
                        </m:ctrlPr>
                      </m:sSubPr>
                      <m:e>
                        <m:r>
                          <a:rPr lang="en-US" altLang="zh-CN" sz="2400" b="1" i="1" kern="0">
                            <a:latin typeface="Cambria Math" panose="02040503050406030204" pitchFamily="18" charset="0"/>
                            <a:ea typeface="+mj-ea"/>
                          </a:rPr>
                          <m:t>𝑹</m:t>
                        </m:r>
                      </m:e>
                      <m:sub>
                        <m:r>
                          <a:rPr lang="en-US" altLang="zh-CN" sz="2400" b="1" i="1" kern="0">
                            <a:latin typeface="Cambria Math" panose="02040503050406030204" pitchFamily="18" charset="0"/>
                            <a:ea typeface="+mj-ea"/>
                          </a:rPr>
                          <m:t>𝟐</m:t>
                        </m:r>
                      </m:sub>
                    </m:sSub>
                    <m:r>
                      <a:rPr lang="en-US" altLang="zh-CN" sz="2400" b="1" kern="0">
                        <a:latin typeface="Cambria Math" panose="02040503050406030204" pitchFamily="18" charset="0"/>
                        <a:ea typeface="+mj-ea"/>
                      </a:rPr>
                      <m:t>,</m:t>
                    </m:r>
                    <m:sSub>
                      <m:sSubPr>
                        <m:ctrlPr>
                          <a:rPr lang="zh-CN" altLang="zh-CN" sz="2400" b="1" i="1" kern="0">
                            <a:latin typeface="Cambria Math" panose="02040503050406030204" pitchFamily="18" charset="0"/>
                            <a:ea typeface="+mj-ea"/>
                          </a:rPr>
                        </m:ctrlPr>
                      </m:sSubPr>
                      <m:e>
                        <m:r>
                          <a:rPr lang="en-US" altLang="zh-CN" sz="2400" b="1" i="1" kern="0">
                            <a:latin typeface="Cambria Math" panose="02040503050406030204" pitchFamily="18" charset="0"/>
                            <a:ea typeface="+mj-ea"/>
                          </a:rPr>
                          <m:t>𝑹</m:t>
                        </m:r>
                      </m:e>
                      <m:sub>
                        <m:r>
                          <a:rPr lang="en-US" altLang="zh-CN" sz="2400" b="1" i="1" kern="0">
                            <a:latin typeface="Cambria Math" panose="02040503050406030204" pitchFamily="18" charset="0"/>
                            <a:ea typeface="+mj-ea"/>
                          </a:rPr>
                          <m:t>𝟑</m:t>
                        </m:r>
                      </m:sub>
                    </m:sSub>
                    <m:r>
                      <a:rPr lang="en-US" altLang="zh-CN" sz="2400" b="1" kern="0">
                        <a:latin typeface="Cambria Math" panose="02040503050406030204" pitchFamily="18" charset="0"/>
                        <a:ea typeface="+mj-ea"/>
                      </a:rPr>
                      <m:t>,</m:t>
                    </m:r>
                    <m:sSub>
                      <m:sSubPr>
                        <m:ctrlPr>
                          <a:rPr lang="zh-CN" altLang="zh-CN" sz="2400" b="1" i="1" kern="0">
                            <a:latin typeface="Cambria Math" panose="02040503050406030204" pitchFamily="18" charset="0"/>
                            <a:ea typeface="+mj-ea"/>
                          </a:rPr>
                        </m:ctrlPr>
                      </m:sSubPr>
                      <m:e>
                        <m:r>
                          <a:rPr lang="en-US" altLang="zh-CN" sz="2400" b="1" i="1" kern="0">
                            <a:latin typeface="Cambria Math" panose="02040503050406030204" pitchFamily="18" charset="0"/>
                            <a:ea typeface="+mj-ea"/>
                          </a:rPr>
                          <m:t>𝑹</m:t>
                        </m:r>
                      </m:e>
                      <m:sub>
                        <m:r>
                          <a:rPr lang="en-US" altLang="zh-CN" sz="2400" b="1" i="1" kern="0">
                            <a:latin typeface="Cambria Math" panose="02040503050406030204" pitchFamily="18" charset="0"/>
                            <a:ea typeface="+mj-ea"/>
                          </a:rPr>
                          <m:t>𝟒</m:t>
                        </m:r>
                      </m:sub>
                    </m:sSub>
                  </m:oMath>
                </a14:m>
                <a:r>
                  <a:rPr lang="zh-CN" altLang="zh-CN" sz="2400" b="1" kern="0" dirty="0">
                    <a:latin typeface="+mj-ea"/>
                    <a:ea typeface="+mj-ea"/>
                  </a:rPr>
                  <a:t>进行连接顺序选择 </a:t>
                </a:r>
                <a:r>
                  <a:rPr lang="zh-CN" altLang="en-US" sz="2400" b="1" kern="0" dirty="0">
                    <a:latin typeface="+mj-ea"/>
                    <a:ea typeface="+mj-ea"/>
                  </a:rPr>
                  <a:t>：</a:t>
                </a:r>
                <a:endParaRPr lang="en-US" altLang="zh-CN" sz="2400" b="1" kern="0"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每个关系的大小均为</a:t>
                </a:r>
                <a:r>
                  <a:rPr lang="en-US" altLang="zh-CN" sz="2000" kern="0" dirty="0">
                    <a:latin typeface="+mj-ea"/>
                    <a:ea typeface="+mj-ea"/>
                  </a:rPr>
                  <a:t>1000</a:t>
                </a:r>
              </a:p>
              <a:p>
                <a:pPr marL="0" indent="0">
                  <a:buNone/>
                </a:pPr>
                <a:endParaRPr lang="en-US" altLang="zh-CN" sz="2800" kern="0" dirty="0">
                  <a:latin typeface="+mj-ea"/>
                  <a:ea typeface="+mj-ea"/>
                </a:endParaRPr>
              </a:p>
              <a:p>
                <a:pPr>
                  <a:buFont typeface="Wingdings" pitchFamily="2" charset="2"/>
                  <a:buChar char="p"/>
                </a:pPr>
                <a:endParaRPr lang="en-US" altLang="zh-CN" sz="2800" kern="0" dirty="0">
                  <a:latin typeface="+mj-ea"/>
                  <a:ea typeface="+mj-ea"/>
                </a:endParaRPr>
              </a:p>
              <a:p>
                <a:pPr>
                  <a:buFont typeface="Wingdings" pitchFamily="2" charset="2"/>
                  <a:buChar char="p"/>
                </a:pPr>
                <a:endParaRPr lang="en-US" altLang="zh-CN" sz="2800" kern="0" dirty="0">
                  <a:latin typeface="+mj-ea"/>
                  <a:ea typeface="+mj-ea"/>
                </a:endParaRPr>
              </a:p>
              <a:p>
                <a:pPr>
                  <a:buFont typeface="Wingdings" pitchFamily="2" charset="2"/>
                  <a:buChar char="p"/>
                </a:pPr>
                <a:endParaRPr lang="en-US" altLang="zh-CN" sz="2800" kern="0" dirty="0">
                  <a:latin typeface="+mj-ea"/>
                  <a:ea typeface="+mj-ea"/>
                </a:endParaRPr>
              </a:p>
              <a:p>
                <a:pPr marL="316531" lvl="1" indent="-316531">
                  <a:buFont typeface="Wingdings" pitchFamily="2" charset="2"/>
                  <a:buChar char="p"/>
                </a:pPr>
                <a:endParaRPr lang="zh-CN" altLang="zh-CN" sz="2000" dirty="0">
                  <a:latin typeface="+mj-ea"/>
                  <a:ea typeface="+mj-ea"/>
                </a:endParaRPr>
              </a:p>
              <a:p>
                <a:pPr lvl="1">
                  <a:buFont typeface="Wingdings" pitchFamily="2" charset="2"/>
                  <a:buChar char="Ø"/>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8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000" kern="0" dirty="0">
                    <a:latin typeface="+mj-ea"/>
                    <a:ea typeface="+mj-ea"/>
                  </a:rPr>
                  <a:t> </a:t>
                </a:r>
                <a:endParaRPr lang="zh-CN" altLang="en-US" sz="2000" kern="0" dirty="0">
                  <a:latin typeface="+mj-ea"/>
                  <a:ea typeface="+mj-ea"/>
                </a:endParaRPr>
              </a:p>
            </p:txBody>
          </p:sp>
        </mc:Choice>
        <mc:Fallback xmlns="">
          <p:sp>
            <p:nvSpPr>
              <p:cNvPr id="6" name="内容占位符 2">
                <a:extLst>
                  <a:ext uri="{FF2B5EF4-FFF2-40B4-BE49-F238E27FC236}">
                    <a16:creationId xmlns:a16="http://schemas.microsoft.com/office/drawing/2014/main" xmlns:a14="http://schemas.microsoft.com/office/drawing/2010/main" xmlns="" id="{3A77DD7A-E201-E5F7-A37D-D7A48E626DFE}"/>
                  </a:ext>
                </a:extLst>
              </p:cNvPr>
              <p:cNvSpPr txBox="1">
                <a:spLocks noRot="1" noChangeAspect="1" noMove="1" noResize="1" noEditPoints="1" noAdjustHandles="1" noChangeArrowheads="1" noChangeShapeType="1" noTextEdit="1"/>
              </p:cNvSpPr>
              <p:nvPr/>
            </p:nvSpPr>
            <p:spPr bwMode="auto">
              <a:xfrm>
                <a:off x="1008000" y="1126801"/>
                <a:ext cx="11456894" cy="3019898"/>
              </a:xfrm>
              <a:prstGeom prst="rect">
                <a:avLst/>
              </a:prstGeom>
              <a:blipFill rotWithShape="0">
                <a:blip r:embed="rId3"/>
                <a:stretch>
                  <a:fillRect l="-691" t="-161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E98C9831-FDD1-2C40-3C9F-255E1426564A}"/>
              </a:ext>
            </a:extLst>
          </p:cNvPr>
          <p:cNvPicPr>
            <a:picLocks noChangeAspect="1"/>
          </p:cNvPicPr>
          <p:nvPr/>
        </p:nvPicPr>
        <p:blipFill>
          <a:blip r:embed="rId4"/>
          <a:srcRect/>
          <a:stretch/>
        </p:blipFill>
        <p:spPr>
          <a:xfrm>
            <a:off x="6458654" y="2247135"/>
            <a:ext cx="4032791" cy="452189"/>
          </a:xfrm>
          <a:prstGeom prst="rect">
            <a:avLst/>
          </a:prstGeom>
        </p:spPr>
      </p:pic>
      <p:sp>
        <p:nvSpPr>
          <p:cNvPr id="5" name="矩形 4">
            <a:extLst>
              <a:ext uri="{FF2B5EF4-FFF2-40B4-BE49-F238E27FC236}">
                <a16:creationId xmlns:a16="http://schemas.microsoft.com/office/drawing/2014/main" id="{DCE5568C-DFE4-181C-E398-4FDBB9E38285}"/>
              </a:ext>
            </a:extLst>
          </p:cNvPr>
          <p:cNvSpPr/>
          <p:nvPr/>
        </p:nvSpPr>
        <p:spPr>
          <a:xfrm>
            <a:off x="3849230" y="3008823"/>
            <a:ext cx="4493538" cy="461665"/>
          </a:xfrm>
          <a:prstGeom prst="rect">
            <a:avLst/>
          </a:prstGeom>
        </p:spPr>
        <p:txBody>
          <a:bodyPr wrap="none">
            <a:spAutoFit/>
          </a:bodyPr>
          <a:lstStyle/>
          <a:p>
            <a:r>
              <a:rPr lang="zh-CN" altLang="zh-CN" sz="2400" b="1" kern="100" dirty="0">
                <a:solidFill>
                  <a:srgbClr val="701988"/>
                </a:solidFill>
                <a:latin typeface="+mj-ea"/>
                <a:ea typeface="+mj-ea"/>
                <a:cs typeface="Times New Roman" panose="02020603050405020304" pitchFamily="18" charset="0"/>
              </a:rPr>
              <a:t>集合大小为</a:t>
            </a:r>
            <a:r>
              <a:rPr lang="en-US" altLang="zh-CN" sz="2400" b="1" kern="100" dirty="0">
                <a:solidFill>
                  <a:srgbClr val="701988"/>
                </a:solidFill>
                <a:latin typeface="+mj-ea"/>
                <a:ea typeface="+mj-ea"/>
              </a:rPr>
              <a:t>1</a:t>
            </a:r>
            <a:r>
              <a:rPr lang="zh-CN" altLang="zh-CN" sz="2400" b="1" kern="100" dirty="0">
                <a:solidFill>
                  <a:srgbClr val="701988"/>
                </a:solidFill>
                <a:latin typeface="+mj-ea"/>
                <a:ea typeface="+mj-ea"/>
                <a:cs typeface="Times New Roman" panose="02020603050405020304" pitchFamily="18" charset="0"/>
              </a:rPr>
              <a:t>的动态规划信息表</a:t>
            </a:r>
            <a:r>
              <a:rPr lang="zh-CN" altLang="zh-CN" sz="2400" b="1" dirty="0">
                <a:solidFill>
                  <a:srgbClr val="701988"/>
                </a:solidFill>
                <a:latin typeface="+mj-ea"/>
                <a:ea typeface="+mj-ea"/>
              </a:rPr>
              <a:t> </a:t>
            </a:r>
            <a:endParaRPr lang="zh-CN" altLang="en-US" sz="2400" b="1" dirty="0">
              <a:solidFill>
                <a:srgbClr val="701988"/>
              </a:solidFill>
              <a:latin typeface="+mj-ea"/>
              <a:ea typeface="+mj-ea"/>
            </a:endParaRP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A557FFEB-0BD8-A4F9-6BFA-3D20E134BF28}"/>
                  </a:ext>
                </a:extLst>
              </p:cNvPr>
              <p:cNvGraphicFramePr>
                <a:graphicFrameLocks noGrp="1"/>
              </p:cNvGraphicFramePr>
              <p:nvPr>
                <p:extLst>
                  <p:ext uri="{D42A27DB-BD31-4B8C-83A1-F6EECF244321}">
                    <p14:modId xmlns:p14="http://schemas.microsoft.com/office/powerpoint/2010/main" val="313011538"/>
                  </p:ext>
                </p:extLst>
              </p:nvPr>
            </p:nvGraphicFramePr>
            <p:xfrm>
              <a:off x="2024303" y="3819659"/>
              <a:ext cx="8143393" cy="2291430"/>
            </p:xfrm>
            <a:graphic>
              <a:graphicData uri="http://schemas.openxmlformats.org/drawingml/2006/table">
                <a:tbl>
                  <a:tblPr firstRow="1" firstCol="1" bandRow="1">
                    <a:tableStyleId>{5940675A-B579-460E-94D1-54222C63F5DA}</a:tableStyleId>
                  </a:tblPr>
                  <a:tblGrid>
                    <a:gridCol w="1652467">
                      <a:extLst>
                        <a:ext uri="{9D8B030D-6E8A-4147-A177-3AD203B41FA5}">
                          <a16:colId xmlns:a16="http://schemas.microsoft.com/office/drawing/2014/main" val="1407869325"/>
                        </a:ext>
                      </a:extLst>
                    </a:gridCol>
                    <a:gridCol w="967107">
                      <a:extLst>
                        <a:ext uri="{9D8B030D-6E8A-4147-A177-3AD203B41FA5}">
                          <a16:colId xmlns:a16="http://schemas.microsoft.com/office/drawing/2014/main" val="2830475392"/>
                        </a:ext>
                      </a:extLst>
                    </a:gridCol>
                    <a:gridCol w="967107">
                      <a:extLst>
                        <a:ext uri="{9D8B030D-6E8A-4147-A177-3AD203B41FA5}">
                          <a16:colId xmlns:a16="http://schemas.microsoft.com/office/drawing/2014/main" val="966611914"/>
                        </a:ext>
                      </a:extLst>
                    </a:gridCol>
                    <a:gridCol w="967107">
                      <a:extLst>
                        <a:ext uri="{9D8B030D-6E8A-4147-A177-3AD203B41FA5}">
                          <a16:colId xmlns:a16="http://schemas.microsoft.com/office/drawing/2014/main" val="1273916535"/>
                        </a:ext>
                      </a:extLst>
                    </a:gridCol>
                    <a:gridCol w="967107">
                      <a:extLst>
                        <a:ext uri="{9D8B030D-6E8A-4147-A177-3AD203B41FA5}">
                          <a16:colId xmlns:a16="http://schemas.microsoft.com/office/drawing/2014/main" val="3356538631"/>
                        </a:ext>
                      </a:extLst>
                    </a:gridCol>
                    <a:gridCol w="968082">
                      <a:extLst>
                        <a:ext uri="{9D8B030D-6E8A-4147-A177-3AD203B41FA5}">
                          <a16:colId xmlns:a16="http://schemas.microsoft.com/office/drawing/2014/main" val="3314720292"/>
                        </a:ext>
                      </a:extLst>
                    </a:gridCol>
                    <a:gridCol w="1654416">
                      <a:extLst>
                        <a:ext uri="{9D8B030D-6E8A-4147-A177-3AD203B41FA5}">
                          <a16:colId xmlns:a16="http://schemas.microsoft.com/office/drawing/2014/main" val="3750418960"/>
                        </a:ext>
                      </a:extLst>
                    </a:gridCol>
                  </a:tblGrid>
                  <a:tr h="458286">
                    <a:tc>
                      <a:txBody>
                        <a:bodyPr/>
                        <a:lstStyle/>
                        <a:p>
                          <a:pPr indent="127000" algn="just">
                            <a:lnSpc>
                              <a:spcPct val="150000"/>
                            </a:lnSpc>
                          </a:pPr>
                          <a:r>
                            <a:rPr lang="zh-CN" sz="1800" kern="100" dirty="0">
                              <a:effectLst/>
                              <a:latin typeface="SimHei" panose="02010609060101010101" pitchFamily="49" charset="-122"/>
                              <a:ea typeface="SimHei" panose="02010609060101010101" pitchFamily="49" charset="-122"/>
                            </a:rPr>
                            <a:t>关系集合</a:t>
                          </a:r>
                          <a14:m>
                            <m:oMath xmlns:m="http://schemas.openxmlformats.org/officeDocument/2006/math">
                              <m:r>
                                <a:rPr lang="en-US" sz="1800" kern="100">
                                  <a:effectLst/>
                                  <a:latin typeface="Cambria Math" panose="02040503050406030204" pitchFamily="18" charset="0"/>
                                </a:rPr>
                                <m:t>𝑆</m:t>
                              </m:r>
                            </m:oMath>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𝑇</m:t>
                                </m:r>
                                <m:r>
                                  <a:rPr lang="en-US" sz="1800" kern="100">
                                    <a:effectLst/>
                                    <a:latin typeface="Cambria Math" panose="02040503050406030204" pitchFamily="18" charset="0"/>
                                  </a:rPr>
                                  <m:t>(</m:t>
                                </m:r>
                                <m:r>
                                  <a:rPr lang="en-US" sz="1800" kern="100">
                                    <a:effectLst/>
                                    <a:latin typeface="Cambria Math" panose="02040503050406030204" pitchFamily="18" charset="0"/>
                                  </a:rPr>
                                  <m:t>𝑆</m:t>
                                </m:r>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𝐴</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𝐵</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𝐶</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𝐶</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m:rPr>
                                    <m:sty m:val="p"/>
                                  </m:rPr>
                                  <a:rPr lang="en-US" sz="1800" kern="100">
                                    <a:effectLst/>
                                    <a:latin typeface="Cambria Math" panose="02040503050406030204" pitchFamily="18" charset="0"/>
                                  </a:rPr>
                                  <m:t>Seq</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extLst>
                      <a:ext uri="{0D108BD9-81ED-4DB2-BD59-A6C34878D82A}">
                        <a16:rowId xmlns:a16="http://schemas.microsoft.com/office/drawing/2014/main" val="4216010465"/>
                      </a:ext>
                    </a:extLst>
                  </a:tr>
                  <a:tr h="458286">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1</m:t>
                                    </m:r>
                                  </m:sub>
                                </m:sSub>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1</m:t>
                                    </m:r>
                                  </m:sub>
                                </m:sSub>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extLst>
                      <a:ext uri="{0D108BD9-81ED-4DB2-BD59-A6C34878D82A}">
                        <a16:rowId xmlns:a16="http://schemas.microsoft.com/office/drawing/2014/main" val="3987565836"/>
                      </a:ext>
                    </a:extLst>
                  </a:tr>
                  <a:tr h="458286">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2</m:t>
                                    </m:r>
                                  </m:sub>
                                </m:sSub>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dirty="0">
                              <a:effectLst/>
                            </a:rPr>
                            <a:t>100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2</m:t>
                                    </m:r>
                                  </m:sub>
                                </m:sSub>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extLst>
                      <a:ext uri="{0D108BD9-81ED-4DB2-BD59-A6C34878D82A}">
                        <a16:rowId xmlns:a16="http://schemas.microsoft.com/office/drawing/2014/main" val="2485550045"/>
                      </a:ext>
                    </a:extLst>
                  </a:tr>
                  <a:tr h="458286">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3</m:t>
                                    </m:r>
                                  </m:sub>
                                </m:sSub>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dirty="0">
                              <a:effectLst/>
                            </a:rPr>
                            <a:t>20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200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3</m:t>
                                    </m:r>
                                  </m:sub>
                                </m:sSub>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extLst>
                      <a:ext uri="{0D108BD9-81ED-4DB2-BD59-A6C34878D82A}">
                        <a16:rowId xmlns:a16="http://schemas.microsoft.com/office/drawing/2014/main" val="2434683849"/>
                      </a:ext>
                    </a:extLst>
                  </a:tr>
                  <a:tr h="458286">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4</m:t>
                                    </m:r>
                                  </m:sub>
                                </m:sSub>
                                <m:r>
                                  <a:rPr lang="en-US" sz="1800" kern="100">
                                    <a:effectLst/>
                                    <a:latin typeface="Cambria Math" panose="02040503050406030204" pitchFamily="18" charset="0"/>
                                  </a:rPr>
                                  <m:t>}</m:t>
                                </m:r>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dirty="0">
                              <a:effectLst/>
                            </a:rPr>
                            <a:t>250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4</m:t>
                                    </m:r>
                                  </m:sub>
                                </m:sSub>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extLst>
                      <a:ext uri="{0D108BD9-81ED-4DB2-BD59-A6C34878D82A}">
                        <a16:rowId xmlns:a16="http://schemas.microsoft.com/office/drawing/2014/main" val="3790426847"/>
                      </a:ext>
                    </a:extLst>
                  </a:tr>
                </a:tbl>
              </a:graphicData>
            </a:graphic>
          </p:graphicFrame>
        </mc:Choice>
        <mc:Fallback xmlns="">
          <p:graphicFrame>
            <p:nvGraphicFramePr>
              <p:cNvPr id="8" name="表格 7">
                <a:extLst>
                  <a:ext uri="{FF2B5EF4-FFF2-40B4-BE49-F238E27FC236}">
                    <a16:creationId xmlns:a16="http://schemas.microsoft.com/office/drawing/2014/main" id="{A557FFEB-0BD8-A4F9-6BFA-3D20E134BF28}"/>
                  </a:ext>
                </a:extLst>
              </p:cNvPr>
              <p:cNvGraphicFramePr>
                <a:graphicFrameLocks noGrp="1"/>
              </p:cNvGraphicFramePr>
              <p:nvPr>
                <p:extLst>
                  <p:ext uri="{D42A27DB-BD31-4B8C-83A1-F6EECF244321}">
                    <p14:modId xmlns:p14="http://schemas.microsoft.com/office/powerpoint/2010/main" val="313011538"/>
                  </p:ext>
                </p:extLst>
              </p:nvPr>
            </p:nvGraphicFramePr>
            <p:xfrm>
              <a:off x="2024303" y="3819659"/>
              <a:ext cx="8143393" cy="2291430"/>
            </p:xfrm>
            <a:graphic>
              <a:graphicData uri="http://schemas.openxmlformats.org/drawingml/2006/table">
                <a:tbl>
                  <a:tblPr firstRow="1" firstCol="1" bandRow="1">
                    <a:tableStyleId>{5940675A-B579-460E-94D1-54222C63F5DA}</a:tableStyleId>
                  </a:tblPr>
                  <a:tblGrid>
                    <a:gridCol w="1652467">
                      <a:extLst>
                        <a:ext uri="{9D8B030D-6E8A-4147-A177-3AD203B41FA5}">
                          <a16:colId xmlns:a16="http://schemas.microsoft.com/office/drawing/2014/main" val="1407869325"/>
                        </a:ext>
                      </a:extLst>
                    </a:gridCol>
                    <a:gridCol w="967107">
                      <a:extLst>
                        <a:ext uri="{9D8B030D-6E8A-4147-A177-3AD203B41FA5}">
                          <a16:colId xmlns:a16="http://schemas.microsoft.com/office/drawing/2014/main" val="2830475392"/>
                        </a:ext>
                      </a:extLst>
                    </a:gridCol>
                    <a:gridCol w="967107">
                      <a:extLst>
                        <a:ext uri="{9D8B030D-6E8A-4147-A177-3AD203B41FA5}">
                          <a16:colId xmlns:a16="http://schemas.microsoft.com/office/drawing/2014/main" val="966611914"/>
                        </a:ext>
                      </a:extLst>
                    </a:gridCol>
                    <a:gridCol w="967107">
                      <a:extLst>
                        <a:ext uri="{9D8B030D-6E8A-4147-A177-3AD203B41FA5}">
                          <a16:colId xmlns:a16="http://schemas.microsoft.com/office/drawing/2014/main" val="1273916535"/>
                        </a:ext>
                      </a:extLst>
                    </a:gridCol>
                    <a:gridCol w="967107">
                      <a:extLst>
                        <a:ext uri="{9D8B030D-6E8A-4147-A177-3AD203B41FA5}">
                          <a16:colId xmlns:a16="http://schemas.microsoft.com/office/drawing/2014/main" val="3356538631"/>
                        </a:ext>
                      </a:extLst>
                    </a:gridCol>
                    <a:gridCol w="968082">
                      <a:extLst>
                        <a:ext uri="{9D8B030D-6E8A-4147-A177-3AD203B41FA5}">
                          <a16:colId xmlns:a16="http://schemas.microsoft.com/office/drawing/2014/main" val="3314720292"/>
                        </a:ext>
                      </a:extLst>
                    </a:gridCol>
                    <a:gridCol w="1654416">
                      <a:extLst>
                        <a:ext uri="{9D8B030D-6E8A-4147-A177-3AD203B41FA5}">
                          <a16:colId xmlns:a16="http://schemas.microsoft.com/office/drawing/2014/main" val="3750418960"/>
                        </a:ext>
                      </a:extLst>
                    </a:gridCol>
                  </a:tblGrid>
                  <a:tr h="458286">
                    <a:tc>
                      <a:txBody>
                        <a:bodyPr/>
                        <a:lstStyle/>
                        <a:p>
                          <a:endParaRPr lang="zh-CN"/>
                        </a:p>
                      </a:txBody>
                      <a:tcPr marL="57286" marR="57286" marT="0" marB="0" anchor="ctr">
                        <a:blipFill>
                          <a:blip r:embed="rId5"/>
                          <a:stretch>
                            <a:fillRect l="-769" r="-395385" b="-425000"/>
                          </a:stretch>
                        </a:blipFill>
                      </a:tcPr>
                    </a:tc>
                    <a:tc>
                      <a:txBody>
                        <a:bodyPr/>
                        <a:lstStyle/>
                        <a:p>
                          <a:endParaRPr lang="zh-CN"/>
                        </a:p>
                      </a:txBody>
                      <a:tcPr marL="57286" marR="57286" marT="0" marB="0" anchor="ctr">
                        <a:blipFill>
                          <a:blip r:embed="rId5"/>
                          <a:stretch>
                            <a:fillRect l="-170130" r="-567532" b="-425000"/>
                          </a:stretch>
                        </a:blipFill>
                      </a:tcPr>
                    </a:tc>
                    <a:tc>
                      <a:txBody>
                        <a:bodyPr/>
                        <a:lstStyle/>
                        <a:p>
                          <a:endParaRPr lang="zh-CN"/>
                        </a:p>
                      </a:txBody>
                      <a:tcPr marL="57286" marR="57286" marT="0" marB="0" anchor="ctr">
                        <a:blipFill>
                          <a:blip r:embed="rId5"/>
                          <a:stretch>
                            <a:fillRect l="-273684" r="-475000" b="-425000"/>
                          </a:stretch>
                        </a:blipFill>
                      </a:tcPr>
                    </a:tc>
                    <a:tc>
                      <a:txBody>
                        <a:bodyPr/>
                        <a:lstStyle/>
                        <a:p>
                          <a:endParaRPr lang="zh-CN"/>
                        </a:p>
                      </a:txBody>
                      <a:tcPr marL="57286" marR="57286" marT="0" marB="0" anchor="ctr">
                        <a:blipFill>
                          <a:blip r:embed="rId5"/>
                          <a:stretch>
                            <a:fillRect l="-373684" r="-375000" b="-425000"/>
                          </a:stretch>
                        </a:blipFill>
                      </a:tcPr>
                    </a:tc>
                    <a:tc>
                      <a:txBody>
                        <a:bodyPr/>
                        <a:lstStyle/>
                        <a:p>
                          <a:endParaRPr lang="zh-CN"/>
                        </a:p>
                      </a:txBody>
                      <a:tcPr marL="57286" marR="57286" marT="0" marB="0" anchor="ctr">
                        <a:blipFill>
                          <a:blip r:embed="rId5"/>
                          <a:stretch>
                            <a:fillRect l="-473684" r="-275000" b="-425000"/>
                          </a:stretch>
                        </a:blipFill>
                      </a:tcPr>
                    </a:tc>
                    <a:tc>
                      <a:txBody>
                        <a:bodyPr/>
                        <a:lstStyle/>
                        <a:p>
                          <a:endParaRPr lang="zh-CN"/>
                        </a:p>
                      </a:txBody>
                      <a:tcPr marL="57286" marR="57286" marT="0" marB="0" anchor="ctr">
                        <a:blipFill>
                          <a:blip r:embed="rId5"/>
                          <a:stretch>
                            <a:fillRect l="-566234" r="-171429" b="-425000"/>
                          </a:stretch>
                        </a:blipFill>
                      </a:tcPr>
                    </a:tc>
                    <a:tc>
                      <a:txBody>
                        <a:bodyPr/>
                        <a:lstStyle/>
                        <a:p>
                          <a:endParaRPr lang="zh-CN"/>
                        </a:p>
                      </a:txBody>
                      <a:tcPr marL="57286" marR="57286" marT="0" marB="0" anchor="ctr">
                        <a:blipFill>
                          <a:blip r:embed="rId5"/>
                          <a:stretch>
                            <a:fillRect l="-394615" r="-1538" b="-425000"/>
                          </a:stretch>
                        </a:blipFill>
                      </a:tcPr>
                    </a:tc>
                    <a:extLst>
                      <a:ext uri="{0D108BD9-81ED-4DB2-BD59-A6C34878D82A}">
                        <a16:rowId xmlns:a16="http://schemas.microsoft.com/office/drawing/2014/main" val="4216010465"/>
                      </a:ext>
                    </a:extLst>
                  </a:tr>
                  <a:tr h="458286">
                    <a:tc>
                      <a:txBody>
                        <a:bodyPr/>
                        <a:lstStyle/>
                        <a:p>
                          <a:endParaRPr lang="zh-CN"/>
                        </a:p>
                      </a:txBody>
                      <a:tcPr marL="57286" marR="57286" marT="0" marB="0" anchor="ctr">
                        <a:blipFill>
                          <a:blip r:embed="rId5"/>
                          <a:stretch>
                            <a:fillRect l="-769" t="-97297" r="-395385" b="-313514"/>
                          </a:stretch>
                        </a:blipFill>
                      </a:tcP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endParaRPr lang="zh-CN"/>
                        </a:p>
                      </a:txBody>
                      <a:tcPr marL="57286" marR="57286" marT="0" marB="0" anchor="ctr">
                        <a:blipFill>
                          <a:blip r:embed="rId5"/>
                          <a:stretch>
                            <a:fillRect l="-394615" t="-97297" r="-1538" b="-313514"/>
                          </a:stretch>
                        </a:blipFill>
                      </a:tcPr>
                    </a:tc>
                    <a:extLst>
                      <a:ext uri="{0D108BD9-81ED-4DB2-BD59-A6C34878D82A}">
                        <a16:rowId xmlns:a16="http://schemas.microsoft.com/office/drawing/2014/main" val="3987565836"/>
                      </a:ext>
                    </a:extLst>
                  </a:tr>
                  <a:tr h="458286">
                    <a:tc>
                      <a:txBody>
                        <a:bodyPr/>
                        <a:lstStyle/>
                        <a:p>
                          <a:endParaRPr lang="zh-CN"/>
                        </a:p>
                      </a:txBody>
                      <a:tcPr marL="57286" marR="57286" marT="0" marB="0" anchor="ctr">
                        <a:blipFill>
                          <a:blip r:embed="rId5"/>
                          <a:stretch>
                            <a:fillRect l="-769" t="-202778" r="-395385" b="-222222"/>
                          </a:stretch>
                        </a:blipFill>
                      </a:tcP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dirty="0">
                              <a:effectLst/>
                            </a:rPr>
                            <a:t>100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endParaRPr lang="zh-CN"/>
                        </a:p>
                      </a:txBody>
                      <a:tcPr marL="57286" marR="57286" marT="0" marB="0" anchor="ctr">
                        <a:blipFill>
                          <a:blip r:embed="rId5"/>
                          <a:stretch>
                            <a:fillRect l="-394615" t="-202778" r="-1538" b="-222222"/>
                          </a:stretch>
                        </a:blipFill>
                      </a:tcPr>
                    </a:tc>
                    <a:extLst>
                      <a:ext uri="{0D108BD9-81ED-4DB2-BD59-A6C34878D82A}">
                        <a16:rowId xmlns:a16="http://schemas.microsoft.com/office/drawing/2014/main" val="2485550045"/>
                      </a:ext>
                    </a:extLst>
                  </a:tr>
                  <a:tr h="458286">
                    <a:tc>
                      <a:txBody>
                        <a:bodyPr/>
                        <a:lstStyle/>
                        <a:p>
                          <a:endParaRPr lang="zh-CN"/>
                        </a:p>
                      </a:txBody>
                      <a:tcPr marL="57286" marR="57286" marT="0" marB="0" anchor="ctr">
                        <a:blipFill>
                          <a:blip r:embed="rId5"/>
                          <a:stretch>
                            <a:fillRect l="-769" t="-294595" r="-395385" b="-116216"/>
                          </a:stretch>
                        </a:blipFill>
                      </a:tcP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dirty="0">
                              <a:effectLst/>
                            </a:rPr>
                            <a:t>20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200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endParaRPr lang="zh-CN"/>
                        </a:p>
                      </a:txBody>
                      <a:tcPr marL="57286" marR="57286" marT="0" marB="0" anchor="ctr">
                        <a:blipFill>
                          <a:blip r:embed="rId5"/>
                          <a:stretch>
                            <a:fillRect l="-394615" t="-294595" r="-1538" b="-116216"/>
                          </a:stretch>
                        </a:blipFill>
                      </a:tcPr>
                    </a:tc>
                    <a:extLst>
                      <a:ext uri="{0D108BD9-81ED-4DB2-BD59-A6C34878D82A}">
                        <a16:rowId xmlns:a16="http://schemas.microsoft.com/office/drawing/2014/main" val="2434683849"/>
                      </a:ext>
                    </a:extLst>
                  </a:tr>
                  <a:tr h="458286">
                    <a:tc>
                      <a:txBody>
                        <a:bodyPr/>
                        <a:lstStyle/>
                        <a:p>
                          <a:endParaRPr lang="zh-CN"/>
                        </a:p>
                      </a:txBody>
                      <a:tcPr marL="57286" marR="57286" marT="0" marB="0" anchor="ctr">
                        <a:blipFill>
                          <a:blip r:embed="rId5"/>
                          <a:stretch>
                            <a:fillRect l="-769" t="-405556" r="-395385" b="-19444"/>
                          </a:stretch>
                        </a:blipFill>
                      </a:tcP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sz="1800" kern="100" dirty="0">
                              <a:effectLst/>
                            </a:rPr>
                            <a:t>250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pPr indent="127000" algn="ctr">
                            <a:lnSpc>
                              <a:spcPct val="150000"/>
                            </a:lnSpc>
                          </a:pPr>
                          <a:r>
                            <a:rPr lang="en-US" altLang="zh-CN" sz="1800" kern="100" dirty="0">
                              <a:effectLst/>
                            </a:rPr>
                            <a:t>100</a:t>
                          </a: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7286" marR="57286" marT="0" marB="0" anchor="ctr"/>
                    </a:tc>
                    <a:tc>
                      <a:txBody>
                        <a:bodyPr/>
                        <a:lstStyle/>
                        <a:p>
                          <a:endParaRPr lang="zh-CN"/>
                        </a:p>
                      </a:txBody>
                      <a:tcPr marL="57286" marR="57286" marT="0" marB="0" anchor="ctr">
                        <a:blipFill>
                          <a:blip r:embed="rId5"/>
                          <a:stretch>
                            <a:fillRect l="-394615" t="-405556" r="-1538" b="-19444"/>
                          </a:stretch>
                        </a:blipFill>
                      </a:tcPr>
                    </a:tc>
                    <a:extLst>
                      <a:ext uri="{0D108BD9-81ED-4DB2-BD59-A6C34878D82A}">
                        <a16:rowId xmlns:a16="http://schemas.microsoft.com/office/drawing/2014/main" val="3790426847"/>
                      </a:ext>
                    </a:extLst>
                  </a:tr>
                </a:tbl>
              </a:graphicData>
            </a:graphic>
          </p:graphicFrame>
        </mc:Fallback>
      </mc:AlternateContent>
    </p:spTree>
    <p:extLst>
      <p:ext uri="{BB962C8B-B14F-4D97-AF65-F5344CB8AC3E}">
        <p14:creationId xmlns:p14="http://schemas.microsoft.com/office/powerpoint/2010/main" val="40768483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0FF52922-3D42-4412-80D4-E8608AC407DF}"/>
              </a:ext>
            </a:extLst>
          </p:cNvPr>
          <p:cNvSpPr/>
          <p:nvPr/>
        </p:nvSpPr>
        <p:spPr>
          <a:xfrm>
            <a:off x="1488559" y="3706733"/>
            <a:ext cx="9165264" cy="253457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8B0A0770-5C9D-1613-7DED-E9EDA2F700B6}"/>
              </a:ext>
            </a:extLst>
          </p:cNvPr>
          <p:cNvSpPr>
            <a:spLocks noGrp="1"/>
          </p:cNvSpPr>
          <p:nvPr>
            <p:ph type="sldNum" sz="quarter" idx="10"/>
          </p:nvPr>
        </p:nvSpPr>
        <p:spPr/>
        <p:txBody>
          <a:bodyPr/>
          <a:lstStyle/>
          <a:p>
            <a:fld id="{87BBDC00-B9E2-4EFD-9306-2934E87247C6}" type="slidenum">
              <a:rPr lang="zh-CN" altLang="en-US" smtClean="0"/>
              <a:pPr/>
              <a:t>106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动态规划算法示例</a:t>
            </a:r>
          </a:p>
        </p:txBody>
      </p:sp>
      <p:sp>
        <p:nvSpPr>
          <p:cNvPr id="8" name="页脚占位符 7">
            <a:extLst>
              <a:ext uri="{FF2B5EF4-FFF2-40B4-BE49-F238E27FC236}">
                <a16:creationId xmlns:a16="http://schemas.microsoft.com/office/drawing/2014/main" id="{663691DB-3AE3-68C4-DC92-0671CA81FE4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304800" y="1201270"/>
            <a:ext cx="11456894"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zh-CN" sz="2400" b="1" dirty="0">
                <a:latin typeface="+mj-ea"/>
                <a:ea typeface="+mj-ea"/>
              </a:rPr>
              <a:t>考虑</a:t>
            </a:r>
            <a:r>
              <a:rPr lang="zh-CN" altLang="en-US" sz="2400" b="1" dirty="0">
                <a:latin typeface="+mj-ea"/>
                <a:ea typeface="+mj-ea"/>
              </a:rPr>
              <a:t>两个关系连接后的情况</a:t>
            </a:r>
            <a:r>
              <a:rPr lang="zh-CN" altLang="en-US" sz="2400" b="1" kern="0" dirty="0">
                <a:latin typeface="+mj-ea"/>
                <a:ea typeface="+mj-ea"/>
              </a:rPr>
              <a:t>：</a:t>
            </a: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marL="316531" lvl="1" indent="-316531">
              <a:buFont typeface="Wingdings" pitchFamily="2" charset="2"/>
              <a:buChar char="p"/>
            </a:pPr>
            <a:endParaRPr lang="zh-CN" altLang="zh-CN" sz="2400" dirty="0">
              <a:latin typeface="+mj-ea"/>
              <a:ea typeface="+mj-ea"/>
            </a:endParaRPr>
          </a:p>
          <a:p>
            <a:pPr lvl="1">
              <a:buFont typeface="Wingdings" pitchFamily="2" charset="2"/>
              <a:buChar char="Ø"/>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pic>
        <p:nvPicPr>
          <p:cNvPr id="2" name="图片 1">
            <a:extLst>
              <a:ext uri="{FF2B5EF4-FFF2-40B4-BE49-F238E27FC236}">
                <a16:creationId xmlns:a16="http://schemas.microsoft.com/office/drawing/2014/main" id="{E98C9831-FDD1-2C40-3C9F-255E1426564A}"/>
              </a:ext>
            </a:extLst>
          </p:cNvPr>
          <p:cNvPicPr>
            <a:picLocks noChangeAspect="1"/>
          </p:cNvPicPr>
          <p:nvPr/>
        </p:nvPicPr>
        <p:blipFill>
          <a:blip r:embed="rId3"/>
          <a:srcRect/>
          <a:stretch/>
        </p:blipFill>
        <p:spPr>
          <a:xfrm>
            <a:off x="3953849" y="1914826"/>
            <a:ext cx="4032791" cy="452189"/>
          </a:xfrm>
          <a:prstGeom prst="rect">
            <a:avLst/>
          </a:prstGeom>
        </p:spPr>
      </p:pic>
      <p:sp>
        <p:nvSpPr>
          <p:cNvPr id="5" name="矩形 4">
            <a:extLst>
              <a:ext uri="{FF2B5EF4-FFF2-40B4-BE49-F238E27FC236}">
                <a16:creationId xmlns:a16="http://schemas.microsoft.com/office/drawing/2014/main" id="{DCE5568C-DFE4-181C-E398-4FDBB9E38285}"/>
              </a:ext>
            </a:extLst>
          </p:cNvPr>
          <p:cNvSpPr/>
          <p:nvPr/>
        </p:nvSpPr>
        <p:spPr>
          <a:xfrm>
            <a:off x="3849230" y="2774702"/>
            <a:ext cx="4493538" cy="461665"/>
          </a:xfrm>
          <a:prstGeom prst="rect">
            <a:avLst/>
          </a:prstGeom>
        </p:spPr>
        <p:txBody>
          <a:bodyPr wrap="none">
            <a:spAutoFit/>
          </a:bodyPr>
          <a:lstStyle/>
          <a:p>
            <a:r>
              <a:rPr lang="zh-CN" altLang="zh-CN" sz="2400" b="1" kern="100" dirty="0">
                <a:solidFill>
                  <a:srgbClr val="701988"/>
                </a:solidFill>
                <a:latin typeface="+mj-ea"/>
                <a:ea typeface="+mj-ea"/>
                <a:cs typeface="Times New Roman" panose="02020603050405020304" pitchFamily="18" charset="0"/>
              </a:rPr>
              <a:t>集合大小为</a:t>
            </a:r>
            <a:r>
              <a:rPr lang="en-US" altLang="zh-CN" sz="2400" b="1" kern="100" dirty="0">
                <a:solidFill>
                  <a:srgbClr val="701988"/>
                </a:solidFill>
                <a:latin typeface="+mj-ea"/>
                <a:ea typeface="+mj-ea"/>
                <a:cs typeface="Times New Roman" panose="02020603050405020304" pitchFamily="18" charset="0"/>
              </a:rPr>
              <a:t>2</a:t>
            </a:r>
            <a:r>
              <a:rPr lang="zh-CN" altLang="zh-CN" sz="2400" b="1" kern="100" dirty="0">
                <a:solidFill>
                  <a:srgbClr val="701988"/>
                </a:solidFill>
                <a:latin typeface="+mj-ea"/>
                <a:ea typeface="+mj-ea"/>
                <a:cs typeface="Times New Roman" panose="02020603050405020304" pitchFamily="18" charset="0"/>
              </a:rPr>
              <a:t>的动态规划信息表</a:t>
            </a:r>
            <a:r>
              <a:rPr lang="zh-CN" altLang="zh-CN" sz="2400" b="1" dirty="0">
                <a:solidFill>
                  <a:srgbClr val="701988"/>
                </a:solidFill>
                <a:latin typeface="+mj-ea"/>
                <a:ea typeface="+mj-ea"/>
              </a:rPr>
              <a:t> </a:t>
            </a:r>
            <a:endParaRPr lang="zh-CN" altLang="en-US" sz="2400" b="1" dirty="0">
              <a:solidFill>
                <a:srgbClr val="701988"/>
              </a:solidFill>
              <a:latin typeface="+mj-ea"/>
              <a:ea typeface="+mj-ea"/>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7FB18DA2-9479-1C60-8C82-BCB8DE2F81B7}"/>
                  </a:ext>
                </a:extLst>
              </p:cNvPr>
              <p:cNvGraphicFramePr>
                <a:graphicFrameLocks noGrp="1"/>
              </p:cNvGraphicFramePr>
              <p:nvPr>
                <p:extLst>
                  <p:ext uri="{D42A27DB-BD31-4B8C-83A1-F6EECF244321}">
                    <p14:modId xmlns:p14="http://schemas.microsoft.com/office/powerpoint/2010/main" val="2303060880"/>
                  </p:ext>
                </p:extLst>
              </p:nvPr>
            </p:nvGraphicFramePr>
            <p:xfrm>
              <a:off x="1782308" y="4019716"/>
              <a:ext cx="8637620" cy="1905892"/>
            </p:xfrm>
            <a:graphic>
              <a:graphicData uri="http://schemas.openxmlformats.org/drawingml/2006/table">
                <a:tbl>
                  <a:tblPr firstRow="1" firstCol="1" bandRow="1">
                    <a:tableStyleId>{5940675A-B579-460E-94D1-54222C63F5DA}</a:tableStyleId>
                  </a:tblPr>
                  <a:tblGrid>
                    <a:gridCol w="1753385">
                      <a:extLst>
                        <a:ext uri="{9D8B030D-6E8A-4147-A177-3AD203B41FA5}">
                          <a16:colId xmlns:a16="http://schemas.microsoft.com/office/drawing/2014/main" val="2271141016"/>
                        </a:ext>
                      </a:extLst>
                    </a:gridCol>
                    <a:gridCol w="1026170">
                      <a:extLst>
                        <a:ext uri="{9D8B030D-6E8A-4147-A177-3AD203B41FA5}">
                          <a16:colId xmlns:a16="http://schemas.microsoft.com/office/drawing/2014/main" val="1812941146"/>
                        </a:ext>
                      </a:extLst>
                    </a:gridCol>
                    <a:gridCol w="1026170">
                      <a:extLst>
                        <a:ext uri="{9D8B030D-6E8A-4147-A177-3AD203B41FA5}">
                          <a16:colId xmlns:a16="http://schemas.microsoft.com/office/drawing/2014/main" val="3811281095"/>
                        </a:ext>
                      </a:extLst>
                    </a:gridCol>
                    <a:gridCol w="1026170">
                      <a:extLst>
                        <a:ext uri="{9D8B030D-6E8A-4147-A177-3AD203B41FA5}">
                          <a16:colId xmlns:a16="http://schemas.microsoft.com/office/drawing/2014/main" val="3247625807"/>
                        </a:ext>
                      </a:extLst>
                    </a:gridCol>
                    <a:gridCol w="1026170">
                      <a:extLst>
                        <a:ext uri="{9D8B030D-6E8A-4147-A177-3AD203B41FA5}">
                          <a16:colId xmlns:a16="http://schemas.microsoft.com/office/drawing/2014/main" val="819853155"/>
                        </a:ext>
                      </a:extLst>
                    </a:gridCol>
                    <a:gridCol w="1026170">
                      <a:extLst>
                        <a:ext uri="{9D8B030D-6E8A-4147-A177-3AD203B41FA5}">
                          <a16:colId xmlns:a16="http://schemas.microsoft.com/office/drawing/2014/main" val="2808269209"/>
                        </a:ext>
                      </a:extLst>
                    </a:gridCol>
                    <a:gridCol w="1753385">
                      <a:extLst>
                        <a:ext uri="{9D8B030D-6E8A-4147-A177-3AD203B41FA5}">
                          <a16:colId xmlns:a16="http://schemas.microsoft.com/office/drawing/2014/main" val="3880442254"/>
                        </a:ext>
                      </a:extLst>
                    </a:gridCol>
                  </a:tblGrid>
                  <a:tr h="476473">
                    <a:tc>
                      <a:txBody>
                        <a:bodyPr/>
                        <a:lstStyle/>
                        <a:p>
                          <a:pPr indent="127000" algn="just">
                            <a:lnSpc>
                              <a:spcPct val="150000"/>
                            </a:lnSpc>
                          </a:pPr>
                          <a:r>
                            <a:rPr lang="zh-CN" sz="1600" kern="100" dirty="0">
                              <a:effectLst/>
                              <a:latin typeface="SimHei" panose="02010609060101010101" pitchFamily="49" charset="-122"/>
                              <a:ea typeface="SimHei" panose="02010609060101010101" pitchFamily="49" charset="-122"/>
                            </a:rPr>
                            <a:t>关系集合</a:t>
                          </a:r>
                          <a14:m>
                            <m:oMath xmlns:m="http://schemas.openxmlformats.org/officeDocument/2006/math">
                              <m:r>
                                <a:rPr lang="en-US" sz="1600" kern="100">
                                  <a:effectLst/>
                                  <a:latin typeface="Cambria Math" panose="02040503050406030204" pitchFamily="18" charset="0"/>
                                </a:rPr>
                                <m:t>𝑆</m:t>
                              </m:r>
                            </m:oMath>
                          </a14:m>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b="0" i="1" kern="100" smtClean="0">
                                    <a:effectLst/>
                                    <a:latin typeface="Cambria Math" panose="02040503050406030204" pitchFamily="18" charset="0"/>
                                  </a:rPr>
                                  <m:t>𝑇</m:t>
                                </m:r>
                                <m:r>
                                  <a:rPr lang="en-US" sz="1600" kern="100">
                                    <a:effectLst/>
                                    <a:latin typeface="Cambria Math" panose="02040503050406030204" pitchFamily="18" charset="0"/>
                                  </a:rPr>
                                  <m:t>(</m:t>
                                </m:r>
                                <m:r>
                                  <a:rPr lang="en-US" sz="1600" kern="100">
                                    <a:effectLst/>
                                    <a:latin typeface="Cambria Math" panose="02040503050406030204" pitchFamily="18" charset="0"/>
                                  </a:rPr>
                                  <m:t>𝑆</m:t>
                                </m:r>
                                <m:r>
                                  <a:rPr lang="en-US" sz="1600" kern="100">
                                    <a:effectLst/>
                                    <a:latin typeface="Cambria Math" panose="02040503050406030204" pitchFamily="18" charset="0"/>
                                  </a:rPr>
                                  <m:t>)</m:t>
                                </m:r>
                              </m:oMath>
                            </m:oMathPara>
                          </a14:m>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𝑉</m:t>
                                </m:r>
                                <m:d>
                                  <m:dPr>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𝑆</m:t>
                                    </m:r>
                                    <m:r>
                                      <a:rPr lang="en-US" sz="1600" kern="100">
                                        <a:effectLst/>
                                        <a:latin typeface="Cambria Math" panose="02040503050406030204" pitchFamily="18" charset="0"/>
                                      </a:rPr>
                                      <m:t>,</m:t>
                                    </m:r>
                                    <m:r>
                                      <a:rPr lang="en-US" sz="1600" kern="100">
                                        <a:effectLst/>
                                        <a:latin typeface="Cambria Math" panose="02040503050406030204" pitchFamily="18" charset="0"/>
                                      </a:rPr>
                                      <m:t>𝐴</m:t>
                                    </m:r>
                                  </m:e>
                                </m:d>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𝑉</m:t>
                                </m:r>
                                <m:d>
                                  <m:dPr>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𝑆</m:t>
                                    </m:r>
                                    <m:r>
                                      <a:rPr lang="en-US" sz="1600" kern="100">
                                        <a:effectLst/>
                                        <a:latin typeface="Cambria Math" panose="02040503050406030204" pitchFamily="18" charset="0"/>
                                      </a:rPr>
                                      <m:t>,</m:t>
                                    </m:r>
                                    <m:r>
                                      <a:rPr lang="en-US" sz="1600" kern="100">
                                        <a:effectLst/>
                                        <a:latin typeface="Cambria Math" panose="02040503050406030204" pitchFamily="18" charset="0"/>
                                      </a:rPr>
                                      <m:t>𝐵</m:t>
                                    </m:r>
                                  </m:e>
                                </m:d>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𝑉</m:t>
                                </m:r>
                                <m:d>
                                  <m:dPr>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𝑆</m:t>
                                    </m:r>
                                    <m:r>
                                      <a:rPr lang="en-US" sz="1600" kern="100">
                                        <a:effectLst/>
                                        <a:latin typeface="Cambria Math" panose="02040503050406030204" pitchFamily="18" charset="0"/>
                                      </a:rPr>
                                      <m:t>,</m:t>
                                    </m:r>
                                    <m:r>
                                      <a:rPr lang="en-US" sz="1600" kern="100">
                                        <a:effectLst/>
                                        <a:latin typeface="Cambria Math" panose="02040503050406030204" pitchFamily="18" charset="0"/>
                                      </a:rPr>
                                      <m:t>𝐶</m:t>
                                    </m:r>
                                  </m:e>
                                </m:d>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𝐶</m:t>
                                </m:r>
                                <m:d>
                                  <m:dPr>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𝑆</m:t>
                                    </m:r>
                                  </m:e>
                                </m:d>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m:rPr>
                                    <m:sty m:val="p"/>
                                  </m:rPr>
                                  <a:rPr lang="en-US" sz="1600" kern="100">
                                    <a:effectLst/>
                                    <a:latin typeface="Cambria Math" panose="02040503050406030204" pitchFamily="18" charset="0"/>
                                  </a:rPr>
                                  <m:t>Seq</m:t>
                                </m:r>
                                <m:d>
                                  <m:dPr>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𝑆</m:t>
                                    </m:r>
                                  </m:e>
                                </m:d>
                              </m:oMath>
                            </m:oMathPara>
                          </a14:m>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extLst>
                      <a:ext uri="{0D108BD9-81ED-4DB2-BD59-A6C34878D82A}">
                        <a16:rowId xmlns:a16="http://schemas.microsoft.com/office/drawing/2014/main" val="3190874257"/>
                      </a:ext>
                    </a:extLst>
                  </a:tr>
                  <a:tr h="476473">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1</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2</m:t>
                                    </m:r>
                                  </m:sub>
                                </m:sSub>
                                <m:r>
                                  <a:rPr lang="en-US" sz="1600" kern="100">
                                    <a:effectLst/>
                                    <a:latin typeface="Cambria Math" panose="02040503050406030204" pitchFamily="18" charset="0"/>
                                  </a:rPr>
                                  <m:t>}</m:t>
                                </m:r>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20000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dirty="0">
                              <a:effectLst/>
                            </a:rPr>
                            <a:t>100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altLang="zh-CN" sz="1600" kern="100" dirty="0">
                              <a:effectLst/>
                            </a:rPr>
                            <a:t>2200</a:t>
                          </a:r>
                          <a:r>
                            <a:rPr lang="en-US" sz="1600" kern="100" dirty="0">
                              <a:effectLst/>
                            </a:rPr>
                            <a:t>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1</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2</m:t>
                                    </m:r>
                                  </m:sub>
                                </m:sSub>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extLst>
                      <a:ext uri="{0D108BD9-81ED-4DB2-BD59-A6C34878D82A}">
                        <a16:rowId xmlns:a16="http://schemas.microsoft.com/office/drawing/2014/main" val="686919694"/>
                      </a:ext>
                    </a:extLst>
                  </a:tr>
                  <a:tr h="476473">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2</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3</m:t>
                                    </m:r>
                                  </m:sub>
                                </m:sSub>
                                <m:r>
                                  <a:rPr lang="en-US" sz="1600" kern="100">
                                    <a:effectLst/>
                                    <a:latin typeface="Cambria Math" panose="02040503050406030204" pitchFamily="18" charset="0"/>
                                  </a:rPr>
                                  <m:t>}</m:t>
                                </m:r>
                              </m:oMath>
                            </m:oMathPara>
                          </a14:m>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10000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20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dirty="0">
                              <a:effectLst/>
                            </a:rPr>
                            <a:t>200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altLang="zh-CN" sz="1600" kern="100" dirty="0">
                              <a:effectLst/>
                            </a:rPr>
                            <a:t>1200</a:t>
                          </a:r>
                          <a:r>
                            <a:rPr lang="en-US" sz="1600" kern="100" dirty="0">
                              <a:effectLst/>
                            </a:rPr>
                            <a:t>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2</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3</m:t>
                                    </m:r>
                                  </m:sub>
                                </m:sSub>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extLst>
                      <a:ext uri="{0D108BD9-81ED-4DB2-BD59-A6C34878D82A}">
                        <a16:rowId xmlns:a16="http://schemas.microsoft.com/office/drawing/2014/main" val="1327101628"/>
                      </a:ext>
                    </a:extLst>
                  </a:tr>
                  <a:tr h="476473">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3</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4</m:t>
                                    </m:r>
                                  </m:sub>
                                </m:sSub>
                                <m:r>
                                  <a:rPr lang="en-US" sz="1600" kern="100">
                                    <a:effectLst/>
                                    <a:latin typeface="Cambria Math" panose="02040503050406030204" pitchFamily="18" charset="0"/>
                                  </a:rPr>
                                  <m:t>}</m:t>
                                </m:r>
                              </m:oMath>
                            </m:oMathPara>
                          </a14:m>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4000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20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dirty="0">
                              <a:effectLst/>
                            </a:rPr>
                            <a:t>200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altLang="zh-CN" sz="1600" kern="100" dirty="0">
                              <a:effectLst/>
                            </a:rPr>
                            <a:t>600</a:t>
                          </a:r>
                          <a:r>
                            <a:rPr lang="en-US" sz="1600" kern="100" dirty="0">
                              <a:effectLst/>
                            </a:rPr>
                            <a:t>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3</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𝑅</m:t>
                                    </m:r>
                                  </m:e>
                                  <m:sub>
                                    <m:r>
                                      <a:rPr lang="en-US" sz="1600" kern="100">
                                        <a:effectLst/>
                                        <a:latin typeface="Cambria Math" panose="02040503050406030204" pitchFamily="18" charset="0"/>
                                      </a:rPr>
                                      <m:t>4</m:t>
                                    </m:r>
                                  </m:sub>
                                </m:sSub>
                              </m:oMath>
                            </m:oMathPara>
                          </a14:m>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extLst>
                      <a:ext uri="{0D108BD9-81ED-4DB2-BD59-A6C34878D82A}">
                        <a16:rowId xmlns:a16="http://schemas.microsoft.com/office/drawing/2014/main" val="2382793889"/>
                      </a:ext>
                    </a:extLst>
                  </a:tr>
                </a:tbl>
              </a:graphicData>
            </a:graphic>
          </p:graphicFrame>
        </mc:Choice>
        <mc:Fallback xmlns="">
          <p:graphicFrame>
            <p:nvGraphicFramePr>
              <p:cNvPr id="7" name="表格 6">
                <a:extLst>
                  <a:ext uri="{FF2B5EF4-FFF2-40B4-BE49-F238E27FC236}">
                    <a16:creationId xmlns:a16="http://schemas.microsoft.com/office/drawing/2014/main" id="{7FB18DA2-9479-1C60-8C82-BCB8DE2F81B7}"/>
                  </a:ext>
                </a:extLst>
              </p:cNvPr>
              <p:cNvGraphicFramePr>
                <a:graphicFrameLocks noGrp="1"/>
              </p:cNvGraphicFramePr>
              <p:nvPr>
                <p:extLst>
                  <p:ext uri="{D42A27DB-BD31-4B8C-83A1-F6EECF244321}">
                    <p14:modId xmlns:p14="http://schemas.microsoft.com/office/powerpoint/2010/main" val="2303060880"/>
                  </p:ext>
                </p:extLst>
              </p:nvPr>
            </p:nvGraphicFramePr>
            <p:xfrm>
              <a:off x="1782308" y="4019716"/>
              <a:ext cx="8637620" cy="1905892"/>
            </p:xfrm>
            <a:graphic>
              <a:graphicData uri="http://schemas.openxmlformats.org/drawingml/2006/table">
                <a:tbl>
                  <a:tblPr firstRow="1" firstCol="1" bandRow="1">
                    <a:tableStyleId>{5940675A-B579-460E-94D1-54222C63F5DA}</a:tableStyleId>
                  </a:tblPr>
                  <a:tblGrid>
                    <a:gridCol w="1753385">
                      <a:extLst>
                        <a:ext uri="{9D8B030D-6E8A-4147-A177-3AD203B41FA5}">
                          <a16:colId xmlns:a16="http://schemas.microsoft.com/office/drawing/2014/main" val="2271141016"/>
                        </a:ext>
                      </a:extLst>
                    </a:gridCol>
                    <a:gridCol w="1026170">
                      <a:extLst>
                        <a:ext uri="{9D8B030D-6E8A-4147-A177-3AD203B41FA5}">
                          <a16:colId xmlns:a16="http://schemas.microsoft.com/office/drawing/2014/main" val="1812941146"/>
                        </a:ext>
                      </a:extLst>
                    </a:gridCol>
                    <a:gridCol w="1026170">
                      <a:extLst>
                        <a:ext uri="{9D8B030D-6E8A-4147-A177-3AD203B41FA5}">
                          <a16:colId xmlns:a16="http://schemas.microsoft.com/office/drawing/2014/main" val="3811281095"/>
                        </a:ext>
                      </a:extLst>
                    </a:gridCol>
                    <a:gridCol w="1026170">
                      <a:extLst>
                        <a:ext uri="{9D8B030D-6E8A-4147-A177-3AD203B41FA5}">
                          <a16:colId xmlns:a16="http://schemas.microsoft.com/office/drawing/2014/main" val="3247625807"/>
                        </a:ext>
                      </a:extLst>
                    </a:gridCol>
                    <a:gridCol w="1026170">
                      <a:extLst>
                        <a:ext uri="{9D8B030D-6E8A-4147-A177-3AD203B41FA5}">
                          <a16:colId xmlns:a16="http://schemas.microsoft.com/office/drawing/2014/main" val="819853155"/>
                        </a:ext>
                      </a:extLst>
                    </a:gridCol>
                    <a:gridCol w="1026170">
                      <a:extLst>
                        <a:ext uri="{9D8B030D-6E8A-4147-A177-3AD203B41FA5}">
                          <a16:colId xmlns:a16="http://schemas.microsoft.com/office/drawing/2014/main" val="2808269209"/>
                        </a:ext>
                      </a:extLst>
                    </a:gridCol>
                    <a:gridCol w="1753385">
                      <a:extLst>
                        <a:ext uri="{9D8B030D-6E8A-4147-A177-3AD203B41FA5}">
                          <a16:colId xmlns:a16="http://schemas.microsoft.com/office/drawing/2014/main" val="3880442254"/>
                        </a:ext>
                      </a:extLst>
                    </a:gridCol>
                  </a:tblGrid>
                  <a:tr h="476473">
                    <a:tc>
                      <a:txBody>
                        <a:bodyPr/>
                        <a:lstStyle/>
                        <a:p>
                          <a:endParaRPr lang="zh-CN"/>
                        </a:p>
                      </a:txBody>
                      <a:tcPr marL="59560" marR="59560" marT="0" marB="0" anchor="ctr">
                        <a:blipFill>
                          <a:blip r:embed="rId4"/>
                          <a:stretch>
                            <a:fillRect l="-725" t="-2632" r="-394203" b="-307895"/>
                          </a:stretch>
                        </a:blipFill>
                      </a:tcPr>
                    </a:tc>
                    <a:tc>
                      <a:txBody>
                        <a:bodyPr/>
                        <a:lstStyle/>
                        <a:p>
                          <a:endParaRPr lang="zh-CN"/>
                        </a:p>
                      </a:txBody>
                      <a:tcPr marL="59560" marR="59560" marT="0" marB="0" anchor="ctr">
                        <a:blipFill>
                          <a:blip r:embed="rId4"/>
                          <a:stretch>
                            <a:fillRect l="-171605" t="-2632" r="-571605" b="-307895"/>
                          </a:stretch>
                        </a:blipFill>
                      </a:tcPr>
                    </a:tc>
                    <a:tc>
                      <a:txBody>
                        <a:bodyPr/>
                        <a:lstStyle/>
                        <a:p>
                          <a:endParaRPr lang="zh-CN"/>
                        </a:p>
                      </a:txBody>
                      <a:tcPr marL="59560" marR="59560" marT="0" marB="0" anchor="ctr">
                        <a:blipFill>
                          <a:blip r:embed="rId4"/>
                          <a:stretch>
                            <a:fillRect l="-271605" t="-2632" r="-471605" b="-307895"/>
                          </a:stretch>
                        </a:blipFill>
                      </a:tcPr>
                    </a:tc>
                    <a:tc>
                      <a:txBody>
                        <a:bodyPr/>
                        <a:lstStyle/>
                        <a:p>
                          <a:endParaRPr lang="zh-CN"/>
                        </a:p>
                      </a:txBody>
                      <a:tcPr marL="59560" marR="59560" marT="0" marB="0" anchor="ctr">
                        <a:blipFill>
                          <a:blip r:embed="rId4"/>
                          <a:stretch>
                            <a:fillRect l="-371605" t="-2632" r="-371605" b="-307895"/>
                          </a:stretch>
                        </a:blipFill>
                      </a:tcPr>
                    </a:tc>
                    <a:tc>
                      <a:txBody>
                        <a:bodyPr/>
                        <a:lstStyle/>
                        <a:p>
                          <a:endParaRPr lang="zh-CN"/>
                        </a:p>
                      </a:txBody>
                      <a:tcPr marL="59560" marR="59560" marT="0" marB="0" anchor="ctr">
                        <a:blipFill>
                          <a:blip r:embed="rId4"/>
                          <a:stretch>
                            <a:fillRect l="-471605" t="-2632" r="-271605" b="-307895"/>
                          </a:stretch>
                        </a:blipFill>
                      </a:tcPr>
                    </a:tc>
                    <a:tc>
                      <a:txBody>
                        <a:bodyPr/>
                        <a:lstStyle/>
                        <a:p>
                          <a:endParaRPr lang="zh-CN"/>
                        </a:p>
                      </a:txBody>
                      <a:tcPr marL="59560" marR="59560" marT="0" marB="0" anchor="ctr">
                        <a:blipFill>
                          <a:blip r:embed="rId4"/>
                          <a:stretch>
                            <a:fillRect l="-571605" t="-2632" r="-171605" b="-307895"/>
                          </a:stretch>
                        </a:blipFill>
                      </a:tcPr>
                    </a:tc>
                    <a:tc>
                      <a:txBody>
                        <a:bodyPr/>
                        <a:lstStyle/>
                        <a:p>
                          <a:endParaRPr lang="zh-CN"/>
                        </a:p>
                      </a:txBody>
                      <a:tcPr marL="59560" marR="59560" marT="0" marB="0" anchor="ctr">
                        <a:blipFill>
                          <a:blip r:embed="rId4"/>
                          <a:stretch>
                            <a:fillRect l="-394203" t="-2632" r="-725" b="-307895"/>
                          </a:stretch>
                        </a:blipFill>
                      </a:tcPr>
                    </a:tc>
                    <a:extLst>
                      <a:ext uri="{0D108BD9-81ED-4DB2-BD59-A6C34878D82A}">
                        <a16:rowId xmlns:a16="http://schemas.microsoft.com/office/drawing/2014/main" val="3190874257"/>
                      </a:ext>
                    </a:extLst>
                  </a:tr>
                  <a:tr h="476473">
                    <a:tc>
                      <a:txBody>
                        <a:bodyPr/>
                        <a:lstStyle/>
                        <a:p>
                          <a:endParaRPr lang="zh-CN"/>
                        </a:p>
                      </a:txBody>
                      <a:tcPr marL="59560" marR="59560" marT="0" marB="0" anchor="ctr">
                        <a:blipFill>
                          <a:blip r:embed="rId4"/>
                          <a:stretch>
                            <a:fillRect l="-725" t="-102632" r="-394203" b="-207895"/>
                          </a:stretch>
                        </a:blipFill>
                      </a:tcPr>
                    </a:tc>
                    <a:tc>
                      <a:txBody>
                        <a:bodyPr/>
                        <a:lstStyle/>
                        <a:p>
                          <a:pPr indent="127000" algn="ctr">
                            <a:lnSpc>
                              <a:spcPct val="150000"/>
                            </a:lnSpc>
                          </a:pPr>
                          <a:r>
                            <a:rPr lang="en-US" sz="1600" kern="100">
                              <a:effectLst/>
                            </a:rPr>
                            <a:t>20000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dirty="0">
                              <a:effectLst/>
                            </a:rPr>
                            <a:t>100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altLang="zh-CN" sz="1600" kern="100" dirty="0">
                              <a:effectLst/>
                            </a:rPr>
                            <a:t>2200</a:t>
                          </a:r>
                          <a:r>
                            <a:rPr lang="en-US" sz="1600" kern="100" dirty="0">
                              <a:effectLst/>
                            </a:rPr>
                            <a:t>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endParaRPr lang="zh-CN"/>
                        </a:p>
                      </a:txBody>
                      <a:tcPr marL="59560" marR="59560" marT="0" marB="0" anchor="ctr">
                        <a:blipFill>
                          <a:blip r:embed="rId4"/>
                          <a:stretch>
                            <a:fillRect l="-394203" t="-102632" r="-725" b="-207895"/>
                          </a:stretch>
                        </a:blipFill>
                      </a:tcPr>
                    </a:tc>
                    <a:extLst>
                      <a:ext uri="{0D108BD9-81ED-4DB2-BD59-A6C34878D82A}">
                        <a16:rowId xmlns:a16="http://schemas.microsoft.com/office/drawing/2014/main" val="686919694"/>
                      </a:ext>
                    </a:extLst>
                  </a:tr>
                  <a:tr h="476473">
                    <a:tc>
                      <a:txBody>
                        <a:bodyPr/>
                        <a:lstStyle/>
                        <a:p>
                          <a:endParaRPr lang="zh-CN"/>
                        </a:p>
                      </a:txBody>
                      <a:tcPr marL="59560" marR="59560" marT="0" marB="0" anchor="ctr">
                        <a:blipFill>
                          <a:blip r:embed="rId4"/>
                          <a:stretch>
                            <a:fillRect l="-725" t="-208108" r="-394203" b="-113514"/>
                          </a:stretch>
                        </a:blipFill>
                      </a:tcPr>
                    </a:tc>
                    <a:tc>
                      <a:txBody>
                        <a:bodyPr/>
                        <a:lstStyle/>
                        <a:p>
                          <a:pPr indent="127000" algn="ctr">
                            <a:lnSpc>
                              <a:spcPct val="150000"/>
                            </a:lnSpc>
                          </a:pPr>
                          <a:r>
                            <a:rPr lang="en-US" sz="1600" kern="100">
                              <a:effectLst/>
                            </a:rPr>
                            <a:t>10000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40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20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dirty="0">
                              <a:effectLst/>
                            </a:rPr>
                            <a:t>200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altLang="zh-CN" sz="1600" kern="100" dirty="0">
                              <a:effectLst/>
                            </a:rPr>
                            <a:t>1200</a:t>
                          </a:r>
                          <a:r>
                            <a:rPr lang="en-US" sz="1600" kern="100" dirty="0">
                              <a:effectLst/>
                            </a:rPr>
                            <a:t>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endParaRPr lang="zh-CN"/>
                        </a:p>
                      </a:txBody>
                      <a:tcPr marL="59560" marR="59560" marT="0" marB="0" anchor="ctr">
                        <a:blipFill>
                          <a:blip r:embed="rId4"/>
                          <a:stretch>
                            <a:fillRect l="-394203" t="-208108" r="-725" b="-113514"/>
                          </a:stretch>
                        </a:blipFill>
                      </a:tcPr>
                    </a:tc>
                    <a:extLst>
                      <a:ext uri="{0D108BD9-81ED-4DB2-BD59-A6C34878D82A}">
                        <a16:rowId xmlns:a16="http://schemas.microsoft.com/office/drawing/2014/main" val="1327101628"/>
                      </a:ext>
                    </a:extLst>
                  </a:tr>
                  <a:tr h="476473">
                    <a:tc>
                      <a:txBody>
                        <a:bodyPr/>
                        <a:lstStyle/>
                        <a:p>
                          <a:endParaRPr lang="zh-CN"/>
                        </a:p>
                      </a:txBody>
                      <a:tcPr marL="59560" marR="59560" marT="0" marB="0" anchor="ctr">
                        <a:blipFill>
                          <a:blip r:embed="rId4"/>
                          <a:stretch>
                            <a:fillRect l="-725" t="-300000" r="-394203" b="-10526"/>
                          </a:stretch>
                        </a:blipFill>
                      </a:tcPr>
                    </a:tc>
                    <a:tc>
                      <a:txBody>
                        <a:bodyPr/>
                        <a:lstStyle/>
                        <a:p>
                          <a:pPr indent="127000" algn="ctr">
                            <a:lnSpc>
                              <a:spcPct val="150000"/>
                            </a:lnSpc>
                          </a:pPr>
                          <a:r>
                            <a:rPr lang="en-US" sz="1600" kern="100">
                              <a:effectLst/>
                            </a:rPr>
                            <a:t>4000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a:effectLst/>
                            </a:rPr>
                            <a:t>20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sz="1600" kern="100" dirty="0">
                              <a:effectLst/>
                            </a:rPr>
                            <a:t>200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pPr indent="127000" algn="ctr">
                            <a:lnSpc>
                              <a:spcPct val="150000"/>
                            </a:lnSpc>
                          </a:pPr>
                          <a:r>
                            <a:rPr lang="en-US" altLang="zh-CN" sz="1600" kern="100" dirty="0">
                              <a:effectLst/>
                            </a:rPr>
                            <a:t>600</a:t>
                          </a:r>
                          <a:r>
                            <a:rPr lang="en-US" sz="1600" kern="100" dirty="0">
                              <a:effectLst/>
                            </a:rPr>
                            <a:t>0</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9560" marR="59560" marT="0" marB="0" anchor="ctr"/>
                    </a:tc>
                    <a:tc>
                      <a:txBody>
                        <a:bodyPr/>
                        <a:lstStyle/>
                        <a:p>
                          <a:endParaRPr lang="zh-CN"/>
                        </a:p>
                      </a:txBody>
                      <a:tcPr marL="59560" marR="59560" marT="0" marB="0" anchor="ctr">
                        <a:blipFill>
                          <a:blip r:embed="rId4"/>
                          <a:stretch>
                            <a:fillRect l="-394203" t="-300000" r="-725" b="-10526"/>
                          </a:stretch>
                        </a:blipFill>
                      </a:tcPr>
                    </a:tc>
                    <a:extLst>
                      <a:ext uri="{0D108BD9-81ED-4DB2-BD59-A6C34878D82A}">
                        <a16:rowId xmlns:a16="http://schemas.microsoft.com/office/drawing/2014/main" val="2382793889"/>
                      </a:ext>
                    </a:extLst>
                  </a:tr>
                </a:tbl>
              </a:graphicData>
            </a:graphic>
          </p:graphicFrame>
        </mc:Fallback>
      </mc:AlternateContent>
    </p:spTree>
    <p:extLst>
      <p:ext uri="{BB962C8B-B14F-4D97-AF65-F5344CB8AC3E}">
        <p14:creationId xmlns:p14="http://schemas.microsoft.com/office/powerpoint/2010/main" val="9681057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677675" y="4008631"/>
            <a:ext cx="10893413" cy="169042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7" name="灯片编号占位符 6">
            <a:extLst>
              <a:ext uri="{FF2B5EF4-FFF2-40B4-BE49-F238E27FC236}">
                <a16:creationId xmlns:a16="http://schemas.microsoft.com/office/drawing/2014/main" id="{2DCFDA00-F7CA-930D-412F-F4DE6FDB37E3}"/>
              </a:ext>
            </a:extLst>
          </p:cNvPr>
          <p:cNvSpPr>
            <a:spLocks noGrp="1"/>
          </p:cNvSpPr>
          <p:nvPr>
            <p:ph type="sldNum" sz="quarter" idx="10"/>
          </p:nvPr>
        </p:nvSpPr>
        <p:spPr/>
        <p:txBody>
          <a:bodyPr/>
          <a:lstStyle/>
          <a:p>
            <a:fld id="{87BBDC00-B9E2-4EFD-9306-2934E87247C6}" type="slidenum">
              <a:rPr lang="zh-CN" altLang="en-US" smtClean="0"/>
              <a:pPr/>
              <a:t>107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动态规划算法示例</a:t>
            </a:r>
          </a:p>
        </p:txBody>
      </p:sp>
      <p:sp>
        <p:nvSpPr>
          <p:cNvPr id="8" name="页脚占位符 7">
            <a:extLst>
              <a:ext uri="{FF2B5EF4-FFF2-40B4-BE49-F238E27FC236}">
                <a16:creationId xmlns:a16="http://schemas.microsoft.com/office/drawing/2014/main" id="{9E162788-3686-7880-B69A-14B491BF1F1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677675" y="1201271"/>
            <a:ext cx="11456894" cy="2956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zh-CN" sz="2400" b="1" dirty="0">
                <a:latin typeface="+mj-ea"/>
                <a:ea typeface="+mj-ea"/>
              </a:rPr>
              <a:t>考虑</a:t>
            </a:r>
            <a:r>
              <a:rPr lang="zh-CN" altLang="en-US" sz="2400" b="1" dirty="0">
                <a:latin typeface="+mj-ea"/>
                <a:ea typeface="+mj-ea"/>
              </a:rPr>
              <a:t>三个关系连接后的情况</a:t>
            </a:r>
            <a:r>
              <a:rPr lang="zh-CN" altLang="en-US" sz="2400" b="1" kern="0" dirty="0">
                <a:latin typeface="+mj-ea"/>
                <a:ea typeface="+mj-ea"/>
              </a:rPr>
              <a:t>：</a:t>
            </a: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marL="316531" lvl="1" indent="-316531">
              <a:buFont typeface="Wingdings" pitchFamily="2" charset="2"/>
              <a:buChar char="p"/>
            </a:pPr>
            <a:endParaRPr lang="zh-CN" altLang="zh-CN" sz="2400" b="1" dirty="0">
              <a:latin typeface="+mj-ea"/>
              <a:ea typeface="+mj-ea"/>
            </a:endParaRPr>
          </a:p>
          <a:p>
            <a:pPr lvl="1">
              <a:buFont typeface="Wingdings" pitchFamily="2" charset="2"/>
              <a:buChar char="Ø"/>
            </a:pPr>
            <a:endParaRPr lang="en-US" altLang="zh-CN" sz="2400" b="1" dirty="0">
              <a:latin typeface="+mj-ea"/>
              <a:ea typeface="+mj-ea"/>
            </a:endParaRPr>
          </a:p>
          <a:p>
            <a:pPr lvl="1">
              <a:buFont typeface="Wingdings" pitchFamily="2" charset="2"/>
              <a:buChar char="Ø"/>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400" b="1" kern="0" dirty="0">
                <a:latin typeface="+mj-ea"/>
                <a:ea typeface="+mj-ea"/>
              </a:rPr>
              <a:t> </a:t>
            </a:r>
            <a:endParaRPr lang="zh-CN" altLang="en-US" sz="2400" b="1" kern="0" dirty="0">
              <a:latin typeface="+mj-ea"/>
              <a:ea typeface="+mj-ea"/>
            </a:endParaRPr>
          </a:p>
        </p:txBody>
      </p:sp>
      <p:pic>
        <p:nvPicPr>
          <p:cNvPr id="2" name="图片 1">
            <a:extLst>
              <a:ext uri="{FF2B5EF4-FFF2-40B4-BE49-F238E27FC236}">
                <a16:creationId xmlns:a16="http://schemas.microsoft.com/office/drawing/2014/main" id="{E98C9831-FDD1-2C40-3C9F-255E1426564A}"/>
              </a:ext>
            </a:extLst>
          </p:cNvPr>
          <p:cNvPicPr>
            <a:picLocks noChangeAspect="1"/>
          </p:cNvPicPr>
          <p:nvPr/>
        </p:nvPicPr>
        <p:blipFill>
          <a:blip r:embed="rId3"/>
          <a:srcRect/>
          <a:stretch/>
        </p:blipFill>
        <p:spPr>
          <a:xfrm>
            <a:off x="3953849" y="2140921"/>
            <a:ext cx="4032791" cy="452189"/>
          </a:xfrm>
          <a:prstGeom prst="rect">
            <a:avLst/>
          </a:prstGeom>
        </p:spPr>
      </p:pic>
      <p:sp>
        <p:nvSpPr>
          <p:cNvPr id="5" name="矩形 4">
            <a:extLst>
              <a:ext uri="{FF2B5EF4-FFF2-40B4-BE49-F238E27FC236}">
                <a16:creationId xmlns:a16="http://schemas.microsoft.com/office/drawing/2014/main" id="{DCE5568C-DFE4-181C-E398-4FDBB9E38285}"/>
              </a:ext>
            </a:extLst>
          </p:cNvPr>
          <p:cNvSpPr/>
          <p:nvPr/>
        </p:nvSpPr>
        <p:spPr>
          <a:xfrm>
            <a:off x="3953849" y="3113633"/>
            <a:ext cx="4493538" cy="461665"/>
          </a:xfrm>
          <a:prstGeom prst="rect">
            <a:avLst/>
          </a:prstGeom>
        </p:spPr>
        <p:txBody>
          <a:bodyPr wrap="none">
            <a:spAutoFit/>
          </a:bodyPr>
          <a:lstStyle/>
          <a:p>
            <a:r>
              <a:rPr lang="zh-CN" altLang="zh-CN" sz="2400" b="1" kern="100" dirty="0">
                <a:solidFill>
                  <a:srgbClr val="701988"/>
                </a:solidFill>
                <a:latin typeface="+mj-ea"/>
                <a:ea typeface="+mj-ea"/>
                <a:cs typeface="Times New Roman" panose="02020603050405020304" pitchFamily="18" charset="0"/>
              </a:rPr>
              <a:t>集合大小为</a:t>
            </a:r>
            <a:r>
              <a:rPr lang="en-US" altLang="zh-CN" sz="2400" b="1" kern="100" dirty="0">
                <a:solidFill>
                  <a:srgbClr val="701988"/>
                </a:solidFill>
                <a:latin typeface="+mj-ea"/>
                <a:ea typeface="+mj-ea"/>
                <a:cs typeface="Times New Roman" panose="02020603050405020304" pitchFamily="18" charset="0"/>
              </a:rPr>
              <a:t>3</a:t>
            </a:r>
            <a:r>
              <a:rPr lang="zh-CN" altLang="zh-CN" sz="2400" b="1" kern="100" dirty="0">
                <a:solidFill>
                  <a:srgbClr val="701988"/>
                </a:solidFill>
                <a:latin typeface="+mj-ea"/>
                <a:ea typeface="+mj-ea"/>
                <a:cs typeface="Times New Roman" panose="02020603050405020304" pitchFamily="18" charset="0"/>
              </a:rPr>
              <a:t>的动态规划信息表</a:t>
            </a:r>
            <a:r>
              <a:rPr lang="zh-CN" altLang="zh-CN" sz="2400" b="1" dirty="0">
                <a:solidFill>
                  <a:srgbClr val="701988"/>
                </a:solidFill>
                <a:latin typeface="+mj-ea"/>
                <a:ea typeface="+mj-ea"/>
              </a:rPr>
              <a:t> </a:t>
            </a:r>
            <a:endParaRPr lang="zh-CN" altLang="en-US" sz="2400" b="1" dirty="0">
              <a:solidFill>
                <a:srgbClr val="701988"/>
              </a:solidFill>
              <a:latin typeface="+mj-ea"/>
              <a:ea typeface="+mj-ea"/>
            </a:endParaRP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0F0ED7C9-9EA3-D1BC-9F2F-7D12EF589F70}"/>
                  </a:ext>
                </a:extLst>
              </p:cNvPr>
              <p:cNvGraphicFramePr>
                <a:graphicFrameLocks noGrp="1"/>
              </p:cNvGraphicFramePr>
              <p:nvPr>
                <p:extLst>
                  <p:ext uri="{D42A27DB-BD31-4B8C-83A1-F6EECF244321}">
                    <p14:modId xmlns:p14="http://schemas.microsoft.com/office/powerpoint/2010/main" val="1214367628"/>
                  </p:ext>
                </p:extLst>
              </p:nvPr>
            </p:nvGraphicFramePr>
            <p:xfrm>
              <a:off x="862402" y="4257949"/>
              <a:ext cx="10463771" cy="1191966"/>
            </p:xfrm>
            <a:graphic>
              <a:graphicData uri="http://schemas.openxmlformats.org/drawingml/2006/table">
                <a:tbl>
                  <a:tblPr firstRow="1" firstCol="1" bandRow="1">
                    <a:tableStyleId>{5940675A-B579-460E-94D1-54222C63F5DA}</a:tableStyleId>
                  </a:tblPr>
                  <a:tblGrid>
                    <a:gridCol w="1838320">
                      <a:extLst>
                        <a:ext uri="{9D8B030D-6E8A-4147-A177-3AD203B41FA5}">
                          <a16:colId xmlns:a16="http://schemas.microsoft.com/office/drawing/2014/main" val="1345758552"/>
                        </a:ext>
                      </a:extLst>
                    </a:gridCol>
                    <a:gridCol w="1530267">
                      <a:extLst>
                        <a:ext uri="{9D8B030D-6E8A-4147-A177-3AD203B41FA5}">
                          <a16:colId xmlns:a16="http://schemas.microsoft.com/office/drawing/2014/main" val="1960843137"/>
                        </a:ext>
                      </a:extLst>
                    </a:gridCol>
                    <a:gridCol w="1241782">
                      <a:extLst>
                        <a:ext uri="{9D8B030D-6E8A-4147-A177-3AD203B41FA5}">
                          <a16:colId xmlns:a16="http://schemas.microsoft.com/office/drawing/2014/main" val="2499997710"/>
                        </a:ext>
                      </a:extLst>
                    </a:gridCol>
                    <a:gridCol w="1241782">
                      <a:extLst>
                        <a:ext uri="{9D8B030D-6E8A-4147-A177-3AD203B41FA5}">
                          <a16:colId xmlns:a16="http://schemas.microsoft.com/office/drawing/2014/main" val="1562057721"/>
                        </a:ext>
                      </a:extLst>
                    </a:gridCol>
                    <a:gridCol w="1241782">
                      <a:extLst>
                        <a:ext uri="{9D8B030D-6E8A-4147-A177-3AD203B41FA5}">
                          <a16:colId xmlns:a16="http://schemas.microsoft.com/office/drawing/2014/main" val="352734028"/>
                        </a:ext>
                      </a:extLst>
                    </a:gridCol>
                    <a:gridCol w="1074362">
                      <a:extLst>
                        <a:ext uri="{9D8B030D-6E8A-4147-A177-3AD203B41FA5}">
                          <a16:colId xmlns:a16="http://schemas.microsoft.com/office/drawing/2014/main" val="413959594"/>
                        </a:ext>
                      </a:extLst>
                    </a:gridCol>
                    <a:gridCol w="2295476">
                      <a:extLst>
                        <a:ext uri="{9D8B030D-6E8A-4147-A177-3AD203B41FA5}">
                          <a16:colId xmlns:a16="http://schemas.microsoft.com/office/drawing/2014/main" val="2489045653"/>
                        </a:ext>
                      </a:extLst>
                    </a:gridCol>
                  </a:tblGrid>
                  <a:tr h="397322">
                    <a:tc>
                      <a:txBody>
                        <a:bodyPr/>
                        <a:lstStyle/>
                        <a:p>
                          <a:pPr indent="127000" algn="just">
                            <a:lnSpc>
                              <a:spcPct val="150000"/>
                            </a:lnSpc>
                          </a:pPr>
                          <a:r>
                            <a:rPr lang="zh-CN" sz="1700" kern="100" dirty="0">
                              <a:effectLst/>
                              <a:latin typeface="SimHei" panose="02010609060101010101" pitchFamily="49" charset="-122"/>
                              <a:ea typeface="SimHei" panose="02010609060101010101" pitchFamily="49" charset="-122"/>
                            </a:rPr>
                            <a:t>关系集合</a:t>
                          </a:r>
                          <a14:m>
                            <m:oMath xmlns:m="http://schemas.openxmlformats.org/officeDocument/2006/math">
                              <m:r>
                                <a:rPr lang="en-US" sz="1700" kern="100">
                                  <a:effectLst/>
                                  <a:latin typeface="Cambria Math" panose="02040503050406030204" pitchFamily="18" charset="0"/>
                                </a:rPr>
                                <m:t>𝑆</m:t>
                              </m:r>
                            </m:oMath>
                          </a14:m>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700" i="1" kern="100" smtClean="0">
                                    <a:effectLst/>
                                    <a:latin typeface="Cambria Math" panose="02040503050406030204" pitchFamily="18" charset="0"/>
                                  </a:rPr>
                                  <m:t>𝑇</m:t>
                                </m:r>
                                <m:r>
                                  <a:rPr lang="en-US" sz="1700" kern="100">
                                    <a:effectLst/>
                                    <a:latin typeface="Cambria Math" panose="02040503050406030204" pitchFamily="18" charset="0"/>
                                  </a:rPr>
                                  <m:t>(</m:t>
                                </m:r>
                                <m:r>
                                  <a:rPr lang="en-US" sz="1700" kern="100">
                                    <a:effectLst/>
                                    <a:latin typeface="Cambria Math" panose="02040503050406030204" pitchFamily="18" charset="0"/>
                                  </a:rPr>
                                  <m:t>𝑆</m:t>
                                </m:r>
                                <m:r>
                                  <a:rPr lang="en-US" sz="1700" kern="100">
                                    <a:effectLst/>
                                    <a:latin typeface="Cambria Math" panose="02040503050406030204" pitchFamily="18" charset="0"/>
                                  </a:rPr>
                                  <m:t>)</m:t>
                                </m:r>
                              </m:oMath>
                            </m:oMathPara>
                          </a14:m>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𝑉</m:t>
                                </m:r>
                                <m:d>
                                  <m:dPr>
                                    <m:ctrlPr>
                                      <a:rPr lang="zh-CN" sz="1700" i="1" kern="100">
                                        <a:effectLst/>
                                        <a:latin typeface="Cambria Math" panose="02040503050406030204" pitchFamily="18" charset="0"/>
                                      </a:rPr>
                                    </m:ctrlPr>
                                  </m:dPr>
                                  <m:e>
                                    <m:r>
                                      <a:rPr lang="en-US" sz="1700" kern="100">
                                        <a:effectLst/>
                                        <a:latin typeface="Cambria Math" panose="02040503050406030204" pitchFamily="18" charset="0"/>
                                      </a:rPr>
                                      <m:t>𝑆</m:t>
                                    </m:r>
                                    <m:r>
                                      <a:rPr lang="en-US" sz="1700" kern="100">
                                        <a:effectLst/>
                                        <a:latin typeface="Cambria Math" panose="02040503050406030204" pitchFamily="18" charset="0"/>
                                      </a:rPr>
                                      <m:t>,</m:t>
                                    </m:r>
                                    <m:r>
                                      <a:rPr lang="en-US" sz="1700" kern="100">
                                        <a:effectLst/>
                                        <a:latin typeface="Cambria Math" panose="02040503050406030204" pitchFamily="18" charset="0"/>
                                      </a:rPr>
                                      <m:t>𝐴</m:t>
                                    </m:r>
                                  </m:e>
                                </m:d>
                              </m:oMath>
                            </m:oMathPara>
                          </a14:m>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𝑉</m:t>
                                </m:r>
                                <m:d>
                                  <m:dPr>
                                    <m:ctrlPr>
                                      <a:rPr lang="zh-CN" sz="1700" i="1" kern="100">
                                        <a:effectLst/>
                                        <a:latin typeface="Cambria Math" panose="02040503050406030204" pitchFamily="18" charset="0"/>
                                      </a:rPr>
                                    </m:ctrlPr>
                                  </m:dPr>
                                  <m:e>
                                    <m:r>
                                      <a:rPr lang="en-US" sz="1700" kern="100">
                                        <a:effectLst/>
                                        <a:latin typeface="Cambria Math" panose="02040503050406030204" pitchFamily="18" charset="0"/>
                                      </a:rPr>
                                      <m:t>𝑆</m:t>
                                    </m:r>
                                    <m:r>
                                      <a:rPr lang="en-US" sz="1700" kern="100">
                                        <a:effectLst/>
                                        <a:latin typeface="Cambria Math" panose="02040503050406030204" pitchFamily="18" charset="0"/>
                                      </a:rPr>
                                      <m:t>,</m:t>
                                    </m:r>
                                    <m:r>
                                      <a:rPr lang="en-US" sz="1700" kern="100">
                                        <a:effectLst/>
                                        <a:latin typeface="Cambria Math" panose="02040503050406030204" pitchFamily="18" charset="0"/>
                                      </a:rPr>
                                      <m:t>𝐵</m:t>
                                    </m:r>
                                  </m:e>
                                </m:d>
                              </m:oMath>
                            </m:oMathPara>
                          </a14:m>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𝑉</m:t>
                                </m:r>
                                <m:d>
                                  <m:dPr>
                                    <m:ctrlPr>
                                      <a:rPr lang="zh-CN" sz="1700" i="1" kern="100">
                                        <a:effectLst/>
                                        <a:latin typeface="Cambria Math" panose="02040503050406030204" pitchFamily="18" charset="0"/>
                                      </a:rPr>
                                    </m:ctrlPr>
                                  </m:dPr>
                                  <m:e>
                                    <m:r>
                                      <a:rPr lang="en-US" sz="1700" kern="100">
                                        <a:effectLst/>
                                        <a:latin typeface="Cambria Math" panose="02040503050406030204" pitchFamily="18" charset="0"/>
                                      </a:rPr>
                                      <m:t>𝑆</m:t>
                                    </m:r>
                                    <m:r>
                                      <a:rPr lang="en-US" sz="1700" kern="100">
                                        <a:effectLst/>
                                        <a:latin typeface="Cambria Math" panose="02040503050406030204" pitchFamily="18" charset="0"/>
                                      </a:rPr>
                                      <m:t>,</m:t>
                                    </m:r>
                                    <m:r>
                                      <a:rPr lang="en-US" sz="1700" kern="100">
                                        <a:effectLst/>
                                        <a:latin typeface="Cambria Math" panose="02040503050406030204" pitchFamily="18" charset="0"/>
                                      </a:rPr>
                                      <m:t>𝐶</m:t>
                                    </m:r>
                                  </m:e>
                                </m:d>
                              </m:oMath>
                            </m:oMathPara>
                          </a14:m>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𝐶</m:t>
                                </m:r>
                                <m:d>
                                  <m:dPr>
                                    <m:ctrlPr>
                                      <a:rPr lang="zh-CN" sz="1700" i="1" kern="100">
                                        <a:effectLst/>
                                        <a:latin typeface="Cambria Math" panose="02040503050406030204" pitchFamily="18" charset="0"/>
                                      </a:rPr>
                                    </m:ctrlPr>
                                  </m:dPr>
                                  <m:e>
                                    <m:r>
                                      <a:rPr lang="en-US" sz="1700" kern="100">
                                        <a:effectLst/>
                                        <a:latin typeface="Cambria Math" panose="02040503050406030204" pitchFamily="18" charset="0"/>
                                      </a:rPr>
                                      <m:t>𝑆</m:t>
                                    </m:r>
                                  </m:e>
                                </m:d>
                              </m:oMath>
                            </m:oMathPara>
                          </a14:m>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m:rPr>
                                    <m:sty m:val="p"/>
                                  </m:rPr>
                                  <a:rPr lang="en-US" sz="1700" kern="100">
                                    <a:effectLst/>
                                    <a:latin typeface="Cambria Math" panose="02040503050406030204" pitchFamily="18" charset="0"/>
                                  </a:rPr>
                                  <m:t>Seq</m:t>
                                </m:r>
                                <m:d>
                                  <m:dPr>
                                    <m:ctrlPr>
                                      <a:rPr lang="zh-CN" sz="1700" i="1" kern="100">
                                        <a:effectLst/>
                                        <a:latin typeface="Cambria Math" panose="02040503050406030204" pitchFamily="18" charset="0"/>
                                      </a:rPr>
                                    </m:ctrlPr>
                                  </m:dPr>
                                  <m:e>
                                    <m:r>
                                      <a:rPr lang="en-US" sz="1700" kern="100">
                                        <a:effectLst/>
                                        <a:latin typeface="Cambria Math" panose="02040503050406030204" pitchFamily="18" charset="0"/>
                                      </a:rPr>
                                      <m:t>𝑆</m:t>
                                    </m:r>
                                  </m:e>
                                </m:d>
                              </m:oMath>
                            </m:oMathPara>
                          </a14:m>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extLst>
                      <a:ext uri="{0D108BD9-81ED-4DB2-BD59-A6C34878D82A}">
                        <a16:rowId xmlns:a16="http://schemas.microsoft.com/office/drawing/2014/main" val="3245499765"/>
                      </a:ext>
                    </a:extLst>
                  </a:tr>
                  <a:tr h="397322">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1</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2</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3</m:t>
                                    </m:r>
                                  </m:sub>
                                </m:sSub>
                                <m:r>
                                  <a:rPr lang="en-US" sz="1700" kern="100">
                                    <a:effectLst/>
                                    <a:latin typeface="Cambria Math" panose="02040503050406030204" pitchFamily="18" charset="0"/>
                                  </a:rPr>
                                  <m:t>}</m:t>
                                </m:r>
                              </m:oMath>
                            </m:oMathPara>
                          </a14:m>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dirty="0">
                              <a:effectLst/>
                            </a:rPr>
                            <a:t>200000</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40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altLang="zh-CN" sz="1700" kern="100" dirty="0">
                              <a:effectLst/>
                            </a:rPr>
                            <a:t>2</a:t>
                          </a:r>
                          <a:r>
                            <a:rPr lang="en-US" sz="1700" kern="100" dirty="0">
                              <a:effectLst/>
                            </a:rPr>
                            <a:t>1</a:t>
                          </a:r>
                          <a:r>
                            <a:rPr lang="en-US" altLang="zh-CN" sz="1700" kern="100" dirty="0">
                              <a:effectLst/>
                            </a:rPr>
                            <a:t>3</a:t>
                          </a:r>
                          <a:r>
                            <a:rPr lang="en-US" sz="1700" kern="100" dirty="0">
                              <a:effectLst/>
                            </a:rPr>
                            <a:t>000</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2</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3</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1</m:t>
                                    </m:r>
                                  </m:sub>
                                </m:sSub>
                              </m:oMath>
                            </m:oMathPara>
                          </a14:m>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extLst>
                      <a:ext uri="{0D108BD9-81ED-4DB2-BD59-A6C34878D82A}">
                        <a16:rowId xmlns:a16="http://schemas.microsoft.com/office/drawing/2014/main" val="34129824"/>
                      </a:ext>
                    </a:extLst>
                  </a:tr>
                  <a:tr h="397322">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2</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3</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4</m:t>
                                    </m:r>
                                  </m:sub>
                                </m:sSub>
                                <m:r>
                                  <a:rPr lang="en-US" sz="1700" kern="100">
                                    <a:effectLst/>
                                    <a:latin typeface="Cambria Math" panose="02040503050406030204" pitchFamily="18" charset="0"/>
                                  </a:rPr>
                                  <m:t>}</m:t>
                                </m:r>
                              </m:oMath>
                            </m:oMathPara>
                          </a14:m>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40000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40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altLang="zh-CN" sz="1700" kern="100" dirty="0">
                              <a:effectLst/>
                            </a:rPr>
                            <a:t>47</a:t>
                          </a:r>
                          <a:r>
                            <a:rPr lang="en-US" sz="1700" kern="100" dirty="0">
                              <a:effectLst/>
                            </a:rPr>
                            <a:t>000</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14:m>
                            <m:oMathPara xmlns:m="http://schemas.openxmlformats.org/officeDocument/2006/math">
                              <m:oMathParaPr>
                                <m:jc m:val="centerGroup"/>
                              </m:oMathParaPr>
                              <m:oMath xmlns:m="http://schemas.openxmlformats.org/officeDocument/2006/math">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3</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4</m:t>
                                    </m:r>
                                  </m:sub>
                                </m:sSub>
                                <m:r>
                                  <a:rPr lang="en-US" sz="1700" kern="100">
                                    <a:effectLst/>
                                    <a:latin typeface="Cambria Math" panose="02040503050406030204" pitchFamily="18" charset="0"/>
                                  </a:rPr>
                                  <m:t>)⋈</m:t>
                                </m:r>
                                <m:sSub>
                                  <m:sSubPr>
                                    <m:ctrlPr>
                                      <a:rPr lang="zh-CN" sz="1700" i="1" kern="100">
                                        <a:effectLst/>
                                        <a:latin typeface="Cambria Math" panose="02040503050406030204" pitchFamily="18" charset="0"/>
                                      </a:rPr>
                                    </m:ctrlPr>
                                  </m:sSubPr>
                                  <m:e>
                                    <m:r>
                                      <a:rPr lang="en-US" sz="1700" kern="100">
                                        <a:effectLst/>
                                        <a:latin typeface="Cambria Math" panose="02040503050406030204" pitchFamily="18" charset="0"/>
                                      </a:rPr>
                                      <m:t>𝑅</m:t>
                                    </m:r>
                                  </m:e>
                                  <m:sub>
                                    <m:r>
                                      <a:rPr lang="en-US" sz="1700" kern="100">
                                        <a:effectLst/>
                                        <a:latin typeface="Cambria Math" panose="02040503050406030204" pitchFamily="18" charset="0"/>
                                      </a:rPr>
                                      <m:t>2</m:t>
                                    </m:r>
                                  </m:sub>
                                </m:sSub>
                              </m:oMath>
                            </m:oMathPara>
                          </a14:m>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extLst>
                      <a:ext uri="{0D108BD9-81ED-4DB2-BD59-A6C34878D82A}">
                        <a16:rowId xmlns:a16="http://schemas.microsoft.com/office/drawing/2014/main" val="1133998537"/>
                      </a:ext>
                    </a:extLst>
                  </a:tr>
                </a:tbl>
              </a:graphicData>
            </a:graphic>
          </p:graphicFrame>
        </mc:Choice>
        <mc:Fallback xmlns="">
          <p:graphicFrame>
            <p:nvGraphicFramePr>
              <p:cNvPr id="4" name="表格 3">
                <a:extLst>
                  <a:ext uri="{FF2B5EF4-FFF2-40B4-BE49-F238E27FC236}">
                    <a16:creationId xmlns:a16="http://schemas.microsoft.com/office/drawing/2014/main" id="{0F0ED7C9-9EA3-D1BC-9F2F-7D12EF589F70}"/>
                  </a:ext>
                </a:extLst>
              </p:cNvPr>
              <p:cNvGraphicFramePr>
                <a:graphicFrameLocks noGrp="1"/>
              </p:cNvGraphicFramePr>
              <p:nvPr>
                <p:extLst>
                  <p:ext uri="{D42A27DB-BD31-4B8C-83A1-F6EECF244321}">
                    <p14:modId xmlns:p14="http://schemas.microsoft.com/office/powerpoint/2010/main" val="1214367628"/>
                  </p:ext>
                </p:extLst>
              </p:nvPr>
            </p:nvGraphicFramePr>
            <p:xfrm>
              <a:off x="862402" y="4257949"/>
              <a:ext cx="10463771" cy="1191966"/>
            </p:xfrm>
            <a:graphic>
              <a:graphicData uri="http://schemas.openxmlformats.org/drawingml/2006/table">
                <a:tbl>
                  <a:tblPr firstRow="1" firstCol="1" bandRow="1">
                    <a:tableStyleId>{5940675A-B579-460E-94D1-54222C63F5DA}</a:tableStyleId>
                  </a:tblPr>
                  <a:tblGrid>
                    <a:gridCol w="1838320">
                      <a:extLst>
                        <a:ext uri="{9D8B030D-6E8A-4147-A177-3AD203B41FA5}">
                          <a16:colId xmlns:a16="http://schemas.microsoft.com/office/drawing/2014/main" val="1345758552"/>
                        </a:ext>
                      </a:extLst>
                    </a:gridCol>
                    <a:gridCol w="1530267">
                      <a:extLst>
                        <a:ext uri="{9D8B030D-6E8A-4147-A177-3AD203B41FA5}">
                          <a16:colId xmlns:a16="http://schemas.microsoft.com/office/drawing/2014/main" val="1960843137"/>
                        </a:ext>
                      </a:extLst>
                    </a:gridCol>
                    <a:gridCol w="1241782">
                      <a:extLst>
                        <a:ext uri="{9D8B030D-6E8A-4147-A177-3AD203B41FA5}">
                          <a16:colId xmlns:a16="http://schemas.microsoft.com/office/drawing/2014/main" val="2499997710"/>
                        </a:ext>
                      </a:extLst>
                    </a:gridCol>
                    <a:gridCol w="1241782">
                      <a:extLst>
                        <a:ext uri="{9D8B030D-6E8A-4147-A177-3AD203B41FA5}">
                          <a16:colId xmlns:a16="http://schemas.microsoft.com/office/drawing/2014/main" val="1562057721"/>
                        </a:ext>
                      </a:extLst>
                    </a:gridCol>
                    <a:gridCol w="1241782">
                      <a:extLst>
                        <a:ext uri="{9D8B030D-6E8A-4147-A177-3AD203B41FA5}">
                          <a16:colId xmlns:a16="http://schemas.microsoft.com/office/drawing/2014/main" val="352734028"/>
                        </a:ext>
                      </a:extLst>
                    </a:gridCol>
                    <a:gridCol w="1074362">
                      <a:extLst>
                        <a:ext uri="{9D8B030D-6E8A-4147-A177-3AD203B41FA5}">
                          <a16:colId xmlns:a16="http://schemas.microsoft.com/office/drawing/2014/main" val="413959594"/>
                        </a:ext>
                      </a:extLst>
                    </a:gridCol>
                    <a:gridCol w="2295476">
                      <a:extLst>
                        <a:ext uri="{9D8B030D-6E8A-4147-A177-3AD203B41FA5}">
                          <a16:colId xmlns:a16="http://schemas.microsoft.com/office/drawing/2014/main" val="2489045653"/>
                        </a:ext>
                      </a:extLst>
                    </a:gridCol>
                  </a:tblGrid>
                  <a:tr h="397322">
                    <a:tc>
                      <a:txBody>
                        <a:bodyPr/>
                        <a:lstStyle/>
                        <a:p>
                          <a:endParaRPr lang="zh-CN"/>
                        </a:p>
                      </a:txBody>
                      <a:tcPr marL="66220" marR="66220" marT="0" marB="0" anchor="ctr">
                        <a:blipFill>
                          <a:blip r:embed="rId4"/>
                          <a:stretch>
                            <a:fillRect t="-3125" r="-470345" b="-221875"/>
                          </a:stretch>
                        </a:blipFill>
                      </a:tcPr>
                    </a:tc>
                    <a:tc>
                      <a:txBody>
                        <a:bodyPr/>
                        <a:lstStyle/>
                        <a:p>
                          <a:endParaRPr lang="zh-CN"/>
                        </a:p>
                      </a:txBody>
                      <a:tcPr marL="66220" marR="66220" marT="0" marB="0" anchor="ctr">
                        <a:blipFill>
                          <a:blip r:embed="rId4"/>
                          <a:stretch>
                            <a:fillRect l="-119835" t="-3125" r="-463636" b="-221875"/>
                          </a:stretch>
                        </a:blipFill>
                      </a:tcPr>
                    </a:tc>
                    <a:tc>
                      <a:txBody>
                        <a:bodyPr/>
                        <a:lstStyle/>
                        <a:p>
                          <a:endParaRPr lang="zh-CN"/>
                        </a:p>
                      </a:txBody>
                      <a:tcPr marL="66220" marR="66220" marT="0" marB="0" anchor="ctr">
                        <a:blipFill>
                          <a:blip r:embed="rId4"/>
                          <a:stretch>
                            <a:fillRect l="-274227" t="-3125" r="-478351" b="-221875"/>
                          </a:stretch>
                        </a:blipFill>
                      </a:tcPr>
                    </a:tc>
                    <a:tc>
                      <a:txBody>
                        <a:bodyPr/>
                        <a:lstStyle/>
                        <a:p>
                          <a:endParaRPr lang="zh-CN"/>
                        </a:p>
                      </a:txBody>
                      <a:tcPr marL="66220" marR="66220" marT="0" marB="0" anchor="ctr">
                        <a:blipFill>
                          <a:blip r:embed="rId4"/>
                          <a:stretch>
                            <a:fillRect l="-370408" t="-3125" r="-373469" b="-221875"/>
                          </a:stretch>
                        </a:blipFill>
                      </a:tcPr>
                    </a:tc>
                    <a:tc>
                      <a:txBody>
                        <a:bodyPr/>
                        <a:lstStyle/>
                        <a:p>
                          <a:endParaRPr lang="zh-CN"/>
                        </a:p>
                      </a:txBody>
                      <a:tcPr marL="66220" marR="66220" marT="0" marB="0" anchor="ctr">
                        <a:blipFill>
                          <a:blip r:embed="rId4"/>
                          <a:stretch>
                            <a:fillRect l="-470408" t="-3125" r="-273469" b="-221875"/>
                          </a:stretch>
                        </a:blipFill>
                      </a:tcPr>
                    </a:tc>
                    <a:tc>
                      <a:txBody>
                        <a:bodyPr/>
                        <a:lstStyle/>
                        <a:p>
                          <a:endParaRPr lang="zh-CN"/>
                        </a:p>
                      </a:txBody>
                      <a:tcPr marL="66220" marR="66220" marT="0" marB="0" anchor="ctr">
                        <a:blipFill>
                          <a:blip r:embed="rId4"/>
                          <a:stretch>
                            <a:fillRect l="-657647" t="-3125" r="-215294" b="-221875"/>
                          </a:stretch>
                        </a:blipFill>
                      </a:tcPr>
                    </a:tc>
                    <a:tc>
                      <a:txBody>
                        <a:bodyPr/>
                        <a:lstStyle/>
                        <a:p>
                          <a:endParaRPr lang="zh-CN"/>
                        </a:p>
                      </a:txBody>
                      <a:tcPr marL="66220" marR="66220" marT="0" marB="0" anchor="ctr">
                        <a:blipFill>
                          <a:blip r:embed="rId4"/>
                          <a:stretch>
                            <a:fillRect l="-355801" t="-3125" r="-1105" b="-221875"/>
                          </a:stretch>
                        </a:blipFill>
                      </a:tcPr>
                    </a:tc>
                    <a:extLst>
                      <a:ext uri="{0D108BD9-81ED-4DB2-BD59-A6C34878D82A}">
                        <a16:rowId xmlns:a16="http://schemas.microsoft.com/office/drawing/2014/main" val="3245499765"/>
                      </a:ext>
                    </a:extLst>
                  </a:tr>
                  <a:tr h="397322">
                    <a:tc>
                      <a:txBody>
                        <a:bodyPr/>
                        <a:lstStyle/>
                        <a:p>
                          <a:endParaRPr lang="zh-CN"/>
                        </a:p>
                      </a:txBody>
                      <a:tcPr marL="66220" marR="66220" marT="0" marB="0" anchor="ctr">
                        <a:blipFill>
                          <a:blip r:embed="rId4"/>
                          <a:stretch>
                            <a:fillRect t="-106452" r="-470345" b="-129032"/>
                          </a:stretch>
                        </a:blipFill>
                      </a:tcPr>
                    </a:tc>
                    <a:tc>
                      <a:txBody>
                        <a:bodyPr/>
                        <a:lstStyle/>
                        <a:p>
                          <a:pPr indent="127000" algn="ctr">
                            <a:lnSpc>
                              <a:spcPct val="150000"/>
                            </a:lnSpc>
                          </a:pPr>
                          <a:r>
                            <a:rPr lang="en-US" sz="1700" kern="100" dirty="0">
                              <a:effectLst/>
                            </a:rPr>
                            <a:t>200000</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40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altLang="zh-CN" sz="1700" kern="100" dirty="0">
                              <a:effectLst/>
                            </a:rPr>
                            <a:t>2</a:t>
                          </a:r>
                          <a:r>
                            <a:rPr lang="en-US" sz="1700" kern="100" dirty="0">
                              <a:effectLst/>
                            </a:rPr>
                            <a:t>1</a:t>
                          </a:r>
                          <a:r>
                            <a:rPr lang="en-US" altLang="zh-CN" sz="1700" kern="100" dirty="0">
                              <a:effectLst/>
                            </a:rPr>
                            <a:t>3</a:t>
                          </a:r>
                          <a:r>
                            <a:rPr lang="en-US" sz="1700" kern="100" dirty="0">
                              <a:effectLst/>
                            </a:rPr>
                            <a:t>000</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endParaRPr lang="zh-CN"/>
                        </a:p>
                      </a:txBody>
                      <a:tcPr marL="66220" marR="66220" marT="0" marB="0" anchor="ctr">
                        <a:blipFill>
                          <a:blip r:embed="rId4"/>
                          <a:stretch>
                            <a:fillRect l="-355801" t="-106452" r="-1105" b="-129032"/>
                          </a:stretch>
                        </a:blipFill>
                      </a:tcPr>
                    </a:tc>
                    <a:extLst>
                      <a:ext uri="{0D108BD9-81ED-4DB2-BD59-A6C34878D82A}">
                        <a16:rowId xmlns:a16="http://schemas.microsoft.com/office/drawing/2014/main" val="34129824"/>
                      </a:ext>
                    </a:extLst>
                  </a:tr>
                  <a:tr h="397322">
                    <a:tc>
                      <a:txBody>
                        <a:bodyPr/>
                        <a:lstStyle/>
                        <a:p>
                          <a:endParaRPr lang="zh-CN"/>
                        </a:p>
                      </a:txBody>
                      <a:tcPr marL="66220" marR="66220" marT="0" marB="0" anchor="ctr">
                        <a:blipFill>
                          <a:blip r:embed="rId4"/>
                          <a:stretch>
                            <a:fillRect t="-200000" r="-470345" b="-25000"/>
                          </a:stretch>
                        </a:blipFill>
                      </a:tcPr>
                    </a:tc>
                    <a:tc>
                      <a:txBody>
                        <a:bodyPr/>
                        <a:lstStyle/>
                        <a:p>
                          <a:pPr indent="127000" algn="ctr">
                            <a:lnSpc>
                              <a:spcPct val="150000"/>
                            </a:lnSpc>
                          </a:pPr>
                          <a:r>
                            <a:rPr lang="en-US" sz="1700" kern="100">
                              <a:effectLst/>
                            </a:rPr>
                            <a:t>40000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40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sz="1700" kern="100">
                              <a:effectLst/>
                            </a:rPr>
                            <a:t>200</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pPr indent="127000" algn="ctr">
                            <a:lnSpc>
                              <a:spcPct val="150000"/>
                            </a:lnSpc>
                          </a:pPr>
                          <a:r>
                            <a:rPr lang="en-US" altLang="zh-CN" sz="1700" kern="100" dirty="0">
                              <a:effectLst/>
                            </a:rPr>
                            <a:t>47</a:t>
                          </a:r>
                          <a:r>
                            <a:rPr lang="en-US" sz="1700" kern="100" dirty="0">
                              <a:effectLst/>
                            </a:rPr>
                            <a:t>000</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6220" marR="66220" marT="0" marB="0" anchor="ctr"/>
                    </a:tc>
                    <a:tc>
                      <a:txBody>
                        <a:bodyPr/>
                        <a:lstStyle/>
                        <a:p>
                          <a:endParaRPr lang="zh-CN"/>
                        </a:p>
                      </a:txBody>
                      <a:tcPr marL="66220" marR="66220" marT="0" marB="0" anchor="ctr">
                        <a:blipFill>
                          <a:blip r:embed="rId4"/>
                          <a:stretch>
                            <a:fillRect l="-355801" t="-200000" r="-1105" b="-25000"/>
                          </a:stretch>
                        </a:blipFill>
                      </a:tcPr>
                    </a:tc>
                    <a:extLst>
                      <a:ext uri="{0D108BD9-81ED-4DB2-BD59-A6C34878D82A}">
                        <a16:rowId xmlns:a16="http://schemas.microsoft.com/office/drawing/2014/main" val="1133998537"/>
                      </a:ext>
                    </a:extLst>
                  </a:tr>
                </a:tbl>
              </a:graphicData>
            </a:graphic>
          </p:graphicFrame>
        </mc:Fallback>
      </mc:AlternateContent>
    </p:spTree>
    <p:extLst>
      <p:ext uri="{BB962C8B-B14F-4D97-AF65-F5344CB8AC3E}">
        <p14:creationId xmlns:p14="http://schemas.microsoft.com/office/powerpoint/2010/main" val="113946952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456894"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b="1" dirty="0">
                    <a:solidFill>
                      <a:srgbClr val="701988"/>
                    </a:solidFill>
                    <a:latin typeface="+mj-ea"/>
                    <a:ea typeface="+mj-ea"/>
                  </a:rPr>
                  <a:t>考虑所有四个关系时，</a:t>
                </a:r>
                <a14:m>
                  <m:oMath xmlns:m="http://schemas.openxmlformats.org/officeDocument/2006/math">
                    <m:r>
                      <a:rPr lang="en-US" altLang="zh-CN" sz="2400" b="1" i="1">
                        <a:solidFill>
                          <a:srgbClr val="701988"/>
                        </a:solidFill>
                        <a:latin typeface="Cambria Math" panose="02040503050406030204" pitchFamily="18" charset="0"/>
                        <a:ea typeface="+mj-ea"/>
                      </a:rPr>
                      <m:t>𝑺</m:t>
                    </m:r>
                    <m:r>
                      <a:rPr lang="en-US" altLang="zh-CN" sz="2400" b="1" i="1">
                        <a:solidFill>
                          <a:srgbClr val="701988"/>
                        </a:solidFill>
                        <a:latin typeface="Cambria Math" panose="02040503050406030204" pitchFamily="18" charset="0"/>
                        <a:ea typeface="+mj-ea"/>
                      </a:rPr>
                      <m:t>=</m:t>
                    </m:r>
                    <m:d>
                      <m:dPr>
                        <m:begChr m:val="{"/>
                        <m:endChr m:val="}"/>
                        <m:ctrlPr>
                          <a:rPr lang="en-US" altLang="zh-CN" sz="2400" b="1" i="1">
                            <a:solidFill>
                              <a:srgbClr val="701988"/>
                            </a:solidFill>
                            <a:latin typeface="Cambria Math" panose="02040503050406030204" pitchFamily="18" charset="0"/>
                            <a:ea typeface="+mj-ea"/>
                          </a:rPr>
                        </m:ctrlPr>
                      </m:dPr>
                      <m:e>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𝟏</m:t>
                            </m:r>
                          </m:sub>
                        </m:sSub>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𝟐</m:t>
                            </m:r>
                          </m:sub>
                        </m:sSub>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𝟑</m:t>
                            </m:r>
                          </m:sub>
                        </m:sSub>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𝟒</m:t>
                            </m:r>
                          </m:sub>
                        </m:sSub>
                      </m:e>
                    </m:d>
                  </m:oMath>
                </a14:m>
                <a:endParaRPr lang="en-US" altLang="zh-CN" sz="2400" dirty="0">
                  <a:latin typeface="+mj-ea"/>
                  <a:ea typeface="+mj-ea"/>
                </a:endParaRPr>
              </a:p>
              <a:p>
                <a:pPr>
                  <a:lnSpc>
                    <a:spcPct val="150000"/>
                  </a:lnSpc>
                  <a:buFont typeface="Wingdings" panose="05000000000000000000" pitchFamily="2" charset="2"/>
                  <a:buChar char="Ø"/>
                </a:pPr>
                <a:r>
                  <a:rPr lang="zh-CN" altLang="zh-CN" sz="2400" b="1" dirty="0">
                    <a:solidFill>
                      <a:srgbClr val="701988"/>
                    </a:solidFill>
                    <a:latin typeface="+mj-ea"/>
                    <a:ea typeface="+mj-ea"/>
                  </a:rPr>
                  <a:t>需要在</a:t>
                </a:r>
                <a:r>
                  <a:rPr lang="zh-CN" altLang="en-US" sz="2400" b="1" dirty="0">
                    <a:solidFill>
                      <a:srgbClr val="701988"/>
                    </a:solidFill>
                    <a:latin typeface="+mj-ea"/>
                    <a:ea typeface="+mj-ea"/>
                  </a:rPr>
                  <a:t>以下选项中选择</a:t>
                </a:r>
                <a:endParaRPr lang="en-US" altLang="zh-CN" sz="2400" b="1" dirty="0">
                  <a:solidFill>
                    <a:srgbClr val="701988"/>
                  </a:solidFill>
                  <a:latin typeface="+mj-ea"/>
                  <a:ea typeface="+mj-ea"/>
                </a:endParaRPr>
              </a:p>
              <a:p>
                <a:pPr lvl="1">
                  <a:lnSpc>
                    <a:spcPct val="150000"/>
                  </a:lnSpc>
                  <a:buFont typeface="Arial" panose="020B0604020202020204" pitchFamily="34" charset="0"/>
                  <a:buChar char="•"/>
                </a:pPr>
                <a14:m>
                  <m:oMath xmlns:m="http://schemas.openxmlformats.org/officeDocument/2006/math">
                    <m:r>
                      <m:rPr>
                        <m:sty m:val="p"/>
                      </m:rPr>
                      <a:rPr lang="en-US" altLang="zh-CN" sz="2000">
                        <a:latin typeface="Cambria Math" panose="02040503050406030204" pitchFamily="18" charset="0"/>
                        <a:ea typeface="+mj-ea"/>
                      </a:rPr>
                      <m:t>Seq</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3</m:t>
                            </m:r>
                          </m:sub>
                        </m:sSub>
                        <m:r>
                          <a:rPr lang="en-US" altLang="zh-CN" sz="2000" i="1">
                            <a:latin typeface="Cambria Math" panose="02040503050406030204" pitchFamily="18" charset="0"/>
                            <a:ea typeface="+mj-ea"/>
                          </a:rPr>
                          <m:t>}</m:t>
                        </m:r>
                      </m:e>
                    </m:d>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m:rPr>
                            <m:sty m:val="p"/>
                          </m:rPr>
                          <a:rPr lang="en-US" altLang="zh-CN" sz="2000">
                            <a:latin typeface="Cambria Math" panose="02040503050406030204" pitchFamily="18" charset="0"/>
                            <a:ea typeface="+mj-ea"/>
                          </a:rPr>
                          <m:t>Seq</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4</m:t>
                        </m:r>
                      </m:sub>
                    </m:sSub>
                    <m:r>
                      <a:rPr lang="en-US" altLang="zh-CN" sz="2000" i="1">
                        <a:latin typeface="Cambria Math" panose="02040503050406030204" pitchFamily="18" charset="0"/>
                        <a:ea typeface="+mj-ea"/>
                      </a:rPr>
                      <m:t>})</m:t>
                    </m:r>
                  </m:oMath>
                </a14:m>
                <a:r>
                  <a:rPr lang="zh-CN" altLang="zh-CN" sz="2000" dirty="0">
                    <a:latin typeface="+mj-ea"/>
                    <a:ea typeface="+mj-ea"/>
                  </a:rPr>
                  <a:t>，</a:t>
                </a:r>
                <a:endParaRPr lang="en-US" altLang="zh-CN" sz="2000" dirty="0">
                  <a:latin typeface="+mj-ea"/>
                  <a:ea typeface="+mj-ea"/>
                </a:endParaRPr>
              </a:p>
              <a:p>
                <a:pPr lvl="1">
                  <a:lnSpc>
                    <a:spcPct val="150000"/>
                  </a:lnSpc>
                  <a:buFont typeface="Arial" panose="020B0604020202020204" pitchFamily="34" charset="0"/>
                  <a:buChar char="•"/>
                </a:pPr>
                <a14:m>
                  <m:oMath xmlns:m="http://schemas.openxmlformats.org/officeDocument/2006/math">
                    <m:r>
                      <m:rPr>
                        <m:sty m:val="p"/>
                      </m:rPr>
                      <a:rPr lang="en-US" altLang="zh-CN" sz="2000">
                        <a:latin typeface="Cambria Math" panose="02040503050406030204" pitchFamily="18" charset="0"/>
                        <a:ea typeface="+mj-ea"/>
                      </a:rPr>
                      <m:t>Seq</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3</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4</m:t>
                            </m:r>
                          </m:sub>
                        </m:sSub>
                        <m:r>
                          <a:rPr lang="en-US" altLang="zh-CN" sz="2000" i="1">
                            <a:latin typeface="Cambria Math" panose="02040503050406030204" pitchFamily="18" charset="0"/>
                            <a:ea typeface="+mj-ea"/>
                          </a:rPr>
                          <m:t>}</m:t>
                        </m:r>
                      </m:e>
                    </m:d>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m:rPr>
                            <m:sty m:val="p"/>
                          </m:rPr>
                          <a:rPr lang="en-US" altLang="zh-CN" sz="2000">
                            <a:latin typeface="Cambria Math" panose="02040503050406030204" pitchFamily="18" charset="0"/>
                            <a:ea typeface="+mj-ea"/>
                          </a:rPr>
                          <m:t>Seq</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r>
                      <a:rPr lang="en-US" altLang="zh-CN" sz="2000" i="1">
                        <a:latin typeface="Cambria Math" panose="02040503050406030204" pitchFamily="18" charset="0"/>
                        <a:ea typeface="+mj-ea"/>
                      </a:rPr>
                      <m:t>})</m:t>
                    </m:r>
                    <m:r>
                      <a:rPr lang="zh-CN" altLang="en-US" sz="2000" b="0" i="0" smtClean="0">
                        <a:latin typeface="Cambria Math" panose="02040503050406030204" pitchFamily="18" charset="0"/>
                        <a:ea typeface="+mj-ea"/>
                      </a:rPr>
                      <m:t>，</m:t>
                    </m:r>
                  </m:oMath>
                </a14:m>
                <a:endParaRPr lang="en-US" altLang="zh-CN" sz="2000" b="0" i="0" dirty="0">
                  <a:latin typeface="+mj-ea"/>
                  <a:ea typeface="+mj-ea"/>
                </a:endParaRPr>
              </a:p>
              <a:p>
                <a:pPr lvl="1">
                  <a:lnSpc>
                    <a:spcPct val="150000"/>
                  </a:lnSpc>
                  <a:buFont typeface="Arial" panose="020B0604020202020204" pitchFamily="34" charset="0"/>
                  <a:buChar char="•"/>
                </a:pPr>
                <a14:m>
                  <m:oMath xmlns:m="http://schemas.openxmlformats.org/officeDocument/2006/math">
                    <m:r>
                      <m:rPr>
                        <m:sty m:val="p"/>
                      </m:rPr>
                      <a:rPr lang="en-US" altLang="zh-CN" sz="2000">
                        <a:latin typeface="Cambria Math" panose="02040503050406030204" pitchFamily="18" charset="0"/>
                        <a:ea typeface="+mj-ea"/>
                      </a:rPr>
                      <m:t>Seq</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1</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2</m:t>
                            </m:r>
                          </m:sub>
                        </m:sSub>
                        <m:r>
                          <a:rPr lang="en-US" altLang="zh-CN" sz="2000" i="1">
                            <a:latin typeface="Cambria Math" panose="02040503050406030204" pitchFamily="18" charset="0"/>
                            <a:ea typeface="+mj-ea"/>
                          </a:rPr>
                          <m:t>}</m:t>
                        </m:r>
                      </m:e>
                    </m:d>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m:rPr>
                            <m:sty m:val="p"/>
                          </m:rPr>
                          <a:rPr lang="en-US" altLang="zh-CN" sz="2000">
                            <a:latin typeface="Cambria Math" panose="02040503050406030204" pitchFamily="18" charset="0"/>
                            <a:ea typeface="+mj-ea"/>
                          </a:rPr>
                          <m:t>Seq</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3</m:t>
                        </m:r>
                      </m:sub>
                    </m:sSub>
                    <m:r>
                      <a:rPr lang="en-US" altLang="zh-CN" sz="2000" i="1">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a:rPr lang="en-US" altLang="zh-CN" sz="2000" i="1">
                            <a:latin typeface="Cambria Math" panose="02040503050406030204" pitchFamily="18" charset="0"/>
                            <a:ea typeface="+mj-ea"/>
                          </a:rPr>
                          <m:t>4</m:t>
                        </m:r>
                      </m:sub>
                    </m:sSub>
                    <m:r>
                      <a:rPr lang="en-US" altLang="zh-CN" sz="2000" i="1">
                        <a:latin typeface="Cambria Math" panose="02040503050406030204" pitchFamily="18" charset="0"/>
                        <a:ea typeface="+mj-ea"/>
                      </a:rPr>
                      <m:t>})</m:t>
                    </m:r>
                  </m:oMath>
                </a14:m>
                <a:endParaRPr lang="en-US" altLang="zh-CN" sz="2400" dirty="0">
                  <a:latin typeface="+mj-ea"/>
                  <a:ea typeface="+mj-ea"/>
                </a:endParaRPr>
              </a:p>
              <a:p>
                <a:pPr>
                  <a:lnSpc>
                    <a:spcPct val="150000"/>
                  </a:lnSpc>
                  <a:buFont typeface="Wingdings" panose="05000000000000000000" pitchFamily="2" charset="2"/>
                  <a:buChar char="Ø"/>
                </a:pPr>
                <a:r>
                  <a:rPr lang="zh-CN" altLang="zh-CN" sz="2400" b="1" dirty="0">
                    <a:solidFill>
                      <a:srgbClr val="701988"/>
                    </a:solidFill>
                    <a:latin typeface="+mj-ea"/>
                    <a:ea typeface="+mj-ea"/>
                  </a:rPr>
                  <a:t>对于</a:t>
                </a:r>
                <a14:m>
                  <m:oMath xmlns:m="http://schemas.openxmlformats.org/officeDocument/2006/math">
                    <m:r>
                      <a:rPr lang="en-US" altLang="zh-CN" sz="2400" b="1" i="1">
                        <a:solidFill>
                          <a:srgbClr val="701988"/>
                        </a:solidFill>
                        <a:latin typeface="Cambria Math" panose="02040503050406030204" pitchFamily="18" charset="0"/>
                        <a:ea typeface="+mj-ea"/>
                      </a:rPr>
                      <m:t>𝐒𝐞𝐪</m:t>
                    </m:r>
                    <m:d>
                      <m:dPr>
                        <m:ctrlPr>
                          <a:rPr lang="zh-CN" altLang="zh-CN" sz="2400" b="1" i="1">
                            <a:solidFill>
                              <a:srgbClr val="701988"/>
                            </a:solidFill>
                            <a:latin typeface="Cambria Math" panose="02040503050406030204" pitchFamily="18" charset="0"/>
                            <a:ea typeface="+mj-ea"/>
                          </a:rPr>
                        </m:ctrlPr>
                      </m:dPr>
                      <m:e>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𝟏</m:t>
                            </m:r>
                          </m:sub>
                        </m:sSub>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𝟐</m:t>
                            </m:r>
                          </m:sub>
                        </m:sSub>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𝟑</m:t>
                            </m:r>
                          </m:sub>
                        </m:sSub>
                        <m:r>
                          <a:rPr lang="en-US" altLang="zh-CN" sz="2400" b="1" i="1">
                            <a:solidFill>
                              <a:srgbClr val="701988"/>
                            </a:solidFill>
                            <a:latin typeface="Cambria Math" panose="02040503050406030204" pitchFamily="18" charset="0"/>
                            <a:ea typeface="+mj-ea"/>
                          </a:rPr>
                          <m:t>}</m:t>
                        </m:r>
                      </m:e>
                    </m:d>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𝑺𝒆𝒒</m:t>
                        </m:r>
                        <m:r>
                          <a:rPr lang="en-US" altLang="zh-CN" sz="2400" b="1" i="1">
                            <a:solidFill>
                              <a:srgbClr val="701988"/>
                            </a:solidFill>
                            <a:latin typeface="Cambria Math" panose="02040503050406030204" pitchFamily="18" charset="0"/>
                            <a:ea typeface="+mj-ea"/>
                          </a:rPr>
                          <m:t>({</m:t>
                        </m:r>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𝟒</m:t>
                        </m:r>
                      </m:sub>
                    </m:sSub>
                    <m:r>
                      <a:rPr lang="en-US" altLang="zh-CN" sz="2400" b="1" i="1">
                        <a:solidFill>
                          <a:srgbClr val="701988"/>
                        </a:solidFill>
                        <a:latin typeface="Cambria Math" panose="02040503050406030204" pitchFamily="18" charset="0"/>
                        <a:ea typeface="+mj-ea"/>
                      </a:rPr>
                      <m:t>})</m:t>
                    </m:r>
                  </m:oMath>
                </a14:m>
                <a:r>
                  <a:rPr lang="zh-CN" altLang="en-US" sz="2400" b="1" dirty="0">
                    <a:solidFill>
                      <a:srgbClr val="701988"/>
                    </a:solidFill>
                    <a:latin typeface="+mj-ea"/>
                    <a:ea typeface="+mj-ea"/>
                  </a:rPr>
                  <a:t>，总代价：</a:t>
                </a:r>
                <a:r>
                  <a:rPr lang="zh-CN" altLang="zh-CN" sz="2400" b="1" dirty="0">
                    <a:solidFill>
                      <a:srgbClr val="701988"/>
                    </a:solidFill>
                    <a:latin typeface="+mj-ea"/>
                    <a:ea typeface="+mj-ea"/>
                  </a:rPr>
                  <a:t> </a:t>
                </a:r>
                <a:endParaRPr lang="en-US" altLang="zh-CN" sz="2400" b="1" dirty="0">
                  <a:solidFill>
                    <a:srgbClr val="701988"/>
                  </a:solidFill>
                  <a:latin typeface="+mj-ea"/>
                  <a:ea typeface="+mj-ea"/>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400" b="1" i="1" kern="100" smtClean="0">
                          <a:effectLst/>
                          <a:latin typeface="Cambria Math" panose="02040503050406030204" pitchFamily="18" charset="0"/>
                          <a:ea typeface="+mj-ea"/>
                          <a:cs typeface="Times New Roman" panose="02020603050405020304" pitchFamily="18" charset="0"/>
                        </a:rPr>
                        <m:t>𝑪</m:t>
                      </m:r>
                      <m:d>
                        <m:dPr>
                          <m:ctrlPr>
                            <a:rPr lang="zh-CN" altLang="zh-CN" sz="2400" b="1" i="1" kern="100">
                              <a:effectLst/>
                              <a:latin typeface="Cambria Math" panose="02040503050406030204" pitchFamily="18" charset="0"/>
                              <a:ea typeface="+mj-ea"/>
                              <a:cs typeface="Times New Roman" panose="02020603050405020304" pitchFamily="18" charset="0"/>
                            </a:rPr>
                          </m:ctrlPr>
                        </m:dPr>
                        <m:e>
                          <m:r>
                            <a:rPr lang="en-US" altLang="zh-CN" sz="2400" b="1" i="1" kern="100">
                              <a:effectLst/>
                              <a:latin typeface="Cambria Math" panose="02040503050406030204" pitchFamily="18" charset="0"/>
                              <a:ea typeface="+mj-ea"/>
                              <a:cs typeface="Times New Roman" panose="02020603050405020304" pitchFamily="18" charset="0"/>
                            </a:rPr>
                            <m:t>{</m:t>
                          </m:r>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𝟏</m:t>
                              </m:r>
                            </m:sub>
                          </m:sSub>
                          <m:r>
                            <a:rPr lang="en-US" altLang="zh-CN" sz="2400" b="1" i="1" kern="100">
                              <a:effectLst/>
                              <a:latin typeface="Cambria Math" panose="02040503050406030204" pitchFamily="18" charset="0"/>
                              <a:ea typeface="+mj-ea"/>
                              <a:cs typeface="Times New Roman" panose="02020603050405020304" pitchFamily="18" charset="0"/>
                            </a:rPr>
                            <m:t>,</m:t>
                          </m:r>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𝟐</m:t>
                              </m:r>
                            </m:sub>
                          </m:sSub>
                          <m:r>
                            <a:rPr lang="en-US" altLang="zh-CN" sz="2400" b="1" i="1" kern="100">
                              <a:effectLst/>
                              <a:latin typeface="Cambria Math" panose="02040503050406030204" pitchFamily="18" charset="0"/>
                              <a:ea typeface="+mj-ea"/>
                              <a:cs typeface="Times New Roman" panose="02020603050405020304" pitchFamily="18" charset="0"/>
                            </a:rPr>
                            <m:t>,</m:t>
                          </m:r>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𝟑</m:t>
                              </m:r>
                            </m:sub>
                          </m:sSub>
                          <m:r>
                            <a:rPr lang="en-US" altLang="zh-CN" sz="2400" b="1" i="1" kern="100">
                              <a:effectLst/>
                              <a:latin typeface="Cambria Math" panose="02040503050406030204" pitchFamily="18" charset="0"/>
                              <a:ea typeface="+mj-ea"/>
                              <a:cs typeface="Times New Roman" panose="02020603050405020304" pitchFamily="18" charset="0"/>
                            </a:rPr>
                            <m:t>}</m:t>
                          </m:r>
                        </m:e>
                      </m:d>
                      <m:r>
                        <a:rPr lang="en-US" altLang="zh-CN" sz="2400" b="1" i="1" kern="100">
                          <a:effectLst/>
                          <a:latin typeface="Cambria Math" panose="02040503050406030204" pitchFamily="18" charset="0"/>
                          <a:ea typeface="+mj-ea"/>
                          <a:cs typeface="Times New Roman" panose="02020603050405020304" pitchFamily="18" charset="0"/>
                        </a:rPr>
                        <m:t>+</m:t>
                      </m:r>
                      <m:r>
                        <a:rPr lang="en-US" altLang="zh-CN" sz="2400" b="1" i="1" kern="100">
                          <a:effectLst/>
                          <a:latin typeface="Cambria Math" panose="02040503050406030204" pitchFamily="18" charset="0"/>
                          <a:ea typeface="+mj-ea"/>
                          <a:cs typeface="Times New Roman" panose="02020603050405020304" pitchFamily="18" charset="0"/>
                        </a:rPr>
                        <m:t>𝑪</m:t>
                      </m:r>
                      <m:d>
                        <m:dPr>
                          <m:ctrlPr>
                            <a:rPr lang="zh-CN" altLang="zh-CN" sz="2400" b="1" i="1" kern="100">
                              <a:effectLst/>
                              <a:latin typeface="Cambria Math" panose="02040503050406030204" pitchFamily="18" charset="0"/>
                              <a:ea typeface="+mj-ea"/>
                              <a:cs typeface="Times New Roman" panose="02020603050405020304" pitchFamily="18" charset="0"/>
                            </a:rPr>
                          </m:ctrlPr>
                        </m:dPr>
                        <m:e>
                          <m:r>
                            <a:rPr lang="en-US" altLang="zh-CN" sz="2400" b="1" i="1" kern="100">
                              <a:effectLst/>
                              <a:latin typeface="Cambria Math" panose="02040503050406030204" pitchFamily="18" charset="0"/>
                              <a:ea typeface="+mj-ea"/>
                              <a:cs typeface="Times New Roman" panose="02020603050405020304" pitchFamily="18" charset="0"/>
                            </a:rPr>
                            <m:t>{</m:t>
                          </m:r>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𝟒</m:t>
                              </m:r>
                            </m:sub>
                          </m:sSub>
                          <m:r>
                            <a:rPr lang="en-US" altLang="zh-CN" sz="2400" b="1" i="1" kern="100">
                              <a:effectLst/>
                              <a:latin typeface="Cambria Math" panose="02040503050406030204" pitchFamily="18" charset="0"/>
                              <a:ea typeface="+mj-ea"/>
                              <a:cs typeface="Times New Roman" panose="02020603050405020304" pitchFamily="18" charset="0"/>
                            </a:rPr>
                            <m:t>}</m:t>
                          </m:r>
                        </m:e>
                      </m:d>
                      <m:r>
                        <a:rPr lang="en-US" altLang="zh-CN" sz="2400" b="1" i="1" kern="100">
                          <a:effectLst/>
                          <a:latin typeface="Cambria Math" panose="02040503050406030204" pitchFamily="18" charset="0"/>
                          <a:ea typeface="+mj-ea"/>
                          <a:cs typeface="Times New Roman" panose="02020603050405020304" pitchFamily="18" charset="0"/>
                        </a:rPr>
                        <m:t>+</m:t>
                      </m:r>
                      <m:r>
                        <a:rPr lang="en-US" altLang="zh-CN" sz="2400" b="1" i="1" kern="100" smtClean="0">
                          <a:effectLst/>
                          <a:latin typeface="Cambria Math" panose="02040503050406030204" pitchFamily="18" charset="0"/>
                          <a:ea typeface="+mj-ea"/>
                          <a:cs typeface="Times New Roman" panose="02020603050405020304" pitchFamily="18" charset="0"/>
                        </a:rPr>
                        <m:t>𝑪𝒐𝒔𝒕</m:t>
                      </m:r>
                      <m:d>
                        <m:dPr>
                          <m:ctrlPr>
                            <a:rPr lang="zh-CN" altLang="zh-CN" sz="2400" b="1" i="1" kern="100">
                              <a:effectLst/>
                              <a:latin typeface="Cambria Math" panose="02040503050406030204" pitchFamily="18" charset="0"/>
                              <a:ea typeface="+mj-ea"/>
                              <a:cs typeface="Times New Roman" panose="02020603050405020304" pitchFamily="18" charset="0"/>
                            </a:rPr>
                          </m:ctrlPr>
                        </m:dPr>
                        <m:e>
                          <m:d>
                            <m:dPr>
                              <m:begChr m:val="{"/>
                              <m:endChr m:val="}"/>
                              <m:ctrlPr>
                                <a:rPr lang="en-US" altLang="zh-CN" sz="2400" b="1" i="1" kern="100">
                                  <a:effectLst/>
                                  <a:latin typeface="Cambria Math" panose="02040503050406030204" pitchFamily="18" charset="0"/>
                                  <a:ea typeface="+mj-ea"/>
                                  <a:cs typeface="Times New Roman" panose="02020603050405020304" pitchFamily="18" charset="0"/>
                                </a:rPr>
                              </m:ctrlPr>
                            </m:dPr>
                            <m:e>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𝟏</m:t>
                                  </m:r>
                                </m:sub>
                              </m:sSub>
                              <m:r>
                                <a:rPr lang="en-US" altLang="zh-CN" sz="2400" b="1" i="1" kern="100">
                                  <a:effectLst/>
                                  <a:latin typeface="Cambria Math" panose="02040503050406030204" pitchFamily="18" charset="0"/>
                                  <a:ea typeface="+mj-ea"/>
                                  <a:cs typeface="Times New Roman" panose="02020603050405020304" pitchFamily="18" charset="0"/>
                                </a:rPr>
                                <m:t>,</m:t>
                              </m:r>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𝟐</m:t>
                                  </m:r>
                                </m:sub>
                              </m:sSub>
                              <m:r>
                                <a:rPr lang="en-US" altLang="zh-CN" sz="2400" b="1" i="1" kern="100">
                                  <a:effectLst/>
                                  <a:latin typeface="Cambria Math" panose="02040503050406030204" pitchFamily="18" charset="0"/>
                                  <a:ea typeface="+mj-ea"/>
                                  <a:cs typeface="Times New Roman" panose="02020603050405020304" pitchFamily="18" charset="0"/>
                                </a:rPr>
                                <m:t>,</m:t>
                              </m:r>
                              <m:sSub>
                                <m:sSubPr>
                                  <m:ctrlPr>
                                    <a:rPr lang="zh-CN" altLang="zh-CN" sz="2400" b="1" i="1" kern="100">
                                      <a:effectLst/>
                                      <a:latin typeface="Cambria Math" panose="02040503050406030204" pitchFamily="18" charset="0"/>
                                      <a:ea typeface="+mj-ea"/>
                                      <a:cs typeface="Times New Roman" panose="02020603050405020304" pitchFamily="18" charset="0"/>
                                    </a:rPr>
                                  </m:ctrlPr>
                                </m:sSubPr>
                                <m:e>
                                  <m:r>
                                    <a:rPr lang="en-US" altLang="zh-CN" sz="2400" b="1" i="1" kern="100">
                                      <a:effectLst/>
                                      <a:latin typeface="Cambria Math" panose="02040503050406030204" pitchFamily="18" charset="0"/>
                                      <a:ea typeface="+mj-ea"/>
                                      <a:cs typeface="Times New Roman" panose="02020603050405020304" pitchFamily="18" charset="0"/>
                                    </a:rPr>
                                    <m:t>𝑹</m:t>
                                  </m:r>
                                </m:e>
                                <m:sub>
                                  <m:r>
                                    <a:rPr lang="en-US" altLang="zh-CN" sz="2400" b="1" i="1" kern="100">
                                      <a:effectLst/>
                                      <a:latin typeface="Cambria Math" panose="02040503050406030204" pitchFamily="18" charset="0"/>
                                      <a:ea typeface="+mj-ea"/>
                                      <a:cs typeface="Times New Roman" panose="02020603050405020304" pitchFamily="18" charset="0"/>
                                    </a:rPr>
                                    <m:t>𝟑</m:t>
                                  </m:r>
                                </m:sub>
                              </m:sSub>
                            </m:e>
                          </m:d>
                          <m:r>
                            <a:rPr lang="en-US" altLang="zh-CN" sz="2400" b="1" i="1" kern="100" smtClean="0">
                              <a:effectLst/>
                              <a:latin typeface="Cambria Math" panose="02040503050406030204" pitchFamily="18" charset="0"/>
                              <a:ea typeface="+mj-ea"/>
                              <a:cs typeface="Times New Roman" panose="02020603050405020304" pitchFamily="18" charset="0"/>
                            </a:rPr>
                            <m:t>,</m:t>
                          </m:r>
                          <m:d>
                            <m:dPr>
                              <m:begChr m:val="{"/>
                              <m:endChr m:val="}"/>
                              <m:ctrlPr>
                                <a:rPr lang="en-US" altLang="zh-CN" sz="2400" b="1" i="1" kern="100">
                                  <a:latin typeface="Cambria Math" panose="02040503050406030204" pitchFamily="18" charset="0"/>
                                  <a:cs typeface="Times New Roman" panose="02020603050405020304" pitchFamily="18" charset="0"/>
                                </a:rPr>
                              </m:ctrlPr>
                            </m:dPr>
                            <m:e>
                              <m:sSub>
                                <m:sSubPr>
                                  <m:ctrlPr>
                                    <a:rPr lang="zh-CN" altLang="zh-CN" sz="2400" b="1" i="1" kern="100">
                                      <a:latin typeface="Cambria Math" panose="02040503050406030204" pitchFamily="18" charset="0"/>
                                      <a:cs typeface="Times New Roman" panose="02020603050405020304" pitchFamily="18" charset="0"/>
                                    </a:rPr>
                                  </m:ctrlPr>
                                </m:sSubPr>
                                <m:e>
                                  <m:r>
                                    <a:rPr lang="en-US" altLang="zh-CN" sz="2400" b="1" i="1" kern="100">
                                      <a:latin typeface="Cambria Math" panose="02040503050406030204" pitchFamily="18" charset="0"/>
                                      <a:cs typeface="Times New Roman" panose="02020603050405020304" pitchFamily="18" charset="0"/>
                                    </a:rPr>
                                    <m:t>𝑹</m:t>
                                  </m:r>
                                </m:e>
                                <m:sub>
                                  <m:r>
                                    <a:rPr lang="en-US" altLang="zh-CN" sz="2400" b="1" i="1" kern="100" smtClean="0">
                                      <a:latin typeface="Cambria Math" panose="02040503050406030204" pitchFamily="18" charset="0"/>
                                      <a:cs typeface="Times New Roman" panose="02020603050405020304" pitchFamily="18" charset="0"/>
                                    </a:rPr>
                                    <m:t>𝟒</m:t>
                                  </m:r>
                                </m:sub>
                              </m:sSub>
                              <m:r>
                                <a:rPr lang="zh-CN" altLang="zh-CN" sz="2400" b="1" i="1" kern="100" smtClean="0">
                                  <a:latin typeface="Cambria Math" panose="02040503050406030204" pitchFamily="18" charset="0"/>
                                  <a:cs typeface="Times New Roman" panose="02020603050405020304" pitchFamily="18" charset="0"/>
                                </a:rPr>
                                <m:t> </m:t>
                              </m:r>
                            </m:e>
                          </m:d>
                        </m:e>
                      </m:d>
                      <m:r>
                        <a:rPr lang="en-US" altLang="zh-CN" sz="2400" b="1" i="1" kern="100">
                          <a:effectLst/>
                          <a:latin typeface="Cambria Math" panose="02040503050406030204" pitchFamily="18" charset="0"/>
                          <a:ea typeface="+mj-ea"/>
                          <a:cs typeface="Times New Roman" panose="02020603050405020304" pitchFamily="18" charset="0"/>
                        </a:rPr>
                        <m:t>=</m:t>
                      </m:r>
                      <m:r>
                        <a:rPr lang="en-US" altLang="zh-CN" sz="2400" b="1" i="1" kern="100" smtClean="0">
                          <a:effectLst/>
                          <a:latin typeface="Cambria Math" panose="02040503050406030204" pitchFamily="18" charset="0"/>
                          <a:ea typeface="+mj-ea"/>
                          <a:cs typeface="Times New Roman" panose="02020603050405020304" pitchFamily="18" charset="0"/>
                        </a:rPr>
                        <m:t>𝟏𝟎𝟏𝟒𝟎𝟎𝟎</m:t>
                      </m:r>
                    </m:oMath>
                  </m:oMathPara>
                </a14:m>
                <a:endParaRPr lang="zh-CN" altLang="zh-CN" sz="2400" b="1" kern="100" dirty="0">
                  <a:effectLst/>
                  <a:latin typeface="+mj-ea"/>
                  <a:ea typeface="+mj-ea"/>
                  <a:cs typeface="Times New Roman" panose="02020603050405020304" pitchFamily="18" charset="0"/>
                </a:endParaRPr>
              </a:p>
              <a:p>
                <a:pPr marL="0" indent="0">
                  <a:buNone/>
                </a:pPr>
                <a:endParaRPr lang="zh-CN" altLang="zh-CN" sz="2400" b="1"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marL="316531" lvl="1" indent="-316531">
                  <a:buFont typeface="Wingdings" pitchFamily="2" charset="2"/>
                  <a:buChar char="p"/>
                </a:pPr>
                <a:endParaRPr lang="zh-CN" altLang="zh-CN" sz="2400" dirty="0">
                  <a:latin typeface="+mj-ea"/>
                  <a:ea typeface="+mj-ea"/>
                </a:endParaRPr>
              </a:p>
              <a:p>
                <a:pPr lvl="1">
                  <a:buFont typeface="Wingdings" pitchFamily="2" charset="2"/>
                  <a:buChar char="Ø"/>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1008000" y="1126800"/>
                <a:ext cx="11456894" cy="4876801"/>
              </a:xfrm>
              <a:prstGeom prst="rect">
                <a:avLst/>
              </a:prstGeom>
              <a:blipFill>
                <a:blip r:embed="rId3"/>
                <a:stretch>
                  <a:fillRect l="-77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822C6036-5693-18A4-0BEC-72B8A1E203CD}"/>
              </a:ext>
            </a:extLst>
          </p:cNvPr>
          <p:cNvSpPr>
            <a:spLocks noGrp="1"/>
          </p:cNvSpPr>
          <p:nvPr>
            <p:ph type="sldNum" sz="quarter" idx="10"/>
          </p:nvPr>
        </p:nvSpPr>
        <p:spPr/>
        <p:txBody>
          <a:bodyPr/>
          <a:lstStyle/>
          <a:p>
            <a:fld id="{87BBDC00-B9E2-4EFD-9306-2934E87247C6}" type="slidenum">
              <a:rPr lang="zh-CN" altLang="en-US" smtClean="0"/>
              <a:pPr/>
              <a:t>108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动态规划算法示例</a:t>
            </a:r>
          </a:p>
        </p:txBody>
      </p:sp>
      <p:sp>
        <p:nvSpPr>
          <p:cNvPr id="4" name="页脚占位符 3">
            <a:extLst>
              <a:ext uri="{FF2B5EF4-FFF2-40B4-BE49-F238E27FC236}">
                <a16:creationId xmlns:a16="http://schemas.microsoft.com/office/drawing/2014/main" id="{BEDBA887-23F5-1536-01DE-756DD5EAC716}"/>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19011717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456894" cy="567149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b="1" dirty="0">
                    <a:latin typeface="+mj-ea"/>
                    <a:ea typeface="+mj-ea"/>
                  </a:rPr>
                  <a:t>对于</a:t>
                </a:r>
                <a14:m>
                  <m:oMath xmlns:m="http://schemas.openxmlformats.org/officeDocument/2006/math">
                    <m:r>
                      <a:rPr lang="en-US" altLang="zh-CN" sz="2400" b="1" i="1" smtClean="0">
                        <a:latin typeface="Cambria Math" panose="02040503050406030204" pitchFamily="18" charset="0"/>
                        <a:ea typeface="+mj-ea"/>
                      </a:rPr>
                      <m:t>𝑺𝒆𝒒</m:t>
                    </m:r>
                    <m:d>
                      <m:dPr>
                        <m:ctrlPr>
                          <a:rPr lang="zh-CN" altLang="zh-CN" sz="2400" b="1" i="1">
                            <a:latin typeface="Cambria Math" panose="02040503050406030204" pitchFamily="18" charset="0"/>
                            <a:ea typeface="+mj-ea"/>
                          </a:rPr>
                        </m:ctrlPr>
                      </m:dPr>
                      <m:e>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𝟐</m:t>
                            </m:r>
                          </m:sub>
                        </m:sSub>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𝟑</m:t>
                            </m:r>
                          </m:sub>
                        </m:sSub>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𝟒</m:t>
                            </m:r>
                          </m:sub>
                        </m:sSub>
                        <m:r>
                          <a:rPr lang="en-US" altLang="zh-CN" sz="2400" b="1" i="1" smtClean="0">
                            <a:latin typeface="Cambria Math" panose="02040503050406030204" pitchFamily="18" charset="0"/>
                            <a:ea typeface="+mj-ea"/>
                          </a:rPr>
                          <m:t>}</m:t>
                        </m:r>
                      </m:e>
                    </m:d>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𝑺𝒆𝒒</m:t>
                        </m:r>
                        <m:r>
                          <a:rPr lang="en-US" altLang="zh-CN" sz="2400" b="1" i="1" smtClean="0">
                            <a:latin typeface="Cambria Math" panose="02040503050406030204" pitchFamily="18" charset="0"/>
                            <a:ea typeface="+mj-ea"/>
                          </a:rPr>
                          <m:t>({</m:t>
                        </m:r>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𝟏</m:t>
                        </m:r>
                      </m:sub>
                    </m:sSub>
                    <m:r>
                      <a:rPr lang="en-US" altLang="zh-CN" sz="2400" b="1" i="1" smtClean="0">
                        <a:latin typeface="Cambria Math" panose="02040503050406030204" pitchFamily="18" charset="0"/>
                        <a:ea typeface="+mj-ea"/>
                      </a:rPr>
                      <m:t>})</m:t>
                    </m:r>
                    <m:r>
                      <a:rPr lang="zh-CN" altLang="en-US" sz="2400" b="1" i="1" smtClean="0">
                        <a:latin typeface="Cambria Math" panose="02040503050406030204" pitchFamily="18" charset="0"/>
                        <a:ea typeface="+mj-ea"/>
                      </a:rPr>
                      <m:t>，总代价</m:t>
                    </m:r>
                  </m:oMath>
                </a14:m>
                <a:endParaRPr lang="en-US" altLang="zh-CN" sz="2400" b="1" dirty="0">
                  <a:latin typeface="+mj-ea"/>
                  <a:ea typeface="+mj-ea"/>
                </a:endParaRPr>
              </a:p>
              <a:p>
                <a:pPr marL="0" indent="0" algn="ctr">
                  <a:lnSpc>
                    <a:spcPct val="150000"/>
                  </a:lnSpc>
                  <a:buNone/>
                </a:pPr>
                <a:r>
                  <a:rPr lang="zh-CN" altLang="zh-CN" sz="2000" b="1" dirty="0">
                    <a:latin typeface="+mj-ea"/>
                    <a:ea typeface="+mj-ea"/>
                  </a:rPr>
                  <a:t> </a:t>
                </a:r>
                <a14:m>
                  <m:oMath xmlns:m="http://schemas.openxmlformats.org/officeDocument/2006/math">
                    <m:r>
                      <a:rPr lang="en-US" altLang="zh-CN" sz="2000" b="1" i="0" kern="100" smtClean="0">
                        <a:effectLst/>
                        <a:latin typeface="Cambria Math" panose="02040503050406030204" pitchFamily="18" charset="0"/>
                        <a:ea typeface="+mj-ea"/>
                        <a:cs typeface="Times New Roman" panose="02020603050405020304" pitchFamily="18" charset="0"/>
                      </a:rPr>
                      <m:t>𝐂</m:t>
                    </m:r>
                    <m:d>
                      <m:dPr>
                        <m:ctrlPr>
                          <a:rPr lang="zh-CN" altLang="zh-CN" sz="2000" b="1" i="1" kern="100">
                            <a:effectLst/>
                            <a:latin typeface="Cambria Math" panose="02040503050406030204" pitchFamily="18" charset="0"/>
                            <a:ea typeface="+mj-ea"/>
                            <a:cs typeface="Times New Roman" panose="02020603050405020304" pitchFamily="18" charset="0"/>
                          </a:rPr>
                        </m:ctrlPr>
                      </m:dPr>
                      <m:e>
                        <m:r>
                          <a:rPr lang="en-US" altLang="zh-CN" sz="2000" b="1" i="0"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𝟐</m:t>
                            </m:r>
                          </m:sub>
                        </m:sSub>
                        <m:r>
                          <a:rPr lang="en-US" altLang="zh-CN" sz="2000" b="1" i="1"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𝟑</m:t>
                            </m:r>
                          </m:sub>
                        </m:sSub>
                        <m:r>
                          <a:rPr lang="en-US" altLang="zh-CN" sz="2000" b="1" i="1"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𝟒</m:t>
                            </m:r>
                          </m:sub>
                        </m:sSub>
                        <m:r>
                          <a:rPr lang="en-US" altLang="zh-CN" sz="2000" b="1" i="0" kern="100" smtClean="0">
                            <a:effectLst/>
                            <a:latin typeface="Cambria Math" panose="02040503050406030204" pitchFamily="18" charset="0"/>
                            <a:ea typeface="+mj-ea"/>
                            <a:cs typeface="Times New Roman" panose="02020603050405020304" pitchFamily="18" charset="0"/>
                          </a:rPr>
                          <m:t>}</m:t>
                        </m:r>
                      </m:e>
                    </m:d>
                    <m:r>
                      <a:rPr lang="en-US" altLang="zh-CN" sz="2000" b="1" i="0" kern="100" smtClean="0">
                        <a:effectLst/>
                        <a:latin typeface="Cambria Math" panose="02040503050406030204" pitchFamily="18" charset="0"/>
                        <a:ea typeface="+mj-ea"/>
                        <a:cs typeface="Times New Roman" panose="02020603050405020304" pitchFamily="18" charset="0"/>
                      </a:rPr>
                      <m:t>+</m:t>
                    </m:r>
                    <m:r>
                      <a:rPr lang="en-US" altLang="zh-CN" sz="2000" b="1" i="0" kern="100" smtClean="0">
                        <a:effectLst/>
                        <a:latin typeface="Cambria Math" panose="02040503050406030204" pitchFamily="18" charset="0"/>
                        <a:ea typeface="+mj-ea"/>
                        <a:cs typeface="Times New Roman" panose="02020603050405020304" pitchFamily="18" charset="0"/>
                      </a:rPr>
                      <m:t>𝐂</m:t>
                    </m:r>
                    <m:d>
                      <m:dPr>
                        <m:ctrlPr>
                          <a:rPr lang="zh-CN" altLang="zh-CN" sz="2000" b="1" i="1" kern="100">
                            <a:effectLst/>
                            <a:latin typeface="Cambria Math" panose="02040503050406030204" pitchFamily="18" charset="0"/>
                            <a:ea typeface="+mj-ea"/>
                            <a:cs typeface="Times New Roman" panose="02020603050405020304" pitchFamily="18" charset="0"/>
                          </a:rPr>
                        </m:ctrlPr>
                      </m:dPr>
                      <m:e>
                        <m:r>
                          <a:rPr lang="en-US" altLang="zh-CN" sz="2000" b="1" i="0"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𝟏</m:t>
                            </m:r>
                          </m:sub>
                        </m:sSub>
                        <m:r>
                          <a:rPr lang="en-US" altLang="zh-CN" sz="2000" b="1" i="0" kern="100" smtClean="0">
                            <a:effectLst/>
                            <a:latin typeface="Cambria Math" panose="02040503050406030204" pitchFamily="18" charset="0"/>
                            <a:ea typeface="+mj-ea"/>
                            <a:cs typeface="Times New Roman" panose="02020603050405020304" pitchFamily="18" charset="0"/>
                          </a:rPr>
                          <m:t>}</m:t>
                        </m:r>
                      </m:e>
                    </m:d>
                    <m:r>
                      <a:rPr lang="en-US" altLang="zh-CN" sz="2000" b="1" i="0" kern="100" smtClean="0">
                        <a:effectLst/>
                        <a:latin typeface="Cambria Math" panose="02040503050406030204" pitchFamily="18" charset="0"/>
                        <a:ea typeface="+mj-ea"/>
                        <a:cs typeface="Times New Roman" panose="02020603050405020304" pitchFamily="18" charset="0"/>
                      </a:rPr>
                      <m:t>+</m:t>
                    </m:r>
                    <m:r>
                      <a:rPr lang="en-US" altLang="zh-CN" sz="2000" b="1" i="1" kern="100">
                        <a:latin typeface="Cambria Math" panose="02040503050406030204" pitchFamily="18" charset="0"/>
                        <a:cs typeface="Times New Roman" panose="02020603050405020304" pitchFamily="18" charset="0"/>
                      </a:rPr>
                      <m:t>𝑪𝒐𝒔𝒕</m:t>
                    </m:r>
                    <m:d>
                      <m:dPr>
                        <m:ctrlPr>
                          <a:rPr lang="zh-CN" altLang="zh-CN" sz="2000" b="1" i="1" kern="100">
                            <a:latin typeface="Cambria Math" panose="02040503050406030204" pitchFamily="18" charset="0"/>
                            <a:cs typeface="Times New Roman" panose="02020603050405020304" pitchFamily="18" charset="0"/>
                          </a:rPr>
                        </m:ctrlPr>
                      </m:dPr>
                      <m:e>
                        <m:d>
                          <m:dPr>
                            <m:begChr m:val="{"/>
                            <m:endChr m:val="}"/>
                            <m:ctrlPr>
                              <a:rPr lang="en-US" altLang="zh-CN" sz="2000" b="1" i="1" kern="100">
                                <a:latin typeface="Cambria Math" panose="02040503050406030204" pitchFamily="18" charset="0"/>
                                <a:cs typeface="Times New Roman" panose="02020603050405020304" pitchFamily="18" charset="0"/>
                              </a:rPr>
                            </m:ctrlPr>
                          </m:dPr>
                          <m:e>
                            <m:sSub>
                              <m:sSubPr>
                                <m:ctrlPr>
                                  <a:rPr lang="zh-CN" altLang="zh-CN" sz="2000" b="1" i="1">
                                    <a:latin typeface="Cambria Math" panose="02040503050406030204" pitchFamily="18" charset="0"/>
                                  </a:rPr>
                                </m:ctrlPr>
                              </m:sSubPr>
                              <m:e>
                                <m:r>
                                  <a:rPr lang="en-US" altLang="zh-CN" sz="2000" b="1" i="1">
                                    <a:latin typeface="Cambria Math" panose="02040503050406030204" pitchFamily="18" charset="0"/>
                                  </a:rPr>
                                  <m:t>𝑹</m:t>
                                </m:r>
                              </m:e>
                              <m:sub>
                                <m:r>
                                  <a:rPr lang="en-US" altLang="zh-CN" sz="2000" b="1" i="1">
                                    <a:latin typeface="Cambria Math" panose="02040503050406030204" pitchFamily="18" charset="0"/>
                                  </a:rPr>
                                  <m:t>𝟐</m:t>
                                </m:r>
                              </m:sub>
                            </m:sSub>
                            <m:r>
                              <a:rPr lang="en-US" altLang="zh-CN" sz="2000" b="1" i="1">
                                <a:latin typeface="Cambria Math" panose="02040503050406030204" pitchFamily="18" charset="0"/>
                              </a:rPr>
                              <m:t>,</m:t>
                            </m:r>
                            <m:sSub>
                              <m:sSubPr>
                                <m:ctrlPr>
                                  <a:rPr lang="zh-CN" altLang="zh-CN" sz="2000" b="1" i="1">
                                    <a:latin typeface="Cambria Math" panose="02040503050406030204" pitchFamily="18" charset="0"/>
                                  </a:rPr>
                                </m:ctrlPr>
                              </m:sSubPr>
                              <m:e>
                                <m:r>
                                  <a:rPr lang="en-US" altLang="zh-CN" sz="2000" b="1" i="1">
                                    <a:latin typeface="Cambria Math" panose="02040503050406030204" pitchFamily="18" charset="0"/>
                                  </a:rPr>
                                  <m:t>𝑹</m:t>
                                </m:r>
                              </m:e>
                              <m:sub>
                                <m:r>
                                  <a:rPr lang="en-US" altLang="zh-CN" sz="2000" b="1" i="1">
                                    <a:latin typeface="Cambria Math" panose="02040503050406030204" pitchFamily="18" charset="0"/>
                                  </a:rPr>
                                  <m:t>𝟑</m:t>
                                </m:r>
                              </m:sub>
                            </m:sSub>
                            <m:r>
                              <a:rPr lang="en-US" altLang="zh-CN" sz="2000" b="1" i="1">
                                <a:latin typeface="Cambria Math" panose="02040503050406030204" pitchFamily="18" charset="0"/>
                              </a:rPr>
                              <m:t>,</m:t>
                            </m:r>
                            <m:sSub>
                              <m:sSubPr>
                                <m:ctrlPr>
                                  <a:rPr lang="zh-CN" altLang="zh-CN" sz="2000" b="1" i="1">
                                    <a:latin typeface="Cambria Math" panose="02040503050406030204" pitchFamily="18" charset="0"/>
                                  </a:rPr>
                                </m:ctrlPr>
                              </m:sSubPr>
                              <m:e>
                                <m:r>
                                  <a:rPr lang="en-US" altLang="zh-CN" sz="2000" b="1" i="1">
                                    <a:latin typeface="Cambria Math" panose="02040503050406030204" pitchFamily="18" charset="0"/>
                                  </a:rPr>
                                  <m:t>𝑹</m:t>
                                </m:r>
                              </m:e>
                              <m:sub>
                                <m:r>
                                  <a:rPr lang="en-US" altLang="zh-CN" sz="2000" b="1" i="1">
                                    <a:latin typeface="Cambria Math" panose="02040503050406030204" pitchFamily="18" charset="0"/>
                                  </a:rPr>
                                  <m:t>𝟒</m:t>
                                </m:r>
                              </m:sub>
                            </m:sSub>
                          </m:e>
                        </m:d>
                        <m:r>
                          <a:rPr lang="en-US" altLang="zh-CN" sz="2000" b="1" i="1" kern="100">
                            <a:latin typeface="Cambria Math" panose="02040503050406030204" pitchFamily="18" charset="0"/>
                            <a:cs typeface="Times New Roman" panose="02020603050405020304" pitchFamily="18" charset="0"/>
                          </a:rPr>
                          <m:t>,</m:t>
                        </m:r>
                        <m:d>
                          <m:dPr>
                            <m:begChr m:val="{"/>
                            <m:endChr m:val="}"/>
                            <m:ctrlPr>
                              <a:rPr lang="en-US" altLang="zh-CN" sz="2000" b="1" i="1" kern="100">
                                <a:latin typeface="Cambria Math" panose="02040503050406030204" pitchFamily="18" charset="0"/>
                                <a:cs typeface="Times New Roman" panose="02020603050405020304" pitchFamily="18" charset="0"/>
                              </a:rPr>
                            </m:ctrlPr>
                          </m:dPr>
                          <m:e>
                            <m:sSub>
                              <m:sSubPr>
                                <m:ctrlPr>
                                  <a:rPr lang="zh-CN" altLang="zh-CN" sz="2000" b="1" i="1" kern="100">
                                    <a:latin typeface="Cambria Math" panose="02040503050406030204" pitchFamily="18" charset="0"/>
                                    <a:cs typeface="Times New Roman" panose="02020603050405020304" pitchFamily="18" charset="0"/>
                                  </a:rPr>
                                </m:ctrlPr>
                              </m:sSubPr>
                              <m:e>
                                <m:r>
                                  <a:rPr lang="en-US" altLang="zh-CN" sz="2000" b="1" kern="100">
                                    <a:latin typeface="Cambria Math" panose="02040503050406030204" pitchFamily="18" charset="0"/>
                                    <a:cs typeface="Times New Roman" panose="02020603050405020304" pitchFamily="18" charset="0"/>
                                  </a:rPr>
                                  <m:t>𝐑</m:t>
                                </m:r>
                              </m:e>
                              <m:sub>
                                <m:r>
                                  <a:rPr lang="en-US" altLang="zh-CN" sz="2000" b="1" kern="100">
                                    <a:latin typeface="Cambria Math" panose="02040503050406030204" pitchFamily="18" charset="0"/>
                                    <a:cs typeface="Times New Roman" panose="02020603050405020304" pitchFamily="18" charset="0"/>
                                  </a:rPr>
                                  <m:t>𝟏</m:t>
                                </m:r>
                              </m:sub>
                            </m:sSub>
                          </m:e>
                        </m:d>
                      </m:e>
                    </m:d>
                    <m:r>
                      <a:rPr lang="en-US" altLang="zh-CN" sz="2000" b="1" i="0" kern="100" smtClean="0">
                        <a:effectLst/>
                        <a:latin typeface="Cambria Math" panose="02040503050406030204" pitchFamily="18" charset="0"/>
                        <a:ea typeface="+mj-ea"/>
                        <a:cs typeface="Times New Roman" panose="02020603050405020304" pitchFamily="18" charset="0"/>
                      </a:rPr>
                      <m:t>=</m:t>
                    </m:r>
                    <m:r>
                      <a:rPr lang="en-US" altLang="zh-CN" sz="2000" b="1" i="0" kern="100" smtClean="0">
                        <a:effectLst/>
                        <a:latin typeface="Cambria Math" panose="02040503050406030204" pitchFamily="18" charset="0"/>
                        <a:ea typeface="+mj-ea"/>
                        <a:cs typeface="Times New Roman" panose="02020603050405020304" pitchFamily="18" charset="0"/>
                      </a:rPr>
                      <m:t>𝟖𝟒𝟖𝟎𝟎𝟎</m:t>
                    </m:r>
                  </m:oMath>
                </a14:m>
                <a:endParaRPr lang="zh-CN" altLang="zh-CN" sz="2000" b="1" kern="100" dirty="0">
                  <a:effectLst/>
                  <a:latin typeface="+mj-ea"/>
                  <a:ea typeface="+mj-ea"/>
                  <a:cs typeface="Times New Roman" panose="02020603050405020304" pitchFamily="18" charset="0"/>
                </a:endParaRPr>
              </a:p>
              <a:p>
                <a:pPr marL="0" indent="0">
                  <a:lnSpc>
                    <a:spcPct val="150000"/>
                  </a:lnSpc>
                  <a:buNone/>
                </a:pPr>
                <a:endParaRPr lang="en-US" altLang="zh-CN" sz="2400" b="1" dirty="0">
                  <a:latin typeface="+mj-ea"/>
                  <a:ea typeface="+mj-ea"/>
                </a:endParaRPr>
              </a:p>
              <a:p>
                <a:pPr>
                  <a:lnSpc>
                    <a:spcPct val="150000"/>
                  </a:lnSpc>
                  <a:buFont typeface="Wingdings" panose="05000000000000000000" pitchFamily="2" charset="2"/>
                  <a:buChar char="Ø"/>
                </a:pPr>
                <a:r>
                  <a:rPr lang="zh-CN" altLang="zh-CN" sz="2400" b="1" dirty="0">
                    <a:latin typeface="+mj-ea"/>
                    <a:ea typeface="+mj-ea"/>
                  </a:rPr>
                  <a:t>对于</a:t>
                </a:r>
                <a14:m>
                  <m:oMath xmlns:m="http://schemas.openxmlformats.org/officeDocument/2006/math">
                    <m:r>
                      <a:rPr lang="en-US" altLang="zh-CN" sz="2400" b="1" i="1" smtClean="0">
                        <a:latin typeface="Cambria Math" panose="02040503050406030204" pitchFamily="18" charset="0"/>
                        <a:ea typeface="+mj-ea"/>
                      </a:rPr>
                      <m:t>𝑺𝒆𝒒</m:t>
                    </m:r>
                    <m:d>
                      <m:dPr>
                        <m:ctrlPr>
                          <a:rPr lang="zh-CN" altLang="zh-CN" sz="2400" b="1" i="1">
                            <a:latin typeface="Cambria Math" panose="02040503050406030204" pitchFamily="18" charset="0"/>
                            <a:ea typeface="+mj-ea"/>
                          </a:rPr>
                        </m:ctrlPr>
                      </m:dPr>
                      <m:e>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𝟏</m:t>
                            </m:r>
                          </m:sub>
                        </m:sSub>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𝟐</m:t>
                            </m:r>
                          </m:sub>
                        </m:sSub>
                        <m:r>
                          <a:rPr lang="en-US" altLang="zh-CN" sz="2400" b="1" i="1" smtClean="0">
                            <a:latin typeface="Cambria Math" panose="02040503050406030204" pitchFamily="18" charset="0"/>
                            <a:ea typeface="+mj-ea"/>
                          </a:rPr>
                          <m:t>}</m:t>
                        </m:r>
                      </m:e>
                    </m:d>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𝑺𝒆𝒒</m:t>
                        </m:r>
                        <m:r>
                          <a:rPr lang="en-US" altLang="zh-CN" sz="2400" b="1" i="1" smtClean="0">
                            <a:latin typeface="Cambria Math" panose="02040503050406030204" pitchFamily="18" charset="0"/>
                            <a:ea typeface="+mj-ea"/>
                          </a:rPr>
                          <m:t>({</m:t>
                        </m:r>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𝟑</m:t>
                        </m:r>
                      </m:sub>
                    </m:sSub>
                    <m:r>
                      <a:rPr lang="en-US" altLang="zh-CN" sz="2400" b="1" i="1" smtClean="0">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𝑹</m:t>
                        </m:r>
                      </m:e>
                      <m:sub>
                        <m:r>
                          <a:rPr lang="en-US" altLang="zh-CN" sz="2400" b="1" i="1" smtClean="0">
                            <a:latin typeface="Cambria Math" panose="02040503050406030204" pitchFamily="18" charset="0"/>
                            <a:ea typeface="+mj-ea"/>
                          </a:rPr>
                          <m:t>𝟒</m:t>
                        </m:r>
                      </m:sub>
                    </m:sSub>
                    <m:r>
                      <a:rPr lang="en-US" altLang="zh-CN" sz="2400" b="1" i="1" smtClean="0">
                        <a:latin typeface="Cambria Math" panose="02040503050406030204" pitchFamily="18" charset="0"/>
                        <a:ea typeface="+mj-ea"/>
                      </a:rPr>
                      <m:t>})</m:t>
                    </m:r>
                  </m:oMath>
                </a14:m>
                <a:r>
                  <a:rPr lang="zh-CN" altLang="en-US" sz="2400" b="1" dirty="0">
                    <a:latin typeface="+mj-ea"/>
                    <a:ea typeface="+mj-ea"/>
                  </a:rPr>
                  <a:t>，总代价</a:t>
                </a:r>
                <a:r>
                  <a:rPr lang="zh-CN" altLang="zh-CN" sz="2400" b="1" dirty="0">
                    <a:latin typeface="+mj-ea"/>
                    <a:ea typeface="+mj-ea"/>
                  </a:rPr>
                  <a:t> </a:t>
                </a:r>
                <a:endParaRPr lang="en-US" altLang="zh-CN" sz="2400" b="1" kern="0" dirty="0">
                  <a:latin typeface="+mj-ea"/>
                  <a:ea typeface="+mj-ea"/>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2000" b="1" i="1" kern="100" smtClean="0">
                          <a:effectLst/>
                          <a:latin typeface="Cambria Math" panose="02040503050406030204" pitchFamily="18" charset="0"/>
                          <a:ea typeface="+mj-ea"/>
                          <a:cs typeface="Times New Roman" panose="02020603050405020304" pitchFamily="18" charset="0"/>
                        </a:rPr>
                        <m:t>𝑪</m:t>
                      </m:r>
                      <m:d>
                        <m:dPr>
                          <m:ctrlPr>
                            <a:rPr lang="zh-CN" altLang="zh-CN" sz="2000" b="1" i="1" kern="100">
                              <a:effectLst/>
                              <a:latin typeface="Cambria Math" panose="02040503050406030204" pitchFamily="18" charset="0"/>
                              <a:ea typeface="+mj-ea"/>
                              <a:cs typeface="Times New Roman" panose="02020603050405020304" pitchFamily="18" charset="0"/>
                            </a:rPr>
                          </m:ctrlPr>
                        </m:dPr>
                        <m:e>
                          <m:r>
                            <a:rPr lang="en-US" altLang="zh-CN" sz="2000" b="1" i="1"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𝟏</m:t>
                              </m:r>
                            </m:sub>
                          </m:sSub>
                          <m:r>
                            <a:rPr lang="en-US" altLang="zh-CN" sz="2000" b="1" i="1"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𝟐</m:t>
                              </m:r>
                            </m:sub>
                          </m:sSub>
                          <m:r>
                            <a:rPr lang="en-US" altLang="zh-CN" sz="2000" b="1" i="1" kern="100" smtClean="0">
                              <a:effectLst/>
                              <a:latin typeface="Cambria Math" panose="02040503050406030204" pitchFamily="18" charset="0"/>
                              <a:ea typeface="+mj-ea"/>
                              <a:cs typeface="Times New Roman" panose="02020603050405020304" pitchFamily="18" charset="0"/>
                            </a:rPr>
                            <m:t>}</m:t>
                          </m:r>
                        </m:e>
                      </m:d>
                      <m:r>
                        <a:rPr lang="en-US" altLang="zh-CN" sz="2000" b="1" i="1" kern="100" smtClean="0">
                          <a:effectLst/>
                          <a:latin typeface="Cambria Math" panose="02040503050406030204" pitchFamily="18" charset="0"/>
                          <a:ea typeface="+mj-ea"/>
                          <a:cs typeface="Times New Roman" panose="02020603050405020304" pitchFamily="18" charset="0"/>
                        </a:rPr>
                        <m:t>+</m:t>
                      </m:r>
                      <m:r>
                        <a:rPr lang="en-US" altLang="zh-CN" sz="2000" b="1" i="1" kern="100" smtClean="0">
                          <a:effectLst/>
                          <a:latin typeface="Cambria Math" panose="02040503050406030204" pitchFamily="18" charset="0"/>
                          <a:ea typeface="+mj-ea"/>
                          <a:cs typeface="Times New Roman" panose="02020603050405020304" pitchFamily="18" charset="0"/>
                        </a:rPr>
                        <m:t>𝑪</m:t>
                      </m:r>
                      <m:d>
                        <m:dPr>
                          <m:ctrlPr>
                            <a:rPr lang="zh-CN" altLang="zh-CN" sz="2000" b="1" i="1" kern="100">
                              <a:effectLst/>
                              <a:latin typeface="Cambria Math" panose="02040503050406030204" pitchFamily="18" charset="0"/>
                              <a:ea typeface="+mj-ea"/>
                              <a:cs typeface="Times New Roman" panose="02020603050405020304" pitchFamily="18" charset="0"/>
                            </a:rPr>
                          </m:ctrlPr>
                        </m:dPr>
                        <m:e>
                          <m:r>
                            <a:rPr lang="en-US" altLang="zh-CN" sz="2000" b="1" i="1"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𝟑</m:t>
                              </m:r>
                            </m:sub>
                          </m:sSub>
                          <m:r>
                            <a:rPr lang="en-US" altLang="zh-CN" sz="2000" b="1" i="1" kern="100" smtClean="0">
                              <a:effectLst/>
                              <a:latin typeface="Cambria Math" panose="02040503050406030204" pitchFamily="18" charset="0"/>
                              <a:ea typeface="+mj-ea"/>
                              <a:cs typeface="Times New Roman" panose="02020603050405020304" pitchFamily="18" charset="0"/>
                            </a:rPr>
                            <m:t>,</m:t>
                          </m:r>
                          <m:sSub>
                            <m:sSubPr>
                              <m:ctrlPr>
                                <a:rPr lang="zh-CN" altLang="zh-CN" sz="2000" b="1" i="1" kern="100">
                                  <a:effectLst/>
                                  <a:latin typeface="Cambria Math" panose="02040503050406030204" pitchFamily="18" charset="0"/>
                                  <a:ea typeface="+mj-ea"/>
                                  <a:cs typeface="Times New Roman" panose="02020603050405020304" pitchFamily="18" charset="0"/>
                                </a:rPr>
                              </m:ctrlPr>
                            </m:sSubPr>
                            <m:e>
                              <m:r>
                                <a:rPr lang="en-US" altLang="zh-CN" sz="2000" b="1" i="1" kern="100" smtClean="0">
                                  <a:effectLst/>
                                  <a:latin typeface="Cambria Math" panose="02040503050406030204" pitchFamily="18" charset="0"/>
                                  <a:ea typeface="+mj-ea"/>
                                  <a:cs typeface="Times New Roman" panose="02020603050405020304" pitchFamily="18" charset="0"/>
                                </a:rPr>
                                <m:t>𝑹</m:t>
                              </m:r>
                            </m:e>
                            <m:sub>
                              <m:r>
                                <a:rPr lang="en-US" altLang="zh-CN" sz="2000" b="1" i="1" kern="100" smtClean="0">
                                  <a:effectLst/>
                                  <a:latin typeface="Cambria Math" panose="02040503050406030204" pitchFamily="18" charset="0"/>
                                  <a:ea typeface="+mj-ea"/>
                                  <a:cs typeface="Times New Roman" panose="02020603050405020304" pitchFamily="18" charset="0"/>
                                </a:rPr>
                                <m:t>𝟒</m:t>
                              </m:r>
                            </m:sub>
                          </m:sSub>
                          <m:r>
                            <a:rPr lang="en-US" altLang="zh-CN" sz="2000" b="1" i="1" kern="100" smtClean="0">
                              <a:effectLst/>
                              <a:latin typeface="Cambria Math" panose="02040503050406030204" pitchFamily="18" charset="0"/>
                              <a:ea typeface="+mj-ea"/>
                              <a:cs typeface="Times New Roman" panose="02020603050405020304" pitchFamily="18" charset="0"/>
                            </a:rPr>
                            <m:t>}</m:t>
                          </m:r>
                        </m:e>
                      </m:d>
                      <m:r>
                        <a:rPr lang="en-US" altLang="zh-CN" sz="2000" b="1" i="1" kern="100" smtClean="0">
                          <a:effectLst/>
                          <a:latin typeface="Cambria Math" panose="02040503050406030204" pitchFamily="18" charset="0"/>
                          <a:ea typeface="+mj-ea"/>
                          <a:cs typeface="Times New Roman" panose="02020603050405020304" pitchFamily="18" charset="0"/>
                        </a:rPr>
                        <m:t>+</m:t>
                      </m:r>
                      <m:r>
                        <a:rPr lang="en-US" altLang="zh-CN" sz="2000" b="1" i="1" kern="100" smtClean="0">
                          <a:effectLst/>
                          <a:latin typeface="Cambria Math" panose="02040503050406030204" pitchFamily="18" charset="0"/>
                          <a:ea typeface="+mj-ea"/>
                          <a:cs typeface="Times New Roman" panose="02020603050405020304" pitchFamily="18" charset="0"/>
                        </a:rPr>
                        <m:t>𝑪𝒐𝒔𝒕</m:t>
                      </m:r>
                      <m:r>
                        <a:rPr lang="en-US" altLang="zh-CN" sz="2000" b="1" i="1" kern="100" smtClean="0">
                          <a:effectLst/>
                          <a:latin typeface="Cambria Math" panose="02040503050406030204" pitchFamily="18" charset="0"/>
                          <a:ea typeface="+mj-ea"/>
                          <a:cs typeface="Times New Roman" panose="02020603050405020304" pitchFamily="18" charset="0"/>
                        </a:rPr>
                        <m:t>(</m:t>
                      </m:r>
                      <m:d>
                        <m:dPr>
                          <m:begChr m:val="{"/>
                          <m:endChr m:val="}"/>
                          <m:ctrlPr>
                            <a:rPr lang="zh-CN" altLang="zh-CN" sz="2000" b="1" i="1" kern="100">
                              <a:latin typeface="Cambria Math" panose="02040503050406030204" pitchFamily="18" charset="0"/>
                              <a:cs typeface="Times New Roman" panose="02020603050405020304" pitchFamily="18" charset="0"/>
                            </a:rPr>
                          </m:ctrlPr>
                        </m:dPr>
                        <m:e>
                          <m:sSub>
                            <m:sSubPr>
                              <m:ctrlPr>
                                <a:rPr lang="zh-CN" altLang="zh-CN" sz="2000" b="1" i="1" kern="100">
                                  <a:latin typeface="Cambria Math" panose="02040503050406030204" pitchFamily="18" charset="0"/>
                                  <a:cs typeface="Times New Roman" panose="02020603050405020304" pitchFamily="18" charset="0"/>
                                </a:rPr>
                              </m:ctrlPr>
                            </m:sSubPr>
                            <m:e>
                              <m:r>
                                <a:rPr lang="en-US" altLang="zh-CN" sz="2000" b="1" i="1" kern="100">
                                  <a:latin typeface="Cambria Math" panose="02040503050406030204" pitchFamily="18" charset="0"/>
                                  <a:cs typeface="Times New Roman" panose="02020603050405020304" pitchFamily="18" charset="0"/>
                                </a:rPr>
                                <m:t>𝑹</m:t>
                              </m:r>
                            </m:e>
                            <m:sub>
                              <m:r>
                                <a:rPr lang="en-US" altLang="zh-CN" sz="2000" b="1" i="1" kern="100">
                                  <a:latin typeface="Cambria Math" panose="02040503050406030204" pitchFamily="18" charset="0"/>
                                  <a:cs typeface="Times New Roman" panose="02020603050405020304" pitchFamily="18" charset="0"/>
                                </a:rPr>
                                <m:t>𝟏</m:t>
                              </m:r>
                            </m:sub>
                          </m:sSub>
                          <m:r>
                            <a:rPr lang="en-US" altLang="zh-CN" sz="2000" b="1" i="1" kern="100">
                              <a:latin typeface="Cambria Math" panose="02040503050406030204" pitchFamily="18" charset="0"/>
                              <a:cs typeface="Times New Roman" panose="02020603050405020304" pitchFamily="18" charset="0"/>
                            </a:rPr>
                            <m:t>,</m:t>
                          </m:r>
                          <m:sSub>
                            <m:sSubPr>
                              <m:ctrlPr>
                                <a:rPr lang="zh-CN" altLang="zh-CN" sz="2000" b="1" i="1" kern="100">
                                  <a:latin typeface="Cambria Math" panose="02040503050406030204" pitchFamily="18" charset="0"/>
                                  <a:cs typeface="Times New Roman" panose="02020603050405020304" pitchFamily="18" charset="0"/>
                                </a:rPr>
                              </m:ctrlPr>
                            </m:sSubPr>
                            <m:e>
                              <m:r>
                                <a:rPr lang="en-US" altLang="zh-CN" sz="2000" b="1" i="1" kern="100">
                                  <a:latin typeface="Cambria Math" panose="02040503050406030204" pitchFamily="18" charset="0"/>
                                  <a:cs typeface="Times New Roman" panose="02020603050405020304" pitchFamily="18" charset="0"/>
                                </a:rPr>
                                <m:t>𝑹</m:t>
                              </m:r>
                            </m:e>
                            <m:sub>
                              <m:r>
                                <a:rPr lang="en-US" altLang="zh-CN" sz="2000" b="1" i="1" kern="100">
                                  <a:latin typeface="Cambria Math" panose="02040503050406030204" pitchFamily="18" charset="0"/>
                                  <a:cs typeface="Times New Roman" panose="02020603050405020304" pitchFamily="18" charset="0"/>
                                </a:rPr>
                                <m:t>𝟐</m:t>
                              </m:r>
                            </m:sub>
                          </m:sSub>
                        </m:e>
                      </m:d>
                      <m:r>
                        <a:rPr lang="en-US" altLang="zh-CN" sz="2000" b="1" i="1" kern="100" smtClean="0">
                          <a:latin typeface="Cambria Math" panose="02040503050406030204" pitchFamily="18" charset="0"/>
                          <a:cs typeface="Times New Roman" panose="02020603050405020304" pitchFamily="18" charset="0"/>
                        </a:rPr>
                        <m:t>,</m:t>
                      </m:r>
                      <m:r>
                        <a:rPr lang="en-US" altLang="zh-CN" sz="2000" b="1" i="1" kern="100">
                          <a:latin typeface="Cambria Math" panose="02040503050406030204" pitchFamily="18" charset="0"/>
                          <a:cs typeface="Times New Roman" panose="02020603050405020304" pitchFamily="18" charset="0"/>
                        </a:rPr>
                        <m:t>{</m:t>
                      </m:r>
                      <m:sSub>
                        <m:sSubPr>
                          <m:ctrlPr>
                            <a:rPr lang="zh-CN" altLang="zh-CN" sz="2000" b="1" i="1" kern="100">
                              <a:latin typeface="Cambria Math" panose="02040503050406030204" pitchFamily="18" charset="0"/>
                              <a:cs typeface="Times New Roman" panose="02020603050405020304" pitchFamily="18" charset="0"/>
                            </a:rPr>
                          </m:ctrlPr>
                        </m:sSubPr>
                        <m:e>
                          <m:r>
                            <a:rPr lang="en-US" altLang="zh-CN" sz="2000" b="1" i="1" kern="100">
                              <a:latin typeface="Cambria Math" panose="02040503050406030204" pitchFamily="18" charset="0"/>
                              <a:cs typeface="Times New Roman" panose="02020603050405020304" pitchFamily="18" charset="0"/>
                            </a:rPr>
                            <m:t>𝑹</m:t>
                          </m:r>
                        </m:e>
                        <m:sub>
                          <m:r>
                            <a:rPr lang="en-US" altLang="zh-CN" sz="2000" b="1" i="1" kern="100">
                              <a:latin typeface="Cambria Math" panose="02040503050406030204" pitchFamily="18" charset="0"/>
                              <a:cs typeface="Times New Roman" panose="02020603050405020304" pitchFamily="18" charset="0"/>
                            </a:rPr>
                            <m:t>𝟑</m:t>
                          </m:r>
                        </m:sub>
                      </m:sSub>
                      <m:r>
                        <a:rPr lang="en-US" altLang="zh-CN" sz="2000" b="1" i="1" kern="100">
                          <a:latin typeface="Cambria Math" panose="02040503050406030204" pitchFamily="18" charset="0"/>
                          <a:cs typeface="Times New Roman" panose="02020603050405020304" pitchFamily="18" charset="0"/>
                        </a:rPr>
                        <m:t>,</m:t>
                      </m:r>
                      <m:sSub>
                        <m:sSubPr>
                          <m:ctrlPr>
                            <a:rPr lang="zh-CN" altLang="zh-CN" sz="2000" b="1" i="1" kern="100">
                              <a:latin typeface="Cambria Math" panose="02040503050406030204" pitchFamily="18" charset="0"/>
                              <a:cs typeface="Times New Roman" panose="02020603050405020304" pitchFamily="18" charset="0"/>
                            </a:rPr>
                          </m:ctrlPr>
                        </m:sSubPr>
                        <m:e>
                          <m:r>
                            <a:rPr lang="en-US" altLang="zh-CN" sz="2000" b="1" i="1" kern="100">
                              <a:latin typeface="Cambria Math" panose="02040503050406030204" pitchFamily="18" charset="0"/>
                              <a:cs typeface="Times New Roman" panose="02020603050405020304" pitchFamily="18" charset="0"/>
                            </a:rPr>
                            <m:t>𝑹</m:t>
                          </m:r>
                        </m:e>
                        <m:sub>
                          <m:r>
                            <a:rPr lang="en-US" altLang="zh-CN" sz="2000" b="1" i="1" kern="100">
                              <a:latin typeface="Cambria Math" panose="02040503050406030204" pitchFamily="18" charset="0"/>
                              <a:cs typeface="Times New Roman" panose="02020603050405020304" pitchFamily="18" charset="0"/>
                            </a:rPr>
                            <m:t>𝟒</m:t>
                          </m:r>
                        </m:sub>
                      </m:sSub>
                      <m:r>
                        <a:rPr lang="en-US" altLang="zh-CN" sz="2000" b="1" i="1" kern="100">
                          <a:latin typeface="Cambria Math" panose="02040503050406030204" pitchFamily="18" charset="0"/>
                          <a:cs typeface="Times New Roman" panose="02020603050405020304" pitchFamily="18" charset="0"/>
                        </a:rPr>
                        <m:t>}</m:t>
                      </m:r>
                      <m:r>
                        <a:rPr lang="en-US" altLang="zh-CN" sz="2000" b="1" i="1" kern="100" smtClean="0">
                          <a:effectLst/>
                          <a:latin typeface="Cambria Math" panose="02040503050406030204" pitchFamily="18" charset="0"/>
                          <a:ea typeface="+mj-ea"/>
                          <a:cs typeface="Times New Roman" panose="02020603050405020304" pitchFamily="18" charset="0"/>
                        </a:rPr>
                        <m:t>)=</m:t>
                      </m:r>
                      <m:r>
                        <a:rPr lang="en-US" altLang="zh-CN" sz="2000" b="1" i="1" kern="100" smtClean="0">
                          <a:effectLst/>
                          <a:latin typeface="Cambria Math" panose="02040503050406030204" pitchFamily="18" charset="0"/>
                          <a:ea typeface="+mj-ea"/>
                          <a:cs typeface="Times New Roman" panose="02020603050405020304" pitchFamily="18" charset="0"/>
                        </a:rPr>
                        <m:t>𝟖𝟐𝟖𝟎𝟎𝟎</m:t>
                      </m:r>
                    </m:oMath>
                  </m:oMathPara>
                </a14:m>
                <a:endParaRPr lang="en-US" altLang="zh-CN" sz="2000" b="1" kern="100" dirty="0">
                  <a:effectLst/>
                  <a:latin typeface="+mj-ea"/>
                  <a:ea typeface="+mj-ea"/>
                  <a:cs typeface="Times New Roman" panose="02020603050405020304" pitchFamily="18" charset="0"/>
                </a:endParaRPr>
              </a:p>
              <a:p>
                <a:pPr marL="0" indent="0">
                  <a:lnSpc>
                    <a:spcPct val="150000"/>
                  </a:lnSpc>
                  <a:buNone/>
                </a:pPr>
                <a:endParaRPr lang="en-US" altLang="zh-CN" sz="2400" b="1" dirty="0">
                  <a:latin typeface="+mj-ea"/>
                  <a:ea typeface="+mj-ea"/>
                </a:endParaRPr>
              </a:p>
              <a:p>
                <a:pPr>
                  <a:lnSpc>
                    <a:spcPct val="150000"/>
                  </a:lnSpc>
                  <a:buFont typeface="Wingdings" panose="05000000000000000000" pitchFamily="2" charset="2"/>
                  <a:buChar char="Ø"/>
                </a:pPr>
                <a:r>
                  <a:rPr lang="zh-CN" altLang="zh-CN" sz="2400" b="1" dirty="0">
                    <a:latin typeface="+mj-ea"/>
                    <a:ea typeface="+mj-ea"/>
                  </a:rPr>
                  <a:t>最终确定使用</a:t>
                </a:r>
                <a:r>
                  <a:rPr lang="zh-CN" altLang="zh-CN" sz="2400" b="1" dirty="0">
                    <a:solidFill>
                      <a:srgbClr val="701988"/>
                    </a:solidFill>
                    <a:latin typeface="+mj-ea"/>
                    <a:ea typeface="+mj-ea"/>
                  </a:rPr>
                  <a:t>代价最低的连接顺序：</a:t>
                </a:r>
              </a:p>
              <a:p>
                <a:pPr lvl="1">
                  <a:lnSpc>
                    <a:spcPct val="150000"/>
                  </a:lnSpc>
                  <a:buFont typeface="Arial" panose="020B0604020202020204" pitchFamily="34" charset="0"/>
                  <a:buChar char="•"/>
                </a:pPr>
                <a14:m>
                  <m:oMath xmlns:m="http://schemas.openxmlformats.org/officeDocument/2006/math">
                    <m:r>
                      <a:rPr lang="en-US" altLang="zh-CN" sz="2000" b="1" i="1" smtClean="0">
                        <a:latin typeface="Cambria Math" panose="02040503050406030204" pitchFamily="18" charset="0"/>
                        <a:ea typeface="+mj-ea"/>
                      </a:rPr>
                      <m:t>𝑺𝒆𝒒</m:t>
                    </m:r>
                    <m:d>
                      <m:dPr>
                        <m:ctrlPr>
                          <a:rPr lang="zh-CN" altLang="zh-CN" sz="2000" b="1" i="1">
                            <a:latin typeface="Cambria Math" panose="02040503050406030204" pitchFamily="18" charset="0"/>
                            <a:ea typeface="+mj-ea"/>
                          </a:rPr>
                        </m:ctrlPr>
                      </m:dPr>
                      <m:e>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𝟏</m:t>
                            </m:r>
                          </m:sub>
                        </m:sSub>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𝟐</m:t>
                            </m:r>
                          </m:sub>
                        </m:sSub>
                        <m:r>
                          <a:rPr lang="en-US" altLang="zh-CN" sz="2000" b="1" i="1" smtClean="0">
                            <a:latin typeface="Cambria Math" panose="02040503050406030204" pitchFamily="18" charset="0"/>
                            <a:ea typeface="+mj-ea"/>
                          </a:rPr>
                          <m:t>}</m:t>
                        </m:r>
                      </m:e>
                    </m:d>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𝑺𝒆𝒒</m:t>
                        </m:r>
                        <m:r>
                          <a:rPr lang="en-US" altLang="zh-CN" sz="2000" b="1" i="1" smtClean="0">
                            <a:latin typeface="Cambria Math" panose="02040503050406030204" pitchFamily="18" charset="0"/>
                            <a:ea typeface="+mj-ea"/>
                          </a:rPr>
                          <m:t>({</m:t>
                        </m:r>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𝟑</m:t>
                        </m:r>
                      </m:sub>
                    </m:sSub>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𝟒</m:t>
                        </m:r>
                      </m:sub>
                    </m:sSub>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𝟏</m:t>
                        </m:r>
                      </m:sub>
                    </m:sSub>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𝟐</m:t>
                        </m:r>
                      </m:sub>
                    </m:sSub>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𝟑</m:t>
                        </m:r>
                      </m:sub>
                    </m:sSub>
                    <m:r>
                      <a:rPr lang="en-US" altLang="zh-CN" sz="2000" b="1" i="1" smtClean="0">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𝑹</m:t>
                        </m:r>
                      </m:e>
                      <m:sub>
                        <m:r>
                          <a:rPr lang="en-US" altLang="zh-CN" sz="2000" b="1" i="1" smtClean="0">
                            <a:latin typeface="Cambria Math" panose="02040503050406030204" pitchFamily="18" charset="0"/>
                            <a:ea typeface="+mj-ea"/>
                          </a:rPr>
                          <m:t>𝟒</m:t>
                        </m:r>
                      </m:sub>
                    </m:sSub>
                    <m:r>
                      <a:rPr lang="en-US" altLang="zh-CN" sz="2000" b="1" i="1" smtClean="0">
                        <a:latin typeface="Cambria Math" panose="02040503050406030204" pitchFamily="18" charset="0"/>
                        <a:ea typeface="+mj-ea"/>
                      </a:rPr>
                      <m:t>)</m:t>
                    </m:r>
                  </m:oMath>
                </a14:m>
                <a:endParaRPr lang="zh-CN" altLang="zh-CN" sz="2000" b="1"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marL="316531" lvl="1" indent="-316531">
                  <a:buFont typeface="Wingdings" pitchFamily="2" charset="2"/>
                  <a:buChar char="p"/>
                </a:pPr>
                <a:endParaRPr lang="zh-CN" altLang="zh-CN" sz="2400" b="1" dirty="0">
                  <a:latin typeface="+mj-ea"/>
                  <a:ea typeface="+mj-ea"/>
                </a:endParaRPr>
              </a:p>
              <a:p>
                <a:pPr lvl="1">
                  <a:buFont typeface="Wingdings" pitchFamily="2" charset="2"/>
                  <a:buChar char="Ø"/>
                </a:pPr>
                <a:endParaRPr lang="en-US" altLang="zh-CN" sz="2400" b="1" dirty="0">
                  <a:latin typeface="+mj-ea"/>
                  <a:ea typeface="+mj-ea"/>
                </a:endParaRPr>
              </a:p>
              <a:p>
                <a:pPr lvl="1">
                  <a:buFont typeface="Wingdings" pitchFamily="2" charset="2"/>
                  <a:buChar char="Ø"/>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400" b="1" kern="0" dirty="0">
                    <a:latin typeface="+mj-ea"/>
                    <a:ea typeface="+mj-ea"/>
                  </a:rPr>
                  <a:t> </a:t>
                </a:r>
                <a:endParaRPr lang="zh-CN" altLang="en-US" sz="2400" b="1"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1008000" y="1126800"/>
                <a:ext cx="11456894" cy="5671492"/>
              </a:xfrm>
              <a:prstGeom prst="rect">
                <a:avLst/>
              </a:prstGeom>
              <a:blipFill>
                <a:blip r:embed="rId3"/>
                <a:stretch>
                  <a:fillRect l="-77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1063A72D-B737-01B1-0A59-98A2F6EEC22B}"/>
              </a:ext>
            </a:extLst>
          </p:cNvPr>
          <p:cNvSpPr>
            <a:spLocks noGrp="1"/>
          </p:cNvSpPr>
          <p:nvPr>
            <p:ph type="sldNum" sz="quarter" idx="10"/>
          </p:nvPr>
        </p:nvSpPr>
        <p:spPr/>
        <p:txBody>
          <a:bodyPr/>
          <a:lstStyle/>
          <a:p>
            <a:fld id="{87BBDC00-B9E2-4EFD-9306-2934E87247C6}" type="slidenum">
              <a:rPr lang="zh-CN" altLang="en-US" smtClean="0"/>
              <a:pPr/>
              <a:t>109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动态规划算法示例</a:t>
            </a:r>
          </a:p>
        </p:txBody>
      </p:sp>
      <p:sp>
        <p:nvSpPr>
          <p:cNvPr id="4" name="页脚占位符 3">
            <a:extLst>
              <a:ext uri="{FF2B5EF4-FFF2-40B4-BE49-F238E27FC236}">
                <a16:creationId xmlns:a16="http://schemas.microsoft.com/office/drawing/2014/main" id="{A269BC07-8F15-0CE9-72C1-A8FE87B92DC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67935900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8501B38-E725-5169-F5F9-24E40172178B}"/>
              </a:ext>
            </a:extLst>
          </p:cNvPr>
          <p:cNvSpPr>
            <a:spLocks noGrp="1"/>
          </p:cNvSpPr>
          <p:nvPr>
            <p:ph type="sldNum" sz="quarter" idx="10"/>
          </p:nvPr>
        </p:nvSpPr>
        <p:spPr/>
        <p:txBody>
          <a:bodyPr/>
          <a:lstStyle/>
          <a:p>
            <a:fld id="{87BBDC00-B9E2-4EFD-9306-2934E87247C6}" type="slidenum">
              <a:rPr lang="zh-CN" altLang="en-US" smtClean="0"/>
              <a:pPr/>
              <a:t>110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动态规划算法复杂度</a:t>
            </a:r>
          </a:p>
        </p:txBody>
      </p:sp>
      <p:sp>
        <p:nvSpPr>
          <p:cNvPr id="4" name="页脚占位符 3">
            <a:extLst>
              <a:ext uri="{FF2B5EF4-FFF2-40B4-BE49-F238E27FC236}">
                <a16:creationId xmlns:a16="http://schemas.microsoft.com/office/drawing/2014/main" id="{764FF479-D8DC-1E76-D905-FD9829801EC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615737" y="869175"/>
                <a:ext cx="11456894" cy="487680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dirty="0">
                    <a:latin typeface="+mj-ea"/>
                    <a:ea typeface="+mj-ea"/>
                  </a:rPr>
                  <a:t>空间复杂度（左深树）</a:t>
                </a:r>
                <a:endParaRPr lang="en-US" altLang="zh-CN" sz="2400" b="1" dirty="0">
                  <a:latin typeface="+mj-ea"/>
                  <a:ea typeface="+mj-ea"/>
                </a:endParaRPr>
              </a:p>
              <a:p>
                <a:pPr lvl="1">
                  <a:lnSpc>
                    <a:spcPct val="150000"/>
                  </a:lnSpc>
                  <a:buFont typeface="Wingdings" pitchFamily="2" charset="2"/>
                  <a:buChar char="Ø"/>
                </a:pPr>
                <a:r>
                  <a:rPr lang="zh-CN" altLang="zh-CN" sz="2000" dirty="0">
                    <a:latin typeface="+mj-ea"/>
                    <a:ea typeface="+mj-ea"/>
                  </a:rPr>
                  <a:t>由于非空集合数量是</a:t>
                </a:r>
                <a14:m>
                  <m:oMath xmlns:m="http://schemas.openxmlformats.org/officeDocument/2006/math">
                    <m:sSup>
                      <m:sSupPr>
                        <m:ctrlPr>
                          <a:rPr lang="zh-CN" altLang="zh-CN" sz="2000" i="1">
                            <a:latin typeface="Cambria Math" panose="02040503050406030204" pitchFamily="18" charset="0"/>
                            <a:ea typeface="+mj-ea"/>
                          </a:rPr>
                        </m:ctrlPr>
                      </m:sSupPr>
                      <m:e>
                        <m:r>
                          <a:rPr lang="en-US" altLang="zh-CN" sz="2000" i="1">
                            <a:latin typeface="Cambria Math" panose="02040503050406030204" pitchFamily="18" charset="0"/>
                            <a:ea typeface="+mj-ea"/>
                          </a:rPr>
                          <m:t>2</m:t>
                        </m:r>
                      </m:e>
                      <m:sup>
                        <m:r>
                          <a:rPr lang="en-US" altLang="zh-CN" sz="2000" i="1">
                            <a:latin typeface="Cambria Math" panose="02040503050406030204" pitchFamily="18" charset="0"/>
                            <a:ea typeface="+mj-ea"/>
                          </a:rPr>
                          <m:t>𝑛</m:t>
                        </m:r>
                      </m:sup>
                    </m:sSup>
                    <m:r>
                      <a:rPr lang="en-US" altLang="zh-CN" sz="2000" i="1">
                        <a:latin typeface="Cambria Math" panose="02040503050406030204" pitchFamily="18" charset="0"/>
                        <a:ea typeface="+mj-ea"/>
                      </a:rPr>
                      <m:t>−1</m:t>
                    </m:r>
                  </m:oMath>
                </a14:m>
                <a:r>
                  <a:rPr lang="zh-CN" altLang="zh-CN" sz="2000" dirty="0">
                    <a:latin typeface="+mj-ea"/>
                    <a:ea typeface="+mj-ea"/>
                  </a:rPr>
                  <a:t>，而维护的信息大小是常数</a:t>
                </a:r>
                <a:endParaRPr lang="en-US" altLang="zh-CN" sz="2000" i="1" dirty="0">
                  <a:latin typeface="+mj-ea"/>
                  <a:ea typeface="+mj-ea"/>
                </a:endParaRPr>
              </a:p>
              <a:p>
                <a:pPr lvl="1">
                  <a:lnSpc>
                    <a:spcPct val="150000"/>
                  </a:lnSpc>
                  <a:buFont typeface="Wingdings" pitchFamily="2" charset="2"/>
                  <a:buChar char="Ø"/>
                </a:pPr>
                <a14:m>
                  <m:oMath xmlns:m="http://schemas.openxmlformats.org/officeDocument/2006/math">
                    <m:r>
                      <a:rPr lang="zh-CN" altLang="en-US" sz="2000" i="1" dirty="0">
                        <a:latin typeface="Cambria Math" panose="02040503050406030204" pitchFamily="18" charset="0"/>
                        <a:ea typeface="+mj-ea"/>
                      </a:rPr>
                      <m:t>总的</m:t>
                    </m:r>
                    <m:r>
                      <a:rPr lang="zh-CN" altLang="en-US" sz="2000" i="1" dirty="0" smtClean="0">
                        <a:latin typeface="Cambria Math" panose="02040503050406030204" pitchFamily="18" charset="0"/>
                        <a:ea typeface="+mj-ea"/>
                      </a:rPr>
                      <m:t>空间复杂</m:t>
                    </m:r>
                    <m:r>
                      <a:rPr lang="zh-CN" altLang="en-US" sz="2000" i="1" dirty="0" smtClean="0">
                        <a:solidFill>
                          <a:schemeClr val="tx1"/>
                        </a:solidFill>
                        <a:latin typeface="Cambria Math" panose="02040503050406030204" pitchFamily="18" charset="0"/>
                        <a:ea typeface="+mj-ea"/>
                      </a:rPr>
                      <m:t>度</m:t>
                    </m:r>
                    <m:r>
                      <a:rPr lang="zh-CN" altLang="en-US" sz="2000" b="0" i="1" dirty="0" smtClean="0">
                        <a:solidFill>
                          <a:srgbClr val="701988"/>
                        </a:solidFill>
                        <a:latin typeface="Cambria Math" panose="02040503050406030204" pitchFamily="18" charset="0"/>
                        <a:ea typeface="+mj-ea"/>
                      </a:rPr>
                      <m:t> </m:t>
                    </m:r>
                    <m:sSup>
                      <m:sSupPr>
                        <m:ctrlPr>
                          <a:rPr lang="zh-CN" altLang="zh-CN" sz="2000" i="1" smtClean="0">
                            <a:solidFill>
                              <a:srgbClr val="701988"/>
                            </a:solidFill>
                            <a:latin typeface="Cambria Math" panose="02040503050406030204" pitchFamily="18" charset="0"/>
                            <a:ea typeface="+mj-ea"/>
                          </a:rPr>
                        </m:ctrlPr>
                      </m:sSupPr>
                      <m:e>
                        <m:r>
                          <a:rPr lang="en-US" altLang="zh-CN" sz="2000" i="1">
                            <a:solidFill>
                              <a:srgbClr val="701988"/>
                            </a:solidFill>
                            <a:latin typeface="Cambria Math" panose="02040503050406030204" pitchFamily="18" charset="0"/>
                            <a:ea typeface="+mj-ea"/>
                          </a:rPr>
                          <m:t>𝑂</m:t>
                        </m:r>
                        <m:r>
                          <a:rPr lang="en-US" altLang="zh-CN" sz="2000" i="1">
                            <a:solidFill>
                              <a:srgbClr val="701988"/>
                            </a:solidFill>
                            <a:latin typeface="Cambria Math" panose="02040503050406030204" pitchFamily="18" charset="0"/>
                            <a:ea typeface="+mj-ea"/>
                          </a:rPr>
                          <m:t>(2</m:t>
                        </m:r>
                      </m:e>
                      <m:sup>
                        <m:r>
                          <a:rPr lang="en-US" altLang="zh-CN" sz="2000" i="1">
                            <a:solidFill>
                              <a:srgbClr val="701988"/>
                            </a:solidFill>
                            <a:latin typeface="Cambria Math" panose="02040503050406030204" pitchFamily="18" charset="0"/>
                            <a:ea typeface="+mj-ea"/>
                          </a:rPr>
                          <m:t>𝑛</m:t>
                        </m:r>
                      </m:sup>
                    </m:sSup>
                    <m:r>
                      <a:rPr lang="en-US" altLang="zh-CN" sz="2000" i="1">
                        <a:solidFill>
                          <a:srgbClr val="701988"/>
                        </a:solidFill>
                        <a:latin typeface="Cambria Math" panose="02040503050406030204" pitchFamily="18" charset="0"/>
                        <a:ea typeface="+mj-ea"/>
                      </a:rPr>
                      <m:t>)</m:t>
                    </m:r>
                  </m:oMath>
                </a14:m>
                <a:endParaRPr lang="en-US" altLang="zh-CN" sz="2000" dirty="0">
                  <a:solidFill>
                    <a:srgbClr val="CD3300"/>
                  </a:solidFill>
                  <a:latin typeface="+mj-ea"/>
                  <a:ea typeface="+mj-ea"/>
                </a:endParaRPr>
              </a:p>
              <a:p>
                <a:pPr>
                  <a:lnSpc>
                    <a:spcPct val="150000"/>
                  </a:lnSpc>
                  <a:buFont typeface="Wingdings" panose="05000000000000000000" pitchFamily="2" charset="2"/>
                  <a:buChar char="Ø"/>
                </a:pPr>
                <a:r>
                  <a:rPr lang="zh-CN" altLang="en-US" sz="2400" b="1" dirty="0">
                    <a:latin typeface="+mj-ea"/>
                    <a:ea typeface="+mj-ea"/>
                  </a:rPr>
                  <a:t>时间复杂度（左深树）</a:t>
                </a:r>
                <a:endParaRPr lang="en-US" altLang="zh-CN" sz="2000" i="1" dirty="0">
                  <a:latin typeface="+mj-ea"/>
                  <a:ea typeface="+mj-ea"/>
                </a:endParaRPr>
              </a:p>
              <a:p>
                <a:pPr marL="422041" lvl="1" indent="0">
                  <a:lnSpc>
                    <a:spcPct val="150000"/>
                  </a:lnSpc>
                  <a:buNone/>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𝑂</m:t>
                      </m:r>
                      <m:d>
                        <m:dPr>
                          <m:ctrlPr>
                            <a:rPr lang="zh-CN" altLang="zh-CN" sz="2000" i="1">
                              <a:latin typeface="Cambria Math" panose="02040503050406030204" pitchFamily="18" charset="0"/>
                            </a:rPr>
                          </m:ctrlPr>
                        </m:dPr>
                        <m:e>
                          <m:nary>
                            <m:naryPr>
                              <m:chr m:val="∑"/>
                              <m:limLoc m:val="undOvr"/>
                              <m:ctrlPr>
                                <a:rPr lang="zh-CN" altLang="zh-CN" sz="2000" i="1">
                                  <a:latin typeface="Cambria Math" panose="02040503050406030204" pitchFamily="18" charset="0"/>
                                </a:rPr>
                              </m:ctrlPr>
                            </m:naryPr>
                            <m:sub>
                              <m: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𝐶</m:t>
                                  </m:r>
                                </m:e>
                                <m:sub>
                                  <m:r>
                                    <a:rPr lang="en-US" altLang="zh-CN" sz="2000" i="1">
                                      <a:latin typeface="Cambria Math" panose="02040503050406030204" pitchFamily="18" charset="0"/>
                                    </a:rPr>
                                    <m:t>𝑛</m:t>
                                  </m:r>
                                </m:sub>
                                <m:sup>
                                  <m:r>
                                    <a:rPr lang="en-US" altLang="zh-CN" sz="2000" i="1">
                                      <a:latin typeface="Cambria Math" panose="02040503050406030204" pitchFamily="18" charset="0"/>
                                    </a:rPr>
                                    <m:t>𝑖</m:t>
                                  </m:r>
                                </m:sup>
                              </m:sSubSup>
                              <m:r>
                                <a:rPr lang="en-US" altLang="zh-CN" sz="2000" i="1">
                                  <a:latin typeface="Cambria Math" panose="02040503050406030204" pitchFamily="18" charset="0"/>
                                </a:rPr>
                                <m:t>∗</m:t>
                              </m:r>
                              <m:r>
                                <a:rPr lang="en-US" altLang="zh-CN" sz="2000" i="1">
                                  <a:latin typeface="Cambria Math" panose="02040503050406030204" pitchFamily="18" charset="0"/>
                                </a:rPr>
                                <m:t>𝑖</m:t>
                              </m:r>
                            </m:e>
                          </m:nary>
                        </m:e>
                      </m:d>
                      <m:r>
                        <a:rPr lang="en-US" altLang="zh-CN" sz="2000" i="1">
                          <a:latin typeface="Cambria Math" panose="02040503050406030204" pitchFamily="18" charset="0"/>
                        </a:rPr>
                        <m:t> </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𝑂</m:t>
                      </m:r>
                      <m:d>
                        <m:dPr>
                          <m:ctrlPr>
                            <a:rPr lang="zh-CN" altLang="zh-CN" sz="2000" i="1">
                              <a:latin typeface="Cambria Math" panose="02040503050406030204" pitchFamily="18" charset="0"/>
                              <a:ea typeface="+mj-ea"/>
                            </a:rPr>
                          </m:ctrlPr>
                        </m:dPr>
                        <m:e>
                          <m:nary>
                            <m:naryPr>
                              <m:chr m:val="∑"/>
                              <m:limLoc m:val="undOvr"/>
                              <m:ctrlPr>
                                <a:rPr lang="zh-CN" altLang="zh-CN" sz="2000" i="1">
                                  <a:latin typeface="Cambria Math" panose="02040503050406030204" pitchFamily="18" charset="0"/>
                                  <a:ea typeface="+mj-ea"/>
                                </a:rPr>
                              </m:ctrlPr>
                            </m:naryPr>
                            <m:sub>
                              <m:r>
                                <a:rPr lang="en-US" altLang="zh-CN" sz="2000" i="1">
                                  <a:latin typeface="Cambria Math" panose="02040503050406030204" pitchFamily="18" charset="0"/>
                                  <a:ea typeface="+mj-ea"/>
                                </a:rPr>
                                <m:t>𝑖</m:t>
                              </m:r>
                              <m:r>
                                <a:rPr lang="en-US" altLang="zh-CN" sz="2000" i="1">
                                  <a:latin typeface="Cambria Math" panose="02040503050406030204" pitchFamily="18" charset="0"/>
                                  <a:ea typeface="+mj-ea"/>
                                </a:rPr>
                                <m:t>=1</m:t>
                              </m:r>
                            </m:sub>
                            <m:sup>
                              <m:r>
                                <a:rPr lang="en-US" altLang="zh-CN" sz="2000" i="1">
                                  <a:latin typeface="Cambria Math" panose="02040503050406030204" pitchFamily="18" charset="0"/>
                                  <a:ea typeface="+mj-ea"/>
                                </a:rPr>
                                <m:t>𝑛</m:t>
                              </m:r>
                            </m:sup>
                            <m:e>
                              <m:f>
                                <m:fPr>
                                  <m:ctrlPr>
                                    <a:rPr lang="zh-CN" altLang="zh-CN" sz="2000" i="1">
                                      <a:latin typeface="Cambria Math" panose="02040503050406030204" pitchFamily="18" charset="0"/>
                                      <a:ea typeface="+mj-ea"/>
                                    </a:rPr>
                                  </m:ctrlPr>
                                </m:fPr>
                                <m:num>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m:t>
                                  </m:r>
                                </m:num>
                                <m:den>
                                  <m:r>
                                    <a:rPr lang="en-US" altLang="zh-CN" sz="2000" i="1">
                                      <a:latin typeface="Cambria Math" panose="02040503050406030204" pitchFamily="18" charset="0"/>
                                      <a:ea typeface="+mj-ea"/>
                                    </a:rPr>
                                    <m:t>𝑖</m:t>
                                  </m:r>
                                  <m:r>
                                    <a:rPr lang="en-US" altLang="zh-CN" sz="2000" i="1">
                                      <a:latin typeface="Cambria Math" panose="02040503050406030204" pitchFamily="18" charset="0"/>
                                      <a:ea typeface="+mj-ea"/>
                                    </a:rPr>
                                    <m:t>!</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𝑖</m:t>
                                      </m:r>
                                    </m:e>
                                  </m:d>
                                  <m:r>
                                    <a:rPr lang="en-US" altLang="zh-CN" sz="2000" i="1">
                                      <a:latin typeface="Cambria Math" panose="02040503050406030204" pitchFamily="18" charset="0"/>
                                      <a:ea typeface="+mj-ea"/>
                                    </a:rPr>
                                    <m:t>!</m:t>
                                  </m:r>
                                </m:den>
                              </m:f>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𝑖</m:t>
                              </m:r>
                            </m:e>
                          </m:nary>
                        </m:e>
                      </m:d>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𝑂</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𝑛</m:t>
                          </m:r>
                          <m:nary>
                            <m:naryPr>
                              <m:chr m:val="∑"/>
                              <m:limLoc m:val="undOvr"/>
                              <m:ctrlPr>
                                <a:rPr lang="zh-CN" altLang="zh-CN" sz="2000" i="1">
                                  <a:latin typeface="Cambria Math" panose="02040503050406030204" pitchFamily="18" charset="0"/>
                                  <a:ea typeface="+mj-ea"/>
                                </a:rPr>
                              </m:ctrlPr>
                            </m:naryPr>
                            <m:sub>
                              <m:r>
                                <a:rPr lang="en-US" altLang="zh-CN" sz="2000" i="1">
                                  <a:latin typeface="Cambria Math" panose="02040503050406030204" pitchFamily="18" charset="0"/>
                                  <a:ea typeface="+mj-ea"/>
                                </a:rPr>
                                <m:t>𝑖</m:t>
                              </m:r>
                              <m:r>
                                <a:rPr lang="en-US" altLang="zh-CN" sz="2000" i="1">
                                  <a:latin typeface="Cambria Math" panose="02040503050406030204" pitchFamily="18" charset="0"/>
                                  <a:ea typeface="+mj-ea"/>
                                </a:rPr>
                                <m:t>=1</m:t>
                              </m:r>
                            </m:sub>
                            <m:sup>
                              <m:r>
                                <a:rPr lang="en-US" altLang="zh-CN" sz="2000" i="1">
                                  <a:latin typeface="Cambria Math" panose="02040503050406030204" pitchFamily="18" charset="0"/>
                                  <a:ea typeface="+mj-ea"/>
                                </a:rPr>
                                <m:t>𝑛</m:t>
                              </m:r>
                            </m:sup>
                            <m:e>
                              <m:f>
                                <m:fPr>
                                  <m:ctrlPr>
                                    <a:rPr lang="zh-CN" altLang="zh-CN" sz="2000" i="1">
                                      <a:latin typeface="Cambria Math" panose="02040503050406030204" pitchFamily="18" charset="0"/>
                                      <a:ea typeface="+mj-ea"/>
                                    </a:rPr>
                                  </m:ctrlPr>
                                </m:fPr>
                                <m:num>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−1)!</m:t>
                                  </m:r>
                                </m:num>
                                <m:den>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𝑖</m:t>
                                  </m:r>
                                  <m:r>
                                    <a:rPr lang="en-US" altLang="zh-CN" sz="2000" i="1">
                                      <a:latin typeface="Cambria Math" panose="02040503050406030204" pitchFamily="18" charset="0"/>
                                      <a:ea typeface="+mj-ea"/>
                                    </a:rPr>
                                    <m:t>−1)!</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−1)−(</m:t>
                                      </m:r>
                                      <m:r>
                                        <a:rPr lang="en-US" altLang="zh-CN" sz="2000" i="1">
                                          <a:latin typeface="Cambria Math" panose="02040503050406030204" pitchFamily="18" charset="0"/>
                                          <a:ea typeface="+mj-ea"/>
                                        </a:rPr>
                                        <m:t>𝑖</m:t>
                                      </m:r>
                                      <m:r>
                                        <a:rPr lang="en-US" altLang="zh-CN" sz="2000" i="1">
                                          <a:latin typeface="Cambria Math" panose="02040503050406030204" pitchFamily="18" charset="0"/>
                                          <a:ea typeface="+mj-ea"/>
                                        </a:rPr>
                                        <m:t>−1)</m:t>
                                      </m:r>
                                    </m:e>
                                  </m:d>
                                  <m:r>
                                    <a:rPr lang="en-US" altLang="zh-CN" sz="2000" i="1">
                                      <a:latin typeface="Cambria Math" panose="02040503050406030204" pitchFamily="18" charset="0"/>
                                      <a:ea typeface="+mj-ea"/>
                                    </a:rPr>
                                    <m:t>!</m:t>
                                  </m:r>
                                </m:den>
                              </m:f>
                            </m:e>
                          </m:nary>
                        </m:e>
                      </m:d>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𝑂</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m:t>
                          </m:r>
                          <m:nary>
                            <m:naryPr>
                              <m:chr m:val="∑"/>
                              <m:limLoc m:val="undOvr"/>
                              <m:ctrlPr>
                                <a:rPr lang="zh-CN" altLang="zh-CN" sz="2000" i="1">
                                  <a:latin typeface="Cambria Math" panose="02040503050406030204" pitchFamily="18" charset="0"/>
                                  <a:ea typeface="+mj-ea"/>
                                </a:rPr>
                              </m:ctrlPr>
                            </m:naryPr>
                            <m:sub>
                              <m:r>
                                <a:rPr lang="en-US" altLang="zh-CN" sz="2000" i="1">
                                  <a:latin typeface="Cambria Math" panose="02040503050406030204" pitchFamily="18" charset="0"/>
                                  <a:ea typeface="+mj-ea"/>
                                </a:rPr>
                                <m:t>𝑖</m:t>
                              </m:r>
                              <m:r>
                                <a:rPr lang="en-US" altLang="zh-CN" sz="2000" i="1">
                                  <a:latin typeface="Cambria Math" panose="02040503050406030204" pitchFamily="18" charset="0"/>
                                  <a:ea typeface="+mj-ea"/>
                                </a:rPr>
                                <m:t>=1</m:t>
                              </m:r>
                            </m:sub>
                            <m:sup>
                              <m:r>
                                <a:rPr lang="en-US" altLang="zh-CN" sz="2000" i="1">
                                  <a:latin typeface="Cambria Math" panose="02040503050406030204" pitchFamily="18" charset="0"/>
                                  <a:ea typeface="+mj-ea"/>
                                </a:rPr>
                                <m:t>𝑛</m:t>
                              </m:r>
                            </m:sup>
                            <m:e>
                              <m:sSubSup>
                                <m:sSubSupPr>
                                  <m:ctrlPr>
                                    <a:rPr lang="zh-CN" altLang="zh-CN" sz="2000" i="1">
                                      <a:latin typeface="Cambria Math" panose="02040503050406030204" pitchFamily="18" charset="0"/>
                                      <a:ea typeface="+mj-ea"/>
                                    </a:rPr>
                                  </m:ctrlPr>
                                </m:sSubSupPr>
                                <m:e>
                                  <m:r>
                                    <a:rPr lang="en-US" altLang="zh-CN" sz="2000" i="1">
                                      <a:latin typeface="Cambria Math" panose="02040503050406030204" pitchFamily="18" charset="0"/>
                                      <a:ea typeface="+mj-ea"/>
                                    </a:rPr>
                                    <m:t>𝐶</m:t>
                                  </m:r>
                                </m:e>
                                <m:sub>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−1</m:t>
                                  </m:r>
                                </m:sub>
                                <m:sup>
                                  <m:r>
                                    <a:rPr lang="en-US" altLang="zh-CN" sz="2000" i="1">
                                      <a:latin typeface="Cambria Math" panose="02040503050406030204" pitchFamily="18" charset="0"/>
                                      <a:ea typeface="+mj-ea"/>
                                    </a:rPr>
                                    <m:t>𝑖</m:t>
                                  </m:r>
                                  <m:r>
                                    <a:rPr lang="en-US" altLang="zh-CN" sz="2000" i="1">
                                      <a:latin typeface="Cambria Math" panose="02040503050406030204" pitchFamily="18" charset="0"/>
                                      <a:ea typeface="+mj-ea"/>
                                    </a:rPr>
                                    <m:t>−1</m:t>
                                  </m:r>
                                </m:sup>
                              </m:sSubSup>
                            </m:e>
                          </m:nary>
                        </m:e>
                      </m:d>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𝑂</m:t>
                      </m:r>
                      <m:d>
                        <m:dPr>
                          <m:ctrlPr>
                            <a:rPr lang="zh-CN" altLang="zh-CN" sz="2000" i="1">
                              <a:latin typeface="Cambria Math" panose="02040503050406030204" pitchFamily="18" charset="0"/>
                              <a:ea typeface="+mj-ea"/>
                            </a:rPr>
                          </m:ctrlPr>
                        </m:dPr>
                        <m:e>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m:t>
                          </m:r>
                          <m:sSup>
                            <m:sSupPr>
                              <m:ctrlPr>
                                <a:rPr lang="zh-CN" altLang="zh-CN" sz="2000" i="1">
                                  <a:latin typeface="Cambria Math" panose="02040503050406030204" pitchFamily="18" charset="0"/>
                                  <a:ea typeface="+mj-ea"/>
                                </a:rPr>
                              </m:ctrlPr>
                            </m:sSupPr>
                            <m:e>
                              <m:r>
                                <a:rPr lang="en-US" altLang="zh-CN" sz="2000" i="1">
                                  <a:latin typeface="Cambria Math" panose="02040503050406030204" pitchFamily="18" charset="0"/>
                                  <a:ea typeface="+mj-ea"/>
                                </a:rPr>
                                <m:t>2</m:t>
                              </m:r>
                            </m:e>
                            <m:sup>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−1</m:t>
                              </m:r>
                            </m:sup>
                          </m:sSup>
                        </m:e>
                      </m:d>
                      <m:r>
                        <a:rPr lang="en-US" altLang="zh-CN" sz="2000" i="1">
                          <a:latin typeface="Cambria Math" panose="02040503050406030204" pitchFamily="18" charset="0"/>
                          <a:ea typeface="+mj-ea"/>
                        </a:rPr>
                        <m:t>= </m:t>
                      </m:r>
                      <m:r>
                        <a:rPr lang="en-US" altLang="zh-CN" sz="2000" i="1" smtClean="0">
                          <a:solidFill>
                            <a:srgbClr val="701988"/>
                          </a:solidFill>
                          <a:latin typeface="Cambria Math" panose="02040503050406030204" pitchFamily="18" charset="0"/>
                          <a:ea typeface="+mj-ea"/>
                        </a:rPr>
                        <m:t>𝑂</m:t>
                      </m:r>
                      <m:d>
                        <m:dPr>
                          <m:ctrlPr>
                            <a:rPr lang="zh-CN" altLang="zh-CN" sz="2000" i="1">
                              <a:solidFill>
                                <a:srgbClr val="701988"/>
                              </a:solidFill>
                              <a:latin typeface="Cambria Math" panose="02040503050406030204" pitchFamily="18" charset="0"/>
                              <a:ea typeface="+mj-ea"/>
                            </a:rPr>
                          </m:ctrlPr>
                        </m:dPr>
                        <m:e>
                          <m:r>
                            <a:rPr lang="en-US" altLang="zh-CN" sz="2000" i="1">
                              <a:solidFill>
                                <a:srgbClr val="701988"/>
                              </a:solidFill>
                              <a:latin typeface="Cambria Math" panose="02040503050406030204" pitchFamily="18" charset="0"/>
                              <a:ea typeface="+mj-ea"/>
                            </a:rPr>
                            <m:t>𝑛</m:t>
                          </m:r>
                          <m:r>
                            <a:rPr lang="en-US" altLang="zh-CN" sz="2000" i="1">
                              <a:solidFill>
                                <a:srgbClr val="701988"/>
                              </a:solidFill>
                              <a:latin typeface="Cambria Math" panose="02040503050406030204" pitchFamily="18" charset="0"/>
                              <a:ea typeface="+mj-ea"/>
                            </a:rPr>
                            <m:t>∗</m:t>
                          </m:r>
                          <m:sSup>
                            <m:sSupPr>
                              <m:ctrlPr>
                                <a:rPr lang="zh-CN" altLang="zh-CN" sz="2000" i="1">
                                  <a:solidFill>
                                    <a:srgbClr val="701988"/>
                                  </a:solidFill>
                                  <a:latin typeface="Cambria Math" panose="02040503050406030204" pitchFamily="18" charset="0"/>
                                  <a:ea typeface="+mj-ea"/>
                                </a:rPr>
                              </m:ctrlPr>
                            </m:sSupPr>
                            <m:e>
                              <m:r>
                                <a:rPr lang="en-US" altLang="zh-CN" sz="2000" i="1">
                                  <a:solidFill>
                                    <a:srgbClr val="701988"/>
                                  </a:solidFill>
                                  <a:latin typeface="Cambria Math" panose="02040503050406030204" pitchFamily="18" charset="0"/>
                                  <a:ea typeface="+mj-ea"/>
                                </a:rPr>
                                <m:t>2</m:t>
                              </m:r>
                            </m:e>
                            <m:sup>
                              <m:r>
                                <a:rPr lang="en-US" altLang="zh-CN" sz="2000" i="1">
                                  <a:solidFill>
                                    <a:srgbClr val="701988"/>
                                  </a:solidFill>
                                  <a:latin typeface="Cambria Math" panose="02040503050406030204" pitchFamily="18" charset="0"/>
                                  <a:ea typeface="+mj-ea"/>
                                </a:rPr>
                                <m:t>𝑛</m:t>
                              </m:r>
                            </m:sup>
                          </m:sSup>
                        </m:e>
                      </m:d>
                    </m:oMath>
                  </m:oMathPara>
                </a14:m>
                <a:endParaRPr lang="zh-CN" altLang="zh-CN" sz="2000" i="1" dirty="0">
                  <a:latin typeface="+mj-ea"/>
                  <a:ea typeface="+mj-ea"/>
                </a:endParaRPr>
              </a:p>
              <a:p>
                <a:pPr>
                  <a:lnSpc>
                    <a:spcPct val="150000"/>
                  </a:lnSpc>
                  <a:buFont typeface="Wingdings" panose="05000000000000000000" pitchFamily="2" charset="2"/>
                  <a:buChar char="Ø"/>
                </a:pPr>
                <a:r>
                  <a:rPr lang="zh-CN" altLang="en-US" sz="2400" b="1" dirty="0">
                    <a:latin typeface="+mj-ea"/>
                    <a:ea typeface="+mj-ea"/>
                  </a:rPr>
                  <a:t>稠密树时间复杂度：</a:t>
                </a:r>
                <a:endParaRPr lang="en-US" altLang="zh-CN" sz="2400" b="1" dirty="0">
                  <a:latin typeface="+mj-ea"/>
                  <a:ea typeface="+mj-ea"/>
                </a:endParaRPr>
              </a:p>
              <a:p>
                <a:pPr>
                  <a:lnSpc>
                    <a:spcPct val="150000"/>
                  </a:lnSpc>
                  <a:buFont typeface="Wingdings" panose="05000000000000000000" pitchFamily="2" charset="2"/>
                  <a:buChar char="Ø"/>
                </a:pPr>
                <a:endParaRPr lang="en-US" altLang="zh-CN" sz="2400" b="1" dirty="0">
                  <a:latin typeface="+mj-ea"/>
                  <a:ea typeface="+mj-ea"/>
                </a:endParaRPr>
              </a:p>
              <a:p>
                <a:pPr marL="422041" lvl="1" indent="0">
                  <a:buNone/>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615737" y="869175"/>
                <a:ext cx="11456894" cy="4876801"/>
              </a:xfrm>
              <a:prstGeom prst="rect">
                <a:avLst/>
              </a:prstGeom>
              <a:blipFill>
                <a:blip r:embed="rId3"/>
                <a:stretch>
                  <a:fillRect l="-775" b="-337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E651072-8C12-3D5A-BAD6-A98378B618AC}"/>
                  </a:ext>
                </a:extLst>
              </p:cNvPr>
              <p:cNvSpPr txBox="1"/>
              <p:nvPr/>
            </p:nvSpPr>
            <p:spPr>
              <a:xfrm>
                <a:off x="3403629" y="4762143"/>
                <a:ext cx="7321745" cy="1226682"/>
              </a:xfrm>
              <a:prstGeom prst="rect">
                <a:avLst/>
              </a:prstGeom>
              <a:noFill/>
            </p:spPr>
            <p:txBody>
              <a:bodyPr wrap="square">
                <a:spAutoFit/>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sz="1800" b="0" i="1" kern="100" smtClean="0">
                          <a:effectLst/>
                          <a:latin typeface="Cambria Math" panose="02040503050406030204" pitchFamily="18" charset="0"/>
                          <a:ea typeface="Cambria Math" panose="02040503050406030204" pitchFamily="18" charset="0"/>
                          <a:cs typeface="Times New Roman" panose="02020603050405020304" pitchFamily="18" charset="0"/>
                        </a:rPr>
                        <m:t>𝑂</m:t>
                      </m:r>
                      <m:d>
                        <m:dPr>
                          <m:ctrlPr>
                            <a:rPr lang="zh-CN" altLang="zh-CN"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dPr>
                        <m:e>
                          <m:nary>
                            <m:naryPr>
                              <m:chr m:val="∑"/>
                              <m:limLoc m:val="undOv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sup>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𝐶</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p>
                              </m:sSub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p>
                              </m:s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e>
                          </m:nary>
                        </m:e>
                      </m:d>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𝑂</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nary>
                            <m:naryPr>
                              <m:chr m:val="∑"/>
                              <m:limLoc m:val="undOv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sup>
                            <m:e>
                              <m:sSubSup>
                                <m:sSub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𝐶</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p>
                              </m:sSub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p>
                              </m:sSup>
                            </m:e>
                          </m:nary>
                        </m:e>
                      </m:d>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𝑂</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3</m:t>
                              </m:r>
                            </m:e>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sup>
                          </m:sSup>
                        </m:e>
                      </m:d>
                    </m:oMath>
                  </m:oMathPara>
                </a14:m>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7E651072-8C12-3D5A-BAD6-A98378B618AC}"/>
                  </a:ext>
                </a:extLst>
              </p:cNvPr>
              <p:cNvSpPr txBox="1">
                <a:spLocks noRot="1" noChangeAspect="1" noMove="1" noResize="1" noEditPoints="1" noAdjustHandles="1" noChangeArrowheads="1" noChangeShapeType="1" noTextEdit="1"/>
              </p:cNvSpPr>
              <p:nvPr/>
            </p:nvSpPr>
            <p:spPr>
              <a:xfrm>
                <a:off x="3403629" y="4762143"/>
                <a:ext cx="7321745" cy="1226682"/>
              </a:xfrm>
              <a:prstGeom prst="rect">
                <a:avLst/>
              </a:prstGeom>
              <a:blipFill>
                <a:blip r:embed="rId4"/>
                <a:stretch>
                  <a:fillRect t="-38776" b="-1061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206816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E1A9D98-C14D-7F98-B0D5-1E959E94D9BD}"/>
              </a:ext>
            </a:extLst>
          </p:cNvPr>
          <p:cNvSpPr>
            <a:spLocks noGrp="1"/>
          </p:cNvSpPr>
          <p:nvPr>
            <p:ph type="sldNum" sz="quarter" idx="10"/>
          </p:nvPr>
        </p:nvSpPr>
        <p:spPr/>
        <p:txBody>
          <a:bodyPr/>
          <a:lstStyle/>
          <a:p>
            <a:fld id="{87BBDC00-B9E2-4EFD-9306-2934E87247C6}" type="slidenum">
              <a:rPr lang="zh-CN" altLang="en-US" smtClean="0"/>
              <a:pPr/>
              <a:t>111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连接</a:t>
            </a:r>
            <a:r>
              <a:rPr lang="zh-CN" altLang="en-US" dirty="0"/>
              <a:t>顺序选择算法</a:t>
            </a:r>
            <a:endParaRPr kumimoji="1" lang="zh-CN" altLang="en-US" dirty="0"/>
          </a:p>
        </p:txBody>
      </p:sp>
      <p:sp>
        <p:nvSpPr>
          <p:cNvPr id="5" name="页脚占位符 4">
            <a:extLst>
              <a:ext uri="{FF2B5EF4-FFF2-40B4-BE49-F238E27FC236}">
                <a16:creationId xmlns:a16="http://schemas.microsoft.com/office/drawing/2014/main" id="{089D6537-6252-CA2F-B945-D165C0760665}"/>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8" name="内容占位符 2">
            <a:extLst>
              <a:ext uri="{FF2B5EF4-FFF2-40B4-BE49-F238E27FC236}">
                <a16:creationId xmlns:a16="http://schemas.microsoft.com/office/drawing/2014/main" id="{0CDB9CB1-FFE1-4607-A4B1-1795427464FB}"/>
              </a:ext>
            </a:extLst>
          </p:cNvPr>
          <p:cNvSpPr txBox="1">
            <a:spLocks/>
          </p:cNvSpPr>
          <p:nvPr/>
        </p:nvSpPr>
        <p:spPr bwMode="auto">
          <a:xfrm>
            <a:off x="3668358" y="2118185"/>
            <a:ext cx="5260489" cy="2561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400" b="0">
                <a:solidFill>
                  <a:schemeClr val="tx1"/>
                </a:solidFill>
                <a:effectLst/>
                <a:latin typeface="+mj-ea"/>
                <a:ea typeface="+mj-ea"/>
                <a:cs typeface="Arial"/>
              </a:defRPr>
            </a:lvl1pPr>
            <a:lvl2pPr marL="685817" indent="-263776" algn="l" rtl="0" eaLnBrk="1" fontAlgn="base" hangingPunct="1">
              <a:spcBef>
                <a:spcPct val="20000"/>
              </a:spcBef>
              <a:spcAft>
                <a:spcPct val="0"/>
              </a:spcAft>
              <a:buChar char="–"/>
              <a:defRPr kumimoji="1" sz="2000" b="0">
                <a:solidFill>
                  <a:schemeClr val="tx1"/>
                </a:solidFill>
                <a:effectLst/>
                <a:latin typeface="+mj-ea"/>
                <a:ea typeface="+mj-ea"/>
                <a:cs typeface="Arial"/>
              </a:defRPr>
            </a:lvl2pPr>
            <a:lvl3pPr marL="1055103" indent="-211021" algn="l" rtl="0" eaLnBrk="1" fontAlgn="base" hangingPunct="1">
              <a:spcBef>
                <a:spcPct val="20000"/>
              </a:spcBef>
              <a:spcAft>
                <a:spcPct val="0"/>
              </a:spcAft>
              <a:buChar char="•"/>
              <a:defRPr kumimoji="1" sz="1800" b="0">
                <a:solidFill>
                  <a:schemeClr val="tx1"/>
                </a:solidFill>
                <a:effectLst/>
                <a:latin typeface="+mj-ea"/>
                <a:ea typeface="+mj-ea"/>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457200" indent="-457200">
              <a:lnSpc>
                <a:spcPct val="150000"/>
              </a:lnSpc>
              <a:buFont typeface="+mj-ea"/>
              <a:buAutoNum type="circleNumDbPlain"/>
            </a:pPr>
            <a:r>
              <a:rPr lang="zh-CN" altLang="en-US" sz="2800" kern="0" dirty="0"/>
              <a:t>动态规划算法</a:t>
            </a:r>
            <a:endParaRPr lang="en-US" altLang="zh-CN" sz="2800" kern="0" dirty="0"/>
          </a:p>
          <a:p>
            <a:pPr marL="514350" indent="-514350">
              <a:lnSpc>
                <a:spcPct val="150000"/>
              </a:lnSpc>
              <a:buFont typeface="+mj-ea"/>
              <a:buAutoNum type="circleNumDbPlain"/>
            </a:pPr>
            <a:r>
              <a:rPr lang="zh-CN" altLang="en-US" sz="2800" b="1" kern="0" dirty="0">
                <a:solidFill>
                  <a:srgbClr val="701988"/>
                </a:solidFill>
              </a:rPr>
              <a:t>贪心算法</a:t>
            </a:r>
            <a:endParaRPr lang="en-US" altLang="zh-CN" sz="2800" b="1" kern="0" dirty="0">
              <a:solidFill>
                <a:srgbClr val="701988"/>
              </a:solidFill>
            </a:endParaRPr>
          </a:p>
          <a:p>
            <a:pPr marL="457200" indent="-457200">
              <a:lnSpc>
                <a:spcPct val="150000"/>
              </a:lnSpc>
              <a:buFont typeface="+mj-ea"/>
              <a:buAutoNum type="circleNumDbPlain"/>
            </a:pPr>
            <a:r>
              <a:rPr lang="zh-CN" altLang="en-US" sz="2800" kern="0" dirty="0"/>
              <a:t>遗传算法</a:t>
            </a:r>
            <a:endParaRPr lang="zh-CN" altLang="zh-CN" sz="2800" kern="0" dirty="0"/>
          </a:p>
          <a:p>
            <a:pPr marL="0" indent="0">
              <a:lnSpc>
                <a:spcPct val="150000"/>
              </a:lnSpc>
              <a:buFont typeface="Wingdings" charset="2"/>
              <a:buNone/>
            </a:pPr>
            <a:r>
              <a:rPr lang="zh-CN" altLang="zh-CN" sz="2800" b="1" kern="0" dirty="0"/>
              <a:t> </a:t>
            </a:r>
            <a:endParaRPr lang="zh-CN" altLang="en-US" sz="2800" b="1" kern="0" dirty="0"/>
          </a:p>
        </p:txBody>
      </p:sp>
    </p:spTree>
    <p:extLst>
      <p:ext uri="{BB962C8B-B14F-4D97-AF65-F5344CB8AC3E}">
        <p14:creationId xmlns:p14="http://schemas.microsoft.com/office/powerpoint/2010/main" val="56792493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225FC0-01DD-F52F-42A4-DDCC69B6B574}"/>
              </a:ext>
            </a:extLst>
          </p:cNvPr>
          <p:cNvSpPr>
            <a:spLocks noGrp="1"/>
          </p:cNvSpPr>
          <p:nvPr>
            <p:ph type="sldNum" sz="quarter" idx="10"/>
          </p:nvPr>
        </p:nvSpPr>
        <p:spPr/>
        <p:txBody>
          <a:bodyPr/>
          <a:lstStyle/>
          <a:p>
            <a:fld id="{87BBDC00-B9E2-4EFD-9306-2934E87247C6}" type="slidenum">
              <a:rPr lang="zh-CN" altLang="en-US" smtClean="0"/>
              <a:pPr/>
              <a:t>112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贪心算法</a:t>
            </a:r>
          </a:p>
        </p:txBody>
      </p:sp>
      <p:sp>
        <p:nvSpPr>
          <p:cNvPr id="4" name="页脚占位符 3">
            <a:extLst>
              <a:ext uri="{FF2B5EF4-FFF2-40B4-BE49-F238E27FC236}">
                <a16:creationId xmlns:a16="http://schemas.microsoft.com/office/drawing/2014/main" id="{A98661B6-B2C4-47BB-3FCF-DE0212C62760}"/>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263661" y="1126800"/>
                <a:ext cx="12201233" cy="5390346"/>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b="1" dirty="0">
                    <a:latin typeface="+mj-ea"/>
                    <a:ea typeface="+mj-ea"/>
                  </a:rPr>
                  <a:t>核心思想：每次选择当前状态下</a:t>
                </a:r>
                <a:r>
                  <a:rPr lang="zh-CN" altLang="en-US" sz="2400" b="1" dirty="0">
                    <a:solidFill>
                      <a:srgbClr val="701988"/>
                    </a:solidFill>
                    <a:latin typeface="+mj-ea"/>
                    <a:ea typeface="+mj-ea"/>
                  </a:rPr>
                  <a:t>增加的代价最小</a:t>
                </a:r>
                <a:r>
                  <a:rPr lang="zh-CN" altLang="zh-CN" sz="2400" b="1" dirty="0">
                    <a:latin typeface="+mj-ea"/>
                    <a:ea typeface="+mj-ea"/>
                  </a:rPr>
                  <a:t>的</a:t>
                </a:r>
                <a:r>
                  <a:rPr lang="zh-CN" altLang="en-US" sz="2400" b="1" dirty="0">
                    <a:latin typeface="+mj-ea"/>
                    <a:ea typeface="+mj-ea"/>
                  </a:rPr>
                  <a:t>关系连接</a:t>
                </a:r>
                <a:r>
                  <a:rPr lang="zh-CN" altLang="zh-CN" sz="2400" b="1" dirty="0">
                    <a:latin typeface="+mj-ea"/>
                    <a:ea typeface="+mj-ea"/>
                  </a:rPr>
                  <a:t> </a:t>
                </a:r>
                <a:endParaRPr lang="en-US" altLang="zh-CN" sz="2400" b="1" kern="0" dirty="0">
                  <a:latin typeface="+mj-ea"/>
                  <a:ea typeface="+mj-ea"/>
                </a:endParaRPr>
              </a:p>
              <a:p>
                <a:pPr marL="342900" lvl="1" indent="-342900">
                  <a:lnSpc>
                    <a:spcPct val="150000"/>
                  </a:lnSpc>
                  <a:buFont typeface="Wingdings" panose="05000000000000000000" pitchFamily="2" charset="2"/>
                  <a:buChar char="Ø"/>
                </a:pPr>
                <a:r>
                  <a:rPr lang="zh-CN" altLang="en-US" sz="2400" b="1" kern="0" dirty="0">
                    <a:latin typeface="+mj-ea"/>
                    <a:ea typeface="+mj-ea"/>
                  </a:rPr>
                  <a:t>算法执行过程</a:t>
                </a:r>
                <a:r>
                  <a:rPr lang="zh-CN" altLang="zh-CN" sz="2400" b="1" kern="0" dirty="0">
                    <a:latin typeface="+mj-ea"/>
                    <a:ea typeface="+mj-ea"/>
                  </a:rPr>
                  <a:t>：</a:t>
                </a:r>
                <a:endParaRPr lang="en-US" altLang="zh-CN" sz="2400" b="1" kern="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a:t>
                </a:r>
                <a:r>
                  <a:rPr lang="en-US" altLang="zh-CN" sz="2000" dirty="0">
                    <a:latin typeface="+mj-ea"/>
                    <a:ea typeface="+mj-ea"/>
                  </a:rPr>
                  <a:t>1</a:t>
                </a:r>
                <a:r>
                  <a:rPr lang="zh-CN" altLang="en-US" sz="2000" dirty="0">
                    <a:latin typeface="+mj-ea"/>
                    <a:ea typeface="+mj-ea"/>
                  </a:rPr>
                  <a:t>）</a:t>
                </a:r>
                <a:r>
                  <a:rPr lang="zh-CN" altLang="zh-CN" sz="2000" dirty="0">
                    <a:latin typeface="+mj-ea"/>
                    <a:ea typeface="+mj-ea"/>
                  </a:rPr>
                  <a:t>选择一个大小</a:t>
                </a:r>
                <a14:m>
                  <m:oMath xmlns:m="http://schemas.openxmlformats.org/officeDocument/2006/math">
                    <m:r>
                      <a:rPr lang="en-US" altLang="zh-CN" sz="2000" i="1" dirty="0">
                        <a:latin typeface="Cambria Math" panose="02040503050406030204" pitchFamily="18" charset="0"/>
                        <a:ea typeface="+mj-ea"/>
                      </a:rPr>
                      <m:t>𝑇</m:t>
                    </m:r>
                    <m:d>
                      <m:dPr>
                        <m:ctrlPr>
                          <a:rPr lang="zh-CN" altLang="zh-CN" sz="2000" i="1">
                            <a:latin typeface="Cambria Math" panose="02040503050406030204" pitchFamily="18" charset="0"/>
                            <a:ea typeface="+mj-ea"/>
                          </a:rPr>
                        </m:ctrlPr>
                      </m:dPr>
                      <m:e>
                        <m:r>
                          <a:rPr lang="en-US" altLang="zh-CN" sz="2000">
                            <a:latin typeface="Cambria Math" panose="02040503050406030204" pitchFamily="18" charset="0"/>
                            <a:ea typeface="+mj-ea"/>
                          </a:rPr>
                          <m:t>𝑅</m:t>
                        </m:r>
                      </m:e>
                    </m:d>
                  </m:oMath>
                </a14:m>
                <a:r>
                  <a:rPr lang="zh-CN" altLang="zh-CN" sz="2000" dirty="0">
                    <a:latin typeface="+mj-ea"/>
                    <a:ea typeface="+mj-ea"/>
                  </a:rPr>
                  <a:t>最小的关系作为当前关系</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m:rPr>
                            <m:sty m:val="p"/>
                          </m:rPr>
                          <a:rPr lang="en-US" altLang="zh-CN" sz="2000">
                            <a:latin typeface="Cambria Math" panose="02040503050406030204" pitchFamily="18" charset="0"/>
                            <a:ea typeface="+mj-ea"/>
                          </a:rPr>
                          <m:t>cur</m:t>
                        </m:r>
                      </m:sub>
                    </m:sSub>
                  </m:oMath>
                </a14:m>
                <a:r>
                  <a:rPr lang="zh-CN" altLang="zh-CN" sz="2000" dirty="0">
                    <a:latin typeface="+mj-ea"/>
                    <a:ea typeface="+mj-ea"/>
                  </a:rPr>
                  <a:t>；</a:t>
                </a:r>
              </a:p>
              <a:p>
                <a:pPr lvl="1">
                  <a:lnSpc>
                    <a:spcPct val="150000"/>
                  </a:lnSpc>
                  <a:buFont typeface="Arial" panose="020B0604020202020204" pitchFamily="34" charset="0"/>
                  <a:buChar char="•"/>
                </a:pPr>
                <a:r>
                  <a:rPr lang="zh-CN" altLang="en-US" sz="2000" dirty="0">
                    <a:latin typeface="+mj-ea"/>
                    <a:ea typeface="+mj-ea"/>
                  </a:rPr>
                  <a:t>（</a:t>
                </a:r>
                <a:r>
                  <a:rPr lang="en-US" altLang="zh-CN" sz="2000" dirty="0">
                    <a:latin typeface="+mj-ea"/>
                    <a:ea typeface="+mj-ea"/>
                  </a:rPr>
                  <a:t>2</a:t>
                </a:r>
                <a:r>
                  <a:rPr lang="zh-CN" altLang="en-US" sz="2000" dirty="0">
                    <a:latin typeface="+mj-ea"/>
                    <a:ea typeface="+mj-ea"/>
                  </a:rPr>
                  <a:t>）</a:t>
                </a:r>
                <a:r>
                  <a:rPr lang="zh-CN" altLang="zh-CN" sz="2000" dirty="0">
                    <a:latin typeface="+mj-ea"/>
                    <a:ea typeface="+mj-ea"/>
                  </a:rPr>
                  <a:t>从余下没有被选择过的关系中选择与</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m:rPr>
                            <m:sty m:val="p"/>
                          </m:rPr>
                          <a:rPr lang="en-US" altLang="zh-CN" sz="2000">
                            <a:latin typeface="Cambria Math" panose="02040503050406030204" pitchFamily="18" charset="0"/>
                            <a:ea typeface="+mj-ea"/>
                          </a:rPr>
                          <m:t>cur</m:t>
                        </m:r>
                      </m:sub>
                    </m:sSub>
                  </m:oMath>
                </a14:m>
                <a:r>
                  <a:rPr lang="zh-CN" altLang="zh-CN" sz="2000" dirty="0">
                    <a:latin typeface="+mj-ea"/>
                    <a:ea typeface="+mj-ea"/>
                  </a:rPr>
                  <a:t>连接后结果最小的</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m:rPr>
                            <m:sty m:val="p"/>
                          </m:rPr>
                          <a:rPr lang="en-US" altLang="zh-CN" sz="2000">
                            <a:latin typeface="Cambria Math" panose="02040503050406030204" pitchFamily="18" charset="0"/>
                            <a:ea typeface="+mj-ea"/>
                          </a:rPr>
                          <m:t>next</m:t>
                        </m:r>
                      </m:sub>
                    </m:sSub>
                  </m:oMath>
                </a14:m>
                <a:r>
                  <a:rPr lang="zh-CN" altLang="zh-CN" sz="2000" dirty="0">
                    <a:latin typeface="+mj-ea"/>
                    <a:ea typeface="+mj-ea"/>
                  </a:rPr>
                  <a:t>，将</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m:rPr>
                            <m:sty m:val="p"/>
                          </m:rPr>
                          <a:rPr lang="en-US" altLang="zh-CN" sz="2000">
                            <a:latin typeface="Cambria Math" panose="02040503050406030204" pitchFamily="18" charset="0"/>
                            <a:ea typeface="+mj-ea"/>
                          </a:rPr>
                          <m:t>cur</m:t>
                        </m:r>
                      </m:sub>
                    </m:sSub>
                  </m:oMath>
                </a14:m>
                <a:r>
                  <a:rPr lang="zh-CN" altLang="zh-CN" sz="2000" dirty="0">
                    <a:latin typeface="+mj-ea"/>
                    <a:ea typeface="+mj-ea"/>
                  </a:rPr>
                  <a:t>更新为</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m:rPr>
                            <m:sty m:val="p"/>
                          </m:rPr>
                          <a:rPr lang="en-US" altLang="zh-CN" sz="2000">
                            <a:latin typeface="Cambria Math" panose="02040503050406030204" pitchFamily="18" charset="0"/>
                            <a:ea typeface="+mj-ea"/>
                          </a:rPr>
                          <m:t>cur</m:t>
                        </m:r>
                      </m:sub>
                    </m:sSub>
                    <m:r>
                      <a:rPr lang="en-US" altLang="zh-CN" sz="2000">
                        <a:latin typeface="Cambria Math" panose="02040503050406030204" pitchFamily="18" charset="0"/>
                        <a:ea typeface="+mj-ea"/>
                      </a:rPr>
                      <m:t>⋈</m:t>
                    </m:r>
                    <m:sSub>
                      <m:sSubPr>
                        <m:ctrlPr>
                          <a:rPr lang="zh-CN" altLang="zh-CN" sz="2000" i="1">
                            <a:latin typeface="Cambria Math" panose="02040503050406030204" pitchFamily="18" charset="0"/>
                            <a:ea typeface="+mj-ea"/>
                          </a:rPr>
                        </m:ctrlPr>
                      </m:sSubPr>
                      <m:e>
                        <m:r>
                          <a:rPr lang="en-US" altLang="zh-CN" sz="2000">
                            <a:latin typeface="Cambria Math" panose="02040503050406030204" pitchFamily="18" charset="0"/>
                            <a:ea typeface="+mj-ea"/>
                          </a:rPr>
                          <m:t>𝑅</m:t>
                        </m:r>
                      </m:e>
                      <m:sub>
                        <m:r>
                          <m:rPr>
                            <m:sty m:val="p"/>
                          </m:rPr>
                          <a:rPr lang="en-US" altLang="zh-CN" sz="2000">
                            <a:latin typeface="Cambria Math" panose="02040503050406030204" pitchFamily="18" charset="0"/>
                            <a:ea typeface="+mj-ea"/>
                          </a:rPr>
                          <m:t>next</m:t>
                        </m:r>
                      </m:sub>
                    </m:sSub>
                  </m:oMath>
                </a14:m>
                <a:r>
                  <a:rPr lang="zh-CN" altLang="zh-CN" sz="2000" dirty="0">
                    <a:latin typeface="+mj-ea"/>
                    <a:ea typeface="+mj-ea"/>
                  </a:rPr>
                  <a:t>；</a:t>
                </a:r>
              </a:p>
              <a:p>
                <a:pPr lvl="1">
                  <a:lnSpc>
                    <a:spcPct val="150000"/>
                  </a:lnSpc>
                  <a:buFont typeface="Arial" panose="020B0604020202020204" pitchFamily="34" charset="0"/>
                  <a:buChar char="•"/>
                </a:pPr>
                <a:r>
                  <a:rPr lang="zh-CN" altLang="en-US" sz="2000" dirty="0">
                    <a:latin typeface="+mj-ea"/>
                    <a:ea typeface="+mj-ea"/>
                  </a:rPr>
                  <a:t>（</a:t>
                </a:r>
                <a:r>
                  <a:rPr lang="en-US" altLang="zh-CN" sz="2000" dirty="0">
                    <a:latin typeface="+mj-ea"/>
                    <a:ea typeface="+mj-ea"/>
                  </a:rPr>
                  <a:t>3</a:t>
                </a:r>
                <a:r>
                  <a:rPr lang="zh-CN" altLang="en-US" sz="2000" dirty="0">
                    <a:latin typeface="+mj-ea"/>
                    <a:ea typeface="+mj-ea"/>
                  </a:rPr>
                  <a:t>）</a:t>
                </a:r>
                <a:r>
                  <a:rPr lang="zh-CN" altLang="zh-CN" sz="2000" dirty="0">
                    <a:latin typeface="+mj-ea"/>
                    <a:ea typeface="+mj-ea"/>
                  </a:rPr>
                  <a:t>不断重复步骤（</a:t>
                </a:r>
                <a:r>
                  <a:rPr lang="en-US" altLang="zh-CN" sz="2000" dirty="0">
                    <a:latin typeface="+mj-ea"/>
                    <a:ea typeface="+mj-ea"/>
                  </a:rPr>
                  <a:t>2</a:t>
                </a:r>
                <a:r>
                  <a:rPr lang="zh-CN" altLang="zh-CN" sz="2000" dirty="0">
                    <a:latin typeface="+mj-ea"/>
                    <a:ea typeface="+mj-ea"/>
                  </a:rPr>
                  <a:t>），直到所有关系都被选择过。</a:t>
                </a:r>
                <a:endParaRPr lang="en-US" altLang="zh-CN" sz="2000" dirty="0">
                  <a:latin typeface="+mj-ea"/>
                  <a:ea typeface="+mj-ea"/>
                </a:endParaRPr>
              </a:p>
              <a:p>
                <a:pPr marL="342900" lvl="1" indent="-342900">
                  <a:lnSpc>
                    <a:spcPct val="150000"/>
                  </a:lnSpc>
                  <a:buFont typeface="Wingdings" panose="05000000000000000000" pitchFamily="2" charset="2"/>
                  <a:buChar char="Ø"/>
                </a:pPr>
                <a:r>
                  <a:rPr lang="zh-CN" altLang="en-US" sz="2400" b="1" kern="0" dirty="0">
                    <a:latin typeface="+mj-ea"/>
                    <a:ea typeface="+mj-ea"/>
                  </a:rPr>
                  <a:t>时间复杂度</a:t>
                </a:r>
                <a:r>
                  <a:rPr lang="zh-CN" altLang="zh-CN" sz="2400" b="1" kern="0" dirty="0">
                    <a:latin typeface="+mj-ea"/>
                    <a:ea typeface="+mj-ea"/>
                  </a:rPr>
                  <a:t>：</a:t>
                </a:r>
                <a:endParaRPr lang="en-US" altLang="zh-CN" sz="2400" b="1" dirty="0">
                  <a:latin typeface="+mj-ea"/>
                  <a:ea typeface="+mj-ea"/>
                </a:endParaRPr>
              </a:p>
              <a:p>
                <a:pPr lvl="1">
                  <a:lnSpc>
                    <a:spcPct val="150000"/>
                  </a:lnSpc>
                  <a:buFont typeface="Arial" panose="020B0604020202020204" pitchFamily="34" charset="0"/>
                  <a:buChar char="•"/>
                </a:pPr>
                <a:r>
                  <a:rPr lang="zh-CN" altLang="zh-CN" sz="2000" dirty="0">
                    <a:latin typeface="+mj-ea"/>
                    <a:ea typeface="+mj-ea"/>
                  </a:rPr>
                  <a:t>单次复杂度为</a:t>
                </a:r>
                <a14:m>
                  <m:oMath xmlns:m="http://schemas.openxmlformats.org/officeDocument/2006/math">
                    <m:r>
                      <a:rPr lang="en-US" altLang="zh-CN" sz="2000" i="1">
                        <a:latin typeface="Cambria Math" panose="02040503050406030204" pitchFamily="18" charset="0"/>
                        <a:ea typeface="+mj-ea"/>
                      </a:rPr>
                      <m:t>𝑂</m:t>
                    </m:r>
                    <m:r>
                      <a:rPr lang="en-US" altLang="zh-CN" sz="2000" i="1">
                        <a:latin typeface="Cambria Math" panose="02040503050406030204" pitchFamily="18" charset="0"/>
                        <a:ea typeface="+mj-ea"/>
                      </a:rPr>
                      <m:t>(</m:t>
                    </m:r>
                    <m:r>
                      <a:rPr lang="en-US" altLang="zh-CN" sz="2000" i="1">
                        <a:latin typeface="Cambria Math" panose="02040503050406030204" pitchFamily="18" charset="0"/>
                        <a:ea typeface="+mj-ea"/>
                      </a:rPr>
                      <m:t>𝑛</m:t>
                    </m:r>
                    <m:r>
                      <a:rPr lang="en-US" altLang="zh-CN" sz="2000" i="1">
                        <a:latin typeface="Cambria Math" panose="02040503050406030204" pitchFamily="18" charset="0"/>
                        <a:ea typeface="+mj-ea"/>
                      </a:rPr>
                      <m:t>)</m:t>
                    </m:r>
                  </m:oMath>
                </a14:m>
                <a:r>
                  <a:rPr lang="zh-CN" altLang="zh-CN" sz="2000" dirty="0">
                    <a:latin typeface="+mj-ea"/>
                    <a:ea typeface="+mj-ea"/>
                  </a:rPr>
                  <a:t>的决策（计算与</a:t>
                </a:r>
                <a14:m>
                  <m:oMath xmlns:m="http://schemas.openxmlformats.org/officeDocument/2006/math">
                    <m:sSub>
                      <m:sSubPr>
                        <m:ctrlPr>
                          <a:rPr lang="zh-CN" altLang="zh-CN" sz="2000" i="1">
                            <a:latin typeface="Cambria Math" panose="02040503050406030204" pitchFamily="18" charset="0"/>
                            <a:ea typeface="+mj-ea"/>
                          </a:rPr>
                        </m:ctrlPr>
                      </m:sSubPr>
                      <m:e>
                        <m:r>
                          <a:rPr lang="en-US" altLang="zh-CN" sz="2000" i="1">
                            <a:latin typeface="Cambria Math" panose="02040503050406030204" pitchFamily="18" charset="0"/>
                            <a:ea typeface="+mj-ea"/>
                          </a:rPr>
                          <m:t>𝑅</m:t>
                        </m:r>
                      </m:e>
                      <m:sub>
                        <m:r>
                          <m:rPr>
                            <m:sty m:val="p"/>
                          </m:rPr>
                          <a:rPr lang="en-US" altLang="zh-CN" sz="2000">
                            <a:latin typeface="Cambria Math" panose="02040503050406030204" pitchFamily="18" charset="0"/>
                            <a:ea typeface="+mj-ea"/>
                          </a:rPr>
                          <m:t>cur</m:t>
                        </m:r>
                      </m:sub>
                    </m:sSub>
                  </m:oMath>
                </a14:m>
                <a:r>
                  <a:rPr lang="zh-CN" altLang="zh-CN" sz="2000" dirty="0">
                    <a:latin typeface="+mj-ea"/>
                    <a:ea typeface="+mj-ea"/>
                  </a:rPr>
                  <a:t>连接后的大小）</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重复</a:t>
                </a:r>
                <a14:m>
                  <m:oMath xmlns:m="http://schemas.openxmlformats.org/officeDocument/2006/math">
                    <m:r>
                      <a:rPr lang="en-US" altLang="zh-CN" sz="2000" i="1">
                        <a:latin typeface="Cambria Math" panose="02040503050406030204" pitchFamily="18" charset="0"/>
                        <a:ea typeface="+mj-ea"/>
                      </a:rPr>
                      <m:t>𝑛</m:t>
                    </m:r>
                  </m:oMath>
                </a14:m>
                <a:r>
                  <a:rPr lang="zh-CN" altLang="en-US" sz="2000" dirty="0">
                    <a:latin typeface="+mj-ea"/>
                    <a:ea typeface="+mj-ea"/>
                  </a:rPr>
                  <a:t>轮，</a:t>
                </a:r>
                <a:r>
                  <a:rPr lang="zh-CN" altLang="zh-CN" sz="2000" dirty="0">
                    <a:latin typeface="+mj-ea"/>
                    <a:ea typeface="+mj-ea"/>
                  </a:rPr>
                  <a:t>因此使用贪心算法只有</a:t>
                </a:r>
                <a14:m>
                  <m:oMath xmlns:m="http://schemas.openxmlformats.org/officeDocument/2006/math">
                    <m:r>
                      <a:rPr lang="en-US" altLang="zh-CN" sz="2000" i="1" smtClean="0">
                        <a:solidFill>
                          <a:srgbClr val="0432FF"/>
                        </a:solidFill>
                        <a:latin typeface="Cambria Math" panose="02040503050406030204" pitchFamily="18" charset="0"/>
                        <a:ea typeface="+mj-ea"/>
                      </a:rPr>
                      <m:t>𝑂</m:t>
                    </m:r>
                    <m:r>
                      <a:rPr lang="en-US" altLang="zh-CN" sz="2000" i="1" smtClean="0">
                        <a:solidFill>
                          <a:srgbClr val="0432FF"/>
                        </a:solidFill>
                        <a:latin typeface="Cambria Math" panose="02040503050406030204" pitchFamily="18" charset="0"/>
                        <a:ea typeface="+mj-ea"/>
                      </a:rPr>
                      <m:t>(</m:t>
                    </m:r>
                    <m:sSup>
                      <m:sSupPr>
                        <m:ctrlPr>
                          <a:rPr lang="zh-CN" altLang="zh-CN" sz="2000" i="1">
                            <a:solidFill>
                              <a:srgbClr val="0432FF"/>
                            </a:solidFill>
                            <a:latin typeface="Cambria Math" panose="02040503050406030204" pitchFamily="18" charset="0"/>
                            <a:ea typeface="+mj-ea"/>
                          </a:rPr>
                        </m:ctrlPr>
                      </m:sSupPr>
                      <m:e>
                        <m:r>
                          <a:rPr lang="en-US" altLang="zh-CN" sz="2000" i="1">
                            <a:solidFill>
                              <a:srgbClr val="0432FF"/>
                            </a:solidFill>
                            <a:latin typeface="Cambria Math" panose="02040503050406030204" pitchFamily="18" charset="0"/>
                            <a:ea typeface="+mj-ea"/>
                          </a:rPr>
                          <m:t>𝑛</m:t>
                        </m:r>
                      </m:e>
                      <m:sup>
                        <m:r>
                          <a:rPr lang="en-US" altLang="zh-CN" sz="2000" i="1">
                            <a:solidFill>
                              <a:srgbClr val="0432FF"/>
                            </a:solidFill>
                            <a:latin typeface="Cambria Math" panose="02040503050406030204" pitchFamily="18" charset="0"/>
                            <a:ea typeface="+mj-ea"/>
                          </a:rPr>
                          <m:t>2</m:t>
                        </m:r>
                      </m:sup>
                    </m:sSup>
                    <m:r>
                      <a:rPr lang="en-US" altLang="zh-CN" sz="2000" i="1">
                        <a:solidFill>
                          <a:srgbClr val="0432FF"/>
                        </a:solidFill>
                        <a:latin typeface="Cambria Math" panose="02040503050406030204" pitchFamily="18" charset="0"/>
                        <a:ea typeface="+mj-ea"/>
                      </a:rPr>
                      <m:t>)</m:t>
                    </m:r>
                  </m:oMath>
                </a14:m>
                <a:r>
                  <a:rPr lang="zh-CN" altLang="zh-CN" sz="2000" dirty="0">
                    <a:latin typeface="+mj-ea"/>
                    <a:ea typeface="+mj-ea"/>
                  </a:rPr>
                  <a:t>的复杂度 </a:t>
                </a:r>
                <a:endParaRPr lang="en-US" altLang="zh-CN" sz="2000" dirty="0">
                  <a:latin typeface="+mj-ea"/>
                  <a:ea typeface="+mj-ea"/>
                </a:endParaRPr>
              </a:p>
              <a:p>
                <a:pPr lvl="1">
                  <a:buFont typeface="Wingdings" pitchFamily="2" charset="2"/>
                  <a:buChar char="Ø"/>
                </a:pPr>
                <a:endParaRPr lang="zh-CN" altLang="zh-CN" sz="2400" dirty="0">
                  <a:latin typeface="+mj-ea"/>
                  <a:ea typeface="+mj-ea"/>
                </a:endParaRPr>
              </a:p>
              <a:p>
                <a:pPr lvl="1">
                  <a:buFont typeface="Wingdings" pitchFamily="2" charset="2"/>
                  <a:buChar char="Ø"/>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263661" y="1126800"/>
                <a:ext cx="12201233" cy="5390346"/>
              </a:xfrm>
              <a:prstGeom prst="rect">
                <a:avLst/>
              </a:prstGeom>
              <a:blipFill>
                <a:blip r:embed="rId3"/>
                <a:stretch>
                  <a:fillRect l="-62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3117253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0FF52922-3D42-4412-80D4-E8608AC407DF}"/>
              </a:ext>
            </a:extLst>
          </p:cNvPr>
          <p:cNvSpPr/>
          <p:nvPr/>
        </p:nvSpPr>
        <p:spPr>
          <a:xfrm>
            <a:off x="3860713" y="3769224"/>
            <a:ext cx="4476133" cy="69789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9" name="Shape18">
            <a:extLst>
              <a:ext uri="{FF2B5EF4-FFF2-40B4-BE49-F238E27FC236}">
                <a16:creationId xmlns:a16="http://schemas.microsoft.com/office/drawing/2014/main" id="{0FF52922-3D42-4412-80D4-E8608AC407DF}"/>
              </a:ext>
            </a:extLst>
          </p:cNvPr>
          <p:cNvSpPr/>
          <p:nvPr/>
        </p:nvSpPr>
        <p:spPr>
          <a:xfrm>
            <a:off x="2579118" y="1182904"/>
            <a:ext cx="7028115" cy="239330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27957D16-9CDD-61E9-EB13-3C21348B6440}"/>
              </a:ext>
            </a:extLst>
          </p:cNvPr>
          <p:cNvSpPr>
            <a:spLocks noGrp="1"/>
          </p:cNvSpPr>
          <p:nvPr>
            <p:ph type="sldNum" sz="quarter" idx="10"/>
          </p:nvPr>
        </p:nvSpPr>
        <p:spPr/>
        <p:txBody>
          <a:bodyPr/>
          <a:lstStyle/>
          <a:p>
            <a:fld id="{87BBDC00-B9E2-4EFD-9306-2934E87247C6}" type="slidenum">
              <a:rPr lang="zh-CN" altLang="en-US" smtClean="0"/>
              <a:pPr/>
              <a:t>113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贪心算法示例</a:t>
            </a:r>
          </a:p>
        </p:txBody>
      </p:sp>
      <p:sp>
        <p:nvSpPr>
          <p:cNvPr id="5" name="页脚占位符 4">
            <a:extLst>
              <a:ext uri="{FF2B5EF4-FFF2-40B4-BE49-F238E27FC236}">
                <a16:creationId xmlns:a16="http://schemas.microsoft.com/office/drawing/2014/main" id="{050A6090-90B5-894C-F5FE-A80DDDC4049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4860210"/>
                <a:ext cx="10315674" cy="116563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dirty="0">
                    <a:latin typeface="+mj-ea"/>
                    <a:ea typeface="+mj-ea"/>
                  </a:rPr>
                  <a:t>第一步：</a:t>
                </a:r>
                <a:r>
                  <a:rPr lang="zh-CN" altLang="zh-CN" sz="2400" b="1" dirty="0">
                    <a:latin typeface="+mj-ea"/>
                    <a:ea typeface="+mj-ea"/>
                  </a:rPr>
                  <a:t>所有关系大小都相等，但</a:t>
                </a:r>
                <a14:m>
                  <m:oMath xmlns:m="http://schemas.openxmlformats.org/officeDocument/2006/math">
                    <m:sSub>
                      <m:sSubPr>
                        <m:ctrlPr>
                          <a:rPr lang="zh-CN" altLang="zh-CN" sz="2400" b="1" i="1">
                            <a:latin typeface="Cambria Math" panose="02040503050406030204" pitchFamily="18" charset="0"/>
                            <a:ea typeface="+mj-ea"/>
                          </a:rPr>
                        </m:ctrlPr>
                      </m:sSubPr>
                      <m:e>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𝟐</m:t>
                        </m:r>
                      </m:sub>
                    </m:sSub>
                  </m:oMath>
                </a14:m>
                <a:r>
                  <a:rPr lang="zh-CN" altLang="zh-CN" sz="2400" b="1" dirty="0">
                    <a:latin typeface="+mj-ea"/>
                    <a:ea typeface="+mj-ea"/>
                  </a:rPr>
                  <a:t>和</a:t>
                </a:r>
                <a14:m>
                  <m:oMath xmlns:m="http://schemas.openxmlformats.org/officeDocument/2006/math">
                    <m:sSub>
                      <m:sSubPr>
                        <m:ctrlPr>
                          <a:rPr lang="zh-CN" altLang="zh-CN" sz="2400" b="1" i="1">
                            <a:latin typeface="Cambria Math" panose="02040503050406030204" pitchFamily="18" charset="0"/>
                            <a:ea typeface="+mj-ea"/>
                          </a:rPr>
                        </m:ctrlPr>
                      </m:sSubPr>
                      <m:e>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𝟑</m:t>
                        </m:r>
                      </m:sub>
                    </m:sSub>
                  </m:oMath>
                </a14:m>
                <a:r>
                  <a:rPr lang="zh-CN" altLang="zh-CN" sz="2400" b="1" dirty="0">
                    <a:latin typeface="+mj-ea"/>
                    <a:ea typeface="+mj-ea"/>
                  </a:rPr>
                  <a:t>在进行连接时有</a:t>
                </a:r>
                <a:r>
                  <a:rPr lang="en-US" altLang="zh-CN" sz="2400" b="1" dirty="0">
                    <a:latin typeface="+mj-ea"/>
                    <a:ea typeface="+mj-ea"/>
                  </a:rPr>
                  <a:t>2</a:t>
                </a:r>
                <a:r>
                  <a:rPr lang="zh-CN" altLang="zh-CN" sz="2400" b="1" dirty="0">
                    <a:latin typeface="+mj-ea"/>
                    <a:ea typeface="+mj-ea"/>
                  </a:rPr>
                  <a:t>种选择，选择</a:t>
                </a:r>
                <a14:m>
                  <m:oMath xmlns:m="http://schemas.openxmlformats.org/officeDocument/2006/math">
                    <m:sSub>
                      <m:sSubPr>
                        <m:ctrlPr>
                          <a:rPr lang="zh-CN" altLang="zh-CN" sz="2400" b="1" i="1" smtClean="0">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𝟐</m:t>
                        </m:r>
                      </m:sub>
                    </m:sSub>
                  </m:oMath>
                </a14:m>
                <a:r>
                  <a:rPr lang="zh-CN" altLang="zh-CN" sz="2400" b="1" dirty="0">
                    <a:latin typeface="+mj-ea"/>
                    <a:ea typeface="+mj-ea"/>
                  </a:rPr>
                  <a:t>作为当前关系</a:t>
                </a:r>
                <a14:m>
                  <m:oMath xmlns:m="http://schemas.openxmlformats.org/officeDocument/2006/math">
                    <m:sSub>
                      <m:sSubPr>
                        <m:ctrlPr>
                          <a:rPr lang="zh-CN" altLang="zh-CN" sz="2400" b="1" i="1" smtClean="0">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𝒄𝒖𝒓</m:t>
                        </m:r>
                      </m:sub>
                    </m:sSub>
                  </m:oMath>
                </a14:m>
                <a:r>
                  <a:rPr lang="zh-CN" altLang="zh-CN" sz="2400" b="1" dirty="0">
                    <a:latin typeface="+mj-ea"/>
                    <a:ea typeface="+mj-ea"/>
                  </a:rPr>
                  <a:t>。</a:t>
                </a:r>
              </a:p>
              <a:p>
                <a:pPr lvl="1">
                  <a:buFont typeface="Wingdings" pitchFamily="2" charset="2"/>
                  <a:buChar char="Ø"/>
                </a:pPr>
                <a:endParaRPr lang="en-US" altLang="zh-CN" sz="2400" b="1" dirty="0">
                  <a:latin typeface="+mj-ea"/>
                  <a:ea typeface="+mj-ea"/>
                </a:endParaRPr>
              </a:p>
              <a:p>
                <a:pPr lvl="1">
                  <a:buFont typeface="Wingdings" pitchFamily="2" charset="2"/>
                  <a:buChar char="Ø"/>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400" b="1" kern="0" dirty="0">
                    <a:latin typeface="+mj-ea"/>
                    <a:ea typeface="+mj-ea"/>
                  </a:rPr>
                  <a:t> </a:t>
                </a:r>
                <a:endParaRPr lang="zh-CN" altLang="en-US" sz="2400" b="1" kern="0" dirty="0">
                  <a:latin typeface="+mj-ea"/>
                  <a:ea typeface="+mj-ea"/>
                </a:endParaRPr>
              </a:p>
            </p:txBody>
          </p:sp>
        </mc:Choice>
        <mc:Fallback xmlns="">
          <p:sp>
            <p:nvSpPr>
              <p:cNvPr id="6" name="内容占位符 2">
                <a:extLst>
                  <a:ext uri="{FF2B5EF4-FFF2-40B4-BE49-F238E27FC236}">
                    <a16:creationId xmlns:a16="http://schemas.microsoft.com/office/drawing/2014/main" xmlns:a14="http://schemas.microsoft.com/office/drawing/2010/main" xmlns="" id="{3A77DD7A-E201-E5F7-A37D-D7A48E626DFE}"/>
                  </a:ext>
                </a:extLst>
              </p:cNvPr>
              <p:cNvSpPr txBox="1">
                <a:spLocks noRot="1" noChangeAspect="1" noMove="1" noResize="1" noEditPoints="1" noAdjustHandles="1" noChangeArrowheads="1" noChangeShapeType="1" noTextEdit="1"/>
              </p:cNvSpPr>
              <p:nvPr/>
            </p:nvSpPr>
            <p:spPr bwMode="auto">
              <a:xfrm>
                <a:off x="1008000" y="4860210"/>
                <a:ext cx="10315674" cy="1165637"/>
              </a:xfrm>
              <a:prstGeom prst="rect">
                <a:avLst/>
              </a:prstGeom>
              <a:blipFill rotWithShape="0">
                <a:blip r:embed="rId3"/>
                <a:stretch>
                  <a:fillRect l="-768" r="-236" b="-8901"/>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DFEBAA8C-05D7-F366-84BB-ABD5F9DCDBD5}"/>
              </a:ext>
            </a:extLst>
          </p:cNvPr>
          <p:cNvPicPr>
            <a:picLocks noChangeAspect="1"/>
          </p:cNvPicPr>
          <p:nvPr/>
        </p:nvPicPr>
        <p:blipFill>
          <a:blip r:embed="rId4"/>
          <a:srcRect/>
          <a:stretch/>
        </p:blipFill>
        <p:spPr>
          <a:xfrm>
            <a:off x="4079934" y="3891323"/>
            <a:ext cx="4052000" cy="454343"/>
          </a:xfrm>
          <a:prstGeom prst="rect">
            <a:avLst/>
          </a:prstGeom>
        </p:spPr>
      </p:pic>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9925210D-F27D-E3E1-3630-CF7ACE2F6804}"/>
                  </a:ext>
                </a:extLst>
              </p:cNvPr>
              <p:cNvGraphicFramePr>
                <a:graphicFrameLocks noGrp="1"/>
              </p:cNvGraphicFramePr>
              <p:nvPr>
                <p:extLst>
                  <p:ext uri="{D42A27DB-BD31-4B8C-83A1-F6EECF244321}">
                    <p14:modId xmlns:p14="http://schemas.microsoft.com/office/powerpoint/2010/main" val="240436710"/>
                  </p:ext>
                </p:extLst>
              </p:nvPr>
            </p:nvGraphicFramePr>
            <p:xfrm>
              <a:off x="2791777" y="1350176"/>
              <a:ext cx="6609373" cy="2057400"/>
            </p:xfrm>
            <a:graphic>
              <a:graphicData uri="http://schemas.openxmlformats.org/drawingml/2006/table">
                <a:tbl>
                  <a:tblPr firstRow="1" firstCol="1" bandRow="1">
                    <a:tableStyleId>{5940675A-B579-460E-94D1-54222C63F5DA}</a:tableStyleId>
                  </a:tblPr>
                  <a:tblGrid>
                    <a:gridCol w="1978261">
                      <a:extLst>
                        <a:ext uri="{9D8B030D-6E8A-4147-A177-3AD203B41FA5}">
                          <a16:colId xmlns:a16="http://schemas.microsoft.com/office/drawing/2014/main" val="1407869325"/>
                        </a:ext>
                      </a:extLst>
                    </a:gridCol>
                    <a:gridCol w="1157778">
                      <a:extLst>
                        <a:ext uri="{9D8B030D-6E8A-4147-A177-3AD203B41FA5}">
                          <a16:colId xmlns:a16="http://schemas.microsoft.com/office/drawing/2014/main" val="2830475392"/>
                        </a:ext>
                      </a:extLst>
                    </a:gridCol>
                    <a:gridCol w="1157778">
                      <a:extLst>
                        <a:ext uri="{9D8B030D-6E8A-4147-A177-3AD203B41FA5}">
                          <a16:colId xmlns:a16="http://schemas.microsoft.com/office/drawing/2014/main" val="966611914"/>
                        </a:ext>
                      </a:extLst>
                    </a:gridCol>
                    <a:gridCol w="1157778">
                      <a:extLst>
                        <a:ext uri="{9D8B030D-6E8A-4147-A177-3AD203B41FA5}">
                          <a16:colId xmlns:a16="http://schemas.microsoft.com/office/drawing/2014/main" val="1273916535"/>
                        </a:ext>
                      </a:extLst>
                    </a:gridCol>
                    <a:gridCol w="1157778">
                      <a:extLst>
                        <a:ext uri="{9D8B030D-6E8A-4147-A177-3AD203B41FA5}">
                          <a16:colId xmlns:a16="http://schemas.microsoft.com/office/drawing/2014/main" val="3356538631"/>
                        </a:ext>
                      </a:extLst>
                    </a:gridCol>
                  </a:tblGrid>
                  <a:tr h="0">
                    <a:tc>
                      <a:txBody>
                        <a:bodyPr/>
                        <a:lstStyle/>
                        <a:p>
                          <a:pPr indent="127000" algn="just">
                            <a:lnSpc>
                              <a:spcPct val="150000"/>
                            </a:lnSpc>
                          </a:pPr>
                          <a:r>
                            <a:rPr lang="zh-CN" sz="1800" kern="100" dirty="0">
                              <a:effectLst/>
                              <a:latin typeface="SimHei" panose="02010609060101010101" pitchFamily="49" charset="-122"/>
                              <a:ea typeface="SimHei" panose="02010609060101010101" pitchFamily="49" charset="-122"/>
                            </a:rPr>
                            <a:t>关系集合</a:t>
                          </a:r>
                          <a14:m>
                            <m:oMath xmlns:m="http://schemas.openxmlformats.org/officeDocument/2006/math">
                              <m:r>
                                <a:rPr lang="en-US" sz="1800" kern="100">
                                  <a:effectLst/>
                                  <a:latin typeface="Cambria Math" panose="02040503050406030204" pitchFamily="18" charset="0"/>
                                </a:rPr>
                                <m:t>𝑆</m:t>
                              </m:r>
                            </m:oMath>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𝑇</m:t>
                                </m:r>
                                <m:r>
                                  <a:rPr lang="en-US" sz="1800" kern="100">
                                    <a:effectLst/>
                                    <a:latin typeface="Cambria Math" panose="02040503050406030204" pitchFamily="18" charset="0"/>
                                  </a:rPr>
                                  <m:t>(</m:t>
                                </m:r>
                                <m:r>
                                  <a:rPr lang="en-US" sz="1800" kern="100">
                                    <a:effectLst/>
                                    <a:latin typeface="Cambria Math" panose="02040503050406030204" pitchFamily="18" charset="0"/>
                                  </a:rPr>
                                  <m:t>𝑆</m:t>
                                </m:r>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𝐴</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𝐵</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𝐶</m:t>
                                    </m:r>
                                  </m:e>
                                </m:d>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16010465"/>
                      </a:ext>
                    </a:extLst>
                  </a:tr>
                  <a:tr h="0">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1</m:t>
                                    </m:r>
                                  </m:sub>
                                </m:sSub>
                                <m:r>
                                  <a:rPr lang="en-US" sz="1800" kern="100">
                                    <a:effectLst/>
                                    <a:latin typeface="Cambria Math" panose="02040503050406030204" pitchFamily="18" charset="0"/>
                                  </a:rPr>
                                  <m:t>}</m:t>
                                </m:r>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1000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7565836"/>
                      </a:ext>
                    </a:extLst>
                  </a:tr>
                  <a:tr h="0">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2</m:t>
                                    </m:r>
                                  </m:sub>
                                </m:sSub>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40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85550045"/>
                      </a:ext>
                    </a:extLst>
                  </a:tr>
                  <a:tr h="0">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3</m:t>
                                    </m:r>
                                  </m:sub>
                                </m:sSub>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4683849"/>
                      </a:ext>
                    </a:extLst>
                  </a:tr>
                  <a:tr h="0">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4</m:t>
                                    </m:r>
                                  </m:sub>
                                </m:sSub>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250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90426847"/>
                      </a:ext>
                    </a:extLst>
                  </a:tr>
                </a:tbl>
              </a:graphicData>
            </a:graphic>
          </p:graphicFrame>
        </mc:Choice>
        <mc:Fallback xmlns="">
          <p:graphicFrame>
            <p:nvGraphicFramePr>
              <p:cNvPr id="4" name="表格 3">
                <a:extLst>
                  <a:ext uri="{FF2B5EF4-FFF2-40B4-BE49-F238E27FC236}">
                    <a16:creationId xmlns:a16="http://schemas.microsoft.com/office/drawing/2014/main" xmlns:a14="http://schemas.microsoft.com/office/drawing/2010/main" xmlns="" id="{9925210D-F27D-E3E1-3630-CF7ACE2F6804}"/>
                  </a:ext>
                </a:extLst>
              </p:cNvPr>
              <p:cNvGraphicFramePr>
                <a:graphicFrameLocks noGrp="1"/>
              </p:cNvGraphicFramePr>
              <p:nvPr>
                <p:extLst>
                  <p:ext uri="{D42A27DB-BD31-4B8C-83A1-F6EECF244321}">
                    <p14:modId xmlns:p14="http://schemas.microsoft.com/office/powerpoint/2010/main" val="240436710"/>
                  </p:ext>
                </p:extLst>
              </p:nvPr>
            </p:nvGraphicFramePr>
            <p:xfrm>
              <a:off x="2791777" y="1350176"/>
              <a:ext cx="6609373" cy="2057400"/>
            </p:xfrm>
            <a:graphic>
              <a:graphicData uri="http://schemas.openxmlformats.org/drawingml/2006/table">
                <a:tbl>
                  <a:tblPr firstRow="1" firstCol="1" bandRow="1">
                    <a:tableStyleId>{5940675A-B579-460E-94D1-54222C63F5DA}</a:tableStyleId>
                  </a:tblPr>
                  <a:tblGrid>
                    <a:gridCol w="1978261">
                      <a:extLst>
                        <a:ext uri="{9D8B030D-6E8A-4147-A177-3AD203B41FA5}">
                          <a16:colId xmlns:a16="http://schemas.microsoft.com/office/drawing/2014/main" xmlns:a14="http://schemas.microsoft.com/office/drawing/2010/main" xmlns="" val="1407869325"/>
                        </a:ext>
                      </a:extLst>
                    </a:gridCol>
                    <a:gridCol w="1157778">
                      <a:extLst>
                        <a:ext uri="{9D8B030D-6E8A-4147-A177-3AD203B41FA5}">
                          <a16:colId xmlns:a16="http://schemas.microsoft.com/office/drawing/2014/main" xmlns:a14="http://schemas.microsoft.com/office/drawing/2010/main" xmlns="" val="2830475392"/>
                        </a:ext>
                      </a:extLst>
                    </a:gridCol>
                    <a:gridCol w="1157778">
                      <a:extLst>
                        <a:ext uri="{9D8B030D-6E8A-4147-A177-3AD203B41FA5}">
                          <a16:colId xmlns:a16="http://schemas.microsoft.com/office/drawing/2014/main" xmlns:a14="http://schemas.microsoft.com/office/drawing/2010/main" xmlns="" val="966611914"/>
                        </a:ext>
                      </a:extLst>
                    </a:gridCol>
                    <a:gridCol w="1157778">
                      <a:extLst>
                        <a:ext uri="{9D8B030D-6E8A-4147-A177-3AD203B41FA5}">
                          <a16:colId xmlns:a16="http://schemas.microsoft.com/office/drawing/2014/main" xmlns:a14="http://schemas.microsoft.com/office/drawing/2010/main" xmlns="" val="1273916535"/>
                        </a:ext>
                      </a:extLst>
                    </a:gridCol>
                    <a:gridCol w="1157778">
                      <a:extLst>
                        <a:ext uri="{9D8B030D-6E8A-4147-A177-3AD203B41FA5}">
                          <a16:colId xmlns:a16="http://schemas.microsoft.com/office/drawing/2014/main" xmlns:a14="http://schemas.microsoft.com/office/drawing/2010/main" xmlns="" val="3356538631"/>
                        </a:ext>
                      </a:extLst>
                    </a:gridCol>
                  </a:tblGrid>
                  <a:tr h="411480">
                    <a:tc>
                      <a:txBody>
                        <a:bodyPr/>
                        <a:lstStyle/>
                        <a:p>
                          <a:endParaRPr lang="zh-CN"/>
                        </a:p>
                      </a:txBody>
                      <a:tcPr marL="68580" marR="68580" marT="0" marB="0" anchor="ctr">
                        <a:blipFill rotWithShape="0">
                          <a:blip r:embed="rId5"/>
                          <a:stretch>
                            <a:fillRect l="-308" t="-1471" r="-234769" b="-426471"/>
                          </a:stretch>
                        </a:blipFill>
                      </a:tcPr>
                    </a:tc>
                    <a:tc>
                      <a:txBody>
                        <a:bodyPr/>
                        <a:lstStyle/>
                        <a:p>
                          <a:endParaRPr lang="zh-CN"/>
                        </a:p>
                      </a:txBody>
                      <a:tcPr marL="68580" marR="68580" marT="0" marB="0" anchor="ctr">
                        <a:blipFill rotWithShape="0">
                          <a:blip r:embed="rId5"/>
                          <a:stretch>
                            <a:fillRect l="-171579" t="-1471" r="-301579" b="-426471"/>
                          </a:stretch>
                        </a:blipFill>
                      </a:tcPr>
                    </a:tc>
                    <a:tc>
                      <a:txBody>
                        <a:bodyPr/>
                        <a:lstStyle/>
                        <a:p>
                          <a:endParaRPr lang="zh-CN"/>
                        </a:p>
                      </a:txBody>
                      <a:tcPr marL="68580" marR="68580" marT="0" marB="0" anchor="ctr">
                        <a:blipFill rotWithShape="0">
                          <a:blip r:embed="rId5"/>
                          <a:stretch>
                            <a:fillRect l="-270157" t="-1471" r="-200000" b="-426471"/>
                          </a:stretch>
                        </a:blipFill>
                      </a:tcPr>
                    </a:tc>
                    <a:tc>
                      <a:txBody>
                        <a:bodyPr/>
                        <a:lstStyle/>
                        <a:p>
                          <a:endParaRPr lang="zh-CN"/>
                        </a:p>
                      </a:txBody>
                      <a:tcPr marL="68580" marR="68580" marT="0" marB="0" anchor="ctr">
                        <a:blipFill rotWithShape="0">
                          <a:blip r:embed="rId5"/>
                          <a:stretch>
                            <a:fillRect l="-372105" t="-1471" r="-101053" b="-426471"/>
                          </a:stretch>
                        </a:blipFill>
                      </a:tcPr>
                    </a:tc>
                    <a:tc>
                      <a:txBody>
                        <a:bodyPr/>
                        <a:lstStyle/>
                        <a:p>
                          <a:endParaRPr lang="zh-CN"/>
                        </a:p>
                      </a:txBody>
                      <a:tcPr marL="68580" marR="68580" marT="0" marB="0" anchor="ctr">
                        <a:blipFill rotWithShape="0">
                          <a:blip r:embed="rId5"/>
                          <a:stretch>
                            <a:fillRect l="-472105" t="-1471" r="-1053" b="-426471"/>
                          </a:stretch>
                        </a:blipFill>
                      </a:tcPr>
                    </a:tc>
                    <a:extLst>
                      <a:ext uri="{0D108BD9-81ED-4DB2-BD59-A6C34878D82A}">
                        <a16:rowId xmlns:a16="http://schemas.microsoft.com/office/drawing/2014/main" xmlns:a14="http://schemas.microsoft.com/office/drawing/2010/main" xmlns="" val="4216010465"/>
                      </a:ext>
                    </a:extLst>
                  </a:tr>
                  <a:tr h="411480">
                    <a:tc>
                      <a:txBody>
                        <a:bodyPr/>
                        <a:lstStyle/>
                        <a:p>
                          <a:endParaRPr lang="zh-CN"/>
                        </a:p>
                      </a:txBody>
                      <a:tcPr marL="68580" marR="68580" marT="0" marB="0" anchor="ctr">
                        <a:blipFill rotWithShape="0">
                          <a:blip r:embed="rId5"/>
                          <a:stretch>
                            <a:fillRect l="-308" t="-102985" r="-234769" b="-332836"/>
                          </a:stretch>
                        </a:blipFill>
                      </a:tcPr>
                    </a:tc>
                    <a:tc>
                      <a:txBody>
                        <a:bodyPr/>
                        <a:lstStyle/>
                        <a:p>
                          <a:pPr indent="127000" algn="ctr">
                            <a:lnSpc>
                              <a:spcPct val="150000"/>
                            </a:lnSpc>
                          </a:pPr>
                          <a:r>
                            <a:rPr lang="en-US" sz="1800" kern="100" dirty="0">
                              <a:effectLst/>
                            </a:rPr>
                            <a:t>1000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a14="http://schemas.microsoft.com/office/drawing/2010/main" xmlns="" val="3987565836"/>
                      </a:ext>
                    </a:extLst>
                  </a:tr>
                  <a:tr h="411480">
                    <a:tc>
                      <a:txBody>
                        <a:bodyPr/>
                        <a:lstStyle/>
                        <a:p>
                          <a:endParaRPr lang="zh-CN"/>
                        </a:p>
                      </a:txBody>
                      <a:tcPr marL="68580" marR="68580" marT="0" marB="0" anchor="ctr">
                        <a:blipFill rotWithShape="0">
                          <a:blip r:embed="rId5"/>
                          <a:stretch>
                            <a:fillRect l="-308" t="-200000" r="-234769" b="-227941"/>
                          </a:stretch>
                        </a:blipFill>
                      </a:tcP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40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a14="http://schemas.microsoft.com/office/drawing/2010/main" xmlns="" val="2485550045"/>
                      </a:ext>
                    </a:extLst>
                  </a:tr>
                  <a:tr h="411480">
                    <a:tc>
                      <a:txBody>
                        <a:bodyPr/>
                        <a:lstStyle/>
                        <a:p>
                          <a:endParaRPr lang="zh-CN"/>
                        </a:p>
                      </a:txBody>
                      <a:tcPr marL="68580" marR="68580" marT="0" marB="0" anchor="ctr">
                        <a:blipFill rotWithShape="0">
                          <a:blip r:embed="rId5"/>
                          <a:stretch>
                            <a:fillRect l="-308" t="-304478" r="-234769" b="-131343"/>
                          </a:stretch>
                        </a:blipFill>
                      </a:tcP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a14="http://schemas.microsoft.com/office/drawing/2010/main" xmlns="" val="2434683849"/>
                      </a:ext>
                    </a:extLst>
                  </a:tr>
                  <a:tr h="411480">
                    <a:tc>
                      <a:txBody>
                        <a:bodyPr/>
                        <a:lstStyle/>
                        <a:p>
                          <a:endParaRPr lang="zh-CN"/>
                        </a:p>
                      </a:txBody>
                      <a:tcPr marL="68580" marR="68580" marT="0" marB="0" anchor="ctr">
                        <a:blipFill rotWithShape="0">
                          <a:blip r:embed="rId5"/>
                          <a:stretch>
                            <a:fillRect l="-308" t="-398529" r="-234769" b="-29412"/>
                          </a:stretch>
                        </a:blipFill>
                      </a:tcPr>
                    </a:tc>
                    <a:tc>
                      <a:txBody>
                        <a:bodyPr/>
                        <a:lstStyle/>
                        <a:p>
                          <a:pPr indent="127000" algn="ctr">
                            <a:lnSpc>
                              <a:spcPct val="150000"/>
                            </a:lnSpc>
                          </a:pPr>
                          <a:r>
                            <a:rPr lang="en-US" sz="1800" kern="100">
                              <a:effectLst/>
                            </a:rPr>
                            <a:t>1000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250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a14="http://schemas.microsoft.com/office/drawing/2010/main" xmlns="" val="3790426847"/>
                      </a:ext>
                    </a:extLst>
                  </a:tr>
                </a:tbl>
              </a:graphicData>
            </a:graphic>
          </p:graphicFrame>
        </mc:Fallback>
      </mc:AlternateContent>
    </p:spTree>
    <p:extLst>
      <p:ext uri="{BB962C8B-B14F-4D97-AF65-F5344CB8AC3E}">
        <p14:creationId xmlns:p14="http://schemas.microsoft.com/office/powerpoint/2010/main" val="27241661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0FF52922-3D42-4412-80D4-E8608AC407DF}"/>
              </a:ext>
            </a:extLst>
          </p:cNvPr>
          <p:cNvSpPr/>
          <p:nvPr/>
        </p:nvSpPr>
        <p:spPr>
          <a:xfrm>
            <a:off x="3860713" y="3769224"/>
            <a:ext cx="4476133" cy="69789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1" name="Shape18">
            <a:extLst>
              <a:ext uri="{FF2B5EF4-FFF2-40B4-BE49-F238E27FC236}">
                <a16:creationId xmlns:a16="http://schemas.microsoft.com/office/drawing/2014/main" id="{0FF52922-3D42-4412-80D4-E8608AC407DF}"/>
              </a:ext>
            </a:extLst>
          </p:cNvPr>
          <p:cNvSpPr/>
          <p:nvPr/>
        </p:nvSpPr>
        <p:spPr>
          <a:xfrm>
            <a:off x="2579118" y="1182904"/>
            <a:ext cx="7028115" cy="239330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B0F13690-DC7C-ABBE-EAE8-4A7489C19604}"/>
              </a:ext>
            </a:extLst>
          </p:cNvPr>
          <p:cNvSpPr>
            <a:spLocks noGrp="1"/>
          </p:cNvSpPr>
          <p:nvPr>
            <p:ph type="sldNum" sz="quarter" idx="10"/>
          </p:nvPr>
        </p:nvSpPr>
        <p:spPr/>
        <p:txBody>
          <a:bodyPr/>
          <a:lstStyle/>
          <a:p>
            <a:fld id="{87BBDC00-B9E2-4EFD-9306-2934E87247C6}" type="slidenum">
              <a:rPr lang="zh-CN" altLang="en-US" smtClean="0"/>
              <a:pPr/>
              <a:t>114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贪心算法示例</a:t>
            </a:r>
          </a:p>
        </p:txBody>
      </p:sp>
      <p:sp>
        <p:nvSpPr>
          <p:cNvPr id="4" name="页脚占位符 3">
            <a:extLst>
              <a:ext uri="{FF2B5EF4-FFF2-40B4-BE49-F238E27FC236}">
                <a16:creationId xmlns:a16="http://schemas.microsoft.com/office/drawing/2014/main" id="{9F142F6B-BE18-E288-2B1C-EFD9F64F9BC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4843106"/>
                <a:ext cx="10133448" cy="160499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dirty="0">
                    <a:latin typeface="+mj-ea"/>
                    <a:ea typeface="+mj-ea"/>
                  </a:rPr>
                  <a:t>第二步：</a:t>
                </a:r>
                <a:r>
                  <a:rPr lang="zh-CN" altLang="zh-CN" sz="2400" b="1" dirty="0">
                    <a:latin typeface="+mj-ea"/>
                    <a:ea typeface="+mj-ea"/>
                  </a:rPr>
                  <a:t>比较</a:t>
                </a:r>
                <a14:m>
                  <m:oMath xmlns:m="http://schemas.openxmlformats.org/officeDocument/2006/math">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𝑻</m:t>
                        </m:r>
                        <m:r>
                          <a:rPr lang="en-US" altLang="zh-CN" sz="2400" b="1" i="1">
                            <a:latin typeface="Cambria Math" panose="02040503050406030204" pitchFamily="18" charset="0"/>
                            <a:ea typeface="+mj-ea"/>
                          </a:rPr>
                          <m:t>(</m:t>
                        </m:r>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𝟏</m:t>
                        </m:r>
                      </m:sub>
                    </m:sSub>
                    <m:r>
                      <a:rPr lang="en-US" altLang="zh-CN" sz="2400" b="1" i="1">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𝟐</m:t>
                        </m:r>
                      </m:sub>
                    </m:sSub>
                    <m:r>
                      <a:rPr lang="en-US" altLang="zh-CN" sz="2400" b="1" i="1">
                        <a:latin typeface="Cambria Math" panose="02040503050406030204" pitchFamily="18" charset="0"/>
                        <a:ea typeface="+mj-ea"/>
                      </a:rPr>
                      <m:t>)</m:t>
                    </m:r>
                  </m:oMath>
                </a14:m>
                <a:r>
                  <a:rPr lang="zh-CN" altLang="zh-CN" sz="2400" b="1" dirty="0">
                    <a:latin typeface="+mj-ea"/>
                    <a:ea typeface="+mj-ea"/>
                  </a:rPr>
                  <a:t>和</a:t>
                </a:r>
                <a14:m>
                  <m:oMath xmlns:m="http://schemas.openxmlformats.org/officeDocument/2006/math">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𝑻</m:t>
                        </m:r>
                        <m:r>
                          <a:rPr lang="en-US" altLang="zh-CN" sz="2400" b="1" i="1">
                            <a:latin typeface="Cambria Math" panose="02040503050406030204" pitchFamily="18" charset="0"/>
                            <a:ea typeface="+mj-ea"/>
                          </a:rPr>
                          <m:t>(</m:t>
                        </m:r>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𝟐</m:t>
                        </m:r>
                      </m:sub>
                    </m:sSub>
                    <m:r>
                      <a:rPr lang="en-US" altLang="zh-CN" sz="2400" b="1" i="1">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𝟑</m:t>
                        </m:r>
                      </m:sub>
                    </m:sSub>
                    <m:r>
                      <a:rPr lang="en-US" altLang="zh-CN" sz="2400" b="1" i="1">
                        <a:latin typeface="Cambria Math" panose="02040503050406030204" pitchFamily="18" charset="0"/>
                        <a:ea typeface="+mj-ea"/>
                      </a:rPr>
                      <m:t>)</m:t>
                    </m:r>
                  </m:oMath>
                </a14:m>
                <a:r>
                  <a:rPr lang="zh-CN" altLang="zh-CN" sz="2400" b="1" dirty="0">
                    <a:latin typeface="+mj-ea"/>
                    <a:ea typeface="+mj-ea"/>
                  </a:rPr>
                  <a:t>，由于</a:t>
                </a:r>
                <a14:m>
                  <m:oMath xmlns:m="http://schemas.openxmlformats.org/officeDocument/2006/math">
                    <m:sSub>
                      <m:sSubPr>
                        <m:ctrlPr>
                          <a:rPr lang="zh-CN" altLang="zh-CN" sz="2400" b="1" i="1">
                            <a:latin typeface="Cambria Math" panose="02040503050406030204" pitchFamily="18" charset="0"/>
                            <a:ea typeface="+mj-ea"/>
                          </a:rPr>
                        </m:ctrlPr>
                      </m:sSubPr>
                      <m:e>
                        <m:r>
                          <a:rPr lang="en-US" altLang="zh-CN" sz="2400" b="1" i="1" smtClean="0">
                            <a:latin typeface="Cambria Math" panose="02040503050406030204" pitchFamily="18" charset="0"/>
                            <a:ea typeface="+mj-ea"/>
                          </a:rPr>
                          <m:t>𝑻</m:t>
                        </m:r>
                        <m:r>
                          <a:rPr lang="en-US" altLang="zh-CN" sz="2400" b="1" i="1">
                            <a:latin typeface="Cambria Math" panose="02040503050406030204" pitchFamily="18" charset="0"/>
                            <a:ea typeface="+mj-ea"/>
                          </a:rPr>
                          <m:t>(</m:t>
                        </m:r>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𝟐</m:t>
                        </m:r>
                      </m:sub>
                    </m:sSub>
                    <m:r>
                      <a:rPr lang="en-US" altLang="zh-CN" sz="2400" b="1" i="1">
                        <a:latin typeface="Cambria Math" panose="02040503050406030204" pitchFamily="18" charset="0"/>
                        <a:ea typeface="+mj-ea"/>
                      </a:rPr>
                      <m:t>⋈</m:t>
                    </m:r>
                    <m:sSub>
                      <m:sSubPr>
                        <m:ctrlPr>
                          <a:rPr lang="zh-CN" altLang="zh-CN" sz="2400" b="1" i="1">
                            <a:latin typeface="Cambria Math" panose="02040503050406030204" pitchFamily="18" charset="0"/>
                            <a:ea typeface="+mj-ea"/>
                          </a:rPr>
                        </m:ctrlPr>
                      </m:sSubPr>
                      <m:e>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𝟑</m:t>
                        </m:r>
                      </m:sub>
                    </m:sSub>
                    <m:r>
                      <a:rPr lang="en-US" altLang="zh-CN" sz="2400" b="1" i="1">
                        <a:latin typeface="Cambria Math" panose="02040503050406030204" pitchFamily="18" charset="0"/>
                        <a:ea typeface="+mj-ea"/>
                      </a:rPr>
                      <m:t>)</m:t>
                    </m:r>
                  </m:oMath>
                </a14:m>
                <a:r>
                  <a:rPr lang="zh-CN" altLang="zh-CN" sz="2400" b="1" dirty="0">
                    <a:latin typeface="+mj-ea"/>
                    <a:ea typeface="+mj-ea"/>
                  </a:rPr>
                  <a:t>更小，选择</a:t>
                </a:r>
                <a14:m>
                  <m:oMath xmlns:m="http://schemas.openxmlformats.org/officeDocument/2006/math">
                    <m:sSub>
                      <m:sSubPr>
                        <m:ctrlPr>
                          <a:rPr lang="zh-CN" altLang="zh-CN" sz="2400" b="1" i="1" smtClean="0">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𝟑</m:t>
                        </m:r>
                      </m:sub>
                    </m:sSub>
                  </m:oMath>
                </a14:m>
                <a:r>
                  <a:rPr lang="zh-CN" altLang="zh-CN" sz="2400" b="1" dirty="0">
                    <a:latin typeface="+mj-ea"/>
                    <a:ea typeface="+mj-ea"/>
                  </a:rPr>
                  <a:t>进行连接，更新</a:t>
                </a:r>
                <a14:m>
                  <m:oMath xmlns:m="http://schemas.openxmlformats.org/officeDocument/2006/math">
                    <m:sSub>
                      <m:sSubPr>
                        <m:ctrlPr>
                          <a:rPr lang="zh-CN" altLang="zh-CN" sz="2400" b="1" i="1">
                            <a:latin typeface="Cambria Math" panose="02040503050406030204" pitchFamily="18" charset="0"/>
                            <a:ea typeface="+mj-ea"/>
                          </a:rPr>
                        </m:ctrlPr>
                      </m:sSubPr>
                      <m:e>
                        <m:r>
                          <a:rPr lang="en-US" altLang="zh-CN" sz="2400" b="1" i="1">
                            <a:latin typeface="Cambria Math" panose="02040503050406030204" pitchFamily="18" charset="0"/>
                            <a:ea typeface="+mj-ea"/>
                          </a:rPr>
                          <m:t>𝑹</m:t>
                        </m:r>
                      </m:e>
                      <m:sub>
                        <m:r>
                          <a:rPr lang="en-US" altLang="zh-CN" sz="2400" b="1" i="1">
                            <a:latin typeface="Cambria Math" panose="02040503050406030204" pitchFamily="18" charset="0"/>
                            <a:ea typeface="+mj-ea"/>
                          </a:rPr>
                          <m:t>𝒄𝒖𝒓</m:t>
                        </m:r>
                      </m:sub>
                    </m:sSub>
                  </m:oMath>
                </a14:m>
                <a:r>
                  <a:rPr lang="zh-CN" altLang="zh-CN" sz="2400" b="1" dirty="0">
                    <a:latin typeface="+mj-ea"/>
                    <a:ea typeface="+mj-ea"/>
                  </a:rPr>
                  <a:t>为</a:t>
                </a:r>
                <a14:m>
                  <m:oMath xmlns:m="http://schemas.openxmlformats.org/officeDocument/2006/math">
                    <m:sSub>
                      <m:sSubPr>
                        <m:ctrlPr>
                          <a:rPr lang="zh-CN" altLang="zh-CN" sz="2400" b="1" i="1" smtClean="0">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𝟐</m:t>
                        </m:r>
                      </m:sub>
                    </m:sSub>
                    <m:r>
                      <a:rPr lang="en-US" altLang="zh-CN" sz="2400" b="1" i="1">
                        <a:solidFill>
                          <a:srgbClr val="701988"/>
                        </a:solidFill>
                        <a:latin typeface="Cambria Math" panose="02040503050406030204" pitchFamily="18" charset="0"/>
                        <a:ea typeface="+mj-ea"/>
                      </a:rPr>
                      <m:t>⋈</m:t>
                    </m:r>
                    <m:sSub>
                      <m:sSubPr>
                        <m:ctrlPr>
                          <a:rPr lang="zh-CN" altLang="zh-CN" sz="2400" b="1" i="1">
                            <a:solidFill>
                              <a:srgbClr val="701988"/>
                            </a:solidFill>
                            <a:latin typeface="Cambria Math" panose="02040503050406030204" pitchFamily="18" charset="0"/>
                            <a:ea typeface="+mj-ea"/>
                          </a:rPr>
                        </m:ctrlPr>
                      </m:sSubPr>
                      <m:e>
                        <m:r>
                          <a:rPr lang="en-US" altLang="zh-CN" sz="2400" b="1" i="1">
                            <a:solidFill>
                              <a:srgbClr val="701988"/>
                            </a:solidFill>
                            <a:latin typeface="Cambria Math" panose="02040503050406030204" pitchFamily="18" charset="0"/>
                            <a:ea typeface="+mj-ea"/>
                          </a:rPr>
                          <m:t>𝑹</m:t>
                        </m:r>
                      </m:e>
                      <m:sub>
                        <m:r>
                          <a:rPr lang="en-US" altLang="zh-CN" sz="2400" b="1" i="1">
                            <a:solidFill>
                              <a:srgbClr val="701988"/>
                            </a:solidFill>
                            <a:latin typeface="Cambria Math" panose="02040503050406030204" pitchFamily="18" charset="0"/>
                            <a:ea typeface="+mj-ea"/>
                          </a:rPr>
                          <m:t>𝟑</m:t>
                        </m:r>
                      </m:sub>
                    </m:sSub>
                  </m:oMath>
                </a14:m>
                <a:r>
                  <a:rPr lang="zh-CN" altLang="zh-CN" sz="2400" b="1" dirty="0">
                    <a:latin typeface="+mj-ea"/>
                    <a:ea typeface="+mj-ea"/>
                  </a:rPr>
                  <a:t>。</a:t>
                </a:r>
                <a:endParaRPr lang="en-US" altLang="zh-CN" sz="2400" b="1" dirty="0">
                  <a:latin typeface="+mj-ea"/>
                  <a:ea typeface="+mj-ea"/>
                </a:endParaRPr>
              </a:p>
              <a:p>
                <a:pPr lvl="1">
                  <a:buFont typeface="Wingdings" pitchFamily="2" charset="2"/>
                  <a:buChar char="Ø"/>
                </a:pPr>
                <a:endParaRPr lang="zh-CN" altLang="zh-CN" sz="2400" b="1" dirty="0">
                  <a:latin typeface="+mj-ea"/>
                  <a:ea typeface="+mj-ea"/>
                </a:endParaRPr>
              </a:p>
              <a:p>
                <a:pPr lvl="1">
                  <a:buFont typeface="Wingdings" pitchFamily="2" charset="2"/>
                  <a:buChar char="Ø"/>
                </a:pPr>
                <a:endParaRPr lang="en-US" altLang="zh-CN" sz="2400" b="1" dirty="0">
                  <a:latin typeface="+mj-ea"/>
                  <a:ea typeface="+mj-ea"/>
                </a:endParaRPr>
              </a:p>
              <a:p>
                <a:pPr lvl="1">
                  <a:buFont typeface="Wingdings" pitchFamily="2" charset="2"/>
                  <a:buChar char="Ø"/>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400" b="1" kern="0" dirty="0">
                    <a:latin typeface="+mj-ea"/>
                    <a:ea typeface="+mj-ea"/>
                  </a:rPr>
                  <a:t> </a:t>
                </a:r>
                <a:endParaRPr lang="zh-CN" altLang="en-US" sz="2400" b="1" kern="0" dirty="0">
                  <a:latin typeface="+mj-ea"/>
                  <a:ea typeface="+mj-ea"/>
                </a:endParaRPr>
              </a:p>
            </p:txBody>
          </p:sp>
        </mc:Choice>
        <mc:Fallback xmlns="">
          <p:sp>
            <p:nvSpPr>
              <p:cNvPr id="6" name="内容占位符 2">
                <a:extLst>
                  <a:ext uri="{FF2B5EF4-FFF2-40B4-BE49-F238E27FC236}">
                    <a16:creationId xmlns:a16="http://schemas.microsoft.com/office/drawing/2014/main" xmlns:a14="http://schemas.microsoft.com/office/drawing/2010/main" xmlns="" id="{3A77DD7A-E201-E5F7-A37D-D7A48E626DFE}"/>
                  </a:ext>
                </a:extLst>
              </p:cNvPr>
              <p:cNvSpPr txBox="1">
                <a:spLocks noRot="1" noChangeAspect="1" noMove="1" noResize="1" noEditPoints="1" noAdjustHandles="1" noChangeArrowheads="1" noChangeShapeType="1" noTextEdit="1"/>
              </p:cNvSpPr>
              <p:nvPr/>
            </p:nvSpPr>
            <p:spPr bwMode="auto">
              <a:xfrm>
                <a:off x="1008000" y="4843106"/>
                <a:ext cx="10133448" cy="1604992"/>
              </a:xfrm>
              <a:prstGeom prst="rect">
                <a:avLst/>
              </a:prstGeom>
              <a:blipFill rotWithShape="0">
                <a:blip r:embed="rId3"/>
                <a:stretch>
                  <a:fillRect l="-78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CDEECA6-BAD3-2A64-8038-F0BC54831D0B}"/>
                  </a:ext>
                </a:extLst>
              </p:cNvPr>
              <p:cNvGraphicFramePr>
                <a:graphicFrameLocks noGrp="1"/>
              </p:cNvGraphicFramePr>
              <p:nvPr>
                <p:extLst>
                  <p:ext uri="{D42A27DB-BD31-4B8C-83A1-F6EECF244321}">
                    <p14:modId xmlns:p14="http://schemas.microsoft.com/office/powerpoint/2010/main" val="1318802519"/>
                  </p:ext>
                </p:extLst>
              </p:nvPr>
            </p:nvGraphicFramePr>
            <p:xfrm>
              <a:off x="2718770" y="1542654"/>
              <a:ext cx="6745318" cy="1645920"/>
            </p:xfrm>
            <a:graphic>
              <a:graphicData uri="http://schemas.openxmlformats.org/drawingml/2006/table">
                <a:tbl>
                  <a:tblPr firstRow="1" firstCol="1" bandRow="1">
                    <a:tableStyleId>{5940675A-B579-460E-94D1-54222C63F5DA}</a:tableStyleId>
                  </a:tblPr>
                  <a:tblGrid>
                    <a:gridCol w="2018950">
                      <a:extLst>
                        <a:ext uri="{9D8B030D-6E8A-4147-A177-3AD203B41FA5}">
                          <a16:colId xmlns:a16="http://schemas.microsoft.com/office/drawing/2014/main" val="2271141016"/>
                        </a:ext>
                      </a:extLst>
                    </a:gridCol>
                    <a:gridCol w="1181592">
                      <a:extLst>
                        <a:ext uri="{9D8B030D-6E8A-4147-A177-3AD203B41FA5}">
                          <a16:colId xmlns:a16="http://schemas.microsoft.com/office/drawing/2014/main" val="1812941146"/>
                        </a:ext>
                      </a:extLst>
                    </a:gridCol>
                    <a:gridCol w="1181592">
                      <a:extLst>
                        <a:ext uri="{9D8B030D-6E8A-4147-A177-3AD203B41FA5}">
                          <a16:colId xmlns:a16="http://schemas.microsoft.com/office/drawing/2014/main" val="3811281095"/>
                        </a:ext>
                      </a:extLst>
                    </a:gridCol>
                    <a:gridCol w="1181592">
                      <a:extLst>
                        <a:ext uri="{9D8B030D-6E8A-4147-A177-3AD203B41FA5}">
                          <a16:colId xmlns:a16="http://schemas.microsoft.com/office/drawing/2014/main" val="3247625807"/>
                        </a:ext>
                      </a:extLst>
                    </a:gridCol>
                    <a:gridCol w="1181592">
                      <a:extLst>
                        <a:ext uri="{9D8B030D-6E8A-4147-A177-3AD203B41FA5}">
                          <a16:colId xmlns:a16="http://schemas.microsoft.com/office/drawing/2014/main" val="819853155"/>
                        </a:ext>
                      </a:extLst>
                    </a:gridCol>
                  </a:tblGrid>
                  <a:tr h="0">
                    <a:tc>
                      <a:txBody>
                        <a:bodyPr/>
                        <a:lstStyle/>
                        <a:p>
                          <a:pPr indent="127000" algn="just">
                            <a:lnSpc>
                              <a:spcPct val="150000"/>
                            </a:lnSpc>
                          </a:pPr>
                          <a:r>
                            <a:rPr lang="zh-CN" sz="1800" kern="100" dirty="0">
                              <a:effectLst/>
                              <a:latin typeface="SimHei" panose="02010609060101010101" pitchFamily="49" charset="-122"/>
                              <a:ea typeface="SimHei" panose="02010609060101010101" pitchFamily="49" charset="-122"/>
                            </a:rPr>
                            <a:t>关系集合</a:t>
                          </a:r>
                          <a14:m>
                            <m:oMath xmlns:m="http://schemas.openxmlformats.org/officeDocument/2006/math">
                              <m:r>
                                <a:rPr lang="en-US" sz="1800" kern="100">
                                  <a:effectLst/>
                                  <a:latin typeface="Cambria Math" panose="02040503050406030204" pitchFamily="18" charset="0"/>
                                </a:rPr>
                                <m:t>𝑆</m:t>
                              </m:r>
                            </m:oMath>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b="0" i="1" kern="100" smtClean="0">
                                    <a:effectLst/>
                                    <a:latin typeface="Cambria Math" panose="02040503050406030204" pitchFamily="18" charset="0"/>
                                  </a:rPr>
                                  <m:t>𝑇</m:t>
                                </m:r>
                                <m:r>
                                  <a:rPr lang="en-US" sz="1800" kern="100">
                                    <a:effectLst/>
                                    <a:latin typeface="Cambria Math" panose="02040503050406030204" pitchFamily="18" charset="0"/>
                                  </a:rPr>
                                  <m:t>(</m:t>
                                </m:r>
                                <m:r>
                                  <a:rPr lang="en-US" sz="1800" kern="100">
                                    <a:effectLst/>
                                    <a:latin typeface="Cambria Math" panose="02040503050406030204" pitchFamily="18" charset="0"/>
                                  </a:rPr>
                                  <m:t>𝑆</m:t>
                                </m:r>
                                <m:r>
                                  <a:rPr lang="en-US" sz="1800" kern="100">
                                    <a:effectLst/>
                                    <a:latin typeface="Cambria Math" panose="02040503050406030204" pitchFamily="18" charset="0"/>
                                  </a:rPr>
                                  <m:t>)</m:t>
                                </m:r>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𝐴</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𝐵</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𝑉</m:t>
                                </m:r>
                                <m:d>
                                  <m:dPr>
                                    <m:ctrlPr>
                                      <a:rPr lang="zh-CN" sz="1800" i="1" kern="100">
                                        <a:effectLst/>
                                        <a:latin typeface="Cambria Math" panose="02040503050406030204" pitchFamily="18" charset="0"/>
                                      </a:rPr>
                                    </m:ctrlPr>
                                  </m:dPr>
                                  <m:e>
                                    <m:r>
                                      <a:rPr lang="en-US" sz="1800" kern="100">
                                        <a:effectLst/>
                                        <a:latin typeface="Cambria Math" panose="02040503050406030204" pitchFamily="18" charset="0"/>
                                      </a:rPr>
                                      <m:t>𝑆</m:t>
                                    </m:r>
                                    <m:r>
                                      <a:rPr lang="en-US" sz="1800" kern="100">
                                        <a:effectLst/>
                                        <a:latin typeface="Cambria Math" panose="02040503050406030204" pitchFamily="18" charset="0"/>
                                      </a:rPr>
                                      <m:t>,</m:t>
                                    </m:r>
                                    <m:r>
                                      <a:rPr lang="en-US" sz="1800" kern="100">
                                        <a:effectLst/>
                                        <a:latin typeface="Cambria Math" panose="02040503050406030204" pitchFamily="18" charset="0"/>
                                      </a:rPr>
                                      <m:t>𝐶</m:t>
                                    </m:r>
                                  </m:e>
                                </m:d>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90874257"/>
                      </a:ext>
                    </a:extLst>
                  </a:tr>
                  <a:tr h="0">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1</m:t>
                                    </m:r>
                                  </m:sub>
                                </m:sSub>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2</m:t>
                                    </m:r>
                                  </m:sub>
                                </m:sSub>
                                <m:r>
                                  <a:rPr lang="en-US" sz="1800" kern="100">
                                    <a:effectLst/>
                                    <a:latin typeface="Cambria Math" panose="02040503050406030204" pitchFamily="18" charset="0"/>
                                  </a:rPr>
                                  <m:t>}</m:t>
                                </m:r>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6919694"/>
                      </a:ext>
                    </a:extLst>
                  </a:tr>
                  <a:tr h="0">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2</m:t>
                                    </m:r>
                                  </m:sub>
                                </m:sSub>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3</m:t>
                                    </m:r>
                                  </m:sub>
                                </m:sSub>
                                <m:r>
                                  <a:rPr lang="en-US" sz="1800" kern="100">
                                    <a:effectLst/>
                                    <a:latin typeface="Cambria Math" panose="02040503050406030204" pitchFamily="18" charset="0"/>
                                  </a:rPr>
                                  <m:t>}</m:t>
                                </m:r>
                              </m:oMath>
                            </m:oMathPara>
                          </a14:m>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27101628"/>
                      </a:ext>
                    </a:extLst>
                  </a:tr>
                  <a:tr h="0">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3</m:t>
                                    </m:r>
                                  </m:sub>
                                </m:sSub>
                                <m:r>
                                  <a:rPr lang="en-US" sz="1800" kern="100">
                                    <a:effectLst/>
                                    <a:latin typeface="Cambria Math" panose="02040503050406030204" pitchFamily="18" charset="0"/>
                                  </a:rPr>
                                  <m:t>,</m:t>
                                </m:r>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𝑅</m:t>
                                    </m:r>
                                  </m:e>
                                  <m:sub>
                                    <m:r>
                                      <a:rPr lang="en-US" sz="1800" kern="100">
                                        <a:effectLst/>
                                        <a:latin typeface="Cambria Math" panose="02040503050406030204" pitchFamily="18" charset="0"/>
                                      </a:rPr>
                                      <m:t>4</m:t>
                                    </m:r>
                                  </m:sub>
                                </m:sSub>
                                <m:r>
                                  <a:rPr lang="en-US" sz="1800" kern="100">
                                    <a:effectLst/>
                                    <a:latin typeface="Cambria Math" panose="02040503050406030204" pitchFamily="18" charset="0"/>
                                  </a:rPr>
                                  <m:t>}</m:t>
                                </m:r>
                              </m:oMath>
                            </m:oMathPara>
                          </a14:m>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4000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200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82793889"/>
                      </a:ext>
                    </a:extLst>
                  </a:tr>
                </a:tbl>
              </a:graphicData>
            </a:graphic>
          </p:graphicFrame>
        </mc:Choice>
        <mc:Fallback xmlns="">
          <p:graphicFrame>
            <p:nvGraphicFramePr>
              <p:cNvPr id="5" name="表格 4">
                <a:extLst>
                  <a:ext uri="{FF2B5EF4-FFF2-40B4-BE49-F238E27FC236}">
                    <a16:creationId xmlns:a16="http://schemas.microsoft.com/office/drawing/2014/main" xmlns:a14="http://schemas.microsoft.com/office/drawing/2010/main" xmlns="" id="{ACDEECA6-BAD3-2A64-8038-F0BC54831D0B}"/>
                  </a:ext>
                </a:extLst>
              </p:cNvPr>
              <p:cNvGraphicFramePr>
                <a:graphicFrameLocks noGrp="1"/>
              </p:cNvGraphicFramePr>
              <p:nvPr>
                <p:extLst>
                  <p:ext uri="{D42A27DB-BD31-4B8C-83A1-F6EECF244321}">
                    <p14:modId xmlns:p14="http://schemas.microsoft.com/office/powerpoint/2010/main" val="1318802519"/>
                  </p:ext>
                </p:extLst>
              </p:nvPr>
            </p:nvGraphicFramePr>
            <p:xfrm>
              <a:off x="2718770" y="1542654"/>
              <a:ext cx="6745318" cy="1645920"/>
            </p:xfrm>
            <a:graphic>
              <a:graphicData uri="http://schemas.openxmlformats.org/drawingml/2006/table">
                <a:tbl>
                  <a:tblPr firstRow="1" firstCol="1" bandRow="1">
                    <a:tableStyleId>{5940675A-B579-460E-94D1-54222C63F5DA}</a:tableStyleId>
                  </a:tblPr>
                  <a:tblGrid>
                    <a:gridCol w="2018950">
                      <a:extLst>
                        <a:ext uri="{9D8B030D-6E8A-4147-A177-3AD203B41FA5}">
                          <a16:colId xmlns:a16="http://schemas.microsoft.com/office/drawing/2014/main" xmlns:a14="http://schemas.microsoft.com/office/drawing/2010/main" xmlns="" val="2271141016"/>
                        </a:ext>
                      </a:extLst>
                    </a:gridCol>
                    <a:gridCol w="1181592">
                      <a:extLst>
                        <a:ext uri="{9D8B030D-6E8A-4147-A177-3AD203B41FA5}">
                          <a16:colId xmlns:a16="http://schemas.microsoft.com/office/drawing/2014/main" xmlns:a14="http://schemas.microsoft.com/office/drawing/2010/main" xmlns="" val="1812941146"/>
                        </a:ext>
                      </a:extLst>
                    </a:gridCol>
                    <a:gridCol w="1181592">
                      <a:extLst>
                        <a:ext uri="{9D8B030D-6E8A-4147-A177-3AD203B41FA5}">
                          <a16:colId xmlns:a16="http://schemas.microsoft.com/office/drawing/2014/main" xmlns:a14="http://schemas.microsoft.com/office/drawing/2010/main" xmlns="" val="3811281095"/>
                        </a:ext>
                      </a:extLst>
                    </a:gridCol>
                    <a:gridCol w="1181592">
                      <a:extLst>
                        <a:ext uri="{9D8B030D-6E8A-4147-A177-3AD203B41FA5}">
                          <a16:colId xmlns:a16="http://schemas.microsoft.com/office/drawing/2014/main" xmlns:a14="http://schemas.microsoft.com/office/drawing/2010/main" xmlns="" val="3247625807"/>
                        </a:ext>
                      </a:extLst>
                    </a:gridCol>
                    <a:gridCol w="1181592">
                      <a:extLst>
                        <a:ext uri="{9D8B030D-6E8A-4147-A177-3AD203B41FA5}">
                          <a16:colId xmlns:a16="http://schemas.microsoft.com/office/drawing/2014/main" xmlns:a14="http://schemas.microsoft.com/office/drawing/2010/main" xmlns="" val="819853155"/>
                        </a:ext>
                      </a:extLst>
                    </a:gridCol>
                  </a:tblGrid>
                  <a:tr h="411480">
                    <a:tc>
                      <a:txBody>
                        <a:bodyPr/>
                        <a:lstStyle/>
                        <a:p>
                          <a:endParaRPr lang="zh-CN"/>
                        </a:p>
                      </a:txBody>
                      <a:tcPr marL="68580" marR="68580" marT="0" marB="0" anchor="ctr">
                        <a:blipFill rotWithShape="0">
                          <a:blip r:embed="rId4"/>
                          <a:stretch>
                            <a:fillRect l="-301" t="-1471" r="-234337" b="-326471"/>
                          </a:stretch>
                        </a:blipFill>
                      </a:tcPr>
                    </a:tc>
                    <a:tc>
                      <a:txBody>
                        <a:bodyPr/>
                        <a:lstStyle/>
                        <a:p>
                          <a:endParaRPr lang="zh-CN"/>
                        </a:p>
                      </a:txBody>
                      <a:tcPr marL="68580" marR="68580" marT="0" marB="0" anchor="ctr">
                        <a:blipFill rotWithShape="0">
                          <a:blip r:embed="rId4"/>
                          <a:stretch>
                            <a:fillRect l="-171649" t="-1471" r="-301031" b="-326471"/>
                          </a:stretch>
                        </a:blipFill>
                      </a:tcPr>
                    </a:tc>
                    <a:tc>
                      <a:txBody>
                        <a:bodyPr/>
                        <a:lstStyle/>
                        <a:p>
                          <a:endParaRPr lang="zh-CN"/>
                        </a:p>
                      </a:txBody>
                      <a:tcPr marL="68580" marR="68580" marT="0" marB="0" anchor="ctr">
                        <a:blipFill rotWithShape="0">
                          <a:blip r:embed="rId4"/>
                          <a:stretch>
                            <a:fillRect l="-271649" t="-1471" r="-201031" b="-326471"/>
                          </a:stretch>
                        </a:blipFill>
                      </a:tcPr>
                    </a:tc>
                    <a:tc>
                      <a:txBody>
                        <a:bodyPr/>
                        <a:lstStyle/>
                        <a:p>
                          <a:endParaRPr lang="zh-CN"/>
                        </a:p>
                      </a:txBody>
                      <a:tcPr marL="68580" marR="68580" marT="0" marB="0" anchor="ctr">
                        <a:blipFill rotWithShape="0">
                          <a:blip r:embed="rId4"/>
                          <a:stretch>
                            <a:fillRect l="-371649" t="-1471" r="-101031" b="-326471"/>
                          </a:stretch>
                        </a:blipFill>
                      </a:tcPr>
                    </a:tc>
                    <a:tc>
                      <a:txBody>
                        <a:bodyPr/>
                        <a:lstStyle/>
                        <a:p>
                          <a:endParaRPr lang="zh-CN"/>
                        </a:p>
                      </a:txBody>
                      <a:tcPr marL="68580" marR="68580" marT="0" marB="0" anchor="ctr">
                        <a:blipFill rotWithShape="0">
                          <a:blip r:embed="rId4"/>
                          <a:stretch>
                            <a:fillRect l="-471649" t="-1471" r="-1031" b="-326471"/>
                          </a:stretch>
                        </a:blipFill>
                      </a:tcPr>
                    </a:tc>
                    <a:extLst>
                      <a:ext uri="{0D108BD9-81ED-4DB2-BD59-A6C34878D82A}">
                        <a16:rowId xmlns:a16="http://schemas.microsoft.com/office/drawing/2014/main" xmlns:a14="http://schemas.microsoft.com/office/drawing/2010/main" xmlns="" val="3190874257"/>
                      </a:ext>
                    </a:extLst>
                  </a:tr>
                  <a:tr h="411480">
                    <a:tc>
                      <a:txBody>
                        <a:bodyPr/>
                        <a:lstStyle/>
                        <a:p>
                          <a:endParaRPr lang="zh-CN"/>
                        </a:p>
                      </a:txBody>
                      <a:tcPr marL="68580" marR="68580" marT="0" marB="0" anchor="ctr">
                        <a:blipFill rotWithShape="0">
                          <a:blip r:embed="rId4"/>
                          <a:stretch>
                            <a:fillRect l="-301" t="-101471" r="-234337" b="-226471"/>
                          </a:stretch>
                        </a:blipFill>
                      </a:tcPr>
                    </a:tc>
                    <a:tc>
                      <a:txBody>
                        <a:bodyPr/>
                        <a:lstStyle/>
                        <a:p>
                          <a:pPr indent="127000" algn="ctr">
                            <a:lnSpc>
                              <a:spcPct val="150000"/>
                            </a:lnSpc>
                          </a:pPr>
                          <a:r>
                            <a:rPr lang="en-US" sz="1800" kern="100">
                              <a:effectLst/>
                            </a:rPr>
                            <a:t>20000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a14="http://schemas.microsoft.com/office/drawing/2010/main" xmlns="" val="686919694"/>
                      </a:ext>
                    </a:extLst>
                  </a:tr>
                  <a:tr h="411480">
                    <a:tc>
                      <a:txBody>
                        <a:bodyPr/>
                        <a:lstStyle/>
                        <a:p>
                          <a:endParaRPr lang="zh-CN"/>
                        </a:p>
                      </a:txBody>
                      <a:tcPr marL="68580" marR="68580" marT="0" marB="0" anchor="ctr">
                        <a:blipFill rotWithShape="0">
                          <a:blip r:embed="rId4"/>
                          <a:stretch>
                            <a:fillRect l="-301" t="-204478" r="-234337" b="-129851"/>
                          </a:stretch>
                        </a:blipFill>
                      </a:tcPr>
                    </a:tc>
                    <a:tc>
                      <a:txBody>
                        <a:bodyPr/>
                        <a:lstStyle/>
                        <a:p>
                          <a:pPr indent="127000" algn="ctr">
                            <a:lnSpc>
                              <a:spcPct val="150000"/>
                            </a:lnSpc>
                          </a:pPr>
                          <a:r>
                            <a:rPr lang="en-US" sz="1800" kern="100">
                              <a:effectLst/>
                            </a:rPr>
                            <a:t>10000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a14="http://schemas.microsoft.com/office/drawing/2010/main" xmlns="" val="1327101628"/>
                      </a:ext>
                    </a:extLst>
                  </a:tr>
                  <a:tr h="411480">
                    <a:tc>
                      <a:txBody>
                        <a:bodyPr/>
                        <a:lstStyle/>
                        <a:p>
                          <a:endParaRPr lang="zh-CN"/>
                        </a:p>
                      </a:txBody>
                      <a:tcPr marL="68580" marR="68580" marT="0" marB="0" anchor="ctr">
                        <a:blipFill rotWithShape="0">
                          <a:blip r:embed="rId4"/>
                          <a:stretch>
                            <a:fillRect l="-301" t="-300000" r="-234337" b="-27941"/>
                          </a:stretch>
                        </a:blipFill>
                      </a:tcPr>
                    </a:tc>
                    <a:tc>
                      <a:txBody>
                        <a:bodyPr/>
                        <a:lstStyle/>
                        <a:p>
                          <a:pPr indent="127000" algn="ctr">
                            <a:lnSpc>
                              <a:spcPct val="150000"/>
                            </a:lnSpc>
                          </a:pPr>
                          <a:r>
                            <a:rPr lang="en-US" sz="1800" kern="100">
                              <a:effectLst/>
                            </a:rPr>
                            <a:t>4000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a:effectLst/>
                            </a:rPr>
                            <a:t>20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pPr>
                          <a:r>
                            <a:rPr lang="en-US" sz="1800" kern="100" dirty="0">
                              <a:effectLst/>
                            </a:rPr>
                            <a:t>200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a14="http://schemas.microsoft.com/office/drawing/2010/main" xmlns="" val="2382793889"/>
                      </a:ext>
                    </a:extLst>
                  </a:tr>
                </a:tbl>
              </a:graphicData>
            </a:graphic>
          </p:graphicFrame>
        </mc:Fallback>
      </mc:AlternateContent>
      <p:pic>
        <p:nvPicPr>
          <p:cNvPr id="9" name="图片 8">
            <a:extLst>
              <a:ext uri="{FF2B5EF4-FFF2-40B4-BE49-F238E27FC236}">
                <a16:creationId xmlns:a16="http://schemas.microsoft.com/office/drawing/2014/main" id="{FB745C59-5081-6CCC-DF3A-626EA6A25D1E}"/>
              </a:ext>
            </a:extLst>
          </p:cNvPr>
          <p:cNvPicPr>
            <a:picLocks noChangeAspect="1"/>
          </p:cNvPicPr>
          <p:nvPr/>
        </p:nvPicPr>
        <p:blipFill>
          <a:blip r:embed="rId5"/>
          <a:srcRect/>
          <a:stretch/>
        </p:blipFill>
        <p:spPr>
          <a:xfrm>
            <a:off x="4090567" y="3882805"/>
            <a:ext cx="4032707" cy="452180"/>
          </a:xfrm>
          <a:prstGeom prst="rect">
            <a:avLst/>
          </a:prstGeom>
        </p:spPr>
      </p:pic>
    </p:spTree>
    <p:extLst>
      <p:ext uri="{BB962C8B-B14F-4D97-AF65-F5344CB8AC3E}">
        <p14:creationId xmlns:p14="http://schemas.microsoft.com/office/powerpoint/2010/main" val="400605929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7258314" y="1070865"/>
            <a:ext cx="3808703" cy="13630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Shape18">
            <a:extLst>
              <a:ext uri="{FF2B5EF4-FFF2-40B4-BE49-F238E27FC236}">
                <a16:creationId xmlns:a16="http://schemas.microsoft.com/office/drawing/2014/main" id="{0FF52922-3D42-4412-80D4-E8608AC407DF}"/>
              </a:ext>
            </a:extLst>
          </p:cNvPr>
          <p:cNvSpPr/>
          <p:nvPr/>
        </p:nvSpPr>
        <p:spPr>
          <a:xfrm>
            <a:off x="1102061" y="1070865"/>
            <a:ext cx="5980162" cy="13630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9707CF5A-4510-025C-4C12-848A325CB6B0}"/>
              </a:ext>
            </a:extLst>
          </p:cNvPr>
          <p:cNvSpPr>
            <a:spLocks noGrp="1"/>
          </p:cNvSpPr>
          <p:nvPr>
            <p:ph type="sldNum" sz="quarter" idx="10"/>
          </p:nvPr>
        </p:nvSpPr>
        <p:spPr/>
        <p:txBody>
          <a:bodyPr/>
          <a:lstStyle/>
          <a:p>
            <a:fld id="{87BBDC00-B9E2-4EFD-9306-2934E87247C6}" type="slidenum">
              <a:rPr lang="zh-CN" altLang="en-US" smtClean="0"/>
              <a:pPr/>
              <a:t>115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贪心算法示例</a:t>
            </a:r>
          </a:p>
        </p:txBody>
      </p:sp>
      <p:sp>
        <p:nvSpPr>
          <p:cNvPr id="5" name="页脚占位符 4">
            <a:extLst>
              <a:ext uri="{FF2B5EF4-FFF2-40B4-BE49-F238E27FC236}">
                <a16:creationId xmlns:a16="http://schemas.microsoft.com/office/drawing/2014/main" id="{6D46F345-4C25-F132-CC48-78591AF46D91}"/>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353169" y="2495786"/>
                <a:ext cx="11485660" cy="152294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en-US" sz="2000" b="1" dirty="0">
                    <a:latin typeface="+mj-ea"/>
                    <a:ea typeface="+mj-ea"/>
                  </a:rPr>
                  <a:t>第三步：</a:t>
                </a:r>
                <a:r>
                  <a:rPr lang="zh-CN" altLang="zh-CN" sz="2000" b="1" dirty="0">
                    <a:latin typeface="+mj-ea"/>
                    <a:ea typeface="+mj-ea"/>
                  </a:rPr>
                  <a:t>比较</a:t>
                </a:r>
                <a14:m>
                  <m:oMath xmlns:m="http://schemas.openxmlformats.org/officeDocument/2006/math">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𝑻</m:t>
                        </m:r>
                        <m:r>
                          <a:rPr lang="en-US" altLang="zh-CN" sz="2000" b="1" i="1">
                            <a:latin typeface="Cambria Math" panose="02040503050406030204" pitchFamily="18" charset="0"/>
                            <a:ea typeface="+mj-ea"/>
                          </a:rPr>
                          <m:t>((</m:t>
                        </m:r>
                        <m:r>
                          <a:rPr lang="en-US" altLang="zh-CN" sz="2000" b="1" i="1">
                            <a:latin typeface="Cambria Math" panose="02040503050406030204" pitchFamily="18" charset="0"/>
                            <a:ea typeface="+mj-ea"/>
                          </a:rPr>
                          <m:t>𝑹</m:t>
                        </m:r>
                      </m:e>
                      <m:sub>
                        <m:r>
                          <a:rPr lang="en-US" altLang="zh-CN" sz="2000" b="1" i="1">
                            <a:latin typeface="Cambria Math" panose="02040503050406030204" pitchFamily="18" charset="0"/>
                            <a:ea typeface="+mj-ea"/>
                          </a:rPr>
                          <m:t>𝟐</m:t>
                        </m:r>
                      </m:sub>
                    </m:sSub>
                    <m:r>
                      <a:rPr lang="en-US" altLang="zh-CN" sz="2000" b="1" i="1">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a:latin typeface="Cambria Math" panose="02040503050406030204" pitchFamily="18" charset="0"/>
                            <a:ea typeface="+mj-ea"/>
                          </a:rPr>
                          <m:t>𝑹</m:t>
                        </m:r>
                      </m:e>
                      <m:sub>
                        <m:r>
                          <a:rPr lang="en-US" altLang="zh-CN" sz="2000" b="1" i="1">
                            <a:latin typeface="Cambria Math" panose="02040503050406030204" pitchFamily="18" charset="0"/>
                            <a:ea typeface="+mj-ea"/>
                          </a:rPr>
                          <m:t>𝟑</m:t>
                        </m:r>
                      </m:sub>
                    </m:sSub>
                    <m:r>
                      <a:rPr lang="en-US" altLang="zh-CN" sz="2000" b="1" i="1">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a:latin typeface="Cambria Math" panose="02040503050406030204" pitchFamily="18" charset="0"/>
                            <a:ea typeface="+mj-ea"/>
                          </a:rPr>
                          <m:t>𝑹</m:t>
                        </m:r>
                      </m:e>
                      <m:sub>
                        <m:r>
                          <a:rPr lang="en-US" altLang="zh-CN" sz="2000" b="1" i="1">
                            <a:latin typeface="Cambria Math" panose="02040503050406030204" pitchFamily="18" charset="0"/>
                            <a:ea typeface="+mj-ea"/>
                          </a:rPr>
                          <m:t>𝟏</m:t>
                        </m:r>
                      </m:sub>
                    </m:sSub>
                    <m:r>
                      <a:rPr lang="en-US" altLang="zh-CN" sz="2000" b="1" i="1">
                        <a:latin typeface="Cambria Math" panose="02040503050406030204" pitchFamily="18" charset="0"/>
                        <a:ea typeface="+mj-ea"/>
                      </a:rPr>
                      <m:t>)</m:t>
                    </m:r>
                  </m:oMath>
                </a14:m>
                <a:r>
                  <a:rPr lang="zh-CN" altLang="zh-CN" sz="2000" b="1" dirty="0">
                    <a:latin typeface="+mj-ea"/>
                    <a:ea typeface="+mj-ea"/>
                  </a:rPr>
                  <a:t>和</a:t>
                </a:r>
                <a14:m>
                  <m:oMath xmlns:m="http://schemas.openxmlformats.org/officeDocument/2006/math">
                    <m:sSub>
                      <m:sSubPr>
                        <m:ctrlPr>
                          <a:rPr lang="zh-CN" altLang="zh-CN" sz="2000" b="1" i="1">
                            <a:latin typeface="Cambria Math" panose="02040503050406030204" pitchFamily="18" charset="0"/>
                            <a:ea typeface="+mj-ea"/>
                          </a:rPr>
                        </m:ctrlPr>
                      </m:sSubPr>
                      <m:e>
                        <m:r>
                          <a:rPr lang="en-US" altLang="zh-CN" sz="2000" b="1" i="1" smtClean="0">
                            <a:latin typeface="Cambria Math" panose="02040503050406030204" pitchFamily="18" charset="0"/>
                            <a:ea typeface="+mj-ea"/>
                          </a:rPr>
                          <m:t>𝑻</m:t>
                        </m:r>
                        <m:r>
                          <a:rPr lang="en-US" altLang="zh-CN" sz="2000" b="1" i="1">
                            <a:latin typeface="Cambria Math" panose="02040503050406030204" pitchFamily="18" charset="0"/>
                            <a:ea typeface="+mj-ea"/>
                          </a:rPr>
                          <m:t>((</m:t>
                        </m:r>
                        <m:r>
                          <a:rPr lang="en-US" altLang="zh-CN" sz="2000" b="1" i="1">
                            <a:latin typeface="Cambria Math" panose="02040503050406030204" pitchFamily="18" charset="0"/>
                            <a:ea typeface="+mj-ea"/>
                          </a:rPr>
                          <m:t>𝑹</m:t>
                        </m:r>
                      </m:e>
                      <m:sub>
                        <m:r>
                          <a:rPr lang="en-US" altLang="zh-CN" sz="2000" b="1" i="1">
                            <a:latin typeface="Cambria Math" panose="02040503050406030204" pitchFamily="18" charset="0"/>
                            <a:ea typeface="+mj-ea"/>
                          </a:rPr>
                          <m:t>𝟐</m:t>
                        </m:r>
                      </m:sub>
                    </m:sSub>
                    <m:r>
                      <a:rPr lang="en-US" altLang="zh-CN" sz="2000" b="1" i="1">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a:latin typeface="Cambria Math" panose="02040503050406030204" pitchFamily="18" charset="0"/>
                            <a:ea typeface="+mj-ea"/>
                          </a:rPr>
                          <m:t>𝑹</m:t>
                        </m:r>
                      </m:e>
                      <m:sub>
                        <m:r>
                          <a:rPr lang="en-US" altLang="zh-CN" sz="2000" b="1" i="1">
                            <a:latin typeface="Cambria Math" panose="02040503050406030204" pitchFamily="18" charset="0"/>
                            <a:ea typeface="+mj-ea"/>
                          </a:rPr>
                          <m:t>𝟑</m:t>
                        </m:r>
                      </m:sub>
                    </m:sSub>
                    <m:r>
                      <a:rPr lang="en-US" altLang="zh-CN" sz="2000" b="1" i="1">
                        <a:latin typeface="Cambria Math" panose="02040503050406030204" pitchFamily="18" charset="0"/>
                        <a:ea typeface="+mj-ea"/>
                      </a:rPr>
                      <m:t>)⋈</m:t>
                    </m:r>
                    <m:sSub>
                      <m:sSubPr>
                        <m:ctrlPr>
                          <a:rPr lang="zh-CN" altLang="zh-CN" sz="2000" b="1" i="1">
                            <a:latin typeface="Cambria Math" panose="02040503050406030204" pitchFamily="18" charset="0"/>
                            <a:ea typeface="+mj-ea"/>
                          </a:rPr>
                        </m:ctrlPr>
                      </m:sSubPr>
                      <m:e>
                        <m:r>
                          <a:rPr lang="en-US" altLang="zh-CN" sz="2000" b="1" i="1">
                            <a:latin typeface="Cambria Math" panose="02040503050406030204" pitchFamily="18" charset="0"/>
                            <a:ea typeface="+mj-ea"/>
                          </a:rPr>
                          <m:t>𝑹</m:t>
                        </m:r>
                      </m:e>
                      <m:sub>
                        <m:r>
                          <a:rPr lang="en-US" altLang="zh-CN" sz="2000" b="1" i="1">
                            <a:latin typeface="Cambria Math" panose="02040503050406030204" pitchFamily="18" charset="0"/>
                            <a:ea typeface="+mj-ea"/>
                          </a:rPr>
                          <m:t>𝟒</m:t>
                        </m:r>
                      </m:sub>
                    </m:sSub>
                    <m:r>
                      <a:rPr lang="en-US" altLang="zh-CN" sz="2000" b="1" i="1">
                        <a:latin typeface="Cambria Math" panose="02040503050406030204" pitchFamily="18" charset="0"/>
                        <a:ea typeface="+mj-ea"/>
                      </a:rPr>
                      <m:t>)</m:t>
                    </m:r>
                  </m:oMath>
                </a14:m>
                <a:r>
                  <a:rPr lang="zh-CN" altLang="zh-CN" sz="2000" b="1" dirty="0">
                    <a:latin typeface="+mj-ea"/>
                    <a:ea typeface="+mj-ea"/>
                  </a:rPr>
                  <a:t>，由于后者更小，选择</a:t>
                </a:r>
                <a14:m>
                  <m:oMath xmlns:m="http://schemas.openxmlformats.org/officeDocument/2006/math">
                    <m:sSub>
                      <m:sSubPr>
                        <m:ctrlPr>
                          <a:rPr lang="zh-CN" altLang="zh-CN" sz="2000" b="1" i="1">
                            <a:latin typeface="Cambria Math" panose="02040503050406030204" pitchFamily="18" charset="0"/>
                            <a:ea typeface="+mj-ea"/>
                          </a:rPr>
                        </m:ctrlPr>
                      </m:sSubPr>
                      <m:e>
                        <m:r>
                          <a:rPr lang="en-US" altLang="zh-CN" sz="2000" b="1" i="1">
                            <a:latin typeface="Cambria Math" panose="02040503050406030204" pitchFamily="18" charset="0"/>
                            <a:ea typeface="+mj-ea"/>
                          </a:rPr>
                          <m:t>𝑹</m:t>
                        </m:r>
                      </m:e>
                      <m:sub>
                        <m:r>
                          <a:rPr lang="en-US" altLang="zh-CN" sz="2000" b="1" i="1">
                            <a:latin typeface="Cambria Math" panose="02040503050406030204" pitchFamily="18" charset="0"/>
                            <a:ea typeface="+mj-ea"/>
                          </a:rPr>
                          <m:t>𝟒</m:t>
                        </m:r>
                      </m:sub>
                    </m:sSub>
                  </m:oMath>
                </a14:m>
                <a:r>
                  <a:rPr lang="zh-CN" altLang="zh-CN" sz="2000" b="1" dirty="0">
                    <a:latin typeface="+mj-ea"/>
                    <a:ea typeface="+mj-ea"/>
                  </a:rPr>
                  <a:t>进行下一步连接，更新</a:t>
                </a:r>
                <a14:m>
                  <m:oMath xmlns:m="http://schemas.openxmlformats.org/officeDocument/2006/math">
                    <m:sSub>
                      <m:sSubPr>
                        <m:ctrlPr>
                          <a:rPr lang="zh-CN" altLang="zh-CN" sz="2000" b="1" i="1" smtClean="0">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𝒄𝒖𝒓</m:t>
                        </m:r>
                      </m:sub>
                    </m:sSub>
                  </m:oMath>
                </a14:m>
                <a:r>
                  <a:rPr lang="zh-CN" altLang="zh-CN" sz="2000" b="1" dirty="0">
                    <a:latin typeface="+mj-ea"/>
                    <a:ea typeface="+mj-ea"/>
                  </a:rPr>
                  <a:t>为</a:t>
                </a:r>
                <a14:m>
                  <m:oMath xmlns:m="http://schemas.openxmlformats.org/officeDocument/2006/math">
                    <m:sSub>
                      <m:sSubPr>
                        <m:ctrlPr>
                          <a:rPr lang="zh-CN" altLang="zh-CN" sz="2000" b="1" i="1" smtClean="0">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m:t>
                        </m:r>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𝟐</m:t>
                        </m:r>
                      </m:sub>
                    </m:sSub>
                    <m:r>
                      <a:rPr lang="en-US" altLang="zh-CN" sz="2000" b="1" i="1">
                        <a:solidFill>
                          <a:srgbClr val="701988"/>
                        </a:solidFill>
                        <a:latin typeface="Cambria Math" panose="02040503050406030204" pitchFamily="18" charset="0"/>
                        <a:ea typeface="+mj-ea"/>
                      </a:rPr>
                      <m:t>⋈</m:t>
                    </m:r>
                    <m:sSub>
                      <m:sSubPr>
                        <m:ctrlPr>
                          <a:rPr lang="zh-CN" altLang="zh-CN" sz="2000" b="1" i="1">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𝟑</m:t>
                        </m:r>
                      </m:sub>
                    </m:sSub>
                    <m:r>
                      <a:rPr lang="en-US" altLang="zh-CN" sz="2000" b="1" i="1">
                        <a:solidFill>
                          <a:srgbClr val="701988"/>
                        </a:solidFill>
                        <a:latin typeface="Cambria Math" panose="02040503050406030204" pitchFamily="18" charset="0"/>
                        <a:ea typeface="+mj-ea"/>
                      </a:rPr>
                      <m:t>)⋈</m:t>
                    </m:r>
                    <m:sSub>
                      <m:sSubPr>
                        <m:ctrlPr>
                          <a:rPr lang="zh-CN" altLang="zh-CN" sz="2000" b="1" i="1">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𝟒</m:t>
                        </m:r>
                      </m:sub>
                    </m:sSub>
                  </m:oMath>
                </a14:m>
                <a:r>
                  <a:rPr lang="zh-CN" altLang="zh-CN" sz="2000" b="1" dirty="0">
                    <a:solidFill>
                      <a:srgbClr val="701988"/>
                    </a:solidFill>
                    <a:latin typeface="+mj-ea"/>
                    <a:ea typeface="+mj-ea"/>
                  </a:rPr>
                  <a:t>。</a:t>
                </a:r>
              </a:p>
              <a:p>
                <a:pPr>
                  <a:buFont typeface="Wingdings" panose="05000000000000000000" pitchFamily="2" charset="2"/>
                  <a:buChar char="Ø"/>
                </a:pPr>
                <a:r>
                  <a:rPr lang="zh-CN" altLang="en-US" sz="2000" b="1" dirty="0">
                    <a:latin typeface="+mj-ea"/>
                    <a:ea typeface="+mj-ea"/>
                  </a:rPr>
                  <a:t>第四步：仅剩</a:t>
                </a:r>
                <a14:m>
                  <m:oMath xmlns:m="http://schemas.openxmlformats.org/officeDocument/2006/math">
                    <m:sSub>
                      <m:sSubPr>
                        <m:ctrlPr>
                          <a:rPr lang="zh-CN" altLang="zh-CN" sz="2000" b="1" i="1">
                            <a:latin typeface="Cambria Math" panose="02040503050406030204" pitchFamily="18" charset="0"/>
                            <a:ea typeface="+mj-ea"/>
                          </a:rPr>
                        </m:ctrlPr>
                      </m:sSubPr>
                      <m:e>
                        <m:r>
                          <a:rPr lang="en-US" altLang="zh-CN" sz="2000" b="1" i="1">
                            <a:latin typeface="Cambria Math" panose="02040503050406030204" pitchFamily="18" charset="0"/>
                            <a:ea typeface="+mj-ea"/>
                          </a:rPr>
                          <m:t>𝑹</m:t>
                        </m:r>
                      </m:e>
                      <m:sub>
                        <m:r>
                          <a:rPr lang="en-US" altLang="zh-CN" sz="2000" b="1" i="1" smtClean="0">
                            <a:latin typeface="Cambria Math" panose="02040503050406030204" pitchFamily="18" charset="0"/>
                            <a:ea typeface="+mj-ea"/>
                          </a:rPr>
                          <m:t>𝟏</m:t>
                        </m:r>
                      </m:sub>
                    </m:sSub>
                  </m:oMath>
                </a14:m>
                <a:r>
                  <a:rPr lang="zh-CN" altLang="en-US" sz="2000" b="1" dirty="0">
                    <a:latin typeface="+mj-ea"/>
                    <a:ea typeface="+mj-ea"/>
                  </a:rPr>
                  <a:t>，因此最终</a:t>
                </a:r>
                <a:r>
                  <a:rPr lang="zh-CN" altLang="zh-CN" sz="2000" b="1" dirty="0">
                    <a:latin typeface="+mj-ea"/>
                    <a:ea typeface="+mj-ea"/>
                  </a:rPr>
                  <a:t>确定了连接顺序为</a:t>
                </a:r>
                <a14:m>
                  <m:oMath xmlns:m="http://schemas.openxmlformats.org/officeDocument/2006/math">
                    <m:r>
                      <a:rPr lang="en-US" altLang="zh-CN" sz="2000" b="1" i="1" smtClean="0">
                        <a:solidFill>
                          <a:srgbClr val="701988"/>
                        </a:solidFill>
                        <a:latin typeface="Cambria Math" panose="02040503050406030204" pitchFamily="18" charset="0"/>
                        <a:ea typeface="+mj-ea"/>
                      </a:rPr>
                      <m:t>(</m:t>
                    </m:r>
                    <m:sSub>
                      <m:sSubPr>
                        <m:ctrlPr>
                          <a:rPr lang="zh-CN" altLang="zh-CN" sz="2000" b="1" i="1">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m:t>
                        </m:r>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𝟐</m:t>
                        </m:r>
                      </m:sub>
                    </m:sSub>
                    <m:r>
                      <a:rPr lang="en-US" altLang="zh-CN" sz="2000" b="1" i="1">
                        <a:solidFill>
                          <a:srgbClr val="701988"/>
                        </a:solidFill>
                        <a:latin typeface="Cambria Math" panose="02040503050406030204" pitchFamily="18" charset="0"/>
                        <a:ea typeface="+mj-ea"/>
                      </a:rPr>
                      <m:t>⋈</m:t>
                    </m:r>
                    <m:sSub>
                      <m:sSubPr>
                        <m:ctrlPr>
                          <a:rPr lang="zh-CN" altLang="zh-CN" sz="2000" b="1" i="1">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𝟑</m:t>
                        </m:r>
                      </m:sub>
                    </m:sSub>
                    <m:r>
                      <a:rPr lang="en-US" altLang="zh-CN" sz="2000" b="1" i="1">
                        <a:solidFill>
                          <a:srgbClr val="701988"/>
                        </a:solidFill>
                        <a:latin typeface="Cambria Math" panose="02040503050406030204" pitchFamily="18" charset="0"/>
                        <a:ea typeface="+mj-ea"/>
                      </a:rPr>
                      <m:t>)⋈</m:t>
                    </m:r>
                    <m:sSub>
                      <m:sSubPr>
                        <m:ctrlPr>
                          <a:rPr lang="zh-CN" altLang="zh-CN" sz="2000" b="1" i="1">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𝟒</m:t>
                        </m:r>
                      </m:sub>
                    </m:sSub>
                    <m:r>
                      <a:rPr lang="en-US" altLang="zh-CN" sz="2000" b="1" i="1">
                        <a:solidFill>
                          <a:srgbClr val="701988"/>
                        </a:solidFill>
                        <a:latin typeface="Cambria Math" panose="02040503050406030204" pitchFamily="18" charset="0"/>
                        <a:ea typeface="+mj-ea"/>
                      </a:rPr>
                      <m:t>)⋈</m:t>
                    </m:r>
                    <m:sSub>
                      <m:sSubPr>
                        <m:ctrlPr>
                          <a:rPr lang="zh-CN" altLang="zh-CN" sz="2000" b="1" i="1">
                            <a:solidFill>
                              <a:srgbClr val="701988"/>
                            </a:solidFill>
                            <a:latin typeface="Cambria Math" panose="02040503050406030204" pitchFamily="18" charset="0"/>
                            <a:ea typeface="+mj-ea"/>
                          </a:rPr>
                        </m:ctrlPr>
                      </m:sSubPr>
                      <m:e>
                        <m:r>
                          <a:rPr lang="en-US" altLang="zh-CN" sz="2000" b="1" i="1">
                            <a:solidFill>
                              <a:srgbClr val="701988"/>
                            </a:solidFill>
                            <a:latin typeface="Cambria Math" panose="02040503050406030204" pitchFamily="18" charset="0"/>
                            <a:ea typeface="+mj-ea"/>
                          </a:rPr>
                          <m:t>𝑹</m:t>
                        </m:r>
                      </m:e>
                      <m:sub>
                        <m:r>
                          <a:rPr lang="en-US" altLang="zh-CN" sz="2000" b="1" i="1">
                            <a:solidFill>
                              <a:srgbClr val="701988"/>
                            </a:solidFill>
                            <a:latin typeface="Cambria Math" panose="02040503050406030204" pitchFamily="18" charset="0"/>
                            <a:ea typeface="+mj-ea"/>
                          </a:rPr>
                          <m:t>𝟏</m:t>
                        </m:r>
                      </m:sub>
                    </m:sSub>
                  </m:oMath>
                </a14:m>
                <a:r>
                  <a:rPr lang="zh-CN" altLang="zh-CN" sz="2400" b="1" dirty="0">
                    <a:latin typeface="+mj-ea"/>
                    <a:ea typeface="+mj-ea"/>
                  </a:rPr>
                  <a:t>。</a:t>
                </a:r>
                <a:endParaRPr lang="en-US" altLang="zh-CN" sz="2400" b="1" dirty="0">
                  <a:latin typeface="+mj-ea"/>
                  <a:ea typeface="+mj-ea"/>
                </a:endParaRPr>
              </a:p>
              <a:p>
                <a:pPr>
                  <a:buFont typeface="Wingdings" panose="05000000000000000000" pitchFamily="2" charset="2"/>
                  <a:buChar char="Ø"/>
                </a:pPr>
                <a:r>
                  <a:rPr lang="zh-CN" altLang="zh-CN" sz="2000" b="1" dirty="0">
                    <a:latin typeface="+mj-ea"/>
                    <a:ea typeface="+mj-ea"/>
                  </a:rPr>
                  <a:t>核心思想：每次选择当前状态下</a:t>
                </a:r>
                <a:r>
                  <a:rPr lang="zh-CN" altLang="en-US" sz="2000" b="1" dirty="0">
                    <a:solidFill>
                      <a:srgbClr val="743481"/>
                    </a:solidFill>
                    <a:latin typeface="+mj-ea"/>
                    <a:ea typeface="+mj-ea"/>
                  </a:rPr>
                  <a:t>增加的代价最小</a:t>
                </a:r>
                <a:r>
                  <a:rPr lang="zh-CN" altLang="zh-CN" sz="2000" b="1" dirty="0">
                    <a:latin typeface="+mj-ea"/>
                    <a:ea typeface="+mj-ea"/>
                  </a:rPr>
                  <a:t>的</a:t>
                </a:r>
                <a:r>
                  <a:rPr lang="zh-CN" altLang="en-US" sz="2000" b="1" dirty="0">
                    <a:latin typeface="+mj-ea"/>
                    <a:ea typeface="+mj-ea"/>
                  </a:rPr>
                  <a:t>关系连接</a:t>
                </a:r>
                <a:r>
                  <a:rPr lang="zh-CN" altLang="zh-CN" sz="2000" b="1" dirty="0">
                    <a:latin typeface="+mj-ea"/>
                    <a:ea typeface="+mj-ea"/>
                  </a:rPr>
                  <a:t> </a:t>
                </a:r>
                <a:endParaRPr lang="en-US" altLang="zh-CN" sz="2000" b="1" kern="0" dirty="0">
                  <a:latin typeface="+mj-ea"/>
                  <a:ea typeface="+mj-ea"/>
                </a:endParaRPr>
              </a:p>
              <a:p>
                <a:pPr marL="316531" lvl="1" indent="-316531">
                  <a:buFont typeface="Wingdings" panose="05000000000000000000" pitchFamily="2" charset="2"/>
                  <a:buChar char="Ø"/>
                </a:pPr>
                <a:r>
                  <a:rPr lang="zh-CN" altLang="en-US" sz="2000" b="1" kern="0" dirty="0">
                    <a:latin typeface="+mj-ea"/>
                    <a:ea typeface="+mj-ea"/>
                  </a:rPr>
                  <a:t>算法执行过程</a:t>
                </a:r>
                <a:r>
                  <a:rPr lang="zh-CN" altLang="zh-CN" sz="2000" b="1" kern="0" dirty="0">
                    <a:latin typeface="+mj-ea"/>
                    <a:ea typeface="+mj-ea"/>
                  </a:rPr>
                  <a:t>：</a:t>
                </a:r>
                <a:endParaRPr lang="en-US" altLang="zh-CN" sz="2000" b="1" kern="0" dirty="0">
                  <a:latin typeface="+mj-ea"/>
                  <a:ea typeface="+mj-ea"/>
                </a:endParaRPr>
              </a:p>
              <a:p>
                <a:pPr lvl="1">
                  <a:buFont typeface="Arial" panose="020B0604020202020204" pitchFamily="34" charset="0"/>
                  <a:buChar char="•"/>
                </a:pPr>
                <a:r>
                  <a:rPr lang="zh-CN" altLang="en-US" sz="1800" dirty="0">
                    <a:latin typeface="+mj-ea"/>
                    <a:ea typeface="+mj-ea"/>
                  </a:rPr>
                  <a:t>（</a:t>
                </a:r>
                <a:r>
                  <a:rPr lang="en-US" altLang="zh-CN" sz="1800" dirty="0">
                    <a:latin typeface="+mj-ea"/>
                    <a:ea typeface="+mj-ea"/>
                  </a:rPr>
                  <a:t>1</a:t>
                </a:r>
                <a:r>
                  <a:rPr lang="zh-CN" altLang="en-US" sz="1800" dirty="0">
                    <a:latin typeface="+mj-ea"/>
                    <a:ea typeface="+mj-ea"/>
                  </a:rPr>
                  <a:t>）</a:t>
                </a:r>
                <a:r>
                  <a:rPr lang="zh-CN" altLang="zh-CN" sz="1800" dirty="0">
                    <a:latin typeface="+mj-ea"/>
                    <a:ea typeface="+mj-ea"/>
                  </a:rPr>
                  <a:t>选择一个大小</a:t>
                </a:r>
                <a14:m>
                  <m:oMath xmlns:m="http://schemas.openxmlformats.org/officeDocument/2006/math">
                    <m:r>
                      <a:rPr lang="en-US" altLang="zh-CN" sz="1800" b="0" i="1">
                        <a:latin typeface="Cambria Math" panose="02040503050406030204" pitchFamily="18" charset="0"/>
                        <a:ea typeface="+mj-ea"/>
                      </a:rPr>
                      <m:t>𝑁</m:t>
                    </m:r>
                    <m:d>
                      <m:dPr>
                        <m:ctrlPr>
                          <a:rPr lang="zh-CN" altLang="zh-CN" sz="1800" i="1">
                            <a:latin typeface="Cambria Math" panose="02040503050406030204" pitchFamily="18" charset="0"/>
                            <a:ea typeface="+mj-ea"/>
                          </a:rPr>
                        </m:ctrlPr>
                      </m:dPr>
                      <m:e>
                        <m:r>
                          <a:rPr lang="en-US" altLang="zh-CN" sz="1800" b="0" i="1">
                            <a:latin typeface="Cambria Math" panose="02040503050406030204" pitchFamily="18" charset="0"/>
                            <a:ea typeface="+mj-ea"/>
                          </a:rPr>
                          <m:t>𝑅</m:t>
                        </m:r>
                      </m:e>
                    </m:d>
                  </m:oMath>
                </a14:m>
                <a:r>
                  <a:rPr lang="zh-CN" altLang="zh-CN" sz="1800" dirty="0">
                    <a:latin typeface="+mj-ea"/>
                    <a:ea typeface="+mj-ea"/>
                  </a:rPr>
                  <a:t>最小的关系作为当前关系</a:t>
                </a:r>
                <a14:m>
                  <m:oMath xmlns:m="http://schemas.openxmlformats.org/officeDocument/2006/math">
                    <m:sSub>
                      <m:sSubPr>
                        <m:ctrlPr>
                          <a:rPr lang="zh-CN" altLang="zh-CN" sz="1800" i="1">
                            <a:latin typeface="Cambria Math" panose="02040503050406030204" pitchFamily="18" charset="0"/>
                            <a:ea typeface="+mj-ea"/>
                          </a:rPr>
                        </m:ctrlPr>
                      </m:sSubPr>
                      <m:e>
                        <m:r>
                          <a:rPr lang="en-US" altLang="zh-CN" sz="1800" b="0" i="1">
                            <a:latin typeface="Cambria Math" panose="02040503050406030204" pitchFamily="18" charset="0"/>
                            <a:ea typeface="+mj-ea"/>
                          </a:rPr>
                          <m:t>𝑅</m:t>
                        </m:r>
                      </m:e>
                      <m:sub>
                        <m:r>
                          <a:rPr lang="en-US" altLang="zh-CN" sz="1800" b="0" i="1">
                            <a:latin typeface="Cambria Math" panose="02040503050406030204" pitchFamily="18" charset="0"/>
                            <a:ea typeface="+mj-ea"/>
                          </a:rPr>
                          <m:t>𝑐𝑢𝑟</m:t>
                        </m:r>
                      </m:sub>
                    </m:sSub>
                  </m:oMath>
                </a14:m>
                <a:r>
                  <a:rPr lang="zh-CN" altLang="zh-CN" sz="1800" dirty="0">
                    <a:latin typeface="+mj-ea"/>
                    <a:ea typeface="+mj-ea"/>
                  </a:rPr>
                  <a:t>；</a:t>
                </a:r>
              </a:p>
              <a:p>
                <a:pPr lvl="1">
                  <a:buFont typeface="Arial" panose="020B0604020202020204" pitchFamily="34" charset="0"/>
                  <a:buChar char="•"/>
                </a:pPr>
                <a:r>
                  <a:rPr lang="zh-CN" altLang="en-US" sz="1800" dirty="0">
                    <a:latin typeface="+mj-ea"/>
                    <a:ea typeface="+mj-ea"/>
                  </a:rPr>
                  <a:t>（</a:t>
                </a:r>
                <a:r>
                  <a:rPr lang="en-US" altLang="zh-CN" sz="1800" dirty="0">
                    <a:latin typeface="+mj-ea"/>
                    <a:ea typeface="+mj-ea"/>
                  </a:rPr>
                  <a:t>2</a:t>
                </a:r>
                <a:r>
                  <a:rPr lang="zh-CN" altLang="en-US" sz="1800" dirty="0">
                    <a:latin typeface="+mj-ea"/>
                    <a:ea typeface="+mj-ea"/>
                  </a:rPr>
                  <a:t>）</a:t>
                </a:r>
                <a:r>
                  <a:rPr lang="zh-CN" altLang="zh-CN" sz="1800" dirty="0">
                    <a:latin typeface="+mj-ea"/>
                    <a:ea typeface="+mj-ea"/>
                  </a:rPr>
                  <a:t>从余下没有被选择过的关系中选择与</a:t>
                </a:r>
                <a14:m>
                  <m:oMath xmlns:m="http://schemas.openxmlformats.org/officeDocument/2006/math">
                    <m:sSub>
                      <m:sSubPr>
                        <m:ctrlPr>
                          <a:rPr lang="zh-CN" altLang="zh-CN" sz="1800" i="1">
                            <a:latin typeface="Cambria Math" panose="02040503050406030204" pitchFamily="18" charset="0"/>
                            <a:ea typeface="+mj-ea"/>
                          </a:rPr>
                        </m:ctrlPr>
                      </m:sSubPr>
                      <m:e>
                        <m:r>
                          <a:rPr lang="en-US" altLang="zh-CN" sz="1800" b="0" i="1">
                            <a:latin typeface="Cambria Math" panose="02040503050406030204" pitchFamily="18" charset="0"/>
                            <a:ea typeface="+mj-ea"/>
                          </a:rPr>
                          <m:t>𝑅</m:t>
                        </m:r>
                      </m:e>
                      <m:sub>
                        <m:r>
                          <a:rPr lang="en-US" altLang="zh-CN" sz="1800" b="0" i="1">
                            <a:latin typeface="Cambria Math" panose="02040503050406030204" pitchFamily="18" charset="0"/>
                            <a:ea typeface="+mj-ea"/>
                          </a:rPr>
                          <m:t>𝑐𝑢𝑟</m:t>
                        </m:r>
                      </m:sub>
                    </m:sSub>
                  </m:oMath>
                </a14:m>
                <a:r>
                  <a:rPr lang="zh-CN" altLang="zh-CN" sz="1800" dirty="0">
                    <a:latin typeface="+mj-ea"/>
                    <a:ea typeface="+mj-ea"/>
                  </a:rPr>
                  <a:t>连接后结果最小的</a:t>
                </a:r>
                <a14:m>
                  <m:oMath xmlns:m="http://schemas.openxmlformats.org/officeDocument/2006/math">
                    <m:sSub>
                      <m:sSubPr>
                        <m:ctrlPr>
                          <a:rPr lang="zh-CN" altLang="zh-CN" sz="1800" i="1">
                            <a:latin typeface="Cambria Math" panose="02040503050406030204" pitchFamily="18" charset="0"/>
                            <a:ea typeface="+mj-ea"/>
                          </a:rPr>
                        </m:ctrlPr>
                      </m:sSubPr>
                      <m:e>
                        <m:r>
                          <a:rPr lang="en-US" altLang="zh-CN" sz="1800" b="0" i="1">
                            <a:latin typeface="Cambria Math" panose="02040503050406030204" pitchFamily="18" charset="0"/>
                            <a:ea typeface="+mj-ea"/>
                          </a:rPr>
                          <m:t>𝑅</m:t>
                        </m:r>
                      </m:e>
                      <m:sub>
                        <m:r>
                          <a:rPr lang="en-US" altLang="zh-CN" sz="1800" b="0" i="1">
                            <a:latin typeface="Cambria Math" panose="02040503050406030204" pitchFamily="18" charset="0"/>
                            <a:ea typeface="+mj-ea"/>
                          </a:rPr>
                          <m:t>𝑛𝑒𝑥𝑡</m:t>
                        </m:r>
                      </m:sub>
                    </m:sSub>
                  </m:oMath>
                </a14:m>
                <a:r>
                  <a:rPr lang="zh-CN" altLang="zh-CN" sz="1800" dirty="0">
                    <a:latin typeface="+mj-ea"/>
                    <a:ea typeface="+mj-ea"/>
                  </a:rPr>
                  <a:t>，将</a:t>
                </a:r>
                <a14:m>
                  <m:oMath xmlns:m="http://schemas.openxmlformats.org/officeDocument/2006/math">
                    <m:sSub>
                      <m:sSubPr>
                        <m:ctrlPr>
                          <a:rPr lang="zh-CN" altLang="zh-CN" sz="1800" i="1">
                            <a:latin typeface="Cambria Math" panose="02040503050406030204" pitchFamily="18" charset="0"/>
                            <a:ea typeface="+mj-ea"/>
                          </a:rPr>
                        </m:ctrlPr>
                      </m:sSubPr>
                      <m:e>
                        <m:r>
                          <a:rPr lang="en-US" altLang="zh-CN" sz="1800" b="0" i="1">
                            <a:latin typeface="Cambria Math" panose="02040503050406030204" pitchFamily="18" charset="0"/>
                            <a:ea typeface="+mj-ea"/>
                          </a:rPr>
                          <m:t>𝑅</m:t>
                        </m:r>
                      </m:e>
                      <m:sub>
                        <m:r>
                          <a:rPr lang="en-US" altLang="zh-CN" sz="1800" b="0" i="1">
                            <a:latin typeface="Cambria Math" panose="02040503050406030204" pitchFamily="18" charset="0"/>
                            <a:ea typeface="+mj-ea"/>
                          </a:rPr>
                          <m:t>𝑐𝑢𝑟</m:t>
                        </m:r>
                      </m:sub>
                    </m:sSub>
                  </m:oMath>
                </a14:m>
                <a:r>
                  <a:rPr lang="zh-CN" altLang="zh-CN" sz="1800" dirty="0">
                    <a:latin typeface="+mj-ea"/>
                    <a:ea typeface="+mj-ea"/>
                  </a:rPr>
                  <a:t>更新为</a:t>
                </a:r>
                <a14:m>
                  <m:oMath xmlns:m="http://schemas.openxmlformats.org/officeDocument/2006/math">
                    <m:sSub>
                      <m:sSubPr>
                        <m:ctrlPr>
                          <a:rPr lang="zh-CN" altLang="zh-CN" sz="1800" i="1">
                            <a:latin typeface="Cambria Math" panose="02040503050406030204" pitchFamily="18" charset="0"/>
                            <a:ea typeface="+mj-ea"/>
                          </a:rPr>
                        </m:ctrlPr>
                      </m:sSubPr>
                      <m:e>
                        <m:r>
                          <a:rPr lang="en-US" altLang="zh-CN" sz="1800" b="0" i="1">
                            <a:latin typeface="Cambria Math" panose="02040503050406030204" pitchFamily="18" charset="0"/>
                            <a:ea typeface="+mj-ea"/>
                          </a:rPr>
                          <m:t>𝑅</m:t>
                        </m:r>
                      </m:e>
                      <m:sub>
                        <m:r>
                          <a:rPr lang="en-US" altLang="zh-CN" sz="1800" b="0" i="1">
                            <a:latin typeface="Cambria Math" panose="02040503050406030204" pitchFamily="18" charset="0"/>
                            <a:ea typeface="+mj-ea"/>
                          </a:rPr>
                          <m:t>𝑐𝑢𝑟</m:t>
                        </m:r>
                      </m:sub>
                    </m:sSub>
                    <m:r>
                      <a:rPr lang="en-US" altLang="zh-CN" sz="1800" b="0">
                        <a:latin typeface="Cambria Math" panose="02040503050406030204" pitchFamily="18" charset="0"/>
                        <a:ea typeface="+mj-ea"/>
                      </a:rPr>
                      <m:t>⋈</m:t>
                    </m:r>
                    <m:sSub>
                      <m:sSubPr>
                        <m:ctrlPr>
                          <a:rPr lang="zh-CN" altLang="zh-CN" sz="1800" i="1">
                            <a:latin typeface="Cambria Math" panose="02040503050406030204" pitchFamily="18" charset="0"/>
                            <a:ea typeface="+mj-ea"/>
                          </a:rPr>
                        </m:ctrlPr>
                      </m:sSubPr>
                      <m:e>
                        <m:r>
                          <a:rPr lang="en-US" altLang="zh-CN" sz="1800" b="0" i="1">
                            <a:latin typeface="Cambria Math" panose="02040503050406030204" pitchFamily="18" charset="0"/>
                            <a:ea typeface="+mj-ea"/>
                          </a:rPr>
                          <m:t>𝑅</m:t>
                        </m:r>
                      </m:e>
                      <m:sub>
                        <m:r>
                          <a:rPr lang="en-US" altLang="zh-CN" sz="1800" b="0" i="1">
                            <a:latin typeface="Cambria Math" panose="02040503050406030204" pitchFamily="18" charset="0"/>
                            <a:ea typeface="+mj-ea"/>
                          </a:rPr>
                          <m:t>𝑛𝑒𝑥𝑡</m:t>
                        </m:r>
                      </m:sub>
                    </m:sSub>
                  </m:oMath>
                </a14:m>
                <a:r>
                  <a:rPr lang="zh-CN" altLang="zh-CN" sz="1800" dirty="0">
                    <a:latin typeface="+mj-ea"/>
                    <a:ea typeface="+mj-ea"/>
                  </a:rPr>
                  <a:t>；</a:t>
                </a:r>
              </a:p>
              <a:p>
                <a:pPr lvl="1">
                  <a:buFont typeface="Arial" panose="020B0604020202020204" pitchFamily="34" charset="0"/>
                  <a:buChar char="•"/>
                </a:pPr>
                <a:r>
                  <a:rPr lang="zh-CN" altLang="en-US" sz="1800" dirty="0">
                    <a:latin typeface="+mj-ea"/>
                    <a:ea typeface="+mj-ea"/>
                  </a:rPr>
                  <a:t>（</a:t>
                </a:r>
                <a:r>
                  <a:rPr lang="en-US" altLang="zh-CN" sz="1800" dirty="0">
                    <a:latin typeface="+mj-ea"/>
                    <a:ea typeface="+mj-ea"/>
                  </a:rPr>
                  <a:t>3</a:t>
                </a:r>
                <a:r>
                  <a:rPr lang="zh-CN" altLang="en-US" sz="1800" dirty="0">
                    <a:latin typeface="+mj-ea"/>
                    <a:ea typeface="+mj-ea"/>
                  </a:rPr>
                  <a:t>）</a:t>
                </a:r>
                <a:r>
                  <a:rPr lang="zh-CN" altLang="zh-CN" sz="1800" dirty="0">
                    <a:latin typeface="+mj-ea"/>
                    <a:ea typeface="+mj-ea"/>
                  </a:rPr>
                  <a:t>不断重复步骤（</a:t>
                </a:r>
                <a:r>
                  <a:rPr lang="en-US" altLang="zh-CN" sz="1800" dirty="0">
                    <a:latin typeface="+mj-ea"/>
                    <a:ea typeface="+mj-ea"/>
                  </a:rPr>
                  <a:t>2</a:t>
                </a:r>
                <a:r>
                  <a:rPr lang="zh-CN" altLang="zh-CN" sz="1800" dirty="0">
                    <a:latin typeface="+mj-ea"/>
                    <a:ea typeface="+mj-ea"/>
                  </a:rPr>
                  <a:t>），直到所有关系都被选择过。</a:t>
                </a:r>
                <a:endParaRPr lang="en-US" altLang="zh-CN" sz="1800" dirty="0">
                  <a:latin typeface="+mj-ea"/>
                  <a:ea typeface="+mj-ea"/>
                </a:endParaRPr>
              </a:p>
              <a:p>
                <a:pPr marL="316531" lvl="1" indent="-316531">
                  <a:buFont typeface="Wingdings" panose="05000000000000000000" pitchFamily="2" charset="2"/>
                  <a:buChar char="Ø"/>
                </a:pPr>
                <a:r>
                  <a:rPr lang="zh-CN" altLang="en-US" sz="2000" b="1" kern="0" dirty="0">
                    <a:latin typeface="+mj-ea"/>
                    <a:ea typeface="+mj-ea"/>
                  </a:rPr>
                  <a:t>时间复杂度</a:t>
                </a:r>
                <a:r>
                  <a:rPr lang="zh-CN" altLang="zh-CN" sz="2000" b="1" kern="0" dirty="0">
                    <a:latin typeface="+mj-ea"/>
                    <a:ea typeface="+mj-ea"/>
                  </a:rPr>
                  <a:t>：</a:t>
                </a:r>
                <a:endParaRPr lang="en-US" altLang="zh-CN" sz="2000" b="1" dirty="0">
                  <a:latin typeface="+mj-ea"/>
                  <a:ea typeface="+mj-ea"/>
                </a:endParaRPr>
              </a:p>
              <a:p>
                <a:pPr lvl="1">
                  <a:buFont typeface="Arial" panose="020B0604020202020204" pitchFamily="34" charset="0"/>
                  <a:buChar char="•"/>
                </a:pPr>
                <a:r>
                  <a:rPr lang="zh-CN" altLang="zh-CN" sz="1800" dirty="0">
                    <a:latin typeface="+mj-ea"/>
                    <a:ea typeface="+mj-ea"/>
                  </a:rPr>
                  <a:t>单次复杂度为</a:t>
                </a:r>
                <a14:m>
                  <m:oMath xmlns:m="http://schemas.openxmlformats.org/officeDocument/2006/math">
                    <m:r>
                      <a:rPr lang="en-US" altLang="zh-CN" sz="1800" b="0" i="1">
                        <a:latin typeface="Cambria Math" panose="02040503050406030204" pitchFamily="18" charset="0"/>
                        <a:ea typeface="+mj-ea"/>
                      </a:rPr>
                      <m:t>𝑂</m:t>
                    </m:r>
                    <m:r>
                      <a:rPr lang="en-US" altLang="zh-CN" sz="1800" b="0" i="1">
                        <a:latin typeface="Cambria Math" panose="02040503050406030204" pitchFamily="18" charset="0"/>
                        <a:ea typeface="+mj-ea"/>
                      </a:rPr>
                      <m:t>(</m:t>
                    </m:r>
                    <m:r>
                      <a:rPr lang="en-US" altLang="zh-CN" sz="1800" b="0" i="1">
                        <a:latin typeface="Cambria Math" panose="02040503050406030204" pitchFamily="18" charset="0"/>
                        <a:ea typeface="+mj-ea"/>
                      </a:rPr>
                      <m:t>𝑛</m:t>
                    </m:r>
                    <m:r>
                      <a:rPr lang="en-US" altLang="zh-CN" sz="1800" b="0" i="1">
                        <a:latin typeface="Cambria Math" panose="02040503050406030204" pitchFamily="18" charset="0"/>
                        <a:ea typeface="+mj-ea"/>
                      </a:rPr>
                      <m:t>)</m:t>
                    </m:r>
                  </m:oMath>
                </a14:m>
                <a:r>
                  <a:rPr lang="zh-CN" altLang="zh-CN" sz="1800" dirty="0">
                    <a:latin typeface="+mj-ea"/>
                    <a:ea typeface="+mj-ea"/>
                  </a:rPr>
                  <a:t>的决策（计算与</a:t>
                </a:r>
                <a14:m>
                  <m:oMath xmlns:m="http://schemas.openxmlformats.org/officeDocument/2006/math">
                    <m:sSub>
                      <m:sSubPr>
                        <m:ctrlPr>
                          <a:rPr lang="zh-CN" altLang="zh-CN" sz="1800" i="1">
                            <a:latin typeface="Cambria Math" panose="02040503050406030204" pitchFamily="18" charset="0"/>
                            <a:ea typeface="+mj-ea"/>
                          </a:rPr>
                        </m:ctrlPr>
                      </m:sSubPr>
                      <m:e>
                        <m:r>
                          <a:rPr lang="en-US" altLang="zh-CN" sz="1800" b="0" i="1">
                            <a:latin typeface="Cambria Math" panose="02040503050406030204" pitchFamily="18" charset="0"/>
                            <a:ea typeface="+mj-ea"/>
                          </a:rPr>
                          <m:t>𝑅</m:t>
                        </m:r>
                      </m:e>
                      <m:sub>
                        <m:r>
                          <a:rPr lang="en-US" altLang="zh-CN" sz="1800" b="0" i="1">
                            <a:latin typeface="Cambria Math" panose="02040503050406030204" pitchFamily="18" charset="0"/>
                            <a:ea typeface="+mj-ea"/>
                          </a:rPr>
                          <m:t>𝑐𝑢𝑟</m:t>
                        </m:r>
                      </m:sub>
                    </m:sSub>
                  </m:oMath>
                </a14:m>
                <a:r>
                  <a:rPr lang="zh-CN" altLang="zh-CN" sz="1800" dirty="0">
                    <a:latin typeface="+mj-ea"/>
                    <a:ea typeface="+mj-ea"/>
                  </a:rPr>
                  <a:t>连接后的大小）</a:t>
                </a:r>
                <a:endParaRPr lang="en-US" altLang="zh-CN" sz="1800" dirty="0">
                  <a:latin typeface="+mj-ea"/>
                  <a:ea typeface="+mj-ea"/>
                </a:endParaRPr>
              </a:p>
              <a:p>
                <a:pPr lvl="1">
                  <a:buFont typeface="Arial" panose="020B0604020202020204" pitchFamily="34" charset="0"/>
                  <a:buChar char="•"/>
                </a:pPr>
                <a:r>
                  <a:rPr lang="zh-CN" altLang="en-US" sz="1800" dirty="0">
                    <a:latin typeface="+mj-ea"/>
                    <a:ea typeface="+mj-ea"/>
                  </a:rPr>
                  <a:t>重复</a:t>
                </a:r>
                <a14:m>
                  <m:oMath xmlns:m="http://schemas.openxmlformats.org/officeDocument/2006/math">
                    <m:r>
                      <a:rPr lang="en-US" altLang="zh-CN" sz="1800" b="0" i="1">
                        <a:latin typeface="Cambria Math" panose="02040503050406030204" pitchFamily="18" charset="0"/>
                        <a:ea typeface="+mj-ea"/>
                      </a:rPr>
                      <m:t>𝑛</m:t>
                    </m:r>
                  </m:oMath>
                </a14:m>
                <a:r>
                  <a:rPr lang="zh-CN" altLang="en-US" sz="1800" dirty="0">
                    <a:latin typeface="+mj-ea"/>
                    <a:ea typeface="+mj-ea"/>
                  </a:rPr>
                  <a:t>轮，</a:t>
                </a:r>
                <a:r>
                  <a:rPr lang="zh-CN" altLang="zh-CN" sz="1800" dirty="0">
                    <a:latin typeface="+mj-ea"/>
                    <a:ea typeface="+mj-ea"/>
                  </a:rPr>
                  <a:t>因此使用贪心算法只有</a:t>
                </a:r>
                <a14:m>
                  <m:oMath xmlns:m="http://schemas.openxmlformats.org/officeDocument/2006/math">
                    <m:r>
                      <a:rPr lang="en-US" altLang="zh-CN" sz="1800" b="0" i="1" smtClean="0">
                        <a:solidFill>
                          <a:srgbClr val="743481"/>
                        </a:solidFill>
                        <a:latin typeface="Cambria Math" panose="02040503050406030204" pitchFamily="18" charset="0"/>
                        <a:ea typeface="+mj-ea"/>
                      </a:rPr>
                      <m:t>𝑂</m:t>
                    </m:r>
                    <m:r>
                      <a:rPr lang="en-US" altLang="zh-CN" sz="1800" b="0" i="1" smtClean="0">
                        <a:solidFill>
                          <a:srgbClr val="743481"/>
                        </a:solidFill>
                        <a:latin typeface="Cambria Math" panose="02040503050406030204" pitchFamily="18" charset="0"/>
                        <a:ea typeface="+mj-ea"/>
                      </a:rPr>
                      <m:t>(</m:t>
                    </m:r>
                    <m:sSup>
                      <m:sSupPr>
                        <m:ctrlPr>
                          <a:rPr lang="zh-CN" altLang="zh-CN" sz="1800" i="1">
                            <a:solidFill>
                              <a:srgbClr val="743481"/>
                            </a:solidFill>
                            <a:latin typeface="Cambria Math" panose="02040503050406030204" pitchFamily="18" charset="0"/>
                            <a:ea typeface="+mj-ea"/>
                          </a:rPr>
                        </m:ctrlPr>
                      </m:sSupPr>
                      <m:e>
                        <m:r>
                          <a:rPr lang="en-US" altLang="zh-CN" sz="1800" b="0" i="1">
                            <a:solidFill>
                              <a:srgbClr val="743481"/>
                            </a:solidFill>
                            <a:latin typeface="Cambria Math" panose="02040503050406030204" pitchFamily="18" charset="0"/>
                            <a:ea typeface="+mj-ea"/>
                          </a:rPr>
                          <m:t>𝑛</m:t>
                        </m:r>
                      </m:e>
                      <m:sup>
                        <m:r>
                          <a:rPr lang="en-US" altLang="zh-CN" sz="1800" b="0" i="1">
                            <a:solidFill>
                              <a:srgbClr val="743481"/>
                            </a:solidFill>
                            <a:latin typeface="Cambria Math" panose="02040503050406030204" pitchFamily="18" charset="0"/>
                            <a:ea typeface="+mj-ea"/>
                          </a:rPr>
                          <m:t>2</m:t>
                        </m:r>
                      </m:sup>
                    </m:sSup>
                    <m:r>
                      <a:rPr lang="en-US" altLang="zh-CN" sz="1800" b="0" i="1">
                        <a:solidFill>
                          <a:srgbClr val="743481"/>
                        </a:solidFill>
                        <a:latin typeface="Cambria Math" panose="02040503050406030204" pitchFamily="18" charset="0"/>
                        <a:ea typeface="+mj-ea"/>
                      </a:rPr>
                      <m:t>)</m:t>
                    </m:r>
                  </m:oMath>
                </a14:m>
                <a:r>
                  <a:rPr lang="zh-CN" altLang="zh-CN" sz="1800" dirty="0">
                    <a:latin typeface="+mj-ea"/>
                    <a:ea typeface="+mj-ea"/>
                  </a:rPr>
                  <a:t>的复杂度 </a:t>
                </a:r>
                <a:endParaRPr lang="en-US" altLang="zh-CN" sz="1800" dirty="0">
                  <a:latin typeface="+mj-ea"/>
                  <a:ea typeface="+mj-ea"/>
                </a:endParaRPr>
              </a:p>
              <a:p>
                <a:pPr lvl="1">
                  <a:buFont typeface="Wingdings" pitchFamily="2" charset="2"/>
                  <a:buChar char="Ø"/>
                </a:pPr>
                <a:endParaRPr lang="zh-CN" altLang="zh-CN" sz="3200" b="1" dirty="0">
                  <a:latin typeface="+mj-ea"/>
                  <a:ea typeface="+mj-ea"/>
                </a:endParaRPr>
              </a:p>
              <a:p>
                <a:pPr lvl="1">
                  <a:buFont typeface="Wingdings" pitchFamily="2" charset="2"/>
                  <a:buChar char="Ø"/>
                </a:pPr>
                <a:endParaRPr lang="en-US" altLang="zh-CN" sz="2400" b="1" dirty="0">
                  <a:latin typeface="+mj-ea"/>
                  <a:ea typeface="+mj-ea"/>
                </a:endParaRPr>
              </a:p>
              <a:p>
                <a:pPr lvl="1">
                  <a:buFont typeface="Wingdings" pitchFamily="2" charset="2"/>
                  <a:buChar char="Ø"/>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400" b="1" kern="0" dirty="0">
                    <a:latin typeface="+mj-ea"/>
                    <a:ea typeface="+mj-ea"/>
                  </a:rPr>
                  <a:t> </a:t>
                </a:r>
                <a:endParaRPr lang="zh-CN" altLang="en-US" sz="2400" b="1" kern="0" dirty="0">
                  <a:latin typeface="+mj-ea"/>
                  <a:ea typeface="+mj-ea"/>
                </a:endParaRPr>
              </a:p>
            </p:txBody>
          </p:sp>
        </mc:Choice>
        <mc:Fallback xmlns="">
          <p:sp>
            <p:nvSpPr>
              <p:cNvPr id="6" name="内容占位符 2">
                <a:extLst>
                  <a:ext uri="{FF2B5EF4-FFF2-40B4-BE49-F238E27FC236}">
                    <a16:creationId xmlns:a16="http://schemas.microsoft.com/office/drawing/2014/main" id="{3A77DD7A-E201-E5F7-A37D-D7A48E626DFE}"/>
                  </a:ext>
                </a:extLst>
              </p:cNvPr>
              <p:cNvSpPr txBox="1">
                <a:spLocks noRot="1" noChangeAspect="1" noMove="1" noResize="1" noEditPoints="1" noAdjustHandles="1" noChangeArrowheads="1" noChangeShapeType="1" noTextEdit="1"/>
              </p:cNvSpPr>
              <p:nvPr/>
            </p:nvSpPr>
            <p:spPr bwMode="auto">
              <a:xfrm>
                <a:off x="353169" y="2495786"/>
                <a:ext cx="11485660" cy="1522948"/>
              </a:xfrm>
              <a:prstGeom prst="rect">
                <a:avLst/>
              </a:prstGeom>
              <a:blipFill>
                <a:blip r:embed="rId3"/>
                <a:stretch>
                  <a:fillRect l="-331" t="-2479" r="-2759" b="-15950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DFEBAA8C-05D7-F366-84BB-ABD5F9DCDBD5}"/>
              </a:ext>
            </a:extLst>
          </p:cNvPr>
          <p:cNvPicPr>
            <a:picLocks noChangeAspect="1"/>
          </p:cNvPicPr>
          <p:nvPr/>
        </p:nvPicPr>
        <p:blipFill>
          <a:blip r:embed="rId4"/>
          <a:stretch>
            <a:fillRect/>
          </a:stretch>
        </p:blipFill>
        <p:spPr>
          <a:xfrm>
            <a:off x="7867780" y="1356299"/>
            <a:ext cx="2771526" cy="670861"/>
          </a:xfrm>
          <a:prstGeom prst="rect">
            <a:avLst/>
          </a:prstGeom>
        </p:spPr>
      </p:pic>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6E685EEF-E3AB-6D32-DC2B-351BAA468CDF}"/>
                  </a:ext>
                </a:extLst>
              </p:cNvPr>
              <p:cNvGraphicFramePr>
                <a:graphicFrameLocks noGrp="1"/>
              </p:cNvGraphicFramePr>
              <p:nvPr>
                <p:extLst>
                  <p:ext uri="{D42A27DB-BD31-4B8C-83A1-F6EECF244321}">
                    <p14:modId xmlns:p14="http://schemas.microsoft.com/office/powerpoint/2010/main" val="2048772374"/>
                  </p:ext>
                </p:extLst>
              </p:nvPr>
            </p:nvGraphicFramePr>
            <p:xfrm>
              <a:off x="1282822" y="1238730"/>
              <a:ext cx="5658380" cy="960120"/>
            </p:xfrm>
            <a:graphic>
              <a:graphicData uri="http://schemas.openxmlformats.org/drawingml/2006/table">
                <a:tbl>
                  <a:tblPr firstRow="1" firstCol="1" bandRow="1">
                    <a:tableStyleId>{5940675A-B579-460E-94D1-54222C63F5DA}</a:tableStyleId>
                  </a:tblPr>
                  <a:tblGrid>
                    <a:gridCol w="1466311">
                      <a:extLst>
                        <a:ext uri="{9D8B030D-6E8A-4147-A177-3AD203B41FA5}">
                          <a16:colId xmlns:a16="http://schemas.microsoft.com/office/drawing/2014/main" val="1345758552"/>
                        </a:ext>
                      </a:extLst>
                    </a:gridCol>
                    <a:gridCol w="1220596">
                      <a:extLst>
                        <a:ext uri="{9D8B030D-6E8A-4147-A177-3AD203B41FA5}">
                          <a16:colId xmlns:a16="http://schemas.microsoft.com/office/drawing/2014/main" val="1960843137"/>
                        </a:ext>
                      </a:extLst>
                    </a:gridCol>
                    <a:gridCol w="990491">
                      <a:extLst>
                        <a:ext uri="{9D8B030D-6E8A-4147-A177-3AD203B41FA5}">
                          <a16:colId xmlns:a16="http://schemas.microsoft.com/office/drawing/2014/main" val="2499997710"/>
                        </a:ext>
                      </a:extLst>
                    </a:gridCol>
                    <a:gridCol w="990491">
                      <a:extLst>
                        <a:ext uri="{9D8B030D-6E8A-4147-A177-3AD203B41FA5}">
                          <a16:colId xmlns:a16="http://schemas.microsoft.com/office/drawing/2014/main" val="1562057721"/>
                        </a:ext>
                      </a:extLst>
                    </a:gridCol>
                    <a:gridCol w="990491">
                      <a:extLst>
                        <a:ext uri="{9D8B030D-6E8A-4147-A177-3AD203B41FA5}">
                          <a16:colId xmlns:a16="http://schemas.microsoft.com/office/drawing/2014/main" val="352734028"/>
                        </a:ext>
                      </a:extLst>
                    </a:gridCol>
                  </a:tblGrid>
                  <a:tr h="319931">
                    <a:tc>
                      <a:txBody>
                        <a:bodyPr/>
                        <a:lstStyle/>
                        <a:p>
                          <a:pPr indent="127000" algn="just">
                            <a:lnSpc>
                              <a:spcPct val="150000"/>
                            </a:lnSpc>
                          </a:pPr>
                          <a:r>
                            <a:rPr lang="zh-CN" sz="1400" kern="100" dirty="0">
                              <a:effectLst/>
                              <a:latin typeface="SimHei" panose="02010609060101010101" pitchFamily="49" charset="-122"/>
                              <a:ea typeface="SimHei" panose="02010609060101010101" pitchFamily="49" charset="-122"/>
                            </a:rPr>
                            <a:t>关系集合</a:t>
                          </a:r>
                          <a14:m>
                            <m:oMath xmlns:m="http://schemas.openxmlformats.org/officeDocument/2006/math">
                              <m:r>
                                <a:rPr lang="en-US" sz="1400" kern="100">
                                  <a:effectLst/>
                                  <a:latin typeface="Cambria Math" panose="02040503050406030204" pitchFamily="18" charset="0"/>
                                </a:rPr>
                                <m:t>𝑆</m:t>
                              </m:r>
                            </m:oMath>
                          </a14:m>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400" i="1" kern="100" smtClean="0">
                                    <a:effectLst/>
                                    <a:latin typeface="Cambria Math" panose="02040503050406030204" pitchFamily="18" charset="0"/>
                                  </a:rPr>
                                  <m:t>𝑇</m:t>
                                </m:r>
                                <m:r>
                                  <a:rPr lang="en-US" sz="1400" kern="100">
                                    <a:effectLst/>
                                    <a:latin typeface="Cambria Math" panose="02040503050406030204" pitchFamily="18" charset="0"/>
                                  </a:rPr>
                                  <m:t>(</m:t>
                                </m:r>
                                <m:r>
                                  <a:rPr lang="en-US" sz="1400" kern="100">
                                    <a:effectLst/>
                                    <a:latin typeface="Cambria Math" panose="02040503050406030204" pitchFamily="18" charset="0"/>
                                  </a:rPr>
                                  <m:t>𝑆</m:t>
                                </m:r>
                                <m:r>
                                  <a:rPr lang="en-US" sz="1400" kern="100">
                                    <a:effectLst/>
                                    <a:latin typeface="Cambria Math" panose="02040503050406030204" pitchFamily="18" charset="0"/>
                                  </a:rPr>
                                  <m:t>)</m:t>
                                </m:r>
                              </m:oMath>
                            </m:oMathPara>
                          </a14:m>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𝑉</m:t>
                                </m:r>
                                <m:d>
                                  <m:dPr>
                                    <m:ctrlPr>
                                      <a:rPr lang="zh-CN" sz="1400" i="1" kern="100">
                                        <a:effectLst/>
                                        <a:latin typeface="Cambria Math" panose="02040503050406030204" pitchFamily="18" charset="0"/>
                                      </a:rPr>
                                    </m:ctrlPr>
                                  </m:dPr>
                                  <m:e>
                                    <m:r>
                                      <a:rPr lang="en-US" sz="1400" kern="100">
                                        <a:effectLst/>
                                        <a:latin typeface="Cambria Math" panose="02040503050406030204" pitchFamily="18" charset="0"/>
                                      </a:rPr>
                                      <m:t>𝑆</m:t>
                                    </m:r>
                                    <m:r>
                                      <a:rPr lang="en-US" sz="1400" kern="100">
                                        <a:effectLst/>
                                        <a:latin typeface="Cambria Math" panose="02040503050406030204" pitchFamily="18" charset="0"/>
                                      </a:rPr>
                                      <m:t>,</m:t>
                                    </m:r>
                                    <m:r>
                                      <a:rPr lang="en-US" sz="1400" kern="100">
                                        <a:effectLst/>
                                        <a:latin typeface="Cambria Math" panose="02040503050406030204" pitchFamily="18" charset="0"/>
                                      </a:rPr>
                                      <m:t>𝐴</m:t>
                                    </m:r>
                                  </m:e>
                                </m:d>
                              </m:oMath>
                            </m:oMathPara>
                          </a14:m>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𝑉</m:t>
                                </m:r>
                                <m:d>
                                  <m:dPr>
                                    <m:ctrlPr>
                                      <a:rPr lang="zh-CN" sz="1400" i="1" kern="100">
                                        <a:effectLst/>
                                        <a:latin typeface="Cambria Math" panose="02040503050406030204" pitchFamily="18" charset="0"/>
                                      </a:rPr>
                                    </m:ctrlPr>
                                  </m:dPr>
                                  <m:e>
                                    <m:r>
                                      <a:rPr lang="en-US" sz="1400" kern="100">
                                        <a:effectLst/>
                                        <a:latin typeface="Cambria Math" panose="02040503050406030204" pitchFamily="18" charset="0"/>
                                      </a:rPr>
                                      <m:t>𝑆</m:t>
                                    </m:r>
                                    <m:r>
                                      <a:rPr lang="en-US" sz="1400" kern="100">
                                        <a:effectLst/>
                                        <a:latin typeface="Cambria Math" panose="02040503050406030204" pitchFamily="18" charset="0"/>
                                      </a:rPr>
                                      <m:t>,</m:t>
                                    </m:r>
                                    <m:r>
                                      <a:rPr lang="en-US" sz="1400" kern="100">
                                        <a:effectLst/>
                                        <a:latin typeface="Cambria Math" panose="02040503050406030204" pitchFamily="18" charset="0"/>
                                      </a:rPr>
                                      <m:t>𝐵</m:t>
                                    </m:r>
                                  </m:e>
                                </m:d>
                              </m:oMath>
                            </m:oMathPara>
                          </a14:m>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𝑉</m:t>
                                </m:r>
                                <m:d>
                                  <m:dPr>
                                    <m:ctrlPr>
                                      <a:rPr lang="zh-CN" sz="1400" i="1" kern="100">
                                        <a:effectLst/>
                                        <a:latin typeface="Cambria Math" panose="02040503050406030204" pitchFamily="18" charset="0"/>
                                      </a:rPr>
                                    </m:ctrlPr>
                                  </m:dPr>
                                  <m:e>
                                    <m:r>
                                      <a:rPr lang="en-US" sz="1400" kern="100">
                                        <a:effectLst/>
                                        <a:latin typeface="Cambria Math" panose="02040503050406030204" pitchFamily="18" charset="0"/>
                                      </a:rPr>
                                      <m:t>𝑆</m:t>
                                    </m:r>
                                    <m:r>
                                      <a:rPr lang="en-US" sz="1400" kern="100">
                                        <a:effectLst/>
                                        <a:latin typeface="Cambria Math" panose="02040503050406030204" pitchFamily="18" charset="0"/>
                                      </a:rPr>
                                      <m:t>,</m:t>
                                    </m:r>
                                    <m:r>
                                      <a:rPr lang="en-US" sz="1400" kern="100">
                                        <a:effectLst/>
                                        <a:latin typeface="Cambria Math" panose="02040503050406030204" pitchFamily="18" charset="0"/>
                                      </a:rPr>
                                      <m:t>𝐶</m:t>
                                    </m:r>
                                  </m:e>
                                </m:d>
                              </m:oMath>
                            </m:oMathPara>
                          </a14:m>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extLst>
                      <a:ext uri="{0D108BD9-81ED-4DB2-BD59-A6C34878D82A}">
                        <a16:rowId xmlns:a16="http://schemas.microsoft.com/office/drawing/2014/main" val="3245499765"/>
                      </a:ext>
                    </a:extLst>
                  </a:tr>
                  <a:tr h="319931">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𝑅</m:t>
                                    </m:r>
                                  </m:e>
                                  <m:sub>
                                    <m:r>
                                      <a:rPr lang="en-US" sz="1400" kern="100">
                                        <a:effectLst/>
                                        <a:latin typeface="Cambria Math" panose="02040503050406030204" pitchFamily="18" charset="0"/>
                                      </a:rPr>
                                      <m:t>1</m:t>
                                    </m:r>
                                  </m:sub>
                                </m:sSub>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𝑅</m:t>
                                    </m:r>
                                  </m:e>
                                  <m:sub>
                                    <m:r>
                                      <a:rPr lang="en-US" sz="1400" kern="100">
                                        <a:effectLst/>
                                        <a:latin typeface="Cambria Math" panose="02040503050406030204" pitchFamily="18" charset="0"/>
                                      </a:rPr>
                                      <m:t>2</m:t>
                                    </m:r>
                                  </m:sub>
                                </m:sSub>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𝑅</m:t>
                                    </m:r>
                                  </m:e>
                                  <m:sub>
                                    <m:r>
                                      <a:rPr lang="en-US" sz="1400" kern="100">
                                        <a:effectLst/>
                                        <a:latin typeface="Cambria Math" panose="02040503050406030204" pitchFamily="18" charset="0"/>
                                      </a:rPr>
                                      <m:t>3</m:t>
                                    </m:r>
                                  </m:sub>
                                </m:sSub>
                                <m:r>
                                  <a:rPr lang="en-US" sz="1400" kern="100">
                                    <a:effectLst/>
                                    <a:latin typeface="Cambria Math" panose="02040503050406030204" pitchFamily="18" charset="0"/>
                                  </a:rPr>
                                  <m:t>}</m:t>
                                </m:r>
                              </m:oMath>
                            </m:oMathPara>
                          </a14:m>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200000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40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20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dirty="0">
                              <a:effectLst/>
                            </a:rPr>
                            <a:t>200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extLst>
                      <a:ext uri="{0D108BD9-81ED-4DB2-BD59-A6C34878D82A}">
                        <a16:rowId xmlns:a16="http://schemas.microsoft.com/office/drawing/2014/main" val="34129824"/>
                      </a:ext>
                    </a:extLst>
                  </a:tr>
                  <a:tr h="319931">
                    <a:tc>
                      <a:txBody>
                        <a:bodyPr/>
                        <a:lstStyle/>
                        <a:p>
                          <a:pPr indent="127000" algn="just">
                            <a:lnSpc>
                              <a:spcPct val="150000"/>
                            </a:lnSpc>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𝑅</m:t>
                                    </m:r>
                                  </m:e>
                                  <m:sub>
                                    <m:r>
                                      <a:rPr lang="en-US" sz="1400" kern="100">
                                        <a:effectLst/>
                                        <a:latin typeface="Cambria Math" panose="02040503050406030204" pitchFamily="18" charset="0"/>
                                      </a:rPr>
                                      <m:t>2</m:t>
                                    </m:r>
                                  </m:sub>
                                </m:sSub>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𝑅</m:t>
                                    </m:r>
                                  </m:e>
                                  <m:sub>
                                    <m:r>
                                      <a:rPr lang="en-US" sz="1400" kern="100">
                                        <a:effectLst/>
                                        <a:latin typeface="Cambria Math" panose="02040503050406030204" pitchFamily="18" charset="0"/>
                                      </a:rPr>
                                      <m:t>3</m:t>
                                    </m:r>
                                  </m:sub>
                                </m:sSub>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𝑅</m:t>
                                    </m:r>
                                  </m:e>
                                  <m:sub>
                                    <m:r>
                                      <a:rPr lang="en-US" sz="1400" kern="100">
                                        <a:effectLst/>
                                        <a:latin typeface="Cambria Math" panose="02040503050406030204" pitchFamily="18" charset="0"/>
                                      </a:rPr>
                                      <m:t>4</m:t>
                                    </m:r>
                                  </m:sub>
                                </m:sSub>
                                <m:r>
                                  <a:rPr lang="en-US" sz="1400" kern="100">
                                    <a:effectLst/>
                                    <a:latin typeface="Cambria Math" panose="02040503050406030204" pitchFamily="18" charset="0"/>
                                  </a:rPr>
                                  <m:t>}</m:t>
                                </m:r>
                              </m:oMath>
                            </m:oMathPara>
                          </a14:m>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40000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40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20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dirty="0">
                              <a:effectLst/>
                            </a:rPr>
                            <a:t>200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extLst>
                      <a:ext uri="{0D108BD9-81ED-4DB2-BD59-A6C34878D82A}">
                        <a16:rowId xmlns:a16="http://schemas.microsoft.com/office/drawing/2014/main" val="1133998537"/>
                      </a:ext>
                    </a:extLst>
                  </a:tr>
                </a:tbl>
              </a:graphicData>
            </a:graphic>
          </p:graphicFrame>
        </mc:Choice>
        <mc:Fallback xmlns="">
          <p:graphicFrame>
            <p:nvGraphicFramePr>
              <p:cNvPr id="4" name="表格 3">
                <a:extLst>
                  <a:ext uri="{FF2B5EF4-FFF2-40B4-BE49-F238E27FC236}">
                    <a16:creationId xmlns:a16="http://schemas.microsoft.com/office/drawing/2014/main" xmlns:a14="http://schemas.microsoft.com/office/drawing/2010/main" xmlns="" id="{6E685EEF-E3AB-6D32-DC2B-351BAA468CDF}"/>
                  </a:ext>
                </a:extLst>
              </p:cNvPr>
              <p:cNvGraphicFramePr>
                <a:graphicFrameLocks noGrp="1"/>
              </p:cNvGraphicFramePr>
              <p:nvPr>
                <p:extLst>
                  <p:ext uri="{D42A27DB-BD31-4B8C-83A1-F6EECF244321}">
                    <p14:modId xmlns:p14="http://schemas.microsoft.com/office/powerpoint/2010/main" val="2048772374"/>
                  </p:ext>
                </p:extLst>
              </p:nvPr>
            </p:nvGraphicFramePr>
            <p:xfrm>
              <a:off x="1282822" y="1238730"/>
              <a:ext cx="5658380" cy="960120"/>
            </p:xfrm>
            <a:graphic>
              <a:graphicData uri="http://schemas.openxmlformats.org/drawingml/2006/table">
                <a:tbl>
                  <a:tblPr firstRow="1" firstCol="1" bandRow="1">
                    <a:tableStyleId>{5940675A-B579-460E-94D1-54222C63F5DA}</a:tableStyleId>
                  </a:tblPr>
                  <a:tblGrid>
                    <a:gridCol w="1466311">
                      <a:extLst>
                        <a:ext uri="{9D8B030D-6E8A-4147-A177-3AD203B41FA5}">
                          <a16:colId xmlns:a16="http://schemas.microsoft.com/office/drawing/2014/main" xmlns:a14="http://schemas.microsoft.com/office/drawing/2010/main" xmlns="" val="1345758552"/>
                        </a:ext>
                      </a:extLst>
                    </a:gridCol>
                    <a:gridCol w="1220596">
                      <a:extLst>
                        <a:ext uri="{9D8B030D-6E8A-4147-A177-3AD203B41FA5}">
                          <a16:colId xmlns:a16="http://schemas.microsoft.com/office/drawing/2014/main" xmlns:a14="http://schemas.microsoft.com/office/drawing/2010/main" xmlns="" val="1960843137"/>
                        </a:ext>
                      </a:extLst>
                    </a:gridCol>
                    <a:gridCol w="990491">
                      <a:extLst>
                        <a:ext uri="{9D8B030D-6E8A-4147-A177-3AD203B41FA5}">
                          <a16:colId xmlns:a16="http://schemas.microsoft.com/office/drawing/2014/main" xmlns:a14="http://schemas.microsoft.com/office/drawing/2010/main" xmlns="" val="2499997710"/>
                        </a:ext>
                      </a:extLst>
                    </a:gridCol>
                    <a:gridCol w="990491">
                      <a:extLst>
                        <a:ext uri="{9D8B030D-6E8A-4147-A177-3AD203B41FA5}">
                          <a16:colId xmlns:a16="http://schemas.microsoft.com/office/drawing/2014/main" xmlns:a14="http://schemas.microsoft.com/office/drawing/2010/main" xmlns="" val="1562057721"/>
                        </a:ext>
                      </a:extLst>
                    </a:gridCol>
                    <a:gridCol w="990491">
                      <a:extLst>
                        <a:ext uri="{9D8B030D-6E8A-4147-A177-3AD203B41FA5}">
                          <a16:colId xmlns:a16="http://schemas.microsoft.com/office/drawing/2014/main" xmlns:a14="http://schemas.microsoft.com/office/drawing/2010/main" xmlns="" val="352734028"/>
                        </a:ext>
                      </a:extLst>
                    </a:gridCol>
                  </a:tblGrid>
                  <a:tr h="320040">
                    <a:tc>
                      <a:txBody>
                        <a:bodyPr/>
                        <a:lstStyle/>
                        <a:p>
                          <a:endParaRPr lang="zh-CN"/>
                        </a:p>
                      </a:txBody>
                      <a:tcPr marL="52820" marR="52820" marT="0" marB="0" anchor="ctr">
                        <a:blipFill rotWithShape="0">
                          <a:blip r:embed="rId5"/>
                          <a:stretch>
                            <a:fillRect l="-415" t="-1887" r="-286307" b="-218868"/>
                          </a:stretch>
                        </a:blipFill>
                      </a:tcPr>
                    </a:tc>
                    <a:tc>
                      <a:txBody>
                        <a:bodyPr/>
                        <a:lstStyle/>
                        <a:p>
                          <a:endParaRPr lang="zh-CN"/>
                        </a:p>
                      </a:txBody>
                      <a:tcPr marL="52820" marR="52820" marT="0" marB="0" anchor="ctr">
                        <a:blipFill rotWithShape="0">
                          <a:blip r:embed="rId5"/>
                          <a:stretch>
                            <a:fillRect l="-121000" t="-1887" r="-245000" b="-218868"/>
                          </a:stretch>
                        </a:blipFill>
                      </a:tcPr>
                    </a:tc>
                    <a:tc>
                      <a:txBody>
                        <a:bodyPr/>
                        <a:lstStyle/>
                        <a:p>
                          <a:endParaRPr lang="zh-CN"/>
                        </a:p>
                      </a:txBody>
                      <a:tcPr marL="52820" marR="52820" marT="0" marB="0" anchor="ctr">
                        <a:blipFill rotWithShape="0">
                          <a:blip r:embed="rId5"/>
                          <a:stretch>
                            <a:fillRect l="-271166" t="-1887" r="-200613" b="-218868"/>
                          </a:stretch>
                        </a:blipFill>
                      </a:tcPr>
                    </a:tc>
                    <a:tc>
                      <a:txBody>
                        <a:bodyPr/>
                        <a:lstStyle/>
                        <a:p>
                          <a:endParaRPr lang="zh-CN"/>
                        </a:p>
                      </a:txBody>
                      <a:tcPr marL="52820" marR="52820" marT="0" marB="0" anchor="ctr">
                        <a:blipFill rotWithShape="0">
                          <a:blip r:embed="rId5"/>
                          <a:stretch>
                            <a:fillRect l="-373457" t="-1887" r="-101852" b="-218868"/>
                          </a:stretch>
                        </a:blipFill>
                      </a:tcPr>
                    </a:tc>
                    <a:tc>
                      <a:txBody>
                        <a:bodyPr/>
                        <a:lstStyle/>
                        <a:p>
                          <a:endParaRPr lang="zh-CN"/>
                        </a:p>
                      </a:txBody>
                      <a:tcPr marL="52820" marR="52820" marT="0" marB="0" anchor="ctr">
                        <a:blipFill rotWithShape="0">
                          <a:blip r:embed="rId5"/>
                          <a:stretch>
                            <a:fillRect l="-470552" t="-1887" r="-1227" b="-218868"/>
                          </a:stretch>
                        </a:blipFill>
                      </a:tcPr>
                    </a:tc>
                    <a:extLst>
                      <a:ext uri="{0D108BD9-81ED-4DB2-BD59-A6C34878D82A}">
                        <a16:rowId xmlns:a16="http://schemas.microsoft.com/office/drawing/2014/main" xmlns:a14="http://schemas.microsoft.com/office/drawing/2010/main" xmlns="" val="3245499765"/>
                      </a:ext>
                    </a:extLst>
                  </a:tr>
                  <a:tr h="320040">
                    <a:tc>
                      <a:txBody>
                        <a:bodyPr/>
                        <a:lstStyle/>
                        <a:p>
                          <a:endParaRPr lang="zh-CN"/>
                        </a:p>
                      </a:txBody>
                      <a:tcPr marL="52820" marR="52820" marT="0" marB="0" anchor="ctr">
                        <a:blipFill rotWithShape="0">
                          <a:blip r:embed="rId5"/>
                          <a:stretch>
                            <a:fillRect l="-415" t="-103846" r="-286307" b="-123077"/>
                          </a:stretch>
                        </a:blipFill>
                      </a:tcPr>
                    </a:tc>
                    <a:tc>
                      <a:txBody>
                        <a:bodyPr/>
                        <a:lstStyle/>
                        <a:p>
                          <a:pPr indent="127000" algn="ctr">
                            <a:lnSpc>
                              <a:spcPct val="150000"/>
                            </a:lnSpc>
                          </a:pPr>
                          <a:r>
                            <a:rPr lang="en-US" sz="1400" kern="100">
                              <a:effectLst/>
                            </a:rPr>
                            <a:t>200000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40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20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dirty="0">
                              <a:effectLst/>
                            </a:rPr>
                            <a:t>200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extLst>
                      <a:ext uri="{0D108BD9-81ED-4DB2-BD59-A6C34878D82A}">
                        <a16:rowId xmlns:a16="http://schemas.microsoft.com/office/drawing/2014/main" xmlns:a14="http://schemas.microsoft.com/office/drawing/2010/main" xmlns="" val="34129824"/>
                      </a:ext>
                    </a:extLst>
                  </a:tr>
                  <a:tr h="320040">
                    <a:tc>
                      <a:txBody>
                        <a:bodyPr/>
                        <a:lstStyle/>
                        <a:p>
                          <a:endParaRPr lang="zh-CN"/>
                        </a:p>
                      </a:txBody>
                      <a:tcPr marL="52820" marR="52820" marT="0" marB="0" anchor="ctr">
                        <a:blipFill rotWithShape="0">
                          <a:blip r:embed="rId5"/>
                          <a:stretch>
                            <a:fillRect l="-415" t="-200000" r="-286307" b="-20755"/>
                          </a:stretch>
                        </a:blipFill>
                      </a:tcPr>
                    </a:tc>
                    <a:tc>
                      <a:txBody>
                        <a:bodyPr/>
                        <a:lstStyle/>
                        <a:p>
                          <a:pPr indent="127000" algn="ctr">
                            <a:lnSpc>
                              <a:spcPct val="150000"/>
                            </a:lnSpc>
                          </a:pPr>
                          <a:r>
                            <a:rPr lang="en-US" sz="1400" kern="100">
                              <a:effectLst/>
                            </a:rPr>
                            <a:t>40000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40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a:effectLst/>
                            </a:rPr>
                            <a:t>20</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tc>
                      <a:txBody>
                        <a:bodyPr/>
                        <a:lstStyle/>
                        <a:p>
                          <a:pPr indent="127000" algn="ctr">
                            <a:lnSpc>
                              <a:spcPct val="150000"/>
                            </a:lnSpc>
                          </a:pPr>
                          <a:r>
                            <a:rPr lang="en-US" sz="1400" kern="100" dirty="0">
                              <a:effectLst/>
                            </a:rPr>
                            <a:t>200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2820" marR="52820" marT="0" marB="0" anchor="ctr"/>
                    </a:tc>
                    <a:extLst>
                      <a:ext uri="{0D108BD9-81ED-4DB2-BD59-A6C34878D82A}">
                        <a16:rowId xmlns:a16="http://schemas.microsoft.com/office/drawing/2014/main" xmlns:a14="http://schemas.microsoft.com/office/drawing/2010/main" xmlns="" val="1133998537"/>
                      </a:ext>
                    </a:extLst>
                  </a:tr>
                </a:tbl>
              </a:graphicData>
            </a:graphic>
          </p:graphicFrame>
        </mc:Fallback>
      </mc:AlternateContent>
    </p:spTree>
    <p:extLst>
      <p:ext uri="{BB962C8B-B14F-4D97-AF65-F5344CB8AC3E}">
        <p14:creationId xmlns:p14="http://schemas.microsoft.com/office/powerpoint/2010/main" val="129844828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E9A4D16-F8F6-F3D0-6342-6FA7939BABD5}"/>
              </a:ext>
            </a:extLst>
          </p:cNvPr>
          <p:cNvSpPr>
            <a:spLocks noGrp="1"/>
          </p:cNvSpPr>
          <p:nvPr>
            <p:ph type="sldNum" sz="quarter" idx="10"/>
          </p:nvPr>
        </p:nvSpPr>
        <p:spPr/>
        <p:txBody>
          <a:bodyPr/>
          <a:lstStyle/>
          <a:p>
            <a:fld id="{87BBDC00-B9E2-4EFD-9306-2934E87247C6}" type="slidenum">
              <a:rPr lang="zh-CN" altLang="en-US" smtClean="0"/>
              <a:pPr/>
              <a:t>116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连接</a:t>
            </a:r>
            <a:r>
              <a:rPr lang="zh-CN" altLang="en-US" dirty="0"/>
              <a:t>顺序选择算法</a:t>
            </a:r>
            <a:endParaRPr kumimoji="1" lang="zh-CN" altLang="en-US" dirty="0"/>
          </a:p>
        </p:txBody>
      </p:sp>
      <p:sp>
        <p:nvSpPr>
          <p:cNvPr id="5" name="页脚占位符 4">
            <a:extLst>
              <a:ext uri="{FF2B5EF4-FFF2-40B4-BE49-F238E27FC236}">
                <a16:creationId xmlns:a16="http://schemas.microsoft.com/office/drawing/2014/main" id="{328FA991-B7D5-DD11-09C4-DA52A951BA4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8" name="内容占位符 2">
            <a:extLst>
              <a:ext uri="{FF2B5EF4-FFF2-40B4-BE49-F238E27FC236}">
                <a16:creationId xmlns:a16="http://schemas.microsoft.com/office/drawing/2014/main" id="{FE29B974-B9B4-45A9-BC38-C97B6B9656D8}"/>
              </a:ext>
            </a:extLst>
          </p:cNvPr>
          <p:cNvSpPr txBox="1">
            <a:spLocks/>
          </p:cNvSpPr>
          <p:nvPr/>
        </p:nvSpPr>
        <p:spPr bwMode="auto">
          <a:xfrm>
            <a:off x="4292674" y="1999851"/>
            <a:ext cx="3606651" cy="3013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400" b="0">
                <a:solidFill>
                  <a:schemeClr val="tx1"/>
                </a:solidFill>
                <a:effectLst/>
                <a:latin typeface="+mj-ea"/>
                <a:ea typeface="+mj-ea"/>
                <a:cs typeface="Arial"/>
              </a:defRPr>
            </a:lvl1pPr>
            <a:lvl2pPr marL="685817" indent="-263776" algn="l" rtl="0" eaLnBrk="1" fontAlgn="base" hangingPunct="1">
              <a:spcBef>
                <a:spcPct val="20000"/>
              </a:spcBef>
              <a:spcAft>
                <a:spcPct val="0"/>
              </a:spcAft>
              <a:buChar char="–"/>
              <a:defRPr kumimoji="1" sz="2000" b="0">
                <a:solidFill>
                  <a:schemeClr val="tx1"/>
                </a:solidFill>
                <a:effectLst/>
                <a:latin typeface="+mj-ea"/>
                <a:ea typeface="+mj-ea"/>
                <a:cs typeface="Arial"/>
              </a:defRPr>
            </a:lvl2pPr>
            <a:lvl3pPr marL="1055103" indent="-211021" algn="l" rtl="0" eaLnBrk="1" fontAlgn="base" hangingPunct="1">
              <a:spcBef>
                <a:spcPct val="20000"/>
              </a:spcBef>
              <a:spcAft>
                <a:spcPct val="0"/>
              </a:spcAft>
              <a:buChar char="•"/>
              <a:defRPr kumimoji="1" sz="1800" b="0">
                <a:solidFill>
                  <a:schemeClr val="tx1"/>
                </a:solidFill>
                <a:effectLst/>
                <a:latin typeface="+mj-ea"/>
                <a:ea typeface="+mj-ea"/>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514350" indent="-514350">
              <a:lnSpc>
                <a:spcPct val="150000"/>
              </a:lnSpc>
              <a:buFont typeface="+mj-ea"/>
              <a:buAutoNum type="circleNumDbPlain"/>
            </a:pPr>
            <a:r>
              <a:rPr lang="zh-CN" altLang="en-US" sz="2800" kern="0" dirty="0"/>
              <a:t>动态规划算法</a:t>
            </a:r>
            <a:endParaRPr lang="en-US" altLang="zh-CN" sz="2800" kern="0" dirty="0"/>
          </a:p>
          <a:p>
            <a:pPr marL="514350" indent="-514350">
              <a:lnSpc>
                <a:spcPct val="150000"/>
              </a:lnSpc>
              <a:buFont typeface="+mj-ea"/>
              <a:buAutoNum type="circleNumDbPlain"/>
            </a:pPr>
            <a:r>
              <a:rPr lang="zh-CN" altLang="en-US" sz="2800" kern="0" dirty="0"/>
              <a:t>贪心算法</a:t>
            </a:r>
            <a:endParaRPr lang="en-US" altLang="zh-CN" sz="2800" kern="0" dirty="0"/>
          </a:p>
          <a:p>
            <a:pPr marL="514350" indent="-514350">
              <a:lnSpc>
                <a:spcPct val="150000"/>
              </a:lnSpc>
              <a:buFont typeface="+mj-ea"/>
              <a:buAutoNum type="circleNumDbPlain"/>
            </a:pPr>
            <a:r>
              <a:rPr lang="zh-CN" altLang="en-US" sz="2800" b="1" kern="0" dirty="0">
                <a:solidFill>
                  <a:srgbClr val="701988"/>
                </a:solidFill>
              </a:rPr>
              <a:t>遗传算法</a:t>
            </a:r>
            <a:endParaRPr lang="zh-CN" altLang="zh-CN" sz="2800" b="1" kern="0" dirty="0">
              <a:solidFill>
                <a:srgbClr val="701988"/>
              </a:solidFill>
            </a:endParaRPr>
          </a:p>
          <a:p>
            <a:pPr marL="0" indent="0">
              <a:lnSpc>
                <a:spcPct val="150000"/>
              </a:lnSpc>
              <a:buFont typeface="Wingdings" charset="2"/>
              <a:buNone/>
            </a:pPr>
            <a:r>
              <a:rPr lang="zh-CN" altLang="zh-CN" sz="2800" b="1" kern="0" dirty="0"/>
              <a:t> </a:t>
            </a:r>
            <a:endParaRPr lang="zh-CN" altLang="en-US" sz="2800" b="1" kern="0" dirty="0"/>
          </a:p>
        </p:txBody>
      </p:sp>
    </p:spTree>
    <p:extLst>
      <p:ext uri="{BB962C8B-B14F-4D97-AF65-F5344CB8AC3E}">
        <p14:creationId xmlns:p14="http://schemas.microsoft.com/office/powerpoint/2010/main" val="242516759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00D3DBD-758E-FBBC-AE03-9EB14E6FAF94}"/>
              </a:ext>
            </a:extLst>
          </p:cNvPr>
          <p:cNvSpPr>
            <a:spLocks noGrp="1"/>
          </p:cNvSpPr>
          <p:nvPr>
            <p:ph type="sldNum" sz="quarter" idx="10"/>
          </p:nvPr>
        </p:nvSpPr>
        <p:spPr/>
        <p:txBody>
          <a:bodyPr/>
          <a:lstStyle/>
          <a:p>
            <a:fld id="{87BBDC00-B9E2-4EFD-9306-2934E87247C6}" type="slidenum">
              <a:rPr lang="zh-CN" altLang="en-US" smtClean="0"/>
              <a:pPr/>
              <a:t>117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遗传</a:t>
            </a:r>
            <a:r>
              <a:rPr kumimoji="1" lang="zh-CN" altLang="en-US" dirty="0"/>
              <a:t>算法</a:t>
            </a:r>
          </a:p>
        </p:txBody>
      </p:sp>
      <p:sp>
        <p:nvSpPr>
          <p:cNvPr id="4" name="页脚占位符 3">
            <a:extLst>
              <a:ext uri="{FF2B5EF4-FFF2-40B4-BE49-F238E27FC236}">
                <a16:creationId xmlns:a16="http://schemas.microsoft.com/office/drawing/2014/main" id="{B29B9B5F-DE4F-6C24-D3C9-2E84814B0B6F}"/>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456894"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dirty="0">
                <a:latin typeface="+mj-ea"/>
                <a:ea typeface="+mj-ea"/>
              </a:rPr>
              <a:t>一种</a:t>
            </a:r>
            <a:r>
              <a:rPr lang="zh-CN" altLang="en-US" sz="2400" b="1" dirty="0">
                <a:solidFill>
                  <a:srgbClr val="701988"/>
                </a:solidFill>
                <a:latin typeface="+mj-ea"/>
                <a:ea typeface="+mj-ea"/>
              </a:rPr>
              <a:t>启发式</a:t>
            </a:r>
            <a:r>
              <a:rPr lang="zh-CN" altLang="en-US" sz="2400" b="1" dirty="0">
                <a:latin typeface="+mj-ea"/>
                <a:ea typeface="+mj-ea"/>
              </a:rPr>
              <a:t>的优化方法</a:t>
            </a:r>
            <a:endParaRPr lang="en-US" altLang="zh-CN" sz="2400" b="1" dirty="0">
              <a:latin typeface="+mj-ea"/>
              <a:ea typeface="+mj-ea"/>
            </a:endParaRPr>
          </a:p>
          <a:p>
            <a:pPr>
              <a:lnSpc>
                <a:spcPct val="150000"/>
              </a:lnSpc>
              <a:buFont typeface="Wingdings" panose="05000000000000000000" pitchFamily="2" charset="2"/>
              <a:buChar char="Ø"/>
            </a:pPr>
            <a:r>
              <a:rPr lang="zh-CN" altLang="zh-CN" sz="2400" b="1" dirty="0">
                <a:latin typeface="+mj-ea"/>
                <a:ea typeface="+mj-ea"/>
              </a:rPr>
              <a:t>核心思想：</a:t>
            </a:r>
            <a:r>
              <a:rPr lang="zh-CN" altLang="en-US" sz="2400" b="1" dirty="0">
                <a:latin typeface="+mj-ea"/>
                <a:ea typeface="+mj-ea"/>
              </a:rPr>
              <a:t>“</a:t>
            </a:r>
            <a:r>
              <a:rPr lang="zh-CN" altLang="en-US" sz="2400" b="1" dirty="0">
                <a:solidFill>
                  <a:srgbClr val="701988"/>
                </a:solidFill>
                <a:latin typeface="+mj-ea"/>
                <a:ea typeface="+mj-ea"/>
              </a:rPr>
              <a:t>自然选择</a:t>
            </a:r>
            <a:r>
              <a:rPr lang="zh-CN" altLang="en-US" sz="2400" b="1" dirty="0">
                <a:latin typeface="+mj-ea"/>
                <a:ea typeface="+mj-ea"/>
              </a:rPr>
              <a:t>”，淘汰“适应程度”低的“个体”</a:t>
            </a:r>
            <a:endParaRPr lang="en-US" altLang="zh-CN" sz="2400" b="1" dirty="0">
              <a:latin typeface="+mj-ea"/>
              <a:ea typeface="+mj-ea"/>
            </a:endParaRPr>
          </a:p>
          <a:p>
            <a:pPr>
              <a:lnSpc>
                <a:spcPct val="150000"/>
              </a:lnSpc>
              <a:buFont typeface="Wingdings" panose="05000000000000000000" pitchFamily="2" charset="2"/>
              <a:buChar char="Ø"/>
            </a:pPr>
            <a:r>
              <a:rPr lang="zh-CN" altLang="en-US" sz="2400" b="1" dirty="0">
                <a:latin typeface="+mj-ea"/>
                <a:ea typeface="+mj-ea"/>
              </a:rPr>
              <a:t>个体：不同的连接顺序</a:t>
            </a:r>
            <a:endParaRPr lang="en-US" altLang="zh-CN" sz="2400" b="1" dirty="0">
              <a:latin typeface="+mj-ea"/>
              <a:ea typeface="+mj-ea"/>
            </a:endParaRPr>
          </a:p>
          <a:p>
            <a:pPr>
              <a:lnSpc>
                <a:spcPct val="150000"/>
              </a:lnSpc>
              <a:buFont typeface="Wingdings" panose="05000000000000000000" pitchFamily="2" charset="2"/>
              <a:buChar char="Ø"/>
            </a:pPr>
            <a:r>
              <a:rPr lang="zh-CN" altLang="en-US" sz="2400" b="1" dirty="0">
                <a:latin typeface="+mj-ea"/>
                <a:ea typeface="+mj-ea"/>
              </a:rPr>
              <a:t>适应程度：连接顺序的代价</a:t>
            </a:r>
            <a:endParaRPr lang="en-US" altLang="zh-CN" sz="2400" b="1" kern="0" dirty="0">
              <a:latin typeface="+mj-ea"/>
              <a:ea typeface="+mj-ea"/>
            </a:endParaRPr>
          </a:p>
          <a:p>
            <a:pPr>
              <a:lnSpc>
                <a:spcPct val="150000"/>
              </a:lnSpc>
              <a:buFont typeface="Wingdings" panose="05000000000000000000" pitchFamily="2" charset="2"/>
              <a:buChar char="Ø"/>
            </a:pPr>
            <a:r>
              <a:rPr lang="zh-CN" altLang="en-US" sz="2400" b="1" kern="0" dirty="0">
                <a:latin typeface="+mj-ea"/>
                <a:ea typeface="+mj-ea"/>
              </a:rPr>
              <a:t>优点：不受关系数的限制。易于跳出局部最优。空间开销较小</a:t>
            </a:r>
            <a:endParaRPr lang="en-US" altLang="zh-CN" sz="2400" b="1" kern="0" dirty="0">
              <a:latin typeface="+mj-ea"/>
              <a:ea typeface="+mj-ea"/>
            </a:endParaRPr>
          </a:p>
          <a:p>
            <a:pPr>
              <a:lnSpc>
                <a:spcPct val="150000"/>
              </a:lnSpc>
              <a:buFont typeface="Wingdings" panose="05000000000000000000" pitchFamily="2" charset="2"/>
              <a:buChar char="Ø"/>
            </a:pPr>
            <a:r>
              <a:rPr lang="zh-CN" altLang="en-US" sz="2400" b="1" kern="0" dirty="0">
                <a:latin typeface="+mj-ea"/>
                <a:ea typeface="+mj-ea"/>
              </a:rPr>
              <a:t>缺点：可解释性较差。作为随机化算法，优化结果具有不确定性。</a:t>
            </a:r>
            <a:endParaRPr lang="en-US" altLang="zh-CN" sz="2400" b="1" kern="0" dirty="0">
              <a:latin typeface="+mj-ea"/>
              <a:ea typeface="+mj-ea"/>
            </a:endParaRPr>
          </a:p>
          <a:p>
            <a:pPr marL="422041" lvl="1" indent="0">
              <a:lnSpc>
                <a:spcPct val="150000"/>
              </a:lnSpc>
              <a:buNone/>
            </a:pPr>
            <a:endParaRPr lang="zh-CN" altLang="zh-CN" sz="2400" b="1" dirty="0">
              <a:latin typeface="+mj-ea"/>
              <a:ea typeface="+mj-ea"/>
            </a:endParaRPr>
          </a:p>
          <a:p>
            <a:pPr lvl="1">
              <a:lnSpc>
                <a:spcPct val="150000"/>
              </a:lnSpc>
              <a:buFont typeface="Wingdings" pitchFamily="2" charset="2"/>
              <a:buChar char="Ø"/>
            </a:pPr>
            <a:endParaRPr lang="en-US" altLang="zh-CN" sz="2400" b="1" dirty="0">
              <a:latin typeface="+mj-ea"/>
              <a:ea typeface="+mj-ea"/>
            </a:endParaRPr>
          </a:p>
          <a:p>
            <a:pPr lvl="1">
              <a:lnSpc>
                <a:spcPct val="150000"/>
              </a:lnSpc>
              <a:buFont typeface="Wingdings" pitchFamily="2" charset="2"/>
              <a:buChar char="Ø"/>
            </a:pPr>
            <a:endParaRPr lang="en-US" altLang="zh-CN" sz="2400" b="1" kern="0" dirty="0">
              <a:latin typeface="+mj-ea"/>
              <a:ea typeface="+mj-ea"/>
            </a:endParaRPr>
          </a:p>
          <a:p>
            <a:pPr>
              <a:lnSpc>
                <a:spcPct val="150000"/>
              </a:lnSpc>
              <a:buFont typeface="Wingdings" pitchFamily="2" charset="2"/>
              <a:buChar char="p"/>
            </a:pPr>
            <a:endParaRPr lang="en-US" altLang="zh-CN" sz="2400" b="1" kern="0" dirty="0">
              <a:latin typeface="+mj-ea"/>
              <a:ea typeface="+mj-ea"/>
            </a:endParaRPr>
          </a:p>
          <a:p>
            <a:pPr lvl="1">
              <a:lnSpc>
                <a:spcPct val="150000"/>
              </a:lnSpc>
              <a:buFont typeface="Wingdings" pitchFamily="2" charset="2"/>
              <a:buChar char="p"/>
            </a:pPr>
            <a:endParaRPr lang="en-US" altLang="zh-CN" sz="2400" b="1" kern="0" dirty="0">
              <a:latin typeface="+mj-ea"/>
              <a:ea typeface="+mj-ea"/>
            </a:endParaRPr>
          </a:p>
          <a:p>
            <a:pPr marL="0" indent="0">
              <a:lnSpc>
                <a:spcPct val="150000"/>
              </a:lnSpc>
              <a:buFont typeface="Wingdings" charset="2"/>
              <a:buNone/>
            </a:pPr>
            <a:r>
              <a:rPr lang="zh-CN" altLang="zh-CN" sz="2400" b="1" kern="0" dirty="0">
                <a:latin typeface="+mj-ea"/>
                <a:ea typeface="+mj-ea"/>
              </a:rPr>
              <a:t> </a:t>
            </a:r>
            <a:endParaRPr lang="zh-CN" altLang="en-US" sz="2400" b="1" kern="0" dirty="0">
              <a:latin typeface="+mj-ea"/>
              <a:ea typeface="+mj-ea"/>
            </a:endParaRPr>
          </a:p>
        </p:txBody>
      </p:sp>
    </p:spTree>
    <p:extLst>
      <p:ext uri="{BB962C8B-B14F-4D97-AF65-F5344CB8AC3E}">
        <p14:creationId xmlns:p14="http://schemas.microsoft.com/office/powerpoint/2010/main" val="276618204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00D3DBD-758E-FBBC-AE03-9EB14E6FAF94}"/>
              </a:ext>
            </a:extLst>
          </p:cNvPr>
          <p:cNvSpPr>
            <a:spLocks noGrp="1"/>
          </p:cNvSpPr>
          <p:nvPr>
            <p:ph type="sldNum" sz="quarter" idx="10"/>
          </p:nvPr>
        </p:nvSpPr>
        <p:spPr/>
        <p:txBody>
          <a:bodyPr/>
          <a:lstStyle/>
          <a:p>
            <a:fld id="{87BBDC00-B9E2-4EFD-9306-2934E87247C6}" type="slidenum">
              <a:rPr lang="zh-CN" altLang="en-US" smtClean="0"/>
              <a:pPr/>
              <a:t>118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遗传</a:t>
            </a:r>
            <a:r>
              <a:rPr kumimoji="1" lang="zh-CN" altLang="en-US" dirty="0"/>
              <a:t>算法</a:t>
            </a:r>
          </a:p>
        </p:txBody>
      </p:sp>
      <p:sp>
        <p:nvSpPr>
          <p:cNvPr id="4" name="页脚占位符 3">
            <a:extLst>
              <a:ext uri="{FF2B5EF4-FFF2-40B4-BE49-F238E27FC236}">
                <a16:creationId xmlns:a16="http://schemas.microsoft.com/office/drawing/2014/main" id="{152ECE2A-A07E-A468-6064-BBA13B93747D}"/>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0294409"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en-US" sz="2400" b="1" kern="0" dirty="0">
                <a:latin typeface="+mj-ea"/>
                <a:ea typeface="+mj-ea"/>
              </a:rPr>
              <a:t>交叉：对连接顺序进行组合替换。也就是</a:t>
            </a:r>
            <a:r>
              <a:rPr lang="zh-CN" altLang="en-US" sz="2400" b="1" kern="0" dirty="0">
                <a:solidFill>
                  <a:srgbClr val="701988"/>
                </a:solidFill>
                <a:latin typeface="+mj-ea"/>
                <a:ea typeface="+mj-ea"/>
              </a:rPr>
              <a:t>由已有的两个连接顺序合并为一个新的连接顺序</a:t>
            </a:r>
            <a:r>
              <a:rPr lang="zh-CN" altLang="en-US" sz="2400" b="1" kern="0" dirty="0">
                <a:latin typeface="+mj-ea"/>
                <a:ea typeface="+mj-ea"/>
              </a:rPr>
              <a:t>，其中每个连接顺序只有一部分被保留在合并后的结果中。</a:t>
            </a:r>
            <a:endParaRPr lang="en-US" altLang="zh-CN" sz="2400" b="1" kern="0" dirty="0">
              <a:latin typeface="+mj-ea"/>
              <a:ea typeface="+mj-ea"/>
            </a:endParaRPr>
          </a:p>
          <a:p>
            <a:pPr>
              <a:buFont typeface="Wingdings" panose="05000000000000000000" pitchFamily="2" charset="2"/>
              <a:buChar char="Ø"/>
            </a:pPr>
            <a:endParaRPr lang="en-US" altLang="zh-CN" sz="2400" b="1" kern="0" dirty="0">
              <a:latin typeface="+mj-ea"/>
              <a:ea typeface="+mj-ea"/>
            </a:endParaRPr>
          </a:p>
          <a:p>
            <a:pPr>
              <a:buFont typeface="Wingdings" panose="05000000000000000000" pitchFamily="2" charset="2"/>
              <a:buChar char="Ø"/>
            </a:pPr>
            <a:r>
              <a:rPr lang="zh-CN" altLang="en-US" sz="2400" b="1" kern="0" dirty="0">
                <a:latin typeface="+mj-ea"/>
                <a:ea typeface="+mj-ea"/>
              </a:rPr>
              <a:t>变异：对某个顺序自身进行调整（例如替换物理算子），</a:t>
            </a:r>
            <a:r>
              <a:rPr lang="zh-CN" altLang="en-US" sz="2400" b="1" kern="0" dirty="0">
                <a:solidFill>
                  <a:srgbClr val="701988"/>
                </a:solidFill>
                <a:latin typeface="+mj-ea"/>
                <a:ea typeface="+mj-ea"/>
              </a:rPr>
              <a:t>得到一个新的连接顺序。</a:t>
            </a:r>
            <a:endParaRPr lang="en-US" altLang="zh-CN" sz="2400" b="1" kern="0" dirty="0">
              <a:solidFill>
                <a:srgbClr val="701988"/>
              </a:solidFill>
              <a:latin typeface="+mj-ea"/>
              <a:ea typeface="+mj-ea"/>
            </a:endParaRPr>
          </a:p>
          <a:p>
            <a:pPr lvl="1">
              <a:buFont typeface="Wingdings" panose="05000000000000000000" pitchFamily="2" charset="2"/>
              <a:buChar char="Ø"/>
            </a:pPr>
            <a:endParaRPr lang="zh-CN" altLang="zh-CN" sz="2400" b="1" dirty="0">
              <a:latin typeface="+mj-ea"/>
              <a:ea typeface="+mj-ea"/>
            </a:endParaRPr>
          </a:p>
          <a:p>
            <a:pPr>
              <a:buFont typeface="Wingdings" pitchFamily="2" charset="2"/>
              <a:buChar char="Ø"/>
            </a:pPr>
            <a:r>
              <a:rPr lang="zh-CN" altLang="en-US" sz="2400" b="1" kern="0" dirty="0">
                <a:latin typeface="+mj-ea"/>
                <a:ea typeface="+mj-ea"/>
              </a:rPr>
              <a:t>选择：代价较低的顺序，直接遗传到下一代。</a:t>
            </a:r>
            <a:endParaRPr lang="en-US" altLang="zh-CN" sz="2400" b="1" kern="0" dirty="0">
              <a:latin typeface="+mj-ea"/>
              <a:ea typeface="+mj-ea"/>
            </a:endParaRPr>
          </a:p>
          <a:p>
            <a:pPr>
              <a:buFont typeface="Wingdings" pitchFamily="2" charset="2"/>
              <a:buChar char="Ø"/>
            </a:pPr>
            <a:endParaRPr lang="en-US" altLang="zh-CN" sz="2400" b="1" dirty="0">
              <a:latin typeface="+mj-ea"/>
              <a:ea typeface="+mj-ea"/>
            </a:endParaRPr>
          </a:p>
          <a:p>
            <a:pPr marL="422041" lvl="1" indent="0">
              <a:buNone/>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400" b="1" kern="0" dirty="0">
                <a:latin typeface="+mj-ea"/>
                <a:ea typeface="+mj-ea"/>
              </a:rPr>
              <a:t> </a:t>
            </a:r>
            <a:endParaRPr lang="zh-CN" altLang="en-US" sz="2400" b="1" kern="0" dirty="0">
              <a:latin typeface="+mj-ea"/>
              <a:ea typeface="+mj-ea"/>
            </a:endParaRPr>
          </a:p>
        </p:txBody>
      </p:sp>
    </p:spTree>
    <p:extLst>
      <p:ext uri="{BB962C8B-B14F-4D97-AF65-F5344CB8AC3E}">
        <p14:creationId xmlns:p14="http://schemas.microsoft.com/office/powerpoint/2010/main" val="269399638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0FF52922-3D42-4412-80D4-E8608AC407DF}"/>
              </a:ext>
            </a:extLst>
          </p:cNvPr>
          <p:cNvSpPr/>
          <p:nvPr/>
        </p:nvSpPr>
        <p:spPr>
          <a:xfrm>
            <a:off x="3125971" y="1065940"/>
            <a:ext cx="5943601" cy="316715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pic>
        <p:nvPicPr>
          <p:cNvPr id="2" name="图片 1">
            <a:extLst>
              <a:ext uri="{FF2B5EF4-FFF2-40B4-BE49-F238E27FC236}">
                <a16:creationId xmlns:a16="http://schemas.microsoft.com/office/drawing/2014/main" id="{1E8C386C-DCDA-A7CC-49E6-2198C2439655}"/>
              </a:ext>
            </a:extLst>
          </p:cNvPr>
          <p:cNvPicPr>
            <a:picLocks noChangeAspect="1"/>
          </p:cNvPicPr>
          <p:nvPr/>
        </p:nvPicPr>
        <p:blipFill>
          <a:blip r:embed="rId3"/>
          <a:srcRect/>
          <a:stretch/>
        </p:blipFill>
        <p:spPr>
          <a:xfrm>
            <a:off x="3384677" y="1140235"/>
            <a:ext cx="5264642" cy="3018566"/>
          </a:xfrm>
          <a:prstGeom prst="rect">
            <a:avLst/>
          </a:prstGeom>
        </p:spPr>
      </p:pic>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879799" y="4247382"/>
            <a:ext cx="11456894" cy="161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200" dirty="0">
                <a:latin typeface="+mj-ea"/>
                <a:ea typeface="+mj-ea"/>
              </a:rPr>
              <a:t>初始化：随机选择一批计划（例如</a:t>
            </a:r>
            <a:r>
              <a:rPr lang="en-US" altLang="zh-CN" sz="2200" dirty="0">
                <a:latin typeface="+mj-ea"/>
                <a:ea typeface="+mj-ea"/>
              </a:rPr>
              <a:t>1000</a:t>
            </a:r>
            <a:r>
              <a:rPr lang="zh-CN" altLang="en-US" sz="2200" dirty="0">
                <a:latin typeface="+mj-ea"/>
                <a:ea typeface="+mj-ea"/>
              </a:rPr>
              <a:t>）</a:t>
            </a:r>
            <a:endParaRPr lang="en-US" altLang="zh-CN" sz="2200" dirty="0">
              <a:latin typeface="+mj-ea"/>
              <a:ea typeface="+mj-ea"/>
            </a:endParaRPr>
          </a:p>
          <a:p>
            <a:pPr>
              <a:lnSpc>
                <a:spcPct val="150000"/>
              </a:lnSpc>
              <a:buFont typeface="Wingdings" panose="05000000000000000000" pitchFamily="2" charset="2"/>
              <a:buChar char="Ø"/>
            </a:pPr>
            <a:r>
              <a:rPr lang="zh-CN" altLang="en-US" sz="2200" dirty="0">
                <a:latin typeface="+mj-ea"/>
                <a:ea typeface="+mj-ea"/>
              </a:rPr>
              <a:t>第一轮：计划</a:t>
            </a:r>
            <a:r>
              <a:rPr lang="en-US" altLang="zh-CN" sz="2200" dirty="0">
                <a:latin typeface="+mj-ea"/>
                <a:ea typeface="+mj-ea"/>
              </a:rPr>
              <a:t>1</a:t>
            </a:r>
            <a:r>
              <a:rPr lang="zh-CN" altLang="en-US" sz="2200" dirty="0">
                <a:latin typeface="+mj-ea"/>
                <a:ea typeface="+mj-ea"/>
              </a:rPr>
              <a:t>代价最大，被淘汰</a:t>
            </a:r>
            <a:endParaRPr lang="en-US" altLang="zh-CN" sz="2200" dirty="0">
              <a:latin typeface="+mj-ea"/>
              <a:ea typeface="+mj-ea"/>
            </a:endParaRPr>
          </a:p>
          <a:p>
            <a:pPr>
              <a:lnSpc>
                <a:spcPct val="150000"/>
              </a:lnSpc>
              <a:buFont typeface="Wingdings" panose="05000000000000000000" pitchFamily="2" charset="2"/>
              <a:buChar char="Ø"/>
            </a:pPr>
            <a:r>
              <a:rPr lang="zh-CN" altLang="en-US" sz="2200" dirty="0">
                <a:latin typeface="+mj-ea"/>
                <a:ea typeface="+mj-ea"/>
              </a:rPr>
              <a:t>计划</a:t>
            </a:r>
            <a:r>
              <a:rPr lang="en-US" altLang="zh-CN" sz="2200" dirty="0">
                <a:latin typeface="+mj-ea"/>
                <a:ea typeface="+mj-ea"/>
              </a:rPr>
              <a:t>2</a:t>
            </a:r>
            <a:r>
              <a:rPr lang="zh-CN" altLang="en-US" sz="2200" dirty="0">
                <a:latin typeface="+mj-ea"/>
                <a:ea typeface="+mj-ea"/>
              </a:rPr>
              <a:t>、计划</a:t>
            </a:r>
            <a:r>
              <a:rPr lang="en-US" altLang="zh-CN" sz="2200" dirty="0">
                <a:latin typeface="+mj-ea"/>
                <a:ea typeface="+mj-ea"/>
              </a:rPr>
              <a:t>3</a:t>
            </a:r>
            <a:r>
              <a:rPr lang="zh-CN" altLang="en-US" sz="2200" dirty="0">
                <a:latin typeface="+mj-ea"/>
                <a:ea typeface="+mj-ea"/>
              </a:rPr>
              <a:t> 变异，选择与交叉，得到第二轮候选计划</a:t>
            </a:r>
            <a:endParaRPr lang="en-US" altLang="zh-CN" sz="2200" dirty="0">
              <a:latin typeface="+mj-ea"/>
              <a:ea typeface="+mj-ea"/>
            </a:endParaRPr>
          </a:p>
          <a:p>
            <a:pPr>
              <a:lnSpc>
                <a:spcPct val="150000"/>
              </a:lnSpc>
              <a:buFont typeface="Wingdings" panose="05000000000000000000" pitchFamily="2" charset="2"/>
              <a:buChar char="Ø"/>
            </a:pPr>
            <a:r>
              <a:rPr lang="zh-CN" altLang="en-US" sz="2200" dirty="0">
                <a:latin typeface="+mj-ea"/>
                <a:ea typeface="+mj-ea"/>
              </a:rPr>
              <a:t>不断迭代以上过程，结束条件：代价不再降低；达到轮数</a:t>
            </a:r>
            <a:r>
              <a:rPr lang="zh-CN" altLang="zh-CN" sz="2200" dirty="0">
                <a:latin typeface="+mj-ea"/>
                <a:ea typeface="+mj-ea"/>
              </a:rPr>
              <a:t> </a:t>
            </a:r>
            <a:endParaRPr lang="en-US" altLang="zh-CN" sz="2200" kern="0" dirty="0">
              <a:latin typeface="+mj-ea"/>
              <a:ea typeface="+mj-ea"/>
            </a:endParaRPr>
          </a:p>
          <a:p>
            <a:pPr>
              <a:buFont typeface="Wingdings" pitchFamily="2" charset="2"/>
              <a:buChar char="p"/>
            </a:pPr>
            <a:endParaRPr lang="en-US" altLang="zh-CN" sz="2400" kern="0" dirty="0">
              <a:latin typeface="+mj-ea"/>
              <a:ea typeface="+mj-ea"/>
            </a:endParaRPr>
          </a:p>
          <a:p>
            <a:pPr marL="316531" lvl="1" indent="-316531">
              <a:buFont typeface="Wingdings" pitchFamily="2" charset="2"/>
              <a:buChar char="p"/>
            </a:pPr>
            <a:endParaRPr lang="zh-CN" altLang="zh-CN" sz="2400" dirty="0">
              <a:latin typeface="+mj-ea"/>
              <a:ea typeface="+mj-ea"/>
            </a:endParaRPr>
          </a:p>
          <a:p>
            <a:pPr lvl="1">
              <a:buFont typeface="Wingdings" pitchFamily="2" charset="2"/>
              <a:buChar char="Ø"/>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sp>
        <p:nvSpPr>
          <p:cNvPr id="4" name="灯片编号占位符 3">
            <a:extLst>
              <a:ext uri="{FF2B5EF4-FFF2-40B4-BE49-F238E27FC236}">
                <a16:creationId xmlns:a16="http://schemas.microsoft.com/office/drawing/2014/main" id="{E59098C1-1288-B422-4D6A-8AE9AFE3E03D}"/>
              </a:ext>
            </a:extLst>
          </p:cNvPr>
          <p:cNvSpPr>
            <a:spLocks noGrp="1"/>
          </p:cNvSpPr>
          <p:nvPr>
            <p:ph type="sldNum" sz="quarter" idx="10"/>
          </p:nvPr>
        </p:nvSpPr>
        <p:spPr/>
        <p:txBody>
          <a:bodyPr/>
          <a:lstStyle/>
          <a:p>
            <a:fld id="{87BBDC00-B9E2-4EFD-9306-2934E87247C6}" type="slidenum">
              <a:rPr lang="zh-CN" altLang="en-US" smtClean="0"/>
              <a:pPr/>
              <a:t>119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遗传算法示例</a:t>
            </a:r>
          </a:p>
        </p:txBody>
      </p:sp>
      <p:sp>
        <p:nvSpPr>
          <p:cNvPr id="5" name="页脚占位符 4">
            <a:extLst>
              <a:ext uri="{FF2B5EF4-FFF2-40B4-BE49-F238E27FC236}">
                <a16:creationId xmlns:a16="http://schemas.microsoft.com/office/drawing/2014/main" id="{F19C96F3-4BAC-B1FE-E4B9-6E4D2B7E5EA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146392558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4EECBC5-70BB-2646-5BD1-0A550404C156}"/>
              </a:ext>
            </a:extLst>
          </p:cNvPr>
          <p:cNvSpPr>
            <a:spLocks noGrp="1"/>
          </p:cNvSpPr>
          <p:nvPr>
            <p:ph type="sldNum" sz="quarter" idx="10"/>
          </p:nvPr>
        </p:nvSpPr>
        <p:spPr/>
        <p:txBody>
          <a:bodyPr/>
          <a:lstStyle/>
          <a:p>
            <a:fld id="{4B0D34C0-35A8-654C-9FBA-7B4E017BD630}" type="slidenum">
              <a:rPr lang="en-US" altLang="zh-CN" smtClean="0"/>
              <a:t>120</a:t>
            </a:fld>
            <a:endParaRPr kumimoji="1" lang="zh-CN" altLang="en-US"/>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页脚占位符 3">
            <a:extLst>
              <a:ext uri="{FF2B5EF4-FFF2-40B4-BE49-F238E27FC236}">
                <a16:creationId xmlns:a16="http://schemas.microsoft.com/office/drawing/2014/main" id="{68D95C5A-B11B-C35E-2F98-2AF54E74E423}"/>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8" name="Shape18">
            <a:extLst>
              <a:ext uri="{FF2B5EF4-FFF2-40B4-BE49-F238E27FC236}">
                <a16:creationId xmlns:a16="http://schemas.microsoft.com/office/drawing/2014/main" id="{480C076B-9143-46FB-A153-652CEC22680B}"/>
              </a:ext>
            </a:extLst>
          </p:cNvPr>
          <p:cNvSpPr/>
          <p:nvPr/>
        </p:nvSpPr>
        <p:spPr>
          <a:xfrm>
            <a:off x="3959598" y="1124936"/>
            <a:ext cx="4114800" cy="471623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6C1A2697-A3C9-B5CA-C6A5-095FC2CED3B8}"/>
              </a:ext>
            </a:extLst>
          </p:cNvPr>
          <p:cNvSpPr>
            <a:spLocks noGrp="1"/>
          </p:cNvSpPr>
          <p:nvPr>
            <p:ph idx="1"/>
          </p:nvPr>
        </p:nvSpPr>
        <p:spPr>
          <a:xfrm>
            <a:off x="4326097" y="1276597"/>
            <a:ext cx="3381802" cy="3551771"/>
          </a:xfrm>
        </p:spPr>
        <p:txBody>
          <a:bodyPr/>
          <a:lstStyle/>
          <a:p>
            <a:pPr marL="457200" indent="-457200">
              <a:lnSpc>
                <a:spcPct val="150000"/>
              </a:lnSpc>
              <a:buFont typeface="+mj-lt"/>
              <a:buAutoNum type="arabicPeriod"/>
            </a:pPr>
            <a:r>
              <a:rPr lang="zh-CN" altLang="en-US" dirty="0"/>
              <a:t>逻辑优化</a:t>
            </a:r>
            <a:r>
              <a:rPr lang="en-US" altLang="zh-CN" dirty="0"/>
              <a:t>(</a:t>
            </a:r>
            <a:r>
              <a:rPr lang="zh-CN" altLang="en-US" dirty="0"/>
              <a:t>查询重写</a:t>
            </a:r>
            <a:r>
              <a:rPr lang="en-US" altLang="zh-CN" dirty="0"/>
              <a:t>)</a:t>
            </a:r>
          </a:p>
          <a:p>
            <a:pPr marL="457200" indent="-457200">
              <a:lnSpc>
                <a:spcPct val="150000"/>
              </a:lnSpc>
              <a:buFont typeface="+mj-lt"/>
              <a:buAutoNum type="arabicPeriod"/>
            </a:pPr>
            <a:r>
              <a:rPr lang="zh-CN" altLang="en-US" b="1" dirty="0">
                <a:solidFill>
                  <a:srgbClr val="743481"/>
                </a:solidFill>
              </a:rPr>
              <a:t>物理优化</a:t>
            </a:r>
            <a:endParaRPr lang="en-US" altLang="zh-CN" b="1" dirty="0">
              <a:solidFill>
                <a:srgbClr val="743481"/>
              </a:solidFill>
            </a:endParaRPr>
          </a:p>
          <a:p>
            <a:pPr marL="826486" lvl="1" indent="-457200">
              <a:lnSpc>
                <a:spcPct val="150000"/>
              </a:lnSpc>
              <a:buFont typeface="Wingdings" pitchFamily="2" charset="2"/>
              <a:buChar char="l"/>
            </a:pPr>
            <a:r>
              <a:rPr lang="zh-CN" altLang="en-US" sz="2400" dirty="0"/>
              <a:t>代价估计</a:t>
            </a:r>
            <a:endParaRPr lang="en-US" altLang="zh-CN" sz="2400" dirty="0"/>
          </a:p>
          <a:p>
            <a:pPr marL="826486" lvl="1" indent="-457200">
              <a:lnSpc>
                <a:spcPct val="150000"/>
              </a:lnSpc>
              <a:buFont typeface="Wingdings" pitchFamily="2" charset="2"/>
              <a:buChar char="l"/>
            </a:pPr>
            <a:r>
              <a:rPr lang="zh-CN" altLang="en-US" sz="2400" dirty="0"/>
              <a:t>连接顺序选择</a:t>
            </a:r>
            <a:endParaRPr lang="en-US" altLang="zh-CN" sz="2400" dirty="0"/>
          </a:p>
          <a:p>
            <a:pPr marL="826486" lvl="1" indent="-457200">
              <a:lnSpc>
                <a:spcPct val="150000"/>
              </a:lnSpc>
              <a:buFont typeface="Wingdings" pitchFamily="2" charset="2"/>
              <a:buChar char="l"/>
            </a:pPr>
            <a:r>
              <a:rPr lang="zh-CN" altLang="en-US" sz="2400" b="1" dirty="0">
                <a:solidFill>
                  <a:srgbClr val="743481"/>
                </a:solidFill>
              </a:rPr>
              <a:t>物理算子选择</a:t>
            </a:r>
            <a:endParaRPr lang="en-US" altLang="zh-CN" sz="2400" b="1" dirty="0">
              <a:solidFill>
                <a:srgbClr val="743481"/>
              </a:solidFill>
            </a:endParaRPr>
          </a:p>
          <a:p>
            <a:pPr marL="457200" indent="-457200">
              <a:lnSpc>
                <a:spcPct val="150000"/>
              </a:lnSpc>
              <a:buFont typeface="+mj-lt"/>
              <a:buAutoNum type="arabicPeriod"/>
            </a:pPr>
            <a:r>
              <a:rPr lang="zh-CN" altLang="en-US" dirty="0"/>
              <a:t>优化器系统</a:t>
            </a:r>
            <a:endParaRPr lang="en-US" altLang="zh-CN" dirty="0"/>
          </a:p>
          <a:p>
            <a:pPr marL="457200" indent="-457200">
              <a:lnSpc>
                <a:spcPct val="150000"/>
              </a:lnSpc>
              <a:buFont typeface="+mj-lt"/>
              <a:buAutoNum type="arabicPeriod"/>
            </a:pPr>
            <a:r>
              <a:rPr lang="zh-CN" altLang="en-US" dirty="0"/>
              <a:t>物化视图 </a:t>
            </a:r>
          </a:p>
          <a:p>
            <a:pPr marL="514350" indent="-514350">
              <a:lnSpc>
                <a:spcPct val="150000"/>
              </a:lnSpc>
              <a:buFont typeface="+mj-lt"/>
              <a:buAutoNum type="arabicPeriod"/>
            </a:pPr>
            <a:endParaRPr lang="zh-CN" altLang="en-US" dirty="0"/>
          </a:p>
          <a:p>
            <a:pPr marL="514350" indent="-514350">
              <a:lnSpc>
                <a:spcPct val="150000"/>
              </a:lnSpc>
              <a:buFont typeface="+mj-lt"/>
              <a:buAutoNum type="arabicPeriod"/>
            </a:pPr>
            <a:endParaRPr lang="zh-CN" altLang="en-US" dirty="0"/>
          </a:p>
        </p:txBody>
      </p:sp>
    </p:spTree>
    <p:extLst>
      <p:ext uri="{BB962C8B-B14F-4D97-AF65-F5344CB8AC3E}">
        <p14:creationId xmlns:p14="http://schemas.microsoft.com/office/powerpoint/2010/main" val="20815012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1C60481-40C9-DB0E-AA4C-96D8A10028F1}"/>
              </a:ext>
            </a:extLst>
          </p:cNvPr>
          <p:cNvSpPr>
            <a:spLocks noGrp="1"/>
          </p:cNvSpPr>
          <p:nvPr>
            <p:ph type="sldNum" sz="quarter" idx="10"/>
          </p:nvPr>
        </p:nvSpPr>
        <p:spPr/>
        <p:txBody>
          <a:bodyPr/>
          <a:lstStyle/>
          <a:p>
            <a:fld id="{87BBDC00-B9E2-4EFD-9306-2934E87247C6}" type="slidenum">
              <a:rPr lang="zh-CN" altLang="en-US" smtClean="0"/>
              <a:pPr/>
              <a:t>121</a:t>
            </a:fld>
            <a:endParaRPr lang="zh-CN" altLang="en-US" dirty="0"/>
          </a:p>
        </p:txBody>
      </p:sp>
      <p:sp>
        <p:nvSpPr>
          <p:cNvPr id="3" name="标题 2">
            <a:extLst>
              <a:ext uri="{FF2B5EF4-FFF2-40B4-BE49-F238E27FC236}">
                <a16:creationId xmlns:a16="http://schemas.microsoft.com/office/drawing/2014/main" id="{6A5EA46D-697A-322E-D518-41957CCCD6A2}"/>
              </a:ext>
            </a:extLst>
          </p:cNvPr>
          <p:cNvSpPr>
            <a:spLocks noGrp="1"/>
          </p:cNvSpPr>
          <p:nvPr>
            <p:ph type="title"/>
          </p:nvPr>
        </p:nvSpPr>
        <p:spPr/>
        <p:txBody>
          <a:bodyPr/>
          <a:lstStyle/>
          <a:p>
            <a:r>
              <a:rPr kumimoji="1" lang="zh-CN" altLang="en-US" dirty="0"/>
              <a:t>动态规划</a:t>
            </a:r>
          </a:p>
        </p:txBody>
      </p:sp>
      <p:sp>
        <p:nvSpPr>
          <p:cNvPr id="4" name="内容占位符 3">
            <a:extLst>
              <a:ext uri="{FF2B5EF4-FFF2-40B4-BE49-F238E27FC236}">
                <a16:creationId xmlns:a16="http://schemas.microsoft.com/office/drawing/2014/main" id="{9B209D0E-C054-4364-55CF-C3B06543A3AE}"/>
              </a:ext>
            </a:extLst>
          </p:cNvPr>
          <p:cNvSpPr>
            <a:spLocks noGrp="1"/>
          </p:cNvSpPr>
          <p:nvPr>
            <p:ph idx="1"/>
          </p:nvPr>
        </p:nvSpPr>
        <p:spPr>
          <a:xfrm>
            <a:off x="467433" y="901348"/>
            <a:ext cx="10874188" cy="2084129"/>
          </a:xfrm>
        </p:spPr>
        <p:txBody>
          <a:bodyPr/>
          <a:lstStyle/>
          <a:p>
            <a:pPr>
              <a:lnSpc>
                <a:spcPct val="150000"/>
              </a:lnSpc>
            </a:pPr>
            <a:r>
              <a:rPr kumimoji="1" lang="zh-CN" altLang="en-US" dirty="0"/>
              <a:t>添加每个算子的</a:t>
            </a:r>
            <a:r>
              <a:rPr kumimoji="1" lang="zh-CN" altLang="en-US" dirty="0">
                <a:solidFill>
                  <a:srgbClr val="0000FF"/>
                </a:solidFill>
              </a:rPr>
              <a:t>物理算子代价</a:t>
            </a:r>
            <a:r>
              <a:rPr kumimoji="1" lang="zh-CN" altLang="en-US" dirty="0"/>
              <a:t>，</a:t>
            </a:r>
            <a:r>
              <a:rPr lang="zh-CN" altLang="en-US" dirty="0"/>
              <a:t>动态规划中添加</a:t>
            </a:r>
            <a:r>
              <a:rPr lang="zh-CN" altLang="en-US" dirty="0">
                <a:solidFill>
                  <a:srgbClr val="0000FF"/>
                </a:solidFill>
              </a:rPr>
              <a:t>物理算子代价</a:t>
            </a:r>
            <a:endParaRPr lang="en-US" altLang="zh-CN" dirty="0">
              <a:solidFill>
                <a:srgbClr val="0000FF"/>
              </a:solidFill>
            </a:endParaRPr>
          </a:p>
          <a:p>
            <a:pPr>
              <a:lnSpc>
                <a:spcPct val="150000"/>
              </a:lnSpc>
            </a:pPr>
            <a:r>
              <a:rPr lang="zh-CN" altLang="zh-CN" sz="2400" b="1" dirty="0">
                <a:latin typeface="+mj-ea"/>
                <a:ea typeface="+mj-ea"/>
              </a:rPr>
              <a:t>最初</a:t>
            </a:r>
            <a:r>
              <a:rPr lang="zh-CN" altLang="zh-CN" sz="2400" b="1" dirty="0">
                <a:solidFill>
                  <a:srgbClr val="701988"/>
                </a:solidFill>
                <a:latin typeface="+mj-ea"/>
                <a:ea typeface="+mj-ea"/>
              </a:rPr>
              <a:t>从空的计划树开始</a:t>
            </a:r>
            <a:r>
              <a:rPr lang="zh-CN" altLang="zh-CN" sz="2400" b="1" dirty="0">
                <a:latin typeface="+mj-ea"/>
                <a:ea typeface="+mj-ea"/>
              </a:rPr>
              <a:t>，在第一步中先</a:t>
            </a:r>
            <a:r>
              <a:rPr lang="zh-CN" altLang="zh-CN" sz="2400" b="1" dirty="0">
                <a:solidFill>
                  <a:srgbClr val="701988"/>
                </a:solidFill>
                <a:latin typeface="+mj-ea"/>
                <a:ea typeface="+mj-ea"/>
              </a:rPr>
              <a:t>确定对哪两个关系进行连接 </a:t>
            </a:r>
            <a:endParaRPr lang="zh-CN" altLang="en-US" sz="2400" b="1" dirty="0">
              <a:solidFill>
                <a:srgbClr val="701988"/>
              </a:solidFill>
              <a:latin typeface="+mj-ea"/>
              <a:ea typeface="+mj-ea"/>
            </a:endParaRPr>
          </a:p>
        </p:txBody>
      </p:sp>
      <p:sp>
        <p:nvSpPr>
          <p:cNvPr id="5" name="页脚占位符 4">
            <a:extLst>
              <a:ext uri="{FF2B5EF4-FFF2-40B4-BE49-F238E27FC236}">
                <a16:creationId xmlns:a16="http://schemas.microsoft.com/office/drawing/2014/main" id="{2A78861E-B9F6-04A1-F564-E0CD2469C811}"/>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sp>
        <p:nvSpPr>
          <p:cNvPr id="6" name="Shape18">
            <a:extLst>
              <a:ext uri="{FF2B5EF4-FFF2-40B4-BE49-F238E27FC236}">
                <a16:creationId xmlns:a16="http://schemas.microsoft.com/office/drawing/2014/main" id="{B067768C-F401-32D8-1AD2-2D8E3D232AF1}"/>
              </a:ext>
            </a:extLst>
          </p:cNvPr>
          <p:cNvSpPr/>
          <p:nvPr/>
        </p:nvSpPr>
        <p:spPr>
          <a:xfrm>
            <a:off x="1930071" y="2898675"/>
            <a:ext cx="8280629" cy="350824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mc:AlternateContent xmlns:mc="http://schemas.openxmlformats.org/markup-compatibility/2006" xmlns:a14="http://schemas.microsoft.com/office/drawing/2010/main">
        <mc:Choice Requires="a14">
          <p:sp>
            <p:nvSpPr>
              <p:cNvPr id="7" name="内容占位符 3">
                <a:extLst>
                  <a:ext uri="{FF2B5EF4-FFF2-40B4-BE49-F238E27FC236}">
                    <a16:creationId xmlns:a16="http://schemas.microsoft.com/office/drawing/2014/main" id="{0A4EC26F-E6EB-980F-3E0A-1BC48CBC0C7C}"/>
                  </a:ext>
                </a:extLst>
              </p:cNvPr>
              <p:cNvSpPr txBox="1">
                <a:spLocks/>
              </p:cNvSpPr>
              <p:nvPr/>
            </p:nvSpPr>
            <p:spPr bwMode="auto">
              <a:xfrm>
                <a:off x="1301674" y="2283687"/>
                <a:ext cx="10152417" cy="61498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400" b="0">
                    <a:solidFill>
                      <a:schemeClr val="tx1"/>
                    </a:solidFill>
                    <a:effectLst/>
                    <a:latin typeface="+mj-ea"/>
                    <a:ea typeface="+mj-ea"/>
                    <a:cs typeface="Arial"/>
                  </a:defRPr>
                </a:lvl1pPr>
                <a:lvl2pPr marL="685817" indent="-263776" algn="l" rtl="0" eaLnBrk="1" fontAlgn="base" hangingPunct="1">
                  <a:spcBef>
                    <a:spcPct val="20000"/>
                  </a:spcBef>
                  <a:spcAft>
                    <a:spcPct val="0"/>
                  </a:spcAft>
                  <a:buChar char="–"/>
                  <a:defRPr kumimoji="1" sz="2000" b="0">
                    <a:solidFill>
                      <a:schemeClr val="tx1"/>
                    </a:solidFill>
                    <a:effectLst/>
                    <a:latin typeface="+mj-ea"/>
                    <a:ea typeface="+mj-ea"/>
                    <a:cs typeface="Arial"/>
                  </a:defRPr>
                </a:lvl2pPr>
                <a:lvl3pPr marL="1055103" indent="-211021" algn="l" rtl="0" eaLnBrk="1" fontAlgn="base" hangingPunct="1">
                  <a:spcBef>
                    <a:spcPct val="20000"/>
                  </a:spcBef>
                  <a:spcAft>
                    <a:spcPct val="0"/>
                  </a:spcAft>
                  <a:buChar char="•"/>
                  <a:defRPr kumimoji="1" sz="1800" b="0">
                    <a:solidFill>
                      <a:schemeClr val="tx1"/>
                    </a:solidFill>
                    <a:effectLst/>
                    <a:latin typeface="+mj-ea"/>
                    <a:ea typeface="+mj-ea"/>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0" indent="0">
                  <a:buNone/>
                </a:pPr>
                <a:r>
                  <a:rPr lang="zh-CN" altLang="zh-CN" sz="2200" b="1" kern="0" dirty="0"/>
                  <a:t>三个关系</a:t>
                </a:r>
                <a14:m>
                  <m:oMath xmlns:m="http://schemas.openxmlformats.org/officeDocument/2006/math">
                    <m:sSub>
                      <m:sSubPr>
                        <m:ctrlPr>
                          <a:rPr lang="zh-CN" altLang="zh-CN" sz="2200" b="1" i="1" kern="0">
                            <a:latin typeface="Cambria Math" panose="02040503050406030204" pitchFamily="18" charset="0"/>
                          </a:rPr>
                        </m:ctrlPr>
                      </m:sSubPr>
                      <m:e>
                        <m:r>
                          <a:rPr lang="en-US" altLang="zh-CN" sz="2200" b="1" i="1" kern="0" smtClean="0">
                            <a:latin typeface="Cambria Math" panose="02040503050406030204" pitchFamily="18" charset="0"/>
                          </a:rPr>
                          <m:t>𝑹</m:t>
                        </m:r>
                      </m:e>
                      <m:sub>
                        <m:r>
                          <a:rPr lang="en-US" altLang="zh-CN" sz="2200" b="1" i="1" kern="0" smtClean="0">
                            <a:latin typeface="Cambria Math" panose="02040503050406030204" pitchFamily="18" charset="0"/>
                          </a:rPr>
                          <m:t>𝟏</m:t>
                        </m:r>
                      </m:sub>
                    </m:sSub>
                    <m:r>
                      <a:rPr lang="en-US" altLang="zh-CN" sz="2200" b="1" i="1" kern="0" smtClean="0">
                        <a:latin typeface="Cambria Math" panose="02040503050406030204" pitchFamily="18" charset="0"/>
                      </a:rPr>
                      <m:t>(</m:t>
                    </m:r>
                    <m:r>
                      <a:rPr lang="en-US" altLang="zh-CN" sz="2200" b="1" i="1" kern="0" smtClean="0">
                        <a:latin typeface="Cambria Math" panose="02040503050406030204" pitchFamily="18" charset="0"/>
                      </a:rPr>
                      <m:t>𝑨</m:t>
                    </m:r>
                    <m:r>
                      <a:rPr lang="en-US" altLang="zh-CN" sz="2200" b="1" i="1" kern="0" smtClean="0">
                        <a:latin typeface="Cambria Math" panose="02040503050406030204" pitchFamily="18" charset="0"/>
                      </a:rPr>
                      <m:t>,</m:t>
                    </m:r>
                    <m:r>
                      <a:rPr lang="en-US" altLang="zh-CN" sz="2200" b="1" i="1" kern="0" smtClean="0">
                        <a:latin typeface="Cambria Math" panose="02040503050406030204" pitchFamily="18" charset="0"/>
                      </a:rPr>
                      <m:t>𝑩</m:t>
                    </m:r>
                    <m:r>
                      <a:rPr lang="en-US" altLang="zh-CN" sz="2200" b="1" i="1" kern="0" smtClean="0">
                        <a:latin typeface="Cambria Math" panose="02040503050406030204" pitchFamily="18" charset="0"/>
                      </a:rPr>
                      <m:t>), </m:t>
                    </m:r>
                    <m:sSub>
                      <m:sSubPr>
                        <m:ctrlPr>
                          <a:rPr lang="zh-CN" altLang="zh-CN" sz="2200" b="1" i="1" kern="0">
                            <a:latin typeface="Cambria Math" panose="02040503050406030204" pitchFamily="18" charset="0"/>
                          </a:rPr>
                        </m:ctrlPr>
                      </m:sSubPr>
                      <m:e>
                        <m:r>
                          <a:rPr lang="en-US" altLang="zh-CN" sz="2200" b="1" i="1" kern="0" smtClean="0">
                            <a:latin typeface="Cambria Math" panose="02040503050406030204" pitchFamily="18" charset="0"/>
                          </a:rPr>
                          <m:t>𝑹</m:t>
                        </m:r>
                      </m:e>
                      <m:sub>
                        <m:r>
                          <a:rPr lang="en-US" altLang="zh-CN" sz="2200" b="1" i="1" kern="0" smtClean="0">
                            <a:latin typeface="Cambria Math" panose="02040503050406030204" pitchFamily="18" charset="0"/>
                          </a:rPr>
                          <m:t>𝟐</m:t>
                        </m:r>
                      </m:sub>
                    </m:sSub>
                    <m:r>
                      <a:rPr lang="en-US" altLang="zh-CN" sz="2200" b="1" i="1" kern="0" smtClean="0">
                        <a:latin typeface="Cambria Math" panose="02040503050406030204" pitchFamily="18" charset="0"/>
                      </a:rPr>
                      <m:t>(</m:t>
                    </m:r>
                    <m:r>
                      <a:rPr lang="en-US" altLang="zh-CN" sz="2200" b="1" i="1" kern="0" smtClean="0">
                        <a:latin typeface="Cambria Math" panose="02040503050406030204" pitchFamily="18" charset="0"/>
                      </a:rPr>
                      <m:t>𝑨</m:t>
                    </m:r>
                    <m:r>
                      <a:rPr lang="en-US" altLang="zh-CN" sz="2200" b="1" i="1" kern="0" smtClean="0">
                        <a:latin typeface="Cambria Math" panose="02040503050406030204" pitchFamily="18" charset="0"/>
                      </a:rPr>
                      <m:t>,</m:t>
                    </m:r>
                    <m:r>
                      <a:rPr lang="en-US" altLang="zh-CN" sz="2200" b="1" i="1" kern="0" smtClean="0">
                        <a:latin typeface="Cambria Math" panose="02040503050406030204" pitchFamily="18" charset="0"/>
                      </a:rPr>
                      <m:t>𝑪</m:t>
                    </m:r>
                    <m:r>
                      <a:rPr lang="en-US" altLang="zh-CN" sz="2200" b="1" i="1" kern="0" smtClean="0">
                        <a:latin typeface="Cambria Math" panose="02040503050406030204" pitchFamily="18" charset="0"/>
                      </a:rPr>
                      <m:t>),</m:t>
                    </m:r>
                    <m:sSub>
                      <m:sSubPr>
                        <m:ctrlPr>
                          <a:rPr lang="zh-CN" altLang="zh-CN" sz="2200" b="1" i="1" kern="0">
                            <a:latin typeface="Cambria Math" panose="02040503050406030204" pitchFamily="18" charset="0"/>
                          </a:rPr>
                        </m:ctrlPr>
                      </m:sSubPr>
                      <m:e>
                        <m:r>
                          <a:rPr lang="en-US" altLang="zh-CN" sz="2200" b="1" i="1" kern="0" smtClean="0">
                            <a:latin typeface="Cambria Math" panose="02040503050406030204" pitchFamily="18" charset="0"/>
                          </a:rPr>
                          <m:t>𝑹</m:t>
                        </m:r>
                      </m:e>
                      <m:sub>
                        <m:r>
                          <a:rPr lang="en-US" altLang="zh-CN" sz="2200" b="1" i="1" kern="0" smtClean="0">
                            <a:latin typeface="Cambria Math" panose="02040503050406030204" pitchFamily="18" charset="0"/>
                          </a:rPr>
                          <m:t>𝟑</m:t>
                        </m:r>
                      </m:sub>
                    </m:sSub>
                    <m:r>
                      <a:rPr lang="en-US" altLang="zh-CN" sz="2200" b="1" i="1" kern="0" smtClean="0">
                        <a:latin typeface="Cambria Math" panose="02040503050406030204" pitchFamily="18" charset="0"/>
                      </a:rPr>
                      <m:t>(</m:t>
                    </m:r>
                    <m:r>
                      <a:rPr lang="en-US" altLang="zh-CN" sz="2200" b="1" i="1" kern="0" smtClean="0">
                        <a:latin typeface="Cambria Math" panose="02040503050406030204" pitchFamily="18" charset="0"/>
                      </a:rPr>
                      <m:t>𝑨</m:t>
                    </m:r>
                    <m:r>
                      <a:rPr lang="en-US" altLang="zh-CN" sz="2200" b="1" i="1" kern="0" smtClean="0">
                        <a:latin typeface="Cambria Math" panose="02040503050406030204" pitchFamily="18" charset="0"/>
                      </a:rPr>
                      <m:t>,</m:t>
                    </m:r>
                    <m:r>
                      <a:rPr lang="en-US" altLang="zh-CN" sz="2200" b="1" i="1" kern="0" smtClean="0">
                        <a:latin typeface="Cambria Math" panose="02040503050406030204" pitchFamily="18" charset="0"/>
                      </a:rPr>
                      <m:t>𝑫</m:t>
                    </m:r>
                    <m:r>
                      <a:rPr lang="en-US" altLang="zh-CN" sz="2200" b="1" i="1" kern="0" smtClean="0">
                        <a:latin typeface="Cambria Math" panose="02040503050406030204" pitchFamily="18" charset="0"/>
                      </a:rPr>
                      <m:t>)</m:t>
                    </m:r>
                  </m:oMath>
                </a14:m>
                <a:r>
                  <a:rPr lang="zh-CN" altLang="zh-CN" sz="2200" b="1" kern="0" dirty="0"/>
                  <a:t>，某查询要得到</a:t>
                </a:r>
                <a14:m>
                  <m:oMath xmlns:m="http://schemas.openxmlformats.org/officeDocument/2006/math">
                    <m:sSub>
                      <m:sSubPr>
                        <m:ctrlPr>
                          <a:rPr lang="zh-CN" altLang="zh-CN" sz="2200" b="1" i="1" kern="0">
                            <a:latin typeface="Cambria Math" panose="02040503050406030204" pitchFamily="18" charset="0"/>
                          </a:rPr>
                        </m:ctrlPr>
                      </m:sSubPr>
                      <m:e>
                        <m:r>
                          <a:rPr lang="en-US" altLang="zh-CN" sz="2200" b="1" i="1" kern="0" smtClean="0">
                            <a:latin typeface="Cambria Math" panose="02040503050406030204" pitchFamily="18" charset="0"/>
                          </a:rPr>
                          <m:t>𝑹</m:t>
                        </m:r>
                      </m:e>
                      <m:sub>
                        <m:r>
                          <a:rPr lang="en-US" altLang="zh-CN" sz="2200" b="1" i="1" kern="0" smtClean="0">
                            <a:latin typeface="Cambria Math" panose="02040503050406030204" pitchFamily="18" charset="0"/>
                          </a:rPr>
                          <m:t>𝟏</m:t>
                        </m:r>
                      </m:sub>
                    </m:sSub>
                    <m:r>
                      <a:rPr lang="en-US" altLang="zh-CN" sz="2200" b="1" i="1" kern="0" smtClean="0">
                        <a:latin typeface="Cambria Math" panose="02040503050406030204" pitchFamily="18" charset="0"/>
                      </a:rPr>
                      <m:t>⋈</m:t>
                    </m:r>
                    <m:sSub>
                      <m:sSubPr>
                        <m:ctrlPr>
                          <a:rPr lang="zh-CN" altLang="zh-CN" sz="2200" b="1" i="1" kern="0">
                            <a:latin typeface="Cambria Math" panose="02040503050406030204" pitchFamily="18" charset="0"/>
                          </a:rPr>
                        </m:ctrlPr>
                      </m:sSubPr>
                      <m:e>
                        <m:r>
                          <a:rPr lang="en-US" altLang="zh-CN" sz="2200" b="1" i="1" kern="0" smtClean="0">
                            <a:latin typeface="Cambria Math" panose="02040503050406030204" pitchFamily="18" charset="0"/>
                          </a:rPr>
                          <m:t>𝑹</m:t>
                        </m:r>
                      </m:e>
                      <m:sub>
                        <m:r>
                          <a:rPr lang="en-US" altLang="zh-CN" sz="2200" b="1" i="1" kern="0" smtClean="0">
                            <a:latin typeface="Cambria Math" panose="02040503050406030204" pitchFamily="18" charset="0"/>
                          </a:rPr>
                          <m:t>𝟐</m:t>
                        </m:r>
                      </m:sub>
                    </m:sSub>
                    <m:r>
                      <a:rPr lang="en-US" altLang="zh-CN" sz="2200" b="1" i="1" kern="0" smtClean="0">
                        <a:latin typeface="Cambria Math" panose="02040503050406030204" pitchFamily="18" charset="0"/>
                      </a:rPr>
                      <m:t>⋈</m:t>
                    </m:r>
                    <m:sSub>
                      <m:sSubPr>
                        <m:ctrlPr>
                          <a:rPr lang="zh-CN" altLang="zh-CN" sz="2200" b="1" i="1" kern="0">
                            <a:latin typeface="Cambria Math" panose="02040503050406030204" pitchFamily="18" charset="0"/>
                          </a:rPr>
                        </m:ctrlPr>
                      </m:sSubPr>
                      <m:e>
                        <m:r>
                          <a:rPr lang="en-US" altLang="zh-CN" sz="2200" b="1" i="1" kern="0" smtClean="0">
                            <a:latin typeface="Cambria Math" panose="02040503050406030204" pitchFamily="18" charset="0"/>
                          </a:rPr>
                          <m:t>𝑹</m:t>
                        </m:r>
                      </m:e>
                      <m:sub>
                        <m:r>
                          <a:rPr lang="en-US" altLang="zh-CN" sz="2200" b="1" i="1" kern="0" smtClean="0">
                            <a:latin typeface="Cambria Math" panose="02040503050406030204" pitchFamily="18" charset="0"/>
                          </a:rPr>
                          <m:t>𝟑</m:t>
                        </m:r>
                      </m:sub>
                    </m:sSub>
                  </m:oMath>
                </a14:m>
                <a:r>
                  <a:rPr lang="zh-CN" altLang="zh-CN" sz="2200" b="1" kern="0" dirty="0"/>
                  <a:t>的结果 </a:t>
                </a:r>
                <a:endParaRPr lang="zh-CN" altLang="en-US" sz="2200" b="1" kern="0" dirty="0"/>
              </a:p>
            </p:txBody>
          </p:sp>
        </mc:Choice>
        <mc:Fallback xmlns="">
          <p:sp>
            <p:nvSpPr>
              <p:cNvPr id="7" name="内容占位符 3">
                <a:extLst>
                  <a:ext uri="{FF2B5EF4-FFF2-40B4-BE49-F238E27FC236}">
                    <a16:creationId xmlns:a16="http://schemas.microsoft.com/office/drawing/2014/main" id="{0A4EC26F-E6EB-980F-3E0A-1BC48CBC0C7C}"/>
                  </a:ext>
                </a:extLst>
              </p:cNvPr>
              <p:cNvSpPr txBox="1">
                <a:spLocks noRot="1" noChangeAspect="1" noMove="1" noResize="1" noEditPoints="1" noAdjustHandles="1" noChangeArrowheads="1" noChangeShapeType="1" noTextEdit="1"/>
              </p:cNvSpPr>
              <p:nvPr/>
            </p:nvSpPr>
            <p:spPr bwMode="auto">
              <a:xfrm>
                <a:off x="1301674" y="2283687"/>
                <a:ext cx="10152417" cy="614988"/>
              </a:xfrm>
              <a:prstGeom prst="rect">
                <a:avLst/>
              </a:prstGeom>
              <a:blipFill>
                <a:blip r:embed="rId2"/>
                <a:stretch>
                  <a:fillRect l="-750" t="-816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6930FF89-0A93-8F67-9BBA-BB60F5B3B8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35657" y="3111172"/>
            <a:ext cx="6111386" cy="3021967"/>
          </a:xfrm>
          <a:prstGeom prst="rect">
            <a:avLst/>
          </a:prstGeom>
        </p:spPr>
      </p:pic>
      <p:sp>
        <p:nvSpPr>
          <p:cNvPr id="9" name="下箭头 8">
            <a:extLst>
              <a:ext uri="{FF2B5EF4-FFF2-40B4-BE49-F238E27FC236}">
                <a16:creationId xmlns:a16="http://schemas.microsoft.com/office/drawing/2014/main" id="{1F2492D7-D3E0-7C4C-1ABB-9C9653D3D175}"/>
              </a:ext>
            </a:extLst>
          </p:cNvPr>
          <p:cNvSpPr/>
          <p:nvPr/>
        </p:nvSpPr>
        <p:spPr bwMode="auto">
          <a:xfrm rot="10800000">
            <a:off x="9308879" y="3371522"/>
            <a:ext cx="287499" cy="2705556"/>
          </a:xfrm>
          <a:prstGeom prst="downArrow">
            <a:avLst>
              <a:gd name="adj1" fmla="val 39341"/>
              <a:gd name="adj2" fmla="val 103636"/>
            </a:avLst>
          </a:prstGeom>
          <a:solidFill>
            <a:srgbClr val="701988"/>
          </a:solid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内容占位符 3">
            <a:extLst>
              <a:ext uri="{FF2B5EF4-FFF2-40B4-BE49-F238E27FC236}">
                <a16:creationId xmlns:a16="http://schemas.microsoft.com/office/drawing/2014/main" id="{711C6AD3-5407-8B13-CE96-B454BB8710ED}"/>
              </a:ext>
            </a:extLst>
          </p:cNvPr>
          <p:cNvSpPr txBox="1">
            <a:spLocks/>
          </p:cNvSpPr>
          <p:nvPr/>
        </p:nvSpPr>
        <p:spPr bwMode="auto">
          <a:xfrm>
            <a:off x="954212" y="6192806"/>
            <a:ext cx="10874188" cy="10208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endParaRPr lang="zh-CN" altLang="en-US" sz="2400" b="1" kern="0" dirty="0">
              <a:latin typeface="+mj-ea"/>
              <a:ea typeface="+mj-ea"/>
            </a:endParaRPr>
          </a:p>
        </p:txBody>
      </p:sp>
    </p:spTree>
    <p:extLst>
      <p:ext uri="{BB962C8B-B14F-4D97-AF65-F5344CB8AC3E}">
        <p14:creationId xmlns:p14="http://schemas.microsoft.com/office/powerpoint/2010/main" val="263999406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82C4665-DF73-AFAB-704D-09378F13EEAB}"/>
              </a:ext>
            </a:extLst>
          </p:cNvPr>
          <p:cNvSpPr>
            <a:spLocks noGrp="1"/>
          </p:cNvSpPr>
          <p:nvPr>
            <p:ph type="sldNum" sz="quarter" idx="10"/>
          </p:nvPr>
        </p:nvSpPr>
        <p:spPr/>
        <p:txBody>
          <a:bodyPr/>
          <a:lstStyle/>
          <a:p>
            <a:fld id="{87BBDC00-B9E2-4EFD-9306-2934E87247C6}" type="slidenum">
              <a:rPr lang="zh-CN" altLang="en-US" smtClean="0"/>
              <a:pPr/>
              <a:t>122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动态规划：</a:t>
            </a:r>
            <a:r>
              <a:rPr lang="fr-FR" altLang="zh-CN" dirty="0" err="1"/>
              <a:t>Selinger</a:t>
            </a:r>
            <a:r>
              <a:rPr lang="zh-CN" altLang="en-US" dirty="0"/>
              <a:t>风格的优化</a:t>
            </a:r>
            <a:endParaRPr kumimoji="1" lang="zh-CN" altLang="en-US" dirty="0"/>
          </a:p>
        </p:txBody>
      </p:sp>
      <p:sp>
        <p:nvSpPr>
          <p:cNvPr id="4" name="页脚占位符 3">
            <a:extLst>
              <a:ext uri="{FF2B5EF4-FFF2-40B4-BE49-F238E27FC236}">
                <a16:creationId xmlns:a16="http://schemas.microsoft.com/office/drawing/2014/main" id="{6C8584D5-335A-FE56-BF1A-95CE5660C285}"/>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853844" y="1156072"/>
            <a:ext cx="10326307" cy="5547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b="1" dirty="0">
                <a:latin typeface="+mj-ea"/>
                <a:ea typeface="+mj-ea"/>
              </a:rPr>
              <a:t>对于每个子表达式不只保留</a:t>
            </a:r>
            <a:r>
              <a:rPr lang="zh-CN" altLang="zh-CN" sz="2400" b="1" dirty="0">
                <a:solidFill>
                  <a:srgbClr val="701988"/>
                </a:solidFill>
                <a:latin typeface="+mj-ea"/>
                <a:ea typeface="+mj-ea"/>
              </a:rPr>
              <a:t>代价最小</a:t>
            </a:r>
            <a:r>
              <a:rPr lang="zh-CN" altLang="zh-CN" sz="2400" b="1" dirty="0">
                <a:latin typeface="+mj-ea"/>
                <a:ea typeface="+mj-ea"/>
              </a:rPr>
              <a:t>的计划，也会保留一些当前代价较高，但具有一些</a:t>
            </a:r>
            <a:r>
              <a:rPr lang="zh-CN" altLang="zh-CN" sz="2400" b="1" dirty="0">
                <a:solidFill>
                  <a:srgbClr val="701988"/>
                </a:solidFill>
                <a:latin typeface="+mj-ea"/>
                <a:ea typeface="+mj-ea"/>
              </a:rPr>
              <a:t>可能利于后续优化的性质</a:t>
            </a:r>
            <a:r>
              <a:rPr lang="zh-CN" altLang="zh-CN" sz="2400" b="1" dirty="0">
                <a:latin typeface="+mj-ea"/>
                <a:ea typeface="+mj-ea"/>
              </a:rPr>
              <a:t>的计划。 </a:t>
            </a:r>
            <a:endParaRPr lang="en-US" altLang="zh-CN" sz="2400" b="1" dirty="0">
              <a:latin typeface="+mj-ea"/>
              <a:ea typeface="+mj-ea"/>
            </a:endParaRPr>
          </a:p>
          <a:p>
            <a:pPr>
              <a:lnSpc>
                <a:spcPct val="150000"/>
              </a:lnSpc>
              <a:buFont typeface="Wingdings" panose="05000000000000000000" pitchFamily="2" charset="2"/>
              <a:buChar char="Ø"/>
            </a:pPr>
            <a:r>
              <a:rPr lang="zh-CN" altLang="zh-CN" sz="2400" b="1" u="sng" dirty="0">
                <a:solidFill>
                  <a:srgbClr val="701988"/>
                </a:solidFill>
                <a:latin typeface="+mj-ea"/>
                <a:ea typeface="+mj-ea"/>
              </a:rPr>
              <a:t>有趣顺序</a:t>
            </a:r>
            <a:r>
              <a:rPr lang="zh-CN" altLang="zh-CN" sz="2400" b="1" u="sng" dirty="0">
                <a:latin typeface="+mj-ea"/>
                <a:ea typeface="+mj-ea"/>
              </a:rPr>
              <a:t>（</a:t>
            </a:r>
            <a:r>
              <a:rPr lang="en-US" altLang="zh-CN" sz="2400" b="1" u="sng" dirty="0">
                <a:latin typeface="+mj-ea"/>
                <a:ea typeface="+mj-ea"/>
              </a:rPr>
              <a:t>interesting order</a:t>
            </a:r>
            <a:r>
              <a:rPr lang="zh-CN" altLang="zh-CN" sz="2400" b="1" u="sng" dirty="0">
                <a:latin typeface="+mj-ea"/>
                <a:ea typeface="+mj-ea"/>
              </a:rPr>
              <a:t>）</a:t>
            </a:r>
            <a:r>
              <a:rPr lang="zh-CN" altLang="en-US" sz="2400" b="1" dirty="0">
                <a:latin typeface="+mj-ea"/>
                <a:ea typeface="+mj-ea"/>
              </a:rPr>
              <a:t>：</a:t>
            </a:r>
            <a:r>
              <a:rPr lang="fr-FR" altLang="zh-CN" sz="2400" b="1" dirty="0" err="1">
                <a:latin typeface="+mj-ea"/>
                <a:ea typeface="+mj-ea"/>
              </a:rPr>
              <a:t>Selinger</a:t>
            </a:r>
            <a:r>
              <a:rPr lang="zh-CN" altLang="en-US" sz="2400" b="1" dirty="0">
                <a:latin typeface="+mj-ea"/>
                <a:ea typeface="+mj-ea"/>
              </a:rPr>
              <a:t>风格的优化器考虑的性质是查询计划的输出结果在某列的</a:t>
            </a:r>
            <a:r>
              <a:rPr lang="zh-CN" altLang="en-US" sz="2400" b="1" dirty="0">
                <a:solidFill>
                  <a:srgbClr val="701988"/>
                </a:solidFill>
                <a:latin typeface="+mj-ea"/>
                <a:ea typeface="+mj-ea"/>
              </a:rPr>
              <a:t>有序性</a:t>
            </a:r>
            <a:r>
              <a:rPr lang="zh-CN" altLang="zh-CN" sz="2400" b="1" dirty="0">
                <a:solidFill>
                  <a:srgbClr val="701988"/>
                </a:solidFill>
                <a:latin typeface="+mj-ea"/>
                <a:ea typeface="+mj-ea"/>
              </a:rPr>
              <a:t>。 </a:t>
            </a:r>
            <a:endParaRPr lang="en-US" altLang="zh-CN" sz="2400" b="1" dirty="0">
              <a:solidFill>
                <a:srgbClr val="701988"/>
              </a:solidFill>
              <a:latin typeface="+mj-ea"/>
              <a:ea typeface="+mj-ea"/>
            </a:endParaRPr>
          </a:p>
          <a:p>
            <a:pPr lvl="1">
              <a:lnSpc>
                <a:spcPct val="150000"/>
              </a:lnSpc>
              <a:buFont typeface="Arial" panose="020B0604020202020204" pitchFamily="34" charset="0"/>
              <a:buChar char="•"/>
            </a:pPr>
            <a:r>
              <a:rPr lang="zh-CN" altLang="zh-CN" sz="2000" dirty="0">
                <a:latin typeface="+mj-ea"/>
                <a:ea typeface="+mj-ea"/>
              </a:rPr>
              <a:t>查询</a:t>
            </a:r>
            <a:r>
              <a:rPr lang="zh-CN" altLang="en-US" sz="2000" dirty="0">
                <a:latin typeface="+mj-ea"/>
                <a:ea typeface="+mj-ea"/>
              </a:rPr>
              <a:t>可能</a:t>
            </a:r>
            <a:r>
              <a:rPr lang="zh-CN" altLang="zh-CN" sz="2000" dirty="0">
                <a:latin typeface="+mj-ea"/>
                <a:ea typeface="+mj-ea"/>
              </a:rPr>
              <a:t>存在对有序的要求</a:t>
            </a:r>
            <a:endParaRPr lang="en-US" altLang="zh-CN" sz="2000" dirty="0">
              <a:latin typeface="+mj-ea"/>
              <a:ea typeface="+mj-ea"/>
            </a:endParaRPr>
          </a:p>
          <a:p>
            <a:pPr lvl="1">
              <a:lnSpc>
                <a:spcPct val="150000"/>
              </a:lnSpc>
              <a:buFont typeface="Arial" panose="020B0604020202020204" pitchFamily="34" charset="0"/>
              <a:buChar char="•"/>
            </a:pPr>
            <a:r>
              <a:rPr lang="zh-CN" altLang="zh-CN" sz="2000" dirty="0">
                <a:latin typeface="+mj-ea"/>
                <a:ea typeface="+mj-ea"/>
              </a:rPr>
              <a:t>有序性在查询树的更高层节点可以被利用到，则可能会大幅度降低后续运算的代价，使得查询计划的全局代价更小</a:t>
            </a:r>
            <a:endParaRPr lang="en-US" altLang="zh-CN" sz="2400" kern="0" dirty="0">
              <a:latin typeface="+mj-ea"/>
              <a:ea typeface="+mj-ea"/>
            </a:endParaRPr>
          </a:p>
          <a:p>
            <a:pPr>
              <a:lnSpc>
                <a:spcPct val="150000"/>
              </a:lnSpc>
              <a:buFont typeface="Wingdings" panose="05000000000000000000" pitchFamily="2" charset="2"/>
              <a:buChar char="Ø"/>
            </a:pPr>
            <a:r>
              <a:rPr lang="zh-CN" altLang="en-US" sz="2400" b="1" kern="0" dirty="0">
                <a:latin typeface="+mj-ea"/>
                <a:ea typeface="+mj-ea"/>
              </a:rPr>
              <a:t>原始动态规划过程没有考虑</a:t>
            </a:r>
            <a:r>
              <a:rPr lang="zh-CN" altLang="zh-CN" sz="2400" b="1" dirty="0">
                <a:solidFill>
                  <a:srgbClr val="701988"/>
                </a:solidFill>
                <a:latin typeface="+mj-ea"/>
                <a:ea typeface="+mj-ea"/>
              </a:rPr>
              <a:t>有趣顺序</a:t>
            </a:r>
            <a:r>
              <a:rPr lang="zh-CN" altLang="en-US" sz="2400" b="1" dirty="0">
                <a:solidFill>
                  <a:srgbClr val="701988"/>
                </a:solidFill>
                <a:latin typeface="+mj-ea"/>
                <a:ea typeface="+mj-ea"/>
              </a:rPr>
              <a:t>，</a:t>
            </a:r>
            <a:r>
              <a:rPr lang="zh-CN" altLang="en-US" sz="2400" b="1" dirty="0">
                <a:latin typeface="+mj-ea"/>
                <a:ea typeface="+mj-ea"/>
              </a:rPr>
              <a:t>需要单独记录符合有趣顺序的计划</a:t>
            </a:r>
            <a:endParaRPr lang="en-US" altLang="zh-CN" sz="2400" b="1" dirty="0">
              <a:latin typeface="+mj-ea"/>
              <a:ea typeface="+mj-ea"/>
            </a:endParaRPr>
          </a:p>
          <a:p>
            <a:pPr lvl="1">
              <a:lnSpc>
                <a:spcPct val="150000"/>
              </a:lnSpc>
              <a:buFont typeface="Wingdings" panose="05000000000000000000" pitchFamily="2" charset="2"/>
              <a:buChar char="Ø"/>
            </a:pPr>
            <a:r>
              <a:rPr lang="zh-CN" altLang="en-US" sz="2000" b="1" kern="0" dirty="0">
                <a:latin typeface="+mj-ea"/>
                <a:ea typeface="+mj-ea"/>
              </a:rPr>
              <a:t>动态规划算法中</a:t>
            </a:r>
            <a:r>
              <a:rPr lang="zh-CN" altLang="en-US" sz="2000" b="1" kern="0" dirty="0">
                <a:solidFill>
                  <a:srgbClr val="0000FF"/>
                </a:solidFill>
                <a:latin typeface="+mj-ea"/>
                <a:ea typeface="+mj-ea"/>
              </a:rPr>
              <a:t>单独保留带有顺序方法的计划</a:t>
            </a:r>
            <a:r>
              <a:rPr lang="zh-CN" altLang="en-US" sz="2000" b="1" kern="0" dirty="0">
                <a:latin typeface="+mj-ea"/>
                <a:ea typeface="+mj-ea"/>
              </a:rPr>
              <a:t>即可</a:t>
            </a:r>
            <a:endParaRPr lang="en-US" altLang="zh-CN" sz="2000" b="1"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39627611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4EECBC5-70BB-2646-5BD1-0A550404C156}"/>
              </a:ext>
            </a:extLst>
          </p:cNvPr>
          <p:cNvSpPr>
            <a:spLocks noGrp="1"/>
          </p:cNvSpPr>
          <p:nvPr>
            <p:ph type="sldNum" sz="quarter" idx="10"/>
          </p:nvPr>
        </p:nvSpPr>
        <p:spPr/>
        <p:txBody>
          <a:bodyPr/>
          <a:lstStyle/>
          <a:p>
            <a:fld id="{4B0D34C0-35A8-654C-9FBA-7B4E017BD630}" type="slidenum">
              <a:rPr lang="en-US" altLang="zh-CN" smtClean="0"/>
              <a:t>123</a:t>
            </a:fld>
            <a:endParaRPr kumimoji="1" lang="zh-CN" altLang="en-US"/>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4" name="页脚占位符 3">
            <a:extLst>
              <a:ext uri="{FF2B5EF4-FFF2-40B4-BE49-F238E27FC236}">
                <a16:creationId xmlns:a16="http://schemas.microsoft.com/office/drawing/2014/main" id="{68D95C5A-B11B-C35E-2F98-2AF54E74E423}"/>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sp>
        <p:nvSpPr>
          <p:cNvPr id="8" name="Shape18">
            <a:extLst>
              <a:ext uri="{FF2B5EF4-FFF2-40B4-BE49-F238E27FC236}">
                <a16:creationId xmlns:a16="http://schemas.microsoft.com/office/drawing/2014/main" id="{480C076B-9143-46FB-A153-652CEC22680B}"/>
              </a:ext>
            </a:extLst>
          </p:cNvPr>
          <p:cNvSpPr/>
          <p:nvPr/>
        </p:nvSpPr>
        <p:spPr>
          <a:xfrm>
            <a:off x="3959598" y="1124936"/>
            <a:ext cx="4114800" cy="471623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6C1A2697-A3C9-B5CA-C6A5-095FC2CED3B8}"/>
              </a:ext>
            </a:extLst>
          </p:cNvPr>
          <p:cNvSpPr>
            <a:spLocks noGrp="1"/>
          </p:cNvSpPr>
          <p:nvPr>
            <p:ph idx="1"/>
          </p:nvPr>
        </p:nvSpPr>
        <p:spPr>
          <a:xfrm>
            <a:off x="4326097" y="1276597"/>
            <a:ext cx="3381802" cy="3551771"/>
          </a:xfrm>
        </p:spPr>
        <p:txBody>
          <a:bodyPr/>
          <a:lstStyle/>
          <a:p>
            <a:pPr marL="457200" indent="-457200">
              <a:lnSpc>
                <a:spcPct val="150000"/>
              </a:lnSpc>
              <a:buFont typeface="+mj-lt"/>
              <a:buAutoNum type="arabicPeriod"/>
            </a:pPr>
            <a:r>
              <a:rPr lang="zh-CN" altLang="en-US" dirty="0"/>
              <a:t>逻辑优化</a:t>
            </a:r>
            <a:r>
              <a:rPr lang="en-US" altLang="zh-CN" dirty="0"/>
              <a:t>(</a:t>
            </a:r>
            <a:r>
              <a:rPr lang="zh-CN" altLang="en-US" dirty="0"/>
              <a:t>查询重写</a:t>
            </a:r>
            <a:r>
              <a:rPr lang="en-US" altLang="zh-CN" dirty="0"/>
              <a:t>)</a:t>
            </a:r>
          </a:p>
          <a:p>
            <a:pPr marL="457200" indent="-457200">
              <a:lnSpc>
                <a:spcPct val="150000"/>
              </a:lnSpc>
              <a:buFont typeface="+mj-lt"/>
              <a:buAutoNum type="arabicPeriod"/>
            </a:pPr>
            <a:r>
              <a:rPr lang="zh-CN" altLang="en-US" dirty="0"/>
              <a:t>物理优化</a:t>
            </a:r>
            <a:endParaRPr lang="en-US" altLang="zh-CN" dirty="0"/>
          </a:p>
          <a:p>
            <a:pPr marL="826486" lvl="1" indent="-457200">
              <a:lnSpc>
                <a:spcPct val="150000"/>
              </a:lnSpc>
              <a:buFont typeface="Wingdings" pitchFamily="2" charset="2"/>
              <a:buChar char="l"/>
            </a:pPr>
            <a:r>
              <a:rPr lang="zh-CN" altLang="en-US" sz="2400" dirty="0"/>
              <a:t>代价估计</a:t>
            </a:r>
            <a:endParaRPr lang="en-US" altLang="zh-CN" sz="2400" dirty="0"/>
          </a:p>
          <a:p>
            <a:pPr marL="826486" lvl="1" indent="-457200">
              <a:lnSpc>
                <a:spcPct val="150000"/>
              </a:lnSpc>
              <a:buFont typeface="Wingdings" pitchFamily="2" charset="2"/>
              <a:buChar char="l"/>
            </a:pPr>
            <a:r>
              <a:rPr lang="zh-CN" altLang="en-US" sz="2400" dirty="0"/>
              <a:t>连接顺序选择</a:t>
            </a:r>
            <a:endParaRPr lang="en-US" altLang="zh-CN" sz="2400" dirty="0"/>
          </a:p>
          <a:p>
            <a:pPr marL="826486" lvl="1" indent="-457200">
              <a:lnSpc>
                <a:spcPct val="150000"/>
              </a:lnSpc>
              <a:buFont typeface="Wingdings" pitchFamily="2" charset="2"/>
              <a:buChar char="l"/>
            </a:pPr>
            <a:r>
              <a:rPr lang="zh-CN" altLang="en-US" sz="2400" dirty="0"/>
              <a:t>物理算子选择</a:t>
            </a:r>
            <a:endParaRPr lang="en-US" altLang="zh-CN" sz="2400" dirty="0"/>
          </a:p>
          <a:p>
            <a:pPr marL="457200" indent="-457200">
              <a:lnSpc>
                <a:spcPct val="150000"/>
              </a:lnSpc>
              <a:buFont typeface="+mj-lt"/>
              <a:buAutoNum type="arabicPeriod"/>
            </a:pPr>
            <a:r>
              <a:rPr lang="zh-CN" altLang="en-US" b="1" dirty="0">
                <a:solidFill>
                  <a:srgbClr val="743481"/>
                </a:solidFill>
              </a:rPr>
              <a:t>优化器系统</a:t>
            </a:r>
            <a:endParaRPr lang="en-US" altLang="zh-CN" b="1" dirty="0">
              <a:solidFill>
                <a:srgbClr val="743481"/>
              </a:solidFill>
            </a:endParaRPr>
          </a:p>
          <a:p>
            <a:pPr marL="457200" indent="-457200">
              <a:lnSpc>
                <a:spcPct val="150000"/>
              </a:lnSpc>
              <a:buFont typeface="+mj-lt"/>
              <a:buAutoNum type="arabicPeriod"/>
            </a:pPr>
            <a:r>
              <a:rPr lang="zh-CN" altLang="en-US" dirty="0"/>
              <a:t>物化视图 </a:t>
            </a:r>
          </a:p>
          <a:p>
            <a:pPr marL="514350" indent="-514350">
              <a:lnSpc>
                <a:spcPct val="150000"/>
              </a:lnSpc>
              <a:buFont typeface="+mj-lt"/>
              <a:buAutoNum type="arabicPeriod"/>
            </a:pPr>
            <a:endParaRPr lang="zh-CN" altLang="en-US" dirty="0"/>
          </a:p>
          <a:p>
            <a:pPr marL="514350" indent="-514350">
              <a:lnSpc>
                <a:spcPct val="150000"/>
              </a:lnSpc>
              <a:buFont typeface="+mj-lt"/>
              <a:buAutoNum type="arabicPeriod"/>
            </a:pPr>
            <a:endParaRPr lang="zh-CN" altLang="en-US" dirty="0"/>
          </a:p>
        </p:txBody>
      </p:sp>
    </p:spTree>
    <p:extLst>
      <p:ext uri="{BB962C8B-B14F-4D97-AF65-F5344CB8AC3E}">
        <p14:creationId xmlns:p14="http://schemas.microsoft.com/office/powerpoint/2010/main" val="187945753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D4C10E-8036-2716-7AE7-00CD3FAF6CF8}"/>
              </a:ext>
            </a:extLst>
          </p:cNvPr>
          <p:cNvSpPr>
            <a:spLocks noGrp="1"/>
          </p:cNvSpPr>
          <p:nvPr>
            <p:ph type="sldNum" sz="quarter" idx="10"/>
          </p:nvPr>
        </p:nvSpPr>
        <p:spPr/>
        <p:txBody>
          <a:bodyPr/>
          <a:lstStyle/>
          <a:p>
            <a:fld id="{87BBDC00-B9E2-4EFD-9306-2934E87247C6}" type="slidenum">
              <a:rPr lang="zh-CN" altLang="en-US" smtClean="0"/>
              <a:pPr/>
              <a:t>124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优化器系统</a:t>
            </a:r>
          </a:p>
        </p:txBody>
      </p:sp>
      <p:sp>
        <p:nvSpPr>
          <p:cNvPr id="4" name="页脚占位符 3">
            <a:extLst>
              <a:ext uri="{FF2B5EF4-FFF2-40B4-BE49-F238E27FC236}">
                <a16:creationId xmlns:a16="http://schemas.microsoft.com/office/drawing/2014/main" id="{919B077D-85E6-B5DA-5FC6-585B6B26089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2831670" y="2106678"/>
            <a:ext cx="11456894"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514350" indent="-514350">
              <a:lnSpc>
                <a:spcPct val="150000"/>
              </a:lnSpc>
              <a:buFont typeface="+mj-ea"/>
              <a:buAutoNum type="circleNumDbPlain"/>
            </a:pPr>
            <a:r>
              <a:rPr lang="zh-CN" altLang="en-US" sz="2800" b="1" dirty="0">
                <a:solidFill>
                  <a:srgbClr val="701988"/>
                </a:solidFill>
                <a:latin typeface="+mj-ea"/>
                <a:ea typeface="+mj-ea"/>
              </a:rPr>
              <a:t>优化器系统的计划生成</a:t>
            </a:r>
            <a:endParaRPr lang="en-US" altLang="zh-CN" sz="2800" b="1" dirty="0">
              <a:solidFill>
                <a:srgbClr val="701988"/>
              </a:solidFill>
              <a:latin typeface="+mj-ea"/>
              <a:ea typeface="+mj-ea"/>
            </a:endParaRPr>
          </a:p>
          <a:p>
            <a:pPr marL="514350" indent="-514350">
              <a:lnSpc>
                <a:spcPct val="150000"/>
              </a:lnSpc>
              <a:buFont typeface="+mj-ea"/>
              <a:buAutoNum type="circleNumDbPlain"/>
            </a:pPr>
            <a:r>
              <a:rPr lang="zh-CN" altLang="en-US" sz="2800" dirty="0">
                <a:latin typeface="+mj-ea"/>
                <a:ea typeface="+mj-ea"/>
              </a:rPr>
              <a:t>物化与流水线</a:t>
            </a:r>
            <a:endParaRPr lang="en-US" altLang="zh-CN" sz="2800" dirty="0">
              <a:latin typeface="+mj-ea"/>
              <a:ea typeface="+mj-ea"/>
            </a:endParaRPr>
          </a:p>
          <a:p>
            <a:pPr lvl="1">
              <a:buFont typeface="Wingdings" pitchFamily="2" charset="2"/>
              <a:buChar char="Ø"/>
            </a:pPr>
            <a:endParaRPr lang="en-US" altLang="zh-CN" sz="2400" b="1" kern="0" dirty="0">
              <a:latin typeface="+mj-ea"/>
              <a:ea typeface="+mj-ea"/>
            </a:endParaRPr>
          </a:p>
          <a:p>
            <a:pPr>
              <a:buFont typeface="Wingdings" pitchFamily="2" charset="2"/>
              <a:buChar char="p"/>
            </a:pPr>
            <a:endParaRPr lang="en-US" altLang="zh-CN" sz="28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000" b="1" kern="0" dirty="0">
                <a:latin typeface="+mj-ea"/>
                <a:ea typeface="+mj-ea"/>
              </a:rPr>
              <a:t> </a:t>
            </a:r>
            <a:endParaRPr lang="zh-CN" altLang="en-US" sz="2000" b="1" kern="0" dirty="0">
              <a:latin typeface="+mj-ea"/>
              <a:ea typeface="+mj-ea"/>
            </a:endParaRPr>
          </a:p>
        </p:txBody>
      </p:sp>
    </p:spTree>
    <p:extLst>
      <p:ext uri="{BB962C8B-B14F-4D97-AF65-F5344CB8AC3E}">
        <p14:creationId xmlns:p14="http://schemas.microsoft.com/office/powerpoint/2010/main" val="394925956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0FF52922-3D42-4412-80D4-E8608AC407DF}"/>
              </a:ext>
            </a:extLst>
          </p:cNvPr>
          <p:cNvSpPr/>
          <p:nvPr/>
        </p:nvSpPr>
        <p:spPr>
          <a:xfrm>
            <a:off x="6545267" y="3583514"/>
            <a:ext cx="4659979" cy="239330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Shape18">
            <a:extLst>
              <a:ext uri="{FF2B5EF4-FFF2-40B4-BE49-F238E27FC236}">
                <a16:creationId xmlns:a16="http://schemas.microsoft.com/office/drawing/2014/main" id="{0FF52922-3D42-4412-80D4-E8608AC407DF}"/>
              </a:ext>
            </a:extLst>
          </p:cNvPr>
          <p:cNvSpPr/>
          <p:nvPr/>
        </p:nvSpPr>
        <p:spPr>
          <a:xfrm>
            <a:off x="914401" y="3576206"/>
            <a:ext cx="4659979" cy="239330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0D410A71-9BD2-54C7-1B06-A1D45E87ED91}"/>
              </a:ext>
            </a:extLst>
          </p:cNvPr>
          <p:cNvSpPr>
            <a:spLocks noGrp="1"/>
          </p:cNvSpPr>
          <p:nvPr>
            <p:ph type="sldNum" sz="quarter" idx="10"/>
          </p:nvPr>
        </p:nvSpPr>
        <p:spPr/>
        <p:txBody>
          <a:bodyPr/>
          <a:lstStyle/>
          <a:p>
            <a:fld id="{87BBDC00-B9E2-4EFD-9306-2934E87247C6}" type="slidenum">
              <a:rPr lang="zh-CN" altLang="en-US" smtClean="0"/>
              <a:pPr/>
              <a:t>125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自底向上 </a:t>
            </a:r>
            <a:r>
              <a:rPr lang="en-US" altLang="zh-CN" dirty="0"/>
              <a:t>vs</a:t>
            </a:r>
            <a:r>
              <a:rPr lang="zh-CN" altLang="en-US" dirty="0"/>
              <a:t> 自顶向下</a:t>
            </a:r>
            <a:endParaRPr kumimoji="1" lang="zh-CN" altLang="en-US" dirty="0"/>
          </a:p>
        </p:txBody>
      </p:sp>
      <p:sp>
        <p:nvSpPr>
          <p:cNvPr id="8" name="页脚占位符 7">
            <a:extLst>
              <a:ext uri="{FF2B5EF4-FFF2-40B4-BE49-F238E27FC236}">
                <a16:creationId xmlns:a16="http://schemas.microsoft.com/office/drawing/2014/main" id="{9FE21B12-989C-3B09-AC55-D8021570D7DF}"/>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914401" y="1593155"/>
            <a:ext cx="5517932" cy="27085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422041" lvl="1" indent="0">
              <a:buNone/>
            </a:pPr>
            <a:r>
              <a:rPr lang="zh-CN" altLang="en-US" sz="2400" b="1" kern="0" dirty="0">
                <a:solidFill>
                  <a:srgbClr val="701988"/>
                </a:solidFill>
                <a:latin typeface="+mj-ea"/>
                <a:ea typeface="+mj-ea"/>
              </a:rPr>
              <a:t>自底向上（例如</a:t>
            </a:r>
            <a:r>
              <a:rPr lang="en-US" altLang="zh-CN" sz="2400" b="1" kern="0" dirty="0">
                <a:solidFill>
                  <a:srgbClr val="701988"/>
                </a:solidFill>
                <a:latin typeface="+mj-ea"/>
                <a:ea typeface="+mj-ea"/>
              </a:rPr>
              <a:t>R</a:t>
            </a:r>
            <a:r>
              <a:rPr lang="zh-CN" altLang="en-US" sz="2400" b="1" kern="0" dirty="0">
                <a:solidFill>
                  <a:srgbClr val="701988"/>
                </a:solidFill>
                <a:latin typeface="+mj-ea"/>
                <a:ea typeface="+mj-ea"/>
              </a:rPr>
              <a:t>系统）</a:t>
            </a:r>
            <a:endParaRPr lang="en-US" altLang="zh-CN" sz="2400" b="1" kern="0" dirty="0">
              <a:solidFill>
                <a:srgbClr val="701988"/>
              </a:solidFill>
              <a:latin typeface="+mj-ea"/>
              <a:ea typeface="+mj-ea"/>
            </a:endParaRPr>
          </a:p>
          <a:p>
            <a:pPr>
              <a:buFont typeface="Arial" panose="020B0604020202020204" pitchFamily="34" charset="0"/>
              <a:buChar char="•"/>
            </a:pPr>
            <a:r>
              <a:rPr lang="zh-CN" altLang="en-US" sz="2000" kern="0" dirty="0">
                <a:latin typeface="+mj-ea"/>
                <a:ea typeface="+mj-ea"/>
              </a:rPr>
              <a:t>直观，易于实现</a:t>
            </a:r>
            <a:endParaRPr lang="en-US" altLang="zh-CN" sz="2000" kern="0" dirty="0">
              <a:latin typeface="+mj-ea"/>
              <a:ea typeface="+mj-ea"/>
            </a:endParaRPr>
          </a:p>
          <a:p>
            <a:pPr>
              <a:buFont typeface="Arial" panose="020B0604020202020204" pitchFamily="34" charset="0"/>
              <a:buChar char="•"/>
            </a:pPr>
            <a:r>
              <a:rPr lang="zh-CN" altLang="en-US" sz="2000" kern="0" dirty="0">
                <a:latin typeface="+mj-ea"/>
                <a:ea typeface="+mj-ea"/>
              </a:rPr>
              <a:t>难以使用剪枝策略</a:t>
            </a:r>
            <a:endParaRPr lang="en-US" altLang="zh-CN" sz="2000" kern="0" dirty="0">
              <a:latin typeface="+mj-ea"/>
              <a:ea typeface="+mj-ea"/>
            </a:endParaRPr>
          </a:p>
          <a:p>
            <a:pPr>
              <a:buFont typeface="Arial" panose="020B0604020202020204" pitchFamily="34" charset="0"/>
              <a:buChar char="•"/>
            </a:pPr>
            <a:r>
              <a:rPr lang="zh-CN" altLang="en-US" sz="2000" kern="0" dirty="0">
                <a:latin typeface="+mj-ea"/>
                <a:ea typeface="+mj-ea"/>
              </a:rPr>
              <a:t>无法提前停止</a:t>
            </a:r>
            <a:endParaRPr lang="en-US" altLang="zh-CN" sz="20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pic>
        <p:nvPicPr>
          <p:cNvPr id="4" name="图片 3">
            <a:extLst>
              <a:ext uri="{FF2B5EF4-FFF2-40B4-BE49-F238E27FC236}">
                <a16:creationId xmlns:a16="http://schemas.microsoft.com/office/drawing/2014/main" id="{80EF3E59-610B-8312-FC96-30E174851F55}"/>
              </a:ext>
            </a:extLst>
          </p:cNvPr>
          <p:cNvPicPr>
            <a:picLocks noChangeAspect="1"/>
          </p:cNvPicPr>
          <p:nvPr/>
        </p:nvPicPr>
        <p:blipFill>
          <a:blip r:embed="rId3"/>
          <a:stretch>
            <a:fillRect/>
          </a:stretch>
        </p:blipFill>
        <p:spPr>
          <a:xfrm>
            <a:off x="1446030" y="3891539"/>
            <a:ext cx="3795822" cy="1918466"/>
          </a:xfrm>
          <a:prstGeom prst="rect">
            <a:avLst/>
          </a:prstGeom>
        </p:spPr>
      </p:pic>
      <p:pic>
        <p:nvPicPr>
          <p:cNvPr id="5" name="图片 4">
            <a:extLst>
              <a:ext uri="{FF2B5EF4-FFF2-40B4-BE49-F238E27FC236}">
                <a16:creationId xmlns:a16="http://schemas.microsoft.com/office/drawing/2014/main" id="{2C65E00D-34FF-0306-9322-4FBE068FF306}"/>
              </a:ext>
            </a:extLst>
          </p:cNvPr>
          <p:cNvPicPr>
            <a:picLocks noChangeAspect="1"/>
          </p:cNvPicPr>
          <p:nvPr/>
        </p:nvPicPr>
        <p:blipFill>
          <a:blip r:embed="rId4"/>
          <a:stretch>
            <a:fillRect/>
          </a:stretch>
        </p:blipFill>
        <p:spPr>
          <a:xfrm>
            <a:off x="7427425" y="3813624"/>
            <a:ext cx="2895662" cy="1918466"/>
          </a:xfrm>
          <a:prstGeom prst="rect">
            <a:avLst/>
          </a:prstGeom>
        </p:spPr>
      </p:pic>
      <p:sp>
        <p:nvSpPr>
          <p:cNvPr id="7" name="内容占位符 2">
            <a:extLst>
              <a:ext uri="{FF2B5EF4-FFF2-40B4-BE49-F238E27FC236}">
                <a16:creationId xmlns:a16="http://schemas.microsoft.com/office/drawing/2014/main" id="{016C5E4A-6030-0C08-2A18-24C8E8477B22}"/>
              </a:ext>
            </a:extLst>
          </p:cNvPr>
          <p:cNvSpPr txBox="1">
            <a:spLocks/>
          </p:cNvSpPr>
          <p:nvPr/>
        </p:nvSpPr>
        <p:spPr bwMode="auto">
          <a:xfrm>
            <a:off x="6435958" y="1593155"/>
            <a:ext cx="5517932" cy="27085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422041" lvl="1" indent="0">
              <a:buNone/>
            </a:pPr>
            <a:r>
              <a:rPr lang="zh-CN" altLang="en-US" sz="2400" b="1" kern="0" dirty="0">
                <a:solidFill>
                  <a:srgbClr val="701988"/>
                </a:solidFill>
                <a:latin typeface="+mj-ea"/>
                <a:ea typeface="+mj-ea"/>
              </a:rPr>
              <a:t>自顶向下（例如</a:t>
            </a:r>
            <a:r>
              <a:rPr lang="en-US" altLang="zh-CN" sz="2400" b="1" kern="0" dirty="0">
                <a:solidFill>
                  <a:srgbClr val="701988"/>
                </a:solidFill>
                <a:latin typeface="+mj-ea"/>
                <a:ea typeface="+mj-ea"/>
              </a:rPr>
              <a:t>Cascades</a:t>
            </a:r>
            <a:r>
              <a:rPr lang="zh-CN" altLang="en-US" sz="2400" b="1" kern="0" dirty="0">
                <a:solidFill>
                  <a:srgbClr val="701988"/>
                </a:solidFill>
                <a:latin typeface="+mj-ea"/>
                <a:ea typeface="+mj-ea"/>
              </a:rPr>
              <a:t>）</a:t>
            </a:r>
            <a:endParaRPr lang="en-US" altLang="zh-CN" sz="2400" b="1" kern="0" dirty="0">
              <a:solidFill>
                <a:srgbClr val="701988"/>
              </a:solidFill>
              <a:latin typeface="+mj-ea"/>
              <a:ea typeface="+mj-ea"/>
            </a:endParaRPr>
          </a:p>
          <a:p>
            <a:pPr>
              <a:buFont typeface="Arial" panose="020B0604020202020204" pitchFamily="34" charset="0"/>
              <a:buChar char="•"/>
            </a:pPr>
            <a:r>
              <a:rPr lang="zh-CN" altLang="en-US" sz="2000" kern="0" dirty="0">
                <a:latin typeface="+mj-ea"/>
                <a:ea typeface="+mj-ea"/>
              </a:rPr>
              <a:t>实现比较复杂</a:t>
            </a:r>
            <a:endParaRPr lang="en-US" altLang="zh-CN" sz="2000" kern="0" dirty="0">
              <a:latin typeface="+mj-ea"/>
              <a:ea typeface="+mj-ea"/>
            </a:endParaRPr>
          </a:p>
          <a:p>
            <a:pPr>
              <a:buFont typeface="Arial" panose="020B0604020202020204" pitchFamily="34" charset="0"/>
              <a:buChar char="•"/>
            </a:pPr>
            <a:r>
              <a:rPr lang="zh-CN" altLang="en-US" sz="2000" kern="0" dirty="0">
                <a:latin typeface="+mj-ea"/>
                <a:ea typeface="+mj-ea"/>
              </a:rPr>
              <a:t>易于添加新规则</a:t>
            </a:r>
            <a:endParaRPr lang="en-US" altLang="zh-CN" sz="2000" kern="0" dirty="0">
              <a:latin typeface="+mj-ea"/>
              <a:ea typeface="+mj-ea"/>
            </a:endParaRPr>
          </a:p>
          <a:p>
            <a:pPr>
              <a:buFont typeface="Arial" panose="020B0604020202020204" pitchFamily="34" charset="0"/>
              <a:buChar char="•"/>
            </a:pPr>
            <a:r>
              <a:rPr lang="zh-CN" altLang="en-US" sz="2000" kern="0" dirty="0">
                <a:latin typeface="+mj-ea"/>
                <a:ea typeface="+mj-ea"/>
              </a:rPr>
              <a:t>可以进行大量剪枝</a:t>
            </a:r>
            <a:endParaRPr lang="en-US" altLang="zh-CN" sz="20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318912688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2743204" y="2658139"/>
            <a:ext cx="6730405" cy="356190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0D410A71-9BD2-54C7-1B06-A1D45E87ED91}"/>
              </a:ext>
            </a:extLst>
          </p:cNvPr>
          <p:cNvSpPr>
            <a:spLocks noGrp="1"/>
          </p:cNvSpPr>
          <p:nvPr>
            <p:ph type="sldNum" sz="quarter" idx="10"/>
          </p:nvPr>
        </p:nvSpPr>
        <p:spPr/>
        <p:txBody>
          <a:bodyPr/>
          <a:lstStyle/>
          <a:p>
            <a:fld id="{87BBDC00-B9E2-4EFD-9306-2934E87247C6}" type="slidenum">
              <a:rPr lang="zh-CN" altLang="en-US" smtClean="0"/>
              <a:pPr/>
              <a:t>126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自底向上 </a:t>
            </a:r>
            <a:r>
              <a:rPr lang="en-US" altLang="zh-CN" dirty="0"/>
              <a:t>vs</a:t>
            </a:r>
            <a:r>
              <a:rPr lang="zh-CN" altLang="en-US" dirty="0"/>
              <a:t> 自顶向下</a:t>
            </a:r>
            <a:endParaRPr kumimoji="1" lang="zh-CN" altLang="en-US" dirty="0"/>
          </a:p>
        </p:txBody>
      </p:sp>
      <p:sp>
        <p:nvSpPr>
          <p:cNvPr id="4" name="页脚占位符 3">
            <a:extLst>
              <a:ext uri="{FF2B5EF4-FFF2-40B4-BE49-F238E27FC236}">
                <a16:creationId xmlns:a16="http://schemas.microsoft.com/office/drawing/2014/main" id="{B9D9F33B-FD7E-D222-5527-86343ABE8375}"/>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056884" cy="27085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kern="0" dirty="0">
                <a:latin typeface="+mj-ea"/>
                <a:ea typeface="+mj-ea"/>
              </a:rPr>
              <a:t>自底向上</a:t>
            </a:r>
            <a:r>
              <a:rPr lang="en-US" altLang="zh-CN" sz="2400" b="1" kern="0" dirty="0">
                <a:latin typeface="+mj-ea"/>
                <a:ea typeface="+mj-ea"/>
              </a:rPr>
              <a:t>R</a:t>
            </a:r>
            <a:r>
              <a:rPr lang="zh-CN" altLang="en-US" sz="2400" b="1" kern="0" dirty="0">
                <a:latin typeface="+mj-ea"/>
                <a:ea typeface="+mj-ea"/>
              </a:rPr>
              <a:t>系统：枚举计划并选择代价最低的计划</a:t>
            </a:r>
            <a:endParaRPr lang="en-US" altLang="zh-CN" sz="2400" b="1" kern="0" dirty="0">
              <a:latin typeface="+mj-ea"/>
              <a:ea typeface="+mj-ea"/>
            </a:endParaRPr>
          </a:p>
          <a:p>
            <a:pPr>
              <a:lnSpc>
                <a:spcPct val="150000"/>
              </a:lnSpc>
              <a:buFont typeface="Wingdings" panose="05000000000000000000" pitchFamily="2" charset="2"/>
              <a:buChar char="Ø"/>
            </a:pPr>
            <a:r>
              <a:rPr lang="zh-CN" altLang="en-US" sz="2400" b="1" kern="0" dirty="0">
                <a:latin typeface="+mj-ea"/>
                <a:ea typeface="+mj-ea"/>
              </a:rPr>
              <a:t>自顶向下</a:t>
            </a:r>
            <a:r>
              <a:rPr lang="en-US" altLang="zh-CN" sz="2400" b="1" kern="0" dirty="0">
                <a:latin typeface="+mj-ea"/>
                <a:ea typeface="+mj-ea"/>
              </a:rPr>
              <a:t>Cascades</a:t>
            </a:r>
            <a:r>
              <a:rPr lang="zh-CN" altLang="en-US" sz="2400" b="1" kern="0" dirty="0">
                <a:latin typeface="+mj-ea"/>
                <a:ea typeface="+mj-ea"/>
              </a:rPr>
              <a:t>：优化的过程中不断剪枝</a:t>
            </a:r>
            <a:endParaRPr lang="en-US" altLang="zh-CN" sz="24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400" b="1" kern="0" dirty="0">
                <a:latin typeface="+mj-ea"/>
                <a:ea typeface="+mj-ea"/>
              </a:rPr>
              <a:t> </a:t>
            </a:r>
            <a:endParaRPr lang="zh-CN" altLang="en-US" sz="2400" b="1" kern="0" dirty="0">
              <a:latin typeface="+mj-ea"/>
              <a:ea typeface="+mj-ea"/>
            </a:endParaRPr>
          </a:p>
        </p:txBody>
      </p:sp>
      <p:pic>
        <p:nvPicPr>
          <p:cNvPr id="8" name="图片 7">
            <a:extLst>
              <a:ext uri="{FF2B5EF4-FFF2-40B4-BE49-F238E27FC236}">
                <a16:creationId xmlns:a16="http://schemas.microsoft.com/office/drawing/2014/main" id="{6DAECCF8-3516-7E7A-26B3-85E75DEC5736}"/>
              </a:ext>
            </a:extLst>
          </p:cNvPr>
          <p:cNvPicPr>
            <a:picLocks noChangeAspect="1"/>
          </p:cNvPicPr>
          <p:nvPr/>
        </p:nvPicPr>
        <p:blipFill>
          <a:blip r:embed="rId3"/>
          <a:stretch>
            <a:fillRect/>
          </a:stretch>
        </p:blipFill>
        <p:spPr>
          <a:xfrm>
            <a:off x="2985980" y="2892062"/>
            <a:ext cx="6232452" cy="3094585"/>
          </a:xfrm>
          <a:prstGeom prst="rect">
            <a:avLst/>
          </a:prstGeom>
        </p:spPr>
      </p:pic>
    </p:spTree>
    <p:extLst>
      <p:ext uri="{BB962C8B-B14F-4D97-AF65-F5344CB8AC3E}">
        <p14:creationId xmlns:p14="http://schemas.microsoft.com/office/powerpoint/2010/main" val="293674374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2360432" y="1736662"/>
            <a:ext cx="7474690" cy="432389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0D410A71-9BD2-54C7-1B06-A1D45E87ED91}"/>
              </a:ext>
            </a:extLst>
          </p:cNvPr>
          <p:cNvSpPr>
            <a:spLocks noGrp="1"/>
          </p:cNvSpPr>
          <p:nvPr>
            <p:ph type="sldNum" sz="quarter" idx="10"/>
          </p:nvPr>
        </p:nvSpPr>
        <p:spPr/>
        <p:txBody>
          <a:bodyPr/>
          <a:lstStyle/>
          <a:p>
            <a:fld id="{87BBDC00-B9E2-4EFD-9306-2934E87247C6}" type="slidenum">
              <a:rPr lang="zh-CN" altLang="en-US" smtClean="0"/>
              <a:pPr/>
              <a:t>127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自底向上 </a:t>
            </a:r>
            <a:r>
              <a:rPr lang="en-US" altLang="zh-CN" dirty="0"/>
              <a:t>vs</a:t>
            </a:r>
            <a:r>
              <a:rPr lang="zh-CN" altLang="en-US" dirty="0"/>
              <a:t> 自顶向下</a:t>
            </a:r>
            <a:endParaRPr kumimoji="1" lang="zh-CN" altLang="en-US" dirty="0"/>
          </a:p>
        </p:txBody>
      </p:sp>
      <p:sp>
        <p:nvSpPr>
          <p:cNvPr id="5" name="页脚占位符 4">
            <a:extLst>
              <a:ext uri="{FF2B5EF4-FFF2-40B4-BE49-F238E27FC236}">
                <a16:creationId xmlns:a16="http://schemas.microsoft.com/office/drawing/2014/main" id="{5CC7DB13-5CD2-BC9D-5FA5-286AF62D232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373F2458-C697-50CF-3AEB-8D7B50F88679}"/>
              </a:ext>
            </a:extLst>
          </p:cNvPr>
          <p:cNvPicPr>
            <a:picLocks noChangeAspect="1"/>
          </p:cNvPicPr>
          <p:nvPr/>
        </p:nvPicPr>
        <p:blipFill>
          <a:blip r:embed="rId3"/>
          <a:stretch>
            <a:fillRect/>
          </a:stretch>
        </p:blipFill>
        <p:spPr>
          <a:xfrm>
            <a:off x="3405387" y="1938681"/>
            <a:ext cx="5387737" cy="3894529"/>
          </a:xfrm>
          <a:prstGeom prst="rect">
            <a:avLst/>
          </a:prstGeom>
        </p:spPr>
      </p:pic>
    </p:spTree>
    <p:extLst>
      <p:ext uri="{BB962C8B-B14F-4D97-AF65-F5344CB8AC3E}">
        <p14:creationId xmlns:p14="http://schemas.microsoft.com/office/powerpoint/2010/main" val="378124493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6526203-A735-0955-D2A8-122C390C7784}"/>
              </a:ext>
            </a:extLst>
          </p:cNvPr>
          <p:cNvSpPr>
            <a:spLocks noGrp="1"/>
          </p:cNvSpPr>
          <p:nvPr>
            <p:ph type="sldNum" sz="quarter" idx="10"/>
          </p:nvPr>
        </p:nvSpPr>
        <p:spPr/>
        <p:txBody>
          <a:bodyPr/>
          <a:lstStyle/>
          <a:p>
            <a:fld id="{87BBDC00-B9E2-4EFD-9306-2934E87247C6}" type="slidenum">
              <a:rPr lang="zh-CN" altLang="en-US" smtClean="0"/>
              <a:pPr/>
              <a:t>128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自底向上</a:t>
            </a:r>
            <a:endParaRPr kumimoji="1" lang="zh-CN" altLang="en-US" dirty="0"/>
          </a:p>
        </p:txBody>
      </p:sp>
      <p:sp>
        <p:nvSpPr>
          <p:cNvPr id="4" name="页脚占位符 3">
            <a:extLst>
              <a:ext uri="{FF2B5EF4-FFF2-40B4-BE49-F238E27FC236}">
                <a16:creationId xmlns:a16="http://schemas.microsoft.com/office/drawing/2014/main" id="{47595B0B-10BA-49CC-EC04-21A77429D12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685301" y="1208125"/>
            <a:ext cx="10663393" cy="5547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spcBef>
                <a:spcPts val="0"/>
              </a:spcBef>
              <a:buFont typeface="Wingdings" panose="05000000000000000000" pitchFamily="2" charset="2"/>
              <a:buChar char="Ø"/>
            </a:pPr>
            <a:r>
              <a:rPr lang="zh-CN" altLang="zh-CN" sz="2400" dirty="0">
                <a:latin typeface="+mj-ea"/>
                <a:ea typeface="+mj-ea"/>
              </a:rPr>
              <a:t>动态规划是一种典型的“</a:t>
            </a:r>
            <a:r>
              <a:rPr lang="zh-CN" altLang="zh-CN" sz="2400" dirty="0">
                <a:solidFill>
                  <a:srgbClr val="701988"/>
                </a:solidFill>
                <a:latin typeface="+mj-ea"/>
                <a:ea typeface="+mj-ea"/>
              </a:rPr>
              <a:t>自底向上</a:t>
            </a:r>
            <a:r>
              <a:rPr lang="zh-CN" altLang="zh-CN" sz="2400" dirty="0">
                <a:latin typeface="+mj-ea"/>
                <a:ea typeface="+mj-ea"/>
              </a:rPr>
              <a:t>”的方法</a:t>
            </a:r>
            <a:endParaRPr lang="en-US" altLang="zh-CN" sz="2400" dirty="0">
              <a:latin typeface="+mj-ea"/>
              <a:ea typeface="+mj-ea"/>
            </a:endParaRPr>
          </a:p>
          <a:p>
            <a:pPr>
              <a:lnSpc>
                <a:spcPct val="150000"/>
              </a:lnSpc>
              <a:spcBef>
                <a:spcPts val="0"/>
              </a:spcBef>
              <a:buFont typeface="Wingdings" panose="05000000000000000000" pitchFamily="2" charset="2"/>
              <a:buChar char="Ø"/>
            </a:pPr>
            <a:r>
              <a:rPr lang="zh-CN" altLang="zh-CN" sz="2400" dirty="0">
                <a:latin typeface="+mj-ea"/>
                <a:ea typeface="+mj-ea"/>
              </a:rPr>
              <a:t>“自底向上”指</a:t>
            </a:r>
            <a:r>
              <a:rPr lang="zh-CN" altLang="en-US" sz="2400" dirty="0">
                <a:latin typeface="+mj-ea"/>
                <a:ea typeface="+mj-ea"/>
              </a:rPr>
              <a:t>：</a:t>
            </a:r>
            <a:r>
              <a:rPr lang="zh-CN" altLang="zh-CN" sz="2400" dirty="0">
                <a:latin typeface="+mj-ea"/>
                <a:ea typeface="+mj-ea"/>
              </a:rPr>
              <a:t>由空白的物理计划开始，从叶子</a:t>
            </a:r>
            <a:r>
              <a:rPr lang="zh-CN" altLang="en-US" sz="2400" dirty="0">
                <a:latin typeface="+mj-ea"/>
                <a:ea typeface="+mj-ea"/>
              </a:rPr>
              <a:t>节点</a:t>
            </a:r>
            <a:r>
              <a:rPr lang="zh-CN" altLang="zh-CN" sz="2400" dirty="0">
                <a:latin typeface="+mj-ea"/>
                <a:ea typeface="+mj-ea"/>
              </a:rPr>
              <a:t>出发，考虑每个子表达式，对可能的转换方法搜索，</a:t>
            </a:r>
            <a:r>
              <a:rPr lang="zh-CN" altLang="en-US" sz="2400" dirty="0">
                <a:latin typeface="+mj-ea"/>
                <a:ea typeface="+mj-ea"/>
              </a:rPr>
              <a:t>结合</a:t>
            </a:r>
            <a:r>
              <a:rPr lang="zh-CN" altLang="zh-CN" sz="2400" dirty="0">
                <a:latin typeface="+mj-ea"/>
                <a:ea typeface="+mj-ea"/>
              </a:rPr>
              <a:t>代价估计，每一步中选取</a:t>
            </a:r>
            <a:r>
              <a:rPr lang="zh-CN" altLang="zh-CN" sz="2400" dirty="0">
                <a:solidFill>
                  <a:srgbClr val="701988"/>
                </a:solidFill>
                <a:latin typeface="+mj-ea"/>
                <a:ea typeface="+mj-ea"/>
              </a:rPr>
              <a:t>代价最小</a:t>
            </a:r>
            <a:r>
              <a:rPr lang="zh-CN" altLang="zh-CN" sz="2400" dirty="0">
                <a:latin typeface="+mj-ea"/>
                <a:ea typeface="+mj-ea"/>
              </a:rPr>
              <a:t>的物理运算，最终确定整个计划树。 </a:t>
            </a:r>
            <a:endParaRPr lang="en-US" altLang="zh-CN" sz="2400" dirty="0">
              <a:latin typeface="+mj-ea"/>
              <a:ea typeface="+mj-ea"/>
            </a:endParaRPr>
          </a:p>
          <a:p>
            <a:pPr>
              <a:lnSpc>
                <a:spcPct val="150000"/>
              </a:lnSpc>
              <a:spcBef>
                <a:spcPts val="0"/>
              </a:spcBef>
              <a:buFont typeface="Wingdings" panose="05000000000000000000" pitchFamily="2" charset="2"/>
              <a:buChar char="Ø"/>
            </a:pPr>
            <a:r>
              <a:rPr lang="zh-CN" altLang="zh-CN" sz="2400" dirty="0">
                <a:latin typeface="+mj-ea"/>
                <a:ea typeface="+mj-ea"/>
              </a:rPr>
              <a:t>动态规划算法中，每个子表达式</a:t>
            </a:r>
            <a:r>
              <a:rPr lang="zh-CN" altLang="en-US" sz="2400" dirty="0">
                <a:latin typeface="+mj-ea"/>
                <a:ea typeface="+mj-ea"/>
              </a:rPr>
              <a:t>仅</a:t>
            </a:r>
            <a:r>
              <a:rPr lang="zh-CN" altLang="zh-CN" sz="2400" dirty="0">
                <a:latin typeface="+mj-ea"/>
                <a:ea typeface="+mj-ea"/>
              </a:rPr>
              <a:t>代价最小的计划会被保留</a:t>
            </a:r>
            <a:endParaRPr lang="en-US" altLang="zh-CN" sz="2400" dirty="0">
              <a:latin typeface="+mj-ea"/>
              <a:ea typeface="+mj-ea"/>
            </a:endParaRPr>
          </a:p>
          <a:p>
            <a:pPr lvl="1">
              <a:lnSpc>
                <a:spcPct val="150000"/>
              </a:lnSpc>
              <a:spcBef>
                <a:spcPts val="0"/>
              </a:spcBef>
              <a:buFont typeface="Arial" panose="020B0604020202020204" pitchFamily="34" charset="0"/>
              <a:buChar char="•"/>
            </a:pPr>
            <a:r>
              <a:rPr lang="zh-CN" altLang="en-US" sz="2400" dirty="0">
                <a:latin typeface="+mj-ea"/>
                <a:ea typeface="+mj-ea"/>
              </a:rPr>
              <a:t>然而</a:t>
            </a:r>
            <a:r>
              <a:rPr lang="zh-CN" altLang="zh-CN" sz="2400" dirty="0">
                <a:latin typeface="+mj-ea"/>
                <a:ea typeface="+mj-ea"/>
              </a:rPr>
              <a:t>物理计划转换问题并不满足</a:t>
            </a:r>
            <a:r>
              <a:rPr lang="zh-CN" altLang="zh-CN" sz="2400" dirty="0">
                <a:solidFill>
                  <a:srgbClr val="701988"/>
                </a:solidFill>
                <a:latin typeface="+mj-ea"/>
                <a:ea typeface="+mj-ea"/>
              </a:rPr>
              <a:t>最优子结构</a:t>
            </a:r>
            <a:r>
              <a:rPr lang="zh-CN" altLang="zh-CN" sz="2400" dirty="0">
                <a:latin typeface="+mj-ea"/>
                <a:ea typeface="+mj-ea"/>
              </a:rPr>
              <a:t>的性质</a:t>
            </a:r>
            <a:endParaRPr lang="en-US" altLang="zh-CN" sz="2400" dirty="0">
              <a:latin typeface="+mj-ea"/>
              <a:ea typeface="+mj-ea"/>
            </a:endParaRPr>
          </a:p>
          <a:p>
            <a:pPr lvl="1">
              <a:lnSpc>
                <a:spcPct val="150000"/>
              </a:lnSpc>
              <a:spcBef>
                <a:spcPts val="0"/>
              </a:spcBef>
              <a:buFont typeface="Arial" panose="020B0604020202020204" pitchFamily="34" charset="0"/>
              <a:buChar char="•"/>
            </a:pPr>
            <a:r>
              <a:rPr lang="zh-CN" altLang="en-US" sz="2400" dirty="0">
                <a:latin typeface="+mj-ea"/>
                <a:ea typeface="+mj-ea"/>
              </a:rPr>
              <a:t>原始的</a:t>
            </a:r>
            <a:r>
              <a:rPr lang="zh-CN" altLang="zh-CN" sz="2400" dirty="0">
                <a:latin typeface="+mj-ea"/>
                <a:ea typeface="+mj-ea"/>
              </a:rPr>
              <a:t>动态规划算法并不能保证</a:t>
            </a:r>
            <a:r>
              <a:rPr lang="zh-CN" altLang="zh-CN" sz="2400" dirty="0">
                <a:solidFill>
                  <a:srgbClr val="701988"/>
                </a:solidFill>
                <a:latin typeface="+mj-ea"/>
                <a:ea typeface="+mj-ea"/>
              </a:rPr>
              <a:t>全局的最优</a:t>
            </a:r>
            <a:r>
              <a:rPr lang="zh-CN" altLang="en-US" sz="2400" dirty="0">
                <a:solidFill>
                  <a:srgbClr val="701988"/>
                </a:solidFill>
                <a:latin typeface="+mj-ea"/>
                <a:ea typeface="+mj-ea"/>
              </a:rPr>
              <a:t>（</a:t>
            </a:r>
            <a:r>
              <a:rPr lang="en-US" altLang="zh-CN" sz="2400" dirty="0">
                <a:solidFill>
                  <a:srgbClr val="701988"/>
                </a:solidFill>
                <a:latin typeface="+mj-ea"/>
                <a:ea typeface="+mj-ea"/>
              </a:rPr>
              <a:t>interesting</a:t>
            </a:r>
            <a:r>
              <a:rPr lang="zh-CN" altLang="en-US" sz="2400" dirty="0">
                <a:solidFill>
                  <a:srgbClr val="701988"/>
                </a:solidFill>
                <a:latin typeface="+mj-ea"/>
                <a:ea typeface="+mj-ea"/>
              </a:rPr>
              <a:t> </a:t>
            </a:r>
            <a:r>
              <a:rPr lang="en-US" altLang="zh-CN" sz="2400" dirty="0">
                <a:solidFill>
                  <a:srgbClr val="701988"/>
                </a:solidFill>
                <a:latin typeface="+mj-ea"/>
                <a:ea typeface="+mj-ea"/>
              </a:rPr>
              <a:t>order</a:t>
            </a:r>
            <a:r>
              <a:rPr lang="zh-CN" altLang="en-US" sz="2400" dirty="0">
                <a:solidFill>
                  <a:srgbClr val="701988"/>
                </a:solidFill>
                <a:latin typeface="+mj-ea"/>
                <a:ea typeface="+mj-ea"/>
              </a:rPr>
              <a:t> ）</a:t>
            </a:r>
            <a:r>
              <a:rPr lang="zh-CN" altLang="zh-CN" sz="2400" dirty="0">
                <a:solidFill>
                  <a:srgbClr val="701988"/>
                </a:solidFill>
                <a:latin typeface="+mj-ea"/>
                <a:ea typeface="+mj-ea"/>
              </a:rPr>
              <a:t> </a:t>
            </a:r>
            <a:endParaRPr lang="en-US" altLang="zh-CN" sz="2400" dirty="0">
              <a:solidFill>
                <a:srgbClr val="701988"/>
              </a:solidFill>
              <a:latin typeface="+mj-ea"/>
              <a:ea typeface="+mj-ea"/>
            </a:endParaRPr>
          </a:p>
          <a:p>
            <a:pPr marL="422041" lvl="1" indent="0">
              <a:lnSpc>
                <a:spcPct val="150000"/>
              </a:lnSpc>
              <a:buNone/>
            </a:pPr>
            <a:endParaRPr lang="zh-CN" altLang="zh-CN" dirty="0">
              <a:latin typeface="+mj-ea"/>
              <a:ea typeface="+mj-ea"/>
            </a:endParaRPr>
          </a:p>
          <a:p>
            <a:pPr lvl="1">
              <a:lnSpc>
                <a:spcPct val="150000"/>
              </a:lnSpc>
              <a:buFont typeface="Wingdings" pitchFamily="2" charset="2"/>
              <a:buChar char="Ø"/>
            </a:pPr>
            <a:endParaRPr lang="en-US" altLang="zh-CN" dirty="0">
              <a:latin typeface="+mj-ea"/>
              <a:ea typeface="+mj-ea"/>
            </a:endParaRPr>
          </a:p>
          <a:p>
            <a:pPr lvl="1">
              <a:lnSpc>
                <a:spcPct val="150000"/>
              </a:lnSpc>
              <a:buFont typeface="Wingdings" pitchFamily="2" charset="2"/>
              <a:buChar char="Ø"/>
            </a:pPr>
            <a:endParaRPr lang="en-US" altLang="zh-CN" kern="0" dirty="0">
              <a:latin typeface="+mj-ea"/>
              <a:ea typeface="+mj-ea"/>
            </a:endParaRPr>
          </a:p>
          <a:p>
            <a:pPr>
              <a:lnSpc>
                <a:spcPct val="150000"/>
              </a:lnSpc>
              <a:buFont typeface="Wingdings" pitchFamily="2" charset="2"/>
              <a:buChar char="p"/>
            </a:pPr>
            <a:endParaRPr lang="en-US" altLang="zh-CN" sz="2800" kern="0" dirty="0">
              <a:latin typeface="+mj-ea"/>
              <a:ea typeface="+mj-ea"/>
            </a:endParaRPr>
          </a:p>
          <a:p>
            <a:pPr lvl="1">
              <a:lnSpc>
                <a:spcPct val="150000"/>
              </a:lnSpc>
              <a:buFont typeface="Wingdings" pitchFamily="2" charset="2"/>
              <a:buChar char="p"/>
            </a:pPr>
            <a:endParaRPr lang="en-US" altLang="zh-CN" kern="0" dirty="0">
              <a:latin typeface="+mj-ea"/>
              <a:ea typeface="+mj-ea"/>
            </a:endParaRPr>
          </a:p>
          <a:p>
            <a:pPr marL="0" indent="0">
              <a:lnSpc>
                <a:spcPct val="150000"/>
              </a:lnSpc>
              <a:buFont typeface="Wingdings" charset="2"/>
              <a:buNone/>
            </a:pPr>
            <a:r>
              <a:rPr lang="zh-CN" altLang="zh-CN" sz="2800" kern="0" dirty="0">
                <a:latin typeface="+mj-ea"/>
                <a:ea typeface="+mj-ea"/>
              </a:rPr>
              <a:t> </a:t>
            </a:r>
            <a:endParaRPr lang="zh-CN" altLang="en-US" sz="2800" kern="0" dirty="0">
              <a:latin typeface="+mj-ea"/>
              <a:ea typeface="+mj-ea"/>
            </a:endParaRPr>
          </a:p>
        </p:txBody>
      </p:sp>
    </p:spTree>
    <p:extLst>
      <p:ext uri="{BB962C8B-B14F-4D97-AF65-F5344CB8AC3E}">
        <p14:creationId xmlns:p14="http://schemas.microsoft.com/office/powerpoint/2010/main" val="265572072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2692165" y="2246056"/>
            <a:ext cx="6839819" cy="289781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B63D99D8-27D9-9D36-AE7F-ECE8EA81BADE}"/>
              </a:ext>
            </a:extLst>
          </p:cNvPr>
          <p:cNvSpPr>
            <a:spLocks noGrp="1"/>
          </p:cNvSpPr>
          <p:nvPr>
            <p:ph type="sldNum" sz="quarter" idx="10"/>
          </p:nvPr>
        </p:nvSpPr>
        <p:spPr/>
        <p:txBody>
          <a:bodyPr/>
          <a:lstStyle/>
          <a:p>
            <a:fld id="{87BBDC00-B9E2-4EFD-9306-2934E87247C6}" type="slidenum">
              <a:rPr lang="zh-CN" altLang="en-US" smtClean="0"/>
              <a:pPr/>
              <a:t>129</a:t>
            </a:fld>
            <a:endParaRPr lang="zh-CN" altLang="en-US"/>
          </a:p>
        </p:txBody>
      </p:sp>
      <p:sp>
        <p:nvSpPr>
          <p:cNvPr id="3" name="标题 2">
            <a:extLst>
              <a:ext uri="{FF2B5EF4-FFF2-40B4-BE49-F238E27FC236}">
                <a16:creationId xmlns:a16="http://schemas.microsoft.com/office/drawing/2014/main" id="{225DF1C3-D981-B166-BB7F-71648EB9B427}"/>
              </a:ext>
            </a:extLst>
          </p:cNvPr>
          <p:cNvSpPr>
            <a:spLocks noGrp="1"/>
          </p:cNvSpPr>
          <p:nvPr>
            <p:ph type="title"/>
          </p:nvPr>
        </p:nvSpPr>
        <p:spPr/>
        <p:txBody>
          <a:bodyPr/>
          <a:lstStyle/>
          <a:p>
            <a:r>
              <a:rPr kumimoji="1" lang="zh-CN" altLang="en-US" dirty="0"/>
              <a:t>自底向上示例</a:t>
            </a:r>
          </a:p>
        </p:txBody>
      </p:sp>
      <p:sp>
        <p:nvSpPr>
          <p:cNvPr id="4" name="内容占位符 3">
            <a:extLst>
              <a:ext uri="{FF2B5EF4-FFF2-40B4-BE49-F238E27FC236}">
                <a16:creationId xmlns:a16="http://schemas.microsoft.com/office/drawing/2014/main" id="{62AA22FE-EFC9-2FF0-D853-0FB460412A40}"/>
              </a:ext>
            </a:extLst>
          </p:cNvPr>
          <p:cNvSpPr>
            <a:spLocks noGrp="1"/>
          </p:cNvSpPr>
          <p:nvPr>
            <p:ph idx="1"/>
          </p:nvPr>
        </p:nvSpPr>
        <p:spPr>
          <a:xfrm>
            <a:off x="1008000" y="1126800"/>
            <a:ext cx="10051886" cy="5005387"/>
          </a:xfrm>
        </p:spPr>
        <p:txBody>
          <a:bodyPr/>
          <a:lstStyle/>
          <a:p>
            <a:pPr>
              <a:lnSpc>
                <a:spcPct val="150000"/>
              </a:lnSpc>
              <a:buFont typeface="Wingdings" panose="05000000000000000000" pitchFamily="2" charset="2"/>
              <a:buChar char="Ø"/>
            </a:pPr>
            <a:r>
              <a:rPr lang="zh-CN" altLang="zh-CN" sz="2200" dirty="0"/>
              <a:t>确定计划的过程中，通过比较估计代价的大小，对每个连接运算选择代价最小的物理算法。 </a:t>
            </a:r>
            <a:endParaRPr lang="zh-CN" altLang="en-US" sz="2200" dirty="0"/>
          </a:p>
        </p:txBody>
      </p:sp>
      <p:sp>
        <p:nvSpPr>
          <p:cNvPr id="7" name="页脚占位符 6">
            <a:extLst>
              <a:ext uri="{FF2B5EF4-FFF2-40B4-BE49-F238E27FC236}">
                <a16:creationId xmlns:a16="http://schemas.microsoft.com/office/drawing/2014/main" id="{F61C2725-8E0B-31CB-D9AC-49439445BD5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8" name="内容占位符 3">
            <a:extLst>
              <a:ext uri="{FF2B5EF4-FFF2-40B4-BE49-F238E27FC236}">
                <a16:creationId xmlns:a16="http://schemas.microsoft.com/office/drawing/2014/main" id="{A53B28AC-A087-371D-9894-DE5E25643CDB}"/>
              </a:ext>
            </a:extLst>
          </p:cNvPr>
          <p:cNvSpPr txBox="1">
            <a:spLocks/>
          </p:cNvSpPr>
          <p:nvPr/>
        </p:nvSpPr>
        <p:spPr bwMode="auto">
          <a:xfrm>
            <a:off x="1008000" y="5279539"/>
            <a:ext cx="10874188" cy="10208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000" dirty="0">
                <a:solidFill>
                  <a:srgbClr val="701988"/>
                </a:solidFill>
                <a:latin typeface="+mj-ea"/>
                <a:ea typeface="+mj-ea"/>
              </a:rPr>
              <a:t>优点</a:t>
            </a:r>
            <a:r>
              <a:rPr lang="zh-CN" altLang="en-US" sz="2000" dirty="0">
                <a:latin typeface="+mj-ea"/>
                <a:ea typeface="+mj-ea"/>
              </a:rPr>
              <a:t>：容易实现，</a:t>
            </a:r>
            <a:r>
              <a:rPr lang="zh-CN" altLang="zh-CN" sz="2000" dirty="0">
                <a:latin typeface="+mj-ea"/>
                <a:ea typeface="+mj-ea"/>
              </a:rPr>
              <a:t>不需要穷尽搜索就能找到较为合理的执行计划</a:t>
            </a:r>
            <a:endParaRPr lang="en-US" altLang="zh-CN" sz="2000" dirty="0">
              <a:latin typeface="+mj-ea"/>
              <a:ea typeface="+mj-ea"/>
            </a:endParaRPr>
          </a:p>
          <a:p>
            <a:pPr>
              <a:lnSpc>
                <a:spcPct val="150000"/>
              </a:lnSpc>
              <a:buFont typeface="Wingdings" panose="05000000000000000000" pitchFamily="2" charset="2"/>
              <a:buChar char="Ø"/>
            </a:pPr>
            <a:r>
              <a:rPr lang="zh-CN" altLang="en-US" sz="2000" dirty="0">
                <a:solidFill>
                  <a:srgbClr val="701988"/>
                </a:solidFill>
                <a:latin typeface="+mj-ea"/>
                <a:ea typeface="+mj-ea"/>
              </a:rPr>
              <a:t>缺点</a:t>
            </a:r>
            <a:r>
              <a:rPr lang="zh-CN" altLang="en-US" sz="2000" dirty="0">
                <a:latin typeface="+mj-ea"/>
                <a:ea typeface="+mj-ea"/>
              </a:rPr>
              <a:t>：</a:t>
            </a:r>
            <a:r>
              <a:rPr lang="zh-CN" altLang="zh-CN" sz="2000" dirty="0">
                <a:latin typeface="+mj-ea"/>
                <a:ea typeface="+mj-ea"/>
              </a:rPr>
              <a:t>仍然没有摆脱启发式转换，</a:t>
            </a:r>
            <a:r>
              <a:rPr lang="zh-CN" altLang="en-US" sz="2000" dirty="0">
                <a:latin typeface="+mj-ea"/>
                <a:ea typeface="+mj-ea"/>
              </a:rPr>
              <a:t>优化时间长，添加规则繁琐</a:t>
            </a:r>
            <a:r>
              <a:rPr lang="zh-CN" altLang="zh-CN" sz="2000" dirty="0">
                <a:latin typeface="+mj-ea"/>
                <a:ea typeface="+mj-ea"/>
              </a:rPr>
              <a:t>。</a:t>
            </a:r>
          </a:p>
          <a:p>
            <a:endParaRPr lang="zh-CN" altLang="en-US" sz="2400" kern="0" dirty="0">
              <a:latin typeface="+mj-ea"/>
              <a:ea typeface="+mj-ea"/>
            </a:endParaRPr>
          </a:p>
        </p:txBody>
      </p:sp>
      <p:pic>
        <p:nvPicPr>
          <p:cNvPr id="10" name="图片 9">
            <a:extLst>
              <a:ext uri="{FF2B5EF4-FFF2-40B4-BE49-F238E27FC236}">
                <a16:creationId xmlns:a16="http://schemas.microsoft.com/office/drawing/2014/main" id="{8F901A99-0F9A-BF17-F459-65496B79A8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60251" y="2381724"/>
            <a:ext cx="5265736" cy="2603809"/>
          </a:xfrm>
          <a:prstGeom prst="rect">
            <a:avLst/>
          </a:prstGeom>
        </p:spPr>
      </p:pic>
    </p:spTree>
    <p:extLst>
      <p:ext uri="{BB962C8B-B14F-4D97-AF65-F5344CB8AC3E}">
        <p14:creationId xmlns:p14="http://schemas.microsoft.com/office/powerpoint/2010/main" val="68769469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0FF52922-3D42-4412-80D4-E8608AC407DF}"/>
              </a:ext>
            </a:extLst>
          </p:cNvPr>
          <p:cNvSpPr/>
          <p:nvPr/>
        </p:nvSpPr>
        <p:spPr>
          <a:xfrm>
            <a:off x="1946354" y="2831186"/>
            <a:ext cx="8280629" cy="350824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130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自顶向下</a:t>
            </a:r>
            <a:endParaRPr kumimoji="1" lang="zh-CN" altLang="en-US" dirty="0"/>
          </a:p>
        </p:txBody>
      </p:sp>
      <p:sp>
        <p:nvSpPr>
          <p:cNvPr id="4" name="页脚占位符 3">
            <a:extLst>
              <a:ext uri="{FF2B5EF4-FFF2-40B4-BE49-F238E27FC236}">
                <a16:creationId xmlns:a16="http://schemas.microsoft.com/office/drawing/2014/main" id="{BB1ECC46-F68D-7098-0889-1B729D95A6F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545596" y="1089673"/>
            <a:ext cx="9900745" cy="5903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kern="0" dirty="0">
                <a:latin typeface="+mj-ea"/>
                <a:ea typeface="+mj-ea"/>
              </a:rPr>
              <a:t>通用的基于关系代数等价转换和代价模型的查询优化器</a:t>
            </a:r>
            <a:endParaRPr lang="en-US" altLang="zh-CN" sz="2400" kern="0" dirty="0">
              <a:latin typeface="+mj-ea"/>
              <a:ea typeface="+mj-ea"/>
            </a:endParaRPr>
          </a:p>
          <a:p>
            <a:pPr lvl="1">
              <a:buFont typeface="Arial" panose="020B0604020202020204" pitchFamily="34" charset="0"/>
              <a:buChar char="•"/>
            </a:pPr>
            <a:r>
              <a:rPr lang="zh-CN" altLang="en-US" sz="2000" dirty="0">
                <a:latin typeface="+mj-ea"/>
                <a:ea typeface="+mj-ea"/>
              </a:rPr>
              <a:t>易于添加新的算子和等价转换规则</a:t>
            </a:r>
            <a:endParaRPr lang="en-US" altLang="zh-CN" sz="2000" dirty="0">
              <a:latin typeface="+mj-ea"/>
              <a:ea typeface="+mj-ea"/>
            </a:endParaRPr>
          </a:p>
          <a:p>
            <a:pPr lvl="1">
              <a:buFont typeface="Arial" panose="020B0604020202020204" pitchFamily="34" charset="0"/>
              <a:buChar char="•"/>
            </a:pPr>
            <a:r>
              <a:rPr lang="zh-CN" altLang="en-US" sz="2000" dirty="0">
                <a:latin typeface="+mj-ea"/>
                <a:ea typeface="+mj-ea"/>
              </a:rPr>
              <a:t>重点关注数据的物理特性</a:t>
            </a:r>
            <a:endParaRPr lang="en-US" altLang="zh-CN" sz="2000" dirty="0">
              <a:latin typeface="+mj-ea"/>
              <a:ea typeface="+mj-ea"/>
            </a:endParaRPr>
          </a:p>
          <a:p>
            <a:pPr lvl="1">
              <a:buFont typeface="Arial" panose="020B0604020202020204" pitchFamily="34" charset="0"/>
              <a:buChar char="•"/>
            </a:pPr>
            <a:r>
              <a:rPr lang="zh-CN" altLang="en-US" sz="2000" dirty="0">
                <a:latin typeface="+mj-ea"/>
                <a:ea typeface="+mj-ea"/>
              </a:rPr>
              <a:t>自顶向下，并利用分支界定剪枝</a:t>
            </a:r>
            <a:endParaRPr lang="en-US" altLang="zh-CN" sz="2000" dirty="0">
              <a:latin typeface="+mj-ea"/>
              <a:ea typeface="+mj-ea"/>
            </a:endParaRPr>
          </a:p>
          <a:p>
            <a:pPr>
              <a:buFont typeface="Arial" panose="020B0604020202020204" pitchFamily="34" charset="0"/>
              <a:buChar char="•"/>
            </a:pPr>
            <a:endParaRPr lang="en-US" altLang="zh-CN" sz="2400" u="sng" dirty="0">
              <a:latin typeface="+mj-ea"/>
              <a:ea typeface="+mj-ea"/>
            </a:endParaRPr>
          </a:p>
          <a:p>
            <a:pPr>
              <a:buFont typeface="Wingdings" pitchFamily="2" charset="2"/>
              <a:buChar char="Ø"/>
            </a:pPr>
            <a:endParaRPr lang="en-US" altLang="zh-CN" sz="2800" u="sng" dirty="0">
              <a:latin typeface="+mj-ea"/>
              <a:ea typeface="+mj-ea"/>
            </a:endParaRPr>
          </a:p>
          <a:p>
            <a:pPr>
              <a:buFont typeface="Wingdings" pitchFamily="2" charset="2"/>
              <a:buChar char="Ø"/>
            </a:pPr>
            <a:endParaRPr lang="en-US" altLang="zh-CN" sz="2800" u="sng" dirty="0">
              <a:latin typeface="+mj-ea"/>
              <a:ea typeface="+mj-ea"/>
            </a:endParaRPr>
          </a:p>
          <a:p>
            <a:pPr marL="422041" lvl="1" indent="0">
              <a:buNone/>
            </a:pPr>
            <a:endParaRPr lang="zh-CN" altLang="zh-CN" dirty="0">
              <a:latin typeface="+mj-ea"/>
              <a:ea typeface="+mj-ea"/>
            </a:endParaRPr>
          </a:p>
          <a:p>
            <a:pPr lvl="1">
              <a:buFont typeface="Wingdings" pitchFamily="2" charset="2"/>
              <a:buChar char="Ø"/>
            </a:pPr>
            <a:endParaRPr lang="en-US" altLang="zh-CN" dirty="0">
              <a:latin typeface="+mj-ea"/>
              <a:ea typeface="+mj-ea"/>
            </a:endParaRPr>
          </a:p>
          <a:p>
            <a:pPr lvl="1">
              <a:buFont typeface="Wingdings" pitchFamily="2" charset="2"/>
              <a:buChar char="Ø"/>
            </a:pPr>
            <a:endParaRPr lang="en-US" altLang="zh-CN" kern="0" dirty="0">
              <a:latin typeface="+mj-ea"/>
              <a:ea typeface="+mj-ea"/>
            </a:endParaRPr>
          </a:p>
          <a:p>
            <a:pPr>
              <a:buFont typeface="Wingdings" pitchFamily="2" charset="2"/>
              <a:buChar char="p"/>
            </a:pPr>
            <a:endParaRPr lang="en-US" altLang="zh-CN" sz="2800" kern="0" dirty="0">
              <a:latin typeface="+mj-ea"/>
              <a:ea typeface="+mj-ea"/>
            </a:endParaRPr>
          </a:p>
          <a:p>
            <a:pPr lvl="1">
              <a:buFont typeface="Wingdings" pitchFamily="2" charset="2"/>
              <a:buChar char="p"/>
            </a:pPr>
            <a:endParaRPr lang="en-US" altLang="zh-CN" kern="0" dirty="0">
              <a:latin typeface="+mj-ea"/>
              <a:ea typeface="+mj-ea"/>
            </a:endParaRPr>
          </a:p>
          <a:p>
            <a:pPr marL="0" indent="0">
              <a:buFont typeface="Wingdings" charset="2"/>
              <a:buNone/>
            </a:pPr>
            <a:r>
              <a:rPr lang="zh-CN" altLang="zh-CN" sz="2800" kern="0" dirty="0">
                <a:latin typeface="+mj-ea"/>
                <a:ea typeface="+mj-ea"/>
              </a:rPr>
              <a:t> </a:t>
            </a:r>
            <a:endParaRPr lang="zh-CN" altLang="en-US" sz="2800" kern="0" dirty="0">
              <a:latin typeface="+mj-ea"/>
              <a:ea typeface="+mj-ea"/>
            </a:endParaRPr>
          </a:p>
        </p:txBody>
      </p:sp>
      <p:pic>
        <p:nvPicPr>
          <p:cNvPr id="7" name="图片 6">
            <a:extLst>
              <a:ext uri="{FF2B5EF4-FFF2-40B4-BE49-F238E27FC236}">
                <a16:creationId xmlns:a16="http://schemas.microsoft.com/office/drawing/2014/main" id="{A91C0405-2E5B-5C59-4B22-9C20E90C9704}"/>
              </a:ext>
            </a:extLst>
          </p:cNvPr>
          <p:cNvPicPr>
            <a:picLocks noChangeAspect="1"/>
          </p:cNvPicPr>
          <p:nvPr/>
        </p:nvPicPr>
        <p:blipFill>
          <a:blip r:embed="rId3"/>
          <a:stretch>
            <a:fillRect/>
          </a:stretch>
        </p:blipFill>
        <p:spPr>
          <a:xfrm>
            <a:off x="2539440" y="3005496"/>
            <a:ext cx="6166019" cy="3093275"/>
          </a:xfrm>
          <a:prstGeom prst="rect">
            <a:avLst/>
          </a:prstGeom>
        </p:spPr>
      </p:pic>
      <p:sp>
        <p:nvSpPr>
          <p:cNvPr id="8" name="下箭头 7">
            <a:extLst>
              <a:ext uri="{FF2B5EF4-FFF2-40B4-BE49-F238E27FC236}">
                <a16:creationId xmlns:a16="http://schemas.microsoft.com/office/drawing/2014/main" id="{AA5AB2F9-43FF-0B51-5CC4-8D67267136FC}"/>
              </a:ext>
            </a:extLst>
          </p:cNvPr>
          <p:cNvSpPr/>
          <p:nvPr/>
        </p:nvSpPr>
        <p:spPr bwMode="auto">
          <a:xfrm>
            <a:off x="9208759" y="3402873"/>
            <a:ext cx="274880" cy="2586803"/>
          </a:xfrm>
          <a:prstGeom prst="downArrow">
            <a:avLst>
              <a:gd name="adj1" fmla="val 39341"/>
              <a:gd name="adj2" fmla="val 103636"/>
            </a:avLst>
          </a:prstGeom>
          <a:solidFill>
            <a:srgbClr val="701988"/>
          </a:solid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98473028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131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自顶向下</a:t>
            </a:r>
          </a:p>
        </p:txBody>
      </p:sp>
      <p:sp>
        <p:nvSpPr>
          <p:cNvPr id="4" name="页脚占位符 3">
            <a:extLst>
              <a:ext uri="{FF2B5EF4-FFF2-40B4-BE49-F238E27FC236}">
                <a16:creationId xmlns:a16="http://schemas.microsoft.com/office/drawing/2014/main" id="{E9E05822-346B-90F1-87E0-1D582C0EDE03}"/>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580914" y="1257431"/>
            <a:ext cx="10827316" cy="5903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200" dirty="0">
                <a:latin typeface="+mj-ea"/>
                <a:ea typeface="+mj-ea"/>
              </a:rPr>
              <a:t>自顶向下：以查询的</a:t>
            </a:r>
            <a:r>
              <a:rPr lang="zh-CN" altLang="en-US" sz="2200" dirty="0">
                <a:solidFill>
                  <a:srgbClr val="701988"/>
                </a:solidFill>
                <a:latin typeface="+mj-ea"/>
                <a:ea typeface="+mj-ea"/>
              </a:rPr>
              <a:t>最终</a:t>
            </a:r>
            <a:r>
              <a:rPr lang="zh-CN" altLang="zh-CN" sz="2200" dirty="0">
                <a:solidFill>
                  <a:srgbClr val="701988"/>
                </a:solidFill>
                <a:latin typeface="+mj-ea"/>
                <a:ea typeface="+mj-ea"/>
              </a:rPr>
              <a:t>输出为起点</a:t>
            </a:r>
            <a:r>
              <a:rPr lang="zh-CN" altLang="zh-CN" sz="2200" dirty="0">
                <a:latin typeface="+mj-ea"/>
                <a:ea typeface="+mj-ea"/>
              </a:rPr>
              <a:t>，由计划树的根</a:t>
            </a:r>
            <a:r>
              <a:rPr lang="zh-CN" altLang="en-US" sz="2200" dirty="0">
                <a:latin typeface="+mj-ea"/>
                <a:ea typeface="+mj-ea"/>
              </a:rPr>
              <a:t>节点</a:t>
            </a:r>
            <a:r>
              <a:rPr lang="zh-CN" altLang="zh-CN" sz="2200" dirty="0">
                <a:latin typeface="+mj-ea"/>
                <a:ea typeface="+mj-ea"/>
              </a:rPr>
              <a:t>向下进行搜索，不断添加为得到最终输出需要的</a:t>
            </a:r>
            <a:r>
              <a:rPr lang="zh-CN" altLang="zh-CN" sz="2200" dirty="0">
                <a:solidFill>
                  <a:srgbClr val="701988"/>
                </a:solidFill>
                <a:latin typeface="+mj-ea"/>
                <a:ea typeface="+mj-ea"/>
              </a:rPr>
              <a:t>逻辑算子</a:t>
            </a:r>
            <a:r>
              <a:rPr lang="zh-CN" altLang="zh-CN" sz="2200" dirty="0">
                <a:latin typeface="+mj-ea"/>
                <a:ea typeface="+mj-ea"/>
              </a:rPr>
              <a:t>和</a:t>
            </a:r>
            <a:r>
              <a:rPr lang="zh-CN" altLang="zh-CN" sz="2200" dirty="0">
                <a:solidFill>
                  <a:srgbClr val="701988"/>
                </a:solidFill>
                <a:latin typeface="+mj-ea"/>
                <a:ea typeface="+mj-ea"/>
              </a:rPr>
              <a:t>物理算子</a:t>
            </a:r>
            <a:r>
              <a:rPr lang="zh-CN" altLang="zh-CN" sz="2200" dirty="0">
                <a:latin typeface="+mj-ea"/>
                <a:ea typeface="+mj-ea"/>
              </a:rPr>
              <a:t>，最终确定要采用的计划树。</a:t>
            </a:r>
            <a:endParaRPr lang="en-US" altLang="zh-CN" sz="2200" dirty="0">
              <a:latin typeface="+mj-ea"/>
              <a:ea typeface="+mj-ea"/>
            </a:endParaRPr>
          </a:p>
          <a:p>
            <a:pPr>
              <a:lnSpc>
                <a:spcPct val="150000"/>
              </a:lnSpc>
              <a:buFont typeface="Wingdings" panose="05000000000000000000" pitchFamily="2" charset="2"/>
              <a:buChar char="Ø"/>
            </a:pPr>
            <a:r>
              <a:rPr lang="zh-CN" altLang="zh-CN" sz="2200" kern="0" dirty="0">
                <a:latin typeface="+mj-ea"/>
                <a:ea typeface="+mj-ea"/>
              </a:rPr>
              <a:t>整个过程中可以用分支界定（</a:t>
            </a:r>
            <a:r>
              <a:rPr lang="en-US" altLang="zh-CN" sz="2200" kern="0" dirty="0">
                <a:latin typeface="+mj-ea"/>
                <a:ea typeface="+mj-ea"/>
              </a:rPr>
              <a:t>branch and bound</a:t>
            </a:r>
            <a:r>
              <a:rPr lang="zh-CN" altLang="zh-CN" sz="2200" kern="0" dirty="0">
                <a:latin typeface="+mj-ea"/>
                <a:ea typeface="+mj-ea"/>
              </a:rPr>
              <a:t>）进行剪枝</a:t>
            </a:r>
            <a:endParaRPr lang="en-US" altLang="zh-CN" sz="2200" kern="0" dirty="0">
              <a:latin typeface="+mj-ea"/>
              <a:ea typeface="+mj-ea"/>
            </a:endParaRPr>
          </a:p>
          <a:p>
            <a:pPr>
              <a:lnSpc>
                <a:spcPct val="150000"/>
              </a:lnSpc>
              <a:buFont typeface="Wingdings" panose="05000000000000000000" pitchFamily="2" charset="2"/>
              <a:buChar char="Ø"/>
            </a:pPr>
            <a:r>
              <a:rPr lang="zh-CN" altLang="en-US" sz="2200" dirty="0">
                <a:latin typeface="+mj-ea"/>
                <a:ea typeface="+mj-ea"/>
              </a:rPr>
              <a:t>优点：</a:t>
            </a:r>
            <a:endParaRPr lang="en-US" altLang="zh-CN" sz="2200" dirty="0">
              <a:latin typeface="+mj-ea"/>
              <a:ea typeface="+mj-ea"/>
            </a:endParaRPr>
          </a:p>
          <a:p>
            <a:pPr lvl="1">
              <a:lnSpc>
                <a:spcPct val="150000"/>
              </a:lnSpc>
              <a:buFont typeface="Wingdings" panose="05000000000000000000" pitchFamily="2" charset="2"/>
              <a:buChar char="Ø"/>
            </a:pPr>
            <a:r>
              <a:rPr lang="zh-CN" altLang="zh-CN" sz="2000" dirty="0">
                <a:latin typeface="+mj-ea"/>
                <a:ea typeface="+mj-ea"/>
              </a:rPr>
              <a:t>相较于两阶段的方法，统一搜索会产生更多的转换</a:t>
            </a:r>
            <a:r>
              <a:rPr lang="zh-CN" altLang="en-US" sz="2000" dirty="0">
                <a:latin typeface="+mj-ea"/>
                <a:ea typeface="+mj-ea"/>
              </a:rPr>
              <a:t>，优化效果可能更好</a:t>
            </a:r>
            <a:endParaRPr lang="en-US" altLang="zh-CN" sz="2000" dirty="0">
              <a:latin typeface="+mj-ea"/>
              <a:ea typeface="+mj-ea"/>
            </a:endParaRPr>
          </a:p>
          <a:p>
            <a:pPr lvl="1">
              <a:lnSpc>
                <a:spcPct val="150000"/>
              </a:lnSpc>
              <a:buFont typeface="Wingdings" panose="05000000000000000000" pitchFamily="2" charset="2"/>
              <a:buChar char="Ø"/>
            </a:pPr>
            <a:r>
              <a:rPr lang="zh-CN" altLang="en-US" sz="2000" dirty="0">
                <a:latin typeface="+mj-ea"/>
                <a:ea typeface="+mj-ea"/>
              </a:rPr>
              <a:t>可以提前中止</a:t>
            </a:r>
            <a:endParaRPr lang="en-US" altLang="zh-CN" sz="2000" dirty="0">
              <a:latin typeface="+mj-ea"/>
              <a:ea typeface="+mj-ea"/>
            </a:endParaRPr>
          </a:p>
          <a:p>
            <a:pPr lvl="1">
              <a:lnSpc>
                <a:spcPct val="150000"/>
              </a:lnSpc>
              <a:buFont typeface="Wingdings" panose="05000000000000000000" pitchFamily="2" charset="2"/>
              <a:buChar char="Ø"/>
            </a:pPr>
            <a:r>
              <a:rPr lang="zh-CN" altLang="en-US" sz="2000" dirty="0">
                <a:latin typeface="+mj-ea"/>
                <a:ea typeface="+mj-ea"/>
              </a:rPr>
              <a:t>添加规则简单</a:t>
            </a:r>
            <a:endParaRPr lang="en-US" altLang="zh-CN" sz="2000" dirty="0">
              <a:latin typeface="+mj-ea"/>
              <a:ea typeface="+mj-ea"/>
            </a:endParaRPr>
          </a:p>
          <a:p>
            <a:pPr>
              <a:lnSpc>
                <a:spcPct val="150000"/>
              </a:lnSpc>
              <a:buFont typeface="Wingdings" panose="05000000000000000000" pitchFamily="2" charset="2"/>
              <a:buChar char="Ø"/>
            </a:pPr>
            <a:r>
              <a:rPr lang="zh-CN" altLang="en-US" sz="2200" dirty="0">
                <a:latin typeface="+mj-ea"/>
                <a:ea typeface="+mj-ea"/>
              </a:rPr>
              <a:t>缺点：空间开销更大、优化慢、添加规则繁琐</a:t>
            </a:r>
            <a:endParaRPr lang="en-US" altLang="zh-CN" sz="2200" dirty="0">
              <a:latin typeface="+mj-ea"/>
              <a:ea typeface="+mj-ea"/>
            </a:endParaRPr>
          </a:p>
          <a:p>
            <a:pPr marL="0" indent="0">
              <a:lnSpc>
                <a:spcPct val="150000"/>
              </a:lnSpc>
              <a:buNone/>
            </a:pPr>
            <a:endParaRPr lang="zh-CN" altLang="zh-CN" sz="220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marL="422041" lvl="1" indent="0">
              <a:lnSpc>
                <a:spcPct val="150000"/>
              </a:lnSpc>
              <a:buNone/>
            </a:pPr>
            <a:endParaRPr lang="zh-CN" altLang="zh-CN" sz="2400" dirty="0">
              <a:latin typeface="+mj-ea"/>
              <a:ea typeface="+mj-ea"/>
            </a:endParaRPr>
          </a:p>
          <a:p>
            <a:pPr lvl="1">
              <a:lnSpc>
                <a:spcPct val="150000"/>
              </a:lnSpc>
              <a:buFont typeface="Wingdings" pitchFamily="2" charset="2"/>
              <a:buChar char="Ø"/>
            </a:pPr>
            <a:endParaRPr lang="en-US" altLang="zh-CN" sz="2400" dirty="0">
              <a:latin typeface="+mj-ea"/>
              <a:ea typeface="+mj-ea"/>
            </a:endParaRPr>
          </a:p>
          <a:p>
            <a:pPr lvl="1">
              <a:lnSpc>
                <a:spcPct val="150000"/>
              </a:lnSpc>
              <a:buFont typeface="Wingdings" pitchFamily="2" charset="2"/>
              <a:buChar char="Ø"/>
            </a:pPr>
            <a:endParaRPr lang="en-US" altLang="zh-CN" sz="2400" kern="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287205553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0FF52922-3D42-4412-80D4-E8608AC407DF}"/>
              </a:ext>
            </a:extLst>
          </p:cNvPr>
          <p:cNvSpPr/>
          <p:nvPr/>
        </p:nvSpPr>
        <p:spPr>
          <a:xfrm>
            <a:off x="792366" y="1242847"/>
            <a:ext cx="10481647" cy="487321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0A7DCB2F-D749-F915-DE53-45ADA24876FD}"/>
              </a:ext>
            </a:extLst>
          </p:cNvPr>
          <p:cNvSpPr>
            <a:spLocks noGrp="1"/>
          </p:cNvSpPr>
          <p:nvPr>
            <p:ph type="sldNum" sz="quarter" idx="10"/>
          </p:nvPr>
        </p:nvSpPr>
        <p:spPr/>
        <p:txBody>
          <a:bodyPr/>
          <a:lstStyle/>
          <a:p>
            <a:fld id="{87BBDC00-B9E2-4EFD-9306-2934E87247C6}" type="slidenum">
              <a:rPr lang="zh-CN" altLang="en-US" smtClean="0"/>
              <a:pPr/>
              <a:t>132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优化器系统</a:t>
            </a:r>
          </a:p>
        </p:txBody>
      </p:sp>
      <p:sp>
        <p:nvSpPr>
          <p:cNvPr id="4" name="页脚占位符 3">
            <a:extLst>
              <a:ext uri="{FF2B5EF4-FFF2-40B4-BE49-F238E27FC236}">
                <a16:creationId xmlns:a16="http://schemas.microsoft.com/office/drawing/2014/main" id="{65E20A5E-C8A7-AF57-26C6-073C42ED860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509752" y="1242847"/>
            <a:ext cx="11456894" cy="6784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0" indent="0">
              <a:buNone/>
            </a:pPr>
            <a:endParaRPr lang="zh-CN" altLang="en-US" sz="2400" b="1" kern="0" dirty="0">
              <a:latin typeface="+mj-ea"/>
              <a:ea typeface="+mj-ea"/>
            </a:endParaRPr>
          </a:p>
        </p:txBody>
      </p:sp>
      <p:pic>
        <p:nvPicPr>
          <p:cNvPr id="5" name="图片 4">
            <a:extLst>
              <a:ext uri="{FF2B5EF4-FFF2-40B4-BE49-F238E27FC236}">
                <a16:creationId xmlns:a16="http://schemas.microsoft.com/office/drawing/2014/main" id="{CFF9B3B5-F38C-CD0C-1A4F-AB5182F46055}"/>
              </a:ext>
            </a:extLst>
          </p:cNvPr>
          <p:cNvPicPr>
            <a:picLocks noChangeAspect="1"/>
          </p:cNvPicPr>
          <p:nvPr/>
        </p:nvPicPr>
        <p:blipFill>
          <a:blip r:embed="rId3"/>
          <a:srcRect/>
          <a:stretch/>
        </p:blipFill>
        <p:spPr>
          <a:xfrm>
            <a:off x="917987" y="1713887"/>
            <a:ext cx="10039136" cy="3804786"/>
          </a:xfrm>
          <a:prstGeom prst="rect">
            <a:avLst/>
          </a:prstGeom>
        </p:spPr>
      </p:pic>
    </p:spTree>
    <p:extLst>
      <p:ext uri="{BB962C8B-B14F-4D97-AF65-F5344CB8AC3E}">
        <p14:creationId xmlns:p14="http://schemas.microsoft.com/office/powerpoint/2010/main" val="2033539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01F9973-AD96-4A42-44F6-2FAE52FD59B2}"/>
              </a:ext>
            </a:extLst>
          </p:cNvPr>
          <p:cNvSpPr>
            <a:spLocks noGrp="1"/>
          </p:cNvSpPr>
          <p:nvPr>
            <p:ph type="sldNum" sz="quarter" idx="10"/>
          </p:nvPr>
        </p:nvSpPr>
        <p:spPr/>
        <p:txBody>
          <a:bodyPr/>
          <a:lstStyle/>
          <a:p>
            <a:fld id="{87BBDC00-B9E2-4EFD-9306-2934E87247C6}" type="slidenum">
              <a:rPr lang="zh-CN" altLang="en-US" smtClean="0"/>
              <a:pPr/>
              <a:t>133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i="0" u="none" strike="noStrike" dirty="0">
                <a:solidFill>
                  <a:srgbClr val="333333"/>
                </a:solidFill>
                <a:effectLst/>
                <a:latin typeface="Arial" panose="020B0604020202020204" pitchFamily="34" charset="0"/>
              </a:rPr>
              <a:t>①</a:t>
            </a:r>
            <a:r>
              <a:rPr lang="zh-CN" altLang="en-US" b="0" i="0" u="none" strike="noStrike" dirty="0">
                <a:solidFill>
                  <a:srgbClr val="333333"/>
                </a:solidFill>
                <a:effectLst/>
                <a:latin typeface="Arial" panose="020B0604020202020204" pitchFamily="34" charset="0"/>
              </a:rPr>
              <a:t> </a:t>
            </a:r>
            <a:r>
              <a:rPr kumimoji="1" lang="zh-CN" altLang="en-US" dirty="0"/>
              <a:t>启发式方法</a:t>
            </a:r>
          </a:p>
        </p:txBody>
      </p:sp>
      <p:sp>
        <p:nvSpPr>
          <p:cNvPr id="5" name="页脚占位符 4">
            <a:extLst>
              <a:ext uri="{FF2B5EF4-FFF2-40B4-BE49-F238E27FC236}">
                <a16:creationId xmlns:a16="http://schemas.microsoft.com/office/drawing/2014/main" id="{EC21B68F-1393-BFEC-59DE-40465186B33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726779"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spcBef>
                <a:spcPts val="0"/>
              </a:spcBef>
              <a:buFont typeface="Wingdings" panose="05000000000000000000" pitchFamily="2" charset="2"/>
              <a:buChar char="Ø"/>
            </a:pPr>
            <a:r>
              <a:rPr lang="zh-CN" altLang="en-US" sz="2200" dirty="0">
                <a:latin typeface="+mj-ea"/>
                <a:ea typeface="+mj-ea"/>
              </a:rPr>
              <a:t>通过在优化器代码中</a:t>
            </a:r>
            <a:r>
              <a:rPr lang="zh-CN" altLang="en-US" sz="2200" dirty="0">
                <a:solidFill>
                  <a:srgbClr val="701988"/>
                </a:solidFill>
                <a:latin typeface="+mj-ea"/>
                <a:ea typeface="+mj-ea"/>
              </a:rPr>
              <a:t>静态定义规则</a:t>
            </a:r>
            <a:r>
              <a:rPr lang="zh-CN" altLang="en-US" sz="2200" dirty="0">
                <a:latin typeface="+mj-ea"/>
                <a:ea typeface="+mj-ea"/>
              </a:rPr>
              <a:t>来实现由逻辑计划到物理计划的转换</a:t>
            </a:r>
            <a:endParaRPr lang="en-US" altLang="zh-CN" sz="2200" dirty="0">
              <a:latin typeface="+mj-ea"/>
              <a:ea typeface="+mj-ea"/>
            </a:endParaRPr>
          </a:p>
          <a:p>
            <a:pPr>
              <a:lnSpc>
                <a:spcPct val="150000"/>
              </a:lnSpc>
              <a:spcBef>
                <a:spcPts val="0"/>
              </a:spcBef>
              <a:buFont typeface="Wingdings" panose="05000000000000000000" pitchFamily="2" charset="2"/>
              <a:buChar char="Ø"/>
            </a:pPr>
            <a:r>
              <a:rPr lang="zh-CN" altLang="en-US" sz="2200" dirty="0">
                <a:latin typeface="+mj-ea"/>
                <a:ea typeface="+mj-ea"/>
              </a:rPr>
              <a:t>常用规则</a:t>
            </a:r>
            <a:r>
              <a:rPr lang="zh-CN" altLang="zh-CN" sz="2200" dirty="0">
                <a:latin typeface="+mj-ea"/>
                <a:ea typeface="+mj-ea"/>
              </a:rPr>
              <a:t>：</a:t>
            </a:r>
            <a:endParaRPr lang="en-US" altLang="zh-CN" sz="2200" dirty="0">
              <a:latin typeface="+mj-ea"/>
              <a:ea typeface="+mj-ea"/>
            </a:endParaRPr>
          </a:p>
          <a:p>
            <a:pPr lvl="1">
              <a:lnSpc>
                <a:spcPct val="150000"/>
              </a:lnSpc>
              <a:spcBef>
                <a:spcPts val="0"/>
              </a:spcBef>
              <a:buFont typeface="Arial" panose="020B0604020202020204" pitchFamily="34" charset="0"/>
              <a:buChar char="•"/>
            </a:pPr>
            <a:r>
              <a:rPr lang="zh-CN" altLang="en-US" sz="2000" kern="0" dirty="0">
                <a:latin typeface="+mj-ea"/>
                <a:ea typeface="+mj-ea"/>
              </a:rPr>
              <a:t>优先执行选择度更高的选择运算</a:t>
            </a:r>
            <a:endParaRPr lang="en-US" altLang="zh-CN" sz="2000" kern="0" dirty="0">
              <a:latin typeface="+mj-ea"/>
              <a:ea typeface="+mj-ea"/>
            </a:endParaRPr>
          </a:p>
          <a:p>
            <a:pPr lvl="1">
              <a:lnSpc>
                <a:spcPct val="150000"/>
              </a:lnSpc>
              <a:spcBef>
                <a:spcPts val="0"/>
              </a:spcBef>
              <a:buFont typeface="Arial" panose="020B0604020202020204" pitchFamily="34" charset="0"/>
              <a:buChar char="•"/>
            </a:pPr>
            <a:r>
              <a:rPr lang="zh-CN" altLang="zh-CN" sz="2000" kern="0" dirty="0">
                <a:latin typeface="+mj-ea"/>
                <a:ea typeface="+mj-ea"/>
              </a:rPr>
              <a:t>在连接运算前执行所有的选择运算 </a:t>
            </a:r>
            <a:endParaRPr lang="en-US" altLang="zh-CN" sz="2000" kern="0" dirty="0">
              <a:latin typeface="+mj-ea"/>
              <a:ea typeface="+mj-ea"/>
            </a:endParaRPr>
          </a:p>
          <a:p>
            <a:pPr lvl="1">
              <a:lnSpc>
                <a:spcPct val="150000"/>
              </a:lnSpc>
              <a:spcBef>
                <a:spcPts val="0"/>
              </a:spcBef>
              <a:buFont typeface="Arial" panose="020B0604020202020204" pitchFamily="34" charset="0"/>
              <a:buChar char="•"/>
            </a:pPr>
            <a:r>
              <a:rPr lang="zh-CN" altLang="zh-CN" sz="2000" kern="0" dirty="0">
                <a:latin typeface="+mj-ea"/>
                <a:ea typeface="+mj-ea"/>
              </a:rPr>
              <a:t>当选择条件为等值时，如果关系在该属性上有索引，则优先使用索引扫描 </a:t>
            </a:r>
            <a:endParaRPr lang="en-US" altLang="zh-CN" sz="2000" kern="0" dirty="0">
              <a:latin typeface="+mj-ea"/>
              <a:ea typeface="+mj-ea"/>
            </a:endParaRPr>
          </a:p>
          <a:p>
            <a:pPr>
              <a:lnSpc>
                <a:spcPct val="150000"/>
              </a:lnSpc>
              <a:spcBef>
                <a:spcPts val="0"/>
              </a:spcBef>
              <a:buFont typeface="Wingdings" panose="05000000000000000000" pitchFamily="2" charset="2"/>
              <a:buChar char="Ø"/>
            </a:pPr>
            <a:r>
              <a:rPr lang="zh-CN" altLang="en-US" sz="2200" u="sng" dirty="0">
                <a:latin typeface="+mj-ea"/>
                <a:ea typeface="+mj-ea"/>
              </a:rPr>
              <a:t>例子：</a:t>
            </a:r>
            <a:r>
              <a:rPr lang="en-US" altLang="zh-CN" sz="2200" dirty="0">
                <a:latin typeface="+mj-ea"/>
                <a:ea typeface="+mj-ea"/>
              </a:rPr>
              <a:t>INGRES, Oracle(1990s</a:t>
            </a:r>
            <a:r>
              <a:rPr lang="zh-CN" altLang="en-US" sz="2200" dirty="0">
                <a:latin typeface="+mj-ea"/>
                <a:ea typeface="+mj-ea"/>
              </a:rPr>
              <a:t>以前</a:t>
            </a:r>
            <a:r>
              <a:rPr lang="en-US" altLang="zh-CN" sz="2200" dirty="0">
                <a:latin typeface="+mj-ea"/>
                <a:ea typeface="+mj-ea"/>
              </a:rPr>
              <a:t>)</a:t>
            </a:r>
          </a:p>
          <a:p>
            <a:pPr>
              <a:lnSpc>
                <a:spcPct val="150000"/>
              </a:lnSpc>
              <a:spcBef>
                <a:spcPts val="0"/>
              </a:spcBef>
              <a:buFont typeface="Wingdings" panose="05000000000000000000" pitchFamily="2" charset="2"/>
              <a:buChar char="Ø"/>
            </a:pPr>
            <a:r>
              <a:rPr lang="zh-CN" altLang="en-US" sz="2200" kern="0" dirty="0">
                <a:latin typeface="+mj-ea"/>
                <a:ea typeface="+mj-ea"/>
              </a:rPr>
              <a:t>优点：</a:t>
            </a:r>
            <a:endParaRPr lang="en-US" altLang="zh-CN" sz="2200" kern="0" dirty="0">
              <a:latin typeface="+mj-ea"/>
              <a:ea typeface="+mj-ea"/>
            </a:endParaRPr>
          </a:p>
          <a:p>
            <a:pPr lvl="1">
              <a:lnSpc>
                <a:spcPct val="150000"/>
              </a:lnSpc>
              <a:spcBef>
                <a:spcPts val="0"/>
              </a:spcBef>
              <a:buFont typeface="Arial" panose="020B0604020202020204" pitchFamily="34" charset="0"/>
              <a:buChar char="•"/>
            </a:pPr>
            <a:r>
              <a:rPr lang="zh-CN" altLang="en-US" sz="2000" kern="0" dirty="0">
                <a:latin typeface="+mj-ea"/>
                <a:ea typeface="+mj-ea"/>
              </a:rPr>
              <a:t>易于实现与调试；优化速度快</a:t>
            </a:r>
            <a:endParaRPr lang="en-US" altLang="zh-CN" sz="2000" kern="0" dirty="0">
              <a:latin typeface="+mj-ea"/>
              <a:ea typeface="+mj-ea"/>
            </a:endParaRPr>
          </a:p>
          <a:p>
            <a:pPr>
              <a:lnSpc>
                <a:spcPct val="150000"/>
              </a:lnSpc>
              <a:spcBef>
                <a:spcPts val="0"/>
              </a:spcBef>
              <a:buFont typeface="Wingdings" panose="05000000000000000000" pitchFamily="2" charset="2"/>
              <a:buChar char="Ø"/>
            </a:pPr>
            <a:r>
              <a:rPr lang="zh-CN" altLang="en-US" sz="2200" kern="0" dirty="0">
                <a:latin typeface="+mj-ea"/>
                <a:ea typeface="+mj-ea"/>
              </a:rPr>
              <a:t>缺点：</a:t>
            </a:r>
            <a:endParaRPr lang="en-US" altLang="zh-CN" sz="2200" kern="0" dirty="0">
              <a:latin typeface="+mj-ea"/>
              <a:ea typeface="+mj-ea"/>
            </a:endParaRPr>
          </a:p>
          <a:p>
            <a:pPr lvl="1">
              <a:lnSpc>
                <a:spcPct val="150000"/>
              </a:lnSpc>
              <a:spcBef>
                <a:spcPts val="0"/>
              </a:spcBef>
              <a:buFont typeface="Arial" panose="020B0604020202020204" pitchFamily="34" charset="0"/>
              <a:buChar char="•"/>
            </a:pPr>
            <a:r>
              <a:rPr lang="zh-CN" altLang="en-US" sz="2000" kern="0" dirty="0">
                <a:latin typeface="+mj-ea"/>
                <a:ea typeface="+mj-ea"/>
              </a:rPr>
              <a:t>完全依赖于预定义的规则；复杂查询优化效果不好，没有考虑算子之间的相互关系</a:t>
            </a:r>
            <a:endParaRPr lang="en-US" altLang="zh-CN" sz="2000" kern="0" dirty="0">
              <a:latin typeface="+mj-ea"/>
              <a:ea typeface="+mj-ea"/>
            </a:endParaRPr>
          </a:p>
          <a:p>
            <a:pPr>
              <a:buFont typeface="Wingdings" pitchFamily="2" charset="2"/>
              <a:buChar char="p"/>
            </a:pPr>
            <a:endParaRPr lang="en-US" altLang="zh-CN" sz="2400" dirty="0">
              <a:latin typeface="+mj-ea"/>
              <a:ea typeface="+mj-ea"/>
            </a:endParaRPr>
          </a:p>
          <a:p>
            <a:pPr marL="422041" lvl="1" indent="0">
              <a:buNone/>
            </a:pPr>
            <a:endParaRPr lang="en-US" altLang="zh-CN" sz="2400" kern="0" dirty="0">
              <a:latin typeface="+mj-ea"/>
              <a:ea typeface="+mj-ea"/>
            </a:endParaRPr>
          </a:p>
          <a:p>
            <a:pPr marL="0" indent="0">
              <a:buNone/>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36668456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D410A71-9BD2-54C7-1B06-A1D45E87ED91}"/>
              </a:ext>
            </a:extLst>
          </p:cNvPr>
          <p:cNvSpPr>
            <a:spLocks noGrp="1"/>
          </p:cNvSpPr>
          <p:nvPr>
            <p:ph type="sldNum" sz="quarter" idx="10"/>
          </p:nvPr>
        </p:nvSpPr>
        <p:spPr/>
        <p:txBody>
          <a:bodyPr/>
          <a:lstStyle/>
          <a:p>
            <a:fld id="{87BBDC00-B9E2-4EFD-9306-2934E87247C6}" type="slidenum">
              <a:rPr lang="zh-CN" altLang="en-US" smtClean="0"/>
              <a:pPr/>
              <a:t>134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i="0" u="none" strike="noStrike" dirty="0">
                <a:solidFill>
                  <a:srgbClr val="333333"/>
                </a:solidFill>
                <a:effectLst/>
                <a:latin typeface="Arial" panose="020B0604020202020204" pitchFamily="34" charset="0"/>
              </a:rPr>
              <a:t>② </a:t>
            </a:r>
            <a:r>
              <a:rPr lang="zh-CN" altLang="en-US" dirty="0"/>
              <a:t>启发式方法</a:t>
            </a:r>
            <a:r>
              <a:rPr lang="en-US" altLang="zh-CN" dirty="0"/>
              <a:t>+</a:t>
            </a:r>
            <a:r>
              <a:rPr lang="zh-CN" altLang="en-US" dirty="0"/>
              <a:t>代价选择连接顺序</a:t>
            </a:r>
            <a:endParaRPr kumimoji="1" lang="zh-CN" altLang="en-US" dirty="0"/>
          </a:p>
        </p:txBody>
      </p:sp>
      <p:sp>
        <p:nvSpPr>
          <p:cNvPr id="4" name="页脚占位符 3">
            <a:extLst>
              <a:ext uri="{FF2B5EF4-FFF2-40B4-BE49-F238E27FC236}">
                <a16:creationId xmlns:a16="http://schemas.microsoft.com/office/drawing/2014/main" id="{A1AD4D7F-F052-DEF2-00EE-6820CA4FEA1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310854"/>
            <a:ext cx="10559512" cy="5547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dirty="0">
                <a:latin typeface="+mj-ea"/>
                <a:ea typeface="+mj-ea"/>
              </a:rPr>
              <a:t>首先，利用</a:t>
            </a:r>
            <a:r>
              <a:rPr lang="zh-CN" altLang="en-US" sz="2400" dirty="0">
                <a:solidFill>
                  <a:srgbClr val="701988"/>
                </a:solidFill>
                <a:latin typeface="+mj-ea"/>
                <a:ea typeface="+mj-ea"/>
              </a:rPr>
              <a:t>静态规则</a:t>
            </a:r>
            <a:r>
              <a:rPr lang="zh-CN" altLang="en-US" sz="2400" dirty="0">
                <a:latin typeface="+mj-ea"/>
                <a:ea typeface="+mj-ea"/>
              </a:rPr>
              <a:t>进行</a:t>
            </a:r>
            <a:r>
              <a:rPr lang="zh-CN" altLang="en-US" sz="2400" dirty="0">
                <a:solidFill>
                  <a:srgbClr val="701988"/>
                </a:solidFill>
                <a:latin typeface="+mj-ea"/>
                <a:ea typeface="+mj-ea"/>
              </a:rPr>
              <a:t>初步优化</a:t>
            </a:r>
            <a:endParaRPr lang="en-US" altLang="zh-CN" sz="2400" dirty="0">
              <a:solidFill>
                <a:srgbClr val="701988"/>
              </a:solidFill>
              <a:latin typeface="+mj-ea"/>
              <a:ea typeface="+mj-ea"/>
            </a:endParaRPr>
          </a:p>
          <a:p>
            <a:pPr>
              <a:lnSpc>
                <a:spcPct val="150000"/>
              </a:lnSpc>
              <a:buFont typeface="Wingdings" panose="05000000000000000000" pitchFamily="2" charset="2"/>
              <a:buChar char="Ø"/>
            </a:pPr>
            <a:r>
              <a:rPr lang="zh-CN" altLang="en-US" sz="2400" dirty="0">
                <a:latin typeface="+mj-ea"/>
                <a:ea typeface="+mj-ea"/>
              </a:rPr>
              <a:t>然后，利用</a:t>
            </a:r>
            <a:r>
              <a:rPr lang="zh-CN" altLang="en-US" sz="2400" dirty="0">
                <a:solidFill>
                  <a:srgbClr val="701988"/>
                </a:solidFill>
                <a:latin typeface="+mj-ea"/>
                <a:ea typeface="+mj-ea"/>
              </a:rPr>
              <a:t>动态规划算法</a:t>
            </a:r>
            <a:r>
              <a:rPr lang="zh-CN" altLang="en-US" sz="2400" dirty="0">
                <a:latin typeface="+mj-ea"/>
                <a:ea typeface="+mj-ea"/>
              </a:rPr>
              <a:t>选择多表连接时的连接顺序</a:t>
            </a:r>
            <a:endParaRPr lang="en-US" altLang="zh-CN" sz="24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首个基于</a:t>
            </a:r>
            <a:r>
              <a:rPr lang="zh-CN" altLang="en-US" sz="2000" dirty="0">
                <a:solidFill>
                  <a:srgbClr val="701988"/>
                </a:solidFill>
                <a:latin typeface="+mj-ea"/>
                <a:ea typeface="+mj-ea"/>
              </a:rPr>
              <a:t>代价</a:t>
            </a:r>
            <a:r>
              <a:rPr lang="zh-CN" altLang="en-US" sz="2000" dirty="0">
                <a:latin typeface="+mj-ea"/>
                <a:ea typeface="+mj-ea"/>
              </a:rPr>
              <a:t>的查询优化器</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首次采用</a:t>
            </a:r>
            <a:r>
              <a:rPr lang="zh-CN" altLang="en-US" sz="2000" dirty="0">
                <a:solidFill>
                  <a:srgbClr val="701988"/>
                </a:solidFill>
                <a:latin typeface="+mj-ea"/>
                <a:ea typeface="+mj-ea"/>
              </a:rPr>
              <a:t>自底向上</a:t>
            </a:r>
            <a:r>
              <a:rPr lang="zh-CN" altLang="en-US" sz="2000" dirty="0">
                <a:latin typeface="+mj-ea"/>
                <a:ea typeface="+mj-ea"/>
              </a:rPr>
              <a:t>的搜索策略</a:t>
            </a:r>
            <a:endParaRPr lang="en-US" altLang="zh-CN" sz="2000" kern="0" dirty="0">
              <a:latin typeface="+mj-ea"/>
              <a:ea typeface="+mj-ea"/>
            </a:endParaRPr>
          </a:p>
          <a:p>
            <a:pPr>
              <a:lnSpc>
                <a:spcPct val="150000"/>
              </a:lnSpc>
              <a:buFont typeface="Wingdings" panose="05000000000000000000" pitchFamily="2" charset="2"/>
              <a:buChar char="Ø"/>
            </a:pPr>
            <a:r>
              <a:rPr lang="zh-CN" altLang="en-US" sz="2400" u="sng" dirty="0">
                <a:latin typeface="+mj-ea"/>
                <a:ea typeface="+mj-ea"/>
              </a:rPr>
              <a:t>例子</a:t>
            </a:r>
            <a:r>
              <a:rPr lang="zh-CN" altLang="zh-CN" sz="2400" dirty="0">
                <a:latin typeface="+mj-ea"/>
                <a:ea typeface="+mj-ea"/>
              </a:rPr>
              <a:t>：</a:t>
            </a:r>
            <a:r>
              <a:rPr lang="en-US" altLang="zh-CN" sz="2400" dirty="0">
                <a:latin typeface="+mj-ea"/>
                <a:ea typeface="+mj-ea"/>
              </a:rPr>
              <a:t>R</a:t>
            </a:r>
            <a:r>
              <a:rPr lang="zh-CN" altLang="en-US" sz="2400" dirty="0">
                <a:latin typeface="+mj-ea"/>
                <a:ea typeface="+mj-ea"/>
              </a:rPr>
              <a:t>系统，早期的</a:t>
            </a:r>
            <a:r>
              <a:rPr lang="en-US" altLang="zh-CN" sz="2400" dirty="0">
                <a:latin typeface="+mj-ea"/>
                <a:ea typeface="+mj-ea"/>
              </a:rPr>
              <a:t>IBM</a:t>
            </a:r>
            <a:r>
              <a:rPr lang="zh-CN" altLang="en-US" sz="2400" dirty="0">
                <a:latin typeface="+mj-ea"/>
                <a:ea typeface="+mj-ea"/>
              </a:rPr>
              <a:t> </a:t>
            </a:r>
            <a:r>
              <a:rPr lang="en-US" altLang="zh-CN" sz="2400" dirty="0">
                <a:latin typeface="+mj-ea"/>
                <a:ea typeface="+mj-ea"/>
              </a:rPr>
              <a:t>DB2</a:t>
            </a:r>
            <a:r>
              <a:rPr lang="zh-CN" altLang="en-US" sz="2400" dirty="0">
                <a:latin typeface="+mj-ea"/>
                <a:ea typeface="+mj-ea"/>
              </a:rPr>
              <a:t>，大多数开源数据库</a:t>
            </a:r>
            <a:endParaRPr lang="en-US" altLang="zh-CN" sz="2400" dirty="0">
              <a:latin typeface="+mj-ea"/>
              <a:ea typeface="+mj-ea"/>
            </a:endParaRPr>
          </a:p>
          <a:p>
            <a:pPr>
              <a:lnSpc>
                <a:spcPct val="150000"/>
              </a:lnSpc>
              <a:buFont typeface="Wingdings" panose="05000000000000000000" pitchFamily="2" charset="2"/>
              <a:buChar char="Ø"/>
            </a:pPr>
            <a:r>
              <a:rPr lang="en-US" altLang="zh-CN" sz="2400" dirty="0">
                <a:latin typeface="+mj-ea"/>
                <a:ea typeface="+mj-ea"/>
              </a:rPr>
              <a:t>R</a:t>
            </a:r>
            <a:r>
              <a:rPr lang="zh-CN" altLang="en-US" sz="2400" dirty="0">
                <a:latin typeface="+mj-ea"/>
                <a:ea typeface="+mj-ea"/>
              </a:rPr>
              <a:t>系统的</a:t>
            </a:r>
            <a:r>
              <a:rPr lang="en-US" altLang="zh-CN" sz="2400" dirty="0">
                <a:latin typeface="+mj-ea"/>
                <a:ea typeface="+mj-ea"/>
              </a:rPr>
              <a:t>Selinger</a:t>
            </a:r>
            <a:r>
              <a:rPr lang="zh-CN" altLang="en-US" sz="2400" dirty="0">
                <a:latin typeface="+mj-ea"/>
                <a:ea typeface="+mj-ea"/>
              </a:rPr>
              <a:t>风格的优化器是现代优化器的设计基础</a:t>
            </a:r>
            <a:endParaRPr lang="en-US" altLang="zh-CN" sz="2400" dirty="0">
              <a:latin typeface="+mj-ea"/>
              <a:ea typeface="+mj-ea"/>
            </a:endParaRPr>
          </a:p>
          <a:p>
            <a:pPr>
              <a:lnSpc>
                <a:spcPct val="150000"/>
              </a:lnSpc>
              <a:buFont typeface="Wingdings" panose="05000000000000000000" pitchFamily="2" charset="2"/>
              <a:buChar char="Ø"/>
            </a:pPr>
            <a:r>
              <a:rPr lang="zh-CN" altLang="en-US" sz="2400" dirty="0">
                <a:latin typeface="+mj-ea"/>
                <a:ea typeface="+mj-ea"/>
              </a:rPr>
              <a:t>后来的</a:t>
            </a:r>
            <a:r>
              <a:rPr lang="en-US" altLang="zh-CN" sz="2400" dirty="0">
                <a:latin typeface="+mj-ea"/>
                <a:ea typeface="+mj-ea"/>
              </a:rPr>
              <a:t>Volcano</a:t>
            </a:r>
            <a:r>
              <a:rPr lang="zh-CN" altLang="en-US" sz="2400" dirty="0">
                <a:latin typeface="+mj-ea"/>
                <a:ea typeface="+mj-ea"/>
              </a:rPr>
              <a:t>，</a:t>
            </a:r>
            <a:r>
              <a:rPr lang="en-US" altLang="zh-CN" sz="2400" dirty="0">
                <a:latin typeface="+mj-ea"/>
                <a:ea typeface="+mj-ea"/>
              </a:rPr>
              <a:t>Cascades</a:t>
            </a:r>
            <a:r>
              <a:rPr lang="zh-CN" altLang="en-US" sz="2400" dirty="0">
                <a:latin typeface="+mj-ea"/>
                <a:ea typeface="+mj-ea"/>
              </a:rPr>
              <a:t>等方法均为在此基础上的改进</a:t>
            </a:r>
            <a:endParaRPr lang="en-US" altLang="zh-CN" sz="2400" dirty="0">
              <a:latin typeface="+mj-ea"/>
              <a:ea typeface="+mj-ea"/>
            </a:endParaRPr>
          </a:p>
          <a:p>
            <a:pPr lvl="1">
              <a:lnSpc>
                <a:spcPct val="150000"/>
              </a:lnSpc>
              <a:buFont typeface="Wingdings" pitchFamily="2" charset="2"/>
              <a:buChar char="Ø"/>
            </a:pPr>
            <a:endParaRPr lang="en-US" altLang="zh-CN" sz="240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27552996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0FF52922-3D42-4412-80D4-E8608AC407DF}"/>
              </a:ext>
            </a:extLst>
          </p:cNvPr>
          <p:cNvSpPr/>
          <p:nvPr/>
        </p:nvSpPr>
        <p:spPr>
          <a:xfrm>
            <a:off x="5968416" y="3714301"/>
            <a:ext cx="5131969" cy="23604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Shape18">
            <a:extLst>
              <a:ext uri="{FF2B5EF4-FFF2-40B4-BE49-F238E27FC236}">
                <a16:creationId xmlns:a16="http://schemas.microsoft.com/office/drawing/2014/main" id="{0FF52922-3D42-4412-80D4-E8608AC407DF}"/>
              </a:ext>
            </a:extLst>
          </p:cNvPr>
          <p:cNvSpPr/>
          <p:nvPr/>
        </p:nvSpPr>
        <p:spPr>
          <a:xfrm>
            <a:off x="967559" y="3700130"/>
            <a:ext cx="4795282" cy="23604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pic>
        <p:nvPicPr>
          <p:cNvPr id="5" name="图片 4">
            <a:extLst>
              <a:ext uri="{FF2B5EF4-FFF2-40B4-BE49-F238E27FC236}">
                <a16:creationId xmlns:a16="http://schemas.microsoft.com/office/drawing/2014/main" id="{1E197AC4-F580-2E8A-B4D0-FA01B99113A3}"/>
              </a:ext>
            </a:extLst>
          </p:cNvPr>
          <p:cNvPicPr>
            <a:picLocks noChangeAspect="1"/>
          </p:cNvPicPr>
          <p:nvPr/>
        </p:nvPicPr>
        <p:blipFill rotWithShape="1">
          <a:blip r:embed="rId3"/>
          <a:srcRect l="15228" r="15584"/>
          <a:stretch/>
        </p:blipFill>
        <p:spPr>
          <a:xfrm>
            <a:off x="1135612" y="3791119"/>
            <a:ext cx="4442962" cy="2170583"/>
          </a:xfrm>
          <a:prstGeom prst="rect">
            <a:avLst/>
          </a:prstGeom>
        </p:spPr>
      </p:pic>
      <p:pic>
        <p:nvPicPr>
          <p:cNvPr id="7" name="图片 6">
            <a:extLst>
              <a:ext uri="{FF2B5EF4-FFF2-40B4-BE49-F238E27FC236}">
                <a16:creationId xmlns:a16="http://schemas.microsoft.com/office/drawing/2014/main" id="{797C3B47-F53B-0FC2-B9BD-FB8DB9D2A285}"/>
              </a:ext>
            </a:extLst>
          </p:cNvPr>
          <p:cNvPicPr>
            <a:picLocks noChangeAspect="1"/>
          </p:cNvPicPr>
          <p:nvPr/>
        </p:nvPicPr>
        <p:blipFill rotWithShape="1">
          <a:blip r:embed="rId4"/>
          <a:srcRect l="7222" t="11961" r="10329"/>
          <a:stretch/>
        </p:blipFill>
        <p:spPr>
          <a:xfrm>
            <a:off x="6181147" y="3912709"/>
            <a:ext cx="4705912" cy="1953298"/>
          </a:xfrm>
          <a:prstGeom prst="rect">
            <a:avLst/>
          </a:prstGeom>
        </p:spPr>
      </p:pic>
      <p:sp>
        <p:nvSpPr>
          <p:cNvPr id="2" name="灯片编号占位符 1">
            <a:extLst>
              <a:ext uri="{FF2B5EF4-FFF2-40B4-BE49-F238E27FC236}">
                <a16:creationId xmlns:a16="http://schemas.microsoft.com/office/drawing/2014/main" id="{0D410A71-9BD2-54C7-1B06-A1D45E87ED91}"/>
              </a:ext>
            </a:extLst>
          </p:cNvPr>
          <p:cNvSpPr>
            <a:spLocks noGrp="1"/>
          </p:cNvSpPr>
          <p:nvPr>
            <p:ph type="sldNum" sz="quarter" idx="10"/>
          </p:nvPr>
        </p:nvSpPr>
        <p:spPr/>
        <p:txBody>
          <a:bodyPr/>
          <a:lstStyle/>
          <a:p>
            <a:fld id="{87BBDC00-B9E2-4EFD-9306-2934E87247C6}" type="slidenum">
              <a:rPr lang="zh-CN" altLang="en-US" smtClean="0"/>
              <a:pPr/>
              <a:t>135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i="0" u="none" strike="noStrike" dirty="0">
                <a:solidFill>
                  <a:srgbClr val="333333"/>
                </a:solidFill>
                <a:effectLst/>
                <a:latin typeface="Arial" panose="020B0604020202020204" pitchFamily="34" charset="0"/>
              </a:rPr>
              <a:t>② </a:t>
            </a:r>
            <a:r>
              <a:rPr lang="zh-CN" altLang="en-US" dirty="0"/>
              <a:t>启发式方法</a:t>
            </a:r>
            <a:r>
              <a:rPr lang="en-US" altLang="zh-CN" dirty="0"/>
              <a:t>+</a:t>
            </a:r>
            <a:r>
              <a:rPr lang="zh-CN" altLang="en-US" dirty="0"/>
              <a:t>代价选择连接顺序</a:t>
            </a:r>
            <a:endParaRPr kumimoji="1" lang="zh-CN" altLang="en-US" dirty="0"/>
          </a:p>
        </p:txBody>
      </p:sp>
      <p:sp>
        <p:nvSpPr>
          <p:cNvPr id="4" name="页脚占位符 3">
            <a:extLst>
              <a:ext uri="{FF2B5EF4-FFF2-40B4-BE49-F238E27FC236}">
                <a16:creationId xmlns:a16="http://schemas.microsoft.com/office/drawing/2014/main" id="{7FD5EADC-9A52-BFD0-B62B-1D3D14A66783}"/>
              </a:ext>
            </a:extLst>
          </p:cNvPr>
          <p:cNvSpPr>
            <a:spLocks noGrp="1"/>
          </p:cNvSpPr>
          <p:nvPr>
            <p:ph type="ftr" sz="quarter" idx="3"/>
          </p:nvPr>
        </p:nvSpPr>
        <p:spPr/>
        <p:txBody>
          <a:bodyPr/>
          <a:lstStyle/>
          <a:p>
            <a:pPr>
              <a:defRPr/>
            </a:pPr>
            <a:r>
              <a:rPr lang="zh-CN" altLang="en-US" dirty="0"/>
              <a:t>数据库系统</a:t>
            </a:r>
            <a:r>
              <a:rPr lang="en-US" altLang="zh-CN" dirty="0"/>
              <a:t>—</a:t>
            </a:r>
            <a:r>
              <a:rPr lang="zh-CN" altLang="en-US" dirty="0"/>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730890" y="1126800"/>
            <a:ext cx="10603418" cy="31793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lvl="1">
              <a:lnSpc>
                <a:spcPct val="150000"/>
              </a:lnSpc>
              <a:spcBef>
                <a:spcPts val="0"/>
              </a:spcBef>
              <a:buFont typeface="Wingdings" panose="05000000000000000000" pitchFamily="2" charset="2"/>
              <a:buChar char="Ø"/>
            </a:pPr>
            <a:r>
              <a:rPr lang="zh-CN" altLang="en-US" sz="2200" dirty="0">
                <a:latin typeface="+mj-ea"/>
                <a:ea typeface="+mj-ea"/>
              </a:rPr>
              <a:t>首个</a:t>
            </a:r>
            <a:r>
              <a:rPr lang="zh-CN" altLang="en-US" sz="2200" dirty="0">
                <a:solidFill>
                  <a:srgbClr val="701988"/>
                </a:solidFill>
                <a:latin typeface="+mj-ea"/>
                <a:ea typeface="+mj-ea"/>
              </a:rPr>
              <a:t>自底向上</a:t>
            </a:r>
            <a:r>
              <a:rPr lang="zh-CN" altLang="en-US" sz="2200" dirty="0">
                <a:latin typeface="+mj-ea"/>
                <a:ea typeface="+mj-ea"/>
              </a:rPr>
              <a:t>的优化器：</a:t>
            </a:r>
            <a:r>
              <a:rPr lang="en-US" altLang="zh-CN" sz="2200" dirty="0">
                <a:latin typeface="+mj-ea"/>
                <a:ea typeface="+mj-ea"/>
              </a:rPr>
              <a:t>R</a:t>
            </a:r>
            <a:r>
              <a:rPr lang="zh-CN" altLang="en-US" sz="2200" dirty="0">
                <a:latin typeface="+mj-ea"/>
                <a:ea typeface="+mj-ea"/>
              </a:rPr>
              <a:t>系统（</a:t>
            </a:r>
            <a:r>
              <a:rPr lang="en-US" altLang="zh-CN" sz="2200" dirty="0">
                <a:latin typeface="+mj-ea"/>
                <a:ea typeface="+mj-ea"/>
              </a:rPr>
              <a:t>IBM</a:t>
            </a:r>
            <a:r>
              <a:rPr lang="zh-CN" altLang="en-US" sz="2200" dirty="0">
                <a:latin typeface="+mj-ea"/>
                <a:ea typeface="+mj-ea"/>
              </a:rPr>
              <a:t>）</a:t>
            </a:r>
            <a:endParaRPr lang="en-US" altLang="zh-CN" sz="2200" dirty="0">
              <a:latin typeface="+mj-ea"/>
              <a:ea typeface="+mj-ea"/>
            </a:endParaRPr>
          </a:p>
          <a:p>
            <a:pPr lvl="2">
              <a:lnSpc>
                <a:spcPct val="150000"/>
              </a:lnSpc>
              <a:spcBef>
                <a:spcPts val="0"/>
              </a:spcBef>
              <a:buFont typeface="Arial" panose="020B0604020202020204" pitchFamily="34" charset="0"/>
              <a:buChar char="•"/>
            </a:pPr>
            <a:r>
              <a:rPr lang="zh-CN" altLang="en-US" sz="1800" dirty="0">
                <a:latin typeface="+mj-ea"/>
                <a:ea typeface="+mj-ea"/>
              </a:rPr>
              <a:t>逻辑：基于规则的等价转换；使用</a:t>
            </a:r>
            <a:r>
              <a:rPr lang="zh-CN" altLang="en-US" sz="1800" dirty="0">
                <a:solidFill>
                  <a:srgbClr val="701988"/>
                </a:solidFill>
                <a:latin typeface="+mj-ea"/>
                <a:ea typeface="+mj-ea"/>
              </a:rPr>
              <a:t>静态规则初始化</a:t>
            </a:r>
            <a:r>
              <a:rPr lang="zh-CN" altLang="en-US" sz="1800" dirty="0">
                <a:latin typeface="+mj-ea"/>
                <a:ea typeface="+mj-ea"/>
              </a:rPr>
              <a:t>逻辑算子</a:t>
            </a:r>
            <a:endParaRPr lang="en-US" altLang="zh-CN" sz="1800" dirty="0">
              <a:latin typeface="+mj-ea"/>
              <a:ea typeface="+mj-ea"/>
            </a:endParaRPr>
          </a:p>
          <a:p>
            <a:pPr lvl="2">
              <a:lnSpc>
                <a:spcPct val="150000"/>
              </a:lnSpc>
              <a:spcBef>
                <a:spcPts val="0"/>
              </a:spcBef>
              <a:buFont typeface="Arial" panose="020B0604020202020204" pitchFamily="34" charset="0"/>
              <a:buChar char="•"/>
            </a:pPr>
            <a:r>
              <a:rPr lang="zh-CN" altLang="en-US" sz="1800" dirty="0">
                <a:latin typeface="+mj-ea"/>
                <a:ea typeface="+mj-ea"/>
              </a:rPr>
              <a:t>物理：自底向上地基于代价模型寻找最优连接顺序；对于每个逻辑算子，枚举实现该运算符的物理算子，得到物理算子的所有组合</a:t>
            </a:r>
          </a:p>
          <a:p>
            <a:pPr lvl="1">
              <a:lnSpc>
                <a:spcPct val="150000"/>
              </a:lnSpc>
              <a:spcBef>
                <a:spcPts val="0"/>
              </a:spcBef>
              <a:buFont typeface="Wingdings" panose="05000000000000000000" pitchFamily="2" charset="2"/>
              <a:buChar char="Ø"/>
            </a:pPr>
            <a:r>
              <a:rPr lang="zh-CN" altLang="en-US" sz="2200" dirty="0">
                <a:latin typeface="+mj-ea"/>
                <a:ea typeface="+mj-ea"/>
              </a:rPr>
              <a:t>然后迭代地构建</a:t>
            </a:r>
            <a:r>
              <a:rPr lang="zh-CN" altLang="en-US" sz="2200" dirty="0">
                <a:solidFill>
                  <a:srgbClr val="701988"/>
                </a:solidFill>
                <a:latin typeface="+mj-ea"/>
                <a:ea typeface="+mj-ea"/>
              </a:rPr>
              <a:t>左深连接树</a:t>
            </a:r>
            <a:r>
              <a:rPr lang="zh-CN" altLang="en-US" sz="2200" dirty="0">
                <a:latin typeface="+mj-ea"/>
                <a:ea typeface="+mj-ea"/>
              </a:rPr>
              <a:t>，以最小化执行计划所需的估计代价。</a:t>
            </a: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sp>
        <p:nvSpPr>
          <p:cNvPr id="8" name="文本框 7">
            <a:extLst>
              <a:ext uri="{FF2B5EF4-FFF2-40B4-BE49-F238E27FC236}">
                <a16:creationId xmlns:a16="http://schemas.microsoft.com/office/drawing/2014/main" id="{27700838-954D-087E-3478-BEE7F1567349}"/>
              </a:ext>
            </a:extLst>
          </p:cNvPr>
          <p:cNvSpPr txBox="1"/>
          <p:nvPr/>
        </p:nvSpPr>
        <p:spPr>
          <a:xfrm>
            <a:off x="2759906" y="6104441"/>
            <a:ext cx="1210588" cy="400110"/>
          </a:xfrm>
          <a:prstGeom prst="rect">
            <a:avLst/>
          </a:prstGeom>
          <a:noFill/>
        </p:spPr>
        <p:txBody>
          <a:bodyPr wrap="none" rtlCol="0">
            <a:spAutoFit/>
          </a:bodyPr>
          <a:lstStyle/>
          <a:p>
            <a:r>
              <a:rPr kumimoji="1" lang="zh-CN" altLang="en-US" sz="2000" b="1" dirty="0">
                <a:latin typeface="+mj-ea"/>
                <a:ea typeface="+mj-ea"/>
              </a:rPr>
              <a:t>基于规则</a:t>
            </a:r>
          </a:p>
        </p:txBody>
      </p:sp>
      <p:sp>
        <p:nvSpPr>
          <p:cNvPr id="9" name="文本框 8">
            <a:extLst>
              <a:ext uri="{FF2B5EF4-FFF2-40B4-BE49-F238E27FC236}">
                <a16:creationId xmlns:a16="http://schemas.microsoft.com/office/drawing/2014/main" id="{7D2C3690-AB86-9986-37BA-1F66A0780946}"/>
              </a:ext>
            </a:extLst>
          </p:cNvPr>
          <p:cNvSpPr txBox="1"/>
          <p:nvPr/>
        </p:nvSpPr>
        <p:spPr>
          <a:xfrm>
            <a:off x="7151352" y="6078658"/>
            <a:ext cx="2765501" cy="400110"/>
          </a:xfrm>
          <a:prstGeom prst="rect">
            <a:avLst/>
          </a:prstGeom>
          <a:noFill/>
        </p:spPr>
        <p:txBody>
          <a:bodyPr wrap="none" rtlCol="0">
            <a:spAutoFit/>
          </a:bodyPr>
          <a:lstStyle/>
          <a:p>
            <a:r>
              <a:rPr kumimoji="1" lang="zh-CN" altLang="en-US" sz="2000" b="1" dirty="0">
                <a:latin typeface="+mj-ea"/>
                <a:ea typeface="+mj-ea"/>
              </a:rPr>
              <a:t>基于代价选择连接顺序</a:t>
            </a:r>
          </a:p>
        </p:txBody>
      </p:sp>
    </p:spTree>
    <p:extLst>
      <p:ext uri="{BB962C8B-B14F-4D97-AF65-F5344CB8AC3E}">
        <p14:creationId xmlns:p14="http://schemas.microsoft.com/office/powerpoint/2010/main" val="100571928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18">
            <a:extLst>
              <a:ext uri="{FF2B5EF4-FFF2-40B4-BE49-F238E27FC236}">
                <a16:creationId xmlns:a16="http://schemas.microsoft.com/office/drawing/2014/main" id="{0FF52922-3D42-4412-80D4-E8608AC407DF}"/>
              </a:ext>
            </a:extLst>
          </p:cNvPr>
          <p:cNvSpPr/>
          <p:nvPr/>
        </p:nvSpPr>
        <p:spPr>
          <a:xfrm>
            <a:off x="712380" y="4199862"/>
            <a:ext cx="10877105" cy="196702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0D410A71-9BD2-54C7-1B06-A1D45E87ED91}"/>
              </a:ext>
            </a:extLst>
          </p:cNvPr>
          <p:cNvSpPr>
            <a:spLocks noGrp="1"/>
          </p:cNvSpPr>
          <p:nvPr>
            <p:ph type="sldNum" sz="quarter" idx="10"/>
          </p:nvPr>
        </p:nvSpPr>
        <p:spPr/>
        <p:txBody>
          <a:bodyPr/>
          <a:lstStyle/>
          <a:p>
            <a:fld id="{87BBDC00-B9E2-4EFD-9306-2934E87247C6}" type="slidenum">
              <a:rPr lang="zh-CN" altLang="en-US" smtClean="0"/>
              <a:pPr/>
              <a:t>136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i="0" u="none" strike="noStrike" dirty="0">
                <a:solidFill>
                  <a:srgbClr val="333333"/>
                </a:solidFill>
                <a:effectLst/>
                <a:latin typeface="Arial" panose="020B0604020202020204" pitchFamily="34" charset="0"/>
              </a:rPr>
              <a:t>② </a:t>
            </a:r>
            <a:r>
              <a:rPr lang="zh-CN" altLang="en-US" dirty="0"/>
              <a:t>启发式方法</a:t>
            </a:r>
            <a:r>
              <a:rPr lang="en-US" altLang="zh-CN" dirty="0"/>
              <a:t>+</a:t>
            </a:r>
            <a:r>
              <a:rPr lang="zh-CN" altLang="en-US" dirty="0"/>
              <a:t>代价选择连接顺序</a:t>
            </a:r>
            <a:endParaRPr kumimoji="1" lang="zh-CN" altLang="en-US" dirty="0"/>
          </a:p>
        </p:txBody>
      </p:sp>
      <p:sp>
        <p:nvSpPr>
          <p:cNvPr id="4" name="页脚占位符 3">
            <a:extLst>
              <a:ext uri="{FF2B5EF4-FFF2-40B4-BE49-F238E27FC236}">
                <a16:creationId xmlns:a16="http://schemas.microsoft.com/office/drawing/2014/main" id="{B6585914-7594-7423-1F26-074575D8DC3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609425" y="1154501"/>
            <a:ext cx="10815145" cy="5547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lvl="1">
              <a:lnSpc>
                <a:spcPct val="150000"/>
              </a:lnSpc>
              <a:spcBef>
                <a:spcPts val="0"/>
              </a:spcBef>
              <a:buFont typeface="Wingdings" panose="05000000000000000000" pitchFamily="2" charset="2"/>
              <a:buChar char="Ø"/>
            </a:pPr>
            <a:r>
              <a:rPr lang="zh-CN" altLang="en-US" sz="2400" dirty="0">
                <a:latin typeface="+mj-ea"/>
                <a:ea typeface="+mj-ea"/>
              </a:rPr>
              <a:t>首个</a:t>
            </a:r>
            <a:r>
              <a:rPr lang="zh-CN" altLang="en-US" sz="2400" dirty="0">
                <a:solidFill>
                  <a:srgbClr val="701988"/>
                </a:solidFill>
                <a:latin typeface="+mj-ea"/>
                <a:ea typeface="+mj-ea"/>
              </a:rPr>
              <a:t>自底向上</a:t>
            </a:r>
            <a:r>
              <a:rPr lang="zh-CN" altLang="en-US" sz="2400" dirty="0">
                <a:latin typeface="+mj-ea"/>
                <a:ea typeface="+mj-ea"/>
              </a:rPr>
              <a:t>的优化器：</a:t>
            </a:r>
            <a:r>
              <a:rPr lang="en-US" altLang="zh-CN" sz="2400" dirty="0">
                <a:latin typeface="+mj-ea"/>
                <a:ea typeface="+mj-ea"/>
              </a:rPr>
              <a:t>R</a:t>
            </a:r>
            <a:r>
              <a:rPr lang="zh-CN" altLang="en-US" sz="2400" dirty="0">
                <a:latin typeface="+mj-ea"/>
                <a:ea typeface="+mj-ea"/>
              </a:rPr>
              <a:t>系统（</a:t>
            </a:r>
            <a:r>
              <a:rPr lang="en-US" altLang="zh-CN" sz="2400" dirty="0">
                <a:latin typeface="+mj-ea"/>
                <a:ea typeface="+mj-ea"/>
              </a:rPr>
              <a:t>IBM</a:t>
            </a:r>
            <a:r>
              <a:rPr lang="zh-CN" altLang="en-US" sz="2400" dirty="0">
                <a:latin typeface="+mj-ea"/>
                <a:ea typeface="+mj-ea"/>
              </a:rPr>
              <a:t>）</a:t>
            </a:r>
            <a:endParaRPr lang="en-US" altLang="zh-CN" sz="2400" dirty="0">
              <a:latin typeface="+mj-ea"/>
              <a:ea typeface="+mj-ea"/>
            </a:endParaRPr>
          </a:p>
          <a:p>
            <a:pPr lvl="2">
              <a:lnSpc>
                <a:spcPct val="150000"/>
              </a:lnSpc>
              <a:spcBef>
                <a:spcPts val="0"/>
              </a:spcBef>
              <a:buFont typeface="Arial" panose="020B0604020202020204" pitchFamily="34" charset="0"/>
              <a:buChar char="•"/>
            </a:pPr>
            <a:r>
              <a:rPr lang="zh-CN" altLang="en-US" sz="2000" dirty="0">
                <a:latin typeface="+mj-ea"/>
                <a:ea typeface="+mj-ea"/>
              </a:rPr>
              <a:t>逻辑优化和物理优化被严格区分</a:t>
            </a:r>
            <a:endParaRPr lang="en-US" altLang="zh-CN" sz="2000" dirty="0">
              <a:latin typeface="+mj-ea"/>
              <a:ea typeface="+mj-ea"/>
            </a:endParaRPr>
          </a:p>
          <a:p>
            <a:pPr lvl="2">
              <a:lnSpc>
                <a:spcPct val="150000"/>
              </a:lnSpc>
              <a:spcBef>
                <a:spcPts val="0"/>
              </a:spcBef>
              <a:buFont typeface="Arial" panose="020B0604020202020204" pitchFamily="34" charset="0"/>
              <a:buChar char="•"/>
            </a:pPr>
            <a:r>
              <a:rPr lang="zh-CN" altLang="en-US" sz="2000" dirty="0">
                <a:latin typeface="+mj-ea"/>
                <a:ea typeface="+mj-ea"/>
              </a:rPr>
              <a:t>与优化规则耦合紧密。加入新规则需要同时加入其与其他规则的关系。</a:t>
            </a:r>
            <a:endParaRPr lang="en-US" altLang="zh-CN" sz="2000" dirty="0">
              <a:latin typeface="+mj-ea"/>
              <a:ea typeface="+mj-ea"/>
            </a:endParaRPr>
          </a:p>
          <a:p>
            <a:pPr lvl="2">
              <a:lnSpc>
                <a:spcPct val="150000"/>
              </a:lnSpc>
              <a:spcBef>
                <a:spcPts val="0"/>
              </a:spcBef>
              <a:buFont typeface="Arial" panose="020B0604020202020204" pitchFamily="34" charset="0"/>
              <a:buChar char="•"/>
            </a:pPr>
            <a:r>
              <a:rPr lang="zh-CN" altLang="en-US" sz="2000" dirty="0">
                <a:latin typeface="+mj-ea"/>
                <a:ea typeface="+mj-ea"/>
              </a:rPr>
              <a:t>扩展能力差：</a:t>
            </a:r>
            <a:endParaRPr lang="en-US" altLang="zh-CN" sz="2000" dirty="0">
              <a:latin typeface="+mj-ea"/>
              <a:ea typeface="+mj-ea"/>
            </a:endParaRPr>
          </a:p>
          <a:p>
            <a:pPr lvl="3">
              <a:lnSpc>
                <a:spcPct val="150000"/>
              </a:lnSpc>
              <a:spcBef>
                <a:spcPts val="0"/>
              </a:spcBef>
              <a:buFont typeface="Arial" panose="020B0604020202020204" pitchFamily="34" charset="0"/>
              <a:buChar char="•"/>
            </a:pPr>
            <a:r>
              <a:rPr lang="zh-CN" altLang="en-US" sz="2000" dirty="0">
                <a:effectLst>
                  <a:outerShdw algn="tl">
                    <a:srgbClr val="C0C0C0"/>
                  </a:outerShdw>
                </a:effectLst>
                <a:latin typeface="+mj-ea"/>
                <a:ea typeface="+mj-ea"/>
              </a:rPr>
              <a:t>难以添加新的规则</a:t>
            </a:r>
            <a:endParaRPr lang="en-US" altLang="zh-CN" sz="2000" dirty="0">
              <a:effectLst>
                <a:outerShdw algn="tl">
                  <a:srgbClr val="C0C0C0"/>
                </a:outerShdw>
              </a:effectLst>
              <a:latin typeface="+mj-ea"/>
              <a:ea typeface="+mj-ea"/>
            </a:endParaRPr>
          </a:p>
          <a:p>
            <a:pPr lvl="3">
              <a:lnSpc>
                <a:spcPct val="150000"/>
              </a:lnSpc>
              <a:spcBef>
                <a:spcPts val="0"/>
              </a:spcBef>
              <a:buFont typeface="Arial" panose="020B0604020202020204" pitchFamily="34" charset="0"/>
              <a:buChar char="•"/>
            </a:pPr>
            <a:r>
              <a:rPr lang="zh-CN" altLang="en-US" sz="2000" dirty="0">
                <a:effectLst>
                  <a:outerShdw algn="tl">
                    <a:srgbClr val="C0C0C0"/>
                  </a:outerShdw>
                </a:effectLst>
                <a:latin typeface="+mj-ea"/>
                <a:ea typeface="+mj-ea"/>
              </a:rPr>
              <a:t>自底向上的动态规划缺少全局优化视角</a:t>
            </a:r>
            <a:endParaRPr lang="en-US" altLang="zh-CN" sz="2000" dirty="0">
              <a:effectLst>
                <a:outerShdw algn="tl">
                  <a:srgbClr val="C0C0C0"/>
                </a:outerShdw>
              </a:effectLst>
              <a:latin typeface="+mj-ea"/>
              <a:ea typeface="+mj-ea"/>
            </a:endParaRPr>
          </a:p>
          <a:p>
            <a:pPr lvl="1">
              <a:buFont typeface="Wingdings" pitchFamily="2" charset="2"/>
              <a:buChar char="p"/>
            </a:pPr>
            <a:endParaRPr lang="zh-CN" altLang="en-US"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grpSp>
        <p:nvGrpSpPr>
          <p:cNvPr id="5" name="组合 4"/>
          <p:cNvGrpSpPr/>
          <p:nvPr/>
        </p:nvGrpSpPr>
        <p:grpSpPr>
          <a:xfrm>
            <a:off x="1158948" y="4777421"/>
            <a:ext cx="9873270" cy="1268375"/>
            <a:chOff x="278522" y="4873176"/>
            <a:chExt cx="11711177" cy="1504483"/>
          </a:xfrm>
        </p:grpSpPr>
        <p:pic>
          <p:nvPicPr>
            <p:cNvPr id="9" name="图片 8">
              <a:extLst>
                <a:ext uri="{FF2B5EF4-FFF2-40B4-BE49-F238E27FC236}">
                  <a16:creationId xmlns:a16="http://schemas.microsoft.com/office/drawing/2014/main" id="{942F3B89-A72F-84C5-C207-1058B58ACFCE}"/>
                </a:ext>
              </a:extLst>
            </p:cNvPr>
            <p:cNvPicPr>
              <a:picLocks noChangeAspect="1"/>
            </p:cNvPicPr>
            <p:nvPr/>
          </p:nvPicPr>
          <p:blipFill>
            <a:blip r:embed="rId3"/>
            <a:stretch>
              <a:fillRect/>
            </a:stretch>
          </p:blipFill>
          <p:spPr>
            <a:xfrm>
              <a:off x="278522" y="4967022"/>
              <a:ext cx="1691594" cy="1410637"/>
            </a:xfrm>
            <a:prstGeom prst="rect">
              <a:avLst/>
            </a:prstGeom>
          </p:spPr>
        </p:pic>
        <p:pic>
          <p:nvPicPr>
            <p:cNvPr id="10" name="图片 9">
              <a:extLst>
                <a:ext uri="{FF2B5EF4-FFF2-40B4-BE49-F238E27FC236}">
                  <a16:creationId xmlns:a16="http://schemas.microsoft.com/office/drawing/2014/main" id="{641BC004-ED32-6E18-B6EA-4061A2309873}"/>
                </a:ext>
              </a:extLst>
            </p:cNvPr>
            <p:cNvPicPr>
              <a:picLocks noChangeAspect="1"/>
            </p:cNvPicPr>
            <p:nvPr/>
          </p:nvPicPr>
          <p:blipFill>
            <a:blip r:embed="rId4"/>
            <a:stretch>
              <a:fillRect/>
            </a:stretch>
          </p:blipFill>
          <p:spPr>
            <a:xfrm>
              <a:off x="2789196" y="4939952"/>
              <a:ext cx="1691594" cy="1437707"/>
            </a:xfrm>
            <a:prstGeom prst="rect">
              <a:avLst/>
            </a:prstGeom>
          </p:spPr>
        </p:pic>
        <p:pic>
          <p:nvPicPr>
            <p:cNvPr id="11" name="图片 10">
              <a:extLst>
                <a:ext uri="{FF2B5EF4-FFF2-40B4-BE49-F238E27FC236}">
                  <a16:creationId xmlns:a16="http://schemas.microsoft.com/office/drawing/2014/main" id="{1E81A396-4CDA-A18A-4631-516BF69996AB}"/>
                </a:ext>
              </a:extLst>
            </p:cNvPr>
            <p:cNvPicPr>
              <a:picLocks noChangeAspect="1"/>
            </p:cNvPicPr>
            <p:nvPr/>
          </p:nvPicPr>
          <p:blipFill>
            <a:blip r:embed="rId5"/>
            <a:stretch>
              <a:fillRect/>
            </a:stretch>
          </p:blipFill>
          <p:spPr>
            <a:xfrm>
              <a:off x="5209893" y="4935801"/>
              <a:ext cx="1750613" cy="1441858"/>
            </a:xfrm>
            <a:prstGeom prst="rect">
              <a:avLst/>
            </a:prstGeom>
          </p:spPr>
        </p:pic>
        <p:pic>
          <p:nvPicPr>
            <p:cNvPr id="12" name="图片 11">
              <a:extLst>
                <a:ext uri="{FF2B5EF4-FFF2-40B4-BE49-F238E27FC236}">
                  <a16:creationId xmlns:a16="http://schemas.microsoft.com/office/drawing/2014/main" id="{4F2B0346-6F60-48D8-3F15-7A7ADCB855E6}"/>
                </a:ext>
              </a:extLst>
            </p:cNvPr>
            <p:cNvPicPr>
              <a:picLocks noChangeAspect="1"/>
            </p:cNvPicPr>
            <p:nvPr/>
          </p:nvPicPr>
          <p:blipFill>
            <a:blip r:embed="rId6"/>
            <a:stretch>
              <a:fillRect/>
            </a:stretch>
          </p:blipFill>
          <p:spPr>
            <a:xfrm>
              <a:off x="7686560" y="4873177"/>
              <a:ext cx="1750614" cy="1504482"/>
            </a:xfrm>
            <a:prstGeom prst="rect">
              <a:avLst/>
            </a:prstGeom>
          </p:spPr>
        </p:pic>
        <p:pic>
          <p:nvPicPr>
            <p:cNvPr id="13" name="图片 12">
              <a:extLst>
                <a:ext uri="{FF2B5EF4-FFF2-40B4-BE49-F238E27FC236}">
                  <a16:creationId xmlns:a16="http://schemas.microsoft.com/office/drawing/2014/main" id="{533F621B-5ECA-4E83-60E2-10F9DC8DC9A8}"/>
                </a:ext>
              </a:extLst>
            </p:cNvPr>
            <p:cNvPicPr>
              <a:picLocks noChangeAspect="1"/>
            </p:cNvPicPr>
            <p:nvPr/>
          </p:nvPicPr>
          <p:blipFill>
            <a:blip r:embed="rId7"/>
            <a:stretch>
              <a:fillRect/>
            </a:stretch>
          </p:blipFill>
          <p:spPr>
            <a:xfrm>
              <a:off x="10271598" y="4873176"/>
              <a:ext cx="1718101" cy="1504483"/>
            </a:xfrm>
            <a:prstGeom prst="rect">
              <a:avLst/>
            </a:prstGeom>
          </p:spPr>
        </p:pic>
        <p:sp>
          <p:nvSpPr>
            <p:cNvPr id="14" name="右箭头 13">
              <a:extLst>
                <a:ext uri="{FF2B5EF4-FFF2-40B4-BE49-F238E27FC236}">
                  <a16:creationId xmlns:a16="http://schemas.microsoft.com/office/drawing/2014/main" id="{247EA1DC-1B5E-2677-E1BD-9A7BC9799CC4}"/>
                </a:ext>
              </a:extLst>
            </p:cNvPr>
            <p:cNvSpPr/>
            <p:nvPr/>
          </p:nvSpPr>
          <p:spPr bwMode="auto">
            <a:xfrm>
              <a:off x="2193977" y="5545535"/>
              <a:ext cx="502193" cy="483085"/>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5" name="右箭头 14">
              <a:extLst>
                <a:ext uri="{FF2B5EF4-FFF2-40B4-BE49-F238E27FC236}">
                  <a16:creationId xmlns:a16="http://schemas.microsoft.com/office/drawing/2014/main" id="{350EDEEC-2AB0-BF6E-1857-21653EED9F54}"/>
                </a:ext>
              </a:extLst>
            </p:cNvPr>
            <p:cNvSpPr/>
            <p:nvPr/>
          </p:nvSpPr>
          <p:spPr bwMode="auto">
            <a:xfrm>
              <a:off x="4636876" y="5545534"/>
              <a:ext cx="502193" cy="483085"/>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6" name="右箭头 15">
              <a:extLst>
                <a:ext uri="{FF2B5EF4-FFF2-40B4-BE49-F238E27FC236}">
                  <a16:creationId xmlns:a16="http://schemas.microsoft.com/office/drawing/2014/main" id="{1321403E-9E7E-BB8D-F351-6B8CAE72D996}"/>
                </a:ext>
              </a:extLst>
            </p:cNvPr>
            <p:cNvSpPr/>
            <p:nvPr/>
          </p:nvSpPr>
          <p:spPr bwMode="auto">
            <a:xfrm>
              <a:off x="7094390" y="5545533"/>
              <a:ext cx="502193" cy="483085"/>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7" name="右箭头 16">
              <a:extLst>
                <a:ext uri="{FF2B5EF4-FFF2-40B4-BE49-F238E27FC236}">
                  <a16:creationId xmlns:a16="http://schemas.microsoft.com/office/drawing/2014/main" id="{152DB34D-86D9-E95E-7CD0-752D133FC71B}"/>
                </a:ext>
              </a:extLst>
            </p:cNvPr>
            <p:cNvSpPr/>
            <p:nvPr/>
          </p:nvSpPr>
          <p:spPr bwMode="auto">
            <a:xfrm>
              <a:off x="9649599" y="5545533"/>
              <a:ext cx="502193" cy="483085"/>
            </a:xfrm>
            <a:prstGeom prst="rightArrow">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6">
                <a:shade val="50000"/>
              </a:schemeClr>
            </a:lnRef>
            <a:fillRef idx="1">
              <a:schemeClr val="accent6"/>
            </a:fillRef>
            <a:effectRef idx="0">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grpSp>
      <p:sp>
        <p:nvSpPr>
          <p:cNvPr id="8" name="文本框 7">
            <a:extLst>
              <a:ext uri="{FF2B5EF4-FFF2-40B4-BE49-F238E27FC236}">
                <a16:creationId xmlns:a16="http://schemas.microsoft.com/office/drawing/2014/main" id="{3372B835-0A0E-858B-CE2B-B1EE2A8B7233}"/>
              </a:ext>
            </a:extLst>
          </p:cNvPr>
          <p:cNvSpPr txBox="1"/>
          <p:nvPr/>
        </p:nvSpPr>
        <p:spPr>
          <a:xfrm>
            <a:off x="3809956" y="4257607"/>
            <a:ext cx="4572085" cy="400110"/>
          </a:xfrm>
          <a:prstGeom prst="rect">
            <a:avLst/>
          </a:prstGeom>
          <a:noFill/>
        </p:spPr>
        <p:txBody>
          <a:bodyPr wrap="none" rtlCol="0">
            <a:spAutoFit/>
          </a:bodyPr>
          <a:lstStyle/>
          <a:p>
            <a:r>
              <a:rPr kumimoji="1" lang="zh-CN" altLang="en-US" sz="2000" b="1" dirty="0">
                <a:latin typeface="+mj-ea"/>
                <a:ea typeface="+mj-ea"/>
              </a:rPr>
              <a:t>自底向上地基于代价模型寻找最优计划</a:t>
            </a:r>
          </a:p>
        </p:txBody>
      </p:sp>
    </p:spTree>
    <p:extLst>
      <p:ext uri="{BB962C8B-B14F-4D97-AF65-F5344CB8AC3E}">
        <p14:creationId xmlns:p14="http://schemas.microsoft.com/office/powerpoint/2010/main" val="200835408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D410A71-9BD2-54C7-1B06-A1D45E87ED91}"/>
              </a:ext>
            </a:extLst>
          </p:cNvPr>
          <p:cNvSpPr>
            <a:spLocks noGrp="1"/>
          </p:cNvSpPr>
          <p:nvPr>
            <p:ph type="sldNum" sz="quarter" idx="10"/>
          </p:nvPr>
        </p:nvSpPr>
        <p:spPr/>
        <p:txBody>
          <a:bodyPr/>
          <a:lstStyle/>
          <a:p>
            <a:fld id="{87BBDC00-B9E2-4EFD-9306-2934E87247C6}" type="slidenum">
              <a:rPr lang="zh-CN" altLang="en-US" smtClean="0"/>
              <a:pPr/>
              <a:t>137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i="0" u="none" strike="noStrike" dirty="0">
                <a:solidFill>
                  <a:srgbClr val="333333"/>
                </a:solidFill>
                <a:effectLst/>
                <a:latin typeface="Arial" panose="020B0604020202020204" pitchFamily="34" charset="0"/>
              </a:rPr>
              <a:t>② </a:t>
            </a:r>
            <a:r>
              <a:rPr lang="zh-CN" altLang="en-US" dirty="0"/>
              <a:t>启发式方法</a:t>
            </a:r>
            <a:r>
              <a:rPr lang="en-US" altLang="zh-CN" dirty="0"/>
              <a:t>+</a:t>
            </a:r>
            <a:r>
              <a:rPr lang="zh-CN" altLang="en-US" dirty="0"/>
              <a:t>代价选择连接顺序</a:t>
            </a:r>
            <a:endParaRPr kumimoji="1" lang="zh-CN" altLang="en-US" dirty="0"/>
          </a:p>
        </p:txBody>
      </p:sp>
      <p:sp>
        <p:nvSpPr>
          <p:cNvPr id="4" name="页脚占位符 3">
            <a:extLst>
              <a:ext uri="{FF2B5EF4-FFF2-40B4-BE49-F238E27FC236}">
                <a16:creationId xmlns:a16="http://schemas.microsoft.com/office/drawing/2014/main" id="{C686C829-2958-48CF-F088-5BF8B0D1E28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008000" y="1126800"/>
            <a:ext cx="11603421" cy="5547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dirty="0">
                <a:solidFill>
                  <a:srgbClr val="701988"/>
                </a:solidFill>
                <a:latin typeface="+mj-ea"/>
                <a:ea typeface="+mj-ea"/>
              </a:rPr>
              <a:t>优点：</a:t>
            </a:r>
            <a:endParaRPr lang="en-US" altLang="zh-CN" sz="2400" b="1" dirty="0">
              <a:solidFill>
                <a:srgbClr val="701988"/>
              </a:solidFill>
              <a:latin typeface="+mj-ea"/>
              <a:ea typeface="+mj-ea"/>
            </a:endParaRPr>
          </a:p>
          <a:p>
            <a:pPr lvl="1">
              <a:lnSpc>
                <a:spcPct val="150000"/>
              </a:lnSpc>
              <a:buFont typeface="Arial" panose="020B0604020202020204" pitchFamily="34" charset="0"/>
              <a:buChar char="•"/>
            </a:pPr>
            <a:r>
              <a:rPr lang="zh-CN" altLang="en-US" sz="2000" b="0" i="0" dirty="0">
                <a:solidFill>
                  <a:srgbClr val="000000"/>
                </a:solidFill>
                <a:effectLst/>
                <a:latin typeface="+mj-ea"/>
                <a:ea typeface="+mj-ea"/>
              </a:rPr>
              <a:t>通常无需进行穷尽的搜索就可以找到一个比较好的计划</a:t>
            </a:r>
            <a:endParaRPr lang="en-US" altLang="zh-CN" sz="2000" b="0" i="0" dirty="0">
              <a:solidFill>
                <a:srgbClr val="000000"/>
              </a:solidFill>
              <a:effectLst/>
              <a:latin typeface="+mj-ea"/>
              <a:ea typeface="+mj-ea"/>
            </a:endParaRPr>
          </a:p>
          <a:p>
            <a:pPr lvl="1">
              <a:lnSpc>
                <a:spcPct val="150000"/>
              </a:lnSpc>
              <a:buFont typeface="Arial" panose="020B0604020202020204" pitchFamily="34" charset="0"/>
              <a:buChar char="•"/>
            </a:pPr>
            <a:r>
              <a:rPr lang="zh-CN" altLang="en-US" sz="2000" dirty="0">
                <a:solidFill>
                  <a:srgbClr val="000000"/>
                </a:solidFill>
                <a:latin typeface="+mj-ea"/>
                <a:ea typeface="+mj-ea"/>
              </a:rPr>
              <a:t>简单容易实现</a:t>
            </a:r>
            <a:endParaRPr lang="en-US" altLang="zh-CN" sz="2400" dirty="0">
              <a:latin typeface="+mj-ea"/>
              <a:ea typeface="+mj-ea"/>
            </a:endParaRPr>
          </a:p>
          <a:p>
            <a:pPr>
              <a:lnSpc>
                <a:spcPct val="150000"/>
              </a:lnSpc>
              <a:buFont typeface="Wingdings" panose="05000000000000000000" pitchFamily="2" charset="2"/>
              <a:buChar char="Ø"/>
            </a:pPr>
            <a:r>
              <a:rPr lang="zh-CN" altLang="en-US" sz="2400" b="1" dirty="0">
                <a:solidFill>
                  <a:srgbClr val="701988"/>
                </a:solidFill>
                <a:latin typeface="+mj-ea"/>
                <a:ea typeface="+mj-ea"/>
              </a:rPr>
              <a:t>缺点：</a:t>
            </a:r>
            <a:endParaRPr lang="zh-CN" altLang="zh-CN" sz="2400" b="1" dirty="0">
              <a:solidFill>
                <a:srgbClr val="701988"/>
              </a:solidFill>
              <a:latin typeface="+mj-ea"/>
              <a:ea typeface="+mj-ea"/>
            </a:endParaRPr>
          </a:p>
          <a:p>
            <a:pPr lvl="1">
              <a:lnSpc>
                <a:spcPct val="150000"/>
              </a:lnSpc>
              <a:buFont typeface="Arial" panose="020B0604020202020204" pitchFamily="34" charset="0"/>
              <a:buChar char="•"/>
            </a:pPr>
            <a:r>
              <a:rPr lang="zh-CN" altLang="en-US" sz="2000" dirty="0">
                <a:latin typeface="+mj-ea"/>
                <a:ea typeface="+mj-ea"/>
              </a:rPr>
              <a:t>添加规则繁琐</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优化时间慢</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左深连接树不总是最优</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在代价模型中需要考虑到数据的物理属性（例如有序性）</a:t>
            </a:r>
            <a:endParaRPr lang="en-US" altLang="zh-CN" sz="2000" dirty="0">
              <a:latin typeface="+mj-ea"/>
              <a:ea typeface="+mj-ea"/>
            </a:endParaRPr>
          </a:p>
          <a:p>
            <a:pPr lvl="1">
              <a:lnSpc>
                <a:spcPct val="150000"/>
              </a:lnSpc>
              <a:buFont typeface="Wingdings" pitchFamily="2" charset="2"/>
              <a:buChar char="Ø"/>
            </a:pPr>
            <a:endParaRPr lang="en-US" altLang="zh-CN" sz="2400" kern="0" dirty="0">
              <a:latin typeface="+mj-ea"/>
              <a:ea typeface="+mj-ea"/>
            </a:endParaRPr>
          </a:p>
          <a:p>
            <a:pPr>
              <a:lnSpc>
                <a:spcPct val="150000"/>
              </a:lnSpc>
              <a:buFont typeface="Wingdings" pitchFamily="2" charset="2"/>
              <a:buChar char="p"/>
            </a:pPr>
            <a:endParaRPr lang="en-US" altLang="zh-CN" sz="2400" kern="0" dirty="0">
              <a:latin typeface="+mj-ea"/>
              <a:ea typeface="+mj-ea"/>
            </a:endParaRPr>
          </a:p>
          <a:p>
            <a:pPr lvl="1">
              <a:lnSpc>
                <a:spcPct val="150000"/>
              </a:lnSpc>
              <a:buFont typeface="Wingdings" pitchFamily="2" charset="2"/>
              <a:buChar char="p"/>
            </a:pPr>
            <a:endParaRPr lang="en-US" altLang="zh-CN" sz="2400" kern="0" dirty="0">
              <a:latin typeface="+mj-ea"/>
              <a:ea typeface="+mj-ea"/>
            </a:endParaRPr>
          </a:p>
          <a:p>
            <a:pPr marL="0" indent="0">
              <a:lnSpc>
                <a:spcPct val="150000"/>
              </a:lnSpc>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414534838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0FF52922-3D42-4412-80D4-E8608AC407DF}"/>
              </a:ext>
            </a:extLst>
          </p:cNvPr>
          <p:cNvSpPr/>
          <p:nvPr/>
        </p:nvSpPr>
        <p:spPr>
          <a:xfrm>
            <a:off x="2979867" y="3139619"/>
            <a:ext cx="5938221" cy="340881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4B7325AD-A922-3A6E-EFA2-207508CA544D}"/>
              </a:ext>
            </a:extLst>
          </p:cNvPr>
          <p:cNvSpPr>
            <a:spLocks noGrp="1"/>
          </p:cNvSpPr>
          <p:nvPr>
            <p:ph type="sldNum" sz="quarter" idx="10"/>
          </p:nvPr>
        </p:nvSpPr>
        <p:spPr/>
        <p:txBody>
          <a:bodyPr/>
          <a:lstStyle/>
          <a:p>
            <a:fld id="{87BBDC00-B9E2-4EFD-9306-2934E87247C6}" type="slidenum">
              <a:rPr lang="zh-CN" altLang="en-US" smtClean="0"/>
              <a:pPr/>
              <a:t>138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③ 随机化搜索</a:t>
            </a:r>
          </a:p>
        </p:txBody>
      </p:sp>
      <p:sp>
        <p:nvSpPr>
          <p:cNvPr id="5" name="页脚占位符 4">
            <a:extLst>
              <a:ext uri="{FF2B5EF4-FFF2-40B4-BE49-F238E27FC236}">
                <a16:creationId xmlns:a16="http://schemas.microsoft.com/office/drawing/2014/main" id="{6EF788B1-639F-4532-B218-F1423ACEE66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922899" y="1019838"/>
            <a:ext cx="10133448" cy="21197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en-US" altLang="zh-CN" sz="2200" dirty="0">
                <a:latin typeface="+mj-ea"/>
                <a:ea typeface="+mj-ea"/>
              </a:rPr>
              <a:t>20</a:t>
            </a:r>
            <a:r>
              <a:rPr lang="zh-CN" altLang="zh-CN" sz="2200" dirty="0">
                <a:latin typeface="+mj-ea"/>
                <a:ea typeface="+mj-ea"/>
              </a:rPr>
              <a:t>世纪</a:t>
            </a:r>
            <a:r>
              <a:rPr lang="en-US" altLang="zh-CN" sz="2200" dirty="0">
                <a:latin typeface="+mj-ea"/>
                <a:ea typeface="+mj-ea"/>
              </a:rPr>
              <a:t>80</a:t>
            </a:r>
            <a:r>
              <a:rPr lang="zh-CN" altLang="zh-CN" sz="2200" dirty="0">
                <a:latin typeface="+mj-ea"/>
                <a:ea typeface="+mj-ea"/>
              </a:rPr>
              <a:t>年代，学术界也提出了随机化的搜索策略，利用随机化策略来跳出搜索空间中的局部最优 </a:t>
            </a:r>
            <a:endParaRPr lang="en-US" altLang="zh-CN" sz="2200" dirty="0">
              <a:latin typeface="+mj-ea"/>
              <a:ea typeface="+mj-ea"/>
            </a:endParaRPr>
          </a:p>
          <a:p>
            <a:pPr>
              <a:lnSpc>
                <a:spcPct val="150000"/>
              </a:lnSpc>
              <a:buFont typeface="Wingdings" panose="05000000000000000000" pitchFamily="2" charset="2"/>
              <a:buChar char="Ø"/>
            </a:pPr>
            <a:r>
              <a:rPr lang="zh-CN" altLang="en-US" sz="2200" dirty="0">
                <a:latin typeface="+mj-ea"/>
                <a:ea typeface="+mj-ea"/>
              </a:rPr>
              <a:t>例子</a:t>
            </a:r>
            <a:r>
              <a:rPr lang="zh-CN" altLang="zh-CN" sz="2200" dirty="0">
                <a:latin typeface="+mj-ea"/>
                <a:ea typeface="+mj-ea"/>
              </a:rPr>
              <a:t>：</a:t>
            </a:r>
            <a:r>
              <a:rPr lang="en-US" altLang="zh-CN" sz="2200" dirty="0">
                <a:latin typeface="+mj-ea"/>
                <a:ea typeface="+mj-ea"/>
              </a:rPr>
              <a:t> Postgres</a:t>
            </a:r>
            <a:r>
              <a:rPr lang="zh-CN" altLang="en-US" sz="2200" dirty="0">
                <a:latin typeface="+mj-ea"/>
                <a:ea typeface="+mj-ea"/>
              </a:rPr>
              <a:t>中的遗传</a:t>
            </a:r>
            <a:r>
              <a:rPr lang="zh-CN" altLang="zh-CN" sz="2200" dirty="0">
                <a:latin typeface="+mj-ea"/>
                <a:ea typeface="+mj-ea"/>
              </a:rPr>
              <a:t>算法</a:t>
            </a:r>
            <a:r>
              <a:rPr lang="zh-CN" altLang="en-US" sz="2200" dirty="0">
                <a:latin typeface="+mj-ea"/>
                <a:ea typeface="+mj-ea"/>
              </a:rPr>
              <a:t>。</a:t>
            </a:r>
            <a:r>
              <a:rPr lang="zh-CN" altLang="zh-CN" sz="2200" dirty="0">
                <a:latin typeface="+mj-ea"/>
                <a:ea typeface="+mj-ea"/>
              </a:rPr>
              <a:t>仍在</a:t>
            </a:r>
            <a:r>
              <a:rPr lang="en-US" altLang="zh-CN" sz="2200" dirty="0">
                <a:latin typeface="+mj-ea"/>
                <a:ea typeface="+mj-ea"/>
              </a:rPr>
              <a:t>Postgres</a:t>
            </a:r>
            <a:r>
              <a:rPr lang="zh-CN" altLang="zh-CN" sz="2200" dirty="0">
                <a:latin typeface="+mj-ea"/>
                <a:ea typeface="+mj-ea"/>
              </a:rPr>
              <a:t>中进行应用，但一般只用于参与连接的关系数在</a:t>
            </a:r>
            <a:r>
              <a:rPr lang="en-US" altLang="zh-CN" sz="2200" dirty="0">
                <a:latin typeface="+mj-ea"/>
                <a:ea typeface="+mj-ea"/>
              </a:rPr>
              <a:t>13</a:t>
            </a:r>
            <a:r>
              <a:rPr lang="zh-CN" altLang="zh-CN" sz="2200" dirty="0">
                <a:latin typeface="+mj-ea"/>
                <a:ea typeface="+mj-ea"/>
              </a:rPr>
              <a:t>个以上，搜索空间过大的情况 </a:t>
            </a:r>
            <a:endParaRPr lang="en-US" altLang="zh-CN" sz="2200" dirty="0">
              <a:latin typeface="+mj-ea"/>
              <a:ea typeface="+mj-ea"/>
            </a:endParaRPr>
          </a:p>
          <a:p>
            <a:pPr>
              <a:buFont typeface="Wingdings" pitchFamily="2" charset="2"/>
              <a:buChar char="p"/>
            </a:pPr>
            <a:endParaRPr lang="en-US" altLang="zh-CN" sz="2400" dirty="0">
              <a:latin typeface="+mj-ea"/>
              <a:ea typeface="+mj-ea"/>
            </a:endParaRPr>
          </a:p>
          <a:p>
            <a:pPr marL="422041" lvl="1" indent="0">
              <a:buNone/>
            </a:pPr>
            <a:endParaRPr lang="zh-CN" altLang="zh-CN" sz="2400" dirty="0">
              <a:latin typeface="+mj-ea"/>
              <a:ea typeface="+mj-ea"/>
            </a:endParaRPr>
          </a:p>
          <a:p>
            <a:pPr lvl="1">
              <a:buFont typeface="Wingdings" pitchFamily="2" charset="2"/>
              <a:buChar char="Ø"/>
            </a:pPr>
            <a:endParaRPr lang="en-US" altLang="zh-CN" sz="24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pic>
        <p:nvPicPr>
          <p:cNvPr id="4" name="图片 3">
            <a:extLst>
              <a:ext uri="{FF2B5EF4-FFF2-40B4-BE49-F238E27FC236}">
                <a16:creationId xmlns:a16="http://schemas.microsoft.com/office/drawing/2014/main" id="{2461D13D-5E7C-6BA1-F93F-0176F1044F60}"/>
              </a:ext>
            </a:extLst>
          </p:cNvPr>
          <p:cNvPicPr>
            <a:picLocks noChangeAspect="1"/>
          </p:cNvPicPr>
          <p:nvPr/>
        </p:nvPicPr>
        <p:blipFill>
          <a:blip r:embed="rId3"/>
          <a:stretch>
            <a:fillRect/>
          </a:stretch>
        </p:blipFill>
        <p:spPr>
          <a:xfrm>
            <a:off x="3357614" y="3231645"/>
            <a:ext cx="5363568" cy="3072335"/>
          </a:xfrm>
          <a:prstGeom prst="rect">
            <a:avLst/>
          </a:prstGeom>
        </p:spPr>
      </p:pic>
    </p:spTree>
    <p:extLst>
      <p:ext uri="{BB962C8B-B14F-4D97-AF65-F5344CB8AC3E}">
        <p14:creationId xmlns:p14="http://schemas.microsoft.com/office/powerpoint/2010/main" val="377617720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B7325AD-A922-3A6E-EFA2-207508CA544D}"/>
              </a:ext>
            </a:extLst>
          </p:cNvPr>
          <p:cNvSpPr>
            <a:spLocks noGrp="1"/>
          </p:cNvSpPr>
          <p:nvPr>
            <p:ph type="sldNum" sz="quarter" idx="10"/>
          </p:nvPr>
        </p:nvSpPr>
        <p:spPr/>
        <p:txBody>
          <a:bodyPr/>
          <a:lstStyle/>
          <a:p>
            <a:fld id="{87BBDC00-B9E2-4EFD-9306-2934E87247C6}" type="slidenum">
              <a:rPr lang="zh-CN" altLang="en-US" smtClean="0"/>
              <a:pPr/>
              <a:t>139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③ 随机化搜索</a:t>
            </a:r>
          </a:p>
        </p:txBody>
      </p:sp>
      <p:sp>
        <p:nvSpPr>
          <p:cNvPr id="4" name="页脚占位符 3">
            <a:extLst>
              <a:ext uri="{FF2B5EF4-FFF2-40B4-BE49-F238E27FC236}">
                <a16:creationId xmlns:a16="http://schemas.microsoft.com/office/drawing/2014/main" id="{44647588-56F2-A1FC-6A51-D10B0370EA41}"/>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458000" y="987791"/>
            <a:ext cx="11456894" cy="53676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dirty="0">
                <a:latin typeface="+mj-ea"/>
                <a:ea typeface="+mj-ea"/>
              </a:rPr>
              <a:t>优点：</a:t>
            </a:r>
            <a:endParaRPr lang="en-US" altLang="zh-CN" sz="2400" b="1"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可以快速优化各种复杂查询</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能够跳出局部最优</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内存占用较小</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计划质量好于启发式，优化速度好于动态规划</a:t>
            </a:r>
            <a:endParaRPr lang="en-US" altLang="zh-CN" sz="2400" dirty="0">
              <a:latin typeface="+mj-ea"/>
              <a:ea typeface="+mj-ea"/>
            </a:endParaRPr>
          </a:p>
          <a:p>
            <a:pPr>
              <a:lnSpc>
                <a:spcPct val="150000"/>
              </a:lnSpc>
              <a:buFont typeface="Wingdings" panose="05000000000000000000" pitchFamily="2" charset="2"/>
              <a:buChar char="Ø"/>
            </a:pPr>
            <a:r>
              <a:rPr lang="zh-CN" altLang="en-US" sz="2400" b="1" dirty="0">
                <a:latin typeface="+mj-ea"/>
                <a:ea typeface="+mj-ea"/>
              </a:rPr>
              <a:t>缺点：</a:t>
            </a:r>
            <a:endParaRPr lang="en-US" altLang="zh-CN" sz="2400" b="1"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计划质量无法保证，</a:t>
            </a:r>
            <a:r>
              <a:rPr lang="zh-CN" altLang="zh-CN" sz="2000" dirty="0">
                <a:latin typeface="+mj-ea"/>
                <a:ea typeface="+mj-ea"/>
              </a:rPr>
              <a:t>无法在所有情形下都得到好的优化效果</a:t>
            </a:r>
            <a:endParaRPr lang="en-US" altLang="zh-CN" sz="2000" dirty="0">
              <a:latin typeface="+mj-ea"/>
              <a:ea typeface="+mj-ea"/>
            </a:endParaRPr>
          </a:p>
          <a:p>
            <a:pPr lvl="1">
              <a:lnSpc>
                <a:spcPct val="150000"/>
              </a:lnSpc>
              <a:buFont typeface="Arial" panose="020B0604020202020204" pitchFamily="34" charset="0"/>
              <a:buChar char="•"/>
            </a:pPr>
            <a:r>
              <a:rPr lang="zh-CN" altLang="en-US" sz="2000" dirty="0">
                <a:latin typeface="+mj-ea"/>
                <a:ea typeface="+mj-ea"/>
              </a:rPr>
              <a:t>不可解释，难以确定选择某个计划的原因</a:t>
            </a:r>
            <a:endParaRPr lang="en-US" altLang="zh-CN" sz="2000" dirty="0">
              <a:latin typeface="+mj-ea"/>
              <a:ea typeface="+mj-ea"/>
            </a:endParaRPr>
          </a:p>
          <a:p>
            <a:pPr>
              <a:buFont typeface="Arial" panose="020B0604020202020204" pitchFamily="34" charset="0"/>
              <a:buChar char="•"/>
            </a:pPr>
            <a:endParaRPr lang="en-US" altLang="zh-CN" sz="2000" kern="0" dirty="0">
              <a:latin typeface="+mj-ea"/>
              <a:ea typeface="+mj-ea"/>
            </a:endParaRPr>
          </a:p>
          <a:p>
            <a:pPr lvl="1">
              <a:buFont typeface="Arial" panose="020B0604020202020204" pitchFamily="34" charset="0"/>
              <a:buChar char="•"/>
            </a:pPr>
            <a:endParaRPr lang="zh-CN" altLang="zh-CN" sz="2000" dirty="0">
              <a:latin typeface="+mj-ea"/>
              <a:ea typeface="+mj-ea"/>
            </a:endParaRPr>
          </a:p>
          <a:p>
            <a:pPr lvl="1">
              <a:buFont typeface="Arial" panose="020B0604020202020204" pitchFamily="34" charset="0"/>
              <a:buChar char="•"/>
            </a:pPr>
            <a:endParaRPr lang="en-US" altLang="zh-CN" sz="2000" dirty="0">
              <a:latin typeface="+mj-ea"/>
              <a:ea typeface="+mj-ea"/>
            </a:endParaRPr>
          </a:p>
          <a:p>
            <a:pPr lvl="1">
              <a:buFont typeface="Wingdings" pitchFamily="2" charset="2"/>
              <a:buChar char="Ø"/>
            </a:pPr>
            <a:endParaRPr lang="en-US" altLang="zh-CN" sz="2400" kern="0" dirty="0">
              <a:latin typeface="+mj-ea"/>
              <a:ea typeface="+mj-ea"/>
            </a:endParaRPr>
          </a:p>
          <a:p>
            <a:pPr>
              <a:buFont typeface="Wingdings" pitchFamily="2" charset="2"/>
              <a:buChar char="p"/>
            </a:pP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35532916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18">
            <a:extLst>
              <a:ext uri="{FF2B5EF4-FFF2-40B4-BE49-F238E27FC236}">
                <a16:creationId xmlns:a16="http://schemas.microsoft.com/office/drawing/2014/main" id="{0FF52922-3D42-4412-80D4-E8608AC407DF}"/>
              </a:ext>
            </a:extLst>
          </p:cNvPr>
          <p:cNvSpPr/>
          <p:nvPr/>
        </p:nvSpPr>
        <p:spPr>
          <a:xfrm>
            <a:off x="3328799" y="4458789"/>
            <a:ext cx="5536527" cy="197998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4B7325AD-A922-3A6E-EFA2-207508CA544D}"/>
              </a:ext>
            </a:extLst>
          </p:cNvPr>
          <p:cNvSpPr>
            <a:spLocks noGrp="1"/>
          </p:cNvSpPr>
          <p:nvPr>
            <p:ph type="sldNum" sz="quarter" idx="10"/>
          </p:nvPr>
        </p:nvSpPr>
        <p:spPr/>
        <p:txBody>
          <a:bodyPr/>
          <a:lstStyle/>
          <a:p>
            <a:fld id="{87BBDC00-B9E2-4EFD-9306-2934E87247C6}" type="slidenum">
              <a:rPr lang="zh-CN" altLang="en-US" smtClean="0"/>
              <a:pPr/>
              <a:t>140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优化器生成器：④分层</a:t>
            </a:r>
            <a:r>
              <a:rPr lang="en-US" altLang="zh-CN" dirty="0"/>
              <a:t>+</a:t>
            </a:r>
            <a:r>
              <a:rPr lang="zh-CN" altLang="en-US" dirty="0"/>
              <a:t>⑤统一搜索</a:t>
            </a:r>
            <a:r>
              <a:rPr kumimoji="1" lang="zh-CN" altLang="en-US" dirty="0"/>
              <a:t> </a:t>
            </a:r>
          </a:p>
        </p:txBody>
      </p:sp>
      <p:sp>
        <p:nvSpPr>
          <p:cNvPr id="4" name="页脚占位符 3">
            <a:extLst>
              <a:ext uri="{FF2B5EF4-FFF2-40B4-BE49-F238E27FC236}">
                <a16:creationId xmlns:a16="http://schemas.microsoft.com/office/drawing/2014/main" id="{71EDA43E-7F66-5977-9EAB-B5C696FA0D1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485363" y="1147550"/>
            <a:ext cx="11565903" cy="41290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spcBef>
                <a:spcPts val="600"/>
              </a:spcBef>
              <a:buFont typeface="Wingdings" panose="05000000000000000000" pitchFamily="2" charset="2"/>
              <a:buChar char="Ø"/>
            </a:pPr>
            <a:r>
              <a:rPr lang="zh-CN" altLang="en-US" sz="2400" kern="0" dirty="0">
                <a:latin typeface="+mj-ea"/>
                <a:ea typeface="+mj-ea"/>
              </a:rPr>
              <a:t>用过程式语言编写变换规则既</a:t>
            </a:r>
            <a:r>
              <a:rPr lang="zh-CN" altLang="en-US" sz="2400" kern="0" dirty="0">
                <a:solidFill>
                  <a:srgbClr val="701988"/>
                </a:solidFill>
                <a:latin typeface="+mj-ea"/>
                <a:ea typeface="+mj-ea"/>
              </a:rPr>
              <a:t>困难</a:t>
            </a:r>
            <a:r>
              <a:rPr lang="zh-CN" altLang="en-US" sz="2400" kern="0" dirty="0">
                <a:latin typeface="+mj-ea"/>
                <a:ea typeface="+mj-ea"/>
              </a:rPr>
              <a:t>又容易</a:t>
            </a:r>
            <a:r>
              <a:rPr lang="zh-CN" altLang="en-US" sz="2400" kern="0" dirty="0">
                <a:solidFill>
                  <a:srgbClr val="701988"/>
                </a:solidFill>
                <a:latin typeface="+mj-ea"/>
                <a:ea typeface="+mj-ea"/>
              </a:rPr>
              <a:t>产生错误：</a:t>
            </a:r>
            <a:endParaRPr lang="en-US" altLang="zh-CN" sz="2400" kern="0" dirty="0">
              <a:solidFill>
                <a:srgbClr val="701988"/>
              </a:solidFill>
              <a:latin typeface="+mj-ea"/>
              <a:ea typeface="+mj-ea"/>
            </a:endParaRPr>
          </a:p>
          <a:p>
            <a:pPr lvl="1">
              <a:spcBef>
                <a:spcPts val="600"/>
              </a:spcBef>
              <a:buFont typeface="Arial" panose="020B0604020202020204" pitchFamily="34" charset="0"/>
              <a:buChar char="•"/>
            </a:pPr>
            <a:r>
              <a:rPr lang="zh-CN" altLang="en-US" sz="2000" kern="0" dirty="0">
                <a:latin typeface="+mj-ea"/>
                <a:ea typeface="+mj-ea"/>
              </a:rPr>
              <a:t>在不进行大量测试的情况下难以验证规则的正确性</a:t>
            </a:r>
            <a:endParaRPr lang="en-US" altLang="zh-CN" sz="2000" kern="0" dirty="0">
              <a:latin typeface="+mj-ea"/>
              <a:ea typeface="+mj-ea"/>
            </a:endParaRPr>
          </a:p>
          <a:p>
            <a:pPr lvl="1">
              <a:spcBef>
                <a:spcPts val="600"/>
              </a:spcBef>
              <a:buFont typeface="Arial" panose="020B0604020202020204" pitchFamily="34" charset="0"/>
              <a:buChar char="•"/>
            </a:pPr>
            <a:r>
              <a:rPr lang="zh-CN" altLang="en-US" sz="2000" kern="0" dirty="0">
                <a:latin typeface="+mj-ea"/>
                <a:ea typeface="+mj-ea"/>
              </a:rPr>
              <a:t>为每个逻辑算子确定物理算子与查询的深层语义信息脱钩</a:t>
            </a:r>
            <a:endParaRPr lang="zh-CN" altLang="zh-CN" sz="2000" dirty="0">
              <a:latin typeface="+mj-ea"/>
              <a:ea typeface="+mj-ea"/>
            </a:endParaRPr>
          </a:p>
          <a:p>
            <a:pPr>
              <a:spcBef>
                <a:spcPts val="600"/>
              </a:spcBef>
              <a:buFont typeface="Wingdings" panose="05000000000000000000" pitchFamily="2" charset="2"/>
              <a:buChar char="Ø"/>
            </a:pPr>
            <a:r>
              <a:rPr lang="zh-CN" altLang="en-US" sz="2400" dirty="0">
                <a:latin typeface="+mj-ea"/>
                <a:ea typeface="+mj-ea"/>
              </a:rPr>
              <a:t>更好的方式是</a:t>
            </a:r>
            <a:endParaRPr lang="en-US" altLang="zh-CN" sz="2400" dirty="0">
              <a:latin typeface="+mj-ea"/>
              <a:ea typeface="+mj-ea"/>
            </a:endParaRPr>
          </a:p>
          <a:p>
            <a:pPr lvl="1">
              <a:spcBef>
                <a:spcPts val="600"/>
              </a:spcBef>
              <a:buFont typeface="Arial" panose="020B0604020202020204" pitchFamily="34" charset="0"/>
              <a:buChar char="•"/>
            </a:pPr>
            <a:r>
              <a:rPr lang="zh-CN" altLang="en-US" sz="2000" kern="0" dirty="0">
                <a:latin typeface="+mj-ea"/>
                <a:ea typeface="+mj-ea"/>
              </a:rPr>
              <a:t>声明式</a:t>
            </a:r>
            <a:r>
              <a:rPr lang="en-US" altLang="zh-CN" sz="2000" kern="0" dirty="0">
                <a:latin typeface="+mj-ea"/>
                <a:ea typeface="+mj-ea"/>
              </a:rPr>
              <a:t>DSL</a:t>
            </a:r>
            <a:r>
              <a:rPr lang="zh-CN" altLang="en-US" sz="2000" kern="0" dirty="0">
                <a:latin typeface="+mj-ea"/>
                <a:ea typeface="+mj-ea"/>
              </a:rPr>
              <a:t>（</a:t>
            </a:r>
            <a:r>
              <a:rPr lang="en" altLang="zh-CN" sz="2000" kern="0" dirty="0">
                <a:latin typeface="+mj-ea"/>
                <a:ea typeface="+mj-ea"/>
              </a:rPr>
              <a:t>domain-specific language</a:t>
            </a:r>
            <a:r>
              <a:rPr lang="zh-CN" altLang="en-US" sz="2000" kern="0" dirty="0">
                <a:latin typeface="+mj-ea"/>
                <a:ea typeface="+mj-ea"/>
              </a:rPr>
              <a:t>）来编写转换规则，让优化器在计划过程中强制使用</a:t>
            </a:r>
            <a:endParaRPr lang="en-US" altLang="zh-CN" sz="2000" kern="0" dirty="0">
              <a:latin typeface="+mj-ea"/>
              <a:ea typeface="+mj-ea"/>
            </a:endParaRPr>
          </a:p>
          <a:p>
            <a:pPr>
              <a:spcBef>
                <a:spcPts val="600"/>
              </a:spcBef>
              <a:buFont typeface="Wingdings" panose="05000000000000000000" pitchFamily="2" charset="2"/>
              <a:buChar char="Ø"/>
            </a:pPr>
            <a:r>
              <a:rPr lang="zh-CN" altLang="en-US" sz="2400" kern="0" dirty="0">
                <a:latin typeface="+mj-ea"/>
                <a:ea typeface="+mj-ea"/>
              </a:rPr>
              <a:t>使</a:t>
            </a:r>
            <a:r>
              <a:rPr lang="zh-CN" altLang="zh-CN" sz="2400" kern="0" dirty="0">
                <a:latin typeface="+mj-ea"/>
                <a:ea typeface="+mj-ea"/>
              </a:rPr>
              <a:t>数据库开发人员</a:t>
            </a:r>
            <a:r>
              <a:rPr lang="zh-CN" altLang="zh-CN" sz="2400" kern="0" dirty="0">
                <a:solidFill>
                  <a:srgbClr val="701988"/>
                </a:solidFill>
                <a:latin typeface="+mj-ea"/>
                <a:ea typeface="+mj-ea"/>
              </a:rPr>
              <a:t>只需编写用于优化查询的声明式规则</a:t>
            </a:r>
            <a:r>
              <a:rPr lang="zh-CN" altLang="zh-CN" sz="2400" kern="0" dirty="0">
                <a:latin typeface="+mj-ea"/>
                <a:ea typeface="+mj-ea"/>
              </a:rPr>
              <a:t>，由优化器充当编译器的角色来自动地确定等价规则，并在</a:t>
            </a:r>
            <a:r>
              <a:rPr lang="zh-CN" altLang="en-US" sz="2400" kern="0" dirty="0">
                <a:latin typeface="+mj-ea"/>
                <a:ea typeface="+mj-ea"/>
              </a:rPr>
              <a:t>优化</a:t>
            </a:r>
            <a:r>
              <a:rPr lang="zh-CN" altLang="zh-CN" sz="2400" kern="0" dirty="0">
                <a:latin typeface="+mj-ea"/>
                <a:ea typeface="+mj-ea"/>
              </a:rPr>
              <a:t>过程中执行这些规则。</a:t>
            </a:r>
            <a:endParaRPr lang="en-US" altLang="zh-CN" sz="2400" kern="0" dirty="0">
              <a:latin typeface="+mj-ea"/>
              <a:ea typeface="+mj-ea"/>
            </a:endParaRPr>
          </a:p>
          <a:p>
            <a:pPr>
              <a:lnSpc>
                <a:spcPct val="150000"/>
              </a:lnSpc>
              <a:spcBef>
                <a:spcPts val="0"/>
              </a:spcBef>
              <a:buFont typeface="Wingdings" panose="05000000000000000000" pitchFamily="2" charset="2"/>
              <a:buChar char="Ø"/>
            </a:pPr>
            <a:endParaRPr lang="en-US" altLang="zh-CN" sz="2800" kern="0" dirty="0">
              <a:latin typeface="+mj-ea"/>
              <a:ea typeface="+mj-ea"/>
            </a:endParaRPr>
          </a:p>
          <a:p>
            <a:pPr>
              <a:lnSpc>
                <a:spcPct val="150000"/>
              </a:lnSpc>
              <a:spcBef>
                <a:spcPts val="0"/>
              </a:spcBef>
              <a:buFont typeface="Wingdings" pitchFamily="2" charset="2"/>
              <a:buChar char="p"/>
            </a:pPr>
            <a:endParaRPr lang="en-US" altLang="zh-CN" sz="2800" kern="0" dirty="0">
              <a:latin typeface="+mj-ea"/>
              <a:ea typeface="+mj-ea"/>
            </a:endParaRPr>
          </a:p>
          <a:p>
            <a:pPr lvl="1">
              <a:lnSpc>
                <a:spcPct val="150000"/>
              </a:lnSpc>
              <a:spcBef>
                <a:spcPts val="0"/>
              </a:spcBef>
              <a:buFont typeface="Wingdings" pitchFamily="2" charset="2"/>
              <a:buChar char="p"/>
            </a:pPr>
            <a:endParaRPr lang="en-US" altLang="zh-CN" kern="0" dirty="0">
              <a:latin typeface="+mj-ea"/>
              <a:ea typeface="+mj-ea"/>
            </a:endParaRPr>
          </a:p>
          <a:p>
            <a:pPr marL="0" indent="0">
              <a:lnSpc>
                <a:spcPct val="150000"/>
              </a:lnSpc>
              <a:spcBef>
                <a:spcPts val="0"/>
              </a:spcBef>
              <a:buFont typeface="Wingdings" charset="2"/>
              <a:buNone/>
            </a:pPr>
            <a:r>
              <a:rPr lang="zh-CN" altLang="zh-CN" sz="2800" kern="0" dirty="0">
                <a:latin typeface="+mj-ea"/>
                <a:ea typeface="+mj-ea"/>
              </a:rPr>
              <a:t> </a:t>
            </a:r>
            <a:endParaRPr lang="zh-CN" altLang="en-US" sz="2800" kern="0" dirty="0">
              <a:latin typeface="+mj-ea"/>
              <a:ea typeface="+mj-ea"/>
            </a:endParaRPr>
          </a:p>
        </p:txBody>
      </p:sp>
      <p:grpSp>
        <p:nvGrpSpPr>
          <p:cNvPr id="16" name="组合 15">
            <a:extLst>
              <a:ext uri="{FF2B5EF4-FFF2-40B4-BE49-F238E27FC236}">
                <a16:creationId xmlns:a16="http://schemas.microsoft.com/office/drawing/2014/main" id="{E2AF8471-13C1-3B38-C284-F1BFC2D3BACB}"/>
              </a:ext>
            </a:extLst>
          </p:cNvPr>
          <p:cNvGrpSpPr/>
          <p:nvPr/>
        </p:nvGrpSpPr>
        <p:grpSpPr>
          <a:xfrm>
            <a:off x="3413273" y="4566167"/>
            <a:ext cx="5332526" cy="1796603"/>
            <a:chOff x="3563753" y="4098144"/>
            <a:chExt cx="5332526" cy="2123896"/>
          </a:xfrm>
        </p:grpSpPr>
        <p:sp>
          <p:nvSpPr>
            <p:cNvPr id="5" name="文本框 4">
              <a:extLst>
                <a:ext uri="{FF2B5EF4-FFF2-40B4-BE49-F238E27FC236}">
                  <a16:creationId xmlns:a16="http://schemas.microsoft.com/office/drawing/2014/main" id="{A1B08FF8-52DA-AC36-4F2D-5F6FDA6287D0}"/>
                </a:ext>
              </a:extLst>
            </p:cNvPr>
            <p:cNvSpPr txBox="1"/>
            <p:nvPr/>
          </p:nvSpPr>
          <p:spPr>
            <a:xfrm>
              <a:off x="3563753" y="5821810"/>
              <a:ext cx="595035" cy="400230"/>
            </a:xfrm>
            <a:prstGeom prst="rect">
              <a:avLst/>
            </a:prstGeom>
            <a:noFill/>
          </p:spPr>
          <p:txBody>
            <a:bodyPr wrap="none" rtlCol="0">
              <a:spAutoFit/>
            </a:bodyPr>
            <a:lstStyle/>
            <a:p>
              <a:r>
                <a:rPr kumimoji="1" lang="zh-CN" altLang="en-US" sz="1600" dirty="0">
                  <a:latin typeface="+mj-ea"/>
                  <a:ea typeface="+mj-ea"/>
                </a:rPr>
                <a:t>查询</a:t>
              </a:r>
            </a:p>
          </p:txBody>
        </p:sp>
        <p:sp>
          <p:nvSpPr>
            <p:cNvPr id="7" name="文本框 6">
              <a:extLst>
                <a:ext uri="{FF2B5EF4-FFF2-40B4-BE49-F238E27FC236}">
                  <a16:creationId xmlns:a16="http://schemas.microsoft.com/office/drawing/2014/main" id="{6782DC84-C86C-45C0-287A-8BF5FBB88818}"/>
                </a:ext>
              </a:extLst>
            </p:cNvPr>
            <p:cNvSpPr txBox="1"/>
            <p:nvPr/>
          </p:nvSpPr>
          <p:spPr>
            <a:xfrm>
              <a:off x="8301244" y="5821811"/>
              <a:ext cx="595035" cy="400229"/>
            </a:xfrm>
            <a:prstGeom prst="rect">
              <a:avLst/>
            </a:prstGeom>
            <a:noFill/>
          </p:spPr>
          <p:txBody>
            <a:bodyPr wrap="none" rtlCol="0">
              <a:spAutoFit/>
            </a:bodyPr>
            <a:lstStyle/>
            <a:p>
              <a:r>
                <a:rPr kumimoji="1" lang="zh-CN" altLang="en-US" sz="1600" dirty="0">
                  <a:latin typeface="+mj-ea"/>
                  <a:ea typeface="+mj-ea"/>
                </a:rPr>
                <a:t>计划</a:t>
              </a:r>
            </a:p>
          </p:txBody>
        </p:sp>
        <p:sp>
          <p:nvSpPr>
            <p:cNvPr id="8" name="文本框 7">
              <a:extLst>
                <a:ext uri="{FF2B5EF4-FFF2-40B4-BE49-F238E27FC236}">
                  <a16:creationId xmlns:a16="http://schemas.microsoft.com/office/drawing/2014/main" id="{007E0225-F1AE-C1C4-B20F-33CA46F8C797}"/>
                </a:ext>
              </a:extLst>
            </p:cNvPr>
            <p:cNvSpPr txBox="1"/>
            <p:nvPr/>
          </p:nvSpPr>
          <p:spPr>
            <a:xfrm>
              <a:off x="5380537" y="5721269"/>
              <a:ext cx="800219" cy="400229"/>
            </a:xfrm>
            <a:prstGeom prst="rect">
              <a:avLst/>
            </a:prstGeom>
            <a:noFill/>
          </p:spPr>
          <p:txBody>
            <a:bodyPr wrap="none" rtlCol="0">
              <a:spAutoFit/>
            </a:bodyPr>
            <a:lstStyle/>
            <a:p>
              <a:r>
                <a:rPr kumimoji="1" lang="zh-CN" altLang="en-US" sz="1600" dirty="0">
                  <a:latin typeface="+mj-ea"/>
                  <a:ea typeface="+mj-ea"/>
                </a:rPr>
                <a:t>优化器</a:t>
              </a:r>
            </a:p>
          </p:txBody>
        </p:sp>
        <p:sp>
          <p:nvSpPr>
            <p:cNvPr id="9" name="文本框 8">
              <a:extLst>
                <a:ext uri="{FF2B5EF4-FFF2-40B4-BE49-F238E27FC236}">
                  <a16:creationId xmlns:a16="http://schemas.microsoft.com/office/drawing/2014/main" id="{81EAD486-3506-D86F-007E-F8CB9E41152E}"/>
                </a:ext>
              </a:extLst>
            </p:cNvPr>
            <p:cNvSpPr txBox="1"/>
            <p:nvPr/>
          </p:nvSpPr>
          <p:spPr>
            <a:xfrm>
              <a:off x="5252298" y="4098144"/>
              <a:ext cx="1005403" cy="400229"/>
            </a:xfrm>
            <a:prstGeom prst="rect">
              <a:avLst/>
            </a:prstGeom>
            <a:noFill/>
          </p:spPr>
          <p:txBody>
            <a:bodyPr wrap="none" rtlCol="0">
              <a:spAutoFit/>
            </a:bodyPr>
            <a:lstStyle/>
            <a:p>
              <a:r>
                <a:rPr kumimoji="1" lang="zh-CN" altLang="en-US" sz="1600" dirty="0">
                  <a:latin typeface="+mj-ea"/>
                  <a:ea typeface="+mj-ea"/>
                </a:rPr>
                <a:t>指定模型</a:t>
              </a:r>
            </a:p>
          </p:txBody>
        </p:sp>
        <p:sp>
          <p:nvSpPr>
            <p:cNvPr id="10" name="文本框 9">
              <a:extLst>
                <a:ext uri="{FF2B5EF4-FFF2-40B4-BE49-F238E27FC236}">
                  <a16:creationId xmlns:a16="http://schemas.microsoft.com/office/drawing/2014/main" id="{1C8F126F-88A9-1B5A-85F3-BDD6B4C4B4CC}"/>
                </a:ext>
              </a:extLst>
            </p:cNvPr>
            <p:cNvSpPr txBox="1"/>
            <p:nvPr/>
          </p:nvSpPr>
          <p:spPr>
            <a:xfrm>
              <a:off x="4995817" y="4933547"/>
              <a:ext cx="1415772" cy="400229"/>
            </a:xfrm>
            <a:prstGeom prst="rect">
              <a:avLst/>
            </a:prstGeom>
            <a:noFill/>
          </p:spPr>
          <p:txBody>
            <a:bodyPr wrap="none" rtlCol="0">
              <a:spAutoFit/>
            </a:bodyPr>
            <a:lstStyle/>
            <a:p>
              <a:r>
                <a:rPr kumimoji="1" lang="zh-CN" altLang="en-US" sz="1600" dirty="0">
                  <a:latin typeface="+mj-ea"/>
                  <a:ea typeface="+mj-ea"/>
                </a:rPr>
                <a:t>优化器源代码</a:t>
              </a:r>
            </a:p>
          </p:txBody>
        </p:sp>
        <p:cxnSp>
          <p:nvCxnSpPr>
            <p:cNvPr id="11" name="直线箭头连接符 10">
              <a:extLst>
                <a:ext uri="{FF2B5EF4-FFF2-40B4-BE49-F238E27FC236}">
                  <a16:creationId xmlns:a16="http://schemas.microsoft.com/office/drawing/2014/main" id="{21CC23C4-CF7A-20E8-3011-D1C4513189D6}"/>
                </a:ext>
              </a:extLst>
            </p:cNvPr>
            <p:cNvCxnSpPr>
              <a:cxnSpLocks/>
            </p:cNvCxnSpPr>
            <p:nvPr/>
          </p:nvCxnSpPr>
          <p:spPr bwMode="auto">
            <a:xfrm>
              <a:off x="4635738" y="6114197"/>
              <a:ext cx="3566115" cy="0"/>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 name="直线箭头连接符 11">
              <a:extLst>
                <a:ext uri="{FF2B5EF4-FFF2-40B4-BE49-F238E27FC236}">
                  <a16:creationId xmlns:a16="http://schemas.microsoft.com/office/drawing/2014/main" id="{5DF3494A-E884-F255-7DE5-A9D99B11C7E1}"/>
                </a:ext>
              </a:extLst>
            </p:cNvPr>
            <p:cNvCxnSpPr>
              <a:cxnSpLocks/>
            </p:cNvCxnSpPr>
            <p:nvPr/>
          </p:nvCxnSpPr>
          <p:spPr bwMode="auto">
            <a:xfrm>
              <a:off x="5857592" y="5341312"/>
              <a:ext cx="0" cy="432903"/>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 name="直线箭头连接符 12">
              <a:extLst>
                <a:ext uri="{FF2B5EF4-FFF2-40B4-BE49-F238E27FC236}">
                  <a16:creationId xmlns:a16="http://schemas.microsoft.com/office/drawing/2014/main" id="{BC9ED078-D831-5504-04BD-31529E93C0DA}"/>
                </a:ext>
              </a:extLst>
            </p:cNvPr>
            <p:cNvCxnSpPr>
              <a:cxnSpLocks/>
            </p:cNvCxnSpPr>
            <p:nvPr/>
          </p:nvCxnSpPr>
          <p:spPr bwMode="auto">
            <a:xfrm>
              <a:off x="5858876" y="4470578"/>
              <a:ext cx="0" cy="432903"/>
            </a:xfrm>
            <a:prstGeom prst="straightConnector1">
              <a:avLst/>
            </a:prstGeom>
            <a:noFill/>
            <a:ln w="38100" cap="flat" cmpd="sng" algn="ctr">
              <a:solidFill>
                <a:schemeClr val="tx1"/>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 name="文本框 13">
              <a:extLst>
                <a:ext uri="{FF2B5EF4-FFF2-40B4-BE49-F238E27FC236}">
                  <a16:creationId xmlns:a16="http://schemas.microsoft.com/office/drawing/2014/main" id="{E5A7EDF0-599E-BC1F-0BF2-9B475420F2BD}"/>
                </a:ext>
              </a:extLst>
            </p:cNvPr>
            <p:cNvSpPr txBox="1"/>
            <p:nvPr/>
          </p:nvSpPr>
          <p:spPr>
            <a:xfrm>
              <a:off x="6500751" y="4425419"/>
              <a:ext cx="1415772" cy="400229"/>
            </a:xfrm>
            <a:prstGeom prst="rect">
              <a:avLst/>
            </a:prstGeom>
            <a:noFill/>
          </p:spPr>
          <p:txBody>
            <a:bodyPr wrap="none" rtlCol="0">
              <a:spAutoFit/>
            </a:bodyPr>
            <a:lstStyle/>
            <a:p>
              <a:r>
                <a:rPr kumimoji="1" lang="zh-CN" altLang="en-US" sz="1600" dirty="0">
                  <a:latin typeface="+mj-ea"/>
                  <a:ea typeface="+mj-ea"/>
                </a:rPr>
                <a:t>优化器生成器</a:t>
              </a:r>
            </a:p>
          </p:txBody>
        </p:sp>
        <p:sp>
          <p:nvSpPr>
            <p:cNvPr id="15" name="文本框 14">
              <a:extLst>
                <a:ext uri="{FF2B5EF4-FFF2-40B4-BE49-F238E27FC236}">
                  <a16:creationId xmlns:a16="http://schemas.microsoft.com/office/drawing/2014/main" id="{82D0F2F8-7165-286D-411E-3899D342F044}"/>
                </a:ext>
              </a:extLst>
            </p:cNvPr>
            <p:cNvSpPr txBox="1"/>
            <p:nvPr/>
          </p:nvSpPr>
          <p:spPr>
            <a:xfrm>
              <a:off x="6500751" y="5323127"/>
              <a:ext cx="1620957" cy="400230"/>
            </a:xfrm>
            <a:prstGeom prst="rect">
              <a:avLst/>
            </a:prstGeom>
            <a:noFill/>
          </p:spPr>
          <p:txBody>
            <a:bodyPr wrap="none" rtlCol="0">
              <a:spAutoFit/>
            </a:bodyPr>
            <a:lstStyle/>
            <a:p>
              <a:r>
                <a:rPr kumimoji="1" lang="zh-CN" altLang="en-US" sz="1600" dirty="0">
                  <a:latin typeface="+mj-ea"/>
                  <a:ea typeface="+mj-ea"/>
                </a:rPr>
                <a:t>编译器和连接器</a:t>
              </a:r>
            </a:p>
          </p:txBody>
        </p:sp>
      </p:grpSp>
    </p:spTree>
    <p:extLst>
      <p:ext uri="{BB962C8B-B14F-4D97-AF65-F5344CB8AC3E}">
        <p14:creationId xmlns:p14="http://schemas.microsoft.com/office/powerpoint/2010/main" val="143936936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B7325AD-A922-3A6E-EFA2-207508CA544D}"/>
              </a:ext>
            </a:extLst>
          </p:cNvPr>
          <p:cNvSpPr>
            <a:spLocks noGrp="1"/>
          </p:cNvSpPr>
          <p:nvPr>
            <p:ph type="sldNum" sz="quarter" idx="10"/>
          </p:nvPr>
        </p:nvSpPr>
        <p:spPr/>
        <p:txBody>
          <a:bodyPr/>
          <a:lstStyle/>
          <a:p>
            <a:fld id="{87BBDC00-B9E2-4EFD-9306-2934E87247C6}" type="slidenum">
              <a:rPr lang="zh-CN" altLang="en-US" smtClean="0"/>
              <a:pPr/>
              <a:t>141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优化器生成器：④分层</a:t>
            </a:r>
            <a:r>
              <a:rPr lang="en-US" altLang="zh-CN" dirty="0"/>
              <a:t>+</a:t>
            </a:r>
            <a:r>
              <a:rPr lang="zh-CN" altLang="en-US" dirty="0"/>
              <a:t>⑤统一搜索</a:t>
            </a:r>
            <a:r>
              <a:rPr kumimoji="1" lang="zh-CN" altLang="en-US" dirty="0"/>
              <a:t> </a:t>
            </a:r>
          </a:p>
        </p:txBody>
      </p:sp>
      <p:sp>
        <p:nvSpPr>
          <p:cNvPr id="4" name="页脚占位符 3">
            <a:extLst>
              <a:ext uri="{FF2B5EF4-FFF2-40B4-BE49-F238E27FC236}">
                <a16:creationId xmlns:a16="http://schemas.microsoft.com/office/drawing/2014/main" id="{285B5D2A-594F-9916-8F27-A9907D4086B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548640" y="1149450"/>
            <a:ext cx="12345374" cy="53676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kern="0" dirty="0">
                <a:latin typeface="+mj-ea"/>
                <a:ea typeface="+mj-ea"/>
              </a:rPr>
              <a:t>允许数据库的实现人员编写</a:t>
            </a:r>
            <a:r>
              <a:rPr lang="zh-CN" altLang="en-US" sz="2400" u="sng" kern="0" dirty="0">
                <a:solidFill>
                  <a:srgbClr val="701988"/>
                </a:solidFill>
                <a:latin typeface="+mj-ea"/>
                <a:ea typeface="+mj-ea"/>
              </a:rPr>
              <a:t>声明式的规则</a:t>
            </a:r>
            <a:r>
              <a:rPr lang="zh-CN" altLang="en-US" sz="2400" kern="0" dirty="0">
                <a:latin typeface="+mj-ea"/>
                <a:ea typeface="+mj-ea"/>
              </a:rPr>
              <a:t>优化查询</a:t>
            </a:r>
            <a:endParaRPr lang="en-US" altLang="zh-CN" sz="2400" kern="0" dirty="0">
              <a:latin typeface="+mj-ea"/>
              <a:ea typeface="+mj-ea"/>
            </a:endParaRPr>
          </a:p>
          <a:p>
            <a:pPr lvl="1">
              <a:lnSpc>
                <a:spcPct val="150000"/>
              </a:lnSpc>
              <a:buFont typeface="Arial" panose="020B0604020202020204" pitchFamily="34" charset="0"/>
              <a:buChar char="•"/>
            </a:pPr>
            <a:r>
              <a:rPr lang="zh-CN" altLang="en-US" sz="2400" kern="0" dirty="0">
                <a:latin typeface="+mj-ea"/>
                <a:ea typeface="+mj-ea"/>
              </a:rPr>
              <a:t>将</a:t>
            </a:r>
            <a:r>
              <a:rPr lang="zh-CN" altLang="en-US" sz="2400" u="sng" kern="0" dirty="0">
                <a:solidFill>
                  <a:srgbClr val="701988"/>
                </a:solidFill>
                <a:latin typeface="+mj-ea"/>
                <a:ea typeface="+mj-ea"/>
              </a:rPr>
              <a:t>搜索策略</a:t>
            </a:r>
            <a:r>
              <a:rPr lang="zh-CN" altLang="en-US" sz="2400" kern="0" dirty="0">
                <a:latin typeface="+mj-ea"/>
                <a:ea typeface="+mj-ea"/>
              </a:rPr>
              <a:t>与数据模型分离</a:t>
            </a:r>
            <a:endParaRPr lang="en-US" altLang="zh-CN" sz="2400" kern="0" dirty="0">
              <a:latin typeface="+mj-ea"/>
              <a:ea typeface="+mj-ea"/>
            </a:endParaRPr>
          </a:p>
          <a:p>
            <a:pPr lvl="1">
              <a:lnSpc>
                <a:spcPct val="150000"/>
              </a:lnSpc>
              <a:buFont typeface="Arial" panose="020B0604020202020204" pitchFamily="34" charset="0"/>
              <a:buChar char="•"/>
            </a:pPr>
            <a:r>
              <a:rPr lang="zh-CN" altLang="en-US" sz="2400" kern="0" dirty="0">
                <a:latin typeface="+mj-ea"/>
                <a:ea typeface="+mj-ea"/>
              </a:rPr>
              <a:t>将</a:t>
            </a:r>
            <a:r>
              <a:rPr lang="zh-CN" altLang="en-US" sz="2400" u="sng" kern="0" dirty="0">
                <a:solidFill>
                  <a:srgbClr val="701988"/>
                </a:solidFill>
                <a:latin typeface="+mj-ea"/>
                <a:ea typeface="+mj-ea"/>
              </a:rPr>
              <a:t>等价变换规则</a:t>
            </a:r>
            <a:r>
              <a:rPr lang="zh-CN" altLang="en-US" sz="2400" kern="0" dirty="0">
                <a:latin typeface="+mj-ea"/>
                <a:ea typeface="+mj-ea"/>
              </a:rPr>
              <a:t>以及逻辑算子与</a:t>
            </a:r>
            <a:r>
              <a:rPr lang="zh-CN" altLang="en-US" sz="2400" u="sng" kern="0" dirty="0">
                <a:solidFill>
                  <a:srgbClr val="701988"/>
                </a:solidFill>
                <a:latin typeface="+mj-ea"/>
                <a:ea typeface="+mj-ea"/>
              </a:rPr>
              <a:t>物理规则</a:t>
            </a:r>
            <a:r>
              <a:rPr lang="zh-CN" altLang="en-US" sz="2400" kern="0" dirty="0">
                <a:latin typeface="+mj-ea"/>
                <a:ea typeface="+mj-ea"/>
              </a:rPr>
              <a:t>和物理算子分离</a:t>
            </a:r>
            <a:endParaRPr lang="zh-CN" altLang="zh-CN" sz="2400" dirty="0">
              <a:latin typeface="+mj-ea"/>
              <a:ea typeface="+mj-ea"/>
            </a:endParaRPr>
          </a:p>
          <a:p>
            <a:pPr>
              <a:lnSpc>
                <a:spcPct val="150000"/>
              </a:lnSpc>
              <a:buFont typeface="Wingdings" panose="05000000000000000000" pitchFamily="2" charset="2"/>
              <a:buChar char="Ø"/>
            </a:pPr>
            <a:r>
              <a:rPr lang="zh-CN" altLang="en-US" sz="2400" kern="0" dirty="0">
                <a:latin typeface="+mj-ea"/>
                <a:ea typeface="+mj-ea"/>
              </a:rPr>
              <a:t>利用优化器生成器，规则可以与优化器的搜索策略相独立，</a:t>
            </a:r>
            <a:r>
              <a:rPr lang="zh-CN" altLang="en-US" sz="2400" u="sng" dirty="0">
                <a:latin typeface="+mj-ea"/>
                <a:ea typeface="+mj-ea"/>
              </a:rPr>
              <a:t>例子</a:t>
            </a:r>
            <a:r>
              <a:rPr lang="en-US" altLang="zh-CN" sz="2400" u="sng" dirty="0">
                <a:latin typeface="+mj-ea"/>
                <a:ea typeface="+mj-ea"/>
              </a:rPr>
              <a:t>:</a:t>
            </a:r>
            <a:r>
              <a:rPr lang="en-US" altLang="zh-CN" sz="2400" kern="0" dirty="0">
                <a:latin typeface="+mj-ea"/>
                <a:ea typeface="+mj-ea"/>
              </a:rPr>
              <a:t> Cascades</a:t>
            </a:r>
          </a:p>
          <a:p>
            <a:pPr>
              <a:lnSpc>
                <a:spcPct val="150000"/>
              </a:lnSpc>
              <a:buFont typeface="Wingdings" panose="05000000000000000000" pitchFamily="2" charset="2"/>
              <a:buChar char="Ø"/>
            </a:pPr>
            <a:r>
              <a:rPr lang="zh-CN" altLang="en-US" sz="2400" dirty="0">
                <a:latin typeface="+mj-ea"/>
                <a:ea typeface="+mj-ea"/>
              </a:rPr>
              <a:t>类型</a:t>
            </a:r>
            <a:r>
              <a:rPr lang="en-US" altLang="zh-CN" sz="2400" dirty="0">
                <a:latin typeface="+mj-ea"/>
                <a:ea typeface="+mj-ea"/>
              </a:rPr>
              <a:t>1:</a:t>
            </a:r>
            <a:r>
              <a:rPr lang="zh-CN" altLang="en-US" sz="2400" dirty="0">
                <a:latin typeface="+mj-ea"/>
                <a:ea typeface="+mj-ea"/>
              </a:rPr>
              <a:t>分层搜索</a:t>
            </a:r>
            <a:endParaRPr lang="zh-CN" altLang="zh-CN" sz="2400" dirty="0">
              <a:latin typeface="+mj-ea"/>
              <a:ea typeface="+mj-ea"/>
            </a:endParaRPr>
          </a:p>
          <a:p>
            <a:pPr lvl="1">
              <a:lnSpc>
                <a:spcPct val="150000"/>
              </a:lnSpc>
              <a:buFont typeface="Arial" panose="020B0604020202020204" pitchFamily="34" charset="0"/>
              <a:buChar char="•"/>
            </a:pPr>
            <a:r>
              <a:rPr lang="zh-CN" altLang="en-US" sz="2400" kern="0" dirty="0">
                <a:latin typeface="+mj-ea"/>
                <a:ea typeface="+mj-ea"/>
              </a:rPr>
              <a:t> 分</a:t>
            </a:r>
            <a:r>
              <a:rPr lang="zh-CN" altLang="en-US" sz="2400" kern="0" dirty="0">
                <a:solidFill>
                  <a:srgbClr val="701988"/>
                </a:solidFill>
                <a:latin typeface="+mj-ea"/>
                <a:ea typeface="+mj-ea"/>
              </a:rPr>
              <a:t>多个阶段</a:t>
            </a:r>
            <a:r>
              <a:rPr lang="zh-CN" altLang="en-US" sz="2400" kern="0" dirty="0">
                <a:latin typeface="+mj-ea"/>
                <a:ea typeface="+mj-ea"/>
              </a:rPr>
              <a:t>（逻辑与物理）进行计划搜索</a:t>
            </a:r>
            <a:endParaRPr lang="en-US" altLang="zh-CN" sz="2400" kern="0" dirty="0">
              <a:latin typeface="+mj-ea"/>
              <a:ea typeface="+mj-ea"/>
            </a:endParaRPr>
          </a:p>
          <a:p>
            <a:pPr>
              <a:lnSpc>
                <a:spcPct val="150000"/>
              </a:lnSpc>
              <a:buFont typeface="Wingdings" panose="05000000000000000000" pitchFamily="2" charset="2"/>
              <a:buChar char="Ø"/>
            </a:pPr>
            <a:r>
              <a:rPr lang="zh-CN" altLang="en-US" sz="2400" dirty="0">
                <a:latin typeface="+mj-ea"/>
                <a:ea typeface="+mj-ea"/>
              </a:rPr>
              <a:t>类型</a:t>
            </a:r>
            <a:r>
              <a:rPr lang="en-US" altLang="zh-CN" sz="2400" dirty="0">
                <a:latin typeface="+mj-ea"/>
                <a:ea typeface="+mj-ea"/>
              </a:rPr>
              <a:t>2:</a:t>
            </a:r>
            <a:r>
              <a:rPr lang="zh-CN" altLang="en-US" sz="2400" dirty="0">
                <a:latin typeface="+mj-ea"/>
                <a:ea typeface="+mj-ea"/>
              </a:rPr>
              <a:t>统一搜索</a:t>
            </a:r>
            <a:endParaRPr lang="zh-CN" altLang="zh-CN" sz="2400" dirty="0">
              <a:latin typeface="+mj-ea"/>
              <a:ea typeface="+mj-ea"/>
            </a:endParaRPr>
          </a:p>
          <a:p>
            <a:pPr lvl="1">
              <a:lnSpc>
                <a:spcPct val="150000"/>
              </a:lnSpc>
              <a:buFont typeface="Arial" panose="020B0604020202020204" pitchFamily="34" charset="0"/>
              <a:buChar char="•"/>
            </a:pPr>
            <a:r>
              <a:rPr lang="zh-CN" altLang="en-US" sz="2400" kern="0" dirty="0">
                <a:solidFill>
                  <a:srgbClr val="701988"/>
                </a:solidFill>
                <a:latin typeface="+mj-ea"/>
                <a:ea typeface="+mj-ea"/>
              </a:rPr>
              <a:t> 同时</a:t>
            </a:r>
            <a:r>
              <a:rPr lang="zh-CN" altLang="en-US" sz="2400" kern="0" dirty="0">
                <a:latin typeface="+mj-ea"/>
                <a:ea typeface="+mj-ea"/>
              </a:rPr>
              <a:t>进行逻辑和物理计划搜索</a:t>
            </a:r>
          </a:p>
          <a:p>
            <a:pPr>
              <a:buFont typeface="Wingdings" pitchFamily="2" charset="2"/>
              <a:buChar char="p"/>
            </a:pPr>
            <a:endParaRPr lang="en-US" altLang="zh-CN" sz="2800" kern="0" dirty="0">
              <a:latin typeface="+mj-ea"/>
              <a:ea typeface="+mj-ea"/>
            </a:endParaRPr>
          </a:p>
          <a:p>
            <a:pPr>
              <a:buFont typeface="Wingdings" pitchFamily="2" charset="2"/>
              <a:buChar char="p"/>
            </a:pPr>
            <a:endParaRPr lang="en-US" altLang="zh-CN" sz="2800" kern="0" dirty="0">
              <a:latin typeface="+mj-ea"/>
              <a:ea typeface="+mj-ea"/>
            </a:endParaRPr>
          </a:p>
          <a:p>
            <a:pPr lvl="1">
              <a:buFont typeface="Wingdings" pitchFamily="2" charset="2"/>
              <a:buChar char="p"/>
            </a:pPr>
            <a:endParaRPr lang="en-US" altLang="zh-CN" kern="0" dirty="0">
              <a:latin typeface="+mj-ea"/>
              <a:ea typeface="+mj-ea"/>
            </a:endParaRPr>
          </a:p>
          <a:p>
            <a:pPr marL="0" indent="0">
              <a:buFont typeface="Wingdings" charset="2"/>
              <a:buNone/>
            </a:pPr>
            <a:r>
              <a:rPr lang="zh-CN" altLang="zh-CN" sz="2800" kern="0" dirty="0">
                <a:latin typeface="+mj-ea"/>
                <a:ea typeface="+mj-ea"/>
              </a:rPr>
              <a:t> </a:t>
            </a:r>
            <a:endParaRPr lang="zh-CN" altLang="en-US" sz="2800" kern="0" dirty="0">
              <a:latin typeface="+mj-ea"/>
              <a:ea typeface="+mj-ea"/>
            </a:endParaRPr>
          </a:p>
        </p:txBody>
      </p:sp>
    </p:spTree>
    <p:extLst>
      <p:ext uri="{BB962C8B-B14F-4D97-AF65-F5344CB8AC3E}">
        <p14:creationId xmlns:p14="http://schemas.microsoft.com/office/powerpoint/2010/main" val="138652285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09D0782-910F-B24A-C08B-561B9303F883}"/>
              </a:ext>
            </a:extLst>
          </p:cNvPr>
          <p:cNvSpPr>
            <a:spLocks noGrp="1"/>
          </p:cNvSpPr>
          <p:nvPr>
            <p:ph type="sldNum" sz="quarter" idx="10"/>
          </p:nvPr>
        </p:nvSpPr>
        <p:spPr/>
        <p:txBody>
          <a:bodyPr/>
          <a:lstStyle/>
          <a:p>
            <a:fld id="{87BBDC00-B9E2-4EFD-9306-2934E87247C6}" type="slidenum">
              <a:rPr lang="zh-CN" altLang="en-US" smtClean="0"/>
              <a:pPr/>
              <a:t>142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④ </a:t>
            </a:r>
            <a:r>
              <a:rPr kumimoji="1" lang="zh-CN" altLang="en-US" dirty="0"/>
              <a:t>分层搜索</a:t>
            </a:r>
          </a:p>
        </p:txBody>
      </p:sp>
      <p:sp>
        <p:nvSpPr>
          <p:cNvPr id="5" name="页脚占位符 4">
            <a:extLst>
              <a:ext uri="{FF2B5EF4-FFF2-40B4-BE49-F238E27FC236}">
                <a16:creationId xmlns:a16="http://schemas.microsoft.com/office/drawing/2014/main" id="{790106BD-1967-13DB-5B9A-942B56F139B3}"/>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14E2404D-D0DD-ED71-A34B-8CC108C54BA5}"/>
              </a:ext>
            </a:extLst>
          </p:cNvPr>
          <p:cNvSpPr txBox="1">
            <a:spLocks/>
          </p:cNvSpPr>
          <p:nvPr/>
        </p:nvSpPr>
        <p:spPr bwMode="auto">
          <a:xfrm>
            <a:off x="699247" y="1126800"/>
            <a:ext cx="11112649"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dirty="0">
                <a:latin typeface="+mj-ea"/>
                <a:ea typeface="+mj-ea"/>
              </a:rPr>
              <a:t>首先使用等价转换规则重写逻辑计划</a:t>
            </a:r>
            <a:endParaRPr lang="en-US" altLang="zh-CN" sz="2400"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应用规则前，检查变换是否允许使用</a:t>
            </a:r>
            <a:endParaRPr lang="en-US" altLang="zh-CN" sz="2000" kern="0" dirty="0">
              <a:latin typeface="+mj-ea"/>
              <a:ea typeface="+mj-ea"/>
            </a:endParaRPr>
          </a:p>
          <a:p>
            <a:pPr lvl="1">
              <a:lnSpc>
                <a:spcPct val="150000"/>
              </a:lnSpc>
              <a:buFont typeface="Arial" panose="020B0604020202020204" pitchFamily="34" charset="0"/>
              <a:buChar char="•"/>
            </a:pPr>
            <a:r>
              <a:rPr lang="zh-CN" altLang="en-US" sz="2000" kern="0" dirty="0">
                <a:latin typeface="+mj-ea"/>
                <a:ea typeface="+mj-ea"/>
              </a:rPr>
              <a:t>在这一阶段，</a:t>
            </a:r>
            <a:r>
              <a:rPr lang="zh-CN" altLang="en-US" sz="2000" kern="0" dirty="0">
                <a:solidFill>
                  <a:srgbClr val="701988"/>
                </a:solidFill>
                <a:latin typeface="+mj-ea"/>
                <a:ea typeface="+mj-ea"/>
              </a:rPr>
              <a:t>完全不考虑代价模型</a:t>
            </a:r>
            <a:endParaRPr lang="en-US" altLang="zh-CN" sz="2000" kern="0" dirty="0">
              <a:solidFill>
                <a:srgbClr val="701988"/>
              </a:solidFill>
              <a:latin typeface="+mj-ea"/>
              <a:ea typeface="+mj-ea"/>
            </a:endParaRPr>
          </a:p>
          <a:p>
            <a:pPr>
              <a:lnSpc>
                <a:spcPct val="150000"/>
              </a:lnSpc>
              <a:buFont typeface="Wingdings" panose="05000000000000000000" pitchFamily="2" charset="2"/>
              <a:buChar char="Ø"/>
            </a:pPr>
            <a:r>
              <a:rPr lang="zh-CN" altLang="en-US" sz="2400" kern="0" dirty="0">
                <a:latin typeface="+mj-ea"/>
                <a:ea typeface="+mj-ea"/>
              </a:rPr>
              <a:t>之后进行</a:t>
            </a:r>
            <a:r>
              <a:rPr lang="zh-CN" altLang="en-US" sz="2400" kern="0" dirty="0">
                <a:solidFill>
                  <a:srgbClr val="701988"/>
                </a:solidFill>
                <a:latin typeface="+mj-ea"/>
                <a:ea typeface="+mj-ea"/>
              </a:rPr>
              <a:t>基于代价</a:t>
            </a:r>
            <a:r>
              <a:rPr lang="zh-CN" altLang="en-US" sz="2400" kern="0" dirty="0">
                <a:latin typeface="+mj-ea"/>
                <a:ea typeface="+mj-ea"/>
              </a:rPr>
              <a:t>的搜索，将逻辑计划转换为物理计划</a:t>
            </a:r>
            <a:endParaRPr lang="en-US" altLang="zh-CN" sz="2400" kern="0" dirty="0">
              <a:latin typeface="+mj-ea"/>
              <a:ea typeface="+mj-ea"/>
            </a:endParaRPr>
          </a:p>
          <a:p>
            <a:pPr>
              <a:lnSpc>
                <a:spcPct val="150000"/>
              </a:lnSpc>
              <a:buFont typeface="Wingdings" panose="05000000000000000000" pitchFamily="2" charset="2"/>
              <a:buChar char="Ø"/>
            </a:pPr>
            <a:r>
              <a:rPr lang="zh-CN" altLang="en-US" sz="2400" dirty="0">
                <a:latin typeface="+mj-ea"/>
                <a:ea typeface="+mj-ea"/>
              </a:rPr>
              <a:t>分层搜索在</a:t>
            </a:r>
            <a:r>
              <a:rPr lang="en-US" altLang="zh-CN" sz="2400" dirty="0">
                <a:latin typeface="+mj-ea"/>
                <a:ea typeface="+mj-ea"/>
              </a:rPr>
              <a:t>20</a:t>
            </a:r>
            <a:r>
              <a:rPr lang="zh-CN" altLang="en-US" sz="2400" dirty="0">
                <a:latin typeface="+mj-ea"/>
                <a:ea typeface="+mj-ea"/>
              </a:rPr>
              <a:t>世纪</a:t>
            </a:r>
            <a:r>
              <a:rPr lang="en-US" altLang="zh-CN" sz="2400" dirty="0">
                <a:latin typeface="+mj-ea"/>
                <a:ea typeface="+mj-ea"/>
              </a:rPr>
              <a:t>80</a:t>
            </a:r>
            <a:r>
              <a:rPr lang="zh-CN" altLang="en-US" sz="2400" dirty="0">
                <a:latin typeface="+mj-ea"/>
                <a:ea typeface="+mj-ea"/>
              </a:rPr>
              <a:t>年代被提出，是</a:t>
            </a:r>
            <a:r>
              <a:rPr lang="fr-FR" altLang="zh-CN" sz="2400" dirty="0">
                <a:latin typeface="+mj-ea"/>
                <a:ea typeface="+mj-ea"/>
              </a:rPr>
              <a:t>IBM</a:t>
            </a:r>
            <a:r>
              <a:rPr lang="zh-CN" altLang="en-US" sz="2400" dirty="0">
                <a:latin typeface="+mj-ea"/>
                <a:ea typeface="+mj-ea"/>
              </a:rPr>
              <a:t>原型系统</a:t>
            </a:r>
            <a:r>
              <a:rPr lang="fr-FR" altLang="zh-CN" sz="2400" dirty="0">
                <a:latin typeface="+mj-ea"/>
                <a:ea typeface="+mj-ea"/>
              </a:rPr>
              <a:t>STARBURST</a:t>
            </a:r>
            <a:r>
              <a:rPr lang="zh-CN" altLang="en-US" sz="2400" dirty="0">
                <a:latin typeface="+mj-ea"/>
                <a:ea typeface="+mj-ea"/>
              </a:rPr>
              <a:t>中采用的方法，仍在</a:t>
            </a:r>
            <a:r>
              <a:rPr lang="fr-FR" altLang="zh-CN" sz="2400" dirty="0">
                <a:latin typeface="+mj-ea"/>
                <a:ea typeface="+mj-ea"/>
              </a:rPr>
              <a:t>Oracle</a:t>
            </a:r>
            <a:r>
              <a:rPr lang="zh-CN" altLang="en-US" sz="2400" dirty="0">
                <a:latin typeface="+mj-ea"/>
                <a:ea typeface="+mj-ea"/>
              </a:rPr>
              <a:t>和</a:t>
            </a:r>
            <a:r>
              <a:rPr lang="fr-FR" altLang="zh-CN" sz="2400" dirty="0">
                <a:latin typeface="+mj-ea"/>
                <a:ea typeface="+mj-ea"/>
              </a:rPr>
              <a:t>DB2</a:t>
            </a:r>
            <a:r>
              <a:rPr lang="zh-CN" altLang="en-US" sz="2400" dirty="0">
                <a:latin typeface="+mj-ea"/>
                <a:ea typeface="+mj-ea"/>
              </a:rPr>
              <a:t>中使用，基于启发式方法</a:t>
            </a:r>
            <a:r>
              <a:rPr lang="en-US" altLang="zh-CN" sz="2400" dirty="0">
                <a:latin typeface="+mj-ea"/>
                <a:ea typeface="+mj-ea"/>
              </a:rPr>
              <a:t>+</a:t>
            </a:r>
            <a:r>
              <a:rPr lang="zh-CN" altLang="en-US" sz="2400" dirty="0">
                <a:latin typeface="+mj-ea"/>
                <a:ea typeface="+mj-ea"/>
              </a:rPr>
              <a:t>基于代价选择连接顺序方法的改进。</a:t>
            </a:r>
            <a:endParaRPr lang="en-US" altLang="zh-CN" sz="2400" dirty="0">
              <a:latin typeface="+mj-ea"/>
              <a:ea typeface="+mj-ea"/>
            </a:endParaRPr>
          </a:p>
          <a:p>
            <a:pPr>
              <a:lnSpc>
                <a:spcPct val="150000"/>
              </a:lnSpc>
              <a:buFont typeface="Wingdings" panose="05000000000000000000" pitchFamily="2" charset="2"/>
              <a:buChar char="Ø"/>
            </a:pPr>
            <a:r>
              <a:rPr lang="zh-CN" altLang="en-US" sz="2400" dirty="0">
                <a:latin typeface="+mj-ea"/>
                <a:ea typeface="+mj-ea"/>
              </a:rPr>
              <a:t>不同之处在于，分层搜索</a:t>
            </a:r>
            <a:r>
              <a:rPr lang="zh-CN" altLang="en-US" sz="2400" dirty="0">
                <a:solidFill>
                  <a:srgbClr val="701988"/>
                </a:solidFill>
                <a:latin typeface="+mj-ea"/>
                <a:ea typeface="+mj-ea"/>
              </a:rPr>
              <a:t>利用了优化器生成器</a:t>
            </a:r>
            <a:r>
              <a:rPr lang="zh-CN" altLang="en-US" sz="2400" dirty="0">
                <a:latin typeface="+mj-ea"/>
                <a:ea typeface="+mj-ea"/>
              </a:rPr>
              <a:t>，在数据库内维护的不再是一个</a:t>
            </a:r>
            <a:r>
              <a:rPr lang="zh-CN" altLang="en-US" sz="2400" dirty="0">
                <a:solidFill>
                  <a:srgbClr val="701988"/>
                </a:solidFill>
                <a:latin typeface="+mj-ea"/>
                <a:ea typeface="+mj-ea"/>
              </a:rPr>
              <a:t>规则列表</a:t>
            </a:r>
            <a:r>
              <a:rPr lang="zh-CN" altLang="en-US" sz="2400" dirty="0">
                <a:latin typeface="+mj-ea"/>
                <a:ea typeface="+mj-ea"/>
              </a:rPr>
              <a:t>，而是一个</a:t>
            </a:r>
            <a:r>
              <a:rPr lang="zh-CN" altLang="en-US" sz="2400" dirty="0">
                <a:solidFill>
                  <a:srgbClr val="701988"/>
                </a:solidFill>
                <a:latin typeface="+mj-ea"/>
                <a:ea typeface="+mj-ea"/>
              </a:rPr>
              <a:t>规则引擎</a:t>
            </a:r>
            <a:r>
              <a:rPr lang="zh-CN" altLang="en-US" sz="2400" dirty="0">
                <a:latin typeface="+mj-ea"/>
                <a:ea typeface="+mj-ea"/>
              </a:rPr>
              <a:t>。在优化时，规则引擎以最初的逻辑计划为输入，会自动生成出需要使用的规则。</a:t>
            </a:r>
            <a:endParaRPr lang="en-US" altLang="zh-CN" sz="2400" dirty="0">
              <a:latin typeface="+mj-ea"/>
              <a:ea typeface="+mj-ea"/>
            </a:endParaRPr>
          </a:p>
          <a:p>
            <a:pPr>
              <a:lnSpc>
                <a:spcPct val="150000"/>
              </a:lnSpc>
              <a:buFont typeface="Wingdings" pitchFamily="2" charset="2"/>
              <a:buChar char="p"/>
            </a:pPr>
            <a:endParaRPr lang="en-US" altLang="zh-CN" sz="2800" kern="0" dirty="0">
              <a:latin typeface="+mj-ea"/>
              <a:ea typeface="+mj-ea"/>
            </a:endParaRPr>
          </a:p>
          <a:p>
            <a:pPr lvl="1">
              <a:lnSpc>
                <a:spcPct val="150000"/>
              </a:lnSpc>
              <a:buFont typeface="Wingdings" pitchFamily="2" charset="2"/>
              <a:buChar char="p"/>
            </a:pPr>
            <a:endParaRPr lang="en-US" altLang="zh-CN" kern="0" dirty="0">
              <a:latin typeface="+mj-ea"/>
              <a:ea typeface="+mj-ea"/>
            </a:endParaRPr>
          </a:p>
          <a:p>
            <a:pPr marL="0" indent="0">
              <a:lnSpc>
                <a:spcPct val="150000"/>
              </a:lnSpc>
              <a:buFont typeface="Wingdings" charset="2"/>
              <a:buNone/>
            </a:pPr>
            <a:r>
              <a:rPr lang="zh-CN" altLang="zh-CN" sz="2800" kern="0" dirty="0">
                <a:latin typeface="+mj-ea"/>
                <a:ea typeface="+mj-ea"/>
              </a:rPr>
              <a:t> </a:t>
            </a:r>
            <a:endParaRPr lang="zh-CN" altLang="en-US" sz="2800" kern="0" dirty="0">
              <a:latin typeface="+mj-ea"/>
              <a:ea typeface="+mj-ea"/>
            </a:endParaRPr>
          </a:p>
          <a:p>
            <a:pPr>
              <a:lnSpc>
                <a:spcPct val="150000"/>
              </a:lnSpc>
              <a:buFont typeface="Wingdings" pitchFamily="2" charset="2"/>
              <a:buChar char="p"/>
            </a:pPr>
            <a:endParaRPr lang="en-US" altLang="zh-CN" sz="2800" kern="0" dirty="0">
              <a:latin typeface="+mj-ea"/>
              <a:ea typeface="+mj-ea"/>
            </a:endParaRPr>
          </a:p>
          <a:p>
            <a:pPr lvl="1">
              <a:lnSpc>
                <a:spcPct val="150000"/>
              </a:lnSpc>
              <a:buFont typeface="Wingdings" pitchFamily="2" charset="2"/>
              <a:buChar char="p"/>
            </a:pPr>
            <a:endParaRPr lang="en-US" altLang="zh-CN" kern="0" dirty="0">
              <a:latin typeface="+mj-ea"/>
              <a:ea typeface="+mj-ea"/>
            </a:endParaRPr>
          </a:p>
          <a:p>
            <a:pPr marL="0" indent="0">
              <a:lnSpc>
                <a:spcPct val="150000"/>
              </a:lnSpc>
              <a:buFont typeface="Wingdings" charset="2"/>
              <a:buNone/>
            </a:pPr>
            <a:r>
              <a:rPr lang="zh-CN" altLang="zh-CN" sz="2800" kern="0" dirty="0">
                <a:latin typeface="+mj-ea"/>
                <a:ea typeface="+mj-ea"/>
              </a:rPr>
              <a:t> </a:t>
            </a:r>
            <a:endParaRPr lang="zh-CN" altLang="en-US" sz="2800" kern="0" dirty="0">
              <a:latin typeface="+mj-ea"/>
              <a:ea typeface="+mj-ea"/>
            </a:endParaRPr>
          </a:p>
        </p:txBody>
      </p:sp>
    </p:spTree>
    <p:extLst>
      <p:ext uri="{BB962C8B-B14F-4D97-AF65-F5344CB8AC3E}">
        <p14:creationId xmlns:p14="http://schemas.microsoft.com/office/powerpoint/2010/main" val="22497317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09D0782-910F-B24A-C08B-561B9303F883}"/>
              </a:ext>
            </a:extLst>
          </p:cNvPr>
          <p:cNvSpPr>
            <a:spLocks noGrp="1"/>
          </p:cNvSpPr>
          <p:nvPr>
            <p:ph type="sldNum" sz="quarter" idx="10"/>
          </p:nvPr>
        </p:nvSpPr>
        <p:spPr/>
        <p:txBody>
          <a:bodyPr/>
          <a:lstStyle/>
          <a:p>
            <a:fld id="{87BBDC00-B9E2-4EFD-9306-2934E87247C6}" type="slidenum">
              <a:rPr lang="zh-CN" altLang="en-US" smtClean="0"/>
              <a:pPr/>
              <a:t>143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④ </a:t>
            </a:r>
            <a:r>
              <a:rPr kumimoji="1" lang="zh-CN" altLang="en-US" dirty="0"/>
              <a:t>分层搜索：</a:t>
            </a:r>
            <a:r>
              <a:rPr kumimoji="1" lang="en-US" altLang="zh-CN" dirty="0"/>
              <a:t>Starburst</a:t>
            </a:r>
            <a:r>
              <a:rPr kumimoji="1" lang="zh-CN" altLang="en-US" dirty="0"/>
              <a:t>优化器</a:t>
            </a:r>
          </a:p>
        </p:txBody>
      </p:sp>
      <p:sp>
        <p:nvSpPr>
          <p:cNvPr id="5" name="页脚占位符 4">
            <a:extLst>
              <a:ext uri="{FF2B5EF4-FFF2-40B4-BE49-F238E27FC236}">
                <a16:creationId xmlns:a16="http://schemas.microsoft.com/office/drawing/2014/main" id="{5B0AF469-404A-F0AA-E772-8D2C55F9976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14E2404D-D0DD-ED71-A34B-8CC108C54BA5}"/>
              </a:ext>
            </a:extLst>
          </p:cNvPr>
          <p:cNvSpPr txBox="1">
            <a:spLocks/>
          </p:cNvSpPr>
          <p:nvPr/>
        </p:nvSpPr>
        <p:spPr bwMode="auto">
          <a:xfrm>
            <a:off x="1620000" y="1126800"/>
            <a:ext cx="8987040"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en-US" altLang="zh-CN" sz="2800" kern="0" dirty="0">
                <a:latin typeface="+mj-ea"/>
                <a:ea typeface="+mj-ea"/>
              </a:rPr>
              <a:t>R</a:t>
            </a:r>
            <a:r>
              <a:rPr lang="zh-CN" altLang="en-US" sz="2800" kern="0" dirty="0">
                <a:latin typeface="+mj-ea"/>
                <a:ea typeface="+mj-ea"/>
              </a:rPr>
              <a:t>系统更好的实现</a:t>
            </a:r>
            <a:endParaRPr lang="en-US" altLang="zh-CN" sz="2800" kern="0" dirty="0">
              <a:latin typeface="+mj-ea"/>
              <a:ea typeface="+mj-ea"/>
            </a:endParaRPr>
          </a:p>
          <a:p>
            <a:pPr>
              <a:lnSpc>
                <a:spcPct val="150000"/>
              </a:lnSpc>
              <a:buFont typeface="Wingdings" panose="05000000000000000000" pitchFamily="2" charset="2"/>
              <a:buChar char="Ø"/>
            </a:pPr>
            <a:r>
              <a:rPr lang="zh-CN" altLang="en-US" sz="2800" kern="0" dirty="0">
                <a:latin typeface="+mj-ea"/>
                <a:ea typeface="+mj-ea"/>
              </a:rPr>
              <a:t>使用</a:t>
            </a:r>
            <a:r>
              <a:rPr lang="zh-CN" altLang="en-US" sz="2800" kern="0" dirty="0">
                <a:solidFill>
                  <a:srgbClr val="701988"/>
                </a:solidFill>
                <a:latin typeface="+mj-ea"/>
                <a:ea typeface="+mj-ea"/>
              </a:rPr>
              <a:t>声明式规则</a:t>
            </a:r>
            <a:r>
              <a:rPr lang="zh-CN" altLang="en-US" sz="2800" kern="0" dirty="0">
                <a:latin typeface="+mj-ea"/>
                <a:ea typeface="+mj-ea"/>
              </a:rPr>
              <a:t>（优化器生成器）</a:t>
            </a:r>
            <a:endParaRPr lang="en-US" altLang="zh-CN" sz="2800" kern="0" dirty="0">
              <a:latin typeface="+mj-ea"/>
              <a:ea typeface="+mj-ea"/>
            </a:endParaRPr>
          </a:p>
          <a:p>
            <a:pPr>
              <a:lnSpc>
                <a:spcPct val="150000"/>
              </a:lnSpc>
              <a:buFont typeface="Wingdings" panose="05000000000000000000" pitchFamily="2" charset="2"/>
              <a:buChar char="Ø"/>
            </a:pPr>
            <a:r>
              <a:rPr lang="zh-CN" altLang="en-US" sz="2800" u="sng" kern="0" dirty="0">
                <a:latin typeface="+mj-ea"/>
                <a:ea typeface="+mj-ea"/>
              </a:rPr>
              <a:t>阶段</a:t>
            </a:r>
            <a:r>
              <a:rPr lang="en-US" altLang="zh-CN" sz="2800" u="sng" kern="0" dirty="0">
                <a:latin typeface="+mj-ea"/>
                <a:ea typeface="+mj-ea"/>
              </a:rPr>
              <a:t>1:</a:t>
            </a:r>
            <a:r>
              <a:rPr lang="zh-CN" altLang="en-US" sz="2800" u="sng" kern="0" dirty="0">
                <a:latin typeface="+mj-ea"/>
                <a:ea typeface="+mj-ea"/>
              </a:rPr>
              <a:t>查询重写</a:t>
            </a:r>
            <a:endParaRPr lang="en-US" altLang="zh-CN" sz="2800" u="sng" kern="0" dirty="0">
              <a:latin typeface="+mj-ea"/>
              <a:ea typeface="+mj-ea"/>
            </a:endParaRPr>
          </a:p>
          <a:p>
            <a:pPr lvl="1">
              <a:lnSpc>
                <a:spcPct val="150000"/>
              </a:lnSpc>
              <a:buFont typeface="Arial" panose="020B0604020202020204" pitchFamily="34" charset="0"/>
              <a:buChar char="•"/>
            </a:pPr>
            <a:r>
              <a:rPr lang="zh-CN" altLang="en-US" sz="2400" kern="0" dirty="0">
                <a:latin typeface="+mj-ea"/>
                <a:ea typeface="+mj-ea"/>
              </a:rPr>
              <a:t>计算一个</a:t>
            </a:r>
            <a:r>
              <a:rPr lang="en-US" altLang="zh-CN" sz="2400" kern="0" dirty="0">
                <a:latin typeface="+mj-ea"/>
                <a:ea typeface="+mj-ea"/>
              </a:rPr>
              <a:t>SQL</a:t>
            </a:r>
            <a:r>
              <a:rPr lang="zh-CN" altLang="en-US" sz="2400" kern="0" dirty="0">
                <a:latin typeface="+mj-ea"/>
                <a:ea typeface="+mj-ea"/>
              </a:rPr>
              <a:t>块级的的查询关系演算表示</a:t>
            </a:r>
            <a:endParaRPr lang="en-US" altLang="zh-CN" sz="2400" kern="0" dirty="0">
              <a:latin typeface="+mj-ea"/>
              <a:ea typeface="+mj-ea"/>
            </a:endParaRPr>
          </a:p>
          <a:p>
            <a:pPr>
              <a:lnSpc>
                <a:spcPct val="150000"/>
              </a:lnSpc>
              <a:buFont typeface="Wingdings" panose="05000000000000000000" pitchFamily="2" charset="2"/>
              <a:buChar char="Ø"/>
            </a:pPr>
            <a:r>
              <a:rPr lang="zh-CN" altLang="en-US" sz="2800" u="sng" kern="0" dirty="0">
                <a:latin typeface="+mj-ea"/>
                <a:ea typeface="+mj-ea"/>
              </a:rPr>
              <a:t>阶段</a:t>
            </a:r>
            <a:r>
              <a:rPr lang="en-US" altLang="zh-CN" sz="2800" u="sng" kern="0" dirty="0">
                <a:latin typeface="+mj-ea"/>
                <a:ea typeface="+mj-ea"/>
              </a:rPr>
              <a:t>2:</a:t>
            </a:r>
            <a:r>
              <a:rPr lang="zh-CN" altLang="en-US" sz="2800" u="sng" kern="0" dirty="0">
                <a:latin typeface="+mj-ea"/>
                <a:ea typeface="+mj-ea"/>
              </a:rPr>
              <a:t>物理优化</a:t>
            </a:r>
            <a:endParaRPr lang="en-US" altLang="zh-CN" sz="2800" u="sng" kern="0" dirty="0">
              <a:latin typeface="+mj-ea"/>
              <a:ea typeface="+mj-ea"/>
            </a:endParaRPr>
          </a:p>
          <a:p>
            <a:pPr lvl="1">
              <a:lnSpc>
                <a:spcPct val="150000"/>
              </a:lnSpc>
              <a:buFont typeface="Arial" panose="020B0604020202020204" pitchFamily="34" charset="0"/>
              <a:buChar char="•"/>
            </a:pPr>
            <a:r>
              <a:rPr lang="zh-CN" altLang="en-US" sz="2400" kern="0" dirty="0">
                <a:latin typeface="+mj-ea"/>
                <a:ea typeface="+mj-ea"/>
              </a:rPr>
              <a:t>执行与</a:t>
            </a:r>
            <a:r>
              <a:rPr lang="en-US" altLang="zh-CN" sz="2400" kern="0" dirty="0">
                <a:latin typeface="+mj-ea"/>
                <a:ea typeface="+mj-ea"/>
              </a:rPr>
              <a:t>R</a:t>
            </a:r>
            <a:r>
              <a:rPr lang="zh-CN" altLang="en-US" sz="2400" kern="0" dirty="0">
                <a:latin typeface="+mj-ea"/>
                <a:ea typeface="+mj-ea"/>
              </a:rPr>
              <a:t>系统类似的动态规划</a:t>
            </a:r>
            <a:endParaRPr lang="en-US" altLang="zh-CN" kern="0" dirty="0">
              <a:latin typeface="+mj-ea"/>
              <a:ea typeface="+mj-ea"/>
            </a:endParaRPr>
          </a:p>
          <a:p>
            <a:pPr>
              <a:lnSpc>
                <a:spcPct val="150000"/>
              </a:lnSpc>
              <a:buFont typeface="Wingdings" panose="05000000000000000000" pitchFamily="2" charset="2"/>
              <a:buChar char="Ø"/>
            </a:pPr>
            <a:r>
              <a:rPr lang="zh-CN" altLang="en-US" sz="2800" u="sng" dirty="0">
                <a:latin typeface="+mj-ea"/>
                <a:ea typeface="+mj-ea"/>
              </a:rPr>
              <a:t>例子</a:t>
            </a:r>
            <a:r>
              <a:rPr lang="zh-CN" altLang="zh-CN" sz="2800" kern="0" dirty="0">
                <a:latin typeface="+mj-ea"/>
                <a:ea typeface="+mj-ea"/>
              </a:rPr>
              <a:t>：</a:t>
            </a:r>
            <a:r>
              <a:rPr lang="zh-CN" altLang="en-US" sz="2800" kern="0" dirty="0">
                <a:latin typeface="+mj-ea"/>
                <a:ea typeface="+mj-ea"/>
              </a:rPr>
              <a:t>最新版本的</a:t>
            </a:r>
            <a:r>
              <a:rPr lang="en-US" altLang="zh-CN" sz="2800" kern="0" dirty="0">
                <a:latin typeface="+mj-ea"/>
                <a:ea typeface="+mj-ea"/>
              </a:rPr>
              <a:t>IBM</a:t>
            </a:r>
            <a:r>
              <a:rPr lang="zh-CN" altLang="en-US" sz="2800" kern="0" dirty="0">
                <a:latin typeface="+mj-ea"/>
                <a:ea typeface="+mj-ea"/>
              </a:rPr>
              <a:t> </a:t>
            </a:r>
            <a:r>
              <a:rPr lang="en-US" altLang="zh-CN" sz="2800" kern="0" dirty="0">
                <a:latin typeface="+mj-ea"/>
                <a:ea typeface="+mj-ea"/>
              </a:rPr>
              <a:t>DB2</a:t>
            </a:r>
            <a:r>
              <a:rPr lang="zh-CN" altLang="zh-CN" sz="2800" kern="0" dirty="0">
                <a:latin typeface="+mj-ea"/>
                <a:ea typeface="+mj-ea"/>
              </a:rPr>
              <a:t> </a:t>
            </a:r>
            <a:endParaRPr lang="en-US" altLang="zh-CN" sz="2800" kern="0" dirty="0">
              <a:latin typeface="+mj-ea"/>
              <a:ea typeface="+mj-ea"/>
            </a:endParaRPr>
          </a:p>
          <a:p>
            <a:pPr>
              <a:buFont typeface="Wingdings" pitchFamily="2" charset="2"/>
              <a:buChar char="p"/>
            </a:pPr>
            <a:endParaRPr lang="en-US" altLang="zh-CN" kern="0" dirty="0">
              <a:latin typeface="+mj-ea"/>
              <a:ea typeface="+mj-ea"/>
            </a:endParaRPr>
          </a:p>
          <a:p>
            <a:pPr lvl="1">
              <a:buFont typeface="Wingdings" pitchFamily="2" charset="2"/>
              <a:buChar char="p"/>
            </a:pPr>
            <a:endParaRPr lang="en-US" altLang="zh-CN" kern="0" dirty="0">
              <a:latin typeface="+mj-ea"/>
              <a:ea typeface="+mj-ea"/>
            </a:endParaRPr>
          </a:p>
          <a:p>
            <a:pPr marL="0" indent="0">
              <a:buFont typeface="Wingdings" charset="2"/>
              <a:buNone/>
            </a:pPr>
            <a:r>
              <a:rPr lang="zh-CN" altLang="zh-CN" sz="2400" kern="0" dirty="0">
                <a:latin typeface="+mj-ea"/>
                <a:ea typeface="+mj-ea"/>
              </a:rPr>
              <a:t> </a:t>
            </a:r>
            <a:endParaRPr lang="zh-CN" altLang="en-US" sz="2400" kern="0" dirty="0">
              <a:latin typeface="+mj-ea"/>
              <a:ea typeface="+mj-ea"/>
            </a:endParaRPr>
          </a:p>
        </p:txBody>
      </p:sp>
    </p:spTree>
    <p:extLst>
      <p:ext uri="{BB962C8B-B14F-4D97-AF65-F5344CB8AC3E}">
        <p14:creationId xmlns:p14="http://schemas.microsoft.com/office/powerpoint/2010/main" val="209442045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1B50C39-59B1-B540-3B34-70568A1A2F5E}"/>
              </a:ext>
            </a:extLst>
          </p:cNvPr>
          <p:cNvSpPr>
            <a:spLocks noGrp="1"/>
          </p:cNvSpPr>
          <p:nvPr>
            <p:ph type="sldNum" sz="quarter" idx="10"/>
          </p:nvPr>
        </p:nvSpPr>
        <p:spPr/>
        <p:txBody>
          <a:bodyPr/>
          <a:lstStyle/>
          <a:p>
            <a:fld id="{87BBDC00-B9E2-4EFD-9306-2934E87247C6}" type="slidenum">
              <a:rPr lang="zh-CN" altLang="en-US" smtClean="0"/>
              <a:pPr/>
              <a:t>144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④ </a:t>
            </a:r>
            <a:r>
              <a:rPr kumimoji="1" lang="zh-CN" altLang="en-US" dirty="0"/>
              <a:t>分层搜索</a:t>
            </a:r>
          </a:p>
        </p:txBody>
      </p:sp>
      <p:sp>
        <p:nvSpPr>
          <p:cNvPr id="4" name="页脚占位符 3">
            <a:extLst>
              <a:ext uri="{FF2B5EF4-FFF2-40B4-BE49-F238E27FC236}">
                <a16:creationId xmlns:a16="http://schemas.microsoft.com/office/drawing/2014/main" id="{30E3C748-92AE-9AB5-8551-D55E95AD7BAF}"/>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1365055" y="1126800"/>
            <a:ext cx="9687258"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800" b="1" kern="0" dirty="0">
                <a:latin typeface="+mj-ea"/>
                <a:ea typeface="+mj-ea"/>
              </a:rPr>
              <a:t>优点：</a:t>
            </a:r>
            <a:endParaRPr lang="en-US" altLang="zh-CN" sz="2800" b="1" kern="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实现简单，实践中验证了其</a:t>
            </a:r>
            <a:r>
              <a:rPr lang="zh-CN" altLang="en-US" sz="2400" dirty="0">
                <a:solidFill>
                  <a:srgbClr val="701988"/>
                </a:solidFill>
                <a:latin typeface="+mj-ea"/>
                <a:ea typeface="+mj-ea"/>
              </a:rPr>
              <a:t>高效性</a:t>
            </a:r>
            <a:endParaRPr lang="en-US" altLang="zh-CN" sz="3600" dirty="0">
              <a:latin typeface="+mj-ea"/>
              <a:ea typeface="+mj-ea"/>
            </a:endParaRPr>
          </a:p>
          <a:p>
            <a:pPr>
              <a:lnSpc>
                <a:spcPct val="150000"/>
              </a:lnSpc>
              <a:buFont typeface="Wingdings" panose="05000000000000000000" pitchFamily="2" charset="2"/>
              <a:buChar char="Ø"/>
            </a:pPr>
            <a:r>
              <a:rPr lang="zh-CN" altLang="en-US" sz="2800" b="1" kern="0" dirty="0">
                <a:latin typeface="+mj-ea"/>
                <a:ea typeface="+mj-ea"/>
              </a:rPr>
              <a:t>缺点：</a:t>
            </a:r>
            <a:endParaRPr lang="en-US" altLang="zh-CN" sz="2800" b="1" kern="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难以确定转换规则执行顺序</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由于在转换时完全不考虑代价的估计，一些转换的好坏在选择前难以进行评估</a:t>
            </a:r>
            <a:endParaRPr lang="en-US" altLang="zh-CN" sz="2400" dirty="0">
              <a:latin typeface="+mj-ea"/>
              <a:ea typeface="+mj-ea"/>
            </a:endParaRPr>
          </a:p>
          <a:p>
            <a:pPr lvl="1">
              <a:lnSpc>
                <a:spcPct val="150000"/>
              </a:lnSpc>
              <a:buFont typeface="Arial" panose="020B0604020202020204" pitchFamily="34" charset="0"/>
              <a:buChar char="•"/>
            </a:pPr>
            <a:r>
              <a:rPr lang="zh-CN" altLang="en-US" sz="2400" kern="0" dirty="0">
                <a:latin typeface="+mj-ea"/>
                <a:ea typeface="+mj-ea"/>
              </a:rPr>
              <a:t>维护转换规则比较困难</a:t>
            </a:r>
            <a:endParaRPr lang="en-US" altLang="zh-CN" sz="2400" kern="0" dirty="0">
              <a:latin typeface="+mj-ea"/>
              <a:ea typeface="+mj-ea"/>
            </a:endParaRPr>
          </a:p>
          <a:p>
            <a:pPr>
              <a:lnSpc>
                <a:spcPct val="150000"/>
              </a:lnSpc>
              <a:buFont typeface="Wingdings" pitchFamily="2" charset="2"/>
              <a:buChar char="p"/>
            </a:pPr>
            <a:endParaRPr lang="en-US" altLang="zh-CN" sz="3600" kern="0" dirty="0">
              <a:latin typeface="+mj-ea"/>
              <a:ea typeface="+mj-ea"/>
            </a:endParaRPr>
          </a:p>
          <a:p>
            <a:pPr lvl="1">
              <a:lnSpc>
                <a:spcPct val="150000"/>
              </a:lnSpc>
              <a:buFont typeface="Wingdings" pitchFamily="2" charset="2"/>
              <a:buChar char="p"/>
            </a:pPr>
            <a:endParaRPr lang="en-US" altLang="zh-CN" sz="3200" kern="0" dirty="0">
              <a:latin typeface="+mj-ea"/>
              <a:ea typeface="+mj-ea"/>
            </a:endParaRPr>
          </a:p>
          <a:p>
            <a:pPr marL="0" indent="0">
              <a:lnSpc>
                <a:spcPct val="150000"/>
              </a:lnSpc>
              <a:buFont typeface="Wingdings" charset="2"/>
              <a:buNone/>
            </a:pPr>
            <a:r>
              <a:rPr lang="zh-CN" altLang="zh-CN" sz="2800" kern="0" dirty="0">
                <a:latin typeface="+mj-ea"/>
                <a:ea typeface="+mj-ea"/>
              </a:rPr>
              <a:t> </a:t>
            </a:r>
            <a:endParaRPr lang="en-US" altLang="zh-CN" sz="2800" kern="0" dirty="0">
              <a:latin typeface="+mj-ea"/>
              <a:ea typeface="+mj-ea"/>
            </a:endParaRPr>
          </a:p>
        </p:txBody>
      </p:sp>
    </p:spTree>
    <p:extLst>
      <p:ext uri="{BB962C8B-B14F-4D97-AF65-F5344CB8AC3E}">
        <p14:creationId xmlns:p14="http://schemas.microsoft.com/office/powerpoint/2010/main" val="52537155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E43B66F-DAB8-D667-207F-AB31F170FA41}"/>
              </a:ext>
            </a:extLst>
          </p:cNvPr>
          <p:cNvSpPr>
            <a:spLocks noGrp="1"/>
          </p:cNvSpPr>
          <p:nvPr>
            <p:ph type="sldNum" sz="quarter" idx="10"/>
          </p:nvPr>
        </p:nvSpPr>
        <p:spPr/>
        <p:txBody>
          <a:bodyPr/>
          <a:lstStyle/>
          <a:p>
            <a:fld id="{87BBDC00-B9E2-4EFD-9306-2934E87247C6}" type="slidenum">
              <a:rPr lang="zh-CN" altLang="en-US" smtClean="0"/>
              <a:pPr/>
              <a:t>145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zh-CN" altLang="en-US" dirty="0"/>
              <a:t>统一搜索</a:t>
            </a:r>
          </a:p>
        </p:txBody>
      </p:sp>
      <p:sp>
        <p:nvSpPr>
          <p:cNvPr id="4" name="页脚占位符 3">
            <a:extLst>
              <a:ext uri="{FF2B5EF4-FFF2-40B4-BE49-F238E27FC236}">
                <a16:creationId xmlns:a16="http://schemas.microsoft.com/office/drawing/2014/main" id="{5BB41D85-3875-C073-9985-8448518EF03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688489" y="1126800"/>
            <a:ext cx="10623945"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kern="0" dirty="0">
                <a:latin typeface="+mj-ea"/>
                <a:ea typeface="+mj-ea"/>
              </a:rPr>
              <a:t>统一搜索在</a:t>
            </a:r>
            <a:r>
              <a:rPr lang="en-US" altLang="zh-CN" sz="2400" kern="0" dirty="0">
                <a:latin typeface="+mj-ea"/>
                <a:ea typeface="+mj-ea"/>
              </a:rPr>
              <a:t>20</a:t>
            </a:r>
            <a:r>
              <a:rPr lang="zh-CN" altLang="zh-CN" sz="2400" kern="0" dirty="0">
                <a:latin typeface="+mj-ea"/>
                <a:ea typeface="+mj-ea"/>
              </a:rPr>
              <a:t>世纪</a:t>
            </a:r>
            <a:r>
              <a:rPr lang="en-US" altLang="zh-CN" sz="2400" kern="0" dirty="0">
                <a:latin typeface="+mj-ea"/>
                <a:ea typeface="+mj-ea"/>
              </a:rPr>
              <a:t>90</a:t>
            </a:r>
            <a:r>
              <a:rPr lang="zh-CN" altLang="zh-CN" sz="2400" kern="0" dirty="0">
                <a:latin typeface="+mj-ea"/>
                <a:ea typeface="+mj-ea"/>
              </a:rPr>
              <a:t>年代被提出，是</a:t>
            </a:r>
            <a:r>
              <a:rPr lang="en-US" altLang="zh-CN" sz="2400" kern="0" dirty="0">
                <a:latin typeface="+mj-ea"/>
                <a:ea typeface="+mj-ea"/>
              </a:rPr>
              <a:t>Cascades</a:t>
            </a:r>
            <a:r>
              <a:rPr lang="zh-CN" altLang="zh-CN" sz="2400" kern="0" dirty="0">
                <a:latin typeface="+mj-ea"/>
                <a:ea typeface="+mj-ea"/>
              </a:rPr>
              <a:t>采用的优化方法，</a:t>
            </a:r>
            <a:r>
              <a:rPr lang="zh-CN" altLang="en-US" sz="2400" kern="0" dirty="0">
                <a:latin typeface="+mj-ea"/>
                <a:ea typeface="+mj-ea"/>
              </a:rPr>
              <a:t>仍</a:t>
            </a:r>
            <a:r>
              <a:rPr lang="zh-CN" altLang="zh-CN" sz="2400" kern="0" dirty="0">
                <a:latin typeface="+mj-ea"/>
                <a:ea typeface="+mj-ea"/>
              </a:rPr>
              <a:t>在</a:t>
            </a:r>
            <a:r>
              <a:rPr lang="en-US" altLang="zh-CN" sz="2400" kern="0" dirty="0">
                <a:latin typeface="+mj-ea"/>
                <a:ea typeface="+mj-ea"/>
              </a:rPr>
              <a:t>MSSQL</a:t>
            </a:r>
            <a:r>
              <a:rPr lang="zh-CN" altLang="zh-CN" sz="2400" kern="0" dirty="0">
                <a:latin typeface="+mj-ea"/>
                <a:ea typeface="+mj-ea"/>
              </a:rPr>
              <a:t>和</a:t>
            </a:r>
            <a:r>
              <a:rPr lang="en-US" altLang="zh-CN" sz="2400" kern="0" dirty="0">
                <a:latin typeface="+mj-ea"/>
                <a:ea typeface="+mj-ea"/>
              </a:rPr>
              <a:t>Greenplum</a:t>
            </a:r>
            <a:r>
              <a:rPr lang="zh-CN" altLang="zh-CN" sz="2400" kern="0" dirty="0">
                <a:latin typeface="+mj-ea"/>
                <a:ea typeface="+mj-ea"/>
              </a:rPr>
              <a:t>数据库中被使用。</a:t>
            </a:r>
            <a:endParaRPr lang="en-US" altLang="zh-CN" sz="2400" dirty="0">
              <a:latin typeface="+mj-ea"/>
              <a:ea typeface="+mj-ea"/>
            </a:endParaRPr>
          </a:p>
          <a:p>
            <a:pPr>
              <a:lnSpc>
                <a:spcPct val="150000"/>
              </a:lnSpc>
              <a:buFont typeface="Wingdings" panose="05000000000000000000" pitchFamily="2" charset="2"/>
              <a:buChar char="Ø"/>
            </a:pPr>
            <a:r>
              <a:rPr lang="zh-CN" altLang="zh-CN" sz="2400" dirty="0">
                <a:latin typeface="+mj-ea"/>
                <a:ea typeface="+mj-ea"/>
              </a:rPr>
              <a:t>在统一搜索策略下，</a:t>
            </a:r>
            <a:r>
              <a:rPr lang="zh-CN" altLang="zh-CN" sz="2400" dirty="0">
                <a:solidFill>
                  <a:srgbClr val="701988"/>
                </a:solidFill>
                <a:latin typeface="+mj-ea"/>
                <a:ea typeface="+mj-ea"/>
              </a:rPr>
              <a:t>逻辑到逻辑</a:t>
            </a:r>
            <a:r>
              <a:rPr lang="zh-CN" altLang="zh-CN" sz="2400" dirty="0">
                <a:latin typeface="+mj-ea"/>
                <a:ea typeface="+mj-ea"/>
              </a:rPr>
              <a:t>的转换与</a:t>
            </a:r>
            <a:r>
              <a:rPr lang="zh-CN" altLang="zh-CN" sz="2400" dirty="0">
                <a:solidFill>
                  <a:srgbClr val="701988"/>
                </a:solidFill>
                <a:latin typeface="+mj-ea"/>
                <a:ea typeface="+mj-ea"/>
              </a:rPr>
              <a:t>逻辑到物理</a:t>
            </a:r>
            <a:r>
              <a:rPr lang="zh-CN" altLang="zh-CN" sz="2400" dirty="0">
                <a:latin typeface="+mj-ea"/>
                <a:ea typeface="+mj-ea"/>
              </a:rPr>
              <a:t>的转换都被统一成同一阶段进行的转换。</a:t>
            </a:r>
            <a:endParaRPr lang="en-US" altLang="zh-CN" sz="2400" dirty="0">
              <a:latin typeface="+mj-ea"/>
              <a:ea typeface="+mj-ea"/>
            </a:endParaRPr>
          </a:p>
          <a:p>
            <a:pPr lvl="1">
              <a:lnSpc>
                <a:spcPct val="150000"/>
              </a:lnSpc>
              <a:buFont typeface="Arial" panose="020B0604020202020204" pitchFamily="34" charset="0"/>
              <a:buChar char="•"/>
            </a:pPr>
            <a:r>
              <a:rPr lang="zh-CN" altLang="zh-CN" sz="2400" dirty="0">
                <a:latin typeface="+mj-ea"/>
                <a:ea typeface="+mj-ea"/>
              </a:rPr>
              <a:t>整个查询计划的确定都在同一个阶段利用搜索完成。</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产生了许多转换，因此会大量使用了记忆化，以减少重复的计算。</a:t>
            </a:r>
            <a:endParaRPr lang="en-US" altLang="zh-CN" kern="0" dirty="0">
              <a:latin typeface="+mj-ea"/>
              <a:ea typeface="+mj-ea"/>
            </a:endParaRPr>
          </a:p>
          <a:p>
            <a:pPr>
              <a:lnSpc>
                <a:spcPct val="150000"/>
              </a:lnSpc>
              <a:buFont typeface="Wingdings" panose="05000000000000000000" pitchFamily="2" charset="2"/>
              <a:buChar char="Ø"/>
            </a:pPr>
            <a:r>
              <a:rPr lang="zh-CN" altLang="en-US" sz="2400" kern="0" dirty="0">
                <a:latin typeface="+mj-ea"/>
                <a:ea typeface="+mj-ea"/>
              </a:rPr>
              <a:t>一般也被称为</a:t>
            </a:r>
            <a:r>
              <a:rPr lang="zh-CN" altLang="zh-CN" sz="2400" kern="0" dirty="0">
                <a:latin typeface="+mj-ea"/>
                <a:ea typeface="+mj-ea"/>
              </a:rPr>
              <a:t>“自顶向下”的方法</a:t>
            </a:r>
            <a:endParaRPr lang="en-US" altLang="zh-CN" sz="2400" kern="0" dirty="0">
              <a:latin typeface="+mj-ea"/>
              <a:ea typeface="+mj-ea"/>
            </a:endParaRPr>
          </a:p>
          <a:p>
            <a:endParaRPr lang="en-US" altLang="zh-CN" sz="2800" dirty="0">
              <a:latin typeface="+mj-ea"/>
              <a:ea typeface="+mj-ea"/>
            </a:endParaRPr>
          </a:p>
          <a:p>
            <a:pPr marL="422041" lvl="1" indent="0">
              <a:buNone/>
            </a:pPr>
            <a:endParaRPr lang="zh-CN" altLang="zh-CN" dirty="0">
              <a:latin typeface="+mj-ea"/>
              <a:ea typeface="+mj-ea"/>
            </a:endParaRPr>
          </a:p>
          <a:p>
            <a:pPr lvl="1">
              <a:buFont typeface="Wingdings" pitchFamily="2" charset="2"/>
              <a:buChar char="Ø"/>
            </a:pPr>
            <a:endParaRPr lang="en-US" altLang="zh-CN" dirty="0">
              <a:latin typeface="+mj-ea"/>
              <a:ea typeface="+mj-ea"/>
            </a:endParaRPr>
          </a:p>
          <a:p>
            <a:pPr lvl="1">
              <a:buFont typeface="Wingdings" pitchFamily="2" charset="2"/>
              <a:buChar char="Ø"/>
            </a:pPr>
            <a:endParaRPr lang="en-US" altLang="zh-CN" kern="0" dirty="0">
              <a:latin typeface="+mj-ea"/>
              <a:ea typeface="+mj-ea"/>
            </a:endParaRPr>
          </a:p>
          <a:p>
            <a:pPr>
              <a:buFont typeface="Wingdings" pitchFamily="2" charset="2"/>
              <a:buChar char="p"/>
            </a:pPr>
            <a:endParaRPr lang="en-US" altLang="zh-CN" sz="2800" kern="0" dirty="0">
              <a:latin typeface="+mj-ea"/>
              <a:ea typeface="+mj-ea"/>
            </a:endParaRPr>
          </a:p>
          <a:p>
            <a:pPr lvl="1">
              <a:buFont typeface="Wingdings" pitchFamily="2" charset="2"/>
              <a:buChar char="p"/>
            </a:pPr>
            <a:endParaRPr lang="en-US" altLang="zh-CN" kern="0" dirty="0">
              <a:latin typeface="+mj-ea"/>
              <a:ea typeface="+mj-ea"/>
            </a:endParaRPr>
          </a:p>
          <a:p>
            <a:pPr marL="0" indent="0">
              <a:buFont typeface="Wingdings" charset="2"/>
              <a:buNone/>
            </a:pPr>
            <a:r>
              <a:rPr lang="zh-CN" altLang="zh-CN" sz="2800" kern="0" dirty="0">
                <a:latin typeface="+mj-ea"/>
                <a:ea typeface="+mj-ea"/>
              </a:rPr>
              <a:t> </a:t>
            </a:r>
            <a:endParaRPr lang="zh-CN" altLang="en-US" sz="2800" kern="0" dirty="0">
              <a:latin typeface="+mj-ea"/>
              <a:ea typeface="+mj-ea"/>
            </a:endParaRPr>
          </a:p>
        </p:txBody>
      </p:sp>
    </p:spTree>
    <p:extLst>
      <p:ext uri="{BB962C8B-B14F-4D97-AF65-F5344CB8AC3E}">
        <p14:creationId xmlns:p14="http://schemas.microsoft.com/office/powerpoint/2010/main" val="410515772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146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zh-CN" altLang="en-US" dirty="0"/>
              <a:t>统一搜索</a:t>
            </a:r>
          </a:p>
        </p:txBody>
      </p:sp>
      <p:sp>
        <p:nvSpPr>
          <p:cNvPr id="5" name="页脚占位符 4">
            <a:extLst>
              <a:ext uri="{FF2B5EF4-FFF2-40B4-BE49-F238E27FC236}">
                <a16:creationId xmlns:a16="http://schemas.microsoft.com/office/drawing/2014/main" id="{D8F869EF-4E58-740B-FE53-249EE61F9E2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1455970" y="1113532"/>
            <a:ext cx="9437386"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b="1" kern="0" dirty="0">
                <a:latin typeface="+mj-ea"/>
                <a:ea typeface="+mj-ea"/>
              </a:rPr>
              <a:t>优点：</a:t>
            </a:r>
            <a:endParaRPr lang="en-US" altLang="zh-CN" sz="2400" b="1" kern="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使用声明式规则生成等价转换，利于添加新规则</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规则扩展性好</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利用记忆化减少冗余的计算</a:t>
            </a:r>
            <a:endParaRPr lang="en-US" altLang="zh-CN" sz="2400" dirty="0">
              <a:latin typeface="+mj-ea"/>
              <a:ea typeface="+mj-ea"/>
            </a:endParaRPr>
          </a:p>
          <a:p>
            <a:pPr lvl="1">
              <a:lnSpc>
                <a:spcPct val="150000"/>
              </a:lnSpc>
              <a:buFont typeface="Arial" panose="020B0604020202020204" pitchFamily="34" charset="0"/>
              <a:buChar char="•"/>
            </a:pPr>
            <a:r>
              <a:rPr lang="zh-CN" altLang="en-US" sz="2400" dirty="0">
                <a:latin typeface="+mj-ea"/>
                <a:ea typeface="+mj-ea"/>
              </a:rPr>
              <a:t>可以提前剪枝，提升表数较多时的计划生成速度</a:t>
            </a:r>
            <a:endParaRPr lang="en-US" altLang="zh-CN" sz="2800" dirty="0">
              <a:latin typeface="+mj-ea"/>
              <a:ea typeface="+mj-ea"/>
            </a:endParaRPr>
          </a:p>
          <a:p>
            <a:pPr>
              <a:lnSpc>
                <a:spcPct val="150000"/>
              </a:lnSpc>
              <a:buFont typeface="Wingdings" panose="05000000000000000000" pitchFamily="2" charset="2"/>
              <a:buChar char="Ø"/>
            </a:pPr>
            <a:r>
              <a:rPr lang="zh-CN" altLang="en-US" sz="2400" b="1" kern="0" dirty="0">
                <a:latin typeface="+mj-ea"/>
                <a:ea typeface="+mj-ea"/>
              </a:rPr>
              <a:t>缺点：</a:t>
            </a:r>
            <a:endParaRPr lang="en-US" altLang="zh-CN" sz="2400" b="1" kern="0" dirty="0">
              <a:latin typeface="+mj-ea"/>
              <a:ea typeface="+mj-ea"/>
            </a:endParaRPr>
          </a:p>
          <a:p>
            <a:pPr lvl="1">
              <a:buFont typeface="Arial" panose="020B0604020202020204" pitchFamily="34" charset="0"/>
              <a:buChar char="•"/>
            </a:pPr>
            <a:r>
              <a:rPr lang="zh-CN" altLang="en-US" sz="2400" dirty="0">
                <a:latin typeface="+mj-ea"/>
                <a:ea typeface="+mj-ea"/>
              </a:rPr>
              <a:t>所有的等价转换都会被使用，生成出所有可能的逻辑计划</a:t>
            </a:r>
            <a:endParaRPr lang="en-US" altLang="zh-CN" sz="2400" dirty="0">
              <a:latin typeface="+mj-ea"/>
              <a:ea typeface="+mj-ea"/>
            </a:endParaRPr>
          </a:p>
          <a:p>
            <a:pPr lvl="1">
              <a:buFont typeface="Arial" panose="020B0604020202020204" pitchFamily="34" charset="0"/>
              <a:buChar char="•"/>
            </a:pPr>
            <a:r>
              <a:rPr lang="zh-CN" altLang="en-US" sz="2400" dirty="0">
                <a:latin typeface="+mj-ea"/>
                <a:ea typeface="+mj-ea"/>
              </a:rPr>
              <a:t>逻辑规则较多时，优化代价高</a:t>
            </a:r>
            <a:endParaRPr lang="en-US" altLang="zh-CN" sz="2400" dirty="0">
              <a:latin typeface="+mj-ea"/>
              <a:ea typeface="+mj-ea"/>
            </a:endParaRPr>
          </a:p>
        </p:txBody>
      </p:sp>
    </p:spTree>
    <p:extLst>
      <p:ext uri="{BB962C8B-B14F-4D97-AF65-F5344CB8AC3E}">
        <p14:creationId xmlns:p14="http://schemas.microsoft.com/office/powerpoint/2010/main" val="336525215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147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zh-CN" altLang="en-US" dirty="0"/>
              <a:t>统一搜索：</a:t>
            </a:r>
            <a:r>
              <a:rPr kumimoji="1" lang="en-US" altLang="zh-CN" dirty="0"/>
              <a:t>Cascades</a:t>
            </a:r>
            <a:r>
              <a:rPr kumimoji="1" lang="zh-CN" altLang="en-US" dirty="0"/>
              <a:t>优化器</a:t>
            </a:r>
          </a:p>
        </p:txBody>
      </p:sp>
      <p:sp>
        <p:nvSpPr>
          <p:cNvPr id="5" name="页脚占位符 4">
            <a:extLst>
              <a:ext uri="{FF2B5EF4-FFF2-40B4-BE49-F238E27FC236}">
                <a16:creationId xmlns:a16="http://schemas.microsoft.com/office/drawing/2014/main" id="{6AE5A804-7424-E1D0-3423-C8185663144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184203" y="1113532"/>
            <a:ext cx="5689728"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000" dirty="0">
                <a:solidFill>
                  <a:srgbClr val="0000FF"/>
                </a:solidFill>
                <a:latin typeface="+mj-ea"/>
                <a:ea typeface="+mj-ea"/>
              </a:rPr>
              <a:t>自顶向下</a:t>
            </a:r>
            <a:r>
              <a:rPr lang="zh-CN" altLang="en-US" sz="2000" dirty="0">
                <a:latin typeface="+mj-ea"/>
                <a:ea typeface="+mj-ea"/>
              </a:rPr>
              <a:t>迭代使用规则进行优化，整个搜索空间会形成一个</a:t>
            </a:r>
            <a:r>
              <a:rPr lang="en" altLang="zh-CN" sz="2000" dirty="0">
                <a:latin typeface="+mj-ea"/>
                <a:ea typeface="+mj-ea"/>
              </a:rPr>
              <a:t>Operator Tree</a:t>
            </a:r>
            <a:r>
              <a:rPr lang="zh-CN" altLang="en-US" sz="2000" dirty="0">
                <a:latin typeface="+mj-ea"/>
                <a:ea typeface="+mj-ea"/>
              </a:rPr>
              <a:t>的森林。</a:t>
            </a:r>
            <a:endParaRPr lang="en-US" altLang="zh-CN" sz="2000" dirty="0">
              <a:latin typeface="+mj-ea"/>
              <a:ea typeface="+mj-ea"/>
            </a:endParaRPr>
          </a:p>
          <a:p>
            <a:pPr>
              <a:lnSpc>
                <a:spcPct val="150000"/>
              </a:lnSpc>
              <a:buFont typeface="Wingdings" panose="05000000000000000000" pitchFamily="2" charset="2"/>
              <a:buChar char="Ø"/>
            </a:pPr>
            <a:r>
              <a:rPr lang="zh-CN" altLang="en-US" sz="2000" dirty="0">
                <a:latin typeface="+mj-ea"/>
                <a:ea typeface="+mj-ea"/>
              </a:rPr>
              <a:t>将一组逻辑上等价的逻辑表达式以及它们对应的所有物理表达式定义为一个</a:t>
            </a:r>
            <a:r>
              <a:rPr lang="zh-CN" altLang="en-US" sz="2000" dirty="0">
                <a:solidFill>
                  <a:srgbClr val="0000FF"/>
                </a:solidFill>
                <a:latin typeface="+mj-ea"/>
                <a:ea typeface="+mj-ea"/>
              </a:rPr>
              <a:t>组</a:t>
            </a:r>
            <a:endParaRPr lang="en-US" altLang="zh-CN" sz="2000" dirty="0">
              <a:solidFill>
                <a:srgbClr val="0000FF"/>
              </a:solidFill>
              <a:latin typeface="+mj-ea"/>
              <a:ea typeface="+mj-ea"/>
            </a:endParaRPr>
          </a:p>
          <a:p>
            <a:pPr lvl="1">
              <a:lnSpc>
                <a:spcPct val="150000"/>
              </a:lnSpc>
              <a:buFont typeface="Wingdings" panose="05000000000000000000" pitchFamily="2" charset="2"/>
              <a:buChar char="Ø"/>
            </a:pPr>
            <a:r>
              <a:rPr lang="zh-CN" altLang="en-US" sz="1800" dirty="0">
                <a:solidFill>
                  <a:srgbClr val="0000FF"/>
                </a:solidFill>
                <a:latin typeface="+mj-ea"/>
                <a:ea typeface="+mj-ea"/>
              </a:rPr>
              <a:t>逻辑</a:t>
            </a:r>
            <a:r>
              <a:rPr lang="en-US" altLang="zh-CN" sz="1800" dirty="0">
                <a:solidFill>
                  <a:srgbClr val="0000FF"/>
                </a:solidFill>
                <a:latin typeface="+mj-ea"/>
                <a:ea typeface="+mj-ea"/>
              </a:rPr>
              <a:t>2</a:t>
            </a:r>
            <a:r>
              <a:rPr lang="zh-CN" altLang="en-US" sz="1800" dirty="0">
                <a:solidFill>
                  <a:srgbClr val="0000FF"/>
                </a:solidFill>
                <a:latin typeface="+mj-ea"/>
                <a:ea typeface="+mj-ea"/>
              </a:rPr>
              <a:t>逻辑</a:t>
            </a:r>
            <a:r>
              <a:rPr lang="en-US" altLang="zh-CN" sz="1800" dirty="0">
                <a:solidFill>
                  <a:srgbClr val="0000FF"/>
                </a:solidFill>
                <a:latin typeface="+mj-ea"/>
                <a:ea typeface="+mj-ea"/>
              </a:rPr>
              <a:t>Implementation</a:t>
            </a:r>
            <a:r>
              <a:rPr lang="zh-CN" altLang="en-US" sz="1800" dirty="0">
                <a:latin typeface="+mj-ea"/>
                <a:ea typeface="+mj-ea"/>
              </a:rPr>
              <a:t>：逻辑算子可以转换成物理算子；例如</a:t>
            </a:r>
            <a:r>
              <a:rPr lang="en-US" altLang="zh-CN" sz="1800" dirty="0">
                <a:latin typeface="+mj-ea"/>
                <a:ea typeface="+mj-ea"/>
              </a:rPr>
              <a:t>Join</a:t>
            </a:r>
            <a:r>
              <a:rPr lang="zh-CN" altLang="en-US" sz="1800" dirty="0">
                <a:latin typeface="+mj-ea"/>
                <a:ea typeface="+mj-ea"/>
              </a:rPr>
              <a:t>转换成</a:t>
            </a:r>
            <a:r>
              <a:rPr lang="en-US" altLang="zh-CN" sz="1800" dirty="0" err="1">
                <a:latin typeface="+mj-ea"/>
                <a:ea typeface="+mj-ea"/>
              </a:rPr>
              <a:t>NestLoop</a:t>
            </a:r>
            <a:r>
              <a:rPr lang="zh-CN" altLang="en-US" sz="1800" dirty="0">
                <a:latin typeface="+mj-ea"/>
                <a:ea typeface="+mj-ea"/>
              </a:rPr>
              <a:t>或者</a:t>
            </a:r>
            <a:r>
              <a:rPr lang="en-US" altLang="zh-CN" sz="1800" dirty="0" err="1">
                <a:latin typeface="+mj-ea"/>
                <a:ea typeface="+mj-ea"/>
              </a:rPr>
              <a:t>HashJoin</a:t>
            </a:r>
            <a:r>
              <a:rPr lang="zh-CN" altLang="en-US" sz="1800" dirty="0">
                <a:latin typeface="+mj-ea"/>
                <a:ea typeface="+mj-ea"/>
              </a:rPr>
              <a:t>等 </a:t>
            </a:r>
            <a:endParaRPr lang="en-US" altLang="zh-CN" sz="1800" dirty="0">
              <a:latin typeface="+mj-ea"/>
              <a:ea typeface="+mj-ea"/>
            </a:endParaRPr>
          </a:p>
          <a:p>
            <a:pPr lvl="1">
              <a:lnSpc>
                <a:spcPct val="150000"/>
              </a:lnSpc>
              <a:buFont typeface="Wingdings" panose="05000000000000000000" pitchFamily="2" charset="2"/>
              <a:buChar char="Ø"/>
            </a:pPr>
            <a:r>
              <a:rPr lang="zh-CN" altLang="en-US" sz="1800" dirty="0">
                <a:solidFill>
                  <a:srgbClr val="0000FF"/>
                </a:solidFill>
                <a:latin typeface="+mj-ea"/>
                <a:ea typeface="+mj-ea"/>
              </a:rPr>
              <a:t>逻辑</a:t>
            </a:r>
            <a:r>
              <a:rPr lang="en-US" altLang="zh-CN" sz="1800" dirty="0">
                <a:solidFill>
                  <a:srgbClr val="0000FF"/>
                </a:solidFill>
                <a:latin typeface="+mj-ea"/>
                <a:ea typeface="+mj-ea"/>
              </a:rPr>
              <a:t>2</a:t>
            </a:r>
            <a:r>
              <a:rPr lang="zh-CN" altLang="en-US" sz="1800" dirty="0">
                <a:solidFill>
                  <a:srgbClr val="0000FF"/>
                </a:solidFill>
                <a:latin typeface="+mj-ea"/>
                <a:ea typeface="+mj-ea"/>
              </a:rPr>
              <a:t>物理</a:t>
            </a:r>
            <a:r>
              <a:rPr lang="en-US" altLang="zh-CN" sz="1800" dirty="0">
                <a:solidFill>
                  <a:srgbClr val="0000FF"/>
                </a:solidFill>
                <a:latin typeface="+mj-ea"/>
                <a:ea typeface="+mj-ea"/>
              </a:rPr>
              <a:t>Transformation</a:t>
            </a:r>
            <a:r>
              <a:rPr lang="zh-CN" altLang="en-US" sz="1800" dirty="0">
                <a:latin typeface="+mj-ea"/>
                <a:ea typeface="+mj-ea"/>
              </a:rPr>
              <a:t>：逻辑算子可以做等价变换；例如交换</a:t>
            </a:r>
            <a:r>
              <a:rPr lang="en-US" altLang="zh-CN" sz="1800" dirty="0">
                <a:latin typeface="+mj-ea"/>
                <a:ea typeface="+mj-ea"/>
              </a:rPr>
              <a:t>Inner Join</a:t>
            </a:r>
            <a:r>
              <a:rPr lang="zh-CN" altLang="en-US" sz="1800" dirty="0">
                <a:latin typeface="+mj-ea"/>
                <a:ea typeface="+mj-ea"/>
              </a:rPr>
              <a:t>的两个子节点，即可枚举</a:t>
            </a:r>
            <a:r>
              <a:rPr lang="en-US" altLang="zh-CN" sz="1800" dirty="0">
                <a:latin typeface="+mj-ea"/>
                <a:ea typeface="+mj-ea"/>
              </a:rPr>
              <a:t>Join</a:t>
            </a:r>
            <a:r>
              <a:rPr lang="zh-CN" altLang="en-US" sz="1800" dirty="0">
                <a:latin typeface="+mj-ea"/>
                <a:ea typeface="+mj-ea"/>
              </a:rPr>
              <a:t>顺序 </a:t>
            </a:r>
            <a:endParaRPr lang="en-US" altLang="zh-CN" sz="1800" dirty="0">
              <a:latin typeface="+mj-ea"/>
              <a:ea typeface="+mj-ea"/>
            </a:endParaRPr>
          </a:p>
          <a:p>
            <a:pPr>
              <a:lnSpc>
                <a:spcPct val="150000"/>
              </a:lnSpc>
              <a:buFont typeface="Wingdings" panose="05000000000000000000" pitchFamily="2" charset="2"/>
              <a:buChar char="Ø"/>
            </a:pPr>
            <a:r>
              <a:rPr lang="zh-CN" altLang="en-US" sz="2000" kern="0" dirty="0">
                <a:latin typeface="+mj-ea"/>
                <a:ea typeface="+mj-ea"/>
              </a:rPr>
              <a:t>探索更多的表达式，按优先级对转换规则进行排序，并在搜索过程中，动态地调整排序</a:t>
            </a:r>
            <a:endParaRPr lang="en-US" altLang="zh-CN" sz="2000" kern="0" dirty="0">
              <a:latin typeface="+mj-ea"/>
              <a:ea typeface="+mj-ea"/>
            </a:endParaRPr>
          </a:p>
          <a:p>
            <a:pPr>
              <a:lnSpc>
                <a:spcPct val="150000"/>
              </a:lnSpc>
              <a:buFont typeface="Wingdings" panose="05000000000000000000" pitchFamily="2" charset="2"/>
              <a:buChar char="Ø"/>
            </a:pPr>
            <a:endParaRPr lang="en-US" altLang="zh-CN" sz="2000" kern="0" dirty="0">
              <a:latin typeface="+mj-ea"/>
              <a:ea typeface="+mj-ea"/>
            </a:endParaRPr>
          </a:p>
          <a:p>
            <a:pPr>
              <a:buFont typeface="Wingdings" pitchFamily="2" charset="2"/>
              <a:buChar char="p"/>
            </a:pPr>
            <a:endParaRPr lang="zh-CN" altLang="en-US" sz="2000" kern="0" dirty="0">
              <a:latin typeface="+mj-ea"/>
              <a:ea typeface="+mj-ea"/>
            </a:endParaRPr>
          </a:p>
          <a:p>
            <a:pPr>
              <a:buFont typeface="Wingdings" pitchFamily="2" charset="2"/>
              <a:buChar char="p"/>
            </a:pPr>
            <a:endParaRPr lang="zh-CN" altLang="en-US" sz="2000" kern="0" dirty="0">
              <a:latin typeface="+mj-ea"/>
              <a:ea typeface="+mj-ea"/>
            </a:endParaRPr>
          </a:p>
        </p:txBody>
      </p:sp>
      <p:pic>
        <p:nvPicPr>
          <p:cNvPr id="6" name="图片 5">
            <a:extLst>
              <a:ext uri="{FF2B5EF4-FFF2-40B4-BE49-F238E27FC236}">
                <a16:creationId xmlns:a16="http://schemas.microsoft.com/office/drawing/2014/main" id="{C1E58D7E-86C2-575A-4CAE-28D02D355AA5}"/>
              </a:ext>
            </a:extLst>
          </p:cNvPr>
          <p:cNvPicPr>
            <a:picLocks noChangeAspect="1"/>
          </p:cNvPicPr>
          <p:nvPr/>
        </p:nvPicPr>
        <p:blipFill>
          <a:blip r:embed="rId3"/>
          <a:srcRect/>
          <a:stretch/>
        </p:blipFill>
        <p:spPr>
          <a:xfrm>
            <a:off x="6387382" y="995626"/>
            <a:ext cx="5183706" cy="3097528"/>
          </a:xfrm>
          <a:prstGeom prst="rect">
            <a:avLst/>
          </a:prstGeom>
        </p:spPr>
      </p:pic>
      <p:pic>
        <p:nvPicPr>
          <p:cNvPr id="7" name="图片 6">
            <a:extLst>
              <a:ext uri="{FF2B5EF4-FFF2-40B4-BE49-F238E27FC236}">
                <a16:creationId xmlns:a16="http://schemas.microsoft.com/office/drawing/2014/main" id="{286B6A93-1A22-622E-A305-B5E85DB26FA9}"/>
              </a:ext>
            </a:extLst>
          </p:cNvPr>
          <p:cNvPicPr>
            <a:picLocks noChangeAspect="1"/>
          </p:cNvPicPr>
          <p:nvPr/>
        </p:nvPicPr>
        <p:blipFill>
          <a:blip r:embed="rId4"/>
          <a:stretch>
            <a:fillRect/>
          </a:stretch>
        </p:blipFill>
        <p:spPr>
          <a:xfrm>
            <a:off x="9254939" y="4191082"/>
            <a:ext cx="2316149" cy="2259427"/>
          </a:xfrm>
          <a:prstGeom prst="rect">
            <a:avLst/>
          </a:prstGeom>
        </p:spPr>
      </p:pic>
      <p:pic>
        <p:nvPicPr>
          <p:cNvPr id="16" name="图片 15">
            <a:extLst>
              <a:ext uri="{FF2B5EF4-FFF2-40B4-BE49-F238E27FC236}">
                <a16:creationId xmlns:a16="http://schemas.microsoft.com/office/drawing/2014/main" id="{FFF50A6F-8091-C7D0-24FB-0F0C767B2711}"/>
              </a:ext>
            </a:extLst>
          </p:cNvPr>
          <p:cNvPicPr>
            <a:picLocks noChangeAspect="1"/>
          </p:cNvPicPr>
          <p:nvPr/>
        </p:nvPicPr>
        <p:blipFill>
          <a:blip r:embed="rId5"/>
          <a:stretch>
            <a:fillRect/>
          </a:stretch>
        </p:blipFill>
        <p:spPr>
          <a:xfrm>
            <a:off x="6506357" y="4244973"/>
            <a:ext cx="2498958" cy="2151645"/>
          </a:xfrm>
          <a:prstGeom prst="rect">
            <a:avLst/>
          </a:prstGeom>
        </p:spPr>
      </p:pic>
    </p:spTree>
    <p:extLst>
      <p:ext uri="{BB962C8B-B14F-4D97-AF65-F5344CB8AC3E}">
        <p14:creationId xmlns:p14="http://schemas.microsoft.com/office/powerpoint/2010/main" val="29333413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0FF52922-3D42-4412-80D4-E8608AC407DF}"/>
              </a:ext>
            </a:extLst>
          </p:cNvPr>
          <p:cNvSpPr/>
          <p:nvPr/>
        </p:nvSpPr>
        <p:spPr>
          <a:xfrm>
            <a:off x="1981806" y="4406029"/>
            <a:ext cx="8280629" cy="147678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1" name="Shape18">
            <a:extLst>
              <a:ext uri="{FF2B5EF4-FFF2-40B4-BE49-F238E27FC236}">
                <a16:creationId xmlns:a16="http://schemas.microsoft.com/office/drawing/2014/main" id="{0FF52922-3D42-4412-80D4-E8608AC407DF}"/>
              </a:ext>
            </a:extLst>
          </p:cNvPr>
          <p:cNvSpPr/>
          <p:nvPr/>
        </p:nvSpPr>
        <p:spPr>
          <a:xfrm>
            <a:off x="1984067" y="2785193"/>
            <a:ext cx="8280629" cy="147678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9" name="Shape18">
            <a:extLst>
              <a:ext uri="{FF2B5EF4-FFF2-40B4-BE49-F238E27FC236}">
                <a16:creationId xmlns:a16="http://schemas.microsoft.com/office/drawing/2014/main" id="{0FF52922-3D42-4412-80D4-E8608AC407DF}"/>
              </a:ext>
            </a:extLst>
          </p:cNvPr>
          <p:cNvSpPr/>
          <p:nvPr/>
        </p:nvSpPr>
        <p:spPr>
          <a:xfrm>
            <a:off x="1981807" y="1179330"/>
            <a:ext cx="8280629" cy="147678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148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lang="zh-CN" altLang="en-US" dirty="0"/>
              <a:t>表达式</a:t>
            </a:r>
            <a:endParaRPr kumimoji="1" lang="zh-CN" altLang="en-US" dirty="0"/>
          </a:p>
        </p:txBody>
      </p:sp>
      <p:sp>
        <p:nvSpPr>
          <p:cNvPr id="7" name="页脚占位符 6">
            <a:extLst>
              <a:ext uri="{FF2B5EF4-FFF2-40B4-BE49-F238E27FC236}">
                <a16:creationId xmlns:a16="http://schemas.microsoft.com/office/drawing/2014/main" id="{362868C1-39A1-1B37-5632-F9190EAE6B82}"/>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2480454" y="2001254"/>
            <a:ext cx="11456894"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itchFamily="2" charset="2"/>
              <a:buChar char="p"/>
            </a:pPr>
            <a:endParaRPr lang="en-US" altLang="zh-CN" sz="2400" b="1" kern="0" dirty="0">
              <a:latin typeface="+mj-ea"/>
              <a:ea typeface="+mj-ea"/>
            </a:endParaRPr>
          </a:p>
          <a:p>
            <a:pPr>
              <a:buFont typeface="Wingdings" panose="05000000000000000000" pitchFamily="2" charset="2"/>
              <a:buChar char="Ø"/>
            </a:pPr>
            <a:r>
              <a:rPr lang="zh-CN" altLang="en-US" sz="2400" b="1" kern="0" dirty="0">
                <a:latin typeface="+mj-ea"/>
                <a:ea typeface="+mj-ea"/>
              </a:rPr>
              <a:t>逻辑表达式示例：</a:t>
            </a:r>
            <a:endParaRPr lang="en-US" altLang="zh-CN" sz="2400" b="1" kern="0" dirty="0">
              <a:latin typeface="+mj-ea"/>
              <a:ea typeface="+mj-ea"/>
            </a:endParaRPr>
          </a:p>
          <a:p>
            <a:pPr marL="422041" lvl="1" indent="0">
              <a:buNone/>
            </a:pPr>
            <a:endParaRPr lang="en-US" altLang="zh-CN" sz="2400" b="1" kern="0" dirty="0">
              <a:latin typeface="+mj-ea"/>
              <a:ea typeface="+mj-ea"/>
            </a:endParaRPr>
          </a:p>
          <a:p>
            <a:pPr marL="422041" lvl="1" indent="0">
              <a:buNone/>
            </a:pPr>
            <a:endParaRPr lang="en-US" altLang="zh-CN" sz="2400" b="1" kern="0" dirty="0">
              <a:latin typeface="+mj-ea"/>
              <a:ea typeface="+mj-ea"/>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0ED573C-B9FD-C1F1-429D-1BE2AEC23F42}"/>
                  </a:ext>
                </a:extLst>
              </p:cNvPr>
              <p:cNvSpPr txBox="1"/>
              <p:nvPr/>
            </p:nvSpPr>
            <p:spPr>
              <a:xfrm>
                <a:off x="2588660" y="1489365"/>
                <a:ext cx="7421077" cy="954107"/>
              </a:xfrm>
              <a:prstGeom prst="rect">
                <a:avLst/>
              </a:prstGeom>
              <a:noFill/>
            </p:spPr>
            <p:txBody>
              <a:bodyPr wrap="square">
                <a:spAutoFit/>
              </a:bodyPr>
              <a:lstStyle/>
              <a:p>
                <a:r>
                  <a:rPr lang="fr-FR" altLang="zh-CN" sz="2800" dirty="0">
                    <a:solidFill>
                      <a:srgbClr val="701988"/>
                    </a:solidFill>
                    <a:effectLst/>
                    <a:latin typeface="Helvetica" pitchFamily="2" charset="0"/>
                  </a:rPr>
                  <a:t>SELECT * FROM </a:t>
                </a:r>
                <a14:m>
                  <m:oMath xmlns:m="http://schemas.openxmlformats.org/officeDocument/2006/math">
                    <m:sSub>
                      <m:sSubPr>
                        <m:ctrlPr>
                          <a:rPr lang="fr-FR" altLang="zh-CN" sz="2800" i="1" smtClean="0">
                            <a:solidFill>
                              <a:srgbClr val="701988"/>
                            </a:solidFill>
                            <a:effectLst/>
                            <a:latin typeface="Cambria Math" panose="02040503050406030204" pitchFamily="18" charset="0"/>
                          </a:rPr>
                        </m:ctrlPr>
                      </m:sSubPr>
                      <m:e>
                        <m:r>
                          <a:rPr lang="en-US" altLang="zh-CN" sz="2800" b="0" i="1" smtClean="0">
                            <a:solidFill>
                              <a:srgbClr val="701988"/>
                            </a:solidFill>
                            <a:effectLst/>
                            <a:latin typeface="Cambria Math" panose="02040503050406030204" pitchFamily="18" charset="0"/>
                          </a:rPr>
                          <m:t>𝑅</m:t>
                        </m:r>
                      </m:e>
                      <m:sub>
                        <m:r>
                          <a:rPr lang="en-US" altLang="zh-CN" sz="2800" b="0" i="1" smtClean="0">
                            <a:solidFill>
                              <a:srgbClr val="701988"/>
                            </a:solidFill>
                            <a:effectLst/>
                            <a:latin typeface="Cambria Math" panose="02040503050406030204" pitchFamily="18" charset="0"/>
                          </a:rPr>
                          <m:t>1</m:t>
                        </m:r>
                      </m:sub>
                    </m:sSub>
                  </m:oMath>
                </a14:m>
                <a:r>
                  <a:rPr lang="en-US" altLang="zh-CN" sz="2800" dirty="0">
                    <a:solidFill>
                      <a:srgbClr val="701988"/>
                    </a:solidFill>
                  </a:rPr>
                  <a:t>,</a:t>
                </a:r>
                <a:r>
                  <a:rPr lang="zh-CN" altLang="en-US" sz="2800" dirty="0">
                    <a:solidFill>
                      <a:srgbClr val="701988"/>
                    </a:solidFill>
                  </a:rPr>
                  <a:t> </a:t>
                </a:r>
                <a14:m>
                  <m:oMath xmlns:m="http://schemas.openxmlformats.org/officeDocument/2006/math">
                    <m:sSub>
                      <m:sSubPr>
                        <m:ctrlPr>
                          <a:rPr lang="fr-FR" altLang="zh-CN" sz="2800" i="1">
                            <a:solidFill>
                              <a:srgbClr val="701988"/>
                            </a:solidFill>
                            <a:latin typeface="Cambria Math" panose="02040503050406030204" pitchFamily="18" charset="0"/>
                          </a:rPr>
                        </m:ctrlPr>
                      </m:sSubPr>
                      <m:e>
                        <m:r>
                          <a:rPr lang="en-US" altLang="zh-CN" sz="2800" i="1">
                            <a:solidFill>
                              <a:srgbClr val="701988"/>
                            </a:solidFill>
                            <a:latin typeface="Cambria Math" panose="02040503050406030204" pitchFamily="18" charset="0"/>
                          </a:rPr>
                          <m:t>𝑅</m:t>
                        </m:r>
                      </m:e>
                      <m:sub>
                        <m:r>
                          <a:rPr lang="en-US" altLang="zh-CN" sz="2800" b="0" i="1" smtClean="0">
                            <a:solidFill>
                              <a:srgbClr val="701988"/>
                            </a:solidFill>
                            <a:latin typeface="Cambria Math" panose="02040503050406030204" pitchFamily="18" charset="0"/>
                          </a:rPr>
                          <m:t>2</m:t>
                        </m:r>
                      </m:sub>
                    </m:sSub>
                    <m:sSub>
                      <m:sSubPr>
                        <m:ctrlPr>
                          <a:rPr lang="fr-FR" altLang="zh-CN" sz="2800" i="1">
                            <a:solidFill>
                              <a:srgbClr val="701988"/>
                            </a:solidFill>
                            <a:latin typeface="Cambria Math" panose="02040503050406030204" pitchFamily="18" charset="0"/>
                          </a:rPr>
                        </m:ctrlPr>
                      </m:sSubPr>
                      <m:e>
                        <m:r>
                          <m:rPr>
                            <m:nor/>
                          </m:rPr>
                          <a:rPr lang="en-US" altLang="zh-CN" sz="2800" dirty="0">
                            <a:solidFill>
                              <a:srgbClr val="701988"/>
                            </a:solidFill>
                          </a:rPr>
                          <m:t>,</m:t>
                        </m:r>
                        <m:r>
                          <a:rPr lang="zh-CN" altLang="en-US" sz="2800" b="0" i="1" dirty="0" smtClean="0">
                            <a:solidFill>
                              <a:srgbClr val="701988"/>
                            </a:solidFill>
                            <a:latin typeface="Cambria Math" panose="02040503050406030204" pitchFamily="18" charset="0"/>
                          </a:rPr>
                          <m:t>  </m:t>
                        </m:r>
                        <m:r>
                          <a:rPr lang="en-US" altLang="zh-CN" sz="2800" i="1">
                            <a:solidFill>
                              <a:srgbClr val="701988"/>
                            </a:solidFill>
                            <a:latin typeface="Cambria Math" panose="02040503050406030204" pitchFamily="18" charset="0"/>
                          </a:rPr>
                          <m:t>𝑅</m:t>
                        </m:r>
                      </m:e>
                      <m:sub>
                        <m:r>
                          <a:rPr lang="en-US" altLang="zh-CN" sz="2800" b="0" i="1" smtClean="0">
                            <a:solidFill>
                              <a:srgbClr val="701988"/>
                            </a:solidFill>
                            <a:latin typeface="Cambria Math" panose="02040503050406030204" pitchFamily="18" charset="0"/>
                          </a:rPr>
                          <m:t>3</m:t>
                        </m:r>
                      </m:sub>
                    </m:sSub>
                  </m:oMath>
                </a14:m>
                <a:endParaRPr lang="fr-FR" altLang="zh-CN" sz="2800" dirty="0">
                  <a:solidFill>
                    <a:srgbClr val="701988"/>
                  </a:solidFill>
                  <a:effectLst/>
                  <a:latin typeface="Helvetica" pitchFamily="2" charset="0"/>
                </a:endParaRPr>
              </a:p>
              <a:p>
                <a:r>
                  <a:rPr lang="en-US" altLang="zh-CN" sz="2800" dirty="0">
                    <a:solidFill>
                      <a:srgbClr val="701988"/>
                    </a:solidFill>
                    <a:effectLst/>
                    <a:latin typeface="Helvetica" pitchFamily="2" charset="0"/>
                  </a:rPr>
                  <a:t>WHERE</a:t>
                </a:r>
                <a:r>
                  <a:rPr lang="fr-FR" altLang="zh-CN" sz="2800" dirty="0">
                    <a:solidFill>
                      <a:srgbClr val="701988"/>
                    </a:solidFill>
                    <a:effectLst/>
                    <a:latin typeface="Helvetica" pitchFamily="2" charset="0"/>
                  </a:rPr>
                  <a:t> </a:t>
                </a:r>
                <a14:m>
                  <m:oMath xmlns:m="http://schemas.openxmlformats.org/officeDocument/2006/math">
                    <m:sSub>
                      <m:sSubPr>
                        <m:ctrlPr>
                          <a:rPr lang="fr-FR" altLang="zh-CN" sz="2800" i="1">
                            <a:solidFill>
                              <a:srgbClr val="701988"/>
                            </a:solidFill>
                            <a:latin typeface="Cambria Math" panose="02040503050406030204" pitchFamily="18" charset="0"/>
                          </a:rPr>
                        </m:ctrlPr>
                      </m:sSubPr>
                      <m:e>
                        <m:r>
                          <a:rPr lang="en-US" altLang="zh-CN" sz="2800" i="1">
                            <a:solidFill>
                              <a:srgbClr val="701988"/>
                            </a:solidFill>
                            <a:latin typeface="Cambria Math" panose="02040503050406030204" pitchFamily="18" charset="0"/>
                          </a:rPr>
                          <m:t>𝑅</m:t>
                        </m:r>
                      </m:e>
                      <m:sub>
                        <m:r>
                          <a:rPr lang="en-US" altLang="zh-CN" sz="2800" i="1">
                            <a:solidFill>
                              <a:srgbClr val="701988"/>
                            </a:solidFill>
                            <a:latin typeface="Cambria Math" panose="02040503050406030204" pitchFamily="18" charset="0"/>
                          </a:rPr>
                          <m:t>1</m:t>
                        </m:r>
                      </m:sub>
                    </m:sSub>
                    <m:r>
                      <a:rPr lang="en-US" altLang="zh-CN" sz="2800" b="0" i="1" smtClean="0">
                        <a:solidFill>
                          <a:srgbClr val="701988"/>
                        </a:solidFill>
                        <a:latin typeface="Cambria Math" panose="02040503050406030204" pitchFamily="18" charset="0"/>
                      </a:rPr>
                      <m:t>.</m:t>
                    </m:r>
                    <m:r>
                      <a:rPr lang="en-US" altLang="zh-CN" sz="2800" b="0" i="1" smtClean="0">
                        <a:solidFill>
                          <a:srgbClr val="701988"/>
                        </a:solidFill>
                        <a:latin typeface="Cambria Math" panose="02040503050406030204" pitchFamily="18" charset="0"/>
                      </a:rPr>
                      <m:t>𝑖𝑑</m:t>
                    </m:r>
                  </m:oMath>
                </a14:m>
                <a:r>
                  <a:rPr lang="fr-FR" altLang="zh-CN" sz="2800" dirty="0">
                    <a:solidFill>
                      <a:srgbClr val="701988"/>
                    </a:solidFill>
                    <a:effectLst/>
                    <a:latin typeface="Helvetica" pitchFamily="2" charset="0"/>
                  </a:rPr>
                  <a:t> = </a:t>
                </a:r>
                <a14:m>
                  <m:oMath xmlns:m="http://schemas.openxmlformats.org/officeDocument/2006/math">
                    <m:sSub>
                      <m:sSubPr>
                        <m:ctrlPr>
                          <a:rPr lang="fr-FR" altLang="zh-CN" sz="2800" i="1">
                            <a:solidFill>
                              <a:srgbClr val="701988"/>
                            </a:solidFill>
                            <a:latin typeface="Cambria Math" panose="02040503050406030204" pitchFamily="18" charset="0"/>
                          </a:rPr>
                        </m:ctrlPr>
                      </m:sSubPr>
                      <m:e>
                        <m:r>
                          <a:rPr lang="en-US" altLang="zh-CN" sz="2800" i="1">
                            <a:solidFill>
                              <a:srgbClr val="701988"/>
                            </a:solidFill>
                            <a:latin typeface="Cambria Math" panose="02040503050406030204" pitchFamily="18" charset="0"/>
                          </a:rPr>
                          <m:t>𝑅</m:t>
                        </m:r>
                      </m:e>
                      <m:sub>
                        <m:r>
                          <a:rPr lang="en-US" altLang="zh-CN" sz="2800" b="0" i="1" smtClean="0">
                            <a:solidFill>
                              <a:srgbClr val="701988"/>
                            </a:solidFill>
                            <a:latin typeface="Cambria Math" panose="02040503050406030204" pitchFamily="18" charset="0"/>
                          </a:rPr>
                          <m:t>2</m:t>
                        </m:r>
                      </m:sub>
                    </m:sSub>
                    <m:r>
                      <a:rPr lang="en-US" altLang="zh-CN" sz="2800" b="0" i="1" smtClean="0">
                        <a:solidFill>
                          <a:srgbClr val="701988"/>
                        </a:solidFill>
                        <a:latin typeface="Cambria Math" panose="02040503050406030204" pitchFamily="18" charset="0"/>
                      </a:rPr>
                      <m:t>.</m:t>
                    </m:r>
                    <m:r>
                      <a:rPr lang="en-US" altLang="zh-CN" sz="2800" b="0" i="1" smtClean="0">
                        <a:solidFill>
                          <a:srgbClr val="701988"/>
                        </a:solidFill>
                        <a:latin typeface="Cambria Math" panose="02040503050406030204" pitchFamily="18" charset="0"/>
                      </a:rPr>
                      <m:t>𝑖𝑑</m:t>
                    </m:r>
                    <m:r>
                      <a:rPr lang="zh-CN" altLang="en-US" sz="2800" b="0" i="1" smtClean="0">
                        <a:solidFill>
                          <a:srgbClr val="701988"/>
                        </a:solidFill>
                        <a:latin typeface="Cambria Math" panose="02040503050406030204" pitchFamily="18" charset="0"/>
                      </a:rPr>
                      <m:t> </m:t>
                    </m:r>
                    <m:r>
                      <m:rPr>
                        <m:sty m:val="p"/>
                      </m:rPr>
                      <a:rPr lang="en-US" altLang="zh-CN" sz="2800" b="0" i="0" smtClean="0">
                        <a:solidFill>
                          <a:srgbClr val="701988"/>
                        </a:solidFill>
                        <a:latin typeface="Cambria Math" panose="02040503050406030204" pitchFamily="18" charset="0"/>
                      </a:rPr>
                      <m:t>AND</m:t>
                    </m:r>
                    <m:r>
                      <a:rPr lang="zh-CN" altLang="en-US" sz="2800" b="0" i="0" smtClean="0">
                        <a:solidFill>
                          <a:srgbClr val="701988"/>
                        </a:solidFill>
                        <a:latin typeface="Cambria Math" panose="02040503050406030204" pitchFamily="18" charset="0"/>
                      </a:rPr>
                      <m:t> </m:t>
                    </m:r>
                    <m:sSub>
                      <m:sSubPr>
                        <m:ctrlPr>
                          <a:rPr lang="fr-FR" altLang="zh-CN" sz="2800" i="1">
                            <a:solidFill>
                              <a:srgbClr val="701988"/>
                            </a:solidFill>
                            <a:latin typeface="Cambria Math" panose="02040503050406030204" pitchFamily="18" charset="0"/>
                          </a:rPr>
                        </m:ctrlPr>
                      </m:sSubPr>
                      <m:e>
                        <m:r>
                          <a:rPr lang="en-US" altLang="zh-CN" sz="2800" i="1">
                            <a:solidFill>
                              <a:srgbClr val="701988"/>
                            </a:solidFill>
                            <a:latin typeface="Cambria Math" panose="02040503050406030204" pitchFamily="18" charset="0"/>
                          </a:rPr>
                          <m:t>𝑅</m:t>
                        </m:r>
                      </m:e>
                      <m:sub>
                        <m:r>
                          <a:rPr lang="en-US" altLang="zh-CN" sz="2800" i="1">
                            <a:solidFill>
                              <a:srgbClr val="701988"/>
                            </a:solidFill>
                            <a:latin typeface="Cambria Math" panose="02040503050406030204" pitchFamily="18" charset="0"/>
                          </a:rPr>
                          <m:t>1</m:t>
                        </m:r>
                      </m:sub>
                    </m:sSub>
                    <m:r>
                      <a:rPr lang="en-US" altLang="zh-CN" sz="2800" b="0" i="1" smtClean="0">
                        <a:solidFill>
                          <a:srgbClr val="701988"/>
                        </a:solidFill>
                        <a:latin typeface="Cambria Math" panose="02040503050406030204" pitchFamily="18" charset="0"/>
                      </a:rPr>
                      <m:t>.</m:t>
                    </m:r>
                    <m:r>
                      <a:rPr lang="en-US" altLang="zh-CN" sz="2800" b="0" i="1" smtClean="0">
                        <a:solidFill>
                          <a:srgbClr val="701988"/>
                        </a:solidFill>
                        <a:latin typeface="Cambria Math" panose="02040503050406030204" pitchFamily="18" charset="0"/>
                      </a:rPr>
                      <m:t>𝑖𝑑</m:t>
                    </m:r>
                    <m:r>
                      <a:rPr lang="en-US" altLang="zh-CN" sz="2800" i="1">
                        <a:solidFill>
                          <a:srgbClr val="701988"/>
                        </a:solidFill>
                        <a:latin typeface="Cambria Math" panose="02040503050406030204" pitchFamily="18" charset="0"/>
                      </a:rPr>
                      <m:t> </m:t>
                    </m:r>
                  </m:oMath>
                </a14:m>
                <a:r>
                  <a:rPr lang="fr-FR" altLang="zh-CN" sz="2800" dirty="0">
                    <a:solidFill>
                      <a:srgbClr val="701988"/>
                    </a:solidFill>
                    <a:effectLst/>
                    <a:latin typeface="Helvetica" pitchFamily="2" charset="0"/>
                  </a:rPr>
                  <a:t>= </a:t>
                </a:r>
                <a14:m>
                  <m:oMath xmlns:m="http://schemas.openxmlformats.org/officeDocument/2006/math">
                    <m:sSub>
                      <m:sSubPr>
                        <m:ctrlPr>
                          <a:rPr lang="fr-FR" altLang="zh-CN" sz="2800" i="1">
                            <a:solidFill>
                              <a:srgbClr val="701988"/>
                            </a:solidFill>
                            <a:latin typeface="Cambria Math" panose="02040503050406030204" pitchFamily="18" charset="0"/>
                          </a:rPr>
                        </m:ctrlPr>
                      </m:sSubPr>
                      <m:e>
                        <m:r>
                          <a:rPr lang="en-US" altLang="zh-CN" sz="2800" i="1">
                            <a:solidFill>
                              <a:srgbClr val="701988"/>
                            </a:solidFill>
                            <a:latin typeface="Cambria Math" panose="02040503050406030204" pitchFamily="18" charset="0"/>
                          </a:rPr>
                          <m:t>𝑅</m:t>
                        </m:r>
                      </m:e>
                      <m:sub>
                        <m:r>
                          <a:rPr lang="en-US" altLang="zh-CN" sz="2800" b="0" i="1" smtClean="0">
                            <a:solidFill>
                              <a:srgbClr val="701988"/>
                            </a:solidFill>
                            <a:latin typeface="Cambria Math" panose="02040503050406030204" pitchFamily="18" charset="0"/>
                          </a:rPr>
                          <m:t>3</m:t>
                        </m:r>
                      </m:sub>
                    </m:sSub>
                    <m:r>
                      <a:rPr lang="en-US" altLang="zh-CN" sz="2800" b="0" i="1" smtClean="0">
                        <a:solidFill>
                          <a:srgbClr val="701988"/>
                        </a:solidFill>
                        <a:latin typeface="Cambria Math" panose="02040503050406030204" pitchFamily="18" charset="0"/>
                      </a:rPr>
                      <m:t>.</m:t>
                    </m:r>
                    <m:r>
                      <a:rPr lang="en-US" altLang="zh-CN" sz="2800" b="0" i="1" smtClean="0">
                        <a:solidFill>
                          <a:srgbClr val="701988"/>
                        </a:solidFill>
                        <a:latin typeface="Cambria Math" panose="02040503050406030204" pitchFamily="18" charset="0"/>
                      </a:rPr>
                      <m:t>𝑖𝑑</m:t>
                    </m:r>
                  </m:oMath>
                </a14:m>
                <a:r>
                  <a:rPr lang="fr-FR" altLang="zh-CN" sz="2800" dirty="0">
                    <a:solidFill>
                      <a:srgbClr val="701988"/>
                    </a:solidFill>
                    <a:effectLst/>
                    <a:latin typeface="Helvetica" pitchFamily="2" charset="0"/>
                  </a:rPr>
                  <a:t>;</a:t>
                </a:r>
              </a:p>
            </p:txBody>
          </p:sp>
        </mc:Choice>
        <mc:Fallback xmlns="">
          <p:sp>
            <p:nvSpPr>
              <p:cNvPr id="6" name="文本框 5">
                <a:extLst>
                  <a:ext uri="{FF2B5EF4-FFF2-40B4-BE49-F238E27FC236}">
                    <a16:creationId xmlns:a16="http://schemas.microsoft.com/office/drawing/2014/main" id="{40ED573C-B9FD-C1F1-429D-1BE2AEC23F42}"/>
                  </a:ext>
                </a:extLst>
              </p:cNvPr>
              <p:cNvSpPr txBox="1">
                <a:spLocks noRot="1" noChangeAspect="1" noMove="1" noResize="1" noEditPoints="1" noAdjustHandles="1" noChangeArrowheads="1" noChangeShapeType="1" noTextEdit="1"/>
              </p:cNvSpPr>
              <p:nvPr/>
            </p:nvSpPr>
            <p:spPr>
              <a:xfrm>
                <a:off x="2588660" y="1489365"/>
                <a:ext cx="7421077" cy="954107"/>
              </a:xfrm>
              <a:prstGeom prst="rect">
                <a:avLst/>
              </a:prstGeom>
              <a:blipFill>
                <a:blip r:embed="rId3"/>
                <a:stretch>
                  <a:fillRect l="-1726" t="-7006" b="-1656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0F5CB4A9-81A2-D632-51FB-6A5859D6D673}"/>
              </a:ext>
            </a:extLst>
          </p:cNvPr>
          <p:cNvPicPr>
            <a:picLocks noChangeAspect="1"/>
          </p:cNvPicPr>
          <p:nvPr/>
        </p:nvPicPr>
        <p:blipFill>
          <a:blip r:embed="rId4"/>
          <a:stretch>
            <a:fillRect/>
          </a:stretch>
        </p:blipFill>
        <p:spPr>
          <a:xfrm>
            <a:off x="5726679" y="3323977"/>
            <a:ext cx="3213100" cy="482600"/>
          </a:xfrm>
          <a:prstGeom prst="rect">
            <a:avLst/>
          </a:prstGeom>
        </p:spPr>
      </p:pic>
      <p:pic>
        <p:nvPicPr>
          <p:cNvPr id="10" name="图片 9">
            <a:extLst>
              <a:ext uri="{FF2B5EF4-FFF2-40B4-BE49-F238E27FC236}">
                <a16:creationId xmlns:a16="http://schemas.microsoft.com/office/drawing/2014/main" id="{EEB70405-48BD-5512-C184-4C904B4002B8}"/>
              </a:ext>
            </a:extLst>
          </p:cNvPr>
          <p:cNvPicPr>
            <a:picLocks noChangeAspect="1"/>
          </p:cNvPicPr>
          <p:nvPr/>
        </p:nvPicPr>
        <p:blipFill>
          <a:blip r:embed="rId5"/>
          <a:stretch>
            <a:fillRect/>
          </a:stretch>
        </p:blipFill>
        <p:spPr>
          <a:xfrm>
            <a:off x="5739379" y="4731670"/>
            <a:ext cx="3200400" cy="990600"/>
          </a:xfrm>
          <a:prstGeom prst="rect">
            <a:avLst/>
          </a:prstGeom>
        </p:spPr>
      </p:pic>
      <p:sp>
        <p:nvSpPr>
          <p:cNvPr id="8" name="矩形 7"/>
          <p:cNvSpPr/>
          <p:nvPr/>
        </p:nvSpPr>
        <p:spPr>
          <a:xfrm>
            <a:off x="2518988" y="4848250"/>
            <a:ext cx="2658420" cy="461665"/>
          </a:xfrm>
          <a:prstGeom prst="rect">
            <a:avLst/>
          </a:prstGeom>
        </p:spPr>
        <p:txBody>
          <a:bodyPr wrap="none">
            <a:spAutoFit/>
          </a:bodyPr>
          <a:lstStyle/>
          <a:p>
            <a:pPr marL="316531" indent="-316531" fontAlgn="base">
              <a:spcBef>
                <a:spcPct val="20000"/>
              </a:spcBef>
              <a:spcAft>
                <a:spcPct val="0"/>
              </a:spcAft>
              <a:buFont typeface="Wingdings" panose="05000000000000000000" pitchFamily="2" charset="2"/>
              <a:buChar char="Ø"/>
            </a:pPr>
            <a:r>
              <a:rPr kumimoji="1" lang="zh-CN" altLang="en-US" sz="2400" b="1" kern="0" dirty="0">
                <a:latin typeface="+mj-ea"/>
                <a:ea typeface="+mj-ea"/>
                <a:cs typeface="Arial"/>
              </a:rPr>
              <a:t>物理表达式示例</a:t>
            </a:r>
          </a:p>
        </p:txBody>
      </p:sp>
    </p:spTree>
    <p:extLst>
      <p:ext uri="{BB962C8B-B14F-4D97-AF65-F5344CB8AC3E}">
        <p14:creationId xmlns:p14="http://schemas.microsoft.com/office/powerpoint/2010/main" val="77481387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0FF52922-3D42-4412-80D4-E8608AC407DF}"/>
              </a:ext>
            </a:extLst>
          </p:cNvPr>
          <p:cNvSpPr/>
          <p:nvPr/>
        </p:nvSpPr>
        <p:spPr>
          <a:xfrm>
            <a:off x="2863638" y="2865120"/>
            <a:ext cx="6480664" cy="339313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149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kumimoji="1" lang="zh-CN" altLang="en-US" dirty="0"/>
              <a:t>组</a:t>
            </a:r>
          </a:p>
        </p:txBody>
      </p:sp>
      <p:sp>
        <p:nvSpPr>
          <p:cNvPr id="5" name="页脚占位符 4">
            <a:extLst>
              <a:ext uri="{FF2B5EF4-FFF2-40B4-BE49-F238E27FC236}">
                <a16:creationId xmlns:a16="http://schemas.microsoft.com/office/drawing/2014/main" id="{F8A740D4-7278-A46C-E092-FCA760AC3BDC}"/>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567850" y="1061479"/>
            <a:ext cx="11456894" cy="18036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lvl="1">
              <a:lnSpc>
                <a:spcPct val="150000"/>
              </a:lnSpc>
              <a:buFont typeface="Wingdings" panose="05000000000000000000" pitchFamily="2" charset="2"/>
              <a:buChar char="Ø"/>
            </a:pPr>
            <a:r>
              <a:rPr lang="zh-CN" altLang="en-US" sz="2200" b="1" dirty="0">
                <a:latin typeface="+mj-ea"/>
                <a:ea typeface="+mj-ea"/>
              </a:rPr>
              <a:t>将一组逻辑上等价的逻辑表达式以及它们对应的所有物理表达式定义为一个</a:t>
            </a:r>
            <a:r>
              <a:rPr lang="zh-CN" altLang="en-US" sz="2200" b="1" dirty="0">
                <a:solidFill>
                  <a:srgbClr val="701988"/>
                </a:solidFill>
                <a:latin typeface="+mj-ea"/>
                <a:ea typeface="+mj-ea"/>
              </a:rPr>
              <a:t>组</a:t>
            </a:r>
            <a:endParaRPr lang="en-US" altLang="zh-CN" sz="2200" b="1" dirty="0">
              <a:solidFill>
                <a:srgbClr val="701988"/>
              </a:solidFill>
              <a:latin typeface="+mj-ea"/>
              <a:ea typeface="+mj-ea"/>
            </a:endParaRPr>
          </a:p>
          <a:p>
            <a:pPr lvl="2">
              <a:lnSpc>
                <a:spcPct val="150000"/>
              </a:lnSpc>
              <a:buFont typeface="Arial" panose="020B0604020202020204" pitchFamily="34" charset="0"/>
              <a:buChar char="•"/>
            </a:pPr>
            <a:r>
              <a:rPr lang="zh-CN" altLang="fr-FR" sz="1800" dirty="0">
                <a:latin typeface="+mj-ea"/>
                <a:ea typeface="+mj-ea"/>
              </a:rPr>
              <a:t>一个</a:t>
            </a:r>
            <a:r>
              <a:rPr lang="zh-CN" altLang="en-US" sz="1800" dirty="0">
                <a:latin typeface="+mj-ea"/>
                <a:ea typeface="+mj-ea"/>
              </a:rPr>
              <a:t>表达式的所有逻辑等价表达式</a:t>
            </a:r>
            <a:endParaRPr lang="fr-FR" altLang="zh-CN" sz="1800" dirty="0">
              <a:effectLst/>
              <a:latin typeface="+mj-ea"/>
              <a:ea typeface="+mj-ea"/>
            </a:endParaRPr>
          </a:p>
          <a:p>
            <a:pPr lvl="2">
              <a:lnSpc>
                <a:spcPct val="150000"/>
              </a:lnSpc>
              <a:buFont typeface="Arial" panose="020B0604020202020204" pitchFamily="34" charset="0"/>
              <a:buChar char="•"/>
            </a:pPr>
            <a:r>
              <a:rPr lang="zh-CN" altLang="en-US" sz="1800" dirty="0">
                <a:latin typeface="+mj-ea"/>
                <a:ea typeface="+mj-ea"/>
              </a:rPr>
              <a:t>为组内逻辑表达式选择可选的物理算子能够得到的物理表达式</a:t>
            </a:r>
            <a:endParaRPr lang="en-US" altLang="zh-CN" sz="1800" kern="0" dirty="0">
              <a:latin typeface="+mj-ea"/>
              <a:ea typeface="+mj-ea"/>
            </a:endParaRPr>
          </a:p>
        </p:txBody>
      </p:sp>
      <p:pic>
        <p:nvPicPr>
          <p:cNvPr id="6" name="图片 5">
            <a:extLst>
              <a:ext uri="{FF2B5EF4-FFF2-40B4-BE49-F238E27FC236}">
                <a16:creationId xmlns:a16="http://schemas.microsoft.com/office/drawing/2014/main" id="{50005F9F-1E59-E616-CDFE-FBA8714B38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73112" y="3067586"/>
            <a:ext cx="5034131" cy="2988206"/>
          </a:xfrm>
          <a:prstGeom prst="rect">
            <a:avLst/>
          </a:prstGeom>
        </p:spPr>
      </p:pic>
    </p:spTree>
    <p:extLst>
      <p:ext uri="{BB962C8B-B14F-4D97-AF65-F5344CB8AC3E}">
        <p14:creationId xmlns:p14="http://schemas.microsoft.com/office/powerpoint/2010/main" val="58230704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2863638" y="3248301"/>
            <a:ext cx="6480664" cy="307963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150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lang="zh-CN" altLang="en-US" dirty="0"/>
              <a:t>多重表达式</a:t>
            </a:r>
            <a:endParaRPr kumimoji="1" lang="zh-CN" altLang="en-US" dirty="0"/>
          </a:p>
        </p:txBody>
      </p:sp>
      <p:sp>
        <p:nvSpPr>
          <p:cNvPr id="5" name="页脚占位符 4">
            <a:extLst>
              <a:ext uri="{FF2B5EF4-FFF2-40B4-BE49-F238E27FC236}">
                <a16:creationId xmlns:a16="http://schemas.microsoft.com/office/drawing/2014/main" id="{5D908BDE-5A05-E8BF-730C-43A1BA5B5745}"/>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964022" y="1090874"/>
            <a:ext cx="10210459" cy="2176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200" dirty="0">
                <a:latin typeface="+mj-ea"/>
                <a:ea typeface="+mj-ea"/>
              </a:rPr>
              <a:t>优化器不将一个组中所有可能的表达式实例化，而是隐式地将一个组中重复的表达式表示为一个</a:t>
            </a:r>
            <a:r>
              <a:rPr lang="zh-CN" altLang="en-US" sz="2200" dirty="0">
                <a:solidFill>
                  <a:srgbClr val="701988"/>
                </a:solidFill>
                <a:latin typeface="+mj-ea"/>
                <a:ea typeface="+mj-ea"/>
              </a:rPr>
              <a:t>多重表达式</a:t>
            </a:r>
            <a:endParaRPr lang="fr-FR" altLang="zh-CN" sz="2200" dirty="0">
              <a:solidFill>
                <a:srgbClr val="701988"/>
              </a:solidFill>
              <a:latin typeface="+mj-ea"/>
              <a:ea typeface="+mj-ea"/>
            </a:endParaRPr>
          </a:p>
          <a:p>
            <a:pPr lvl="1">
              <a:buFont typeface="Arial" panose="020B0604020202020204" pitchFamily="34" charset="0"/>
              <a:buChar char="•"/>
            </a:pPr>
            <a:r>
              <a:rPr lang="zh-CN" altLang="en-US" sz="2000" dirty="0">
                <a:latin typeface="+mj-ea"/>
                <a:ea typeface="+mj-ea"/>
              </a:rPr>
              <a:t>由此</a:t>
            </a:r>
            <a:r>
              <a:rPr lang="zh-CN" altLang="fr-FR" sz="2000" dirty="0">
                <a:effectLst/>
                <a:latin typeface="+mj-ea"/>
                <a:ea typeface="+mj-ea"/>
              </a:rPr>
              <a:t>减少了</a:t>
            </a:r>
            <a:r>
              <a:rPr lang="zh-CN" altLang="en-US" sz="2000" dirty="0">
                <a:effectLst/>
                <a:latin typeface="+mj-ea"/>
                <a:ea typeface="+mj-ea"/>
              </a:rPr>
              <a:t>变换个数，从而节省了空间开销，避免了重复的代价估计</a:t>
            </a:r>
            <a:endParaRPr lang="en-US" altLang="zh-CN" sz="2000" dirty="0">
              <a:effectLst/>
              <a:latin typeface="+mj-ea"/>
              <a:ea typeface="+mj-ea"/>
            </a:endParaRPr>
          </a:p>
          <a:p>
            <a:pPr lvl="1">
              <a:buFont typeface="Arial" panose="020B0604020202020204" pitchFamily="34" charset="0"/>
              <a:buChar char="•"/>
            </a:pPr>
            <a:r>
              <a:rPr lang="zh-CN" altLang="fr-FR" sz="2000" dirty="0">
                <a:effectLst/>
                <a:latin typeface="+mj-ea"/>
                <a:ea typeface="+mj-ea"/>
              </a:rPr>
              <a:t>可以</a:t>
            </a:r>
            <a:r>
              <a:rPr lang="zh-CN" altLang="en-US" sz="2000" dirty="0">
                <a:effectLst/>
                <a:latin typeface="+mj-ea"/>
                <a:ea typeface="+mj-ea"/>
              </a:rPr>
              <a:t>决定</a:t>
            </a:r>
            <a:r>
              <a:rPr lang="zh-CN" altLang="en-US" sz="2000" dirty="0">
                <a:latin typeface="+mj-ea"/>
                <a:ea typeface="+mj-ea"/>
              </a:rPr>
              <a:t>对多重表达式的搜索顺序</a:t>
            </a:r>
            <a:endParaRPr lang="fr-FR" altLang="zh-CN" sz="2000" dirty="0">
              <a:effectLst/>
              <a:latin typeface="+mj-ea"/>
              <a:ea typeface="+mj-ea"/>
            </a:endParaRPr>
          </a:p>
          <a:p>
            <a:pPr lvl="1">
              <a:buFont typeface="Wingdings" pitchFamily="2" charset="2"/>
              <a:buChar char="p"/>
            </a:pPr>
            <a:endParaRPr lang="en-US" altLang="zh-CN" sz="2400" kern="0" dirty="0">
              <a:latin typeface="+mj-ea"/>
              <a:ea typeface="+mj-ea"/>
            </a:endParaRPr>
          </a:p>
        </p:txBody>
      </p:sp>
      <p:pic>
        <p:nvPicPr>
          <p:cNvPr id="6" name="图片 5">
            <a:extLst>
              <a:ext uri="{FF2B5EF4-FFF2-40B4-BE49-F238E27FC236}">
                <a16:creationId xmlns:a16="http://schemas.microsoft.com/office/drawing/2014/main" id="{BB33921B-9F89-6DF8-B75C-724465AA9CE9}"/>
              </a:ext>
            </a:extLst>
          </p:cNvPr>
          <p:cNvPicPr>
            <a:picLocks noChangeAspect="1"/>
          </p:cNvPicPr>
          <p:nvPr/>
        </p:nvPicPr>
        <p:blipFill>
          <a:blip r:embed="rId3"/>
          <a:srcRect/>
          <a:stretch/>
        </p:blipFill>
        <p:spPr>
          <a:xfrm>
            <a:off x="3672401" y="3365351"/>
            <a:ext cx="4793702" cy="2864481"/>
          </a:xfrm>
          <a:prstGeom prst="rect">
            <a:avLst/>
          </a:prstGeom>
        </p:spPr>
      </p:pic>
    </p:spTree>
    <p:extLst>
      <p:ext uri="{BB962C8B-B14F-4D97-AF65-F5344CB8AC3E}">
        <p14:creationId xmlns:p14="http://schemas.microsoft.com/office/powerpoint/2010/main" val="212798473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151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kumimoji="1" lang="zh-CN" altLang="en-US" dirty="0"/>
              <a:t>规则</a:t>
            </a:r>
          </a:p>
        </p:txBody>
      </p:sp>
      <p:sp>
        <p:nvSpPr>
          <p:cNvPr id="5" name="页脚占位符 4">
            <a:extLst>
              <a:ext uri="{FF2B5EF4-FFF2-40B4-BE49-F238E27FC236}">
                <a16:creationId xmlns:a16="http://schemas.microsoft.com/office/drawing/2014/main" id="{23BDCB73-2814-7BB7-035D-9DE0980C885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903249" y="1351657"/>
            <a:ext cx="11028556"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gn="l">
              <a:lnSpc>
                <a:spcPct val="150000"/>
              </a:lnSpc>
              <a:buFont typeface="Wingdings" panose="05000000000000000000" pitchFamily="2" charset="2"/>
              <a:buChar char="Ø"/>
            </a:pPr>
            <a:r>
              <a:rPr lang="zh-CN" altLang="en-US" sz="2400" dirty="0">
                <a:solidFill>
                  <a:srgbClr val="000000"/>
                </a:solidFill>
                <a:latin typeface="+mj-ea"/>
                <a:ea typeface="+mj-ea"/>
              </a:rPr>
              <a:t>规则是将一个表达式转换为逻辑等价的表达式</a:t>
            </a:r>
          </a:p>
          <a:p>
            <a:pPr lvl="1">
              <a:lnSpc>
                <a:spcPct val="150000"/>
              </a:lnSpc>
              <a:buFont typeface="Arial" panose="020B0604020202020204" pitchFamily="34" charset="0"/>
              <a:buChar char="•"/>
            </a:pPr>
            <a:r>
              <a:rPr lang="zh-CN" altLang="en-US" sz="2000" i="0" dirty="0">
                <a:solidFill>
                  <a:srgbClr val="000000"/>
                </a:solidFill>
                <a:effectLst/>
                <a:latin typeface="+mj-ea"/>
                <a:ea typeface="+mj-ea"/>
              </a:rPr>
              <a:t>转换规则：</a:t>
            </a:r>
            <a:r>
              <a:rPr lang="zh-CN" altLang="en-US" sz="2000" i="0" dirty="0">
                <a:solidFill>
                  <a:srgbClr val="701988"/>
                </a:solidFill>
                <a:effectLst/>
                <a:latin typeface="+mj-ea"/>
                <a:ea typeface="+mj-ea"/>
              </a:rPr>
              <a:t>逻辑到逻辑</a:t>
            </a:r>
          </a:p>
          <a:p>
            <a:pPr lvl="1">
              <a:lnSpc>
                <a:spcPct val="150000"/>
              </a:lnSpc>
              <a:buFont typeface="Arial" panose="020B0604020202020204" pitchFamily="34" charset="0"/>
              <a:buChar char="•"/>
            </a:pPr>
            <a:r>
              <a:rPr lang="zh-CN" altLang="en-US" sz="2000" i="0" dirty="0">
                <a:solidFill>
                  <a:srgbClr val="000000"/>
                </a:solidFill>
                <a:effectLst/>
                <a:latin typeface="+mj-ea"/>
                <a:ea typeface="+mj-ea"/>
              </a:rPr>
              <a:t>实现规则：</a:t>
            </a:r>
            <a:r>
              <a:rPr lang="zh-CN" altLang="en-US" sz="2000" i="0" dirty="0">
                <a:solidFill>
                  <a:srgbClr val="701988"/>
                </a:solidFill>
                <a:effectLst/>
                <a:latin typeface="+mj-ea"/>
                <a:ea typeface="+mj-ea"/>
              </a:rPr>
              <a:t>逻辑到物理</a:t>
            </a:r>
            <a:endParaRPr lang="zh-CN" altLang="en-US" sz="2400" i="0" dirty="0">
              <a:solidFill>
                <a:srgbClr val="000000"/>
              </a:solidFill>
              <a:effectLst/>
              <a:latin typeface="+mj-ea"/>
              <a:ea typeface="+mj-ea"/>
            </a:endParaRPr>
          </a:p>
          <a:p>
            <a:pPr algn="l">
              <a:lnSpc>
                <a:spcPct val="150000"/>
              </a:lnSpc>
              <a:buFont typeface="Wingdings" panose="05000000000000000000" pitchFamily="2" charset="2"/>
              <a:buChar char="Ø"/>
            </a:pPr>
            <a:r>
              <a:rPr lang="zh-CN" altLang="en-US" sz="2400" i="0" dirty="0">
                <a:solidFill>
                  <a:srgbClr val="000000"/>
                </a:solidFill>
                <a:effectLst/>
                <a:latin typeface="+mj-ea"/>
                <a:ea typeface="+mj-ea"/>
              </a:rPr>
              <a:t>每个规则都可以表示为一对属性：</a:t>
            </a:r>
          </a:p>
          <a:p>
            <a:pPr lvl="1">
              <a:lnSpc>
                <a:spcPct val="150000"/>
              </a:lnSpc>
              <a:buFont typeface="Arial" panose="020B0604020202020204" pitchFamily="34" charset="0"/>
              <a:buChar char="•"/>
            </a:pPr>
            <a:r>
              <a:rPr lang="zh-CN" altLang="en-US" sz="2000" i="0" dirty="0">
                <a:solidFill>
                  <a:srgbClr val="000000"/>
                </a:solidFill>
                <a:effectLst/>
                <a:latin typeface="+mj-ea"/>
                <a:ea typeface="+mj-ea"/>
              </a:rPr>
              <a:t>模式</a:t>
            </a:r>
            <a:r>
              <a:rPr lang="en-US" altLang="zh-CN" sz="2000" i="0" dirty="0">
                <a:solidFill>
                  <a:srgbClr val="000000"/>
                </a:solidFill>
                <a:effectLst/>
                <a:latin typeface="+mj-ea"/>
                <a:ea typeface="+mj-ea"/>
              </a:rPr>
              <a:t>Pattern</a:t>
            </a:r>
            <a:r>
              <a:rPr lang="zh-CN" altLang="en-US" sz="2000" i="0" dirty="0">
                <a:solidFill>
                  <a:srgbClr val="000000"/>
                </a:solidFill>
                <a:effectLst/>
                <a:latin typeface="+mj-ea"/>
                <a:ea typeface="+mj-ea"/>
              </a:rPr>
              <a:t>：定义可以应用规则的逻辑表达式的结构</a:t>
            </a:r>
          </a:p>
          <a:p>
            <a:pPr lvl="1">
              <a:lnSpc>
                <a:spcPct val="150000"/>
              </a:lnSpc>
              <a:buFont typeface="Arial" panose="020B0604020202020204" pitchFamily="34" charset="0"/>
              <a:buChar char="•"/>
            </a:pPr>
            <a:r>
              <a:rPr lang="zh-CN" altLang="en-US" sz="2000" i="0" dirty="0">
                <a:solidFill>
                  <a:srgbClr val="000000"/>
                </a:solidFill>
                <a:effectLst/>
                <a:latin typeface="+mj-ea"/>
                <a:ea typeface="+mj-ea"/>
              </a:rPr>
              <a:t>替换</a:t>
            </a:r>
            <a:r>
              <a:rPr lang="en" altLang="zh-CN" sz="2000" i="0" dirty="0">
                <a:solidFill>
                  <a:srgbClr val="000000"/>
                </a:solidFill>
                <a:effectLst/>
                <a:latin typeface="+mj-ea"/>
                <a:ea typeface="+mj-ea"/>
              </a:rPr>
              <a:t>Substitute</a:t>
            </a:r>
            <a:r>
              <a:rPr lang="zh-CN" altLang="en-US" sz="2000" i="0" dirty="0">
                <a:solidFill>
                  <a:srgbClr val="000000"/>
                </a:solidFill>
                <a:effectLst/>
                <a:latin typeface="+mj-ea"/>
                <a:ea typeface="+mj-ea"/>
              </a:rPr>
              <a:t>：定义应用规则产生的结果结构（转换后的）</a:t>
            </a:r>
            <a:endParaRPr lang="en-US" altLang="zh-CN" sz="2000" i="0" dirty="0">
              <a:solidFill>
                <a:srgbClr val="000000"/>
              </a:solidFill>
              <a:effectLst/>
              <a:latin typeface="+mj-ea"/>
              <a:ea typeface="+mj-ea"/>
            </a:endParaRPr>
          </a:p>
          <a:p>
            <a:pPr lvl="1">
              <a:lnSpc>
                <a:spcPct val="150000"/>
              </a:lnSpc>
              <a:buFont typeface="Arial" panose="020B0604020202020204" pitchFamily="34" charset="0"/>
              <a:buChar char="•"/>
            </a:pPr>
            <a:r>
              <a:rPr lang="en-US" altLang="zh-CN" sz="2000" i="0" dirty="0">
                <a:solidFill>
                  <a:srgbClr val="000000"/>
                </a:solidFill>
                <a:effectLst/>
                <a:latin typeface="+mj-ea"/>
                <a:ea typeface="+mj-ea"/>
              </a:rPr>
              <a:t>Binding:</a:t>
            </a:r>
            <a:r>
              <a:rPr lang="zh-CN" altLang="en-US" sz="2000" i="0" dirty="0">
                <a:solidFill>
                  <a:srgbClr val="000000"/>
                </a:solidFill>
                <a:effectLst/>
                <a:latin typeface="+mj-ea"/>
                <a:ea typeface="+mj-ea"/>
              </a:rPr>
              <a:t> </a:t>
            </a:r>
            <a:r>
              <a:rPr lang="en-US" altLang="zh-CN" sz="2000" dirty="0">
                <a:solidFill>
                  <a:srgbClr val="000000"/>
                </a:solidFill>
                <a:latin typeface="+mj-ea"/>
                <a:ea typeface="+mj-ea"/>
              </a:rPr>
              <a:t>(A</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B)</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C</a:t>
            </a:r>
            <a:r>
              <a:rPr lang="zh-CN" altLang="en-US" sz="2000" dirty="0">
                <a:solidFill>
                  <a:srgbClr val="000000"/>
                </a:solidFill>
                <a:latin typeface="+mj-ea"/>
                <a:ea typeface="+mj-ea"/>
              </a:rPr>
              <a:t> </a:t>
            </a:r>
            <a:r>
              <a:rPr lang="en-US" altLang="zh-CN" sz="2000" dirty="0">
                <a:solidFill>
                  <a:srgbClr val="000000"/>
                </a:solidFill>
                <a:latin typeface="+mj-ea"/>
                <a:ea typeface="+mj-ea"/>
              </a:rPr>
              <a:t>=</a:t>
            </a:r>
            <a:r>
              <a:rPr lang="zh-CN" altLang="en-US" sz="2000" dirty="0">
                <a:solidFill>
                  <a:srgbClr val="000000"/>
                </a:solidFill>
                <a:latin typeface="+mj-ea"/>
                <a:ea typeface="+mj-ea"/>
              </a:rPr>
              <a:t> </a:t>
            </a:r>
            <a:r>
              <a:rPr lang="en-US" altLang="zh-CN" sz="2000" dirty="0">
                <a:solidFill>
                  <a:srgbClr val="000000"/>
                </a:solidFill>
                <a:latin typeface="+mj-ea"/>
                <a:ea typeface="+mj-ea"/>
              </a:rPr>
              <a:t>A</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(B</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C)</a:t>
            </a:r>
            <a:r>
              <a:rPr lang="zh-CN" altLang="en-US" sz="2000" dirty="0">
                <a:solidFill>
                  <a:srgbClr val="000000"/>
                </a:solidFill>
                <a:latin typeface="+mj-ea"/>
                <a:ea typeface="+mj-ea"/>
              </a:rPr>
              <a:t> </a:t>
            </a:r>
            <a:r>
              <a:rPr lang="en-US" altLang="zh-CN" sz="2000" dirty="0">
                <a:solidFill>
                  <a:srgbClr val="000000"/>
                </a:solidFill>
                <a:latin typeface="+mj-ea"/>
                <a:ea typeface="+mj-ea"/>
                <a:sym typeface="Wingdings" pitchFamily="2" charset="2"/>
              </a:rPr>
              <a:t></a:t>
            </a:r>
            <a:r>
              <a:rPr lang="zh-CN" altLang="en-US" sz="2000" dirty="0">
                <a:solidFill>
                  <a:srgbClr val="000000"/>
                </a:solidFill>
                <a:latin typeface="+mj-ea"/>
                <a:ea typeface="+mj-ea"/>
                <a:sym typeface="Wingdings" pitchFamily="2" charset="2"/>
              </a:rPr>
              <a:t> </a:t>
            </a:r>
            <a:r>
              <a:rPr lang="en-US" altLang="zh-CN" sz="2000" dirty="0">
                <a:solidFill>
                  <a:srgbClr val="000000"/>
                </a:solidFill>
                <a:latin typeface="+mj-ea"/>
                <a:ea typeface="+mj-ea"/>
              </a:rPr>
              <a:t>(S</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SC)</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C</a:t>
            </a:r>
            <a:r>
              <a:rPr lang="zh-CN" altLang="en-US" sz="2000" dirty="0">
                <a:solidFill>
                  <a:srgbClr val="000000"/>
                </a:solidFill>
                <a:latin typeface="+mj-ea"/>
                <a:ea typeface="+mj-ea"/>
              </a:rPr>
              <a:t> </a:t>
            </a:r>
            <a:r>
              <a:rPr lang="en-US" altLang="zh-CN" sz="2000" dirty="0">
                <a:solidFill>
                  <a:srgbClr val="000000"/>
                </a:solidFill>
                <a:latin typeface="+mj-ea"/>
                <a:ea typeface="+mj-ea"/>
              </a:rPr>
              <a:t>=</a:t>
            </a:r>
            <a:r>
              <a:rPr lang="zh-CN" altLang="en-US" sz="2000" dirty="0">
                <a:solidFill>
                  <a:srgbClr val="000000"/>
                </a:solidFill>
                <a:latin typeface="+mj-ea"/>
                <a:ea typeface="+mj-ea"/>
              </a:rPr>
              <a:t> </a:t>
            </a:r>
            <a:r>
              <a:rPr lang="en-US" altLang="zh-CN" sz="2000" dirty="0">
                <a:solidFill>
                  <a:srgbClr val="000000"/>
                </a:solidFill>
                <a:latin typeface="+mj-ea"/>
                <a:ea typeface="+mj-ea"/>
              </a:rPr>
              <a:t>S</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(SC</a:t>
            </a:r>
            <a:r>
              <a:rPr lang="zh-CN" altLang="en-US" sz="2000" dirty="0">
                <a:solidFill>
                  <a:srgbClr val="000000"/>
                </a:solidFill>
                <a:latin typeface="+mj-ea"/>
                <a:ea typeface="+mj-ea"/>
              </a:rPr>
              <a:t> </a:t>
            </a:r>
            <a:r>
              <a:rPr lang="en-US" altLang="zh-CN" sz="2000" dirty="0">
                <a:solidFill>
                  <a:srgbClr val="000000"/>
                </a:solidFill>
                <a:latin typeface="+mj-ea"/>
                <a:ea typeface="+mj-ea"/>
              </a:rPr>
              <a:t>join</a:t>
            </a:r>
            <a:r>
              <a:rPr lang="zh-CN" altLang="en-US" sz="2000" dirty="0">
                <a:solidFill>
                  <a:srgbClr val="000000"/>
                </a:solidFill>
                <a:latin typeface="+mj-ea"/>
                <a:ea typeface="+mj-ea"/>
              </a:rPr>
              <a:t> </a:t>
            </a:r>
            <a:r>
              <a:rPr lang="en-US" altLang="zh-CN" sz="2000" dirty="0">
                <a:solidFill>
                  <a:srgbClr val="000000"/>
                </a:solidFill>
                <a:latin typeface="+mj-ea"/>
                <a:ea typeface="+mj-ea"/>
              </a:rPr>
              <a:t>C)</a:t>
            </a:r>
            <a:r>
              <a:rPr lang="zh-CN" altLang="en-US" sz="2000" dirty="0">
                <a:solidFill>
                  <a:srgbClr val="000000"/>
                </a:solidFill>
                <a:latin typeface="+mj-ea"/>
                <a:ea typeface="+mj-ea"/>
              </a:rPr>
              <a:t> </a:t>
            </a:r>
            <a:endParaRPr lang="zh-CN" altLang="en-US" sz="2000" i="0" dirty="0">
              <a:solidFill>
                <a:srgbClr val="000000"/>
              </a:solidFill>
              <a:effectLst/>
              <a:latin typeface="+mj-ea"/>
              <a:ea typeface="+mj-ea"/>
            </a:endParaRPr>
          </a:p>
          <a:p>
            <a:pPr>
              <a:lnSpc>
                <a:spcPct val="150000"/>
              </a:lnSpc>
              <a:buFont typeface="Wingdings" panose="05000000000000000000" pitchFamily="2" charset="2"/>
              <a:buChar char="Ø"/>
            </a:pPr>
            <a:r>
              <a:rPr lang="zh-CN" altLang="en-US" sz="2400" dirty="0">
                <a:solidFill>
                  <a:srgbClr val="000000"/>
                </a:solidFill>
                <a:latin typeface="+mj-ea"/>
                <a:ea typeface="+mj-ea"/>
              </a:rPr>
              <a:t>规则的好坏：</a:t>
            </a:r>
            <a:r>
              <a:rPr lang="en-US" altLang="zh-CN" sz="2400" dirty="0">
                <a:solidFill>
                  <a:srgbClr val="0000FF"/>
                </a:solidFill>
                <a:latin typeface="+mj-ea"/>
                <a:ea typeface="+mj-ea"/>
              </a:rPr>
              <a:t>Promise</a:t>
            </a:r>
          </a:p>
        </p:txBody>
      </p:sp>
    </p:spTree>
    <p:extLst>
      <p:ext uri="{BB962C8B-B14F-4D97-AF65-F5344CB8AC3E}">
        <p14:creationId xmlns:p14="http://schemas.microsoft.com/office/powerpoint/2010/main" val="292610614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a:extLst>
              <a:ext uri="{FF2B5EF4-FFF2-40B4-BE49-F238E27FC236}">
                <a16:creationId xmlns:a16="http://schemas.microsoft.com/office/drawing/2014/main" id="{0FF52922-3D42-4412-80D4-E8608AC407DF}"/>
              </a:ext>
            </a:extLst>
          </p:cNvPr>
          <p:cNvSpPr/>
          <p:nvPr/>
        </p:nvSpPr>
        <p:spPr>
          <a:xfrm>
            <a:off x="2607476" y="1832357"/>
            <a:ext cx="7011882" cy="39414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152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kumimoji="1" lang="zh-CN" altLang="en-US" dirty="0"/>
              <a:t>规则</a:t>
            </a:r>
          </a:p>
        </p:txBody>
      </p:sp>
      <p:sp>
        <p:nvSpPr>
          <p:cNvPr id="5" name="页脚占位符 4">
            <a:extLst>
              <a:ext uri="{FF2B5EF4-FFF2-40B4-BE49-F238E27FC236}">
                <a16:creationId xmlns:a16="http://schemas.microsoft.com/office/drawing/2014/main" id="{006CB6FC-06A6-91C2-BAD3-1E9E71E52A0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E997BAFC-4171-1EE4-B7E0-0344BB37A495}"/>
              </a:ext>
            </a:extLst>
          </p:cNvPr>
          <p:cNvPicPr>
            <a:picLocks noChangeAspect="1"/>
          </p:cNvPicPr>
          <p:nvPr/>
        </p:nvPicPr>
        <p:blipFill>
          <a:blip r:embed="rId3"/>
          <a:stretch>
            <a:fillRect/>
          </a:stretch>
        </p:blipFill>
        <p:spPr>
          <a:xfrm>
            <a:off x="3092363" y="1910098"/>
            <a:ext cx="6156132" cy="3654592"/>
          </a:xfrm>
          <a:prstGeom prst="rect">
            <a:avLst/>
          </a:prstGeom>
        </p:spPr>
      </p:pic>
    </p:spTree>
    <p:extLst>
      <p:ext uri="{BB962C8B-B14F-4D97-AF65-F5344CB8AC3E}">
        <p14:creationId xmlns:p14="http://schemas.microsoft.com/office/powerpoint/2010/main" val="356334394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0FF52922-3D42-4412-80D4-E8608AC407DF}"/>
              </a:ext>
            </a:extLst>
          </p:cNvPr>
          <p:cNvSpPr/>
          <p:nvPr/>
        </p:nvSpPr>
        <p:spPr>
          <a:xfrm>
            <a:off x="8127325" y="2188710"/>
            <a:ext cx="3341864" cy="329579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Shape18">
            <a:extLst>
              <a:ext uri="{FF2B5EF4-FFF2-40B4-BE49-F238E27FC236}">
                <a16:creationId xmlns:a16="http://schemas.microsoft.com/office/drawing/2014/main" id="{0FF52922-3D42-4412-80D4-E8608AC407DF}"/>
              </a:ext>
            </a:extLst>
          </p:cNvPr>
          <p:cNvSpPr/>
          <p:nvPr/>
        </p:nvSpPr>
        <p:spPr>
          <a:xfrm>
            <a:off x="850235" y="2211977"/>
            <a:ext cx="5245765" cy="329579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153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kumimoji="1" lang="zh-CN" altLang="en-US" dirty="0"/>
              <a:t>规则</a:t>
            </a:r>
          </a:p>
        </p:txBody>
      </p:sp>
      <p:sp>
        <p:nvSpPr>
          <p:cNvPr id="6" name="页脚占位符 5">
            <a:extLst>
              <a:ext uri="{FF2B5EF4-FFF2-40B4-BE49-F238E27FC236}">
                <a16:creationId xmlns:a16="http://schemas.microsoft.com/office/drawing/2014/main" id="{D62023FB-08DC-E852-1CD3-D45F50A9979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1982B398-611C-8E11-42F6-13CCA0D558BE}"/>
              </a:ext>
            </a:extLst>
          </p:cNvPr>
          <p:cNvPicPr>
            <a:picLocks noChangeAspect="1"/>
          </p:cNvPicPr>
          <p:nvPr/>
        </p:nvPicPr>
        <p:blipFill>
          <a:blip r:embed="rId3"/>
          <a:stretch>
            <a:fillRect/>
          </a:stretch>
        </p:blipFill>
        <p:spPr>
          <a:xfrm>
            <a:off x="971549" y="2362257"/>
            <a:ext cx="5045449" cy="2995235"/>
          </a:xfrm>
          <a:prstGeom prst="rect">
            <a:avLst/>
          </a:prstGeom>
        </p:spPr>
      </p:pic>
      <p:sp>
        <p:nvSpPr>
          <p:cNvPr id="7" name="右箭头 6">
            <a:extLst>
              <a:ext uri="{FF2B5EF4-FFF2-40B4-BE49-F238E27FC236}">
                <a16:creationId xmlns:a16="http://schemas.microsoft.com/office/drawing/2014/main" id="{3DF2F5F7-6790-6A37-1A29-BD88AAB10DB1}"/>
              </a:ext>
            </a:extLst>
          </p:cNvPr>
          <p:cNvSpPr/>
          <p:nvPr/>
        </p:nvSpPr>
        <p:spPr bwMode="auto">
          <a:xfrm>
            <a:off x="6783374" y="3955528"/>
            <a:ext cx="656577" cy="471293"/>
          </a:xfrm>
          <a:prstGeom prst="rightArrow">
            <a:avLst/>
          </a:prstGeom>
          <a:solidFill>
            <a:srgbClr val="701988"/>
          </a:solid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9" name="文本框 8">
            <a:extLst>
              <a:ext uri="{FF2B5EF4-FFF2-40B4-BE49-F238E27FC236}">
                <a16:creationId xmlns:a16="http://schemas.microsoft.com/office/drawing/2014/main" id="{6CC408B2-D593-BC5A-0EA0-96A04248B7AE}"/>
              </a:ext>
            </a:extLst>
          </p:cNvPr>
          <p:cNvSpPr txBox="1"/>
          <p:nvPr/>
        </p:nvSpPr>
        <p:spPr>
          <a:xfrm>
            <a:off x="6096000" y="2909669"/>
            <a:ext cx="2031325" cy="1200329"/>
          </a:xfrm>
          <a:prstGeom prst="rect">
            <a:avLst/>
          </a:prstGeom>
          <a:noFill/>
        </p:spPr>
        <p:txBody>
          <a:bodyPr wrap="none" rtlCol="0">
            <a:spAutoFit/>
          </a:bodyPr>
          <a:lstStyle/>
          <a:p>
            <a:pPr algn="ctr"/>
            <a:r>
              <a:rPr kumimoji="1" lang="zh-CN" altLang="en-US" sz="2400" b="1" u="sng" dirty="0">
                <a:solidFill>
                  <a:srgbClr val="701988"/>
                </a:solidFill>
                <a:latin typeface="+mj-ea"/>
                <a:ea typeface="+mj-ea"/>
              </a:rPr>
              <a:t>转换规则</a:t>
            </a:r>
            <a:endParaRPr kumimoji="1" lang="en-US" altLang="zh-CN" sz="2400" b="1" u="sng" dirty="0">
              <a:solidFill>
                <a:srgbClr val="701988"/>
              </a:solidFill>
              <a:latin typeface="+mj-ea"/>
              <a:ea typeface="+mj-ea"/>
            </a:endParaRPr>
          </a:p>
          <a:p>
            <a:pPr algn="ctr"/>
            <a:r>
              <a:rPr kumimoji="1" lang="zh-CN" altLang="en-US" sz="2400" dirty="0">
                <a:latin typeface="+mj-ea"/>
                <a:ea typeface="+mj-ea"/>
              </a:rPr>
              <a:t>交换连接顺序</a:t>
            </a:r>
            <a:endParaRPr kumimoji="1" lang="en-US" altLang="zh-CN" sz="2400" dirty="0">
              <a:latin typeface="+mj-ea"/>
              <a:ea typeface="+mj-ea"/>
            </a:endParaRPr>
          </a:p>
          <a:p>
            <a:pPr algn="ctr"/>
            <a:endParaRPr kumimoji="1" lang="zh-CN" altLang="en-US" sz="2400" dirty="0">
              <a:latin typeface="+mj-ea"/>
              <a:ea typeface="+mj-ea"/>
            </a:endParaRPr>
          </a:p>
        </p:txBody>
      </p:sp>
      <p:pic>
        <p:nvPicPr>
          <p:cNvPr id="8" name="图片 7">
            <a:extLst>
              <a:ext uri="{FF2B5EF4-FFF2-40B4-BE49-F238E27FC236}">
                <a16:creationId xmlns:a16="http://schemas.microsoft.com/office/drawing/2014/main" id="{A5512AAB-E54F-A8FD-4E4B-0EF14619A297}"/>
              </a:ext>
            </a:extLst>
          </p:cNvPr>
          <p:cNvPicPr>
            <a:picLocks noChangeAspect="1"/>
          </p:cNvPicPr>
          <p:nvPr/>
        </p:nvPicPr>
        <p:blipFill>
          <a:blip r:embed="rId4"/>
          <a:stretch>
            <a:fillRect/>
          </a:stretch>
        </p:blipFill>
        <p:spPr>
          <a:xfrm>
            <a:off x="8269259" y="2502306"/>
            <a:ext cx="3153410" cy="2715139"/>
          </a:xfrm>
          <a:prstGeom prst="rect">
            <a:avLst/>
          </a:prstGeom>
        </p:spPr>
      </p:pic>
    </p:spTree>
    <p:extLst>
      <p:ext uri="{BB962C8B-B14F-4D97-AF65-F5344CB8AC3E}">
        <p14:creationId xmlns:p14="http://schemas.microsoft.com/office/powerpoint/2010/main" val="175468092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18">
            <a:extLst>
              <a:ext uri="{FF2B5EF4-FFF2-40B4-BE49-F238E27FC236}">
                <a16:creationId xmlns:a16="http://schemas.microsoft.com/office/drawing/2014/main" id="{0FF52922-3D42-4412-80D4-E8608AC407DF}"/>
              </a:ext>
            </a:extLst>
          </p:cNvPr>
          <p:cNvSpPr/>
          <p:nvPr/>
        </p:nvSpPr>
        <p:spPr>
          <a:xfrm>
            <a:off x="8293005" y="3827275"/>
            <a:ext cx="3155090" cy="233189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5" name="Shape18">
            <a:extLst>
              <a:ext uri="{FF2B5EF4-FFF2-40B4-BE49-F238E27FC236}">
                <a16:creationId xmlns:a16="http://schemas.microsoft.com/office/drawing/2014/main" id="{0FF52922-3D42-4412-80D4-E8608AC407DF}"/>
              </a:ext>
            </a:extLst>
          </p:cNvPr>
          <p:cNvSpPr/>
          <p:nvPr/>
        </p:nvSpPr>
        <p:spPr>
          <a:xfrm>
            <a:off x="8279262" y="1120784"/>
            <a:ext cx="3155090" cy="240618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4" name="Shape18">
            <a:extLst>
              <a:ext uri="{FF2B5EF4-FFF2-40B4-BE49-F238E27FC236}">
                <a16:creationId xmlns:a16="http://schemas.microsoft.com/office/drawing/2014/main" id="{0FF52922-3D42-4412-80D4-E8608AC407DF}"/>
              </a:ext>
            </a:extLst>
          </p:cNvPr>
          <p:cNvSpPr/>
          <p:nvPr/>
        </p:nvSpPr>
        <p:spPr>
          <a:xfrm>
            <a:off x="710894" y="2211977"/>
            <a:ext cx="5245765" cy="3295798"/>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pic>
        <p:nvPicPr>
          <p:cNvPr id="11" name="图片 10">
            <a:extLst>
              <a:ext uri="{FF2B5EF4-FFF2-40B4-BE49-F238E27FC236}">
                <a16:creationId xmlns:a16="http://schemas.microsoft.com/office/drawing/2014/main" id="{3D025D07-AA64-3E2F-1AE6-9FA6C0BFA450}"/>
              </a:ext>
            </a:extLst>
          </p:cNvPr>
          <p:cNvPicPr>
            <a:picLocks noChangeAspect="1"/>
          </p:cNvPicPr>
          <p:nvPr/>
        </p:nvPicPr>
        <p:blipFill>
          <a:blip r:embed="rId3"/>
          <a:stretch>
            <a:fillRect/>
          </a:stretch>
        </p:blipFill>
        <p:spPr>
          <a:xfrm>
            <a:off x="8688186" y="3899739"/>
            <a:ext cx="2316149" cy="2259427"/>
          </a:xfrm>
          <a:prstGeom prst="rect">
            <a:avLst/>
          </a:prstGeom>
        </p:spPr>
      </p:pic>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154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kumimoji="1" lang="zh-CN" altLang="en-US" dirty="0"/>
              <a:t>规则</a:t>
            </a:r>
          </a:p>
        </p:txBody>
      </p:sp>
      <p:sp>
        <p:nvSpPr>
          <p:cNvPr id="6" name="页脚占位符 5">
            <a:extLst>
              <a:ext uri="{FF2B5EF4-FFF2-40B4-BE49-F238E27FC236}">
                <a16:creationId xmlns:a16="http://schemas.microsoft.com/office/drawing/2014/main" id="{189A2AEB-4C5F-AB4D-BAB3-6392303375E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pic>
        <p:nvPicPr>
          <p:cNvPr id="4" name="图片 3">
            <a:extLst>
              <a:ext uri="{FF2B5EF4-FFF2-40B4-BE49-F238E27FC236}">
                <a16:creationId xmlns:a16="http://schemas.microsoft.com/office/drawing/2014/main" id="{1982B398-611C-8E11-42F6-13CCA0D558BE}"/>
              </a:ext>
            </a:extLst>
          </p:cNvPr>
          <p:cNvPicPr>
            <a:picLocks noChangeAspect="1"/>
          </p:cNvPicPr>
          <p:nvPr/>
        </p:nvPicPr>
        <p:blipFill>
          <a:blip r:embed="rId4"/>
          <a:stretch>
            <a:fillRect/>
          </a:stretch>
        </p:blipFill>
        <p:spPr>
          <a:xfrm>
            <a:off x="815957" y="2377436"/>
            <a:ext cx="5020641" cy="2980507"/>
          </a:xfrm>
          <a:prstGeom prst="rect">
            <a:avLst/>
          </a:prstGeom>
        </p:spPr>
      </p:pic>
      <p:sp>
        <p:nvSpPr>
          <p:cNvPr id="7" name="右箭头 6">
            <a:extLst>
              <a:ext uri="{FF2B5EF4-FFF2-40B4-BE49-F238E27FC236}">
                <a16:creationId xmlns:a16="http://schemas.microsoft.com/office/drawing/2014/main" id="{3DF2F5F7-6790-6A37-1A29-BD88AAB10DB1}"/>
              </a:ext>
            </a:extLst>
          </p:cNvPr>
          <p:cNvSpPr/>
          <p:nvPr/>
        </p:nvSpPr>
        <p:spPr bwMode="auto">
          <a:xfrm rot="20315221">
            <a:off x="6720004" y="2556088"/>
            <a:ext cx="656577" cy="471293"/>
          </a:xfrm>
          <a:prstGeom prst="rightArrow">
            <a:avLst/>
          </a:prstGeom>
          <a:solidFill>
            <a:srgbClr val="701988"/>
          </a:solid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9" name="文本框 8">
            <a:extLst>
              <a:ext uri="{FF2B5EF4-FFF2-40B4-BE49-F238E27FC236}">
                <a16:creationId xmlns:a16="http://schemas.microsoft.com/office/drawing/2014/main" id="{6CC408B2-D593-BC5A-0EA0-96A04248B7AE}"/>
              </a:ext>
            </a:extLst>
          </p:cNvPr>
          <p:cNvSpPr txBox="1"/>
          <p:nvPr/>
        </p:nvSpPr>
        <p:spPr>
          <a:xfrm>
            <a:off x="5976480" y="1572329"/>
            <a:ext cx="2031325" cy="1200329"/>
          </a:xfrm>
          <a:prstGeom prst="rect">
            <a:avLst/>
          </a:prstGeom>
          <a:noFill/>
        </p:spPr>
        <p:txBody>
          <a:bodyPr wrap="none" rtlCol="0">
            <a:spAutoFit/>
          </a:bodyPr>
          <a:lstStyle/>
          <a:p>
            <a:pPr algn="ctr"/>
            <a:r>
              <a:rPr kumimoji="1" lang="zh-CN" altLang="en-US" sz="2400" b="1" u="sng" dirty="0">
                <a:solidFill>
                  <a:srgbClr val="701988"/>
                </a:solidFill>
                <a:latin typeface="+mj-ea"/>
                <a:ea typeface="+mj-ea"/>
              </a:rPr>
              <a:t>转换规则</a:t>
            </a:r>
            <a:endParaRPr kumimoji="1" lang="en-US" altLang="zh-CN" sz="2400" b="1" u="sng" dirty="0">
              <a:solidFill>
                <a:srgbClr val="701988"/>
              </a:solidFill>
              <a:latin typeface="+mj-ea"/>
              <a:ea typeface="+mj-ea"/>
            </a:endParaRPr>
          </a:p>
          <a:p>
            <a:pPr algn="ctr"/>
            <a:r>
              <a:rPr kumimoji="1" lang="zh-CN" altLang="en-US" sz="2400" dirty="0">
                <a:latin typeface="+mj-ea"/>
                <a:ea typeface="+mj-ea"/>
              </a:rPr>
              <a:t>交换连接顺序</a:t>
            </a:r>
            <a:endParaRPr kumimoji="1" lang="en-US" altLang="zh-CN" sz="2400" dirty="0">
              <a:latin typeface="+mj-ea"/>
              <a:ea typeface="+mj-ea"/>
            </a:endParaRPr>
          </a:p>
          <a:p>
            <a:pPr algn="ctr"/>
            <a:endParaRPr kumimoji="1" lang="zh-CN" altLang="en-US" sz="2400" dirty="0">
              <a:latin typeface="+mj-ea"/>
              <a:ea typeface="+mj-ea"/>
            </a:endParaRPr>
          </a:p>
        </p:txBody>
      </p:sp>
      <p:sp>
        <p:nvSpPr>
          <p:cNvPr id="8" name="右箭头 7">
            <a:extLst>
              <a:ext uri="{FF2B5EF4-FFF2-40B4-BE49-F238E27FC236}">
                <a16:creationId xmlns:a16="http://schemas.microsoft.com/office/drawing/2014/main" id="{70B95F79-2BA7-024D-208B-6C2A656C3B5C}"/>
              </a:ext>
            </a:extLst>
          </p:cNvPr>
          <p:cNvSpPr/>
          <p:nvPr/>
        </p:nvSpPr>
        <p:spPr bwMode="auto">
          <a:xfrm rot="2200360">
            <a:off x="6707616" y="4317175"/>
            <a:ext cx="656577" cy="471293"/>
          </a:xfrm>
          <a:prstGeom prst="rightArrow">
            <a:avLst/>
          </a:prstGeom>
          <a:solidFill>
            <a:srgbClr val="701988"/>
          </a:solid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文本框 9">
            <a:extLst>
              <a:ext uri="{FF2B5EF4-FFF2-40B4-BE49-F238E27FC236}">
                <a16:creationId xmlns:a16="http://schemas.microsoft.com/office/drawing/2014/main" id="{8DF7FA0C-61FC-C4DD-7123-1D1256674E82}"/>
              </a:ext>
            </a:extLst>
          </p:cNvPr>
          <p:cNvSpPr txBox="1"/>
          <p:nvPr/>
        </p:nvSpPr>
        <p:spPr>
          <a:xfrm>
            <a:off x="5851490" y="5134199"/>
            <a:ext cx="2393604" cy="830997"/>
          </a:xfrm>
          <a:prstGeom prst="rect">
            <a:avLst/>
          </a:prstGeom>
          <a:noFill/>
        </p:spPr>
        <p:txBody>
          <a:bodyPr wrap="none" rtlCol="0">
            <a:spAutoFit/>
          </a:bodyPr>
          <a:lstStyle/>
          <a:p>
            <a:pPr algn="ctr"/>
            <a:r>
              <a:rPr kumimoji="1" lang="zh-CN" altLang="en-US" sz="2400" b="1" u="sng" dirty="0">
                <a:solidFill>
                  <a:srgbClr val="701988"/>
                </a:solidFill>
                <a:latin typeface="+mj-ea"/>
                <a:ea typeface="+mj-ea"/>
              </a:rPr>
              <a:t>实现规则</a:t>
            </a:r>
            <a:endParaRPr kumimoji="1" lang="en-US" altLang="zh-CN" sz="2400" b="1" u="sng" dirty="0">
              <a:solidFill>
                <a:srgbClr val="701988"/>
              </a:solidFill>
              <a:latin typeface="+mj-ea"/>
              <a:ea typeface="+mj-ea"/>
            </a:endParaRPr>
          </a:p>
          <a:p>
            <a:pPr algn="ctr"/>
            <a:r>
              <a:rPr kumimoji="1" lang="zh-CN" altLang="en-US" sz="2400" dirty="0">
                <a:latin typeface="+mj-ea"/>
                <a:ea typeface="+mj-ea"/>
              </a:rPr>
              <a:t>连接</a:t>
            </a:r>
            <a:r>
              <a:rPr kumimoji="1" lang="en-US" altLang="zh-CN" sz="2400" dirty="0">
                <a:latin typeface="+mj-ea"/>
                <a:ea typeface="+mj-ea"/>
              </a:rPr>
              <a:t>-&gt;</a:t>
            </a:r>
            <a:r>
              <a:rPr kumimoji="1" lang="zh-CN" altLang="en-US" sz="2400" dirty="0">
                <a:latin typeface="+mj-ea"/>
                <a:ea typeface="+mj-ea"/>
              </a:rPr>
              <a:t>哈希连接</a:t>
            </a:r>
          </a:p>
        </p:txBody>
      </p:sp>
      <p:pic>
        <p:nvPicPr>
          <p:cNvPr id="13" name="图片 12">
            <a:extLst>
              <a:ext uri="{FF2B5EF4-FFF2-40B4-BE49-F238E27FC236}">
                <a16:creationId xmlns:a16="http://schemas.microsoft.com/office/drawing/2014/main" id="{56CF4A65-76B9-9BDF-FFD1-69B8C871D4D0}"/>
              </a:ext>
            </a:extLst>
          </p:cNvPr>
          <p:cNvPicPr>
            <a:picLocks noChangeAspect="1"/>
          </p:cNvPicPr>
          <p:nvPr/>
        </p:nvPicPr>
        <p:blipFill>
          <a:blip r:embed="rId5"/>
          <a:stretch>
            <a:fillRect/>
          </a:stretch>
        </p:blipFill>
        <p:spPr>
          <a:xfrm>
            <a:off x="8722098" y="1263583"/>
            <a:ext cx="2412672" cy="2077351"/>
          </a:xfrm>
          <a:prstGeom prst="rect">
            <a:avLst/>
          </a:prstGeom>
        </p:spPr>
      </p:pic>
    </p:spTree>
    <p:extLst>
      <p:ext uri="{BB962C8B-B14F-4D97-AF65-F5344CB8AC3E}">
        <p14:creationId xmlns:p14="http://schemas.microsoft.com/office/powerpoint/2010/main" val="113684396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352F4F0-740B-85F6-B2A1-D81894209A78}"/>
              </a:ext>
            </a:extLst>
          </p:cNvPr>
          <p:cNvSpPr>
            <a:spLocks noGrp="1"/>
          </p:cNvSpPr>
          <p:nvPr>
            <p:ph type="sldNum" sz="quarter" idx="10"/>
          </p:nvPr>
        </p:nvSpPr>
        <p:spPr/>
        <p:txBody>
          <a:bodyPr/>
          <a:lstStyle/>
          <a:p>
            <a:fld id="{87BBDC00-B9E2-4EFD-9306-2934E87247C6}" type="slidenum">
              <a:rPr lang="zh-CN" altLang="en-US" smtClean="0"/>
              <a:pPr/>
              <a:t>155</a:t>
            </a:fld>
            <a:endParaRPr lang="zh-CN" altLang="en-US" dirty="0"/>
          </a:p>
        </p:txBody>
      </p:sp>
      <p:sp>
        <p:nvSpPr>
          <p:cNvPr id="3" name="标题 2">
            <a:extLst>
              <a:ext uri="{FF2B5EF4-FFF2-40B4-BE49-F238E27FC236}">
                <a16:creationId xmlns:a16="http://schemas.microsoft.com/office/drawing/2014/main" id="{04DC4F0E-D755-8296-530E-A261F09CAC0F}"/>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kumimoji="1" lang="zh-CN" altLang="en-US" dirty="0"/>
              <a:t>规则</a:t>
            </a:r>
          </a:p>
        </p:txBody>
      </p:sp>
      <p:sp>
        <p:nvSpPr>
          <p:cNvPr id="4" name="内容占位符 3">
            <a:extLst>
              <a:ext uri="{FF2B5EF4-FFF2-40B4-BE49-F238E27FC236}">
                <a16:creationId xmlns:a16="http://schemas.microsoft.com/office/drawing/2014/main" id="{4009DC81-99AB-D4A0-AF73-7F9F646C8A64}"/>
              </a:ext>
            </a:extLst>
          </p:cNvPr>
          <p:cNvSpPr>
            <a:spLocks noGrp="1"/>
          </p:cNvSpPr>
          <p:nvPr>
            <p:ph idx="1"/>
          </p:nvPr>
        </p:nvSpPr>
        <p:spPr/>
        <p:txBody>
          <a:bodyPr/>
          <a:lstStyle/>
          <a:p>
            <a:r>
              <a:rPr kumimoji="1" lang="zh-CN" altLang="en-US" dirty="0"/>
              <a:t>基于规则的方法</a:t>
            </a:r>
            <a:endParaRPr kumimoji="1" lang="en-US" altLang="zh-CN" dirty="0"/>
          </a:p>
          <a:p>
            <a:r>
              <a:rPr lang="zh-CN" altLang="en-US" dirty="0"/>
              <a:t>基于代价的方法</a:t>
            </a:r>
            <a:endParaRPr lang="en-US" altLang="zh-CN" dirty="0"/>
          </a:p>
          <a:p>
            <a:r>
              <a:rPr lang="zh-CN" altLang="en-US" dirty="0"/>
              <a:t>基于</a:t>
            </a:r>
            <a:r>
              <a:rPr lang="en-US" altLang="zh-CN" dirty="0"/>
              <a:t>AI</a:t>
            </a:r>
            <a:r>
              <a:rPr lang="zh-CN" altLang="en-US" dirty="0"/>
              <a:t>的方法</a:t>
            </a:r>
            <a:endParaRPr kumimoji="1" lang="zh-CN" altLang="en-US" dirty="0"/>
          </a:p>
        </p:txBody>
      </p:sp>
      <p:sp>
        <p:nvSpPr>
          <p:cNvPr id="5" name="页脚占位符 4">
            <a:extLst>
              <a:ext uri="{FF2B5EF4-FFF2-40B4-BE49-F238E27FC236}">
                <a16:creationId xmlns:a16="http://schemas.microsoft.com/office/drawing/2014/main" id="{FF40CAE8-E3DD-389D-AF2F-A8877C3B4526}"/>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pic>
        <p:nvPicPr>
          <p:cNvPr id="6" name="图片 5">
            <a:extLst>
              <a:ext uri="{FF2B5EF4-FFF2-40B4-BE49-F238E27FC236}">
                <a16:creationId xmlns:a16="http://schemas.microsoft.com/office/drawing/2014/main" id="{7493A46C-3BE8-D59C-0C4A-EEDF523359E1}"/>
              </a:ext>
            </a:extLst>
          </p:cNvPr>
          <p:cNvPicPr>
            <a:picLocks noChangeAspect="1"/>
          </p:cNvPicPr>
          <p:nvPr/>
        </p:nvPicPr>
        <p:blipFill>
          <a:blip r:embed="rId2"/>
          <a:stretch>
            <a:fillRect/>
          </a:stretch>
        </p:blipFill>
        <p:spPr>
          <a:xfrm>
            <a:off x="196061" y="2905415"/>
            <a:ext cx="5733893" cy="2670195"/>
          </a:xfrm>
          <a:prstGeom prst="rect">
            <a:avLst/>
          </a:prstGeom>
        </p:spPr>
      </p:pic>
      <p:pic>
        <p:nvPicPr>
          <p:cNvPr id="7" name="图片 6">
            <a:extLst>
              <a:ext uri="{FF2B5EF4-FFF2-40B4-BE49-F238E27FC236}">
                <a16:creationId xmlns:a16="http://schemas.microsoft.com/office/drawing/2014/main" id="{758D3053-23E1-DA99-141F-046695A4C9AC}"/>
              </a:ext>
            </a:extLst>
          </p:cNvPr>
          <p:cNvPicPr>
            <a:picLocks noChangeAspect="1"/>
          </p:cNvPicPr>
          <p:nvPr/>
        </p:nvPicPr>
        <p:blipFill>
          <a:blip r:embed="rId3"/>
          <a:stretch>
            <a:fillRect/>
          </a:stretch>
        </p:blipFill>
        <p:spPr>
          <a:xfrm>
            <a:off x="6191093" y="2096428"/>
            <a:ext cx="5901237" cy="3725243"/>
          </a:xfrm>
          <a:prstGeom prst="rect">
            <a:avLst/>
          </a:prstGeom>
        </p:spPr>
      </p:pic>
      <p:sp>
        <p:nvSpPr>
          <p:cNvPr id="8" name="Shape18">
            <a:extLst>
              <a:ext uri="{FF2B5EF4-FFF2-40B4-BE49-F238E27FC236}">
                <a16:creationId xmlns:a16="http://schemas.microsoft.com/office/drawing/2014/main" id="{B636A043-153F-2292-E8FE-4B46BBC7DE9B}"/>
              </a:ext>
            </a:extLst>
          </p:cNvPr>
          <p:cNvSpPr/>
          <p:nvPr/>
        </p:nvSpPr>
        <p:spPr>
          <a:xfrm>
            <a:off x="99670" y="2537238"/>
            <a:ext cx="5901237" cy="3284434"/>
          </a:xfrm>
          <a:prstGeom prst="roundRect">
            <a:avLst>
              <a:gd name="adj" fmla="val 9827"/>
            </a:avLst>
          </a:prstGeom>
          <a:no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9" name="Shape18">
            <a:extLst>
              <a:ext uri="{FF2B5EF4-FFF2-40B4-BE49-F238E27FC236}">
                <a16:creationId xmlns:a16="http://schemas.microsoft.com/office/drawing/2014/main" id="{0BC99EAC-ACFF-6335-0212-374723BE6ED7}"/>
              </a:ext>
            </a:extLst>
          </p:cNvPr>
          <p:cNvSpPr/>
          <p:nvPr/>
        </p:nvSpPr>
        <p:spPr>
          <a:xfrm>
            <a:off x="6191093" y="2096428"/>
            <a:ext cx="5901237" cy="3725243"/>
          </a:xfrm>
          <a:prstGeom prst="roundRect">
            <a:avLst>
              <a:gd name="adj" fmla="val 9827"/>
            </a:avLst>
          </a:prstGeom>
          <a:no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Tree>
    <p:extLst>
      <p:ext uri="{BB962C8B-B14F-4D97-AF65-F5344CB8AC3E}">
        <p14:creationId xmlns:p14="http://schemas.microsoft.com/office/powerpoint/2010/main" val="418490462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6339964" y="1828795"/>
            <a:ext cx="5281164" cy="371856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156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 </a:t>
            </a:r>
            <a:r>
              <a:rPr kumimoji="1" lang="en-US" altLang="zh-CN" dirty="0"/>
              <a:t>Memo</a:t>
            </a:r>
            <a:r>
              <a:rPr kumimoji="1" lang="zh-CN" altLang="en-US" dirty="0"/>
              <a:t>表</a:t>
            </a:r>
          </a:p>
        </p:txBody>
      </p:sp>
      <p:sp>
        <p:nvSpPr>
          <p:cNvPr id="5" name="页脚占位符 4">
            <a:extLst>
              <a:ext uri="{FF2B5EF4-FFF2-40B4-BE49-F238E27FC236}">
                <a16:creationId xmlns:a16="http://schemas.microsoft.com/office/drawing/2014/main" id="{DCE3E069-9A98-A864-FE7A-2E8DCDA0B25D}"/>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0" y="1735872"/>
                <a:ext cx="6257836" cy="5641739"/>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lvl="1">
                  <a:lnSpc>
                    <a:spcPct val="150000"/>
                  </a:lnSpc>
                  <a:buFont typeface="Wingdings" panose="05000000000000000000" pitchFamily="2" charset="2"/>
                  <a:buChar char="Ø"/>
                </a:pPr>
                <a:r>
                  <a:rPr lang="zh-CN" altLang="en-US" sz="2400" kern="0" dirty="0">
                    <a:latin typeface="+mj-ea"/>
                    <a:ea typeface="+mj-ea"/>
                  </a:rPr>
                  <a:t>在一个哈希表中存储所有以前搜索过的候选方案</a:t>
                </a:r>
                <a:endParaRPr lang="en-US" altLang="zh-CN" sz="2400" kern="0" dirty="0">
                  <a:latin typeface="+mj-ea"/>
                  <a:ea typeface="+mj-ea"/>
                </a:endParaRPr>
              </a:p>
              <a:p>
                <a:pPr lvl="1">
                  <a:lnSpc>
                    <a:spcPct val="150000"/>
                  </a:lnSpc>
                  <a:buFont typeface="Wingdings" panose="05000000000000000000" pitchFamily="2" charset="2"/>
                  <a:buChar char="Ø"/>
                </a:pPr>
                <a:r>
                  <a:rPr lang="zh-CN" altLang="en-US" sz="2400" kern="0" dirty="0">
                    <a:latin typeface="+mj-ea"/>
                    <a:ea typeface="+mj-ea"/>
                  </a:rPr>
                  <a:t>等价的计划成</a:t>
                </a:r>
                <a:r>
                  <a:rPr lang="zh-CN" altLang="en-US" sz="2400" kern="0" dirty="0">
                    <a:solidFill>
                      <a:srgbClr val="701988"/>
                    </a:solidFill>
                    <a:latin typeface="+mj-ea"/>
                    <a:ea typeface="+mj-ea"/>
                  </a:rPr>
                  <a:t>组</a:t>
                </a:r>
                <a:r>
                  <a:rPr lang="zh-CN" altLang="en-US" sz="2400" kern="0" dirty="0">
                    <a:latin typeface="+mj-ea"/>
                    <a:ea typeface="+mj-ea"/>
                  </a:rPr>
                  <a:t>地存储在一起</a:t>
                </a:r>
                <a:endParaRPr lang="en-US" altLang="zh-CN" sz="2400" kern="0" dirty="0">
                  <a:latin typeface="+mj-ea"/>
                  <a:ea typeface="+mj-ea"/>
                </a:endParaRPr>
              </a:p>
              <a:p>
                <a:pPr lvl="1">
                  <a:lnSpc>
                    <a:spcPct val="150000"/>
                  </a:lnSpc>
                  <a:buFont typeface="Wingdings" panose="05000000000000000000" pitchFamily="2" charset="2"/>
                  <a:buChar char="Ø"/>
                </a:pPr>
                <a:r>
                  <a:rPr lang="zh-CN" altLang="en-US" sz="2400" kern="0" dirty="0">
                    <a:latin typeface="+mj-ea"/>
                    <a:ea typeface="+mj-ea"/>
                  </a:rPr>
                  <a:t>使用记忆化，避免重复计算</a:t>
                </a:r>
                <a:endParaRPr lang="en-US" altLang="zh-CN" sz="2400" kern="0" dirty="0">
                  <a:latin typeface="+mj-ea"/>
                  <a:ea typeface="+mj-ea"/>
                </a:endParaRPr>
              </a:p>
              <a:p>
                <a:pPr lvl="1">
                  <a:lnSpc>
                    <a:spcPct val="150000"/>
                  </a:lnSpc>
                  <a:buFont typeface="Wingdings" panose="05000000000000000000" pitchFamily="2" charset="2"/>
                  <a:buChar char="Ø"/>
                </a:pPr>
                <a:r>
                  <a:rPr lang="zh-CN" altLang="en-US" sz="2400" kern="0" dirty="0">
                    <a:latin typeface="+mj-ea"/>
                    <a:ea typeface="+mj-ea"/>
                  </a:rPr>
                  <a:t>搜索中动态维护</a:t>
                </a:r>
                <a:r>
                  <a:rPr lang="en-US" altLang="zh-CN" sz="2400" kern="0" dirty="0">
                    <a:latin typeface="+mj-ea"/>
                    <a:ea typeface="+mj-ea"/>
                  </a:rPr>
                  <a:t>Memo</a:t>
                </a:r>
                <a:r>
                  <a:rPr lang="zh-CN" altLang="en-US" sz="2400" kern="0" dirty="0">
                    <a:latin typeface="+mj-ea"/>
                    <a:ea typeface="+mj-ea"/>
                  </a:rPr>
                  <a:t>表</a:t>
                </a:r>
                <a:endParaRPr lang="en-US" altLang="zh-CN" sz="2400" kern="0" dirty="0">
                  <a:latin typeface="+mj-ea"/>
                  <a:ea typeface="+mj-ea"/>
                </a:endParaRPr>
              </a:p>
              <a:p>
                <a:pPr lvl="1">
                  <a:lnSpc>
                    <a:spcPct val="150000"/>
                  </a:lnSpc>
                  <a:buFont typeface="Wingdings" panose="05000000000000000000" pitchFamily="2" charset="2"/>
                  <a:buChar char="Ø"/>
                </a:pPr>
                <a:r>
                  <a:rPr lang="zh-CN" altLang="en-US" sz="2400" kern="0" dirty="0">
                    <a:latin typeface="+mj-ea"/>
                    <a:ea typeface="+mj-ea"/>
                  </a:rPr>
                  <a:t>最终</a:t>
                </a:r>
                <a14:m>
                  <m:oMath xmlns:m="http://schemas.openxmlformats.org/officeDocument/2006/math">
                    <m:r>
                      <a:rPr lang="en-US" altLang="zh-CN" sz="2400" b="0" smtClean="0">
                        <a:solidFill>
                          <a:schemeClr val="tx1"/>
                        </a:solidFill>
                        <a:latin typeface="Cambria Math" panose="02040503050406030204" pitchFamily="18" charset="0"/>
                        <a:ea typeface="+mj-ea"/>
                      </a:rPr>
                      <m:t>[</m:t>
                    </m:r>
                    <m:sSub>
                      <m:sSubPr>
                        <m:ctrlPr>
                          <a:rPr lang="fr-FR" altLang="zh-CN" sz="2400" i="1" smtClean="0">
                            <a:solidFill>
                              <a:schemeClr val="tx1"/>
                            </a:solidFill>
                            <a:effectLst/>
                            <a:latin typeface="Cambria Math" panose="02040503050406030204" pitchFamily="18" charset="0"/>
                            <a:ea typeface="+mj-ea"/>
                          </a:rPr>
                        </m:ctrlPr>
                      </m:sSubPr>
                      <m:e>
                        <m:r>
                          <a:rPr lang="en-US" altLang="zh-CN" sz="2400" b="0" i="1" smtClean="0">
                            <a:solidFill>
                              <a:schemeClr val="tx1"/>
                            </a:solidFill>
                            <a:effectLst/>
                            <a:latin typeface="Cambria Math" panose="02040503050406030204" pitchFamily="18" charset="0"/>
                            <a:ea typeface="+mj-ea"/>
                          </a:rPr>
                          <m:t>𝑅</m:t>
                        </m:r>
                      </m:e>
                      <m:sub>
                        <m:r>
                          <a:rPr lang="en-US" altLang="zh-CN" sz="2400" b="0" i="1" smtClean="0">
                            <a:solidFill>
                              <a:schemeClr val="tx1"/>
                            </a:solidFill>
                            <a:effectLst/>
                            <a:latin typeface="Cambria Math" panose="02040503050406030204" pitchFamily="18" charset="0"/>
                            <a:ea typeface="+mj-ea"/>
                          </a:rPr>
                          <m:t>1</m:t>
                        </m:r>
                      </m:sub>
                    </m:sSub>
                    <m:r>
                      <a:rPr lang="en-US" altLang="zh-CN" sz="2400" b="0" i="1" smtClean="0">
                        <a:solidFill>
                          <a:schemeClr val="tx1"/>
                        </a:solidFill>
                        <a:effectLst/>
                        <a:latin typeface="Cambria Math" panose="02040503050406030204" pitchFamily="18" charset="0"/>
                        <a:ea typeface="+mj-ea"/>
                      </a:rPr>
                      <m:t>,</m:t>
                    </m:r>
                    <m:sSub>
                      <m:sSubPr>
                        <m:ctrlPr>
                          <a:rPr lang="fr-FR" altLang="zh-CN" sz="2400" i="1">
                            <a:solidFill>
                              <a:schemeClr val="tx1"/>
                            </a:solidFill>
                            <a:latin typeface="Cambria Math" panose="02040503050406030204" pitchFamily="18" charset="0"/>
                            <a:ea typeface="+mj-ea"/>
                          </a:rPr>
                        </m:ctrlPr>
                      </m:sSubPr>
                      <m:e>
                        <m:r>
                          <a:rPr lang="en-US" altLang="zh-CN" sz="2400" b="0" i="1" smtClean="0">
                            <a:solidFill>
                              <a:schemeClr val="tx1"/>
                            </a:solidFill>
                            <a:latin typeface="Cambria Math" panose="02040503050406030204" pitchFamily="18" charset="0"/>
                            <a:ea typeface="+mj-ea"/>
                          </a:rPr>
                          <m:t>𝑅</m:t>
                        </m:r>
                      </m:e>
                      <m:sub>
                        <m:r>
                          <a:rPr lang="en-US" altLang="zh-CN" sz="2400" b="0" i="1" smtClean="0">
                            <a:solidFill>
                              <a:schemeClr val="tx1"/>
                            </a:solidFill>
                            <a:latin typeface="Cambria Math" panose="02040503050406030204" pitchFamily="18" charset="0"/>
                            <a:ea typeface="+mj-ea"/>
                          </a:rPr>
                          <m:t>2</m:t>
                        </m:r>
                      </m:sub>
                    </m:sSub>
                    <m:r>
                      <a:rPr lang="en-US" altLang="zh-CN" sz="2400" b="0" i="1" smtClean="0">
                        <a:solidFill>
                          <a:schemeClr val="tx1"/>
                        </a:solidFill>
                        <a:latin typeface="Cambria Math" panose="02040503050406030204" pitchFamily="18" charset="0"/>
                        <a:ea typeface="+mj-ea"/>
                      </a:rPr>
                      <m:t>,</m:t>
                    </m:r>
                    <m:sSub>
                      <m:sSubPr>
                        <m:ctrlPr>
                          <a:rPr lang="fr-FR" altLang="zh-CN" sz="2400" i="1">
                            <a:solidFill>
                              <a:schemeClr val="tx1"/>
                            </a:solidFill>
                            <a:latin typeface="Cambria Math" panose="02040503050406030204" pitchFamily="18" charset="0"/>
                            <a:ea typeface="+mj-ea"/>
                          </a:rPr>
                        </m:ctrlPr>
                      </m:sSubPr>
                      <m:e>
                        <m:r>
                          <a:rPr lang="en-US" altLang="zh-CN" sz="2400" b="0" i="1" smtClean="0">
                            <a:solidFill>
                              <a:schemeClr val="tx1"/>
                            </a:solidFill>
                            <a:latin typeface="Cambria Math" panose="02040503050406030204" pitchFamily="18" charset="0"/>
                            <a:ea typeface="+mj-ea"/>
                          </a:rPr>
                          <m:t>𝑅</m:t>
                        </m:r>
                      </m:e>
                      <m:sub>
                        <m:r>
                          <a:rPr lang="en-US" altLang="zh-CN" sz="2400" b="0" i="1" smtClean="0">
                            <a:solidFill>
                              <a:schemeClr val="tx1"/>
                            </a:solidFill>
                            <a:latin typeface="Cambria Math" panose="02040503050406030204" pitchFamily="18" charset="0"/>
                            <a:ea typeface="+mj-ea"/>
                          </a:rPr>
                          <m:t>3</m:t>
                        </m:r>
                      </m:sub>
                    </m:sSub>
                    <m:r>
                      <a:rPr lang="en-US" altLang="zh-CN" sz="2400" b="0" i="1" smtClean="0">
                        <a:solidFill>
                          <a:schemeClr val="tx1"/>
                        </a:solidFill>
                        <a:latin typeface="Cambria Math" panose="02040503050406030204" pitchFamily="18" charset="0"/>
                        <a:ea typeface="+mj-ea"/>
                      </a:rPr>
                      <m:t>]</m:t>
                    </m:r>
                  </m:oMath>
                </a14:m>
                <a:r>
                  <a:rPr lang="zh-CN" altLang="en-US" sz="2400" kern="0" dirty="0">
                    <a:latin typeface="+mj-ea"/>
                    <a:ea typeface="+mj-ea"/>
                  </a:rPr>
                  <a:t>的最优表达式即为所求</a:t>
                </a:r>
                <a:endParaRPr lang="en-US" altLang="zh-CN" sz="2400" kern="0" dirty="0">
                  <a:latin typeface="+mj-ea"/>
                  <a:ea typeface="+mj-ea"/>
                </a:endParaRPr>
              </a:p>
              <a:p>
                <a:pPr lvl="1">
                  <a:buFont typeface="Wingdings" pitchFamily="2" charset="2"/>
                  <a:buChar char="p"/>
                </a:pPr>
                <a:endParaRPr lang="en-US" altLang="zh-CN" sz="2400" kern="0" dirty="0">
                  <a:latin typeface="+mj-ea"/>
                  <a:ea typeface="+mj-ea"/>
                </a:endParaRPr>
              </a:p>
            </p:txBody>
          </p:sp>
        </mc:Choice>
        <mc:Fallback xmlns="">
          <p:sp>
            <p:nvSpPr>
              <p:cNvPr id="4" name="内容占位符 2">
                <a:extLst>
                  <a:ext uri="{FF2B5EF4-FFF2-40B4-BE49-F238E27FC236}">
                    <a16:creationId xmlns:a16="http://schemas.microsoft.com/office/drawing/2014/main" id="{4A7CBA05-4516-D55D-6E5A-30DA411BEBE2}"/>
                  </a:ext>
                </a:extLst>
              </p:cNvPr>
              <p:cNvSpPr txBox="1">
                <a:spLocks noRot="1" noChangeAspect="1" noMove="1" noResize="1" noEditPoints="1" noAdjustHandles="1" noChangeArrowheads="1" noChangeShapeType="1" noTextEdit="1"/>
              </p:cNvSpPr>
              <p:nvPr/>
            </p:nvSpPr>
            <p:spPr bwMode="auto">
              <a:xfrm>
                <a:off x="0" y="1735872"/>
                <a:ext cx="6257836" cy="5641739"/>
              </a:xfrm>
              <a:prstGeom prst="rect">
                <a:avLst/>
              </a:prstGeom>
              <a:blipFill>
                <a:blip r:embed="rId3"/>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024B0AC8-50BA-A6BB-A3C9-9143D6C11F60}"/>
              </a:ext>
            </a:extLst>
          </p:cNvPr>
          <p:cNvPicPr>
            <a:picLocks noChangeAspect="1"/>
          </p:cNvPicPr>
          <p:nvPr/>
        </p:nvPicPr>
        <p:blipFill>
          <a:blip r:embed="rId4"/>
          <a:srcRect/>
          <a:stretch/>
        </p:blipFill>
        <p:spPr>
          <a:xfrm>
            <a:off x="6579804" y="2072037"/>
            <a:ext cx="4801484" cy="3243527"/>
          </a:xfrm>
          <a:prstGeom prst="rect">
            <a:avLst/>
          </a:prstGeom>
        </p:spPr>
      </p:pic>
    </p:spTree>
    <p:extLst>
      <p:ext uri="{BB962C8B-B14F-4D97-AF65-F5344CB8AC3E}">
        <p14:creationId xmlns:p14="http://schemas.microsoft.com/office/powerpoint/2010/main" val="296843423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66F296D-B8E0-8A98-922D-E6BFA005DD8F}"/>
              </a:ext>
            </a:extLst>
          </p:cNvPr>
          <p:cNvSpPr>
            <a:spLocks noGrp="1"/>
          </p:cNvSpPr>
          <p:nvPr>
            <p:ph type="sldNum" sz="quarter" idx="10"/>
          </p:nvPr>
        </p:nvSpPr>
        <p:spPr/>
        <p:txBody>
          <a:bodyPr/>
          <a:lstStyle/>
          <a:p>
            <a:fld id="{87BBDC00-B9E2-4EFD-9306-2934E87247C6}" type="slidenum">
              <a:rPr lang="zh-CN" altLang="en-US" smtClean="0"/>
              <a:pPr/>
              <a:t>157</a:t>
            </a:fld>
            <a:endParaRPr lang="zh-CN" altLang="en-US" dirty="0"/>
          </a:p>
        </p:txBody>
      </p:sp>
      <p:sp>
        <p:nvSpPr>
          <p:cNvPr id="3" name="标题 2">
            <a:extLst>
              <a:ext uri="{FF2B5EF4-FFF2-40B4-BE49-F238E27FC236}">
                <a16:creationId xmlns:a16="http://schemas.microsoft.com/office/drawing/2014/main" id="{DB8FBC85-B78E-2869-FCF3-C6AD8A0CC6B2}"/>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kumimoji="1" lang="en-US" altLang="zh-CN" dirty="0"/>
              <a:t>Memo</a:t>
            </a:r>
            <a:endParaRPr kumimoji="1" lang="zh-CN" altLang="en-US" dirty="0"/>
          </a:p>
        </p:txBody>
      </p:sp>
      <p:sp>
        <p:nvSpPr>
          <p:cNvPr id="4" name="内容占位符 3">
            <a:extLst>
              <a:ext uri="{FF2B5EF4-FFF2-40B4-BE49-F238E27FC236}">
                <a16:creationId xmlns:a16="http://schemas.microsoft.com/office/drawing/2014/main" id="{CCF32834-DFE4-A22E-1ABB-340F9045281B}"/>
              </a:ext>
            </a:extLst>
          </p:cNvPr>
          <p:cNvSpPr>
            <a:spLocks noGrp="1"/>
          </p:cNvSpPr>
          <p:nvPr>
            <p:ph idx="1"/>
          </p:nvPr>
        </p:nvSpPr>
        <p:spPr>
          <a:xfrm>
            <a:off x="352697" y="1321481"/>
            <a:ext cx="5200194" cy="5005387"/>
          </a:xfrm>
        </p:spPr>
        <p:txBody>
          <a:bodyPr/>
          <a:lstStyle/>
          <a:p>
            <a:r>
              <a:rPr kumimoji="1" lang="en-US" altLang="zh-CN" dirty="0"/>
              <a:t>Memo:</a:t>
            </a:r>
          </a:p>
          <a:p>
            <a:pPr lvl="1"/>
            <a:r>
              <a:rPr kumimoji="1" lang="en-US" altLang="zh-CN" dirty="0"/>
              <a:t>Vector&lt;Group&gt;</a:t>
            </a:r>
          </a:p>
          <a:p>
            <a:r>
              <a:rPr kumimoji="1" lang="en-US" altLang="zh-CN" dirty="0"/>
              <a:t>Group:</a:t>
            </a:r>
          </a:p>
          <a:p>
            <a:pPr lvl="1"/>
            <a:r>
              <a:rPr kumimoji="1" lang="en-US" altLang="zh-CN" dirty="0"/>
              <a:t>Map&lt;Property, </a:t>
            </a:r>
            <a:r>
              <a:rPr kumimoji="1" lang="en-US" altLang="zh-CN" dirty="0" err="1"/>
              <a:t>GroupExpression</a:t>
            </a:r>
            <a:r>
              <a:rPr kumimoji="1" lang="en-US" altLang="zh-CN" dirty="0"/>
              <a:t>&gt;</a:t>
            </a:r>
          </a:p>
          <a:p>
            <a:pPr lvl="1"/>
            <a:r>
              <a:rPr lang="en-US" altLang="zh-CN" dirty="0"/>
              <a:t>Property</a:t>
            </a:r>
            <a:r>
              <a:rPr lang="zh-CN" altLang="en-US" dirty="0"/>
              <a:t>：属性如</a:t>
            </a:r>
            <a:r>
              <a:rPr lang="en-US" altLang="zh-CN" dirty="0"/>
              <a:t>Join</a:t>
            </a:r>
            <a:r>
              <a:rPr lang="zh-CN" altLang="en-US" dirty="0"/>
              <a:t>、</a:t>
            </a:r>
            <a:r>
              <a:rPr lang="en-US" altLang="zh-CN" dirty="0"/>
              <a:t>Selection</a:t>
            </a:r>
          </a:p>
          <a:p>
            <a:pPr lvl="1"/>
            <a:r>
              <a:rPr kumimoji="1" lang="en-US" altLang="zh-CN" dirty="0" err="1"/>
              <a:t>GroupExpression</a:t>
            </a:r>
            <a:r>
              <a:rPr kumimoji="1" lang="zh-CN" altLang="en-US" dirty="0"/>
              <a:t>：</a:t>
            </a:r>
            <a:r>
              <a:rPr lang="zh-CN" altLang="en-US" dirty="0"/>
              <a:t>子</a:t>
            </a:r>
            <a:r>
              <a:rPr lang="en-US" altLang="zh-CN" dirty="0"/>
              <a:t>Group</a:t>
            </a:r>
            <a:endParaRPr kumimoji="1" lang="en-US" altLang="zh-CN" dirty="0"/>
          </a:p>
          <a:p>
            <a:r>
              <a:rPr kumimoji="1" lang="en-US" altLang="zh-CN" dirty="0" err="1"/>
              <a:t>GroupExpression</a:t>
            </a:r>
            <a:endParaRPr kumimoji="1" lang="en-US" altLang="zh-CN" dirty="0"/>
          </a:p>
          <a:p>
            <a:pPr lvl="1"/>
            <a:r>
              <a:rPr kumimoji="1" lang="en-US" altLang="zh-CN" dirty="0"/>
              <a:t>Vector&lt;</a:t>
            </a:r>
            <a:r>
              <a:rPr kumimoji="1" lang="en-US" altLang="zh-CN" dirty="0" err="1"/>
              <a:t>GroupID</a:t>
            </a:r>
            <a:r>
              <a:rPr kumimoji="1" lang="en-US" altLang="zh-CN" dirty="0"/>
              <a:t>&gt; children</a:t>
            </a:r>
          </a:p>
          <a:p>
            <a:pPr lvl="1"/>
            <a:r>
              <a:rPr kumimoji="1" lang="zh-CN" altLang="en-US" dirty="0"/>
              <a:t>记录子表达式</a:t>
            </a:r>
            <a:endParaRPr kumimoji="1" lang="en-US" altLang="zh-CN" dirty="0"/>
          </a:p>
          <a:p>
            <a:r>
              <a:rPr lang="zh-CN" altLang="en-US" dirty="0"/>
              <a:t>通过动态规划</a:t>
            </a:r>
            <a:r>
              <a:rPr lang="en-US" altLang="zh-CN" dirty="0"/>
              <a:t>DP</a:t>
            </a:r>
            <a:r>
              <a:rPr lang="zh-CN" altLang="en-US" dirty="0"/>
              <a:t>获得一个完整计划</a:t>
            </a:r>
            <a:endParaRPr kumimoji="1" lang="zh-CN" altLang="en-US" dirty="0"/>
          </a:p>
        </p:txBody>
      </p:sp>
      <p:sp>
        <p:nvSpPr>
          <p:cNvPr id="5" name="页脚占位符 4">
            <a:extLst>
              <a:ext uri="{FF2B5EF4-FFF2-40B4-BE49-F238E27FC236}">
                <a16:creationId xmlns:a16="http://schemas.microsoft.com/office/drawing/2014/main" id="{167B26BA-90CD-C7E2-16B2-765BE5F163D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sp>
        <p:nvSpPr>
          <p:cNvPr id="8" name="文本框 7">
            <a:extLst>
              <a:ext uri="{FF2B5EF4-FFF2-40B4-BE49-F238E27FC236}">
                <a16:creationId xmlns:a16="http://schemas.microsoft.com/office/drawing/2014/main" id="{AA47CE81-AFA5-1256-ADD8-08D2D91D306A}"/>
              </a:ext>
            </a:extLst>
          </p:cNvPr>
          <p:cNvSpPr txBox="1"/>
          <p:nvPr/>
        </p:nvSpPr>
        <p:spPr>
          <a:xfrm>
            <a:off x="8330625" y="1216136"/>
            <a:ext cx="1270575" cy="461665"/>
          </a:xfrm>
          <a:prstGeom prst="rect">
            <a:avLst/>
          </a:prstGeom>
          <a:noFill/>
        </p:spPr>
        <p:txBody>
          <a:bodyPr wrap="square">
            <a:spAutoFit/>
          </a:bodyPr>
          <a:lstStyle/>
          <a:p>
            <a:r>
              <a:rPr lang="en-US" altLang="zh-CN" sz="2400" kern="0" dirty="0">
                <a:latin typeface="+mj-ea"/>
                <a:ea typeface="+mj-ea"/>
              </a:rPr>
              <a:t>Memo</a:t>
            </a:r>
            <a:endParaRPr lang="zh-CN" altLang="en-US" sz="2400" dirty="0"/>
          </a:p>
        </p:txBody>
      </p:sp>
      <p:pic>
        <p:nvPicPr>
          <p:cNvPr id="9" name="图片 8">
            <a:extLst>
              <a:ext uri="{FF2B5EF4-FFF2-40B4-BE49-F238E27FC236}">
                <a16:creationId xmlns:a16="http://schemas.microsoft.com/office/drawing/2014/main" id="{4582FD33-E9D2-829C-0EF2-2247051F98F2}"/>
              </a:ext>
            </a:extLst>
          </p:cNvPr>
          <p:cNvPicPr>
            <a:picLocks noChangeAspect="1"/>
          </p:cNvPicPr>
          <p:nvPr/>
        </p:nvPicPr>
        <p:blipFill>
          <a:blip r:embed="rId3"/>
          <a:stretch>
            <a:fillRect/>
          </a:stretch>
        </p:blipFill>
        <p:spPr>
          <a:xfrm>
            <a:off x="5552891" y="1899370"/>
            <a:ext cx="6641779" cy="4141600"/>
          </a:xfrm>
          <a:prstGeom prst="rect">
            <a:avLst/>
          </a:prstGeom>
        </p:spPr>
      </p:pic>
    </p:spTree>
    <p:extLst>
      <p:ext uri="{BB962C8B-B14F-4D97-AF65-F5344CB8AC3E}">
        <p14:creationId xmlns:p14="http://schemas.microsoft.com/office/powerpoint/2010/main" val="18833372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2B0578E-1766-8620-E575-32203795EAFF}"/>
              </a:ext>
            </a:extLst>
          </p:cNvPr>
          <p:cNvSpPr>
            <a:spLocks noGrp="1"/>
          </p:cNvSpPr>
          <p:nvPr>
            <p:ph type="sldNum" sz="quarter" idx="10"/>
          </p:nvPr>
        </p:nvSpPr>
        <p:spPr/>
        <p:txBody>
          <a:bodyPr/>
          <a:lstStyle/>
          <a:p>
            <a:fld id="{87BBDC00-B9E2-4EFD-9306-2934E87247C6}" type="slidenum">
              <a:rPr lang="zh-CN" altLang="en-US" smtClean="0"/>
              <a:pPr/>
              <a:t>158</a:t>
            </a:fld>
            <a:endParaRPr lang="zh-CN" altLang="en-US" dirty="0"/>
          </a:p>
        </p:txBody>
      </p:sp>
      <p:sp>
        <p:nvSpPr>
          <p:cNvPr id="3" name="标题 2">
            <a:extLst>
              <a:ext uri="{FF2B5EF4-FFF2-40B4-BE49-F238E27FC236}">
                <a16:creationId xmlns:a16="http://schemas.microsoft.com/office/drawing/2014/main" id="{C5DE5C03-5008-84D8-E7CF-FEF172980055}"/>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kumimoji="1" lang="en-US" altLang="zh-CN" dirty="0"/>
              <a:t>Memo</a:t>
            </a:r>
            <a:endParaRPr kumimoji="1" lang="zh-CN" altLang="en-US" dirty="0"/>
          </a:p>
        </p:txBody>
      </p:sp>
      <p:sp>
        <p:nvSpPr>
          <p:cNvPr id="5" name="页脚占位符 4">
            <a:extLst>
              <a:ext uri="{FF2B5EF4-FFF2-40B4-BE49-F238E27FC236}">
                <a16:creationId xmlns:a16="http://schemas.microsoft.com/office/drawing/2014/main" id="{0FE31A57-4535-C31A-C2B3-37126A1501DE}"/>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pic>
        <p:nvPicPr>
          <p:cNvPr id="6" name="图片 5">
            <a:extLst>
              <a:ext uri="{FF2B5EF4-FFF2-40B4-BE49-F238E27FC236}">
                <a16:creationId xmlns:a16="http://schemas.microsoft.com/office/drawing/2014/main" id="{4086C38D-F370-F042-CF40-BED118B4D3FA}"/>
              </a:ext>
            </a:extLst>
          </p:cNvPr>
          <p:cNvPicPr>
            <a:picLocks noChangeAspect="1"/>
          </p:cNvPicPr>
          <p:nvPr/>
        </p:nvPicPr>
        <p:blipFill rotWithShape="1">
          <a:blip r:embed="rId2"/>
          <a:srcRect l="2907" r="50111"/>
          <a:stretch/>
        </p:blipFill>
        <p:spPr>
          <a:xfrm>
            <a:off x="228024" y="1847027"/>
            <a:ext cx="2425044" cy="3503687"/>
          </a:xfrm>
          <a:prstGeom prst="rect">
            <a:avLst/>
          </a:prstGeom>
        </p:spPr>
      </p:pic>
      <p:pic>
        <p:nvPicPr>
          <p:cNvPr id="7" name="图片 6">
            <a:extLst>
              <a:ext uri="{FF2B5EF4-FFF2-40B4-BE49-F238E27FC236}">
                <a16:creationId xmlns:a16="http://schemas.microsoft.com/office/drawing/2014/main" id="{1B1941E3-52EE-5137-5837-E1EE51A2919E}"/>
              </a:ext>
            </a:extLst>
          </p:cNvPr>
          <p:cNvPicPr>
            <a:picLocks noChangeAspect="1"/>
          </p:cNvPicPr>
          <p:nvPr/>
        </p:nvPicPr>
        <p:blipFill>
          <a:blip r:embed="rId3"/>
          <a:stretch>
            <a:fillRect/>
          </a:stretch>
        </p:blipFill>
        <p:spPr>
          <a:xfrm>
            <a:off x="5915278" y="1617960"/>
            <a:ext cx="6203893" cy="3885097"/>
          </a:xfrm>
          <a:prstGeom prst="rect">
            <a:avLst/>
          </a:prstGeom>
        </p:spPr>
      </p:pic>
      <p:pic>
        <p:nvPicPr>
          <p:cNvPr id="8" name="图片 7">
            <a:extLst>
              <a:ext uri="{FF2B5EF4-FFF2-40B4-BE49-F238E27FC236}">
                <a16:creationId xmlns:a16="http://schemas.microsoft.com/office/drawing/2014/main" id="{AC7F3C76-8667-E3B2-FB91-D2BA736229B4}"/>
              </a:ext>
            </a:extLst>
          </p:cNvPr>
          <p:cNvPicPr>
            <a:picLocks noChangeAspect="1"/>
          </p:cNvPicPr>
          <p:nvPr/>
        </p:nvPicPr>
        <p:blipFill rotWithShape="1">
          <a:blip r:embed="rId2"/>
          <a:srcRect l="66893"/>
          <a:stretch/>
        </p:blipFill>
        <p:spPr>
          <a:xfrm>
            <a:off x="2713818" y="1864105"/>
            <a:ext cx="1708876" cy="3503687"/>
          </a:xfrm>
          <a:prstGeom prst="rect">
            <a:avLst/>
          </a:prstGeom>
        </p:spPr>
      </p:pic>
      <p:sp>
        <p:nvSpPr>
          <p:cNvPr id="9" name="Shape18">
            <a:extLst>
              <a:ext uri="{FF2B5EF4-FFF2-40B4-BE49-F238E27FC236}">
                <a16:creationId xmlns:a16="http://schemas.microsoft.com/office/drawing/2014/main" id="{DFE9308B-21DB-DD60-643D-D9B38ABE8302}"/>
              </a:ext>
            </a:extLst>
          </p:cNvPr>
          <p:cNvSpPr/>
          <p:nvPr/>
        </p:nvSpPr>
        <p:spPr>
          <a:xfrm>
            <a:off x="115762" y="1444417"/>
            <a:ext cx="4578901" cy="4343065"/>
          </a:xfrm>
          <a:prstGeom prst="roundRect">
            <a:avLst>
              <a:gd name="adj" fmla="val 9827"/>
            </a:avLst>
          </a:prstGeom>
          <a:no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10" name="Shape18">
            <a:extLst>
              <a:ext uri="{FF2B5EF4-FFF2-40B4-BE49-F238E27FC236}">
                <a16:creationId xmlns:a16="http://schemas.microsoft.com/office/drawing/2014/main" id="{65B33348-DF55-E662-BB38-3D8BADCA7F3C}"/>
              </a:ext>
            </a:extLst>
          </p:cNvPr>
          <p:cNvSpPr/>
          <p:nvPr/>
        </p:nvSpPr>
        <p:spPr>
          <a:xfrm>
            <a:off x="5541465" y="1444417"/>
            <a:ext cx="6577706" cy="4343065"/>
          </a:xfrm>
          <a:prstGeom prst="roundRect">
            <a:avLst>
              <a:gd name="adj" fmla="val 9827"/>
            </a:avLst>
          </a:prstGeom>
          <a:no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Tree>
    <p:extLst>
      <p:ext uri="{BB962C8B-B14F-4D97-AF65-F5344CB8AC3E}">
        <p14:creationId xmlns:p14="http://schemas.microsoft.com/office/powerpoint/2010/main" val="19201841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BBBA6B-EFBA-4F95-B049-C54308A698B7}"/>
              </a:ext>
            </a:extLst>
          </p:cNvPr>
          <p:cNvSpPr>
            <a:spLocks noGrp="1"/>
          </p:cNvSpPr>
          <p:nvPr>
            <p:ph type="sldNum" sz="quarter" idx="10"/>
          </p:nvPr>
        </p:nvSpPr>
        <p:spPr/>
        <p:txBody>
          <a:bodyPr/>
          <a:lstStyle/>
          <a:p>
            <a:fld id="{87BBDC00-B9E2-4EFD-9306-2934E87247C6}" type="slidenum">
              <a:rPr lang="zh-CN" altLang="en-US" smtClean="0"/>
              <a:pPr/>
              <a:t>159</a:t>
            </a:fld>
            <a:endParaRPr lang="zh-CN" altLang="en-US" dirty="0"/>
          </a:p>
        </p:txBody>
      </p:sp>
      <p:sp>
        <p:nvSpPr>
          <p:cNvPr id="3" name="标题 2">
            <a:extLst>
              <a:ext uri="{FF2B5EF4-FFF2-40B4-BE49-F238E27FC236}">
                <a16:creationId xmlns:a16="http://schemas.microsoft.com/office/drawing/2014/main" id="{383BFA13-6E6E-3A1D-3A4D-C7C86BA0CD70}"/>
              </a:ext>
            </a:extLst>
          </p:cNvPr>
          <p:cNvSpPr>
            <a:spLocks noGrp="1"/>
          </p:cNvSpPr>
          <p:nvPr>
            <p:ph type="title"/>
          </p:nvPr>
        </p:nvSpPr>
        <p:spPr/>
        <p:txBody>
          <a:bodyPr/>
          <a:lstStyle/>
          <a:p>
            <a:r>
              <a:rPr lang="zh-CN" altLang="en-US" sz="4400" dirty="0"/>
              <a:t>⑤ </a:t>
            </a:r>
            <a:r>
              <a:rPr kumimoji="1" lang="en-US" altLang="zh-CN" sz="4400" dirty="0"/>
              <a:t>Cascades</a:t>
            </a:r>
            <a:r>
              <a:rPr kumimoji="1" lang="zh-CN" altLang="en-US" sz="4400" dirty="0"/>
              <a:t>优化器：需要解决的问题</a:t>
            </a:r>
          </a:p>
        </p:txBody>
      </p:sp>
      <p:sp>
        <p:nvSpPr>
          <p:cNvPr id="4" name="内容占位符 3">
            <a:extLst>
              <a:ext uri="{FF2B5EF4-FFF2-40B4-BE49-F238E27FC236}">
                <a16:creationId xmlns:a16="http://schemas.microsoft.com/office/drawing/2014/main" id="{97AE40A0-238D-C327-46D6-4483B636BC73}"/>
              </a:ext>
            </a:extLst>
          </p:cNvPr>
          <p:cNvSpPr>
            <a:spLocks noGrp="1"/>
          </p:cNvSpPr>
          <p:nvPr>
            <p:ph idx="1"/>
          </p:nvPr>
        </p:nvSpPr>
        <p:spPr/>
        <p:txBody>
          <a:bodyPr/>
          <a:lstStyle/>
          <a:p>
            <a:pPr>
              <a:lnSpc>
                <a:spcPct val="120000"/>
              </a:lnSpc>
            </a:pPr>
            <a:r>
              <a:rPr kumimoji="1" lang="zh-CN" altLang="en-US" dirty="0"/>
              <a:t>调度流程</a:t>
            </a:r>
            <a:endParaRPr kumimoji="1" lang="en-US" altLang="zh-CN" dirty="0"/>
          </a:p>
          <a:p>
            <a:pPr lvl="1">
              <a:lnSpc>
                <a:spcPct val="120000"/>
              </a:lnSpc>
            </a:pPr>
            <a:r>
              <a:rPr kumimoji="1" lang="zh-CN" altLang="en-US" dirty="0"/>
              <a:t>探索</a:t>
            </a:r>
            <a:r>
              <a:rPr kumimoji="1" lang="en-US" altLang="zh-CN" dirty="0"/>
              <a:t>Group</a:t>
            </a:r>
            <a:r>
              <a:rPr kumimoji="1" lang="zh-CN" altLang="en-US" dirty="0"/>
              <a:t>和</a:t>
            </a:r>
            <a:r>
              <a:rPr kumimoji="1" lang="en-US" altLang="zh-CN" dirty="0"/>
              <a:t>Expression</a:t>
            </a:r>
          </a:p>
          <a:p>
            <a:pPr lvl="1">
              <a:lnSpc>
                <a:spcPct val="120000"/>
              </a:lnSpc>
            </a:pPr>
            <a:r>
              <a:rPr lang="zh-CN" altLang="en-US" dirty="0"/>
              <a:t>应用规则</a:t>
            </a:r>
            <a:endParaRPr kumimoji="1" lang="en-US" altLang="zh-CN" dirty="0"/>
          </a:p>
          <a:p>
            <a:pPr>
              <a:lnSpc>
                <a:spcPct val="120000"/>
              </a:lnSpc>
            </a:pPr>
            <a:r>
              <a:rPr lang="zh-CN" altLang="en-US" dirty="0"/>
              <a:t>计算可行的物理计划</a:t>
            </a:r>
            <a:endParaRPr lang="en-US" altLang="zh-CN" dirty="0"/>
          </a:p>
          <a:p>
            <a:pPr lvl="1">
              <a:lnSpc>
                <a:spcPct val="120000"/>
              </a:lnSpc>
            </a:pPr>
            <a:r>
              <a:rPr lang="zh-CN" altLang="en-US" dirty="0"/>
              <a:t>动态规划（区别于自底向上：利用</a:t>
            </a:r>
            <a:r>
              <a:rPr lang="en-US" altLang="zh-CN" dirty="0"/>
              <a:t>Memo</a:t>
            </a:r>
            <a:r>
              <a:rPr lang="zh-CN" altLang="en-US" dirty="0"/>
              <a:t>里</a:t>
            </a:r>
            <a:r>
              <a:rPr lang="en-US" altLang="zh-CN" dirty="0"/>
              <a:t>Group</a:t>
            </a:r>
            <a:r>
              <a:rPr lang="zh-CN" altLang="en-US" dirty="0"/>
              <a:t>和</a:t>
            </a:r>
            <a:r>
              <a:rPr lang="en-US" altLang="zh-CN" dirty="0"/>
              <a:t>Expression</a:t>
            </a:r>
            <a:r>
              <a:rPr lang="zh-CN" altLang="en-US" dirty="0"/>
              <a:t>来计算）</a:t>
            </a:r>
            <a:endParaRPr lang="en-US" altLang="zh-CN" dirty="0"/>
          </a:p>
          <a:p>
            <a:pPr>
              <a:lnSpc>
                <a:spcPct val="120000"/>
              </a:lnSpc>
            </a:pPr>
            <a:r>
              <a:rPr lang="zh-CN" altLang="en-US" dirty="0"/>
              <a:t>剪枝</a:t>
            </a:r>
            <a:endParaRPr lang="en-US" altLang="zh-CN" dirty="0"/>
          </a:p>
          <a:p>
            <a:pPr lvl="1">
              <a:lnSpc>
                <a:spcPct val="120000"/>
              </a:lnSpc>
            </a:pPr>
            <a:r>
              <a:rPr kumimoji="1" lang="zh-CN" altLang="en-US" dirty="0"/>
              <a:t>保留当前代价最低的物理计划</a:t>
            </a:r>
            <a:r>
              <a:rPr kumimoji="1" lang="en-US" altLang="zh-CN" dirty="0"/>
              <a:t>Winner</a:t>
            </a:r>
            <a:r>
              <a:rPr kumimoji="1" lang="zh-CN" altLang="en-US" dirty="0"/>
              <a:t>，并记录其代价</a:t>
            </a:r>
            <a:r>
              <a:rPr lang="en-US" altLang="zh-CN" dirty="0" err="1"/>
              <a:t>u</a:t>
            </a:r>
            <a:r>
              <a:rPr kumimoji="1" lang="en-US" altLang="zh-CN" dirty="0" err="1"/>
              <a:t>pperbound</a:t>
            </a:r>
            <a:endParaRPr kumimoji="1" lang="en-US" altLang="zh-CN" dirty="0"/>
          </a:p>
          <a:p>
            <a:pPr lvl="1">
              <a:lnSpc>
                <a:spcPct val="120000"/>
              </a:lnSpc>
            </a:pPr>
            <a:r>
              <a:rPr lang="zh-CN" altLang="en-US" dirty="0"/>
              <a:t>估算</a:t>
            </a:r>
            <a:r>
              <a:rPr lang="en-US" altLang="zh-CN" dirty="0"/>
              <a:t>Group</a:t>
            </a:r>
            <a:r>
              <a:rPr lang="zh-CN" altLang="en-US" dirty="0"/>
              <a:t>内的计划的</a:t>
            </a:r>
            <a:r>
              <a:rPr lang="en-US" altLang="zh-CN" dirty="0" err="1"/>
              <a:t>lowerbound</a:t>
            </a:r>
            <a:endParaRPr lang="en-US" altLang="zh-CN" dirty="0"/>
          </a:p>
          <a:p>
            <a:pPr lvl="1">
              <a:lnSpc>
                <a:spcPct val="120000"/>
              </a:lnSpc>
            </a:pPr>
            <a:r>
              <a:rPr kumimoji="1" lang="zh-CN" altLang="en-US" dirty="0"/>
              <a:t>剪掉</a:t>
            </a:r>
            <a:r>
              <a:rPr kumimoji="1" lang="en-US" altLang="zh-CN" dirty="0" err="1"/>
              <a:t>lowerbound</a:t>
            </a:r>
            <a:r>
              <a:rPr kumimoji="1" lang="en-US" altLang="zh-CN" dirty="0"/>
              <a:t>&gt;</a:t>
            </a:r>
            <a:r>
              <a:rPr kumimoji="1" lang="en-US" altLang="zh-CN" dirty="0" err="1"/>
              <a:t>upperbound</a:t>
            </a:r>
            <a:r>
              <a:rPr kumimoji="1" lang="zh-CN" altLang="en-US" dirty="0"/>
              <a:t>的</a:t>
            </a:r>
            <a:r>
              <a:rPr kumimoji="1" lang="en-US" altLang="zh-CN" dirty="0"/>
              <a:t>group</a:t>
            </a:r>
            <a:endParaRPr kumimoji="1" lang="zh-CN" altLang="en-US" dirty="0"/>
          </a:p>
        </p:txBody>
      </p:sp>
      <p:sp>
        <p:nvSpPr>
          <p:cNvPr id="5" name="页脚占位符 4">
            <a:extLst>
              <a:ext uri="{FF2B5EF4-FFF2-40B4-BE49-F238E27FC236}">
                <a16:creationId xmlns:a16="http://schemas.microsoft.com/office/drawing/2014/main" id="{9A15482A-DCD4-971D-2C06-B0EE6077B8C0}"/>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spTree>
    <p:extLst>
      <p:ext uri="{BB962C8B-B14F-4D97-AF65-F5344CB8AC3E}">
        <p14:creationId xmlns:p14="http://schemas.microsoft.com/office/powerpoint/2010/main" val="384883266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E338E4E-A74E-46E0-6E8A-65B431EBA6BD}"/>
              </a:ext>
            </a:extLst>
          </p:cNvPr>
          <p:cNvSpPr>
            <a:spLocks noGrp="1"/>
          </p:cNvSpPr>
          <p:nvPr>
            <p:ph type="sldNum" sz="quarter" idx="10"/>
          </p:nvPr>
        </p:nvSpPr>
        <p:spPr/>
        <p:txBody>
          <a:bodyPr/>
          <a:lstStyle/>
          <a:p>
            <a:fld id="{87BBDC00-B9E2-4EFD-9306-2934E87247C6}" type="slidenum">
              <a:rPr lang="zh-CN" altLang="en-US" smtClean="0"/>
              <a:pPr/>
              <a:t>160</a:t>
            </a:fld>
            <a:endParaRPr lang="zh-CN" altLang="en-US" dirty="0"/>
          </a:p>
        </p:txBody>
      </p:sp>
      <p:sp>
        <p:nvSpPr>
          <p:cNvPr id="3" name="标题 2">
            <a:extLst>
              <a:ext uri="{FF2B5EF4-FFF2-40B4-BE49-F238E27FC236}">
                <a16:creationId xmlns:a16="http://schemas.microsoft.com/office/drawing/2014/main" id="{EE808FB1-5776-AAA5-1669-5951B6EBC7E9}"/>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优化器：流程</a:t>
            </a:r>
          </a:p>
        </p:txBody>
      </p:sp>
      <p:sp>
        <p:nvSpPr>
          <p:cNvPr id="5" name="页脚占位符 4">
            <a:extLst>
              <a:ext uri="{FF2B5EF4-FFF2-40B4-BE49-F238E27FC236}">
                <a16:creationId xmlns:a16="http://schemas.microsoft.com/office/drawing/2014/main" id="{9DB6644D-129B-04AC-29CF-83C85CC5CB3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grpSp>
        <p:nvGrpSpPr>
          <p:cNvPr id="34" name="组合 33">
            <a:extLst>
              <a:ext uri="{FF2B5EF4-FFF2-40B4-BE49-F238E27FC236}">
                <a16:creationId xmlns:a16="http://schemas.microsoft.com/office/drawing/2014/main" id="{151E2982-E400-798C-1B76-A45A5A6263FB}"/>
              </a:ext>
            </a:extLst>
          </p:cNvPr>
          <p:cNvGrpSpPr/>
          <p:nvPr/>
        </p:nvGrpSpPr>
        <p:grpSpPr>
          <a:xfrm>
            <a:off x="1592132" y="1924332"/>
            <a:ext cx="10281982" cy="3154095"/>
            <a:chOff x="2775475" y="2421341"/>
            <a:chExt cx="8390961" cy="1967779"/>
          </a:xfrm>
        </p:grpSpPr>
        <p:sp>
          <p:nvSpPr>
            <p:cNvPr id="6" name="矩形 5">
              <a:extLst>
                <a:ext uri="{FF2B5EF4-FFF2-40B4-BE49-F238E27FC236}">
                  <a16:creationId xmlns:a16="http://schemas.microsoft.com/office/drawing/2014/main" id="{DE19E99A-D00A-3172-2ACB-D4902F2DC86C}"/>
                </a:ext>
              </a:extLst>
            </p:cNvPr>
            <p:cNvSpPr/>
            <p:nvPr/>
          </p:nvSpPr>
          <p:spPr bwMode="auto">
            <a:xfrm>
              <a:off x="2775475" y="2547208"/>
              <a:ext cx="2161929" cy="288024"/>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dirty="0">
                  <a:solidFill>
                    <a:schemeClr val="tx1"/>
                  </a:solidFill>
                  <a:latin typeface="Microsoft YaHei" panose="020B0503020204020204" pitchFamily="34" charset="-122"/>
                  <a:ea typeface="Microsoft YaHei" panose="020B0503020204020204" pitchFamily="34" charset="-122"/>
                </a:rPr>
                <a:t>输入计划</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7" name="矩形 6">
              <a:extLst>
                <a:ext uri="{FF2B5EF4-FFF2-40B4-BE49-F238E27FC236}">
                  <a16:creationId xmlns:a16="http://schemas.microsoft.com/office/drawing/2014/main" id="{D8414434-79ED-7F89-E8DD-B917CDAA5A63}"/>
                </a:ext>
              </a:extLst>
            </p:cNvPr>
            <p:cNvSpPr/>
            <p:nvPr/>
          </p:nvSpPr>
          <p:spPr bwMode="auto">
            <a:xfrm>
              <a:off x="2775475" y="3793823"/>
              <a:ext cx="2161929" cy="288024"/>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dirty="0">
                  <a:solidFill>
                    <a:schemeClr val="tx1"/>
                  </a:solidFill>
                  <a:latin typeface="Microsoft YaHei" panose="020B0503020204020204" pitchFamily="34" charset="-122"/>
                  <a:ea typeface="Microsoft YaHei" panose="020B0503020204020204" pitchFamily="34" charset="-122"/>
                </a:rPr>
                <a:t>规则集合</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8" name="矩形 7">
              <a:extLst>
                <a:ext uri="{FF2B5EF4-FFF2-40B4-BE49-F238E27FC236}">
                  <a16:creationId xmlns:a16="http://schemas.microsoft.com/office/drawing/2014/main" id="{50B2B165-22F2-8B47-BA64-90F82E2C42AF}"/>
                </a:ext>
              </a:extLst>
            </p:cNvPr>
            <p:cNvSpPr/>
            <p:nvPr/>
          </p:nvSpPr>
          <p:spPr bwMode="auto">
            <a:xfrm>
              <a:off x="7075670" y="2547208"/>
              <a:ext cx="2161929" cy="288024"/>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搜索空间</a:t>
              </a:r>
            </a:p>
          </p:txBody>
        </p:sp>
        <p:cxnSp>
          <p:nvCxnSpPr>
            <p:cNvPr id="9" name="直线箭头连接符 8">
              <a:extLst>
                <a:ext uri="{FF2B5EF4-FFF2-40B4-BE49-F238E27FC236}">
                  <a16:creationId xmlns:a16="http://schemas.microsoft.com/office/drawing/2014/main" id="{3C98CD93-7259-36AA-6D04-1865F91E1FDF}"/>
                </a:ext>
              </a:extLst>
            </p:cNvPr>
            <p:cNvCxnSpPr>
              <a:cxnSpLocks/>
              <a:stCxn id="13" idx="1"/>
              <a:endCxn id="7" idx="3"/>
            </p:cNvCxnSpPr>
            <p:nvPr/>
          </p:nvCxnSpPr>
          <p:spPr bwMode="auto">
            <a:xfrm flipH="1">
              <a:off x="4937404" y="3937835"/>
              <a:ext cx="2138266" cy="0"/>
            </a:xfrm>
            <a:prstGeom prst="straightConnector1">
              <a:avLst/>
            </a:prstGeom>
            <a:ln w="19050">
              <a:headEnd type="arrow"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直线箭头连接符 9">
              <a:extLst>
                <a:ext uri="{FF2B5EF4-FFF2-40B4-BE49-F238E27FC236}">
                  <a16:creationId xmlns:a16="http://schemas.microsoft.com/office/drawing/2014/main" id="{53D26926-1E63-00E9-FD54-AF27843B7A4B}"/>
                </a:ext>
              </a:extLst>
            </p:cNvPr>
            <p:cNvCxnSpPr>
              <a:cxnSpLocks/>
            </p:cNvCxnSpPr>
            <p:nvPr/>
          </p:nvCxnSpPr>
          <p:spPr bwMode="auto">
            <a:xfrm flipH="1">
              <a:off x="4937404" y="2637431"/>
              <a:ext cx="2138266" cy="0"/>
            </a:xfrm>
            <a:prstGeom prst="straightConnector1">
              <a:avLst/>
            </a:prstGeom>
            <a:ln w="19050">
              <a:headEnd type="arrow"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直线箭头连接符 10">
              <a:extLst>
                <a:ext uri="{FF2B5EF4-FFF2-40B4-BE49-F238E27FC236}">
                  <a16:creationId xmlns:a16="http://schemas.microsoft.com/office/drawing/2014/main" id="{61D0CECA-5933-C2AA-4E62-2B1FFD1043C8}"/>
                </a:ext>
              </a:extLst>
            </p:cNvPr>
            <p:cNvCxnSpPr>
              <a:cxnSpLocks/>
              <a:stCxn id="8" idx="2"/>
              <a:endCxn id="13" idx="0"/>
            </p:cNvCxnSpPr>
            <p:nvPr/>
          </p:nvCxnSpPr>
          <p:spPr bwMode="auto">
            <a:xfrm>
              <a:off x="8156634" y="2835232"/>
              <a:ext cx="0" cy="958591"/>
            </a:xfrm>
            <a:prstGeom prst="straightConnector1">
              <a:avLst/>
            </a:prstGeom>
            <a:ln w="19050">
              <a:headEnd type="arrow"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3" name="矩形 12">
              <a:extLst>
                <a:ext uri="{FF2B5EF4-FFF2-40B4-BE49-F238E27FC236}">
                  <a16:creationId xmlns:a16="http://schemas.microsoft.com/office/drawing/2014/main" id="{6CECE4F4-F9D2-FE95-2AB4-E5F0DB9C2A19}"/>
                </a:ext>
              </a:extLst>
            </p:cNvPr>
            <p:cNvSpPr/>
            <p:nvPr/>
          </p:nvSpPr>
          <p:spPr bwMode="auto">
            <a:xfrm>
              <a:off x="7075670" y="3793823"/>
              <a:ext cx="2161929" cy="288024"/>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dirty="0">
                  <a:solidFill>
                    <a:schemeClr val="tx1"/>
                  </a:solidFill>
                  <a:latin typeface="Microsoft YaHei" panose="020B0503020204020204" pitchFamily="34" charset="-122"/>
                  <a:ea typeface="Microsoft YaHei" panose="020B0503020204020204" pitchFamily="34" charset="-122"/>
                </a:rPr>
                <a:t>任务</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cxnSp>
          <p:nvCxnSpPr>
            <p:cNvPr id="15" name="直线箭头连接符 14">
              <a:extLst>
                <a:ext uri="{FF2B5EF4-FFF2-40B4-BE49-F238E27FC236}">
                  <a16:creationId xmlns:a16="http://schemas.microsoft.com/office/drawing/2014/main" id="{945384B3-95AE-5E21-E1A6-38A4F98D18F4}"/>
                </a:ext>
              </a:extLst>
            </p:cNvPr>
            <p:cNvCxnSpPr>
              <a:cxnSpLocks/>
            </p:cNvCxnSpPr>
            <p:nvPr/>
          </p:nvCxnSpPr>
          <p:spPr bwMode="auto">
            <a:xfrm>
              <a:off x="4937404" y="2750843"/>
              <a:ext cx="2138266" cy="0"/>
            </a:xfrm>
            <a:prstGeom prst="straightConnector1">
              <a:avLst/>
            </a:prstGeom>
            <a:ln w="19050">
              <a:headEnd type="arrow"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9" name="文本框 18">
              <a:extLst>
                <a:ext uri="{FF2B5EF4-FFF2-40B4-BE49-F238E27FC236}">
                  <a16:creationId xmlns:a16="http://schemas.microsoft.com/office/drawing/2014/main" id="{59F23B46-2B0C-DB23-64B4-314CF2A5DD58}"/>
                </a:ext>
              </a:extLst>
            </p:cNvPr>
            <p:cNvSpPr txBox="1"/>
            <p:nvPr/>
          </p:nvSpPr>
          <p:spPr>
            <a:xfrm>
              <a:off x="5403838" y="2421341"/>
              <a:ext cx="1229061" cy="369332"/>
            </a:xfrm>
            <a:prstGeom prst="rect">
              <a:avLst/>
            </a:prstGeom>
            <a:noFill/>
          </p:spPr>
          <p:txBody>
            <a:bodyPr wrap="square">
              <a:spAutoFit/>
            </a:bodyPr>
            <a:lstStyle/>
            <a:p>
              <a:r>
                <a:rPr kumimoji="1" lang="zh-CN" altLang="en-US" sz="1800" dirty="0">
                  <a:solidFill>
                    <a:schemeClr val="tx1"/>
                  </a:solidFill>
                  <a:latin typeface="Microsoft YaHei" panose="020B0503020204020204" pitchFamily="34" charset="-122"/>
                  <a:ea typeface="Microsoft YaHei" panose="020B0503020204020204" pitchFamily="34" charset="-122"/>
                </a:rPr>
                <a:t>逻辑计划</a:t>
              </a:r>
              <a:endParaRPr lang="zh-CN" altLang="en-US" dirty="0"/>
            </a:p>
          </p:txBody>
        </p:sp>
        <p:sp>
          <p:nvSpPr>
            <p:cNvPr id="20" name="文本框 19">
              <a:extLst>
                <a:ext uri="{FF2B5EF4-FFF2-40B4-BE49-F238E27FC236}">
                  <a16:creationId xmlns:a16="http://schemas.microsoft.com/office/drawing/2014/main" id="{BF0EE595-8DDC-B61F-B553-4EE5CCE44BB0}"/>
                </a:ext>
              </a:extLst>
            </p:cNvPr>
            <p:cNvSpPr txBox="1"/>
            <p:nvPr/>
          </p:nvSpPr>
          <p:spPr>
            <a:xfrm>
              <a:off x="5116331" y="2752023"/>
              <a:ext cx="1959337" cy="230419"/>
            </a:xfrm>
            <a:prstGeom prst="rect">
              <a:avLst/>
            </a:prstGeom>
            <a:noFill/>
          </p:spPr>
          <p:txBody>
            <a:bodyPr wrap="square">
              <a:spAutoFit/>
            </a:bodyPr>
            <a:lstStyle/>
            <a:p>
              <a:r>
                <a:rPr kumimoji="1" lang="zh-CN" altLang="en-US" sz="1800" dirty="0">
                  <a:solidFill>
                    <a:schemeClr val="tx1"/>
                  </a:solidFill>
                  <a:latin typeface="Microsoft YaHei" panose="020B0503020204020204" pitchFamily="34" charset="-122"/>
                  <a:ea typeface="Microsoft YaHei" panose="020B0503020204020204" pitchFamily="34" charset="-122"/>
                </a:rPr>
                <a:t>优化后的物理计划</a:t>
              </a:r>
              <a:endParaRPr lang="zh-CN" altLang="en-US" dirty="0"/>
            </a:p>
          </p:txBody>
        </p:sp>
        <p:sp>
          <p:nvSpPr>
            <p:cNvPr id="29" name="任意形状 28">
              <a:extLst>
                <a:ext uri="{FF2B5EF4-FFF2-40B4-BE49-F238E27FC236}">
                  <a16:creationId xmlns:a16="http://schemas.microsoft.com/office/drawing/2014/main" id="{F8F52DAC-2752-4543-533F-DFDE70A08DD3}"/>
                </a:ext>
              </a:extLst>
            </p:cNvPr>
            <p:cNvSpPr/>
            <p:nvPr/>
          </p:nvSpPr>
          <p:spPr bwMode="auto">
            <a:xfrm>
              <a:off x="8788998" y="3250519"/>
              <a:ext cx="1108022" cy="1138601"/>
            </a:xfrm>
            <a:custGeom>
              <a:avLst/>
              <a:gdLst>
                <a:gd name="connsiteX0" fmla="*/ 0 w 1771864"/>
                <a:gd name="connsiteY0" fmla="*/ 930438 h 1152961"/>
                <a:gd name="connsiteX1" fmla="*/ 1721223 w 1771864"/>
                <a:gd name="connsiteY1" fmla="*/ 1091802 h 1152961"/>
                <a:gd name="connsiteX2" fmla="*/ 1204856 w 1771864"/>
                <a:gd name="connsiteY2" fmla="*/ 26795 h 1152961"/>
                <a:gd name="connsiteX3" fmla="*/ 75303 w 1771864"/>
                <a:gd name="connsiteY3" fmla="*/ 424828 h 1152961"/>
              </a:gdLst>
              <a:ahLst/>
              <a:cxnLst>
                <a:cxn ang="0">
                  <a:pos x="connsiteX0" y="connsiteY0"/>
                </a:cxn>
                <a:cxn ang="0">
                  <a:pos x="connsiteX1" y="connsiteY1"/>
                </a:cxn>
                <a:cxn ang="0">
                  <a:pos x="connsiteX2" y="connsiteY2"/>
                </a:cxn>
                <a:cxn ang="0">
                  <a:pos x="connsiteX3" y="connsiteY3"/>
                </a:cxn>
              </a:cxnLst>
              <a:rect l="l" t="t" r="r" b="b"/>
              <a:pathLst>
                <a:path w="1771864" h="1152961">
                  <a:moveTo>
                    <a:pt x="0" y="930438"/>
                  </a:moveTo>
                  <a:cubicBezTo>
                    <a:pt x="760207" y="1086423"/>
                    <a:pt x="1520414" y="1242409"/>
                    <a:pt x="1721223" y="1091802"/>
                  </a:cubicBezTo>
                  <a:cubicBezTo>
                    <a:pt x="1922032" y="941195"/>
                    <a:pt x="1479176" y="137957"/>
                    <a:pt x="1204856" y="26795"/>
                  </a:cubicBezTo>
                  <a:cubicBezTo>
                    <a:pt x="930536" y="-84367"/>
                    <a:pt x="502919" y="170230"/>
                    <a:pt x="75303" y="424828"/>
                  </a:cubicBezTo>
                </a:path>
              </a:pathLst>
            </a:custGeom>
            <a:ln>
              <a:headEnd type="none"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31" name="文本框 30">
              <a:extLst>
                <a:ext uri="{FF2B5EF4-FFF2-40B4-BE49-F238E27FC236}">
                  <a16:creationId xmlns:a16="http://schemas.microsoft.com/office/drawing/2014/main" id="{254B1CB6-8911-0190-BB08-4CD015FB9F0C}"/>
                </a:ext>
              </a:extLst>
            </p:cNvPr>
            <p:cNvSpPr txBox="1"/>
            <p:nvPr/>
          </p:nvSpPr>
          <p:spPr>
            <a:xfrm>
              <a:off x="9808282" y="3707003"/>
              <a:ext cx="1358154" cy="369332"/>
            </a:xfrm>
            <a:prstGeom prst="rect">
              <a:avLst/>
            </a:prstGeom>
            <a:noFill/>
          </p:spPr>
          <p:txBody>
            <a:bodyPr wrap="square">
              <a:spAutoFit/>
            </a:bodyPr>
            <a:lstStyle/>
            <a:p>
              <a:r>
                <a:rPr kumimoji="1" lang="zh-CN" altLang="en-US" sz="1800" dirty="0">
                  <a:solidFill>
                    <a:schemeClr val="tx1"/>
                  </a:solidFill>
                  <a:latin typeface="Microsoft YaHei" panose="020B0503020204020204" pitchFamily="34" charset="-122"/>
                  <a:ea typeface="Microsoft YaHei" panose="020B0503020204020204" pitchFamily="34" charset="-122"/>
                </a:rPr>
                <a:t>调度</a:t>
              </a:r>
              <a:endParaRPr lang="zh-CN" altLang="en-US" dirty="0"/>
            </a:p>
          </p:txBody>
        </p:sp>
        <p:sp>
          <p:nvSpPr>
            <p:cNvPr id="32" name="文本框 31">
              <a:extLst>
                <a:ext uri="{FF2B5EF4-FFF2-40B4-BE49-F238E27FC236}">
                  <a16:creationId xmlns:a16="http://schemas.microsoft.com/office/drawing/2014/main" id="{DDA6FAED-A2DE-392F-26EC-B4D279932777}"/>
                </a:ext>
              </a:extLst>
            </p:cNvPr>
            <p:cNvSpPr txBox="1"/>
            <p:nvPr/>
          </p:nvSpPr>
          <p:spPr>
            <a:xfrm>
              <a:off x="5370493" y="3981506"/>
              <a:ext cx="1358154" cy="369332"/>
            </a:xfrm>
            <a:prstGeom prst="rect">
              <a:avLst/>
            </a:prstGeom>
            <a:noFill/>
          </p:spPr>
          <p:txBody>
            <a:bodyPr wrap="square">
              <a:spAutoFit/>
            </a:bodyPr>
            <a:lstStyle/>
            <a:p>
              <a:r>
                <a:rPr kumimoji="1" lang="zh-CN" altLang="en-US" sz="1800" dirty="0">
                  <a:solidFill>
                    <a:schemeClr val="tx1"/>
                  </a:solidFill>
                  <a:latin typeface="Microsoft YaHei" panose="020B0503020204020204" pitchFamily="34" charset="-122"/>
                  <a:ea typeface="Microsoft YaHei" panose="020B0503020204020204" pitchFamily="34" charset="-122"/>
                </a:rPr>
                <a:t>应用规则</a:t>
              </a:r>
              <a:endParaRPr lang="zh-CN" altLang="en-US" dirty="0"/>
            </a:p>
          </p:txBody>
        </p:sp>
        <p:sp>
          <p:nvSpPr>
            <p:cNvPr id="33" name="文本框 32">
              <a:extLst>
                <a:ext uri="{FF2B5EF4-FFF2-40B4-BE49-F238E27FC236}">
                  <a16:creationId xmlns:a16="http://schemas.microsoft.com/office/drawing/2014/main" id="{2C1F60AB-6146-D101-EC76-1C3DE7B72068}"/>
                </a:ext>
              </a:extLst>
            </p:cNvPr>
            <p:cNvSpPr txBox="1"/>
            <p:nvPr/>
          </p:nvSpPr>
          <p:spPr>
            <a:xfrm>
              <a:off x="7001797" y="3035464"/>
              <a:ext cx="1229061" cy="403233"/>
            </a:xfrm>
            <a:prstGeom prst="rect">
              <a:avLst/>
            </a:prstGeom>
            <a:noFill/>
          </p:spPr>
          <p:txBody>
            <a:bodyPr wrap="square">
              <a:spAutoFit/>
            </a:bodyPr>
            <a:lstStyle/>
            <a:p>
              <a:r>
                <a:rPr kumimoji="1" lang="zh-CN" altLang="en-US" sz="1800" dirty="0">
                  <a:solidFill>
                    <a:schemeClr val="tx1"/>
                  </a:solidFill>
                  <a:latin typeface="Microsoft YaHei" panose="020B0503020204020204" pitchFamily="34" charset="-122"/>
                  <a:ea typeface="Microsoft YaHei" panose="020B0503020204020204" pitchFamily="34" charset="-122"/>
                </a:rPr>
                <a:t>优化</a:t>
              </a:r>
              <a:br>
                <a:rPr kumimoji="1" lang="en-US" altLang="zh-CN" sz="1800" dirty="0">
                  <a:solidFill>
                    <a:schemeClr val="tx1"/>
                  </a:solidFill>
                  <a:latin typeface="Microsoft YaHei" panose="020B0503020204020204" pitchFamily="34" charset="-122"/>
                  <a:ea typeface="Microsoft YaHei" panose="020B0503020204020204" pitchFamily="34" charset="-122"/>
                </a:rPr>
              </a:br>
              <a:r>
                <a:rPr kumimoji="1" lang="zh-CN" altLang="en-US" sz="1800" dirty="0">
                  <a:solidFill>
                    <a:schemeClr val="tx1"/>
                  </a:solidFill>
                  <a:latin typeface="Microsoft YaHei" panose="020B0503020204020204" pitchFamily="34" charset="-122"/>
                  <a:ea typeface="Microsoft YaHei" panose="020B0503020204020204" pitchFamily="34" charset="-122"/>
                </a:rPr>
                <a:t>组</a:t>
              </a:r>
              <a:r>
                <a:rPr kumimoji="1" lang="en-US" altLang="zh-CN" sz="1800" dirty="0">
                  <a:solidFill>
                    <a:schemeClr val="tx1"/>
                  </a:solidFill>
                  <a:latin typeface="Microsoft YaHei" panose="020B0503020204020204" pitchFamily="34" charset="-122"/>
                  <a:ea typeface="Microsoft YaHei" panose="020B0503020204020204" pitchFamily="34" charset="-122"/>
                </a:rPr>
                <a:t>&amp;</a:t>
              </a:r>
              <a:r>
                <a:rPr kumimoji="1" lang="zh-CN" altLang="en-US" sz="1800" dirty="0">
                  <a:solidFill>
                    <a:schemeClr val="tx1"/>
                  </a:solidFill>
                  <a:latin typeface="Microsoft YaHei" panose="020B0503020204020204" pitchFamily="34" charset="-122"/>
                  <a:ea typeface="Microsoft YaHei" panose="020B0503020204020204" pitchFamily="34" charset="-122"/>
                </a:rPr>
                <a:t>表达式</a:t>
              </a:r>
              <a:endParaRPr lang="zh-CN" altLang="en-US" dirty="0"/>
            </a:p>
          </p:txBody>
        </p:sp>
      </p:grpSp>
    </p:spTree>
    <p:extLst>
      <p:ext uri="{BB962C8B-B14F-4D97-AF65-F5344CB8AC3E}">
        <p14:creationId xmlns:p14="http://schemas.microsoft.com/office/powerpoint/2010/main" val="34530658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452628C-4494-0A69-49A9-EA304AC73714}"/>
              </a:ext>
            </a:extLst>
          </p:cNvPr>
          <p:cNvSpPr>
            <a:spLocks noGrp="1"/>
          </p:cNvSpPr>
          <p:nvPr>
            <p:ph type="sldNum" sz="quarter" idx="10"/>
          </p:nvPr>
        </p:nvSpPr>
        <p:spPr/>
        <p:txBody>
          <a:bodyPr/>
          <a:lstStyle/>
          <a:p>
            <a:fld id="{87BBDC00-B9E2-4EFD-9306-2934E87247C6}" type="slidenum">
              <a:rPr lang="zh-CN" altLang="en-US" smtClean="0"/>
              <a:pPr/>
              <a:t>161</a:t>
            </a:fld>
            <a:endParaRPr lang="zh-CN" altLang="en-US" dirty="0"/>
          </a:p>
        </p:txBody>
      </p:sp>
      <p:sp>
        <p:nvSpPr>
          <p:cNvPr id="3" name="标题 2">
            <a:extLst>
              <a:ext uri="{FF2B5EF4-FFF2-40B4-BE49-F238E27FC236}">
                <a16:creationId xmlns:a16="http://schemas.microsoft.com/office/drawing/2014/main" id="{CB90338D-B06A-4875-2029-89F4886FC6A3}"/>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优化器：流程</a:t>
            </a:r>
          </a:p>
        </p:txBody>
      </p:sp>
      <p:sp>
        <p:nvSpPr>
          <p:cNvPr id="5" name="页脚占位符 4">
            <a:extLst>
              <a:ext uri="{FF2B5EF4-FFF2-40B4-BE49-F238E27FC236}">
                <a16:creationId xmlns:a16="http://schemas.microsoft.com/office/drawing/2014/main" id="{22884BE6-79C5-6C34-8406-1D05F6E75718}"/>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sp>
        <p:nvSpPr>
          <p:cNvPr id="6" name="矩形 5">
            <a:extLst>
              <a:ext uri="{FF2B5EF4-FFF2-40B4-BE49-F238E27FC236}">
                <a16:creationId xmlns:a16="http://schemas.microsoft.com/office/drawing/2014/main" id="{91D1BF30-4303-F7BE-0E59-1DB3AE3B68B5}"/>
              </a:ext>
            </a:extLst>
          </p:cNvPr>
          <p:cNvSpPr/>
          <p:nvPr/>
        </p:nvSpPr>
        <p:spPr bwMode="auto">
          <a:xfrm>
            <a:off x="2825771" y="2707814"/>
            <a:ext cx="2161929"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dirty="0">
                <a:solidFill>
                  <a:schemeClr val="tx1"/>
                </a:solidFill>
                <a:latin typeface="Microsoft YaHei" panose="020B0503020204020204" pitchFamily="34" charset="-122"/>
                <a:ea typeface="Microsoft YaHei" panose="020B0503020204020204" pitchFamily="34" charset="-122"/>
              </a:rPr>
              <a:t>GO</a:t>
            </a:r>
            <a:r>
              <a:rPr kumimoji="1" lang="zh-CN" altLang="en-US" sz="2400" dirty="0">
                <a:solidFill>
                  <a:schemeClr val="tx1"/>
                </a:solidFill>
                <a:latin typeface="Microsoft YaHei" panose="020B0503020204020204" pitchFamily="34" charset="-122"/>
                <a:ea typeface="Microsoft YaHei" panose="020B0503020204020204" pitchFamily="34" charset="-122"/>
              </a:rPr>
              <a:t>组优化</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7" name="矩形 6">
            <a:extLst>
              <a:ext uri="{FF2B5EF4-FFF2-40B4-BE49-F238E27FC236}">
                <a16:creationId xmlns:a16="http://schemas.microsoft.com/office/drawing/2014/main" id="{D1783691-B019-8E70-6DAA-263FAAEB229B}"/>
              </a:ext>
            </a:extLst>
          </p:cNvPr>
          <p:cNvSpPr/>
          <p:nvPr/>
        </p:nvSpPr>
        <p:spPr bwMode="auto">
          <a:xfrm>
            <a:off x="2825771" y="3954429"/>
            <a:ext cx="2161929"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dirty="0">
                <a:solidFill>
                  <a:schemeClr val="tx1"/>
                </a:solidFill>
                <a:latin typeface="Microsoft YaHei" panose="020B0503020204020204" pitchFamily="34" charset="-122"/>
                <a:ea typeface="Microsoft YaHei" panose="020B0503020204020204" pitchFamily="34" charset="-122"/>
              </a:rPr>
              <a:t>EO</a:t>
            </a:r>
            <a:r>
              <a:rPr kumimoji="1" lang="zh-CN" altLang="en-US" sz="2400" dirty="0">
                <a:solidFill>
                  <a:schemeClr val="tx1"/>
                </a:solidFill>
                <a:latin typeface="Microsoft YaHei" panose="020B0503020204020204" pitchFamily="34" charset="-122"/>
                <a:ea typeface="Microsoft YaHei" panose="020B0503020204020204" pitchFamily="34" charset="-122"/>
              </a:rPr>
              <a:t>表达式优化</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8" name="矩形 7">
            <a:extLst>
              <a:ext uri="{FF2B5EF4-FFF2-40B4-BE49-F238E27FC236}">
                <a16:creationId xmlns:a16="http://schemas.microsoft.com/office/drawing/2014/main" id="{D258E2D4-FC68-92FB-9933-93948B24A513}"/>
              </a:ext>
            </a:extLst>
          </p:cNvPr>
          <p:cNvSpPr/>
          <p:nvPr/>
        </p:nvSpPr>
        <p:spPr bwMode="auto">
          <a:xfrm>
            <a:off x="2825771" y="5283566"/>
            <a:ext cx="2161929"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dirty="0">
                <a:solidFill>
                  <a:schemeClr val="tx1"/>
                </a:solidFill>
                <a:latin typeface="Microsoft YaHei" panose="020B0503020204020204" pitchFamily="34" charset="-122"/>
                <a:ea typeface="Microsoft YaHei" panose="020B0503020204020204" pitchFamily="34" charset="-122"/>
              </a:rPr>
              <a:t>GE</a:t>
            </a:r>
            <a:r>
              <a:rPr kumimoji="1" lang="zh-CN" altLang="en-US" sz="2400" dirty="0">
                <a:solidFill>
                  <a:schemeClr val="tx1"/>
                </a:solidFill>
                <a:latin typeface="Microsoft YaHei" panose="020B0503020204020204" pitchFamily="34" charset="-122"/>
                <a:ea typeface="Microsoft YaHei" panose="020B0503020204020204" pitchFamily="34" charset="-122"/>
              </a:rPr>
              <a:t>组探索</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9" name="矩形 8">
            <a:extLst>
              <a:ext uri="{FF2B5EF4-FFF2-40B4-BE49-F238E27FC236}">
                <a16:creationId xmlns:a16="http://schemas.microsoft.com/office/drawing/2014/main" id="{578205F4-0679-A2E9-10C6-05B6CE34CEB7}"/>
              </a:ext>
            </a:extLst>
          </p:cNvPr>
          <p:cNvSpPr/>
          <p:nvPr/>
        </p:nvSpPr>
        <p:spPr bwMode="auto">
          <a:xfrm>
            <a:off x="7125966" y="5283566"/>
            <a:ext cx="2161929"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dirty="0">
                <a:solidFill>
                  <a:schemeClr val="tx1"/>
                </a:solidFill>
                <a:latin typeface="Microsoft YaHei" panose="020B0503020204020204" pitchFamily="34" charset="-122"/>
                <a:ea typeface="Microsoft YaHei" panose="020B0503020204020204" pitchFamily="34" charset="-122"/>
              </a:rPr>
              <a:t>EE</a:t>
            </a:r>
            <a:r>
              <a:rPr kumimoji="1" lang="zh-CN" altLang="en-US" sz="2400" dirty="0">
                <a:solidFill>
                  <a:schemeClr val="tx1"/>
                </a:solidFill>
                <a:latin typeface="Microsoft YaHei" panose="020B0503020204020204" pitchFamily="34" charset="-122"/>
                <a:ea typeface="Microsoft YaHei" panose="020B0503020204020204" pitchFamily="34" charset="-122"/>
              </a:rPr>
              <a:t>表达式探索</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681C3D1D-CF0F-1586-C01E-FF897CE59838}"/>
              </a:ext>
            </a:extLst>
          </p:cNvPr>
          <p:cNvSpPr/>
          <p:nvPr/>
        </p:nvSpPr>
        <p:spPr bwMode="auto">
          <a:xfrm>
            <a:off x="7125966" y="2707814"/>
            <a:ext cx="2161929"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优化输入</a:t>
            </a:r>
          </a:p>
        </p:txBody>
      </p:sp>
      <p:cxnSp>
        <p:nvCxnSpPr>
          <p:cNvPr id="12" name="直线箭头连接符 11">
            <a:extLst>
              <a:ext uri="{FF2B5EF4-FFF2-40B4-BE49-F238E27FC236}">
                <a16:creationId xmlns:a16="http://schemas.microsoft.com/office/drawing/2014/main" id="{B3DA14C3-4228-0FB9-F181-B0A464C4C1A5}"/>
              </a:ext>
            </a:extLst>
          </p:cNvPr>
          <p:cNvCxnSpPr>
            <a:cxnSpLocks/>
            <a:stCxn id="56" idx="0"/>
            <a:endCxn id="10" idx="2"/>
          </p:cNvCxnSpPr>
          <p:nvPr/>
        </p:nvCxnSpPr>
        <p:spPr bwMode="auto">
          <a:xfrm flipV="1">
            <a:off x="8206931" y="3169479"/>
            <a:ext cx="0" cy="784950"/>
          </a:xfrm>
          <a:prstGeom prst="straightConnector1">
            <a:avLst/>
          </a:prstGeom>
          <a:ln w="19050">
            <a:solidFill>
              <a:schemeClr val="tx1"/>
            </a:solidFill>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3" name="直线箭头连接符 12">
            <a:extLst>
              <a:ext uri="{FF2B5EF4-FFF2-40B4-BE49-F238E27FC236}">
                <a16:creationId xmlns:a16="http://schemas.microsoft.com/office/drawing/2014/main" id="{3C185F6B-D62D-B074-DAA4-17770692F9DE}"/>
              </a:ext>
            </a:extLst>
          </p:cNvPr>
          <p:cNvCxnSpPr>
            <a:cxnSpLocks/>
            <a:stCxn id="56" idx="1"/>
            <a:endCxn id="7" idx="3"/>
          </p:cNvCxnSpPr>
          <p:nvPr/>
        </p:nvCxnSpPr>
        <p:spPr bwMode="auto">
          <a:xfrm flipH="1">
            <a:off x="4987700" y="4185262"/>
            <a:ext cx="2138266" cy="0"/>
          </a:xfrm>
          <a:prstGeom prst="straightConnector1">
            <a:avLst/>
          </a:prstGeom>
          <a:ln w="19050">
            <a:headEnd type="arrow"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 name="直线箭头连接符 13">
            <a:extLst>
              <a:ext uri="{FF2B5EF4-FFF2-40B4-BE49-F238E27FC236}">
                <a16:creationId xmlns:a16="http://schemas.microsoft.com/office/drawing/2014/main" id="{A20AC093-6954-2E8C-24F4-9DADBD7A5E1A}"/>
              </a:ext>
            </a:extLst>
          </p:cNvPr>
          <p:cNvCxnSpPr>
            <a:cxnSpLocks/>
            <a:stCxn id="56" idx="2"/>
            <a:endCxn id="9" idx="0"/>
          </p:cNvCxnSpPr>
          <p:nvPr/>
        </p:nvCxnSpPr>
        <p:spPr bwMode="auto">
          <a:xfrm>
            <a:off x="8206931" y="4416094"/>
            <a:ext cx="0" cy="867472"/>
          </a:xfrm>
          <a:prstGeom prst="straightConnector1">
            <a:avLst/>
          </a:prstGeom>
          <a:ln w="19050">
            <a:solidFill>
              <a:schemeClr val="tx1"/>
            </a:solidFill>
            <a:headEnd type="arrow"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5" name="直线箭头连接符 14">
            <a:extLst>
              <a:ext uri="{FF2B5EF4-FFF2-40B4-BE49-F238E27FC236}">
                <a16:creationId xmlns:a16="http://schemas.microsoft.com/office/drawing/2014/main" id="{4BA3C056-9FA7-FD38-2A90-9F2B667725C1}"/>
              </a:ext>
            </a:extLst>
          </p:cNvPr>
          <p:cNvCxnSpPr>
            <a:cxnSpLocks/>
            <a:stCxn id="10" idx="1"/>
            <a:endCxn id="6" idx="3"/>
          </p:cNvCxnSpPr>
          <p:nvPr/>
        </p:nvCxnSpPr>
        <p:spPr bwMode="auto">
          <a:xfrm flipH="1">
            <a:off x="4987700" y="2938647"/>
            <a:ext cx="2138266" cy="0"/>
          </a:xfrm>
          <a:prstGeom prst="straightConnector1">
            <a:avLst/>
          </a:prstGeom>
          <a:ln w="19050">
            <a:headEnd type="arrow"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6" name="直线箭头连接符 15">
            <a:extLst>
              <a:ext uri="{FF2B5EF4-FFF2-40B4-BE49-F238E27FC236}">
                <a16:creationId xmlns:a16="http://schemas.microsoft.com/office/drawing/2014/main" id="{8555BD57-603C-CEF4-A911-4706AAB488FA}"/>
              </a:ext>
            </a:extLst>
          </p:cNvPr>
          <p:cNvCxnSpPr>
            <a:cxnSpLocks/>
            <a:stCxn id="6" idx="2"/>
            <a:endCxn id="7" idx="0"/>
          </p:cNvCxnSpPr>
          <p:nvPr/>
        </p:nvCxnSpPr>
        <p:spPr bwMode="auto">
          <a:xfrm>
            <a:off x="3906736" y="3169479"/>
            <a:ext cx="0" cy="784950"/>
          </a:xfrm>
          <a:prstGeom prst="straightConnector1">
            <a:avLst/>
          </a:prstGeom>
          <a:ln w="19050">
            <a:solidFill>
              <a:schemeClr val="tx1"/>
            </a:solidFill>
            <a:headEnd type="none"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7" name="直线箭头连接符 16">
            <a:extLst>
              <a:ext uri="{FF2B5EF4-FFF2-40B4-BE49-F238E27FC236}">
                <a16:creationId xmlns:a16="http://schemas.microsoft.com/office/drawing/2014/main" id="{68B5B190-C918-6C8B-78A6-7A917CA8A6E4}"/>
              </a:ext>
            </a:extLst>
          </p:cNvPr>
          <p:cNvCxnSpPr>
            <a:cxnSpLocks/>
            <a:stCxn id="7" idx="2"/>
            <a:endCxn id="8" idx="0"/>
          </p:cNvCxnSpPr>
          <p:nvPr/>
        </p:nvCxnSpPr>
        <p:spPr bwMode="auto">
          <a:xfrm>
            <a:off x="3906736" y="4416094"/>
            <a:ext cx="0" cy="867472"/>
          </a:xfrm>
          <a:prstGeom prst="straightConnector1">
            <a:avLst/>
          </a:prstGeom>
          <a:ln w="19050">
            <a:solidFill>
              <a:schemeClr val="tx1"/>
            </a:solidFill>
            <a:headEnd type="none"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8" name="直线箭头连接符 17">
            <a:extLst>
              <a:ext uri="{FF2B5EF4-FFF2-40B4-BE49-F238E27FC236}">
                <a16:creationId xmlns:a16="http://schemas.microsoft.com/office/drawing/2014/main" id="{10874534-96B4-DCE1-4F7C-B7B1C7FCFCBC}"/>
              </a:ext>
            </a:extLst>
          </p:cNvPr>
          <p:cNvCxnSpPr>
            <a:cxnSpLocks/>
            <a:stCxn id="8" idx="3"/>
            <a:endCxn id="9" idx="1"/>
          </p:cNvCxnSpPr>
          <p:nvPr/>
        </p:nvCxnSpPr>
        <p:spPr bwMode="auto">
          <a:xfrm>
            <a:off x="4987700" y="5514399"/>
            <a:ext cx="2138266" cy="0"/>
          </a:xfrm>
          <a:prstGeom prst="straightConnector1">
            <a:avLst/>
          </a:prstGeom>
          <a:ln w="19050">
            <a:headEnd type="arrow"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9" name="文本框 18">
            <a:extLst>
              <a:ext uri="{FF2B5EF4-FFF2-40B4-BE49-F238E27FC236}">
                <a16:creationId xmlns:a16="http://schemas.microsoft.com/office/drawing/2014/main" id="{B8C76266-F0D4-6063-F5E5-31E8F99CE503}"/>
              </a:ext>
            </a:extLst>
          </p:cNvPr>
          <p:cNvSpPr txBox="1"/>
          <p:nvPr/>
        </p:nvSpPr>
        <p:spPr>
          <a:xfrm>
            <a:off x="4653505" y="1806562"/>
            <a:ext cx="3005343" cy="923330"/>
          </a:xfrm>
          <a:prstGeom prst="rect">
            <a:avLst/>
          </a:prstGeom>
          <a:noFill/>
        </p:spPr>
        <p:txBody>
          <a:bodyPr wrap="square">
            <a:spAutoFit/>
          </a:bodyPr>
          <a:lstStyle/>
          <a:p>
            <a:r>
              <a:rPr lang="en-US" altLang="zh-CN" sz="1800" dirty="0">
                <a:latin typeface="+mj-ea"/>
                <a:ea typeface="+mj-ea"/>
              </a:rPr>
              <a:t>enforcer</a:t>
            </a:r>
            <a:r>
              <a:rPr lang="zh-CN" altLang="en-US" sz="1800" dirty="0">
                <a:latin typeface="+mj-ea"/>
                <a:ea typeface="+mj-ea"/>
              </a:rPr>
              <a:t> </a:t>
            </a:r>
            <a:r>
              <a:rPr lang="en-US" altLang="zh-CN" sz="1800" dirty="0">
                <a:latin typeface="+mj-ea"/>
                <a:ea typeface="+mj-ea"/>
              </a:rPr>
              <a:t>(</a:t>
            </a:r>
            <a:r>
              <a:rPr lang="zh-CN" altLang="en-US" sz="1800" dirty="0">
                <a:latin typeface="+mj-ea"/>
                <a:ea typeface="+mj-ea"/>
              </a:rPr>
              <a:t>如排序、分布</a:t>
            </a:r>
            <a:r>
              <a:rPr lang="en-US" altLang="zh-CN" sz="1800" dirty="0">
                <a:latin typeface="+mj-ea"/>
                <a:ea typeface="+mj-ea"/>
              </a:rPr>
              <a:t>)</a:t>
            </a:r>
          </a:p>
          <a:p>
            <a:r>
              <a:rPr lang="en-US" altLang="zh-CN" dirty="0">
                <a:latin typeface="+mj-ea"/>
                <a:ea typeface="+mj-ea"/>
              </a:rPr>
              <a:t>property(</a:t>
            </a:r>
            <a:r>
              <a:rPr lang="zh-CN" altLang="en-US" dirty="0">
                <a:latin typeface="+mj-ea"/>
                <a:ea typeface="+mj-ea"/>
              </a:rPr>
              <a:t>如</a:t>
            </a:r>
            <a:r>
              <a:rPr lang="en-US" altLang="zh-CN" dirty="0">
                <a:latin typeface="+mj-ea"/>
                <a:ea typeface="+mj-ea"/>
              </a:rPr>
              <a:t>schema)</a:t>
            </a:r>
            <a:br>
              <a:rPr lang="en-US" altLang="zh-CN" dirty="0">
                <a:latin typeface="+mj-ea"/>
                <a:ea typeface="+mj-ea"/>
              </a:rPr>
            </a:br>
            <a:r>
              <a:rPr lang="zh-CN" altLang="en-US" dirty="0">
                <a:latin typeface="+mj-ea"/>
                <a:ea typeface="+mj-ea"/>
              </a:rPr>
              <a:t>添加物理算子</a:t>
            </a:r>
            <a:endParaRPr lang="zh-CN" altLang="en-US" dirty="0"/>
          </a:p>
        </p:txBody>
      </p:sp>
      <p:sp>
        <p:nvSpPr>
          <p:cNvPr id="20" name="文本框 19">
            <a:extLst>
              <a:ext uri="{FF2B5EF4-FFF2-40B4-BE49-F238E27FC236}">
                <a16:creationId xmlns:a16="http://schemas.microsoft.com/office/drawing/2014/main" id="{06B0BB86-1613-4DB7-097B-DAFA4D379565}"/>
              </a:ext>
            </a:extLst>
          </p:cNvPr>
          <p:cNvSpPr txBox="1"/>
          <p:nvPr/>
        </p:nvSpPr>
        <p:spPr>
          <a:xfrm>
            <a:off x="9655256" y="2534240"/>
            <a:ext cx="2002296" cy="923330"/>
          </a:xfrm>
          <a:prstGeom prst="rect">
            <a:avLst/>
          </a:prstGeom>
          <a:noFill/>
        </p:spPr>
        <p:txBody>
          <a:bodyPr wrap="square">
            <a:spAutoFit/>
          </a:bodyPr>
          <a:lstStyle/>
          <a:p>
            <a:r>
              <a:rPr lang="zh-CN" altLang="en-US" dirty="0">
                <a:latin typeface="+mj-ea"/>
                <a:ea typeface="+mj-ea"/>
              </a:rPr>
              <a:t>代价估计</a:t>
            </a:r>
            <a:endParaRPr lang="en-US" altLang="zh-CN" dirty="0">
              <a:latin typeface="+mj-ea"/>
              <a:ea typeface="+mj-ea"/>
            </a:endParaRPr>
          </a:p>
          <a:p>
            <a:r>
              <a:rPr lang="en-US" altLang="zh-CN" dirty="0">
                <a:latin typeface="+mj-ea"/>
                <a:ea typeface="+mj-ea"/>
              </a:rPr>
              <a:t>DP</a:t>
            </a:r>
            <a:r>
              <a:rPr lang="zh-CN" altLang="en-US" dirty="0">
                <a:latin typeface="+mj-ea"/>
                <a:ea typeface="+mj-ea"/>
              </a:rPr>
              <a:t>计算最优</a:t>
            </a:r>
            <a:br>
              <a:rPr lang="en-US" altLang="zh-CN" dirty="0">
                <a:latin typeface="+mj-ea"/>
                <a:ea typeface="+mj-ea"/>
              </a:rPr>
            </a:br>
            <a:r>
              <a:rPr lang="en-US" altLang="zh-CN" dirty="0">
                <a:latin typeface="+mj-ea"/>
                <a:ea typeface="+mj-ea"/>
              </a:rPr>
              <a:t>Bound</a:t>
            </a:r>
            <a:r>
              <a:rPr lang="zh-CN" altLang="en-US" dirty="0">
                <a:latin typeface="+mj-ea"/>
                <a:ea typeface="+mj-ea"/>
              </a:rPr>
              <a:t>剪枝</a:t>
            </a:r>
            <a:endParaRPr lang="en-US" altLang="zh-CN" dirty="0">
              <a:latin typeface="+mj-ea"/>
              <a:ea typeface="+mj-ea"/>
            </a:endParaRPr>
          </a:p>
        </p:txBody>
      </p:sp>
      <p:sp>
        <p:nvSpPr>
          <p:cNvPr id="21" name="椭圆 20">
            <a:extLst>
              <a:ext uri="{FF2B5EF4-FFF2-40B4-BE49-F238E27FC236}">
                <a16:creationId xmlns:a16="http://schemas.microsoft.com/office/drawing/2014/main" id="{F7631286-AD65-DD0B-9845-A6BDDED960CF}"/>
              </a:ext>
            </a:extLst>
          </p:cNvPr>
          <p:cNvSpPr/>
          <p:nvPr/>
        </p:nvSpPr>
        <p:spPr bwMode="auto">
          <a:xfrm>
            <a:off x="3286273" y="1580498"/>
            <a:ext cx="1246880" cy="649188"/>
          </a:xfrm>
          <a:prstGeom prst="ellipse">
            <a:avLst/>
          </a:prstGeom>
          <a:solidFill>
            <a:schemeClr val="bg1">
              <a:lumMod val="85000"/>
            </a:schemeClr>
          </a:solidFill>
          <a:ln>
            <a:no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kumimoji="1" lang="zh-CN" altLang="en-US" sz="2400" dirty="0">
                <a:solidFill>
                  <a:schemeClr val="tx1"/>
                </a:solidFill>
                <a:latin typeface="Microsoft YaHei" panose="020B0503020204020204" pitchFamily="34" charset="-122"/>
                <a:ea typeface="Microsoft YaHei" panose="020B0503020204020204" pitchFamily="34" charset="-122"/>
              </a:rPr>
              <a:t>调度</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22" name="矩形 21">
            <a:extLst>
              <a:ext uri="{FF2B5EF4-FFF2-40B4-BE49-F238E27FC236}">
                <a16:creationId xmlns:a16="http://schemas.microsoft.com/office/drawing/2014/main" id="{03BEC78D-639B-789E-2398-065BD0CE2059}"/>
              </a:ext>
            </a:extLst>
          </p:cNvPr>
          <p:cNvSpPr/>
          <p:nvPr/>
        </p:nvSpPr>
        <p:spPr bwMode="auto">
          <a:xfrm>
            <a:off x="7295795" y="1622651"/>
            <a:ext cx="1822269" cy="461665"/>
          </a:xfrm>
          <a:prstGeom prst="rect">
            <a:avLst/>
          </a:prstGeom>
          <a:solidFill>
            <a:schemeClr val="bg1">
              <a:lumMod val="85000"/>
            </a:schemeClr>
          </a:solidFill>
          <a:ln>
            <a:no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dirty="0">
                <a:solidFill>
                  <a:schemeClr val="tx1"/>
                </a:solidFill>
                <a:latin typeface="Microsoft YaHei" panose="020B0503020204020204" pitchFamily="34" charset="-122"/>
                <a:ea typeface="Microsoft YaHei" panose="020B0503020204020204" pitchFamily="34" charset="-122"/>
              </a:rPr>
              <a:t>代价估计</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AE3D71DC-DF87-7F1F-7E43-8E51B19D443C}"/>
              </a:ext>
            </a:extLst>
          </p:cNvPr>
          <p:cNvSpPr txBox="1"/>
          <p:nvPr/>
        </p:nvSpPr>
        <p:spPr>
          <a:xfrm>
            <a:off x="9658805" y="5118817"/>
            <a:ext cx="2002296" cy="646331"/>
          </a:xfrm>
          <a:prstGeom prst="rect">
            <a:avLst/>
          </a:prstGeom>
          <a:noFill/>
        </p:spPr>
        <p:txBody>
          <a:bodyPr wrap="square">
            <a:spAutoFit/>
          </a:bodyPr>
          <a:lstStyle/>
          <a:p>
            <a:r>
              <a:rPr lang="zh-CN" altLang="en-US" sz="1800" dirty="0">
                <a:latin typeface="+mj-ea"/>
                <a:ea typeface="+mj-ea"/>
              </a:rPr>
              <a:t>展开表达式</a:t>
            </a:r>
            <a:r>
              <a:rPr lang="en-US" altLang="zh-CN" sz="1800" dirty="0">
                <a:latin typeface="+mj-ea"/>
                <a:ea typeface="+mj-ea"/>
              </a:rPr>
              <a:t>expr</a:t>
            </a:r>
            <a:br>
              <a:rPr lang="en-US" altLang="zh-CN" sz="1800" dirty="0">
                <a:latin typeface="+mj-ea"/>
                <a:ea typeface="+mj-ea"/>
              </a:rPr>
            </a:br>
            <a:r>
              <a:rPr lang="zh-CN" altLang="en-US" sz="1800" dirty="0">
                <a:latin typeface="+mj-ea"/>
                <a:ea typeface="+mj-ea"/>
              </a:rPr>
              <a:t>逻辑表达式变换</a:t>
            </a:r>
            <a:endParaRPr lang="zh-CN" altLang="en-US" dirty="0"/>
          </a:p>
        </p:txBody>
      </p:sp>
      <p:sp>
        <p:nvSpPr>
          <p:cNvPr id="24" name="文本框 23">
            <a:extLst>
              <a:ext uri="{FF2B5EF4-FFF2-40B4-BE49-F238E27FC236}">
                <a16:creationId xmlns:a16="http://schemas.microsoft.com/office/drawing/2014/main" id="{A668F0D5-8BBE-FFE8-E4FB-876A42112BD5}"/>
              </a:ext>
            </a:extLst>
          </p:cNvPr>
          <p:cNvSpPr txBox="1"/>
          <p:nvPr/>
        </p:nvSpPr>
        <p:spPr>
          <a:xfrm>
            <a:off x="840401" y="2592458"/>
            <a:ext cx="2002296" cy="646331"/>
          </a:xfrm>
          <a:prstGeom prst="rect">
            <a:avLst/>
          </a:prstGeom>
          <a:noFill/>
        </p:spPr>
        <p:txBody>
          <a:bodyPr wrap="square">
            <a:spAutoFit/>
          </a:bodyPr>
          <a:lstStyle/>
          <a:p>
            <a:r>
              <a:rPr lang="zh-CN" altLang="en-US" sz="1800" dirty="0">
                <a:latin typeface="+mj-ea"/>
                <a:ea typeface="+mj-ea"/>
              </a:rPr>
              <a:t>获得</a:t>
            </a:r>
            <a:r>
              <a:rPr lang="en-US" altLang="zh-CN" sz="1800" dirty="0">
                <a:latin typeface="+mj-ea"/>
                <a:ea typeface="+mj-ea"/>
              </a:rPr>
              <a:t>enforcer</a:t>
            </a:r>
            <a:br>
              <a:rPr lang="en-US" altLang="zh-CN" sz="1800" dirty="0">
                <a:latin typeface="+mj-ea"/>
                <a:ea typeface="+mj-ea"/>
              </a:rPr>
            </a:br>
            <a:r>
              <a:rPr lang="zh-CN" altLang="en-US" sz="1800" dirty="0">
                <a:latin typeface="+mj-ea"/>
                <a:ea typeface="+mj-ea"/>
              </a:rPr>
              <a:t>优化组</a:t>
            </a:r>
            <a:r>
              <a:rPr lang="en-US" altLang="zh-CN" sz="1800" dirty="0">
                <a:latin typeface="+mj-ea"/>
                <a:ea typeface="+mj-ea"/>
              </a:rPr>
              <a:t>group</a:t>
            </a:r>
            <a:endParaRPr lang="zh-CN" altLang="en-US" dirty="0"/>
          </a:p>
        </p:txBody>
      </p:sp>
      <p:sp>
        <p:nvSpPr>
          <p:cNvPr id="25" name="文本框 24">
            <a:extLst>
              <a:ext uri="{FF2B5EF4-FFF2-40B4-BE49-F238E27FC236}">
                <a16:creationId xmlns:a16="http://schemas.microsoft.com/office/drawing/2014/main" id="{2B2CB08B-0C07-69C9-0F43-ED03815B266B}"/>
              </a:ext>
            </a:extLst>
          </p:cNvPr>
          <p:cNvSpPr txBox="1"/>
          <p:nvPr/>
        </p:nvSpPr>
        <p:spPr>
          <a:xfrm>
            <a:off x="840401" y="3862095"/>
            <a:ext cx="2002296" cy="646331"/>
          </a:xfrm>
          <a:prstGeom prst="rect">
            <a:avLst/>
          </a:prstGeom>
          <a:noFill/>
        </p:spPr>
        <p:txBody>
          <a:bodyPr wrap="square">
            <a:spAutoFit/>
          </a:bodyPr>
          <a:lstStyle/>
          <a:p>
            <a:r>
              <a:rPr lang="zh-CN" altLang="en-US" sz="1800" dirty="0">
                <a:latin typeface="+mj-ea"/>
                <a:ea typeface="+mj-ea"/>
              </a:rPr>
              <a:t>规则打分</a:t>
            </a:r>
            <a:r>
              <a:rPr lang="en-US" altLang="zh-CN" sz="1800" dirty="0">
                <a:latin typeface="+mj-ea"/>
                <a:ea typeface="+mj-ea"/>
              </a:rPr>
              <a:t>promise</a:t>
            </a:r>
            <a:br>
              <a:rPr lang="en-US" altLang="zh-CN" sz="1800" dirty="0">
                <a:latin typeface="+mj-ea"/>
                <a:ea typeface="+mj-ea"/>
              </a:rPr>
            </a:br>
            <a:r>
              <a:rPr lang="zh-CN" altLang="en-US" sz="1800" dirty="0">
                <a:latin typeface="+mj-ea"/>
                <a:ea typeface="+mj-ea"/>
              </a:rPr>
              <a:t>优化表达式</a:t>
            </a:r>
            <a:r>
              <a:rPr lang="en-US" altLang="zh-CN" sz="1800" dirty="0">
                <a:latin typeface="+mj-ea"/>
                <a:ea typeface="+mj-ea"/>
              </a:rPr>
              <a:t>expr</a:t>
            </a:r>
            <a:endParaRPr lang="zh-CN" altLang="en-US" dirty="0"/>
          </a:p>
        </p:txBody>
      </p:sp>
      <p:sp>
        <p:nvSpPr>
          <p:cNvPr id="26" name="文本框 25">
            <a:extLst>
              <a:ext uri="{FF2B5EF4-FFF2-40B4-BE49-F238E27FC236}">
                <a16:creationId xmlns:a16="http://schemas.microsoft.com/office/drawing/2014/main" id="{60E8B199-17D3-6F27-954C-8F1E3D767651}"/>
              </a:ext>
            </a:extLst>
          </p:cNvPr>
          <p:cNvSpPr txBox="1"/>
          <p:nvPr/>
        </p:nvSpPr>
        <p:spPr>
          <a:xfrm>
            <a:off x="9658805" y="3862095"/>
            <a:ext cx="1439919" cy="923330"/>
          </a:xfrm>
          <a:prstGeom prst="rect">
            <a:avLst/>
          </a:prstGeom>
          <a:noFill/>
        </p:spPr>
        <p:txBody>
          <a:bodyPr wrap="square">
            <a:spAutoFit/>
          </a:bodyPr>
          <a:lstStyle/>
          <a:p>
            <a:r>
              <a:rPr lang="zh-CN" altLang="en-US" sz="1800" dirty="0">
                <a:latin typeface="+mj-ea"/>
                <a:ea typeface="+mj-ea"/>
              </a:rPr>
              <a:t>物理规则</a:t>
            </a:r>
            <a:endParaRPr lang="en-US" altLang="zh-CN" sz="1800" dirty="0">
              <a:latin typeface="+mj-ea"/>
              <a:ea typeface="+mj-ea"/>
            </a:endParaRPr>
          </a:p>
          <a:p>
            <a:r>
              <a:rPr lang="zh-CN" altLang="en-US" dirty="0">
                <a:latin typeface="+mj-ea"/>
                <a:ea typeface="+mj-ea"/>
              </a:rPr>
              <a:t>逻辑规则</a:t>
            </a:r>
            <a:endParaRPr lang="en-US" altLang="zh-CN" dirty="0">
              <a:latin typeface="+mj-ea"/>
              <a:ea typeface="+mj-ea"/>
            </a:endParaRPr>
          </a:p>
          <a:p>
            <a:endParaRPr lang="zh-CN" altLang="en-US" dirty="0"/>
          </a:p>
        </p:txBody>
      </p:sp>
      <p:sp>
        <p:nvSpPr>
          <p:cNvPr id="27" name="文本框 26">
            <a:extLst>
              <a:ext uri="{FF2B5EF4-FFF2-40B4-BE49-F238E27FC236}">
                <a16:creationId xmlns:a16="http://schemas.microsoft.com/office/drawing/2014/main" id="{EC9921C7-5203-B4BD-90CB-4FB7D765E8DE}"/>
              </a:ext>
            </a:extLst>
          </p:cNvPr>
          <p:cNvSpPr txBox="1"/>
          <p:nvPr/>
        </p:nvSpPr>
        <p:spPr>
          <a:xfrm>
            <a:off x="840401" y="5191232"/>
            <a:ext cx="2002296" cy="646331"/>
          </a:xfrm>
          <a:prstGeom prst="rect">
            <a:avLst/>
          </a:prstGeom>
          <a:noFill/>
        </p:spPr>
        <p:txBody>
          <a:bodyPr wrap="square">
            <a:spAutoFit/>
          </a:bodyPr>
          <a:lstStyle/>
          <a:p>
            <a:r>
              <a:rPr lang="zh-CN" altLang="en-US" sz="1800" dirty="0">
                <a:latin typeface="+mj-ea"/>
                <a:ea typeface="+mj-ea"/>
              </a:rPr>
              <a:t>展开</a:t>
            </a:r>
            <a:r>
              <a:rPr lang="zh-CN" altLang="en-US" dirty="0">
                <a:latin typeface="+mj-ea"/>
                <a:ea typeface="+mj-ea"/>
              </a:rPr>
              <a:t>组</a:t>
            </a:r>
            <a:r>
              <a:rPr lang="en-US" altLang="zh-CN" sz="1800" dirty="0">
                <a:latin typeface="+mj-ea"/>
                <a:ea typeface="+mj-ea"/>
              </a:rPr>
              <a:t>group</a:t>
            </a:r>
            <a:br>
              <a:rPr lang="en-US" altLang="zh-CN" sz="1800" dirty="0">
                <a:latin typeface="+mj-ea"/>
                <a:ea typeface="+mj-ea"/>
              </a:rPr>
            </a:br>
            <a:r>
              <a:rPr lang="zh-CN" altLang="en-US" sz="1800" dirty="0">
                <a:latin typeface="+mj-ea"/>
                <a:ea typeface="+mj-ea"/>
              </a:rPr>
              <a:t>挑选逻辑表达式</a:t>
            </a:r>
            <a:endParaRPr lang="zh-CN" altLang="en-US" dirty="0"/>
          </a:p>
        </p:txBody>
      </p:sp>
      <p:sp>
        <p:nvSpPr>
          <p:cNvPr id="28" name="文本框 27">
            <a:extLst>
              <a:ext uri="{FF2B5EF4-FFF2-40B4-BE49-F238E27FC236}">
                <a16:creationId xmlns:a16="http://schemas.microsoft.com/office/drawing/2014/main" id="{0BA5C178-0F63-0CC8-F618-CEE14ACDB1D4}"/>
              </a:ext>
            </a:extLst>
          </p:cNvPr>
          <p:cNvSpPr txBox="1"/>
          <p:nvPr/>
        </p:nvSpPr>
        <p:spPr>
          <a:xfrm>
            <a:off x="3269219" y="1227149"/>
            <a:ext cx="1464081" cy="369332"/>
          </a:xfrm>
          <a:prstGeom prst="rect">
            <a:avLst/>
          </a:prstGeom>
          <a:noFill/>
        </p:spPr>
        <p:txBody>
          <a:bodyPr wrap="square">
            <a:spAutoFit/>
          </a:bodyPr>
          <a:lstStyle/>
          <a:p>
            <a:r>
              <a:rPr lang="en-US" altLang="zh-CN" sz="1800" kern="0" dirty="0">
                <a:latin typeface="+mj-ea"/>
                <a:ea typeface="+mj-ea"/>
              </a:rPr>
              <a:t>DFS</a:t>
            </a:r>
            <a:r>
              <a:rPr lang="zh-CN" altLang="en-US" kern="0" dirty="0">
                <a:latin typeface="+mj-ea"/>
                <a:ea typeface="+mj-ea"/>
              </a:rPr>
              <a:t>搜索</a:t>
            </a:r>
            <a:endParaRPr lang="zh-CN" altLang="en-US" dirty="0"/>
          </a:p>
        </p:txBody>
      </p:sp>
      <p:sp>
        <p:nvSpPr>
          <p:cNvPr id="56" name="矩形 55">
            <a:extLst>
              <a:ext uri="{FF2B5EF4-FFF2-40B4-BE49-F238E27FC236}">
                <a16:creationId xmlns:a16="http://schemas.microsoft.com/office/drawing/2014/main" id="{49CAE09A-CD7B-D3E6-4F95-41E55EFF1D59}"/>
              </a:ext>
            </a:extLst>
          </p:cNvPr>
          <p:cNvSpPr/>
          <p:nvPr/>
        </p:nvSpPr>
        <p:spPr bwMode="auto">
          <a:xfrm>
            <a:off x="7125966" y="3954429"/>
            <a:ext cx="2161929"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dirty="0">
                <a:solidFill>
                  <a:schemeClr val="tx1"/>
                </a:solidFill>
                <a:latin typeface="Microsoft YaHei" panose="020B0503020204020204" pitchFamily="34" charset="-122"/>
                <a:ea typeface="Microsoft YaHei" panose="020B0503020204020204" pitchFamily="34" charset="-122"/>
              </a:rPr>
              <a:t>应用规则</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cxnSp>
        <p:nvCxnSpPr>
          <p:cNvPr id="60" name="直线箭头连接符 59">
            <a:extLst>
              <a:ext uri="{FF2B5EF4-FFF2-40B4-BE49-F238E27FC236}">
                <a16:creationId xmlns:a16="http://schemas.microsoft.com/office/drawing/2014/main" id="{CDD30719-6E0A-6EA2-8263-55178DF72757}"/>
              </a:ext>
            </a:extLst>
          </p:cNvPr>
          <p:cNvCxnSpPr>
            <a:cxnSpLocks/>
            <a:stCxn id="21" idx="4"/>
            <a:endCxn id="6" idx="0"/>
          </p:cNvCxnSpPr>
          <p:nvPr/>
        </p:nvCxnSpPr>
        <p:spPr bwMode="auto">
          <a:xfrm flipH="1">
            <a:off x="3906736" y="2229686"/>
            <a:ext cx="2977" cy="478128"/>
          </a:xfrm>
          <a:prstGeom prst="straightConnector1">
            <a:avLst/>
          </a:prstGeom>
          <a:ln w="19050">
            <a:solidFill>
              <a:schemeClr val="tx1"/>
            </a:solidFill>
            <a:headEnd type="none" w="med" len="med"/>
            <a:tailEnd type="arrow"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86" name="文本框 85">
            <a:extLst>
              <a:ext uri="{FF2B5EF4-FFF2-40B4-BE49-F238E27FC236}">
                <a16:creationId xmlns:a16="http://schemas.microsoft.com/office/drawing/2014/main" id="{5DC5C801-C737-7EC2-65C6-ABAA5C01C4A4}"/>
              </a:ext>
            </a:extLst>
          </p:cNvPr>
          <p:cNvSpPr txBox="1"/>
          <p:nvPr/>
        </p:nvSpPr>
        <p:spPr>
          <a:xfrm>
            <a:off x="7607886" y="3377288"/>
            <a:ext cx="771677" cy="369332"/>
          </a:xfrm>
          <a:prstGeom prst="rect">
            <a:avLst/>
          </a:prstGeom>
          <a:noFill/>
        </p:spPr>
        <p:txBody>
          <a:bodyPr wrap="square">
            <a:spAutoFit/>
          </a:bodyPr>
          <a:lstStyle/>
          <a:p>
            <a:r>
              <a:rPr lang="zh-CN" altLang="en-US" sz="1800" dirty="0">
                <a:latin typeface="+mj-ea"/>
                <a:ea typeface="+mj-ea"/>
              </a:rPr>
              <a:t>物理</a:t>
            </a:r>
            <a:endParaRPr lang="zh-CN" altLang="en-US" dirty="0"/>
          </a:p>
        </p:txBody>
      </p:sp>
      <p:sp>
        <p:nvSpPr>
          <p:cNvPr id="87" name="文本框 86">
            <a:extLst>
              <a:ext uri="{FF2B5EF4-FFF2-40B4-BE49-F238E27FC236}">
                <a16:creationId xmlns:a16="http://schemas.microsoft.com/office/drawing/2014/main" id="{508C8713-B3CB-848A-C045-FD90D0818FE6}"/>
              </a:ext>
            </a:extLst>
          </p:cNvPr>
          <p:cNvSpPr txBox="1"/>
          <p:nvPr/>
        </p:nvSpPr>
        <p:spPr>
          <a:xfrm>
            <a:off x="7607886" y="4749150"/>
            <a:ext cx="771677" cy="369332"/>
          </a:xfrm>
          <a:prstGeom prst="rect">
            <a:avLst/>
          </a:prstGeom>
          <a:noFill/>
        </p:spPr>
        <p:txBody>
          <a:bodyPr wrap="square">
            <a:spAutoFit/>
          </a:bodyPr>
          <a:lstStyle/>
          <a:p>
            <a:r>
              <a:rPr lang="zh-CN" altLang="en-US" sz="1800" dirty="0">
                <a:latin typeface="+mj-ea"/>
                <a:ea typeface="+mj-ea"/>
              </a:rPr>
              <a:t>逻辑</a:t>
            </a:r>
            <a:endParaRPr lang="zh-CN" altLang="en-US" dirty="0"/>
          </a:p>
        </p:txBody>
      </p:sp>
    </p:spTree>
    <p:extLst>
      <p:ext uri="{BB962C8B-B14F-4D97-AF65-F5344CB8AC3E}">
        <p14:creationId xmlns:p14="http://schemas.microsoft.com/office/powerpoint/2010/main" val="230037526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162</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a:t>
            </a:r>
            <a:r>
              <a:rPr lang="zh-CN" altLang="en-US" dirty="0"/>
              <a:t> </a:t>
            </a:r>
            <a:r>
              <a:rPr kumimoji="1" lang="zh-CN" altLang="en-US" dirty="0"/>
              <a:t>最优原则</a:t>
            </a:r>
          </a:p>
        </p:txBody>
      </p:sp>
      <p:sp>
        <p:nvSpPr>
          <p:cNvPr id="5" name="页脚占位符 4">
            <a:extLst>
              <a:ext uri="{FF2B5EF4-FFF2-40B4-BE49-F238E27FC236}">
                <a16:creationId xmlns:a16="http://schemas.microsoft.com/office/drawing/2014/main" id="{7B24C6FA-B622-8DE1-2F30-E04222293933}"/>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1050551" y="1113532"/>
            <a:ext cx="9547768"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en-US" altLang="zh-CN" sz="2800" dirty="0">
                <a:latin typeface="+mj-ea"/>
                <a:ea typeface="+mj-ea"/>
              </a:rPr>
              <a:t>Cascades</a:t>
            </a:r>
            <a:r>
              <a:rPr lang="zh-CN" altLang="en-US" sz="2800" dirty="0">
                <a:latin typeface="+mj-ea"/>
                <a:ea typeface="+mj-ea"/>
              </a:rPr>
              <a:t>中认为</a:t>
            </a:r>
            <a:r>
              <a:rPr lang="zh-CN" altLang="en-US" sz="2800" dirty="0">
                <a:solidFill>
                  <a:srgbClr val="701988"/>
                </a:solidFill>
                <a:latin typeface="+mj-ea"/>
                <a:ea typeface="+mj-ea"/>
              </a:rPr>
              <a:t>最优计划的每个子计划也是最优的</a:t>
            </a:r>
            <a:endParaRPr lang="en-US" altLang="zh-CN" sz="2800" dirty="0">
              <a:solidFill>
                <a:srgbClr val="FF0000"/>
              </a:solidFill>
              <a:latin typeface="+mj-ea"/>
              <a:ea typeface="+mj-ea"/>
            </a:endParaRPr>
          </a:p>
          <a:p>
            <a:pPr>
              <a:buFont typeface="Wingdings" panose="05000000000000000000" pitchFamily="2" charset="2"/>
              <a:buChar char="Ø"/>
            </a:pPr>
            <a:r>
              <a:rPr lang="zh-CN" altLang="en-US" sz="2800" dirty="0">
                <a:latin typeface="+mj-ea"/>
                <a:ea typeface="+mj-ea"/>
              </a:rPr>
              <a:t>将搜索空间限制在一个较小的范围中，通过</a:t>
            </a:r>
            <a:r>
              <a:rPr lang="en-US" altLang="zh-CN" sz="2800" dirty="0">
                <a:latin typeface="+mj-ea"/>
                <a:ea typeface="+mj-ea"/>
              </a:rPr>
              <a:t>DP</a:t>
            </a:r>
            <a:r>
              <a:rPr lang="zh-CN" altLang="en-US" sz="2800" dirty="0">
                <a:latin typeface="+mj-ea"/>
                <a:ea typeface="+mj-ea"/>
              </a:rPr>
              <a:t>计算最优</a:t>
            </a:r>
            <a:endParaRPr lang="en-US" altLang="zh-CN" sz="2800" dirty="0">
              <a:latin typeface="+mj-ea"/>
              <a:ea typeface="+mj-ea"/>
            </a:endParaRPr>
          </a:p>
          <a:p>
            <a:pPr lvl="1">
              <a:buFont typeface="Arial" panose="020B0604020202020204" pitchFamily="34" charset="0"/>
              <a:buChar char="•"/>
            </a:pPr>
            <a:r>
              <a:rPr lang="zh-CN" altLang="en-US" sz="2400" dirty="0">
                <a:latin typeface="+mj-ea"/>
                <a:ea typeface="+mj-ea"/>
              </a:rPr>
              <a:t>不需要搜索含有非最优子计划的候选计划</a:t>
            </a:r>
            <a:endParaRPr lang="en-US" altLang="zh-CN" sz="2400" dirty="0">
              <a:latin typeface="+mj-ea"/>
              <a:ea typeface="+mj-ea"/>
            </a:endParaRPr>
          </a:p>
          <a:p>
            <a:pPr lvl="1">
              <a:buFont typeface="Arial" panose="020B0604020202020204" pitchFamily="34" charset="0"/>
              <a:buChar char="•"/>
            </a:pPr>
            <a:r>
              <a:rPr lang="zh-CN" altLang="en-US" sz="2400" dirty="0">
                <a:latin typeface="+mj-ea"/>
                <a:ea typeface="+mj-ea"/>
              </a:rPr>
              <a:t>复用已经计算的子树</a:t>
            </a:r>
            <a:endParaRPr lang="en-US" altLang="zh-CN" sz="2400" dirty="0">
              <a:latin typeface="+mj-ea"/>
              <a:ea typeface="+mj-ea"/>
            </a:endParaRPr>
          </a:p>
          <a:p>
            <a:pPr lvl="1">
              <a:buFont typeface="Arial" panose="020B0604020202020204" pitchFamily="34" charset="0"/>
              <a:buChar char="•"/>
            </a:pPr>
            <a:r>
              <a:rPr lang="zh-CN" altLang="en-US" sz="2400" dirty="0">
                <a:latin typeface="+mj-ea"/>
                <a:ea typeface="+mj-ea"/>
              </a:rPr>
              <a:t>效率更高</a:t>
            </a:r>
            <a:endParaRPr lang="en-US" altLang="zh-CN" sz="2400" dirty="0">
              <a:latin typeface="+mj-ea"/>
              <a:ea typeface="+mj-ea"/>
            </a:endParaRPr>
          </a:p>
        </p:txBody>
      </p:sp>
      <p:pic>
        <p:nvPicPr>
          <p:cNvPr id="6" name="图片 5">
            <a:extLst>
              <a:ext uri="{FF2B5EF4-FFF2-40B4-BE49-F238E27FC236}">
                <a16:creationId xmlns:a16="http://schemas.microsoft.com/office/drawing/2014/main" id="{6B85DC7C-09D2-D742-6AD2-8E9C24062D76}"/>
              </a:ext>
            </a:extLst>
          </p:cNvPr>
          <p:cNvPicPr>
            <a:picLocks noChangeAspect="1"/>
          </p:cNvPicPr>
          <p:nvPr/>
        </p:nvPicPr>
        <p:blipFill>
          <a:blip r:embed="rId3"/>
          <a:stretch>
            <a:fillRect/>
          </a:stretch>
        </p:blipFill>
        <p:spPr>
          <a:xfrm>
            <a:off x="868803" y="3588370"/>
            <a:ext cx="5103590" cy="2895481"/>
          </a:xfrm>
          <a:prstGeom prst="rect">
            <a:avLst/>
          </a:prstGeom>
        </p:spPr>
      </p:pic>
      <p:pic>
        <p:nvPicPr>
          <p:cNvPr id="7" name="图片 6">
            <a:extLst>
              <a:ext uri="{FF2B5EF4-FFF2-40B4-BE49-F238E27FC236}">
                <a16:creationId xmlns:a16="http://schemas.microsoft.com/office/drawing/2014/main" id="{E8ED2DF3-882E-2DEB-FE4F-93CC4EB94218}"/>
              </a:ext>
            </a:extLst>
          </p:cNvPr>
          <p:cNvPicPr>
            <a:picLocks noChangeAspect="1"/>
          </p:cNvPicPr>
          <p:nvPr/>
        </p:nvPicPr>
        <p:blipFill>
          <a:blip r:embed="rId4"/>
          <a:stretch>
            <a:fillRect/>
          </a:stretch>
        </p:blipFill>
        <p:spPr>
          <a:xfrm>
            <a:off x="6219608" y="2711532"/>
            <a:ext cx="5920673" cy="3707734"/>
          </a:xfrm>
          <a:prstGeom prst="rect">
            <a:avLst/>
          </a:prstGeom>
        </p:spPr>
      </p:pic>
      <p:sp>
        <p:nvSpPr>
          <p:cNvPr id="8" name="矩形标注 7">
            <a:extLst>
              <a:ext uri="{FF2B5EF4-FFF2-40B4-BE49-F238E27FC236}">
                <a16:creationId xmlns:a16="http://schemas.microsoft.com/office/drawing/2014/main" id="{5C8B8F29-AB69-9D43-9228-B7D830B6F03B}"/>
              </a:ext>
            </a:extLst>
          </p:cNvPr>
          <p:cNvSpPr/>
          <p:nvPr/>
        </p:nvSpPr>
        <p:spPr bwMode="auto">
          <a:xfrm>
            <a:off x="51719" y="3780263"/>
            <a:ext cx="1197218" cy="707886"/>
          </a:xfrm>
          <a:prstGeom prst="wedgeRectCallout">
            <a:avLst>
              <a:gd name="adj1" fmla="val 75736"/>
              <a:gd name="adj2" fmla="val 87640"/>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itchFamily="18" charset="0"/>
                <a:ea typeface="华文楷体" pitchFamily="2" charset="-122"/>
              </a:rPr>
              <a:t>Enforcer: sort</a:t>
            </a:r>
            <a:endParaRPr kumimoji="1" lang="zh-CN" altLang="en-US" sz="2000" b="0" i="0" u="none" strike="noStrike" cap="none" normalizeH="0" baseline="0" dirty="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115543222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F937F32-F18F-765D-726E-800954A4F6A1}"/>
              </a:ext>
            </a:extLst>
          </p:cNvPr>
          <p:cNvSpPr>
            <a:spLocks noGrp="1"/>
          </p:cNvSpPr>
          <p:nvPr>
            <p:ph type="sldNum" sz="quarter" idx="10"/>
          </p:nvPr>
        </p:nvSpPr>
        <p:spPr/>
        <p:txBody>
          <a:bodyPr/>
          <a:lstStyle/>
          <a:p>
            <a:fld id="{87BBDC00-B9E2-4EFD-9306-2934E87247C6}" type="slidenum">
              <a:rPr lang="zh-CN" altLang="en-US" smtClean="0"/>
              <a:pPr/>
              <a:t>163</a:t>
            </a:fld>
            <a:endParaRPr lang="zh-CN" altLang="en-US" dirty="0"/>
          </a:p>
        </p:txBody>
      </p:sp>
      <p:sp>
        <p:nvSpPr>
          <p:cNvPr id="3" name="标题 2">
            <a:extLst>
              <a:ext uri="{FF2B5EF4-FFF2-40B4-BE49-F238E27FC236}">
                <a16:creationId xmlns:a16="http://schemas.microsoft.com/office/drawing/2014/main" id="{61A7ED0D-00B5-E6B3-BE7B-D2326FC34FA5}"/>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a:t>
            </a:r>
            <a:r>
              <a:rPr lang="zh-CN" altLang="en-US" dirty="0"/>
              <a:t> 剪枝</a:t>
            </a:r>
            <a:endParaRPr kumimoji="1" lang="zh-CN" altLang="en-US" dirty="0"/>
          </a:p>
        </p:txBody>
      </p:sp>
      <p:sp>
        <p:nvSpPr>
          <p:cNvPr id="4" name="内容占位符 3">
            <a:extLst>
              <a:ext uri="{FF2B5EF4-FFF2-40B4-BE49-F238E27FC236}">
                <a16:creationId xmlns:a16="http://schemas.microsoft.com/office/drawing/2014/main" id="{E621A864-2431-B6A4-1DCF-45D4F6112157}"/>
              </a:ext>
            </a:extLst>
          </p:cNvPr>
          <p:cNvSpPr>
            <a:spLocks noGrp="1"/>
          </p:cNvSpPr>
          <p:nvPr>
            <p:ph idx="1"/>
          </p:nvPr>
        </p:nvSpPr>
        <p:spPr/>
        <p:txBody>
          <a:bodyPr/>
          <a:lstStyle/>
          <a:p>
            <a:r>
              <a:rPr kumimoji="1" lang="zh-CN" altLang="en-US" dirty="0"/>
              <a:t>首先获得可行的物理计划，并得到一个上界</a:t>
            </a:r>
            <a:r>
              <a:rPr kumimoji="1" lang="en-US" altLang="zh-CN" dirty="0" err="1"/>
              <a:t>upperbound</a:t>
            </a:r>
            <a:endParaRPr kumimoji="1" lang="en-US" altLang="zh-CN" dirty="0"/>
          </a:p>
          <a:p>
            <a:r>
              <a:rPr lang="zh-CN" altLang="en-US" dirty="0"/>
              <a:t>如果一个子计划</a:t>
            </a:r>
            <a:r>
              <a:rPr lang="en-US" altLang="zh-CN" dirty="0" err="1"/>
              <a:t>lowerbound</a:t>
            </a:r>
            <a:r>
              <a:rPr lang="zh-CN" altLang="en-US" dirty="0"/>
              <a:t>超过</a:t>
            </a:r>
            <a:r>
              <a:rPr lang="en-US" altLang="zh-CN" dirty="0" err="1"/>
              <a:t>upperbound</a:t>
            </a:r>
            <a:r>
              <a:rPr lang="zh-CN" altLang="en-US" dirty="0"/>
              <a:t>，则可以剪枝</a:t>
            </a:r>
            <a:endParaRPr kumimoji="1" lang="zh-CN" altLang="en-US" dirty="0"/>
          </a:p>
        </p:txBody>
      </p:sp>
      <p:sp>
        <p:nvSpPr>
          <p:cNvPr id="5" name="页脚占位符 4">
            <a:extLst>
              <a:ext uri="{FF2B5EF4-FFF2-40B4-BE49-F238E27FC236}">
                <a16:creationId xmlns:a16="http://schemas.microsoft.com/office/drawing/2014/main" id="{EF78D0F6-6A59-7261-A2AE-166894EE00D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pic>
        <p:nvPicPr>
          <p:cNvPr id="6" name="图片 5">
            <a:extLst>
              <a:ext uri="{FF2B5EF4-FFF2-40B4-BE49-F238E27FC236}">
                <a16:creationId xmlns:a16="http://schemas.microsoft.com/office/drawing/2014/main" id="{6A1FCE57-487D-88C9-31D4-DFF6AD4D8BBC}"/>
              </a:ext>
            </a:extLst>
          </p:cNvPr>
          <p:cNvPicPr>
            <a:picLocks noChangeAspect="1"/>
          </p:cNvPicPr>
          <p:nvPr/>
        </p:nvPicPr>
        <p:blipFill>
          <a:blip r:embed="rId2"/>
          <a:stretch>
            <a:fillRect/>
          </a:stretch>
        </p:blipFill>
        <p:spPr>
          <a:xfrm>
            <a:off x="1740462" y="2398325"/>
            <a:ext cx="7772400" cy="3178048"/>
          </a:xfrm>
          <a:prstGeom prst="rect">
            <a:avLst/>
          </a:prstGeom>
        </p:spPr>
      </p:pic>
      <p:sp>
        <p:nvSpPr>
          <p:cNvPr id="7" name="文本框 6">
            <a:extLst>
              <a:ext uri="{FF2B5EF4-FFF2-40B4-BE49-F238E27FC236}">
                <a16:creationId xmlns:a16="http://schemas.microsoft.com/office/drawing/2014/main" id="{F9C2F232-A316-0E2E-70BE-63F33EA5E7F3}"/>
              </a:ext>
            </a:extLst>
          </p:cNvPr>
          <p:cNvSpPr txBox="1"/>
          <p:nvPr/>
        </p:nvSpPr>
        <p:spPr>
          <a:xfrm>
            <a:off x="6888515" y="4523447"/>
            <a:ext cx="1035780" cy="369332"/>
          </a:xfrm>
          <a:prstGeom prst="rect">
            <a:avLst/>
          </a:prstGeom>
          <a:noFill/>
        </p:spPr>
        <p:txBody>
          <a:bodyPr wrap="square" rtlCol="0">
            <a:spAutoFit/>
          </a:bodyPr>
          <a:lstStyle/>
          <a:p>
            <a:r>
              <a:rPr kumimoji="1" lang="en-US" altLang="zh-CN" dirty="0">
                <a:solidFill>
                  <a:srgbClr val="0000FF"/>
                </a:solidFill>
              </a:rPr>
              <a:t>10</a:t>
            </a:r>
            <a:r>
              <a:rPr kumimoji="1" lang="zh-CN" altLang="en-US" dirty="0">
                <a:solidFill>
                  <a:srgbClr val="0000FF"/>
                </a:solidFill>
              </a:rPr>
              <a:t> </a:t>
            </a:r>
            <a:r>
              <a:rPr kumimoji="1" lang="en-US" altLang="zh-CN" dirty="0">
                <a:solidFill>
                  <a:srgbClr val="0000FF"/>
                </a:solidFill>
              </a:rPr>
              <a:t>secs</a:t>
            </a:r>
            <a:endParaRPr kumimoji="1" lang="zh-CN" altLang="en-US" dirty="0">
              <a:solidFill>
                <a:srgbClr val="0000FF"/>
              </a:solidFill>
            </a:endParaRPr>
          </a:p>
        </p:txBody>
      </p:sp>
    </p:spTree>
    <p:extLst>
      <p:ext uri="{BB962C8B-B14F-4D97-AF65-F5344CB8AC3E}">
        <p14:creationId xmlns:p14="http://schemas.microsoft.com/office/powerpoint/2010/main" val="304179813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8892172-7237-A4F3-E274-49C2C226569B}"/>
              </a:ext>
            </a:extLst>
          </p:cNvPr>
          <p:cNvSpPr>
            <a:spLocks noGrp="1"/>
          </p:cNvSpPr>
          <p:nvPr>
            <p:ph type="sldNum" sz="quarter" idx="10"/>
          </p:nvPr>
        </p:nvSpPr>
        <p:spPr/>
        <p:txBody>
          <a:bodyPr/>
          <a:lstStyle/>
          <a:p>
            <a:fld id="{87BBDC00-B9E2-4EFD-9306-2934E87247C6}" type="slidenum">
              <a:rPr lang="zh-CN" altLang="en-US" smtClean="0"/>
              <a:pPr/>
              <a:t>164</a:t>
            </a:fld>
            <a:endParaRPr lang="zh-CN" altLang="en-US" dirty="0"/>
          </a:p>
        </p:txBody>
      </p:sp>
      <p:sp>
        <p:nvSpPr>
          <p:cNvPr id="3" name="标题 2">
            <a:extLst>
              <a:ext uri="{FF2B5EF4-FFF2-40B4-BE49-F238E27FC236}">
                <a16:creationId xmlns:a16="http://schemas.microsoft.com/office/drawing/2014/main" id="{31959316-005D-BB7D-7733-646E28FA1E5F}"/>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a:t>
            </a:r>
            <a:r>
              <a:rPr lang="zh-CN" altLang="en-US" dirty="0"/>
              <a:t> 剪枝</a:t>
            </a:r>
            <a:endParaRPr kumimoji="1" lang="zh-CN" altLang="en-US" dirty="0"/>
          </a:p>
        </p:txBody>
      </p:sp>
      <p:sp>
        <p:nvSpPr>
          <p:cNvPr id="4" name="内容占位符 3">
            <a:extLst>
              <a:ext uri="{FF2B5EF4-FFF2-40B4-BE49-F238E27FC236}">
                <a16:creationId xmlns:a16="http://schemas.microsoft.com/office/drawing/2014/main" id="{5E762673-6C6F-3D29-AAC7-E7F09832C85E}"/>
              </a:ext>
            </a:extLst>
          </p:cNvPr>
          <p:cNvSpPr>
            <a:spLocks noGrp="1"/>
          </p:cNvSpPr>
          <p:nvPr>
            <p:ph idx="1"/>
          </p:nvPr>
        </p:nvSpPr>
        <p:spPr/>
        <p:txBody>
          <a:bodyPr/>
          <a:lstStyle/>
          <a:p>
            <a:r>
              <a:rPr lang="zh-CN" altLang="en-US" dirty="0"/>
              <a:t>计划</a:t>
            </a:r>
            <a:r>
              <a:rPr lang="en-US" altLang="zh-CN" dirty="0" err="1"/>
              <a:t>lowerbound</a:t>
            </a:r>
            <a:r>
              <a:rPr lang="zh-CN" altLang="en-US" dirty="0"/>
              <a:t>计算方法</a:t>
            </a:r>
            <a:endParaRPr lang="en-US" altLang="zh-CN" dirty="0"/>
          </a:p>
          <a:p>
            <a:pPr lvl="1"/>
            <a:r>
              <a:rPr lang="zh-CN" altLang="en-US" sz="2400" dirty="0"/>
              <a:t>以下三个求和</a:t>
            </a:r>
            <a:endParaRPr kumimoji="1" lang="en-US" altLang="zh-CN" sz="2400" dirty="0"/>
          </a:p>
          <a:p>
            <a:pPr lvl="2"/>
            <a:r>
              <a:rPr kumimoji="1" lang="zh-CN" altLang="en" sz="2000" dirty="0"/>
              <a:t>当前</a:t>
            </a:r>
            <a:r>
              <a:rPr kumimoji="1" lang="zh-CN" altLang="en-US" sz="2000" dirty="0"/>
              <a:t>表达式计算代价</a:t>
            </a:r>
            <a:endParaRPr kumimoji="1" lang="en-US" altLang="zh-CN" sz="2000" dirty="0"/>
          </a:p>
          <a:p>
            <a:pPr lvl="2"/>
            <a:r>
              <a:rPr kumimoji="1" lang="zh-CN" altLang="en" sz="2000" dirty="0"/>
              <a:t>子计划</a:t>
            </a:r>
            <a:r>
              <a:rPr kumimoji="1" lang="zh-CN" altLang="en-US" sz="2000" dirty="0"/>
              <a:t>代价</a:t>
            </a:r>
            <a:endParaRPr kumimoji="1" lang="en-US" altLang="zh-CN" sz="2000" dirty="0"/>
          </a:p>
          <a:p>
            <a:pPr lvl="2"/>
            <a:r>
              <a:rPr kumimoji="1" lang="zh-CN" altLang="en" sz="2000" dirty="0"/>
              <a:t>其他</a:t>
            </a:r>
            <a:r>
              <a:rPr kumimoji="1" lang="zh-CN" altLang="en-US" sz="2000" dirty="0"/>
              <a:t>的</a:t>
            </a:r>
            <a:r>
              <a:rPr lang="zh-CN" altLang="en-US" sz="2000" dirty="0"/>
              <a:t>全局组最小代价</a:t>
            </a:r>
            <a:r>
              <a:rPr lang="en-US" altLang="zh-CN" sz="2000" dirty="0"/>
              <a:t>GLB</a:t>
            </a:r>
            <a:endParaRPr kumimoji="1" lang="zh-CN" altLang="en-US" sz="2000" dirty="0"/>
          </a:p>
        </p:txBody>
      </p:sp>
      <p:sp>
        <p:nvSpPr>
          <p:cNvPr id="5" name="页脚占位符 4">
            <a:extLst>
              <a:ext uri="{FF2B5EF4-FFF2-40B4-BE49-F238E27FC236}">
                <a16:creationId xmlns:a16="http://schemas.microsoft.com/office/drawing/2014/main" id="{46DE207B-B413-BE55-F45B-BFB4B7E8CA40}"/>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pic>
        <p:nvPicPr>
          <p:cNvPr id="6" name="图片 5">
            <a:extLst>
              <a:ext uri="{FF2B5EF4-FFF2-40B4-BE49-F238E27FC236}">
                <a16:creationId xmlns:a16="http://schemas.microsoft.com/office/drawing/2014/main" id="{B58CBE56-1D3F-7520-EC2B-38A72A7BB3F7}"/>
              </a:ext>
            </a:extLst>
          </p:cNvPr>
          <p:cNvPicPr>
            <a:picLocks noChangeAspect="1"/>
          </p:cNvPicPr>
          <p:nvPr/>
        </p:nvPicPr>
        <p:blipFill>
          <a:blip r:embed="rId2"/>
          <a:stretch>
            <a:fillRect/>
          </a:stretch>
        </p:blipFill>
        <p:spPr>
          <a:xfrm>
            <a:off x="4922373" y="2168664"/>
            <a:ext cx="7123296" cy="3211805"/>
          </a:xfrm>
          <a:prstGeom prst="rect">
            <a:avLst/>
          </a:prstGeom>
        </p:spPr>
      </p:pic>
    </p:spTree>
    <p:extLst>
      <p:ext uri="{BB962C8B-B14F-4D97-AF65-F5344CB8AC3E}">
        <p14:creationId xmlns:p14="http://schemas.microsoft.com/office/powerpoint/2010/main" val="199329427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5F724E2-D5D6-FF2A-4802-A19E0D05FA1F}"/>
              </a:ext>
            </a:extLst>
          </p:cNvPr>
          <p:cNvSpPr>
            <a:spLocks noGrp="1"/>
          </p:cNvSpPr>
          <p:nvPr>
            <p:ph type="sldNum" sz="quarter" idx="10"/>
          </p:nvPr>
        </p:nvSpPr>
        <p:spPr/>
        <p:txBody>
          <a:bodyPr/>
          <a:lstStyle/>
          <a:p>
            <a:fld id="{87BBDC00-B9E2-4EFD-9306-2934E87247C6}" type="slidenum">
              <a:rPr lang="zh-CN" altLang="en-US" smtClean="0"/>
              <a:pPr/>
              <a:t>165</a:t>
            </a:fld>
            <a:endParaRPr lang="zh-CN" altLang="en-US" dirty="0"/>
          </a:p>
        </p:txBody>
      </p:sp>
      <p:sp>
        <p:nvSpPr>
          <p:cNvPr id="3" name="标题 2">
            <a:extLst>
              <a:ext uri="{FF2B5EF4-FFF2-40B4-BE49-F238E27FC236}">
                <a16:creationId xmlns:a16="http://schemas.microsoft.com/office/drawing/2014/main" id="{DA0BAA18-DD9C-1FA0-D8FC-77CFA9F44B82}"/>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a:t>
            </a:r>
            <a:r>
              <a:rPr lang="zh-CN" altLang="en-US" dirty="0"/>
              <a:t> 枚举连接顺序</a:t>
            </a:r>
            <a:endParaRPr kumimoji="1" lang="zh-CN" altLang="en-US" dirty="0"/>
          </a:p>
        </p:txBody>
      </p:sp>
      <p:sp>
        <p:nvSpPr>
          <p:cNvPr id="4" name="内容占位符 3">
            <a:extLst>
              <a:ext uri="{FF2B5EF4-FFF2-40B4-BE49-F238E27FC236}">
                <a16:creationId xmlns:a16="http://schemas.microsoft.com/office/drawing/2014/main" id="{1B71C030-F251-5945-E26D-4BE62DFCA4F2}"/>
              </a:ext>
            </a:extLst>
          </p:cNvPr>
          <p:cNvSpPr>
            <a:spLocks noGrp="1"/>
          </p:cNvSpPr>
          <p:nvPr>
            <p:ph idx="1"/>
          </p:nvPr>
        </p:nvSpPr>
        <p:spPr/>
        <p:txBody>
          <a:bodyPr/>
          <a:lstStyle/>
          <a:p>
            <a:pPr>
              <a:lnSpc>
                <a:spcPct val="150000"/>
              </a:lnSpc>
            </a:pPr>
            <a:r>
              <a:rPr kumimoji="1" lang="zh-CN" altLang="en-US" sz="2800" dirty="0"/>
              <a:t>目的：避免连接顺序重复和子</a:t>
            </a:r>
            <a:r>
              <a:rPr kumimoji="1" lang="en-US" altLang="zh-CN" sz="2800" dirty="0"/>
              <a:t>Group</a:t>
            </a:r>
            <a:r>
              <a:rPr kumimoji="1" lang="zh-CN" altLang="en-US" sz="2800" dirty="0"/>
              <a:t>不连通性</a:t>
            </a:r>
            <a:endParaRPr kumimoji="1" lang="en-US" altLang="zh-CN" sz="2800" dirty="0"/>
          </a:p>
          <a:p>
            <a:pPr>
              <a:lnSpc>
                <a:spcPct val="150000"/>
              </a:lnSpc>
            </a:pPr>
            <a:r>
              <a:rPr lang="zh-CN" altLang="en-US" sz="2800" dirty="0"/>
              <a:t>传统方法：通过哈希表避免重复</a:t>
            </a:r>
            <a:endParaRPr lang="en-US" altLang="zh-CN" sz="2800" dirty="0"/>
          </a:p>
          <a:p>
            <a:pPr>
              <a:lnSpc>
                <a:spcPct val="150000"/>
              </a:lnSpc>
            </a:pPr>
            <a:r>
              <a:rPr kumimoji="1" lang="zh-CN" altLang="en-US" sz="2800" dirty="0"/>
              <a:t>优化方法：无向图划分</a:t>
            </a:r>
            <a:endParaRPr kumimoji="1" lang="en-US" altLang="zh-CN" sz="2800" dirty="0"/>
          </a:p>
          <a:p>
            <a:pPr lvl="1">
              <a:lnSpc>
                <a:spcPct val="150000"/>
              </a:lnSpc>
            </a:pPr>
            <a:r>
              <a:rPr kumimoji="1" lang="en-US" altLang="zh-CN" sz="2800" dirty="0"/>
              <a:t>DPCCP(Bottom-Up)</a:t>
            </a:r>
          </a:p>
          <a:p>
            <a:pPr lvl="1">
              <a:lnSpc>
                <a:spcPct val="150000"/>
              </a:lnSpc>
            </a:pPr>
            <a:r>
              <a:rPr kumimoji="1" lang="en-US" altLang="zh-CN" sz="2800" dirty="0" err="1"/>
              <a:t>DPHyp</a:t>
            </a:r>
            <a:r>
              <a:rPr kumimoji="1" lang="en-US" altLang="zh-CN" sz="2800" dirty="0"/>
              <a:t>(Bottom-Up)</a:t>
            </a:r>
          </a:p>
          <a:p>
            <a:pPr lvl="1">
              <a:lnSpc>
                <a:spcPct val="150000"/>
              </a:lnSpc>
            </a:pPr>
            <a:r>
              <a:rPr kumimoji="1" lang="en-US" altLang="zh-CN" sz="2800" dirty="0" err="1"/>
              <a:t>MinCutBranch</a:t>
            </a:r>
            <a:r>
              <a:rPr kumimoji="1" lang="en-US" altLang="zh-CN" sz="2800" dirty="0"/>
              <a:t>(Top-Down)</a:t>
            </a:r>
            <a:endParaRPr kumimoji="1" lang="zh-CN" altLang="en-US" sz="2800" dirty="0"/>
          </a:p>
          <a:p>
            <a:pPr lvl="1">
              <a:lnSpc>
                <a:spcPct val="150000"/>
              </a:lnSpc>
            </a:pPr>
            <a:endParaRPr kumimoji="1" lang="en-US" altLang="zh-CN" sz="2400" dirty="0"/>
          </a:p>
          <a:p>
            <a:pPr>
              <a:lnSpc>
                <a:spcPct val="150000"/>
              </a:lnSpc>
            </a:pPr>
            <a:endParaRPr kumimoji="1" lang="zh-CN" altLang="en-US" sz="2800" dirty="0"/>
          </a:p>
        </p:txBody>
      </p:sp>
      <p:sp>
        <p:nvSpPr>
          <p:cNvPr id="5" name="页脚占位符 4">
            <a:extLst>
              <a:ext uri="{FF2B5EF4-FFF2-40B4-BE49-F238E27FC236}">
                <a16:creationId xmlns:a16="http://schemas.microsoft.com/office/drawing/2014/main" id="{12DE7437-01BA-4C11-E3FB-F44D73565C5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pic>
        <p:nvPicPr>
          <p:cNvPr id="7" name="图片 6">
            <a:extLst>
              <a:ext uri="{FF2B5EF4-FFF2-40B4-BE49-F238E27FC236}">
                <a16:creationId xmlns:a16="http://schemas.microsoft.com/office/drawing/2014/main" id="{BAA25786-C9C4-4B6D-D688-FCB0DB18BFB6}"/>
              </a:ext>
            </a:extLst>
          </p:cNvPr>
          <p:cNvPicPr>
            <a:picLocks noChangeAspect="1"/>
          </p:cNvPicPr>
          <p:nvPr/>
        </p:nvPicPr>
        <p:blipFill>
          <a:blip r:embed="rId2"/>
          <a:stretch>
            <a:fillRect/>
          </a:stretch>
        </p:blipFill>
        <p:spPr>
          <a:xfrm>
            <a:off x="7200872" y="2519772"/>
            <a:ext cx="4370216" cy="3151057"/>
          </a:xfrm>
          <a:prstGeom prst="rect">
            <a:avLst/>
          </a:prstGeom>
        </p:spPr>
      </p:pic>
    </p:spTree>
    <p:extLst>
      <p:ext uri="{BB962C8B-B14F-4D97-AF65-F5344CB8AC3E}">
        <p14:creationId xmlns:p14="http://schemas.microsoft.com/office/powerpoint/2010/main" val="392326929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166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a:t>
            </a:r>
            <a:r>
              <a:rPr lang="en-US" altLang="zh-CN" dirty="0"/>
              <a:t>:</a:t>
            </a:r>
            <a:r>
              <a:rPr lang="zh-CN" altLang="en-US" dirty="0"/>
              <a:t> </a:t>
            </a:r>
            <a:r>
              <a:rPr kumimoji="1" lang="zh-CN" altLang="en-US" dirty="0"/>
              <a:t>搜索终止条件</a:t>
            </a:r>
          </a:p>
        </p:txBody>
      </p:sp>
      <p:sp>
        <p:nvSpPr>
          <p:cNvPr id="5" name="页脚占位符 4">
            <a:extLst>
              <a:ext uri="{FF2B5EF4-FFF2-40B4-BE49-F238E27FC236}">
                <a16:creationId xmlns:a16="http://schemas.microsoft.com/office/drawing/2014/main" id="{82D331CB-D5E9-021F-06F6-480E8979BFB4}"/>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1366370" y="1216261"/>
            <a:ext cx="11456894"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lvl="1">
              <a:lnSpc>
                <a:spcPct val="150000"/>
              </a:lnSpc>
              <a:buFont typeface="Wingdings" panose="05000000000000000000" pitchFamily="2" charset="2"/>
              <a:buChar char="Ø"/>
            </a:pPr>
            <a:r>
              <a:rPr lang="zh-CN" altLang="en-US" b="1" dirty="0">
                <a:solidFill>
                  <a:srgbClr val="000000"/>
                </a:solidFill>
                <a:latin typeface="+mj-ea"/>
                <a:ea typeface="+mj-ea"/>
              </a:rPr>
              <a:t>方案</a:t>
            </a:r>
            <a:r>
              <a:rPr lang="en-US" altLang="zh-CN" b="1" dirty="0">
                <a:solidFill>
                  <a:srgbClr val="000000"/>
                </a:solidFill>
                <a:latin typeface="+mj-ea"/>
                <a:ea typeface="+mj-ea"/>
              </a:rPr>
              <a:t>1:</a:t>
            </a:r>
            <a:r>
              <a:rPr lang="zh-CN" altLang="en-US" b="1" dirty="0">
                <a:solidFill>
                  <a:srgbClr val="000000"/>
                </a:solidFill>
                <a:latin typeface="+mj-ea"/>
                <a:ea typeface="+mj-ea"/>
              </a:rPr>
              <a:t>时钟时间</a:t>
            </a:r>
            <a:endParaRPr lang="en-US" altLang="zh-CN" b="1" dirty="0">
              <a:solidFill>
                <a:srgbClr val="000000"/>
              </a:solidFill>
              <a:latin typeface="+mj-ea"/>
              <a:ea typeface="+mj-ea"/>
            </a:endParaRPr>
          </a:p>
          <a:p>
            <a:pPr lvl="2">
              <a:lnSpc>
                <a:spcPct val="150000"/>
              </a:lnSpc>
              <a:buFont typeface="Arial" panose="020B0604020202020204" pitchFamily="34" charset="0"/>
              <a:buChar char="•"/>
            </a:pPr>
            <a:r>
              <a:rPr lang="zh-CN" altLang="en-US" kern="0" dirty="0">
                <a:latin typeface="+mj-ea"/>
                <a:ea typeface="+mj-ea"/>
              </a:rPr>
              <a:t>在优化器搜索指定时间后停止</a:t>
            </a:r>
            <a:endParaRPr lang="en-US" altLang="zh-CN" kern="0" dirty="0">
              <a:latin typeface="+mj-ea"/>
              <a:ea typeface="+mj-ea"/>
            </a:endParaRPr>
          </a:p>
          <a:p>
            <a:pPr lvl="1">
              <a:lnSpc>
                <a:spcPct val="150000"/>
              </a:lnSpc>
              <a:buFont typeface="Wingdings" panose="05000000000000000000" pitchFamily="2" charset="2"/>
              <a:buChar char="Ø"/>
            </a:pPr>
            <a:r>
              <a:rPr lang="zh-CN" altLang="en-US" b="1" dirty="0">
                <a:solidFill>
                  <a:srgbClr val="000000"/>
                </a:solidFill>
                <a:latin typeface="+mj-ea"/>
                <a:ea typeface="+mj-ea"/>
              </a:rPr>
              <a:t>方案</a:t>
            </a:r>
            <a:r>
              <a:rPr lang="en-US" altLang="zh-CN" b="1" dirty="0">
                <a:solidFill>
                  <a:srgbClr val="000000"/>
                </a:solidFill>
                <a:latin typeface="+mj-ea"/>
                <a:ea typeface="+mj-ea"/>
              </a:rPr>
              <a:t>2:</a:t>
            </a:r>
            <a:r>
              <a:rPr lang="zh-CN" altLang="en-US" b="1" dirty="0">
                <a:solidFill>
                  <a:srgbClr val="000000"/>
                </a:solidFill>
                <a:latin typeface="+mj-ea"/>
                <a:ea typeface="+mj-ea"/>
              </a:rPr>
              <a:t>代价阈值</a:t>
            </a:r>
            <a:endParaRPr lang="en-US" altLang="zh-CN" b="1" dirty="0">
              <a:solidFill>
                <a:srgbClr val="000000"/>
              </a:solidFill>
              <a:latin typeface="+mj-ea"/>
              <a:ea typeface="+mj-ea"/>
            </a:endParaRPr>
          </a:p>
          <a:p>
            <a:pPr lvl="2">
              <a:lnSpc>
                <a:spcPct val="150000"/>
              </a:lnSpc>
              <a:buFont typeface="Arial" panose="020B0604020202020204" pitchFamily="34" charset="0"/>
              <a:buChar char="•"/>
            </a:pPr>
            <a:r>
              <a:rPr lang="zh-CN" altLang="en-US" kern="0" dirty="0">
                <a:latin typeface="+mj-ea"/>
                <a:ea typeface="+mj-ea"/>
              </a:rPr>
              <a:t>当优化器找到一个代价低于某个阈值的计划时停止</a:t>
            </a:r>
            <a:endParaRPr lang="en-US" altLang="zh-CN" kern="0" dirty="0">
              <a:latin typeface="+mj-ea"/>
              <a:ea typeface="+mj-ea"/>
            </a:endParaRPr>
          </a:p>
          <a:p>
            <a:pPr lvl="1">
              <a:lnSpc>
                <a:spcPct val="150000"/>
              </a:lnSpc>
              <a:buFont typeface="Wingdings" panose="05000000000000000000" pitchFamily="2" charset="2"/>
              <a:buChar char="Ø"/>
            </a:pPr>
            <a:r>
              <a:rPr lang="zh-CN" altLang="en-US" b="1" dirty="0">
                <a:solidFill>
                  <a:srgbClr val="000000"/>
                </a:solidFill>
                <a:latin typeface="+mj-ea"/>
                <a:ea typeface="+mj-ea"/>
              </a:rPr>
              <a:t>方案</a:t>
            </a:r>
            <a:r>
              <a:rPr lang="en-US" altLang="zh-CN" b="1" dirty="0">
                <a:solidFill>
                  <a:srgbClr val="000000"/>
                </a:solidFill>
                <a:latin typeface="+mj-ea"/>
                <a:ea typeface="+mj-ea"/>
              </a:rPr>
              <a:t>3:</a:t>
            </a:r>
            <a:r>
              <a:rPr lang="zh-CN" altLang="en-US" b="1" dirty="0">
                <a:solidFill>
                  <a:srgbClr val="000000"/>
                </a:solidFill>
                <a:latin typeface="+mj-ea"/>
                <a:ea typeface="+mj-ea"/>
              </a:rPr>
              <a:t>穷尽转换</a:t>
            </a:r>
            <a:endParaRPr lang="en-US" altLang="zh-CN" b="1" dirty="0">
              <a:solidFill>
                <a:srgbClr val="000000"/>
              </a:solidFill>
              <a:latin typeface="+mj-ea"/>
              <a:ea typeface="+mj-ea"/>
            </a:endParaRPr>
          </a:p>
          <a:p>
            <a:pPr lvl="2">
              <a:lnSpc>
                <a:spcPct val="150000"/>
              </a:lnSpc>
              <a:buFont typeface="Arial" panose="020B0604020202020204" pitchFamily="34" charset="0"/>
              <a:buChar char="•"/>
            </a:pPr>
            <a:r>
              <a:rPr lang="zh-CN" altLang="en-US" kern="0" dirty="0">
                <a:latin typeface="+mj-ea"/>
                <a:ea typeface="+mj-ea"/>
              </a:rPr>
              <a:t>当没有更多的方法来转换目标计划时停止。通常是按组进行</a:t>
            </a:r>
            <a:endParaRPr lang="en-US" altLang="zh-CN" kern="0" dirty="0">
              <a:latin typeface="+mj-ea"/>
              <a:ea typeface="+mj-ea"/>
            </a:endParaRPr>
          </a:p>
        </p:txBody>
      </p:sp>
    </p:spTree>
    <p:extLst>
      <p:ext uri="{BB962C8B-B14F-4D97-AF65-F5344CB8AC3E}">
        <p14:creationId xmlns:p14="http://schemas.microsoft.com/office/powerpoint/2010/main" val="44858341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14CFE0-BC4F-FA29-FED9-442897748B6A}"/>
              </a:ext>
            </a:extLst>
          </p:cNvPr>
          <p:cNvSpPr>
            <a:spLocks noGrp="1"/>
          </p:cNvSpPr>
          <p:nvPr>
            <p:ph type="sldNum" sz="quarter" idx="10"/>
          </p:nvPr>
        </p:nvSpPr>
        <p:spPr/>
        <p:txBody>
          <a:bodyPr/>
          <a:lstStyle/>
          <a:p>
            <a:fld id="{87BBDC00-B9E2-4EFD-9306-2934E87247C6}" type="slidenum">
              <a:rPr lang="zh-CN" altLang="en-US" smtClean="0"/>
              <a:pPr/>
              <a:t>167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⑤ </a:t>
            </a:r>
            <a:r>
              <a:rPr kumimoji="1" lang="en-US" altLang="zh-CN" dirty="0"/>
              <a:t>Cascades</a:t>
            </a:r>
            <a:r>
              <a:rPr kumimoji="1" lang="zh-CN" altLang="en-US" dirty="0"/>
              <a:t>优化器：实现</a:t>
            </a:r>
          </a:p>
        </p:txBody>
      </p:sp>
      <p:sp>
        <p:nvSpPr>
          <p:cNvPr id="5" name="页脚占位符 4">
            <a:extLst>
              <a:ext uri="{FF2B5EF4-FFF2-40B4-BE49-F238E27FC236}">
                <a16:creationId xmlns:a16="http://schemas.microsoft.com/office/drawing/2014/main" id="{07AD58A4-B98D-9973-B1E2-9CB9DAEEB79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4" name="内容占位符 2">
            <a:extLst>
              <a:ext uri="{FF2B5EF4-FFF2-40B4-BE49-F238E27FC236}">
                <a16:creationId xmlns:a16="http://schemas.microsoft.com/office/drawing/2014/main" id="{4A7CBA05-4516-D55D-6E5A-30DA411BEBE2}"/>
              </a:ext>
            </a:extLst>
          </p:cNvPr>
          <p:cNvSpPr txBox="1">
            <a:spLocks/>
          </p:cNvSpPr>
          <p:nvPr/>
        </p:nvSpPr>
        <p:spPr bwMode="auto">
          <a:xfrm>
            <a:off x="2761633" y="906698"/>
            <a:ext cx="6859444" cy="56417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lvl="1">
              <a:lnSpc>
                <a:spcPct val="150000"/>
              </a:lnSpc>
              <a:buFont typeface="Wingdings" panose="05000000000000000000" pitchFamily="2" charset="2"/>
              <a:buChar char="Ø"/>
            </a:pPr>
            <a:r>
              <a:rPr lang="zh-CN" altLang="en-US" b="1" dirty="0">
                <a:solidFill>
                  <a:srgbClr val="000000"/>
                </a:solidFill>
                <a:latin typeface="+mj-ea"/>
                <a:ea typeface="+mj-ea"/>
              </a:rPr>
              <a:t>类别</a:t>
            </a:r>
            <a:r>
              <a:rPr lang="en-US" altLang="zh-CN" b="1" dirty="0">
                <a:solidFill>
                  <a:srgbClr val="000000"/>
                </a:solidFill>
                <a:latin typeface="+mj-ea"/>
                <a:ea typeface="+mj-ea"/>
              </a:rPr>
              <a:t>1:</a:t>
            </a:r>
            <a:r>
              <a:rPr lang="zh-CN" altLang="en-US" b="1" dirty="0">
                <a:solidFill>
                  <a:srgbClr val="000000"/>
                </a:solidFill>
                <a:latin typeface="+mj-ea"/>
                <a:ea typeface="+mj-ea"/>
              </a:rPr>
              <a:t>独立优化器</a:t>
            </a:r>
            <a:endParaRPr lang="en-US" altLang="zh-CN" b="1" dirty="0">
              <a:solidFill>
                <a:srgbClr val="000000"/>
              </a:solidFill>
              <a:latin typeface="+mj-ea"/>
              <a:ea typeface="+mj-ea"/>
            </a:endParaRPr>
          </a:p>
          <a:p>
            <a:pPr lvl="2">
              <a:lnSpc>
                <a:spcPct val="150000"/>
              </a:lnSpc>
              <a:buFont typeface="Arial" panose="020B0604020202020204" pitchFamily="34" charset="0"/>
              <a:buChar char="•"/>
            </a:pPr>
            <a:r>
              <a:rPr lang="fr-FR" altLang="zh-CN" sz="2000" dirty="0">
                <a:solidFill>
                  <a:srgbClr val="701988"/>
                </a:solidFill>
                <a:effectLst/>
                <a:latin typeface="+mj-ea"/>
                <a:ea typeface="+mj-ea"/>
              </a:rPr>
              <a:t>Wisconsin OPT++</a:t>
            </a:r>
            <a:r>
              <a:rPr lang="fr-FR" altLang="zh-CN" sz="2000" dirty="0">
                <a:solidFill>
                  <a:srgbClr val="9A0000"/>
                </a:solidFill>
                <a:effectLst/>
                <a:latin typeface="+mj-ea"/>
                <a:ea typeface="+mj-ea"/>
              </a:rPr>
              <a:t> </a:t>
            </a:r>
            <a:r>
              <a:rPr lang="fr-FR" altLang="zh-CN" sz="2000" dirty="0">
                <a:solidFill>
                  <a:srgbClr val="000000"/>
                </a:solidFill>
                <a:effectLst/>
                <a:latin typeface="+mj-ea"/>
                <a:ea typeface="+mj-ea"/>
              </a:rPr>
              <a:t>(1990s)</a:t>
            </a:r>
            <a:endParaRPr lang="fr-FR" altLang="zh-CN" sz="2000" dirty="0">
              <a:solidFill>
                <a:srgbClr val="9A0000"/>
              </a:solidFill>
              <a:effectLst/>
              <a:latin typeface="+mj-ea"/>
              <a:ea typeface="+mj-ea"/>
            </a:endParaRPr>
          </a:p>
          <a:p>
            <a:pPr lvl="2">
              <a:lnSpc>
                <a:spcPct val="150000"/>
              </a:lnSpc>
              <a:buFont typeface="Arial" panose="020B0604020202020204" pitchFamily="34" charset="0"/>
              <a:buChar char="•"/>
            </a:pPr>
            <a:r>
              <a:rPr lang="fr-FR" altLang="zh-CN" sz="2000" dirty="0">
                <a:solidFill>
                  <a:srgbClr val="701988"/>
                </a:solidFill>
                <a:effectLst/>
                <a:latin typeface="+mj-ea"/>
                <a:ea typeface="+mj-ea"/>
              </a:rPr>
              <a:t>Portland State Columbia </a:t>
            </a:r>
            <a:r>
              <a:rPr lang="fr-FR" altLang="zh-CN" sz="2000" dirty="0">
                <a:solidFill>
                  <a:srgbClr val="000000"/>
                </a:solidFill>
                <a:effectLst/>
                <a:latin typeface="+mj-ea"/>
                <a:ea typeface="+mj-ea"/>
              </a:rPr>
              <a:t>(1990s)</a:t>
            </a:r>
            <a:endParaRPr lang="fr-FR" altLang="zh-CN" sz="2000" dirty="0">
              <a:solidFill>
                <a:srgbClr val="9A0000"/>
              </a:solidFill>
              <a:effectLst/>
              <a:latin typeface="+mj-ea"/>
              <a:ea typeface="+mj-ea"/>
            </a:endParaRPr>
          </a:p>
          <a:p>
            <a:pPr lvl="2">
              <a:lnSpc>
                <a:spcPct val="150000"/>
              </a:lnSpc>
              <a:buFont typeface="Arial" panose="020B0604020202020204" pitchFamily="34" charset="0"/>
              <a:buChar char="•"/>
            </a:pPr>
            <a:r>
              <a:rPr lang="fr-FR" altLang="zh-CN" sz="2000" dirty="0">
                <a:solidFill>
                  <a:srgbClr val="701988"/>
                </a:solidFill>
                <a:effectLst/>
                <a:latin typeface="+mj-ea"/>
                <a:ea typeface="+mj-ea"/>
              </a:rPr>
              <a:t>Pivotal Orca</a:t>
            </a:r>
            <a:r>
              <a:rPr lang="fr-FR" altLang="zh-CN" sz="2000" dirty="0">
                <a:solidFill>
                  <a:srgbClr val="9A0000"/>
                </a:solidFill>
                <a:effectLst/>
                <a:latin typeface="+mj-ea"/>
                <a:ea typeface="+mj-ea"/>
              </a:rPr>
              <a:t> </a:t>
            </a:r>
            <a:r>
              <a:rPr lang="fr-FR" altLang="zh-CN" sz="2000" dirty="0">
                <a:solidFill>
                  <a:srgbClr val="000000"/>
                </a:solidFill>
                <a:effectLst/>
                <a:latin typeface="+mj-ea"/>
                <a:ea typeface="+mj-ea"/>
              </a:rPr>
              <a:t>(2010s)</a:t>
            </a:r>
            <a:endParaRPr lang="fr-FR" altLang="zh-CN" sz="2000" dirty="0">
              <a:solidFill>
                <a:srgbClr val="9A0000"/>
              </a:solidFill>
              <a:effectLst/>
              <a:latin typeface="+mj-ea"/>
              <a:ea typeface="+mj-ea"/>
            </a:endParaRPr>
          </a:p>
          <a:p>
            <a:pPr lvl="2">
              <a:lnSpc>
                <a:spcPct val="150000"/>
              </a:lnSpc>
              <a:buFont typeface="Arial" panose="020B0604020202020204" pitchFamily="34" charset="0"/>
              <a:buChar char="•"/>
            </a:pPr>
            <a:r>
              <a:rPr lang="fr-FR" altLang="zh-CN" sz="2000" dirty="0">
                <a:solidFill>
                  <a:srgbClr val="701988"/>
                </a:solidFill>
                <a:effectLst/>
                <a:latin typeface="+mj-ea"/>
                <a:ea typeface="+mj-ea"/>
              </a:rPr>
              <a:t>Apache Calcite</a:t>
            </a:r>
            <a:r>
              <a:rPr lang="fr-FR" altLang="zh-CN" sz="2000" dirty="0">
                <a:solidFill>
                  <a:srgbClr val="9A0000"/>
                </a:solidFill>
                <a:effectLst/>
                <a:latin typeface="+mj-ea"/>
                <a:ea typeface="+mj-ea"/>
              </a:rPr>
              <a:t> </a:t>
            </a:r>
            <a:r>
              <a:rPr lang="fr-FR" altLang="zh-CN" sz="2000" dirty="0">
                <a:solidFill>
                  <a:srgbClr val="000000"/>
                </a:solidFill>
                <a:effectLst/>
                <a:latin typeface="+mj-ea"/>
                <a:ea typeface="+mj-ea"/>
              </a:rPr>
              <a:t>(2010s)</a:t>
            </a:r>
            <a:endParaRPr lang="en-US" altLang="zh-CN" b="1" dirty="0">
              <a:solidFill>
                <a:srgbClr val="000000"/>
              </a:solidFill>
              <a:latin typeface="+mj-ea"/>
              <a:ea typeface="+mj-ea"/>
            </a:endParaRPr>
          </a:p>
          <a:p>
            <a:pPr lvl="1">
              <a:lnSpc>
                <a:spcPct val="150000"/>
              </a:lnSpc>
              <a:buFont typeface="Wingdings" panose="05000000000000000000" pitchFamily="2" charset="2"/>
              <a:buChar char="Ø"/>
            </a:pPr>
            <a:r>
              <a:rPr lang="zh-CN" altLang="en-US" b="1" dirty="0">
                <a:solidFill>
                  <a:srgbClr val="000000"/>
                </a:solidFill>
                <a:latin typeface="+mj-ea"/>
                <a:ea typeface="+mj-ea"/>
              </a:rPr>
              <a:t>类别</a:t>
            </a:r>
            <a:r>
              <a:rPr lang="en-US" altLang="zh-CN" b="1" dirty="0">
                <a:solidFill>
                  <a:srgbClr val="000000"/>
                </a:solidFill>
                <a:latin typeface="+mj-ea"/>
                <a:ea typeface="+mj-ea"/>
              </a:rPr>
              <a:t>2:</a:t>
            </a:r>
            <a:r>
              <a:rPr lang="zh-CN" altLang="en-US" b="1" dirty="0">
                <a:solidFill>
                  <a:srgbClr val="000000"/>
                </a:solidFill>
                <a:latin typeface="+mj-ea"/>
                <a:ea typeface="+mj-ea"/>
              </a:rPr>
              <a:t>集成式</a:t>
            </a:r>
            <a:endParaRPr lang="en-US" altLang="zh-CN" b="1" dirty="0">
              <a:solidFill>
                <a:srgbClr val="000000"/>
              </a:solidFill>
              <a:latin typeface="+mj-ea"/>
              <a:ea typeface="+mj-ea"/>
            </a:endParaRPr>
          </a:p>
          <a:p>
            <a:pPr lvl="2">
              <a:lnSpc>
                <a:spcPct val="150000"/>
              </a:lnSpc>
              <a:buFont typeface="Arial" panose="020B0604020202020204" pitchFamily="34" charset="0"/>
              <a:buChar char="•"/>
            </a:pPr>
            <a:r>
              <a:rPr lang="fr-FR" altLang="zh-CN" sz="2000" dirty="0">
                <a:solidFill>
                  <a:srgbClr val="701988"/>
                </a:solidFill>
                <a:latin typeface="+mj-ea"/>
                <a:ea typeface="+mj-ea"/>
              </a:rPr>
              <a:t>Microsoft SQL Server </a:t>
            </a:r>
            <a:r>
              <a:rPr lang="fr-FR" altLang="zh-CN" sz="2000" dirty="0">
                <a:effectLst/>
                <a:latin typeface="+mj-ea"/>
                <a:ea typeface="+mj-ea"/>
              </a:rPr>
              <a:t>(1990s)</a:t>
            </a:r>
          </a:p>
          <a:p>
            <a:pPr lvl="2">
              <a:lnSpc>
                <a:spcPct val="150000"/>
              </a:lnSpc>
              <a:buFont typeface="Arial" panose="020B0604020202020204" pitchFamily="34" charset="0"/>
              <a:buChar char="•"/>
            </a:pPr>
            <a:r>
              <a:rPr lang="fr-FR" altLang="zh-CN" sz="2000" dirty="0">
                <a:solidFill>
                  <a:srgbClr val="701988"/>
                </a:solidFill>
                <a:effectLst/>
                <a:latin typeface="+mj-ea"/>
                <a:ea typeface="+mj-ea"/>
              </a:rPr>
              <a:t>Tandem </a:t>
            </a:r>
            <a:r>
              <a:rPr lang="fr-FR" altLang="zh-CN" sz="2000" dirty="0" err="1">
                <a:solidFill>
                  <a:srgbClr val="701988"/>
                </a:solidFill>
                <a:effectLst/>
                <a:latin typeface="+mj-ea"/>
                <a:ea typeface="+mj-ea"/>
              </a:rPr>
              <a:t>NonStop</a:t>
            </a:r>
            <a:r>
              <a:rPr lang="fr-FR" altLang="zh-CN" sz="2000" dirty="0">
                <a:solidFill>
                  <a:srgbClr val="701988"/>
                </a:solidFill>
                <a:effectLst/>
                <a:latin typeface="+mj-ea"/>
                <a:ea typeface="+mj-ea"/>
              </a:rPr>
              <a:t> SQL </a:t>
            </a:r>
            <a:r>
              <a:rPr lang="fr-FR" altLang="zh-CN" sz="2000" dirty="0">
                <a:solidFill>
                  <a:srgbClr val="000000"/>
                </a:solidFill>
                <a:effectLst/>
                <a:latin typeface="+mj-ea"/>
                <a:ea typeface="+mj-ea"/>
              </a:rPr>
              <a:t>(1990s)</a:t>
            </a:r>
            <a:endParaRPr lang="fr-FR" altLang="zh-CN" sz="2000" dirty="0">
              <a:solidFill>
                <a:srgbClr val="9A0000"/>
              </a:solidFill>
              <a:effectLst/>
              <a:latin typeface="+mj-ea"/>
              <a:ea typeface="+mj-ea"/>
            </a:endParaRPr>
          </a:p>
          <a:p>
            <a:pPr lvl="2">
              <a:lnSpc>
                <a:spcPct val="150000"/>
              </a:lnSpc>
              <a:buFont typeface="Arial" panose="020B0604020202020204" pitchFamily="34" charset="0"/>
              <a:buChar char="•"/>
            </a:pPr>
            <a:r>
              <a:rPr lang="fr-FR" altLang="zh-CN" sz="2000" dirty="0" err="1">
                <a:solidFill>
                  <a:srgbClr val="701988"/>
                </a:solidFill>
                <a:effectLst/>
                <a:latin typeface="+mj-ea"/>
                <a:ea typeface="+mj-ea"/>
              </a:rPr>
              <a:t>Clustrix</a:t>
            </a:r>
            <a:r>
              <a:rPr lang="fr-FR" altLang="zh-CN" sz="2000" dirty="0">
                <a:solidFill>
                  <a:srgbClr val="9A0000"/>
                </a:solidFill>
                <a:effectLst/>
                <a:latin typeface="+mj-ea"/>
                <a:ea typeface="+mj-ea"/>
              </a:rPr>
              <a:t> </a:t>
            </a:r>
            <a:r>
              <a:rPr lang="fr-FR" altLang="zh-CN" sz="2000" dirty="0">
                <a:solidFill>
                  <a:srgbClr val="000000"/>
                </a:solidFill>
                <a:effectLst/>
                <a:latin typeface="+mj-ea"/>
                <a:ea typeface="+mj-ea"/>
              </a:rPr>
              <a:t>(2000s)</a:t>
            </a:r>
            <a:endParaRPr lang="fr-FR" altLang="zh-CN" sz="2000" dirty="0">
              <a:solidFill>
                <a:srgbClr val="9A0000"/>
              </a:solidFill>
              <a:effectLst/>
              <a:latin typeface="+mj-ea"/>
              <a:ea typeface="+mj-ea"/>
            </a:endParaRPr>
          </a:p>
          <a:p>
            <a:pPr lvl="2">
              <a:lnSpc>
                <a:spcPct val="150000"/>
              </a:lnSpc>
              <a:buFont typeface="Arial" panose="020B0604020202020204" pitchFamily="34" charset="0"/>
              <a:buChar char="•"/>
            </a:pPr>
            <a:r>
              <a:rPr lang="fr-FR" altLang="zh-CN" sz="2000" dirty="0">
                <a:solidFill>
                  <a:srgbClr val="701988"/>
                </a:solidFill>
                <a:effectLst/>
                <a:latin typeface="+mj-ea"/>
                <a:ea typeface="+mj-ea"/>
              </a:rPr>
              <a:t>CMU Peloton </a:t>
            </a:r>
            <a:r>
              <a:rPr lang="fr-FR" altLang="zh-CN" sz="2000" dirty="0">
                <a:effectLst/>
                <a:latin typeface="+mj-ea"/>
                <a:ea typeface="+mj-ea"/>
              </a:rPr>
              <a:t>(2010s – RIP)</a:t>
            </a:r>
          </a:p>
        </p:txBody>
      </p:sp>
    </p:spTree>
    <p:extLst>
      <p:ext uri="{BB962C8B-B14F-4D97-AF65-F5344CB8AC3E}">
        <p14:creationId xmlns:p14="http://schemas.microsoft.com/office/powerpoint/2010/main" val="304322903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D4C10E-8036-2716-7AE7-00CD3FAF6CF8}"/>
              </a:ext>
            </a:extLst>
          </p:cNvPr>
          <p:cNvSpPr>
            <a:spLocks noGrp="1"/>
          </p:cNvSpPr>
          <p:nvPr>
            <p:ph type="sldNum" sz="quarter" idx="10"/>
          </p:nvPr>
        </p:nvSpPr>
        <p:spPr/>
        <p:txBody>
          <a:bodyPr/>
          <a:lstStyle/>
          <a:p>
            <a:fld id="{87BBDC00-B9E2-4EFD-9306-2934E87247C6}" type="slidenum">
              <a:rPr lang="zh-CN" altLang="en-US" smtClean="0"/>
              <a:pPr/>
              <a:t>168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kumimoji="1" lang="zh-CN" altLang="en-US" dirty="0"/>
              <a:t>优化器系统</a:t>
            </a:r>
          </a:p>
        </p:txBody>
      </p:sp>
      <p:sp>
        <p:nvSpPr>
          <p:cNvPr id="4" name="页脚占位符 3">
            <a:extLst>
              <a:ext uri="{FF2B5EF4-FFF2-40B4-BE49-F238E27FC236}">
                <a16:creationId xmlns:a16="http://schemas.microsoft.com/office/drawing/2014/main" id="{919B077D-85E6-B5DA-5FC6-585B6B260897}"/>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6" name="内容占位符 2">
            <a:extLst>
              <a:ext uri="{FF2B5EF4-FFF2-40B4-BE49-F238E27FC236}">
                <a16:creationId xmlns:a16="http://schemas.microsoft.com/office/drawing/2014/main" id="{3A77DD7A-E201-E5F7-A37D-D7A48E626DFE}"/>
              </a:ext>
            </a:extLst>
          </p:cNvPr>
          <p:cNvSpPr txBox="1">
            <a:spLocks/>
          </p:cNvSpPr>
          <p:nvPr/>
        </p:nvSpPr>
        <p:spPr bwMode="auto">
          <a:xfrm>
            <a:off x="2214982" y="2116595"/>
            <a:ext cx="11456894" cy="4876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SimHei" panose="02010609060101010101" pitchFamily="49" charset="-122"/>
                <a:ea typeface="SimHei" panose="02010609060101010101" pitchFamily="49" charset="-122"/>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SimHei" panose="02010609060101010101" pitchFamily="49" charset="-122"/>
                <a:ea typeface="SimHei" panose="02010609060101010101" pitchFamily="49" charset="-122"/>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SimHei" panose="02010609060101010101" pitchFamily="49" charset="-122"/>
                <a:ea typeface="SimHei" panose="02010609060101010101" pitchFamily="49" charset="-122"/>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SimHei" panose="02010609060101010101" pitchFamily="49" charset="-122"/>
                <a:ea typeface="SimHei" panose="02010609060101010101" pitchFamily="49" charset="-122"/>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514350" indent="-514350">
              <a:lnSpc>
                <a:spcPct val="150000"/>
              </a:lnSpc>
              <a:buFont typeface="+mj-ea"/>
              <a:buAutoNum type="circleNumDbPlain"/>
            </a:pPr>
            <a:r>
              <a:rPr lang="zh-CN" altLang="en-US" sz="2800" dirty="0">
                <a:latin typeface="+mj-ea"/>
                <a:ea typeface="+mj-ea"/>
              </a:rPr>
              <a:t>优化器系统的计划生成</a:t>
            </a:r>
            <a:endParaRPr lang="en-US" altLang="zh-CN" sz="2800" dirty="0">
              <a:latin typeface="+mj-ea"/>
              <a:ea typeface="+mj-ea"/>
            </a:endParaRPr>
          </a:p>
          <a:p>
            <a:pPr marL="514350" indent="-514350">
              <a:lnSpc>
                <a:spcPct val="150000"/>
              </a:lnSpc>
              <a:buFont typeface="+mj-ea"/>
              <a:buAutoNum type="circleNumDbPlain"/>
            </a:pPr>
            <a:r>
              <a:rPr lang="zh-CN" altLang="en-US" sz="2800" b="1" dirty="0">
                <a:solidFill>
                  <a:srgbClr val="701988"/>
                </a:solidFill>
                <a:latin typeface="+mj-ea"/>
                <a:ea typeface="+mj-ea"/>
              </a:rPr>
              <a:t>物化与流水线</a:t>
            </a:r>
            <a:endParaRPr lang="en-US" altLang="zh-CN" sz="2800" b="1" dirty="0">
              <a:solidFill>
                <a:srgbClr val="701988"/>
              </a:solidFill>
              <a:latin typeface="+mj-ea"/>
              <a:ea typeface="+mj-ea"/>
            </a:endParaRPr>
          </a:p>
          <a:p>
            <a:pPr lvl="1">
              <a:buFont typeface="Wingdings" pitchFamily="2" charset="2"/>
              <a:buChar char="Ø"/>
            </a:pPr>
            <a:endParaRPr lang="en-US" altLang="zh-CN" sz="2400" b="1" kern="0" dirty="0">
              <a:latin typeface="+mj-ea"/>
              <a:ea typeface="+mj-ea"/>
            </a:endParaRPr>
          </a:p>
          <a:p>
            <a:pPr>
              <a:buFont typeface="Wingdings" pitchFamily="2" charset="2"/>
              <a:buChar char="p"/>
            </a:pPr>
            <a:endParaRPr lang="en-US" altLang="zh-CN" sz="2800" b="1" kern="0" dirty="0">
              <a:latin typeface="+mj-ea"/>
              <a:ea typeface="+mj-ea"/>
            </a:endParaRPr>
          </a:p>
          <a:p>
            <a:pPr lvl="1">
              <a:buFont typeface="Wingdings" pitchFamily="2" charset="2"/>
              <a:buChar char="p"/>
            </a:pPr>
            <a:endParaRPr lang="en-US" altLang="zh-CN" sz="2400" b="1" kern="0" dirty="0">
              <a:latin typeface="+mj-ea"/>
              <a:ea typeface="+mj-ea"/>
            </a:endParaRPr>
          </a:p>
          <a:p>
            <a:pPr marL="0" indent="0">
              <a:buFont typeface="Wingdings" charset="2"/>
              <a:buNone/>
            </a:pPr>
            <a:r>
              <a:rPr lang="zh-CN" altLang="zh-CN" sz="2000" b="1" kern="0" dirty="0">
                <a:latin typeface="+mj-ea"/>
                <a:ea typeface="+mj-ea"/>
              </a:rPr>
              <a:t> </a:t>
            </a:r>
            <a:endParaRPr lang="zh-CN" altLang="en-US" sz="2000" b="1" kern="0" dirty="0">
              <a:latin typeface="+mj-ea"/>
              <a:ea typeface="+mj-ea"/>
            </a:endParaRPr>
          </a:p>
        </p:txBody>
      </p:sp>
    </p:spTree>
    <p:extLst>
      <p:ext uri="{BB962C8B-B14F-4D97-AF65-F5344CB8AC3E}">
        <p14:creationId xmlns:p14="http://schemas.microsoft.com/office/powerpoint/2010/main" val="390331038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6458743-86BF-D81B-4ABC-0608A092F824}"/>
              </a:ext>
            </a:extLst>
          </p:cNvPr>
          <p:cNvSpPr>
            <a:spLocks noGrp="1"/>
          </p:cNvSpPr>
          <p:nvPr>
            <p:ph type="sldNum" sz="quarter" idx="10"/>
          </p:nvPr>
        </p:nvSpPr>
        <p:spPr/>
        <p:txBody>
          <a:bodyPr/>
          <a:lstStyle/>
          <a:p>
            <a:fld id="{87BBDC00-B9E2-4EFD-9306-2934E87247C6}" type="slidenum">
              <a:rPr lang="zh-CN" altLang="en-US" smtClean="0"/>
              <a:pPr/>
              <a:t>169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物化与流水线</a:t>
            </a:r>
            <a:endParaRPr kumimoji="1" lang="zh-CN" altLang="en-US" dirty="0"/>
          </a:p>
        </p:txBody>
      </p:sp>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989206" y="1513392"/>
            <a:ext cx="10366771" cy="5005387"/>
          </a:xfrm>
        </p:spPr>
        <p:txBody>
          <a:bodyPr/>
          <a:lstStyle/>
          <a:p>
            <a:pPr>
              <a:lnSpc>
                <a:spcPct val="150000"/>
              </a:lnSpc>
              <a:buFont typeface="Wingdings" panose="05000000000000000000" pitchFamily="2" charset="2"/>
              <a:buChar char="Ø"/>
            </a:pPr>
            <a:r>
              <a:rPr lang="zh-CN" altLang="zh-CN" dirty="0"/>
              <a:t>物化</a:t>
            </a:r>
            <a:r>
              <a:rPr lang="zh-CN" altLang="en-US" dirty="0"/>
              <a:t>：</a:t>
            </a:r>
            <a:r>
              <a:rPr lang="zh-CN" altLang="zh-CN" dirty="0"/>
              <a:t>将每个运算的结果存储为磁盘上的临时关系，会带来</a:t>
            </a:r>
            <a:r>
              <a:rPr lang="zh-CN" altLang="zh-CN" dirty="0">
                <a:solidFill>
                  <a:srgbClr val="701988"/>
                </a:solidFill>
              </a:rPr>
              <a:t>大量磁盘</a:t>
            </a:r>
            <a:r>
              <a:rPr lang="zh-CN" altLang="en-US" dirty="0">
                <a:solidFill>
                  <a:srgbClr val="701988"/>
                </a:solidFill>
              </a:rPr>
              <a:t>读</a:t>
            </a:r>
            <a:r>
              <a:rPr lang="zh-CN" altLang="zh-CN" dirty="0">
                <a:solidFill>
                  <a:srgbClr val="701988"/>
                </a:solidFill>
              </a:rPr>
              <a:t>写</a:t>
            </a:r>
            <a:r>
              <a:rPr lang="zh-CN" altLang="zh-CN" dirty="0"/>
              <a:t>的开销</a:t>
            </a:r>
            <a:endParaRPr lang="en-US" altLang="zh-CN" dirty="0"/>
          </a:p>
          <a:p>
            <a:pPr>
              <a:lnSpc>
                <a:spcPct val="150000"/>
              </a:lnSpc>
              <a:buFont typeface="Wingdings" panose="05000000000000000000" pitchFamily="2" charset="2"/>
              <a:buChar char="Ø"/>
            </a:pPr>
            <a:r>
              <a:rPr lang="zh-CN" altLang="zh-CN" dirty="0"/>
              <a:t>流水线</a:t>
            </a:r>
            <a:r>
              <a:rPr lang="zh-CN" altLang="en-US" dirty="0"/>
              <a:t>：</a:t>
            </a:r>
            <a:r>
              <a:rPr lang="zh-CN" altLang="zh-CN" dirty="0"/>
              <a:t>得到一个操作的部分结果时就会将数据传递到下一个操作中</a:t>
            </a:r>
            <a:r>
              <a:rPr lang="zh-CN" altLang="en-US" dirty="0"/>
              <a:t>，</a:t>
            </a:r>
            <a:r>
              <a:rPr lang="zh-CN" altLang="en-US" dirty="0">
                <a:solidFill>
                  <a:srgbClr val="701988"/>
                </a:solidFill>
              </a:rPr>
              <a:t>避免了临时文件</a:t>
            </a:r>
            <a:r>
              <a:rPr lang="zh-CN" altLang="en-US" dirty="0"/>
              <a:t>的读写</a:t>
            </a:r>
            <a:endParaRPr lang="en-US" altLang="zh-CN" dirty="0"/>
          </a:p>
          <a:p>
            <a:pPr>
              <a:lnSpc>
                <a:spcPct val="150000"/>
              </a:lnSpc>
              <a:buFont typeface="Wingdings" panose="05000000000000000000" pitchFamily="2" charset="2"/>
              <a:buChar char="Ø"/>
            </a:pPr>
            <a:r>
              <a:rPr lang="zh-CN" altLang="zh-CN" dirty="0"/>
              <a:t>使用流水线执行能够减少磁盘的</a:t>
            </a:r>
            <a:r>
              <a:rPr lang="en-US" altLang="zh-CN" dirty="0"/>
              <a:t>I/O</a:t>
            </a:r>
            <a:r>
              <a:rPr lang="zh-CN" altLang="zh-CN" dirty="0"/>
              <a:t>，因而在内存足够的情况下流水线方法一般总是更好的选择。</a:t>
            </a:r>
          </a:p>
          <a:p>
            <a:pPr marL="0" indent="0">
              <a:lnSpc>
                <a:spcPct val="150000"/>
              </a:lnSpc>
              <a:buNone/>
            </a:pPr>
            <a:endParaRPr lang="en-US" altLang="zh-CN" sz="2800" dirty="0"/>
          </a:p>
        </p:txBody>
      </p:sp>
      <p:sp>
        <p:nvSpPr>
          <p:cNvPr id="5" name="页脚占位符 4">
            <a:extLst>
              <a:ext uri="{FF2B5EF4-FFF2-40B4-BE49-F238E27FC236}">
                <a16:creationId xmlns:a16="http://schemas.microsoft.com/office/drawing/2014/main" id="{78B957EF-FF85-1E64-3B4A-3F8AC4E05BBD}"/>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194703166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29B9DF3-A096-D478-3E1D-7C10FB424EED}"/>
              </a:ext>
            </a:extLst>
          </p:cNvPr>
          <p:cNvSpPr>
            <a:spLocks noGrp="1"/>
          </p:cNvSpPr>
          <p:nvPr>
            <p:ph type="sldNum" sz="quarter" idx="10"/>
          </p:nvPr>
        </p:nvSpPr>
        <p:spPr/>
        <p:txBody>
          <a:bodyPr/>
          <a:lstStyle/>
          <a:p>
            <a:fld id="{87BBDC00-B9E2-4EFD-9306-2934E87247C6}" type="slidenum">
              <a:rPr lang="zh-CN" altLang="en-US" smtClean="0"/>
              <a:pPr/>
              <a:t>170</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流水线方法的限制</a:t>
            </a:r>
            <a:endParaRPr kumimoji="1" lang="zh-CN" altLang="en-US" dirty="0"/>
          </a:p>
        </p:txBody>
      </p:sp>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871071" y="1134261"/>
            <a:ext cx="10206232" cy="5005387"/>
          </a:xfrm>
        </p:spPr>
        <p:txBody>
          <a:bodyPr/>
          <a:lstStyle/>
          <a:p>
            <a:pPr>
              <a:lnSpc>
                <a:spcPct val="150000"/>
              </a:lnSpc>
              <a:buFont typeface="Wingdings" panose="05000000000000000000" pitchFamily="2" charset="2"/>
              <a:buChar char="Ø"/>
            </a:pPr>
            <a:r>
              <a:rPr lang="zh-CN" altLang="zh-CN" sz="2200" dirty="0"/>
              <a:t>并不是任何操作都可以使用流水线执行</a:t>
            </a:r>
            <a:endParaRPr lang="en-US" altLang="zh-CN" sz="2200" dirty="0"/>
          </a:p>
          <a:p>
            <a:pPr>
              <a:lnSpc>
                <a:spcPct val="150000"/>
              </a:lnSpc>
              <a:buFont typeface="Wingdings" panose="05000000000000000000" pitchFamily="2" charset="2"/>
              <a:buChar char="Ø"/>
            </a:pPr>
            <a:r>
              <a:rPr lang="zh-CN" altLang="zh-CN" sz="2200" dirty="0"/>
              <a:t>能够流水线执行的运算需要像选择、投影运算一样，在</a:t>
            </a:r>
            <a:r>
              <a:rPr lang="zh-CN" altLang="zh-CN" sz="2200" dirty="0">
                <a:solidFill>
                  <a:srgbClr val="701988"/>
                </a:solidFill>
              </a:rPr>
              <a:t>收到部分输入</a:t>
            </a:r>
            <a:r>
              <a:rPr lang="zh-CN" altLang="zh-CN" sz="2200" dirty="0"/>
              <a:t>元组后就可以开始输出运算产生的结果元组</a:t>
            </a:r>
            <a:endParaRPr lang="en-US" altLang="zh-CN" sz="2200" dirty="0"/>
          </a:p>
          <a:p>
            <a:pPr>
              <a:lnSpc>
                <a:spcPct val="150000"/>
              </a:lnSpc>
              <a:buFont typeface="Wingdings" panose="05000000000000000000" pitchFamily="2" charset="2"/>
              <a:buChar char="Ø"/>
            </a:pPr>
            <a:r>
              <a:rPr lang="zh-CN" altLang="en-US" sz="2200" dirty="0"/>
              <a:t>存在</a:t>
            </a:r>
            <a:r>
              <a:rPr lang="zh-CN" altLang="en-US" sz="2200" dirty="0">
                <a:solidFill>
                  <a:srgbClr val="701988"/>
                </a:solidFill>
              </a:rPr>
              <a:t>阻塞</a:t>
            </a:r>
            <a:r>
              <a:rPr lang="zh-CN" altLang="en-US" sz="2200" dirty="0"/>
              <a:t>的算子不能流水线执行：</a:t>
            </a:r>
            <a:endParaRPr lang="en-US" altLang="zh-CN" sz="2200" dirty="0"/>
          </a:p>
          <a:p>
            <a:pPr lvl="1">
              <a:lnSpc>
                <a:spcPct val="150000"/>
              </a:lnSpc>
              <a:buFont typeface="Arial" panose="020B0604020202020204" pitchFamily="34" charset="0"/>
              <a:buChar char="•"/>
            </a:pPr>
            <a:r>
              <a:rPr lang="zh-CN" altLang="en-US" sz="1800" dirty="0"/>
              <a:t>如</a:t>
            </a:r>
            <a:r>
              <a:rPr lang="zh-CN" altLang="zh-CN" sz="1800" dirty="0"/>
              <a:t>排序运算在所有输入元组输入完成前处于阻塞的阶段，在这时无法输出任何结果，因此不能采用流水线执行</a:t>
            </a:r>
            <a:endParaRPr lang="en-US" altLang="zh-CN" sz="1800" dirty="0"/>
          </a:p>
          <a:p>
            <a:pPr lvl="1">
              <a:lnSpc>
                <a:spcPct val="150000"/>
              </a:lnSpc>
              <a:buFont typeface="Arial" panose="020B0604020202020204" pitchFamily="34" charset="0"/>
              <a:buChar char="•"/>
            </a:pPr>
            <a:r>
              <a:rPr lang="zh-CN" altLang="zh-CN" sz="1800" dirty="0">
                <a:solidFill>
                  <a:srgbClr val="701988"/>
                </a:solidFill>
              </a:rPr>
              <a:t>一些运算本身不会阻碍流水线，但</a:t>
            </a:r>
            <a:r>
              <a:rPr lang="zh-CN" altLang="en-US" sz="1800" dirty="0">
                <a:solidFill>
                  <a:srgbClr val="701988"/>
                </a:solidFill>
              </a:rPr>
              <a:t>物理执行</a:t>
            </a:r>
            <a:r>
              <a:rPr lang="zh-CN" altLang="zh-CN" sz="1800" dirty="0">
                <a:solidFill>
                  <a:srgbClr val="701988"/>
                </a:solidFill>
              </a:rPr>
              <a:t>算法可能会</a:t>
            </a:r>
            <a:r>
              <a:rPr lang="zh-CN" altLang="en-US" sz="1800" dirty="0">
                <a:solidFill>
                  <a:srgbClr val="701988"/>
                </a:solidFill>
              </a:rPr>
              <a:t>阻碍</a:t>
            </a:r>
            <a:endParaRPr lang="en-US" altLang="zh-CN" sz="1800" dirty="0">
              <a:solidFill>
                <a:srgbClr val="701988"/>
              </a:solidFill>
            </a:endParaRPr>
          </a:p>
          <a:p>
            <a:pPr lvl="2">
              <a:lnSpc>
                <a:spcPct val="150000"/>
              </a:lnSpc>
              <a:buFont typeface="Arial" panose="020B0604020202020204" pitchFamily="34" charset="0"/>
              <a:buChar char="•"/>
            </a:pPr>
            <a:r>
              <a:rPr lang="zh-CN" altLang="zh-CN" dirty="0"/>
              <a:t>哈希连接</a:t>
            </a:r>
            <a:r>
              <a:rPr lang="zh-CN" altLang="en-US" dirty="0"/>
              <a:t>需要先</a:t>
            </a:r>
            <a:r>
              <a:rPr lang="zh-CN" altLang="zh-CN" dirty="0"/>
              <a:t>对内外关系建立哈希表，在没有收到完整的输入元组前无法完成，因此</a:t>
            </a:r>
            <a:r>
              <a:rPr lang="zh-CN" altLang="zh-CN" dirty="0">
                <a:solidFill>
                  <a:srgbClr val="701988"/>
                </a:solidFill>
              </a:rPr>
              <a:t>无法流水线执行</a:t>
            </a:r>
            <a:r>
              <a:rPr lang="zh-CN" altLang="zh-CN" dirty="0"/>
              <a:t>。</a:t>
            </a:r>
            <a:endParaRPr lang="en-US" altLang="zh-CN" dirty="0"/>
          </a:p>
          <a:p>
            <a:pPr lvl="2">
              <a:lnSpc>
                <a:spcPct val="150000"/>
              </a:lnSpc>
              <a:buFont typeface="Arial" panose="020B0604020202020204" pitchFamily="34" charset="0"/>
              <a:buChar char="•"/>
            </a:pPr>
            <a:r>
              <a:rPr lang="zh-CN" altLang="en-US" dirty="0"/>
              <a:t>而</a:t>
            </a:r>
            <a:r>
              <a:rPr lang="zh-CN" altLang="zh-CN" dirty="0"/>
              <a:t>如果要进行连接的两个关系都是有序的，归并连接就是</a:t>
            </a:r>
            <a:r>
              <a:rPr lang="zh-CN" altLang="zh-CN" dirty="0">
                <a:solidFill>
                  <a:srgbClr val="701988"/>
                </a:solidFill>
              </a:rPr>
              <a:t>可以流水线执行</a:t>
            </a:r>
            <a:r>
              <a:rPr lang="zh-CN" altLang="zh-CN" dirty="0"/>
              <a:t>的</a:t>
            </a:r>
          </a:p>
          <a:p>
            <a:endParaRPr lang="en-US" altLang="zh-CN" dirty="0"/>
          </a:p>
        </p:txBody>
      </p:sp>
      <p:sp>
        <p:nvSpPr>
          <p:cNvPr id="5" name="页脚占位符 4">
            <a:extLst>
              <a:ext uri="{FF2B5EF4-FFF2-40B4-BE49-F238E27FC236}">
                <a16:creationId xmlns:a16="http://schemas.microsoft.com/office/drawing/2014/main" id="{A4A96928-3771-10D7-D84A-23B5B24D68D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311702664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7123745" y="1543050"/>
            <a:ext cx="4698909" cy="398642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2" name="灯片编号占位符 1">
            <a:extLst>
              <a:ext uri="{FF2B5EF4-FFF2-40B4-BE49-F238E27FC236}">
                <a16:creationId xmlns:a16="http://schemas.microsoft.com/office/drawing/2014/main" id="{00090BC7-95B5-4DC8-BBEE-EE8A6171633E}"/>
              </a:ext>
            </a:extLst>
          </p:cNvPr>
          <p:cNvSpPr>
            <a:spLocks noGrp="1"/>
          </p:cNvSpPr>
          <p:nvPr>
            <p:ph type="sldNum" sz="quarter" idx="10"/>
          </p:nvPr>
        </p:nvSpPr>
        <p:spPr/>
        <p:txBody>
          <a:bodyPr/>
          <a:lstStyle/>
          <a:p>
            <a:fld id="{87BBDC00-B9E2-4EFD-9306-2934E87247C6}" type="slidenum">
              <a:rPr lang="zh-CN" altLang="en-US" smtClean="0"/>
              <a:pPr/>
              <a:t>171</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物化与流水线示例</a:t>
            </a:r>
            <a:endParaRPr kumimoji="1" lang="zh-CN" altLang="en-US" dirty="0"/>
          </a:p>
        </p:txBody>
      </p:sp>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591807" y="1543050"/>
            <a:ext cx="6023712" cy="5005387"/>
          </a:xfrm>
        </p:spPr>
        <p:txBody>
          <a:bodyPr/>
          <a:lstStyle/>
          <a:p>
            <a:pPr>
              <a:lnSpc>
                <a:spcPct val="150000"/>
              </a:lnSpc>
              <a:buFont typeface="Wingdings" panose="05000000000000000000" pitchFamily="2" charset="2"/>
              <a:buChar char="Ø"/>
            </a:pPr>
            <a:r>
              <a:rPr lang="zh-CN" altLang="zh-CN" dirty="0"/>
              <a:t>灰色</a:t>
            </a:r>
            <a:r>
              <a:rPr lang="zh-CN" altLang="en-US" dirty="0"/>
              <a:t>节点：</a:t>
            </a:r>
            <a:r>
              <a:rPr lang="zh-CN" altLang="zh-CN" dirty="0"/>
              <a:t>物化</a:t>
            </a:r>
            <a:r>
              <a:rPr lang="zh-CN" altLang="en-US" dirty="0"/>
              <a:t>执行</a:t>
            </a:r>
            <a:endParaRPr lang="en-US" altLang="zh-CN" dirty="0"/>
          </a:p>
          <a:p>
            <a:pPr>
              <a:lnSpc>
                <a:spcPct val="150000"/>
              </a:lnSpc>
              <a:buFont typeface="Wingdings" panose="05000000000000000000" pitchFamily="2" charset="2"/>
              <a:buChar char="Ø"/>
            </a:pPr>
            <a:r>
              <a:rPr lang="zh-CN" altLang="en-US" dirty="0"/>
              <a:t>白色节点：流水线执行</a:t>
            </a:r>
            <a:endParaRPr lang="en-US" altLang="zh-CN" dirty="0"/>
          </a:p>
          <a:p>
            <a:pPr>
              <a:lnSpc>
                <a:spcPct val="150000"/>
              </a:lnSpc>
              <a:buFont typeface="Wingdings" panose="05000000000000000000" pitchFamily="2" charset="2"/>
              <a:buChar char="Ø"/>
            </a:pPr>
            <a:r>
              <a:rPr lang="zh-CN" altLang="zh-CN" dirty="0"/>
              <a:t>对于这些子树内部的其他运算符，数据库则会采用流水线的方式近似于</a:t>
            </a:r>
            <a:r>
              <a:rPr lang="zh-CN" altLang="zh-CN" dirty="0">
                <a:solidFill>
                  <a:srgbClr val="701988"/>
                </a:solidFill>
              </a:rPr>
              <a:t>同步地执行</a:t>
            </a:r>
            <a:endParaRPr lang="en-US" altLang="zh-CN" dirty="0">
              <a:solidFill>
                <a:srgbClr val="701988"/>
              </a:solidFill>
            </a:endParaRPr>
          </a:p>
        </p:txBody>
      </p:sp>
      <p:sp>
        <p:nvSpPr>
          <p:cNvPr id="6" name="页脚占位符 5">
            <a:extLst>
              <a:ext uri="{FF2B5EF4-FFF2-40B4-BE49-F238E27FC236}">
                <a16:creationId xmlns:a16="http://schemas.microsoft.com/office/drawing/2014/main" id="{5C4405E4-A7B3-461F-1868-5E63DED61E99}"/>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8" name="椭圆 7">
            <a:extLst>
              <a:ext uri="{FF2B5EF4-FFF2-40B4-BE49-F238E27FC236}">
                <a16:creationId xmlns:a16="http://schemas.microsoft.com/office/drawing/2014/main" id="{EAD1E623-0AFC-8475-5D64-A39A50B010AD}"/>
              </a:ext>
            </a:extLst>
          </p:cNvPr>
          <p:cNvSpPr/>
          <p:nvPr/>
        </p:nvSpPr>
        <p:spPr bwMode="auto">
          <a:xfrm>
            <a:off x="9072335" y="1907521"/>
            <a:ext cx="613186" cy="559398"/>
          </a:xfrm>
          <a:prstGeom prst="ellipse">
            <a:avLst/>
          </a:prstGeom>
          <a:solidFill>
            <a:schemeClr val="bg1">
              <a:lumMod val="50000"/>
            </a:schemeClr>
          </a:solidFill>
          <a:ln>
            <a:no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9" name="椭圆 8">
            <a:extLst>
              <a:ext uri="{FF2B5EF4-FFF2-40B4-BE49-F238E27FC236}">
                <a16:creationId xmlns:a16="http://schemas.microsoft.com/office/drawing/2014/main" id="{9C8BECA5-0302-5AF3-6CCB-49641CFE7AAC}"/>
              </a:ext>
            </a:extLst>
          </p:cNvPr>
          <p:cNvSpPr/>
          <p:nvPr/>
        </p:nvSpPr>
        <p:spPr bwMode="auto">
          <a:xfrm>
            <a:off x="8501086" y="2942216"/>
            <a:ext cx="613186" cy="559398"/>
          </a:xfrm>
          <a:prstGeom prst="ellipse">
            <a:avLst/>
          </a:prstGeom>
          <a:solidFill>
            <a:schemeClr val="bg1">
              <a:lumMod val="50000"/>
            </a:schemeClr>
          </a:solidFill>
          <a:ln>
            <a:noFill/>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0" name="椭圆 9">
            <a:extLst>
              <a:ext uri="{FF2B5EF4-FFF2-40B4-BE49-F238E27FC236}">
                <a16:creationId xmlns:a16="http://schemas.microsoft.com/office/drawing/2014/main" id="{AD2FF8EC-256B-ACC7-D6C4-B42428DBA58B}"/>
              </a:ext>
            </a:extLst>
          </p:cNvPr>
          <p:cNvSpPr/>
          <p:nvPr/>
        </p:nvSpPr>
        <p:spPr bwMode="auto">
          <a:xfrm>
            <a:off x="7868930" y="4045743"/>
            <a:ext cx="613186" cy="559398"/>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1" name="椭圆 10">
            <a:extLst>
              <a:ext uri="{FF2B5EF4-FFF2-40B4-BE49-F238E27FC236}">
                <a16:creationId xmlns:a16="http://schemas.microsoft.com/office/drawing/2014/main" id="{A196F8A3-8C15-7345-145E-53648224AAF0}"/>
              </a:ext>
            </a:extLst>
          </p:cNvPr>
          <p:cNvSpPr/>
          <p:nvPr/>
        </p:nvSpPr>
        <p:spPr bwMode="auto">
          <a:xfrm>
            <a:off x="10140355" y="2976863"/>
            <a:ext cx="613186" cy="559398"/>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2" name="椭圆 11">
            <a:extLst>
              <a:ext uri="{FF2B5EF4-FFF2-40B4-BE49-F238E27FC236}">
                <a16:creationId xmlns:a16="http://schemas.microsoft.com/office/drawing/2014/main" id="{F2AD5217-0525-CE56-5387-B3AFE24007CE}"/>
              </a:ext>
            </a:extLst>
          </p:cNvPr>
          <p:cNvSpPr/>
          <p:nvPr/>
        </p:nvSpPr>
        <p:spPr bwMode="auto">
          <a:xfrm>
            <a:off x="9114272" y="4067145"/>
            <a:ext cx="613186" cy="559398"/>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3" name="椭圆 12">
            <a:extLst>
              <a:ext uri="{FF2B5EF4-FFF2-40B4-BE49-F238E27FC236}">
                <a16:creationId xmlns:a16="http://schemas.microsoft.com/office/drawing/2014/main" id="{176D7C2C-952D-6D56-C010-DC544C6A4EDB}"/>
              </a:ext>
            </a:extLst>
          </p:cNvPr>
          <p:cNvSpPr/>
          <p:nvPr/>
        </p:nvSpPr>
        <p:spPr bwMode="auto">
          <a:xfrm>
            <a:off x="10140355" y="4109327"/>
            <a:ext cx="613186" cy="559398"/>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cxnSp>
        <p:nvCxnSpPr>
          <p:cNvPr id="15" name="直线连接符 14">
            <a:extLst>
              <a:ext uri="{FF2B5EF4-FFF2-40B4-BE49-F238E27FC236}">
                <a16:creationId xmlns:a16="http://schemas.microsoft.com/office/drawing/2014/main" id="{77375F85-E295-121A-945D-47D560D638B1}"/>
              </a:ext>
            </a:extLst>
          </p:cNvPr>
          <p:cNvCxnSpPr>
            <a:cxnSpLocks/>
            <a:stCxn id="8" idx="3"/>
            <a:endCxn id="9" idx="0"/>
          </p:cNvCxnSpPr>
          <p:nvPr/>
        </p:nvCxnSpPr>
        <p:spPr bwMode="auto">
          <a:xfrm flipH="1">
            <a:off x="8807679" y="2384997"/>
            <a:ext cx="354455" cy="557219"/>
          </a:xfrm>
          <a:prstGeom prst="lin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7B0EFED8-5609-47A3-0B32-BB90A0CAD964}"/>
              </a:ext>
            </a:extLst>
          </p:cNvPr>
          <p:cNvCxnSpPr>
            <a:cxnSpLocks/>
            <a:stCxn id="8" idx="5"/>
            <a:endCxn id="11" idx="1"/>
          </p:cNvCxnSpPr>
          <p:nvPr/>
        </p:nvCxnSpPr>
        <p:spPr bwMode="auto">
          <a:xfrm>
            <a:off x="9595722" y="2384997"/>
            <a:ext cx="634432" cy="673788"/>
          </a:xfrm>
          <a:prstGeom prst="lin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1" name="直线连接符 20">
            <a:extLst>
              <a:ext uri="{FF2B5EF4-FFF2-40B4-BE49-F238E27FC236}">
                <a16:creationId xmlns:a16="http://schemas.microsoft.com/office/drawing/2014/main" id="{DEC61C49-2A8C-8FCF-542E-1100F10005D8}"/>
              </a:ext>
            </a:extLst>
          </p:cNvPr>
          <p:cNvCxnSpPr>
            <a:cxnSpLocks/>
            <a:stCxn id="9" idx="3"/>
            <a:endCxn id="10" idx="0"/>
          </p:cNvCxnSpPr>
          <p:nvPr/>
        </p:nvCxnSpPr>
        <p:spPr bwMode="auto">
          <a:xfrm flipH="1">
            <a:off x="8175523" y="3419692"/>
            <a:ext cx="415362" cy="626051"/>
          </a:xfrm>
          <a:prstGeom prst="lin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4" name="直线连接符 23">
            <a:extLst>
              <a:ext uri="{FF2B5EF4-FFF2-40B4-BE49-F238E27FC236}">
                <a16:creationId xmlns:a16="http://schemas.microsoft.com/office/drawing/2014/main" id="{5857B375-F32C-CD5C-B98C-CE5EBD10A934}"/>
              </a:ext>
            </a:extLst>
          </p:cNvPr>
          <p:cNvCxnSpPr>
            <a:cxnSpLocks/>
            <a:stCxn id="9" idx="5"/>
            <a:endCxn id="12" idx="0"/>
          </p:cNvCxnSpPr>
          <p:nvPr/>
        </p:nvCxnSpPr>
        <p:spPr bwMode="auto">
          <a:xfrm>
            <a:off x="9024473" y="3419692"/>
            <a:ext cx="396392" cy="647453"/>
          </a:xfrm>
          <a:prstGeom prst="lin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7" name="直线连接符 26">
            <a:extLst>
              <a:ext uri="{FF2B5EF4-FFF2-40B4-BE49-F238E27FC236}">
                <a16:creationId xmlns:a16="http://schemas.microsoft.com/office/drawing/2014/main" id="{0ED27539-5C4E-AAED-29BA-2E42A9A21F71}"/>
              </a:ext>
            </a:extLst>
          </p:cNvPr>
          <p:cNvCxnSpPr>
            <a:cxnSpLocks/>
            <a:stCxn id="11" idx="4"/>
            <a:endCxn id="13" idx="0"/>
          </p:cNvCxnSpPr>
          <p:nvPr/>
        </p:nvCxnSpPr>
        <p:spPr bwMode="auto">
          <a:xfrm>
            <a:off x="10446948" y="3536261"/>
            <a:ext cx="0" cy="573066"/>
          </a:xfrm>
          <a:prstGeom prst="lin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0" name="椭圆 29">
            <a:extLst>
              <a:ext uri="{FF2B5EF4-FFF2-40B4-BE49-F238E27FC236}">
                <a16:creationId xmlns:a16="http://schemas.microsoft.com/office/drawing/2014/main" id="{7021D652-7816-B9B9-80EA-DB3DD215C012}"/>
              </a:ext>
            </a:extLst>
          </p:cNvPr>
          <p:cNvSpPr/>
          <p:nvPr/>
        </p:nvSpPr>
        <p:spPr bwMode="auto">
          <a:xfrm>
            <a:off x="9114272" y="4912375"/>
            <a:ext cx="613186" cy="559398"/>
          </a:xfrm>
          <a:prstGeom prst="ellips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cxnSp>
        <p:nvCxnSpPr>
          <p:cNvPr id="35" name="直线连接符 34">
            <a:extLst>
              <a:ext uri="{FF2B5EF4-FFF2-40B4-BE49-F238E27FC236}">
                <a16:creationId xmlns:a16="http://schemas.microsoft.com/office/drawing/2014/main" id="{B54A6B12-3579-77D8-25FB-45C3FCFD1C94}"/>
              </a:ext>
            </a:extLst>
          </p:cNvPr>
          <p:cNvCxnSpPr>
            <a:cxnSpLocks/>
            <a:stCxn id="12" idx="4"/>
            <a:endCxn id="30" idx="0"/>
          </p:cNvCxnSpPr>
          <p:nvPr/>
        </p:nvCxnSpPr>
        <p:spPr bwMode="auto">
          <a:xfrm>
            <a:off x="9420865" y="4626543"/>
            <a:ext cx="0" cy="285832"/>
          </a:xfrm>
          <a:prstGeom prst="line">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0120173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3959598" y="1124936"/>
            <a:ext cx="4114800" cy="471623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sz="3600" dirty="0">
                <a:latin typeface="微软雅黑" panose="020B0503020204020204" pitchFamily="82" charset="2"/>
                <a:ea typeface="微软雅黑" panose="020B0503020204020204" pitchFamily="82" charset="2"/>
              </a:rPr>
              <a:t>目录</a:t>
            </a:r>
          </a:p>
        </p:txBody>
      </p:sp>
      <p:sp>
        <p:nvSpPr>
          <p:cNvPr id="2" name="页脚占位符 1">
            <a:extLst>
              <a:ext uri="{FF2B5EF4-FFF2-40B4-BE49-F238E27FC236}">
                <a16:creationId xmlns:a16="http://schemas.microsoft.com/office/drawing/2014/main" id="{1D284E60-CE14-ED1D-4912-BC1F24D092C0}"/>
              </a:ext>
            </a:extLst>
          </p:cNvPr>
          <p:cNvSpPr>
            <a:spLocks noGrp="1"/>
          </p:cNvSpPr>
          <p:nvPr>
            <p:ph type="ftr" sz="quarter" idx="11"/>
          </p:nvPr>
        </p:nvSpPr>
        <p:spPr/>
        <p:txBody>
          <a:bodyPr/>
          <a:lstStyle/>
          <a:p>
            <a:r>
              <a:rPr kumimoji="1" lang="zh-CN" altLang="en-US">
                <a:latin typeface="微软雅黑" panose="020B0503020204020204" pitchFamily="82" charset="2"/>
                <a:ea typeface="微软雅黑" panose="020B0503020204020204" pitchFamily="82" charset="2"/>
              </a:rPr>
              <a:t>数据库系统</a:t>
            </a:r>
            <a:r>
              <a:rPr kumimoji="1" lang="en-US" altLang="zh-CN">
                <a:latin typeface="微软雅黑" panose="020B0503020204020204" pitchFamily="82" charset="2"/>
                <a:ea typeface="微软雅黑" panose="020B0503020204020204" pitchFamily="82" charset="2"/>
              </a:rPr>
              <a:t>-</a:t>
            </a:r>
            <a:r>
              <a:rPr kumimoji="1" lang="zh-CN" altLang="en-US">
                <a:latin typeface="微软雅黑" panose="020B0503020204020204" pitchFamily="82" charset="2"/>
                <a:ea typeface="微软雅黑" panose="020B0503020204020204" pitchFamily="82" charset="2"/>
              </a:rPr>
              <a:t>存储系统</a:t>
            </a:r>
            <a:endParaRPr kumimoji="1" lang="zh-CN" altLang="en-US" dirty="0">
              <a:latin typeface="微软雅黑" panose="020B0503020204020204" pitchFamily="82" charset="2"/>
              <a:ea typeface="微软雅黑" panose="020B0503020204020204" pitchFamily="82" charset="2"/>
            </a:endParaRPr>
          </a:p>
        </p:txBody>
      </p:sp>
      <p:sp>
        <p:nvSpPr>
          <p:cNvPr id="4" name="灯片编号占位符 3">
            <a:extLst>
              <a:ext uri="{FF2B5EF4-FFF2-40B4-BE49-F238E27FC236}">
                <a16:creationId xmlns:a16="http://schemas.microsoft.com/office/drawing/2014/main" id="{C5B50267-C9DE-C0E9-C2B8-D7C9F2F05430}"/>
              </a:ext>
            </a:extLst>
          </p:cNvPr>
          <p:cNvSpPr>
            <a:spLocks noGrp="1"/>
          </p:cNvSpPr>
          <p:nvPr>
            <p:ph type="sldNum" sz="quarter" idx="12"/>
          </p:nvPr>
        </p:nvSpPr>
        <p:spPr/>
        <p:txBody>
          <a:bodyPr/>
          <a:lstStyle/>
          <a:p>
            <a:fld id="{4B0D34C0-35A8-654C-9FBA-7B4E017BD630}" type="slidenum">
              <a:rPr lang="en-US" altLang="zh-CN" smtClean="0">
                <a:latin typeface="微软雅黑" panose="020B0503020204020204" pitchFamily="82" charset="2"/>
                <a:ea typeface="微软雅黑" panose="020B0503020204020204" pitchFamily="82" charset="2"/>
              </a:rPr>
              <a:t>172</a:t>
            </a:fld>
            <a:endParaRPr kumimoji="1" lang="zh-CN" altLang="en-US">
              <a:latin typeface="微软雅黑" panose="020B0503020204020204" pitchFamily="82" charset="2"/>
              <a:ea typeface="微软雅黑" panose="020B0503020204020204" pitchFamily="82" charset="2"/>
            </a:endParaRPr>
          </a:p>
        </p:txBody>
      </p:sp>
      <p:sp>
        <p:nvSpPr>
          <p:cNvPr id="9" name="内容占位符 2">
            <a:extLst>
              <a:ext uri="{FF2B5EF4-FFF2-40B4-BE49-F238E27FC236}">
                <a16:creationId xmlns:a16="http://schemas.microsoft.com/office/drawing/2014/main" id="{7116C3D8-F313-4EA0-418D-AB8C388D8884}"/>
              </a:ext>
            </a:extLst>
          </p:cNvPr>
          <p:cNvSpPr txBox="1">
            <a:spLocks/>
          </p:cNvSpPr>
          <p:nvPr/>
        </p:nvSpPr>
        <p:spPr bwMode="auto">
          <a:xfrm>
            <a:off x="4326097" y="1276597"/>
            <a:ext cx="3381802" cy="35517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6531" indent="-316531" algn="l" rtl="0" eaLnBrk="1" fontAlgn="base" hangingPunct="1">
              <a:spcBef>
                <a:spcPct val="20000"/>
              </a:spcBef>
              <a:spcAft>
                <a:spcPct val="0"/>
              </a:spcAft>
              <a:buFont typeface="Wingdings" charset="2"/>
              <a:buChar char="p"/>
              <a:defRPr kumimoji="1" sz="2400" b="0">
                <a:solidFill>
                  <a:schemeClr val="tx1"/>
                </a:solidFill>
                <a:effectLst/>
                <a:latin typeface="+mj-ea"/>
                <a:ea typeface="+mj-ea"/>
                <a:cs typeface="Arial"/>
              </a:defRPr>
            </a:lvl1pPr>
            <a:lvl2pPr marL="685817" indent="-263776" algn="l" rtl="0" eaLnBrk="1" fontAlgn="base" hangingPunct="1">
              <a:spcBef>
                <a:spcPct val="20000"/>
              </a:spcBef>
              <a:spcAft>
                <a:spcPct val="0"/>
              </a:spcAft>
              <a:buChar char="–"/>
              <a:defRPr kumimoji="1" sz="2000" b="0">
                <a:solidFill>
                  <a:schemeClr val="tx1"/>
                </a:solidFill>
                <a:effectLst/>
                <a:latin typeface="+mj-ea"/>
                <a:ea typeface="+mj-ea"/>
                <a:cs typeface="Arial"/>
              </a:defRPr>
            </a:lvl2pPr>
            <a:lvl3pPr marL="1055103" indent="-211021" algn="l" rtl="0" eaLnBrk="1" fontAlgn="base" hangingPunct="1">
              <a:spcBef>
                <a:spcPct val="20000"/>
              </a:spcBef>
              <a:spcAft>
                <a:spcPct val="0"/>
              </a:spcAft>
              <a:buChar char="•"/>
              <a:defRPr kumimoji="1" sz="1800" b="0">
                <a:solidFill>
                  <a:schemeClr val="tx1"/>
                </a:solidFill>
                <a:effectLst/>
                <a:latin typeface="+mj-ea"/>
                <a:ea typeface="+mj-ea"/>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j-ea"/>
                <a:ea typeface="+mj-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457200" indent="-457200">
              <a:lnSpc>
                <a:spcPct val="150000"/>
              </a:lnSpc>
              <a:buFont typeface="+mj-lt"/>
              <a:buAutoNum type="arabicPeriod"/>
            </a:pPr>
            <a:r>
              <a:rPr lang="zh-CN" altLang="en-US" kern="0" dirty="0"/>
              <a:t>逻辑优化</a:t>
            </a:r>
            <a:r>
              <a:rPr lang="en-US" altLang="zh-CN" kern="0" dirty="0"/>
              <a:t>(</a:t>
            </a:r>
            <a:r>
              <a:rPr lang="zh-CN" altLang="en-US" kern="0" dirty="0"/>
              <a:t>查询重写</a:t>
            </a:r>
            <a:r>
              <a:rPr lang="en-US" altLang="zh-CN" kern="0" dirty="0"/>
              <a:t>)</a:t>
            </a:r>
          </a:p>
          <a:p>
            <a:pPr marL="457200" indent="-457200">
              <a:lnSpc>
                <a:spcPct val="150000"/>
              </a:lnSpc>
              <a:buFont typeface="+mj-lt"/>
              <a:buAutoNum type="arabicPeriod"/>
            </a:pPr>
            <a:r>
              <a:rPr lang="zh-CN" altLang="en-US" kern="0" dirty="0"/>
              <a:t>物理优化</a:t>
            </a:r>
            <a:endParaRPr lang="en-US" altLang="zh-CN" kern="0" dirty="0"/>
          </a:p>
          <a:p>
            <a:pPr marL="826486" lvl="1" indent="-457200">
              <a:lnSpc>
                <a:spcPct val="150000"/>
              </a:lnSpc>
              <a:buFont typeface="Wingdings" pitchFamily="2" charset="2"/>
              <a:buChar char="l"/>
            </a:pPr>
            <a:r>
              <a:rPr lang="zh-CN" altLang="en-US" sz="2400" kern="0" dirty="0"/>
              <a:t>代价估计</a:t>
            </a:r>
            <a:endParaRPr lang="en-US" altLang="zh-CN" sz="2400" kern="0" dirty="0"/>
          </a:p>
          <a:p>
            <a:pPr marL="826486" lvl="1" indent="-457200">
              <a:lnSpc>
                <a:spcPct val="150000"/>
              </a:lnSpc>
              <a:buFont typeface="Wingdings" pitchFamily="2" charset="2"/>
              <a:buChar char="l"/>
            </a:pPr>
            <a:r>
              <a:rPr lang="zh-CN" altLang="en-US" sz="2400" kern="0" dirty="0"/>
              <a:t>连接顺序选择</a:t>
            </a:r>
            <a:endParaRPr lang="en-US" altLang="zh-CN" sz="2400" kern="0" dirty="0"/>
          </a:p>
          <a:p>
            <a:pPr marL="826486" lvl="1" indent="-457200">
              <a:lnSpc>
                <a:spcPct val="150000"/>
              </a:lnSpc>
              <a:buFont typeface="Wingdings" pitchFamily="2" charset="2"/>
              <a:buChar char="l"/>
            </a:pPr>
            <a:r>
              <a:rPr lang="zh-CN" altLang="en-US" sz="2400" kern="0" dirty="0"/>
              <a:t>物理算子选择</a:t>
            </a:r>
            <a:endParaRPr lang="en-US" altLang="zh-CN" sz="2400" kern="0" dirty="0"/>
          </a:p>
          <a:p>
            <a:pPr marL="457200" indent="-457200">
              <a:lnSpc>
                <a:spcPct val="150000"/>
              </a:lnSpc>
              <a:buFont typeface="+mj-lt"/>
              <a:buAutoNum type="arabicPeriod"/>
            </a:pPr>
            <a:r>
              <a:rPr lang="zh-CN" altLang="en-US" kern="0" dirty="0"/>
              <a:t>优化器系统</a:t>
            </a:r>
            <a:endParaRPr lang="en-US" altLang="zh-CN" kern="0" dirty="0"/>
          </a:p>
          <a:p>
            <a:pPr marL="457200" indent="-457200">
              <a:lnSpc>
                <a:spcPct val="150000"/>
              </a:lnSpc>
              <a:buFont typeface="+mj-lt"/>
              <a:buAutoNum type="arabicPeriod"/>
            </a:pPr>
            <a:r>
              <a:rPr lang="zh-CN" altLang="en-US" b="1" kern="0" dirty="0">
                <a:solidFill>
                  <a:srgbClr val="743481"/>
                </a:solidFill>
              </a:rPr>
              <a:t>物化视图 </a:t>
            </a:r>
          </a:p>
          <a:p>
            <a:pPr marL="514350" indent="-514350">
              <a:lnSpc>
                <a:spcPct val="150000"/>
              </a:lnSpc>
              <a:buFont typeface="+mj-lt"/>
              <a:buAutoNum type="arabicPeriod"/>
            </a:pPr>
            <a:endParaRPr lang="zh-CN" altLang="en-US" kern="0" dirty="0"/>
          </a:p>
          <a:p>
            <a:pPr marL="514350" indent="-514350">
              <a:lnSpc>
                <a:spcPct val="150000"/>
              </a:lnSpc>
              <a:buFont typeface="+mj-lt"/>
              <a:buAutoNum type="arabicPeriod"/>
            </a:pPr>
            <a:endParaRPr lang="zh-CN" altLang="en-US" kern="0" dirty="0"/>
          </a:p>
        </p:txBody>
      </p:sp>
    </p:spTree>
    <p:extLst>
      <p:ext uri="{BB962C8B-B14F-4D97-AF65-F5344CB8AC3E}">
        <p14:creationId xmlns:p14="http://schemas.microsoft.com/office/powerpoint/2010/main" val="249219544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B17DF73-D06D-84F4-C122-F79E46423EBA}"/>
              </a:ext>
            </a:extLst>
          </p:cNvPr>
          <p:cNvSpPr>
            <a:spLocks noGrp="1"/>
          </p:cNvSpPr>
          <p:nvPr>
            <p:ph type="sldNum" sz="quarter" idx="10"/>
          </p:nvPr>
        </p:nvSpPr>
        <p:spPr/>
        <p:txBody>
          <a:bodyPr/>
          <a:lstStyle/>
          <a:p>
            <a:fld id="{87BBDC00-B9E2-4EFD-9306-2934E87247C6}" type="slidenum">
              <a:rPr lang="zh-CN" altLang="en-US" smtClean="0"/>
              <a:pPr/>
              <a:t>173</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物化视图</a:t>
            </a:r>
            <a:endParaRPr kumimoji="1" lang="zh-CN" altLang="en-US" dirty="0"/>
          </a:p>
        </p:txBody>
      </p:sp>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1050551" y="1207054"/>
            <a:ext cx="10200923" cy="5005387"/>
          </a:xfrm>
        </p:spPr>
        <p:txBody>
          <a:bodyPr/>
          <a:lstStyle/>
          <a:p>
            <a:pPr>
              <a:lnSpc>
                <a:spcPct val="150000"/>
              </a:lnSpc>
              <a:buFont typeface="Wingdings" panose="05000000000000000000" pitchFamily="2" charset="2"/>
              <a:buChar char="Ø"/>
            </a:pPr>
            <a:r>
              <a:rPr lang="zh-CN" altLang="zh-CN" dirty="0"/>
              <a:t>视图</a:t>
            </a:r>
            <a:r>
              <a:rPr lang="zh-CN" altLang="en-US" dirty="0"/>
              <a:t>：</a:t>
            </a:r>
            <a:r>
              <a:rPr lang="zh-CN" altLang="zh-CN" dirty="0"/>
              <a:t>一个经过命名存储在数据库中的查询，又被称为“虚关系”</a:t>
            </a:r>
            <a:endParaRPr lang="en-US" altLang="zh-CN" dirty="0"/>
          </a:p>
          <a:p>
            <a:pPr lvl="1">
              <a:lnSpc>
                <a:spcPct val="150000"/>
              </a:lnSpc>
              <a:buFont typeface="Arial" panose="020B0604020202020204" pitchFamily="34" charset="0"/>
              <a:buChar char="•"/>
            </a:pPr>
            <a:r>
              <a:rPr lang="zh-CN" altLang="zh-CN" dirty="0"/>
              <a:t>因为定义视图的查询的结果并没有存储在数据库中，每次调用视图都需要按照其定义</a:t>
            </a:r>
            <a:r>
              <a:rPr lang="zh-CN" altLang="zh-CN" dirty="0">
                <a:solidFill>
                  <a:srgbClr val="701988"/>
                </a:solidFill>
              </a:rPr>
              <a:t>重新执行查询</a:t>
            </a:r>
            <a:endParaRPr lang="en-US" altLang="zh-CN" dirty="0"/>
          </a:p>
          <a:p>
            <a:pPr>
              <a:lnSpc>
                <a:spcPct val="150000"/>
              </a:lnSpc>
              <a:buFont typeface="Wingdings" panose="05000000000000000000" pitchFamily="2" charset="2"/>
              <a:buChar char="Ø"/>
            </a:pPr>
            <a:r>
              <a:rPr lang="zh-CN" altLang="zh-CN" dirty="0"/>
              <a:t>物化视图</a:t>
            </a:r>
            <a:r>
              <a:rPr lang="zh-CN" altLang="en-US" dirty="0"/>
              <a:t>：</a:t>
            </a:r>
            <a:r>
              <a:rPr lang="zh-CN" altLang="zh-CN" dirty="0"/>
              <a:t>将定义视图的结果存储到磁盘上</a:t>
            </a:r>
            <a:endParaRPr lang="en-US" altLang="zh-CN" dirty="0"/>
          </a:p>
          <a:p>
            <a:pPr lvl="1">
              <a:lnSpc>
                <a:spcPct val="150000"/>
              </a:lnSpc>
              <a:buFont typeface="Arial" panose="020B0604020202020204" pitchFamily="34" charset="0"/>
              <a:buChar char="•"/>
            </a:pPr>
            <a:r>
              <a:rPr lang="zh-CN" altLang="zh-CN" dirty="0"/>
              <a:t>在遇到</a:t>
            </a:r>
            <a:r>
              <a:rPr lang="zh-CN" altLang="en-US" dirty="0"/>
              <a:t>使用物化视图</a:t>
            </a:r>
            <a:r>
              <a:rPr lang="zh-CN" altLang="zh-CN" dirty="0"/>
              <a:t>的查询时可以直接调用存储的结果，以此</a:t>
            </a:r>
            <a:r>
              <a:rPr lang="zh-CN" altLang="zh-CN" dirty="0">
                <a:solidFill>
                  <a:srgbClr val="701988"/>
                </a:solidFill>
              </a:rPr>
              <a:t>避免重复</a:t>
            </a:r>
            <a:r>
              <a:rPr lang="zh-CN" altLang="en-US" dirty="0">
                <a:solidFill>
                  <a:srgbClr val="701988"/>
                </a:solidFill>
              </a:rPr>
              <a:t>查询</a:t>
            </a:r>
            <a:r>
              <a:rPr lang="zh-CN" altLang="zh-CN" dirty="0"/>
              <a:t>而节省大量的查询执行时间</a:t>
            </a:r>
            <a:endParaRPr lang="en-US" altLang="zh-CN" dirty="0"/>
          </a:p>
          <a:p>
            <a:pPr lvl="1">
              <a:lnSpc>
                <a:spcPct val="150000"/>
              </a:lnSpc>
              <a:buFont typeface="Arial" panose="020B0604020202020204" pitchFamily="34" charset="0"/>
              <a:buChar char="•"/>
            </a:pPr>
            <a:r>
              <a:rPr lang="zh-CN" altLang="en-US" dirty="0">
                <a:solidFill>
                  <a:srgbClr val="701988"/>
                </a:solidFill>
              </a:rPr>
              <a:t>空间</a:t>
            </a:r>
            <a:r>
              <a:rPr lang="zh-CN" altLang="en-US" dirty="0"/>
              <a:t>换</a:t>
            </a:r>
            <a:r>
              <a:rPr lang="zh-CN" altLang="en-US" dirty="0">
                <a:solidFill>
                  <a:srgbClr val="701988"/>
                </a:solidFill>
              </a:rPr>
              <a:t>时间</a:t>
            </a:r>
            <a:endParaRPr lang="en-US" altLang="zh-CN" dirty="0">
              <a:solidFill>
                <a:srgbClr val="701988"/>
              </a:solidFill>
            </a:endParaRPr>
          </a:p>
        </p:txBody>
      </p:sp>
      <p:sp>
        <p:nvSpPr>
          <p:cNvPr id="5" name="页脚占位符 4">
            <a:extLst>
              <a:ext uri="{FF2B5EF4-FFF2-40B4-BE49-F238E27FC236}">
                <a16:creationId xmlns:a16="http://schemas.microsoft.com/office/drawing/2014/main" id="{0D4BE437-0F5D-71A2-0F64-9CADBB9F9DEC}"/>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421781575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2870DDCC-64DF-043D-D333-1E003D7DE8C8}"/>
              </a:ext>
            </a:extLst>
          </p:cNvPr>
          <p:cNvPicPr>
            <a:picLocks noChangeAspect="1"/>
          </p:cNvPicPr>
          <p:nvPr/>
        </p:nvPicPr>
        <p:blipFill>
          <a:blip r:embed="rId3"/>
          <a:stretch>
            <a:fillRect/>
          </a:stretch>
        </p:blipFill>
        <p:spPr>
          <a:xfrm>
            <a:off x="508438" y="3933994"/>
            <a:ext cx="11073950" cy="2044422"/>
          </a:xfrm>
          <a:prstGeom prst="rect">
            <a:avLst/>
          </a:prstGeom>
        </p:spPr>
      </p:pic>
      <p:sp>
        <p:nvSpPr>
          <p:cNvPr id="5" name="灯片编号占位符 4">
            <a:extLst>
              <a:ext uri="{FF2B5EF4-FFF2-40B4-BE49-F238E27FC236}">
                <a16:creationId xmlns:a16="http://schemas.microsoft.com/office/drawing/2014/main" id="{B7A475ED-2A2D-D3D9-45EF-4978E5204C17}"/>
              </a:ext>
            </a:extLst>
          </p:cNvPr>
          <p:cNvSpPr>
            <a:spLocks noGrp="1"/>
          </p:cNvSpPr>
          <p:nvPr>
            <p:ph type="sldNum" sz="quarter" idx="10"/>
          </p:nvPr>
        </p:nvSpPr>
        <p:spPr/>
        <p:txBody>
          <a:bodyPr/>
          <a:lstStyle/>
          <a:p>
            <a:fld id="{87BBDC00-B9E2-4EFD-9306-2934E87247C6}" type="slidenum">
              <a:rPr lang="zh-CN" altLang="en-US" smtClean="0"/>
              <a:pPr/>
              <a:t>174</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物化视图</a:t>
            </a:r>
            <a:endParaRPr kumimoji="1" lang="zh-CN" altLang="en-US" dirty="0"/>
          </a:p>
        </p:txBody>
      </p:sp>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978538" y="1125538"/>
            <a:ext cx="10524309" cy="5005387"/>
          </a:xfrm>
        </p:spPr>
        <p:txBody>
          <a:bodyPr/>
          <a:lstStyle/>
          <a:p>
            <a:pPr>
              <a:lnSpc>
                <a:spcPct val="150000"/>
              </a:lnSpc>
              <a:buFont typeface="Wingdings" panose="05000000000000000000" pitchFamily="2" charset="2"/>
              <a:buChar char="Ø"/>
            </a:pPr>
            <a:r>
              <a:rPr lang="zh-CN" altLang="zh-CN" dirty="0"/>
              <a:t>假设</a:t>
            </a:r>
            <a:r>
              <a:rPr lang="zh-CN" altLang="en-US" dirty="0"/>
              <a:t>该</a:t>
            </a:r>
            <a:r>
              <a:rPr lang="en-US" altLang="zh-CN" dirty="0"/>
              <a:t>SQL</a:t>
            </a:r>
            <a:r>
              <a:rPr lang="zh-CN" altLang="en-US" dirty="0"/>
              <a:t>是个频繁执行的查询，</a:t>
            </a:r>
            <a:r>
              <a:rPr lang="zh-CN" altLang="zh-CN" dirty="0"/>
              <a:t>则可以将该查询按如下</a:t>
            </a:r>
            <a:r>
              <a:rPr lang="en-US" altLang="zh-CN" dirty="0"/>
              <a:t>SQL</a:t>
            </a:r>
            <a:r>
              <a:rPr lang="zh-CN" altLang="zh-CN" dirty="0"/>
              <a:t>语句声明为一个物化视图存储在磁盘上</a:t>
            </a:r>
            <a:r>
              <a:rPr lang="zh-CN" altLang="en-US" dirty="0"/>
              <a:t>：</a:t>
            </a:r>
            <a:endParaRPr lang="zh-CN" altLang="zh-CN" dirty="0"/>
          </a:p>
        </p:txBody>
      </p:sp>
      <p:sp>
        <p:nvSpPr>
          <p:cNvPr id="2" name="页脚占位符 1">
            <a:extLst>
              <a:ext uri="{FF2B5EF4-FFF2-40B4-BE49-F238E27FC236}">
                <a16:creationId xmlns:a16="http://schemas.microsoft.com/office/drawing/2014/main" id="{5C4C321D-0872-13EB-C27E-6547FA8FBCD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
        <p:nvSpPr>
          <p:cNvPr id="8" name="矩形 7">
            <a:extLst>
              <a:ext uri="{FF2B5EF4-FFF2-40B4-BE49-F238E27FC236}">
                <a16:creationId xmlns:a16="http://schemas.microsoft.com/office/drawing/2014/main" id="{8B52FBBE-B0BF-16EC-72C1-28FC6B6E213E}"/>
              </a:ext>
            </a:extLst>
          </p:cNvPr>
          <p:cNvSpPr/>
          <p:nvPr/>
        </p:nvSpPr>
        <p:spPr bwMode="auto">
          <a:xfrm>
            <a:off x="722800" y="4316411"/>
            <a:ext cx="3213166" cy="677803"/>
          </a:xfrm>
          <a:prstGeom prst="rect">
            <a:avLst/>
          </a:prstGeom>
          <a:noFill/>
          <a:ln w="38100" cap="flat" cmpd="sng" algn="ctr">
            <a:solidFill>
              <a:srgbClr val="743481"/>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9" name="矩形 8">
            <a:extLst>
              <a:ext uri="{FF2B5EF4-FFF2-40B4-BE49-F238E27FC236}">
                <a16:creationId xmlns:a16="http://schemas.microsoft.com/office/drawing/2014/main" id="{AE6DD7BC-6F25-33B8-C9B6-55CD4615EA83}"/>
              </a:ext>
            </a:extLst>
          </p:cNvPr>
          <p:cNvSpPr/>
          <p:nvPr/>
        </p:nvSpPr>
        <p:spPr>
          <a:xfrm>
            <a:off x="4087643" y="4132266"/>
            <a:ext cx="6653917" cy="707886"/>
          </a:xfrm>
          <a:prstGeom prst="rect">
            <a:avLst/>
          </a:prstGeom>
        </p:spPr>
        <p:txBody>
          <a:bodyPr wrap="square">
            <a:spAutoFit/>
          </a:bodyPr>
          <a:lstStyle/>
          <a:p>
            <a:pPr marL="285750" indent="-285750">
              <a:buFont typeface="Arial" panose="020B0604020202020204" pitchFamily="34" charset="0"/>
              <a:buChar char="•"/>
            </a:pPr>
            <a:r>
              <a:rPr lang="zh-CN" altLang="zh-CN" sz="2000" kern="100" dirty="0">
                <a:latin typeface="+mj-ea"/>
                <a:ea typeface="+mj-ea"/>
                <a:cs typeface="Times New Roman" panose="02020603050405020304" pitchFamily="18" charset="0"/>
              </a:rPr>
              <a:t>立即执行定义该</a:t>
            </a:r>
            <a:r>
              <a:rPr lang="zh-CN" altLang="en-US" sz="2000" kern="100" dirty="0">
                <a:latin typeface="+mj-ea"/>
                <a:ea typeface="+mj-ea"/>
                <a:cs typeface="Times New Roman" panose="02020603050405020304" pitchFamily="18" charset="0"/>
              </a:rPr>
              <a:t>物化</a:t>
            </a:r>
            <a:r>
              <a:rPr lang="zh-CN" altLang="zh-CN" sz="2000" kern="100" dirty="0">
                <a:latin typeface="+mj-ea"/>
                <a:ea typeface="+mj-ea"/>
                <a:cs typeface="Times New Roman" panose="02020603050405020304" pitchFamily="18" charset="0"/>
              </a:rPr>
              <a:t>视图的查询</a:t>
            </a:r>
            <a:endParaRPr lang="en-US" altLang="zh-CN" sz="2000" kern="100" dirty="0">
              <a:latin typeface="+mj-ea"/>
              <a:ea typeface="+mj-ea"/>
              <a:cs typeface="Times New Roman" panose="02020603050405020304" pitchFamily="18" charset="0"/>
            </a:endParaRPr>
          </a:p>
          <a:p>
            <a:pPr marL="285750" indent="-285750">
              <a:buFont typeface="Arial" panose="020B0604020202020204" pitchFamily="34" charset="0"/>
              <a:buChar char="•"/>
            </a:pPr>
            <a:r>
              <a:rPr lang="zh-CN" altLang="zh-CN" sz="2000" kern="100" dirty="0">
                <a:latin typeface="+mj-ea"/>
                <a:ea typeface="+mj-ea"/>
                <a:cs typeface="Times New Roman" panose="02020603050405020304" pitchFamily="18" charset="0"/>
              </a:rPr>
              <a:t>仅在该物化视图需要被刷新时才增量地更新物化视图</a:t>
            </a:r>
            <a:endParaRPr lang="zh-CN" altLang="en-US" sz="2000" dirty="0">
              <a:latin typeface="+mj-ea"/>
              <a:ea typeface="+mj-ea"/>
            </a:endParaRPr>
          </a:p>
        </p:txBody>
      </p:sp>
      <p:pic>
        <p:nvPicPr>
          <p:cNvPr id="7" name="图片 6">
            <a:extLst>
              <a:ext uri="{FF2B5EF4-FFF2-40B4-BE49-F238E27FC236}">
                <a16:creationId xmlns:a16="http://schemas.microsoft.com/office/drawing/2014/main" id="{7184584C-338C-D94A-E0B7-A689434D6DBF}"/>
              </a:ext>
            </a:extLst>
          </p:cNvPr>
          <p:cNvPicPr>
            <a:picLocks noChangeAspect="1"/>
          </p:cNvPicPr>
          <p:nvPr/>
        </p:nvPicPr>
        <p:blipFill>
          <a:blip r:embed="rId4"/>
          <a:stretch>
            <a:fillRect/>
          </a:stretch>
        </p:blipFill>
        <p:spPr>
          <a:xfrm>
            <a:off x="583464" y="2527950"/>
            <a:ext cx="10998926" cy="1082673"/>
          </a:xfrm>
          <a:prstGeom prst="rect">
            <a:avLst/>
          </a:prstGeom>
        </p:spPr>
      </p:pic>
    </p:spTree>
    <p:extLst>
      <p:ext uri="{BB962C8B-B14F-4D97-AF65-F5344CB8AC3E}">
        <p14:creationId xmlns:p14="http://schemas.microsoft.com/office/powerpoint/2010/main" val="173855054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6F54AD-4866-9808-2DDC-5F2EDD6368DE}"/>
              </a:ext>
            </a:extLst>
          </p:cNvPr>
          <p:cNvSpPr>
            <a:spLocks noGrp="1"/>
          </p:cNvSpPr>
          <p:nvPr>
            <p:ph type="sldNum" sz="quarter" idx="10"/>
          </p:nvPr>
        </p:nvSpPr>
        <p:spPr/>
        <p:txBody>
          <a:bodyPr/>
          <a:lstStyle/>
          <a:p>
            <a:fld id="{87BBDC00-B9E2-4EFD-9306-2934E87247C6}" type="slidenum">
              <a:rPr lang="zh-CN" altLang="en-US" smtClean="0"/>
              <a:pPr/>
              <a:t>175</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物化视图的维护方式</a:t>
            </a:r>
            <a:endParaRPr kumimoji="1" lang="zh-CN" altLang="en-US" dirty="0"/>
          </a:p>
        </p:txBody>
      </p:sp>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776081" y="1278536"/>
            <a:ext cx="10659298" cy="5005387"/>
          </a:xfrm>
        </p:spPr>
        <p:txBody>
          <a:bodyPr/>
          <a:lstStyle/>
          <a:p>
            <a:pPr>
              <a:lnSpc>
                <a:spcPct val="120000"/>
              </a:lnSpc>
              <a:buFont typeface="Wingdings" panose="05000000000000000000" pitchFamily="2" charset="2"/>
              <a:buChar char="Ø"/>
            </a:pPr>
            <a:r>
              <a:rPr lang="zh-CN" altLang="en-US" dirty="0"/>
              <a:t>核心问题：</a:t>
            </a:r>
            <a:r>
              <a:rPr lang="zh-CN" altLang="zh-CN" dirty="0"/>
              <a:t>当定义物化视图的</a:t>
            </a:r>
            <a:r>
              <a:rPr lang="zh-CN" altLang="zh-CN" dirty="0">
                <a:solidFill>
                  <a:srgbClr val="701988"/>
                </a:solidFill>
              </a:rPr>
              <a:t>基表数据发生改变</a:t>
            </a:r>
            <a:r>
              <a:rPr lang="zh-CN" altLang="zh-CN" dirty="0"/>
              <a:t>时，如何保证物化视图</a:t>
            </a:r>
            <a:r>
              <a:rPr lang="zh-CN" altLang="en-US" dirty="0"/>
              <a:t>的</a:t>
            </a:r>
            <a:r>
              <a:rPr lang="zh-CN" altLang="zh-CN" dirty="0"/>
              <a:t>数据能够</a:t>
            </a:r>
            <a:r>
              <a:rPr lang="zh-CN" altLang="zh-CN" dirty="0">
                <a:solidFill>
                  <a:srgbClr val="701988"/>
                </a:solidFill>
              </a:rPr>
              <a:t>高效地被更新</a:t>
            </a:r>
            <a:endParaRPr lang="en-US" altLang="zh-CN" dirty="0">
              <a:solidFill>
                <a:srgbClr val="701988"/>
              </a:solidFill>
            </a:endParaRPr>
          </a:p>
          <a:p>
            <a:pPr>
              <a:lnSpc>
                <a:spcPct val="120000"/>
              </a:lnSpc>
              <a:buFont typeface="Wingdings" panose="05000000000000000000" pitchFamily="2" charset="2"/>
              <a:buChar char="Ø"/>
            </a:pPr>
            <a:r>
              <a:rPr lang="zh-CN" altLang="zh-CN" dirty="0"/>
              <a:t>当</a:t>
            </a:r>
            <a:r>
              <a:rPr lang="zh-CN" altLang="en-US" dirty="0"/>
              <a:t>基本</a:t>
            </a:r>
            <a:r>
              <a:rPr lang="zh-CN" altLang="zh-CN" dirty="0"/>
              <a:t>关系发生</a:t>
            </a:r>
            <a:r>
              <a:rPr lang="zh-CN" altLang="en-US" dirty="0"/>
              <a:t>变化</a:t>
            </a:r>
            <a:r>
              <a:rPr lang="zh-CN" altLang="zh-CN" dirty="0"/>
              <a:t>时，需要对物化视图进行更新，从而使物化视图与其派生自的</a:t>
            </a:r>
            <a:r>
              <a:rPr lang="zh-CN" altLang="en-US" dirty="0"/>
              <a:t>基本</a:t>
            </a:r>
            <a:r>
              <a:rPr lang="zh-CN" altLang="zh-CN" dirty="0"/>
              <a:t>关系</a:t>
            </a:r>
            <a:r>
              <a:rPr lang="zh-CN" altLang="zh-CN" dirty="0">
                <a:solidFill>
                  <a:srgbClr val="701988"/>
                </a:solidFill>
              </a:rPr>
              <a:t>保持一致</a:t>
            </a:r>
            <a:endParaRPr lang="en-US" altLang="zh-CN" dirty="0">
              <a:solidFill>
                <a:srgbClr val="701988"/>
              </a:solidFill>
            </a:endParaRPr>
          </a:p>
          <a:p>
            <a:pPr>
              <a:lnSpc>
                <a:spcPct val="120000"/>
              </a:lnSpc>
              <a:buFont typeface="Wingdings" panose="05000000000000000000" pitchFamily="2" charset="2"/>
              <a:buChar char="Ø"/>
            </a:pPr>
            <a:r>
              <a:rPr lang="zh-CN" altLang="en-US" dirty="0"/>
              <a:t>按照何时更新可分为：</a:t>
            </a:r>
            <a:endParaRPr lang="en-US" altLang="zh-CN" dirty="0"/>
          </a:p>
          <a:p>
            <a:pPr lvl="1">
              <a:lnSpc>
                <a:spcPct val="120000"/>
              </a:lnSpc>
              <a:buFont typeface="Arial" panose="020B0604020202020204" pitchFamily="34" charset="0"/>
              <a:buChar char="•"/>
            </a:pPr>
            <a:r>
              <a:rPr lang="zh-CN" altLang="zh-CN" dirty="0"/>
              <a:t>立即视图维护 </a:t>
            </a:r>
            <a:endParaRPr lang="en-US" altLang="zh-CN" dirty="0"/>
          </a:p>
          <a:p>
            <a:pPr lvl="1">
              <a:lnSpc>
                <a:spcPct val="120000"/>
              </a:lnSpc>
              <a:buFont typeface="Arial" panose="020B0604020202020204" pitchFamily="34" charset="0"/>
              <a:buChar char="•"/>
            </a:pPr>
            <a:r>
              <a:rPr lang="zh-CN" altLang="en-US" dirty="0"/>
              <a:t>延迟视图维护</a:t>
            </a:r>
            <a:endParaRPr lang="en-US" altLang="zh-CN" dirty="0"/>
          </a:p>
          <a:p>
            <a:pPr>
              <a:lnSpc>
                <a:spcPct val="120000"/>
              </a:lnSpc>
              <a:buFont typeface="Wingdings" panose="05000000000000000000" pitchFamily="2" charset="2"/>
              <a:buChar char="Ø"/>
            </a:pPr>
            <a:r>
              <a:rPr lang="zh-CN" altLang="en-US" dirty="0"/>
              <a:t>视图维护方式可分为：</a:t>
            </a:r>
            <a:endParaRPr lang="en-US" altLang="zh-CN" dirty="0"/>
          </a:p>
          <a:p>
            <a:pPr lvl="1">
              <a:lnSpc>
                <a:spcPct val="120000"/>
              </a:lnSpc>
              <a:buFont typeface="Arial" panose="020B0604020202020204" pitchFamily="34" charset="0"/>
              <a:buChar char="•"/>
            </a:pPr>
            <a:r>
              <a:rPr lang="zh-CN" altLang="en-US" dirty="0"/>
              <a:t>重新建立视图</a:t>
            </a:r>
            <a:endParaRPr lang="en-US" altLang="zh-CN" dirty="0"/>
          </a:p>
          <a:p>
            <a:pPr lvl="1">
              <a:lnSpc>
                <a:spcPct val="120000"/>
              </a:lnSpc>
              <a:buFont typeface="Arial" panose="020B0604020202020204" pitchFamily="34" charset="0"/>
              <a:buChar char="•"/>
            </a:pPr>
            <a:r>
              <a:rPr lang="zh-CN" altLang="zh-CN" dirty="0"/>
              <a:t>增量视图维护</a:t>
            </a:r>
            <a:endParaRPr lang="en-US" altLang="zh-CN" dirty="0"/>
          </a:p>
          <a:p>
            <a:pPr marL="0" indent="0">
              <a:lnSpc>
                <a:spcPct val="120000"/>
              </a:lnSpc>
              <a:buNone/>
            </a:pPr>
            <a:endParaRPr lang="zh-CN" altLang="zh-CN" sz="2800" dirty="0"/>
          </a:p>
          <a:p>
            <a:pPr>
              <a:lnSpc>
                <a:spcPct val="120000"/>
              </a:lnSpc>
            </a:pPr>
            <a:endParaRPr lang="en-US" altLang="zh-CN" sz="2800" dirty="0">
              <a:solidFill>
                <a:srgbClr val="FF0000"/>
              </a:solidFill>
            </a:endParaRPr>
          </a:p>
          <a:p>
            <a:pPr marL="0" indent="0">
              <a:lnSpc>
                <a:spcPct val="120000"/>
              </a:lnSpc>
              <a:buNone/>
            </a:pPr>
            <a:endParaRPr lang="en-US" altLang="zh-CN" sz="2800" dirty="0">
              <a:solidFill>
                <a:srgbClr val="FF0000"/>
              </a:solidFill>
            </a:endParaRPr>
          </a:p>
        </p:txBody>
      </p:sp>
      <p:sp>
        <p:nvSpPr>
          <p:cNvPr id="5" name="页脚占位符 4">
            <a:extLst>
              <a:ext uri="{FF2B5EF4-FFF2-40B4-BE49-F238E27FC236}">
                <a16:creationId xmlns:a16="http://schemas.microsoft.com/office/drawing/2014/main" id="{4C51CBC7-11AB-253F-11F1-FEAC590C03A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320201169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001713-35C4-24D3-1D4D-59EC6D728F99}"/>
              </a:ext>
            </a:extLst>
          </p:cNvPr>
          <p:cNvSpPr>
            <a:spLocks noGrp="1"/>
          </p:cNvSpPr>
          <p:nvPr>
            <p:ph type="sldNum" sz="quarter" idx="10"/>
          </p:nvPr>
        </p:nvSpPr>
        <p:spPr/>
        <p:txBody>
          <a:bodyPr/>
          <a:lstStyle/>
          <a:p>
            <a:fld id="{87BBDC00-B9E2-4EFD-9306-2934E87247C6}" type="slidenum">
              <a:rPr lang="zh-CN" altLang="en-US" smtClean="0"/>
              <a:pPr/>
              <a:t>176</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增量维护</a:t>
            </a:r>
            <a:endParaRPr kumimoji="1" lang="zh-CN" altLang="en-US" dirty="0"/>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2149881" y="1543050"/>
                <a:ext cx="10874188" cy="5005387"/>
              </a:xfrm>
            </p:spPr>
            <p:txBody>
              <a:bodyPr/>
              <a:lstStyle/>
              <a:p>
                <a:pPr>
                  <a:lnSpc>
                    <a:spcPct val="150000"/>
                  </a:lnSpc>
                  <a:buFont typeface="Wingdings" panose="05000000000000000000" pitchFamily="2" charset="2"/>
                  <a:buChar char="Ø"/>
                </a:pPr>
                <a:r>
                  <a:rPr lang="zh-CN" altLang="en-US" sz="2800" b="1" dirty="0"/>
                  <a:t>选择运算：</a:t>
                </a:r>
                <a:endParaRPr lang="en-US" altLang="zh-CN" sz="2800" b="1" dirty="0"/>
              </a:p>
              <a:p>
                <a:pPr lvl="1">
                  <a:lnSpc>
                    <a:spcPct val="150000"/>
                  </a:lnSpc>
                  <a:buFont typeface="Arial" panose="020B0604020202020204" pitchFamily="34" charset="0"/>
                  <a:buChar char="•"/>
                </a:pPr>
                <a:r>
                  <a:rPr lang="zh-CN" altLang="zh-CN" sz="2400" dirty="0"/>
                  <a:t>物化视图</a:t>
                </a:r>
                <a14:m>
                  <m:oMath xmlns:m="http://schemas.openxmlformats.org/officeDocument/2006/math">
                    <m:r>
                      <a:rPr lang="en-US" altLang="zh-CN" sz="2400" i="1">
                        <a:latin typeface="Cambria Math" panose="02040503050406030204" pitchFamily="18" charset="0"/>
                      </a:rPr>
                      <m:t>𝑀</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𝑝</m:t>
                        </m:r>
                      </m:sub>
                    </m:sSub>
                    <m:r>
                      <a:rPr lang="en-US" altLang="zh-CN" sz="2400">
                        <a:latin typeface="Cambria Math" panose="02040503050406030204" pitchFamily="18" charset="0"/>
                      </a:rPr>
                      <m:t>(</m:t>
                    </m:r>
                    <m:r>
                      <a:rPr lang="en-US" altLang="zh-CN" sz="2400" i="1">
                        <a:latin typeface="Cambria Math" panose="02040503050406030204" pitchFamily="18" charset="0"/>
                      </a:rPr>
                      <m:t>𝑅</m:t>
                    </m:r>
                    <m:r>
                      <a:rPr lang="en-US" altLang="zh-CN" sz="2400">
                        <a:latin typeface="Cambria Math" panose="02040503050406030204" pitchFamily="18" charset="0"/>
                      </a:rPr>
                      <m:t>)</m:t>
                    </m:r>
                  </m:oMath>
                </a14:m>
                <a:r>
                  <a:rPr lang="zh-CN" altLang="zh-CN" sz="2400" dirty="0"/>
                  <a:t> </a:t>
                </a:r>
                <a:endParaRPr lang="en-US" altLang="zh-CN" sz="2400" dirty="0"/>
              </a:p>
              <a:p>
                <a:pPr lvl="1">
                  <a:lnSpc>
                    <a:spcPct val="150000"/>
                  </a:lnSpc>
                  <a:buFont typeface="Arial" panose="020B0604020202020204" pitchFamily="34" charset="0"/>
                  <a:buChar char="•"/>
                </a:pPr>
                <a:r>
                  <a:rPr lang="zh-CN" altLang="en-US" sz="2400" dirty="0"/>
                  <a:t>插入</a:t>
                </a:r>
                <a:r>
                  <a:rPr lang="en-US" altLang="zh-CN" sz="2400" dirty="0"/>
                  <a:t>T</a:t>
                </a:r>
                <a:r>
                  <a:rPr lang="zh-CN" altLang="en-US" sz="2400" dirty="0"/>
                  <a:t>：</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𝑀</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r>
                      <a:rPr lang="en-US" altLang="zh-CN" sz="2400" i="1">
                        <a:latin typeface="Cambria Math" panose="02040503050406030204" pitchFamily="18" charset="0"/>
                      </a:rPr>
                      <m:t>𝑀</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𝑝</m:t>
                        </m:r>
                      </m:sub>
                    </m:sSub>
                    <m:r>
                      <a:rPr lang="en-US" altLang="zh-CN" sz="2400">
                        <a:latin typeface="Cambria Math" panose="02040503050406030204" pitchFamily="18" charset="0"/>
                      </a:rPr>
                      <m:t>(</m:t>
                    </m:r>
                    <m:r>
                      <a:rPr lang="en-US" altLang="zh-CN" sz="2400" i="1">
                        <a:latin typeface="Cambria Math" panose="02040503050406030204" pitchFamily="18" charset="0"/>
                      </a:rPr>
                      <m:t>𝑇</m:t>
                    </m:r>
                    <m:r>
                      <a:rPr lang="en-US" altLang="zh-CN" sz="2400">
                        <a:latin typeface="Cambria Math" panose="02040503050406030204" pitchFamily="18" charset="0"/>
                      </a:rPr>
                      <m:t>)</m:t>
                    </m:r>
                  </m:oMath>
                </a14:m>
                <a:r>
                  <a:rPr lang="zh-CN" altLang="zh-CN" sz="2400" dirty="0"/>
                  <a:t> </a:t>
                </a:r>
                <a:endParaRPr lang="en-US" altLang="zh-CN" sz="2400" dirty="0"/>
              </a:p>
              <a:p>
                <a:pPr lvl="1">
                  <a:lnSpc>
                    <a:spcPct val="150000"/>
                  </a:lnSpc>
                  <a:buFont typeface="Arial" panose="020B0604020202020204" pitchFamily="34" charset="0"/>
                  <a:buChar char="•"/>
                </a:pPr>
                <a:r>
                  <a:rPr lang="zh-CN" altLang="en-US" sz="2400" dirty="0"/>
                  <a:t>删除</a:t>
                </a:r>
                <a:r>
                  <a:rPr lang="en-US" altLang="zh-CN" sz="2400" dirty="0"/>
                  <a:t>T</a:t>
                </a:r>
                <a:r>
                  <a:rPr lang="zh-CN" altLang="en-US" sz="2400" dirty="0"/>
                  <a:t>：</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𝑀</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r>
                      <a:rPr lang="en-US" altLang="zh-CN" sz="2400" i="1">
                        <a:latin typeface="Cambria Math" panose="02040503050406030204" pitchFamily="18" charset="0"/>
                      </a:rPr>
                      <m:t>𝑀</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𝜎</m:t>
                        </m:r>
                      </m:e>
                      <m:sub>
                        <m:r>
                          <a:rPr lang="en-US" altLang="zh-CN" sz="2400" i="1">
                            <a:latin typeface="Cambria Math" panose="02040503050406030204" pitchFamily="18" charset="0"/>
                          </a:rPr>
                          <m:t>𝐶</m:t>
                        </m:r>
                      </m:sub>
                    </m:sSub>
                    <m:r>
                      <a:rPr lang="en-US" altLang="zh-CN" sz="2400">
                        <a:latin typeface="Cambria Math" panose="02040503050406030204" pitchFamily="18" charset="0"/>
                      </a:rPr>
                      <m:t>(</m:t>
                    </m:r>
                    <m:r>
                      <a:rPr lang="en-US" altLang="zh-CN" sz="2400" i="1">
                        <a:latin typeface="Cambria Math" panose="02040503050406030204" pitchFamily="18" charset="0"/>
                      </a:rPr>
                      <m:t>𝑇</m:t>
                    </m:r>
                    <m:r>
                      <a:rPr lang="en-US" altLang="zh-CN" sz="2400">
                        <a:latin typeface="Cambria Math" panose="02040503050406030204" pitchFamily="18" charset="0"/>
                      </a:rPr>
                      <m:t>)</m:t>
                    </m:r>
                  </m:oMath>
                </a14:m>
                <a:r>
                  <a:rPr lang="zh-CN" altLang="zh-CN" sz="2400" dirty="0"/>
                  <a:t> </a:t>
                </a:r>
                <a:endParaRPr lang="en-US" altLang="zh-CN" sz="2400" dirty="0"/>
              </a:p>
              <a:p>
                <a:pPr lvl="1">
                  <a:lnSpc>
                    <a:spcPct val="150000"/>
                  </a:lnSpc>
                </a:pPr>
                <a:endParaRPr lang="en-US" altLang="zh-CN" sz="2400" dirty="0"/>
              </a:p>
              <a:p>
                <a:pPr marL="0" indent="0">
                  <a:lnSpc>
                    <a:spcPct val="150000"/>
                  </a:lnSpc>
                  <a:buNone/>
                </a:pPr>
                <a:endParaRPr lang="zh-CN" altLang="zh-CN" sz="2800" dirty="0"/>
              </a:p>
              <a:p>
                <a:pPr>
                  <a:lnSpc>
                    <a:spcPct val="150000"/>
                  </a:lnSpc>
                </a:pPr>
                <a:endParaRPr lang="en-US" altLang="zh-CN" sz="2800" b="1" dirty="0">
                  <a:solidFill>
                    <a:srgbClr val="FF0000"/>
                  </a:solidFill>
                </a:endParaRPr>
              </a:p>
              <a:p>
                <a:pPr marL="0" indent="0">
                  <a:lnSpc>
                    <a:spcPct val="150000"/>
                  </a:lnSpc>
                  <a:buNone/>
                </a:pPr>
                <a:endParaRPr lang="en-US" altLang="zh-CN" sz="2800" b="1" dirty="0">
                  <a:solidFill>
                    <a:srgbClr val="FF0000"/>
                  </a:solidFill>
                </a:endParaRPr>
              </a:p>
            </p:txBody>
          </p:sp>
        </mc:Choice>
        <mc:Fallback xmlns="">
          <p:sp>
            <p:nvSpPr>
              <p:cNvPr id="4" name="内容占位符 3">
                <a:extLst>
                  <a:ext uri="{FF2B5EF4-FFF2-40B4-BE49-F238E27FC236}">
                    <a16:creationId xmlns:a16="http://schemas.microsoft.com/office/drawing/2014/main" id="{18F8DDA4-BC9B-A9AD-FC5A-C73835AF3E1B}"/>
                  </a:ext>
                </a:extLst>
              </p:cNvPr>
              <p:cNvSpPr>
                <a:spLocks noGrp="1" noRot="1" noChangeAspect="1" noMove="1" noResize="1" noEditPoints="1" noAdjustHandles="1" noChangeArrowheads="1" noChangeShapeType="1" noTextEdit="1"/>
              </p:cNvSpPr>
              <p:nvPr>
                <p:ph idx="1"/>
              </p:nvPr>
            </p:nvSpPr>
            <p:spPr>
              <a:xfrm>
                <a:off x="2149881" y="1543050"/>
                <a:ext cx="10874188" cy="5005387"/>
              </a:xfrm>
              <a:blipFill>
                <a:blip r:embed="rId3"/>
                <a:stretch>
                  <a:fillRect l="-1050"/>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63C9F28D-A21C-1178-0329-3ACCD0389FDE}"/>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80974360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22BDA7D-A9E6-FAF2-269A-8718B909150D}"/>
              </a:ext>
            </a:extLst>
          </p:cNvPr>
          <p:cNvSpPr>
            <a:spLocks noGrp="1"/>
          </p:cNvSpPr>
          <p:nvPr>
            <p:ph type="sldNum" sz="quarter" idx="10"/>
          </p:nvPr>
        </p:nvSpPr>
        <p:spPr/>
        <p:txBody>
          <a:bodyPr/>
          <a:lstStyle/>
          <a:p>
            <a:fld id="{87BBDC00-B9E2-4EFD-9306-2934E87247C6}" type="slidenum">
              <a:rPr lang="zh-CN" altLang="en-US" smtClean="0"/>
              <a:pPr/>
              <a:t>177</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增量维护</a:t>
            </a:r>
            <a:endParaRPr kumimoji="1" lang="zh-CN" altLang="en-US" dirty="0"/>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1151069" y="1004188"/>
                <a:ext cx="10420019" cy="5005387"/>
              </a:xfrm>
            </p:spPr>
            <p:txBody>
              <a:bodyPr/>
              <a:lstStyle/>
              <a:p>
                <a:pPr>
                  <a:lnSpc>
                    <a:spcPct val="150000"/>
                  </a:lnSpc>
                  <a:buFont typeface="Wingdings" panose="05000000000000000000" pitchFamily="2" charset="2"/>
                  <a:buChar char="Ø"/>
                </a:pPr>
                <a:r>
                  <a:rPr lang="zh-CN" altLang="en-US" sz="2800" b="1" dirty="0"/>
                  <a:t>投影运算：</a:t>
                </a:r>
                <a:endParaRPr lang="en-US" altLang="zh-CN" sz="2800" b="1" dirty="0"/>
              </a:p>
              <a:p>
                <a:pPr lvl="1">
                  <a:lnSpc>
                    <a:spcPct val="150000"/>
                  </a:lnSpc>
                  <a:buSzPct val="50000"/>
                  <a:buFont typeface="Wingdings" panose="05000000000000000000" pitchFamily="2" charset="2"/>
                  <a:buChar char="l"/>
                </a:pPr>
                <a:r>
                  <a:rPr lang="zh-CN" altLang="zh-CN" sz="2400" dirty="0"/>
                  <a:t>物化视图</a:t>
                </a:r>
                <a14:m>
                  <m:oMath xmlns:m="http://schemas.openxmlformats.org/officeDocument/2006/math">
                    <m:r>
                      <a:rPr lang="en-US" altLang="zh-CN" sz="2400">
                        <a:latin typeface="Cambria Math" panose="02040503050406030204" pitchFamily="18" charset="0"/>
                      </a:rPr>
                      <m:t>𝑀</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Π</m:t>
                        </m:r>
                      </m:e>
                      <m:sub>
                        <m:r>
                          <a:rPr lang="en-US" altLang="zh-CN" sz="2400">
                            <a:latin typeface="Cambria Math" panose="02040503050406030204" pitchFamily="18" charset="0"/>
                          </a:rPr>
                          <m:t>𝑆</m:t>
                        </m:r>
                      </m:sub>
                    </m:sSub>
                    <m:r>
                      <a:rPr lang="en-US" altLang="zh-CN" sz="2400">
                        <a:latin typeface="Cambria Math" panose="02040503050406030204" pitchFamily="18" charset="0"/>
                      </a:rPr>
                      <m:t>(</m:t>
                    </m:r>
                    <m:r>
                      <a:rPr lang="en-US" altLang="zh-CN" sz="2400">
                        <a:latin typeface="Cambria Math" panose="02040503050406030204" pitchFamily="18" charset="0"/>
                      </a:rPr>
                      <m:t>𝑅</m:t>
                    </m:r>
                    <m:r>
                      <a:rPr lang="en-US" altLang="zh-CN" sz="2400">
                        <a:latin typeface="Cambria Math" panose="02040503050406030204" pitchFamily="18" charset="0"/>
                      </a:rPr>
                      <m:t>)</m:t>
                    </m:r>
                  </m:oMath>
                </a14:m>
                <a:endParaRPr lang="en-US" altLang="zh-CN" sz="2400" dirty="0"/>
              </a:p>
              <a:p>
                <a:pPr lvl="1">
                  <a:lnSpc>
                    <a:spcPct val="150000"/>
                  </a:lnSpc>
                  <a:buSzPct val="50000"/>
                  <a:buFont typeface="Wingdings" panose="05000000000000000000" pitchFamily="2" charset="2"/>
                  <a:buChar char="l"/>
                </a:pPr>
                <a:r>
                  <a:rPr lang="zh-CN" altLang="zh-CN" sz="2400" dirty="0"/>
                  <a:t>需要为</a:t>
                </a:r>
                <a14:m>
                  <m:oMath xmlns:m="http://schemas.openxmlformats.org/officeDocument/2006/math">
                    <m:r>
                      <m:rPr>
                        <m:sty m:val="p"/>
                      </m:rPr>
                      <a:rPr lang="en-US" altLang="zh-CN" sz="2400">
                        <a:latin typeface="Cambria Math" panose="02040503050406030204" pitchFamily="18" charset="0"/>
                      </a:rPr>
                      <m:t>R</m:t>
                    </m:r>
                  </m:oMath>
                </a14:m>
                <a:r>
                  <a:rPr lang="zh-CN" altLang="zh-CN" sz="2400" dirty="0"/>
                  <a:t>中每个元组在属性集</a:t>
                </a:r>
                <a14:m>
                  <m:oMath xmlns:m="http://schemas.openxmlformats.org/officeDocument/2006/math">
                    <m:r>
                      <a:rPr lang="en-US" altLang="zh-CN" sz="2400" i="1">
                        <a:latin typeface="Cambria Math" panose="02040503050406030204" pitchFamily="18" charset="0"/>
                      </a:rPr>
                      <m:t>𝑆</m:t>
                    </m:r>
                  </m:oMath>
                </a14:m>
                <a:r>
                  <a:rPr lang="zh-CN" altLang="zh-CN" sz="2400" dirty="0"/>
                  <a:t>上取值</a:t>
                </a:r>
                <a:r>
                  <a:rPr lang="zh-CN" altLang="en-US" sz="2400" dirty="0"/>
                  <a:t>的</a:t>
                </a:r>
                <a:r>
                  <a:rPr lang="zh-CN" altLang="zh-CN" sz="2400" dirty="0"/>
                  <a:t>出现次数</a:t>
                </a:r>
                <a14:m>
                  <m:oMath xmlns:m="http://schemas.openxmlformats.org/officeDocument/2006/math">
                    <m:r>
                      <a:rPr lang="en-US" altLang="zh-CN" sz="2400" i="1">
                        <a:latin typeface="Cambria Math" panose="02040503050406030204" pitchFamily="18" charset="0"/>
                      </a:rPr>
                      <m:t>𝐶𝑜𝑢𝑛𝑡</m:t>
                    </m:r>
                  </m:oMath>
                </a14:m>
                <a:r>
                  <a:rPr lang="zh-CN" altLang="zh-CN" sz="2400" dirty="0"/>
                  <a:t>进行记录 </a:t>
                </a:r>
                <a:endParaRPr lang="en-US" altLang="zh-CN" sz="2400" dirty="0"/>
              </a:p>
              <a:p>
                <a:pPr lvl="1">
                  <a:lnSpc>
                    <a:spcPct val="150000"/>
                  </a:lnSpc>
                  <a:buSzPct val="50000"/>
                  <a:buFont typeface="Wingdings" panose="05000000000000000000" pitchFamily="2" charset="2"/>
                  <a:buChar char="l"/>
                </a:pPr>
                <a:r>
                  <a:rPr lang="zh-CN" altLang="en-US" sz="2400" dirty="0"/>
                  <a:t>插入：</a:t>
                </a:r>
                <a:endParaRPr lang="en-US" altLang="zh-CN" sz="2400" i="1" dirty="0"/>
              </a:p>
              <a:p>
                <a:pPr lvl="2">
                  <a:lnSpc>
                    <a:spcPct val="150000"/>
                  </a:lnSpc>
                  <a:buSzPct val="50000"/>
                  <a:buFont typeface="Wingdings" panose="05000000000000000000" pitchFamily="2" charset="2"/>
                  <a:buChar char="l"/>
                </a:pP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𝐶𝑜𝑢𝑛𝑡</m:t>
                        </m:r>
                      </m:e>
                      <m:sup>
                        <m:r>
                          <a:rPr lang="en-US" altLang="zh-CN" sz="2000" i="1">
                            <a:latin typeface="Cambria Math" panose="02040503050406030204" pitchFamily="18" charset="0"/>
                          </a:rPr>
                          <m:t>′</m:t>
                        </m:r>
                      </m:sup>
                    </m:sSup>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Π</m:t>
                            </m:r>
                          </m:e>
                          <m:sub>
                            <m:r>
                              <m:rPr>
                                <m:sty m:val="p"/>
                              </m:rPr>
                              <a:rPr lang="en-US" altLang="zh-CN" sz="2000">
                                <a:latin typeface="Cambria Math" panose="02040503050406030204" pitchFamily="18" charset="0"/>
                              </a:rPr>
                              <m:t>S</m:t>
                            </m:r>
                          </m:sub>
                        </m:sSub>
                        <m:r>
                          <a:rPr lang="en-US" altLang="zh-CN" sz="2000">
                            <a:latin typeface="Cambria Math" panose="02040503050406030204" pitchFamily="18" charset="0"/>
                          </a:rPr>
                          <m:t>(</m:t>
                        </m:r>
                        <m:r>
                          <a:rPr lang="en-US" altLang="zh-CN" sz="2000" i="1">
                            <a:latin typeface="Cambria Math" panose="02040503050406030204" pitchFamily="18" charset="0"/>
                          </a:rPr>
                          <m:t>𝑇</m:t>
                        </m:r>
                        <m:r>
                          <a:rPr lang="en-US" altLang="zh-CN" sz="2000">
                            <a:latin typeface="Cambria Math" panose="02040503050406030204" pitchFamily="18" charset="0"/>
                          </a:rPr>
                          <m:t>)</m:t>
                        </m:r>
                      </m:e>
                    </m:d>
                    <m:r>
                      <a:rPr lang="en-US" altLang="zh-CN" sz="2000">
                        <a:latin typeface="Cambria Math" panose="02040503050406030204" pitchFamily="18" charset="0"/>
                      </a:rPr>
                      <m:t>=</m:t>
                    </m:r>
                    <m:r>
                      <a:rPr lang="en-US" altLang="zh-CN" sz="2000" i="1">
                        <a:latin typeface="Cambria Math" panose="02040503050406030204" pitchFamily="18" charset="0"/>
                      </a:rPr>
                      <m:t>𝐶𝑜𝑢𝑛𝑡</m:t>
                    </m:r>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Π</m:t>
                        </m:r>
                      </m:e>
                      <m:sub>
                        <m:r>
                          <m:rPr>
                            <m:sty m:val="p"/>
                          </m:rPr>
                          <a:rPr lang="en-US" altLang="zh-CN" sz="2000">
                            <a:latin typeface="Cambria Math" panose="02040503050406030204" pitchFamily="18" charset="0"/>
                          </a:rPr>
                          <m:t>S</m:t>
                        </m:r>
                      </m:sub>
                    </m:sSub>
                    <m:d>
                      <m:dPr>
                        <m:ctrlPr>
                          <a:rPr lang="zh-CN" altLang="zh-CN" sz="2000" i="1">
                            <a:latin typeface="Cambria Math" panose="02040503050406030204" pitchFamily="18" charset="0"/>
                          </a:rPr>
                        </m:ctrlPr>
                      </m:dPr>
                      <m:e>
                        <m:r>
                          <a:rPr lang="en-US" altLang="zh-CN" sz="2000" i="1">
                            <a:latin typeface="Cambria Math" panose="02040503050406030204" pitchFamily="18" charset="0"/>
                          </a:rPr>
                          <m:t>𝑇</m:t>
                        </m:r>
                      </m:e>
                    </m:d>
                    <m:r>
                      <a:rPr lang="en-US" altLang="zh-CN" sz="2000">
                        <a:latin typeface="Cambria Math" panose="02040503050406030204" pitchFamily="18" charset="0"/>
                      </a:rPr>
                      <m:t>)+1</m:t>
                    </m:r>
                  </m:oMath>
                </a14:m>
                <a:endParaRPr lang="en-US" altLang="zh-CN" sz="2000" dirty="0"/>
              </a:p>
              <a:p>
                <a:pPr lvl="2">
                  <a:lnSpc>
                    <a:spcPct val="150000"/>
                  </a:lnSpc>
                  <a:buSzPct val="50000"/>
                  <a:buFont typeface="Wingdings" panose="05000000000000000000" pitchFamily="2" charset="2"/>
                  <a:buChar char="l"/>
                </a:pPr>
                <a:r>
                  <a:rPr lang="zh-CN" altLang="zh-CN" sz="2000" dirty="0"/>
                  <a:t>如果原计数次数为</a:t>
                </a:r>
                <a:r>
                  <a:rPr lang="en-US" altLang="zh-CN" sz="2000" dirty="0"/>
                  <a:t>0</a:t>
                </a:r>
                <a:r>
                  <a:rPr lang="zh-CN" altLang="zh-CN" sz="2000" dirty="0"/>
                  <a:t>，</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𝑀</m:t>
                        </m:r>
                      </m:e>
                      <m:sup>
                        <m:r>
                          <a:rPr lang="en-US" altLang="zh-CN" sz="2000" i="1">
                            <a:latin typeface="Cambria Math" panose="02040503050406030204" pitchFamily="18" charset="0"/>
                          </a:rPr>
                          <m:t>′</m:t>
                        </m:r>
                      </m:sup>
                    </m:sSup>
                    <m:r>
                      <a:rPr lang="en-US" altLang="zh-CN" sz="2000">
                        <a:latin typeface="Cambria Math" panose="02040503050406030204" pitchFamily="18" charset="0"/>
                      </a:rPr>
                      <m:t>=</m:t>
                    </m:r>
                    <m:r>
                      <a:rPr lang="en-US" altLang="zh-CN" sz="2000" i="1">
                        <a:latin typeface="Cambria Math" panose="02040503050406030204" pitchFamily="18" charset="0"/>
                      </a:rPr>
                      <m:t>𝑀</m:t>
                    </m:r>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Π</m:t>
                        </m:r>
                      </m:e>
                      <m:sub>
                        <m:r>
                          <m:rPr>
                            <m:sty m:val="p"/>
                          </m:rPr>
                          <a:rPr lang="en-US" altLang="zh-CN" sz="2000">
                            <a:latin typeface="Cambria Math" panose="02040503050406030204" pitchFamily="18" charset="0"/>
                          </a:rPr>
                          <m:t>S</m:t>
                        </m:r>
                      </m:sub>
                    </m:sSub>
                    <m:r>
                      <a:rPr lang="en-US" altLang="zh-CN" sz="2000">
                        <a:latin typeface="Cambria Math" panose="02040503050406030204" pitchFamily="18" charset="0"/>
                      </a:rPr>
                      <m:t>(</m:t>
                    </m:r>
                    <m:r>
                      <a:rPr lang="en-US" altLang="zh-CN" sz="2000" i="1">
                        <a:latin typeface="Cambria Math" panose="02040503050406030204" pitchFamily="18" charset="0"/>
                      </a:rPr>
                      <m:t>𝑇</m:t>
                    </m:r>
                    <m:r>
                      <a:rPr lang="en-US" altLang="zh-CN" sz="2000">
                        <a:latin typeface="Cambria Math" panose="02040503050406030204" pitchFamily="18" charset="0"/>
                      </a:rPr>
                      <m:t>)</m:t>
                    </m:r>
                  </m:oMath>
                </a14:m>
                <a:r>
                  <a:rPr lang="zh-CN" altLang="zh-CN" sz="2000" dirty="0"/>
                  <a:t> </a:t>
                </a:r>
                <a:endParaRPr lang="en-US" altLang="zh-CN" sz="2000" dirty="0"/>
              </a:p>
              <a:p>
                <a:pPr lvl="1">
                  <a:lnSpc>
                    <a:spcPct val="150000"/>
                  </a:lnSpc>
                  <a:buSzPct val="50000"/>
                  <a:buFont typeface="Wingdings" panose="05000000000000000000" pitchFamily="2" charset="2"/>
                  <a:buChar char="l"/>
                </a:pPr>
                <a:r>
                  <a:rPr lang="zh-CN" altLang="en-US" sz="2400" dirty="0"/>
                  <a:t>删除：</a:t>
                </a:r>
                <a:endParaRPr lang="en-US" altLang="zh-CN" sz="2400" dirty="0"/>
              </a:p>
              <a:p>
                <a:pPr lvl="2">
                  <a:lnSpc>
                    <a:spcPct val="150000"/>
                  </a:lnSpc>
                  <a:buSzPct val="50000"/>
                  <a:buFont typeface="Wingdings" panose="05000000000000000000" pitchFamily="2" charset="2"/>
                  <a:buChar char="l"/>
                </a:pP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𝐶𝑜𝑢𝑛𝑡</m:t>
                        </m:r>
                      </m:e>
                      <m:sup>
                        <m:r>
                          <a:rPr lang="en-US" altLang="zh-CN" sz="2000" i="1">
                            <a:latin typeface="Cambria Math" panose="02040503050406030204" pitchFamily="18" charset="0"/>
                          </a:rPr>
                          <m:t>′</m:t>
                        </m:r>
                      </m:sup>
                    </m:sSup>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Π</m:t>
                            </m:r>
                          </m:e>
                          <m:sub>
                            <m:r>
                              <m:rPr>
                                <m:sty m:val="p"/>
                              </m:rPr>
                              <a:rPr lang="en-US" altLang="zh-CN" sz="2000">
                                <a:latin typeface="Cambria Math" panose="02040503050406030204" pitchFamily="18" charset="0"/>
                              </a:rPr>
                              <m:t>S</m:t>
                            </m:r>
                          </m:sub>
                        </m:sSub>
                        <m:r>
                          <a:rPr lang="en-US" altLang="zh-CN" sz="2000" i="1">
                            <a:latin typeface="Cambria Math" panose="02040503050406030204" pitchFamily="18" charset="0"/>
                          </a:rPr>
                          <m:t>(</m:t>
                        </m:r>
                        <m:r>
                          <a:rPr lang="en-US" altLang="zh-CN" sz="2000" i="1">
                            <a:latin typeface="Cambria Math" panose="02040503050406030204" pitchFamily="18" charset="0"/>
                          </a:rPr>
                          <m:t>𝑇</m:t>
                        </m:r>
                        <m:r>
                          <a:rPr lang="en-US" altLang="zh-CN" sz="2000" i="1">
                            <a:latin typeface="Cambria Math" panose="02040503050406030204" pitchFamily="18" charset="0"/>
                          </a:rPr>
                          <m:t>)</m:t>
                        </m:r>
                      </m:e>
                    </m:d>
                    <m:r>
                      <a:rPr lang="en-US" altLang="zh-CN" sz="2000" i="1">
                        <a:latin typeface="Cambria Math" panose="02040503050406030204" pitchFamily="18" charset="0"/>
                      </a:rPr>
                      <m:t>=</m:t>
                    </m:r>
                    <m:r>
                      <a:rPr lang="en-US" altLang="zh-CN" sz="2000" i="1">
                        <a:latin typeface="Cambria Math" panose="02040503050406030204" pitchFamily="18" charset="0"/>
                      </a:rPr>
                      <m:t>𝐶𝑜𝑢𝑛𝑡</m:t>
                    </m:r>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Π</m:t>
                            </m:r>
                          </m:e>
                          <m:sub>
                            <m:r>
                              <m:rPr>
                                <m:sty m:val="p"/>
                              </m:rPr>
                              <a:rPr lang="en-US" altLang="zh-CN" sz="2000">
                                <a:latin typeface="Cambria Math" panose="02040503050406030204" pitchFamily="18" charset="0"/>
                              </a:rPr>
                              <m:t>S</m:t>
                            </m:r>
                          </m:sub>
                        </m:sSub>
                        <m:d>
                          <m:dPr>
                            <m:ctrlPr>
                              <a:rPr lang="zh-CN" altLang="zh-CN" sz="2000" i="1">
                                <a:latin typeface="Cambria Math" panose="02040503050406030204" pitchFamily="18" charset="0"/>
                              </a:rPr>
                            </m:ctrlPr>
                          </m:dPr>
                          <m:e>
                            <m:r>
                              <a:rPr lang="en-US" altLang="zh-CN" sz="2000" i="1">
                                <a:latin typeface="Cambria Math" panose="02040503050406030204" pitchFamily="18" charset="0"/>
                              </a:rPr>
                              <m:t>𝑇</m:t>
                            </m:r>
                          </m:e>
                        </m:d>
                      </m:e>
                    </m:d>
                    <m:r>
                      <a:rPr lang="en-US" altLang="zh-CN" sz="2000" i="1">
                        <a:latin typeface="Cambria Math" panose="02040503050406030204" pitchFamily="18" charset="0"/>
                      </a:rPr>
                      <m:t>−1</m:t>
                    </m:r>
                  </m:oMath>
                </a14:m>
                <a:r>
                  <a:rPr lang="zh-CN" altLang="zh-CN" sz="2000" dirty="0"/>
                  <a:t> </a:t>
                </a:r>
                <a:endParaRPr lang="en-US" altLang="zh-CN" sz="2000" dirty="0"/>
              </a:p>
              <a:p>
                <a:pPr lvl="2">
                  <a:lnSpc>
                    <a:spcPct val="150000"/>
                  </a:lnSpc>
                  <a:buSzPct val="50000"/>
                  <a:buFont typeface="Wingdings" panose="05000000000000000000" pitchFamily="2" charset="2"/>
                  <a:buChar char="l"/>
                </a:pPr>
                <a:r>
                  <a:rPr lang="zh-CN" altLang="zh-CN" sz="2000" dirty="0"/>
                  <a:t>如果新计数次数为</a:t>
                </a:r>
                <a:r>
                  <a:rPr lang="en-US" altLang="zh-CN" sz="2000" dirty="0"/>
                  <a:t>0</a:t>
                </a:r>
                <a:r>
                  <a:rPr lang="zh-CN" altLang="zh-CN" sz="2000" dirty="0"/>
                  <a:t>，</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𝑀</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𝑀</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Π</m:t>
                        </m:r>
                      </m:e>
                      <m:sub>
                        <m:r>
                          <m:rPr>
                            <m:sty m:val="p"/>
                          </m:rPr>
                          <a:rPr lang="en-US" altLang="zh-CN" sz="2000">
                            <a:latin typeface="Cambria Math" panose="02040503050406030204" pitchFamily="18" charset="0"/>
                          </a:rPr>
                          <m:t>S</m:t>
                        </m:r>
                      </m:sub>
                    </m:sSub>
                    <m:r>
                      <a:rPr lang="en-US" altLang="zh-CN" sz="2000" i="1">
                        <a:latin typeface="Cambria Math" panose="02040503050406030204" pitchFamily="18" charset="0"/>
                      </a:rPr>
                      <m:t>(</m:t>
                    </m:r>
                    <m:r>
                      <a:rPr lang="en-US" altLang="zh-CN" sz="2000" i="1">
                        <a:latin typeface="Cambria Math" panose="02040503050406030204" pitchFamily="18" charset="0"/>
                      </a:rPr>
                      <m:t>𝑇</m:t>
                    </m:r>
                    <m:r>
                      <a:rPr lang="en-US" altLang="zh-CN" sz="2000" i="1">
                        <a:latin typeface="Cambria Math" panose="02040503050406030204" pitchFamily="18" charset="0"/>
                      </a:rPr>
                      <m:t>)</m:t>
                    </m:r>
                  </m:oMath>
                </a14:m>
                <a:r>
                  <a:rPr lang="zh-CN" altLang="zh-CN" sz="2000" dirty="0"/>
                  <a:t> </a:t>
                </a:r>
                <a:endParaRPr lang="en-US" altLang="zh-CN" sz="2000" dirty="0"/>
              </a:p>
              <a:p>
                <a:pPr marL="0" indent="0">
                  <a:buNone/>
                </a:pPr>
                <a:endParaRPr lang="zh-CN" altLang="zh-CN" sz="2800" dirty="0"/>
              </a:p>
              <a:p>
                <a:endParaRPr lang="en-US" altLang="zh-CN" sz="2800" b="1" dirty="0">
                  <a:solidFill>
                    <a:srgbClr val="FF0000"/>
                  </a:solidFill>
                </a:endParaRPr>
              </a:p>
              <a:p>
                <a:pPr marL="0" indent="0">
                  <a:buNone/>
                </a:pPr>
                <a:endParaRPr lang="en-US" altLang="zh-CN" sz="2800" b="1" dirty="0">
                  <a:solidFill>
                    <a:srgbClr val="FF0000"/>
                  </a:solidFill>
                </a:endParaRPr>
              </a:p>
            </p:txBody>
          </p:sp>
        </mc:Choice>
        <mc:Fallback xmlns="">
          <p:sp>
            <p:nvSpPr>
              <p:cNvPr id="4" name="内容占位符 3">
                <a:extLst>
                  <a:ext uri="{FF2B5EF4-FFF2-40B4-BE49-F238E27FC236}">
                    <a16:creationId xmlns:a16="http://schemas.microsoft.com/office/drawing/2014/main" id="{18F8DDA4-BC9B-A9AD-FC5A-C73835AF3E1B}"/>
                  </a:ext>
                </a:extLst>
              </p:cNvPr>
              <p:cNvSpPr>
                <a:spLocks noGrp="1" noRot="1" noChangeAspect="1" noMove="1" noResize="1" noEditPoints="1" noAdjustHandles="1" noChangeArrowheads="1" noChangeShapeType="1" noTextEdit="1"/>
              </p:cNvSpPr>
              <p:nvPr>
                <p:ph idx="1"/>
              </p:nvPr>
            </p:nvSpPr>
            <p:spPr>
              <a:xfrm>
                <a:off x="1151069" y="1004188"/>
                <a:ext cx="10420019" cy="5005387"/>
              </a:xfrm>
              <a:blipFill>
                <a:blip r:embed="rId3"/>
                <a:stretch>
                  <a:fillRect l="-973" b="-8101"/>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DDCD96E0-59E1-F4D8-BAA3-2A2D00409C1D}"/>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301836508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20FF182-DD0B-4727-AF0C-60EE5FCBBE73}"/>
              </a:ext>
            </a:extLst>
          </p:cNvPr>
          <p:cNvSpPr>
            <a:spLocks noGrp="1"/>
          </p:cNvSpPr>
          <p:nvPr>
            <p:ph type="sldNum" sz="quarter" idx="10"/>
          </p:nvPr>
        </p:nvSpPr>
        <p:spPr/>
        <p:txBody>
          <a:bodyPr/>
          <a:lstStyle/>
          <a:p>
            <a:fld id="{87BBDC00-B9E2-4EFD-9306-2934E87247C6}" type="slidenum">
              <a:rPr lang="zh-CN" altLang="en-US" smtClean="0"/>
              <a:pPr/>
              <a:t>178</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增量维护</a:t>
            </a:r>
            <a:endParaRPr kumimoji="1" lang="zh-CN" altLang="en-US" dirty="0"/>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1140311" y="1321390"/>
                <a:ext cx="11749912" cy="5005387"/>
              </a:xfrm>
            </p:spPr>
            <p:txBody>
              <a:bodyPr/>
              <a:lstStyle/>
              <a:p>
                <a:pPr>
                  <a:lnSpc>
                    <a:spcPct val="150000"/>
                  </a:lnSpc>
                  <a:buFont typeface="Wingdings" panose="05000000000000000000" pitchFamily="2" charset="2"/>
                  <a:buChar char="Ø"/>
                </a:pPr>
                <a:r>
                  <a:rPr lang="zh-CN" altLang="en-US" sz="2800" b="1" dirty="0"/>
                  <a:t>连接运算：</a:t>
                </a:r>
                <a:endParaRPr lang="en-US" altLang="zh-CN" sz="2800" b="1" dirty="0"/>
              </a:p>
              <a:p>
                <a:pPr lvl="1">
                  <a:lnSpc>
                    <a:spcPct val="150000"/>
                  </a:lnSpc>
                  <a:buFont typeface="Arial" panose="020B0604020202020204" pitchFamily="34" charset="0"/>
                  <a:buChar char="•"/>
                </a:pPr>
                <a:r>
                  <a:rPr lang="zh-CN" altLang="zh-CN" sz="2400" dirty="0"/>
                  <a:t>物化视图</a:t>
                </a:r>
                <a14:m>
                  <m:oMath xmlns:m="http://schemas.openxmlformats.org/officeDocument/2006/math">
                    <m:r>
                      <a:rPr lang="en-US" altLang="zh-CN" sz="2400" i="1">
                        <a:latin typeface="Cambria Math" panose="02040503050406030204" pitchFamily="18" charset="0"/>
                      </a:rPr>
                      <m:t>𝑀</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2</m:t>
                        </m:r>
                      </m:sub>
                    </m:sSub>
                  </m:oMath>
                </a14:m>
                <a:r>
                  <a:rPr lang="zh-CN" altLang="en-US" sz="2400" dirty="0"/>
                  <a:t>，</a:t>
                </a:r>
                <a:r>
                  <a:rPr lang="zh-CN" altLang="zh-CN" sz="2400" dirty="0"/>
                  <a:t>表示关系</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1</m:t>
                        </m:r>
                      </m:sub>
                    </m:sSub>
                    <m:r>
                      <a:rPr lang="zh-CN"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2</m:t>
                        </m:r>
                      </m:sub>
                    </m:sSub>
                  </m:oMath>
                </a14:m>
                <a:r>
                  <a:rPr lang="zh-CN" altLang="zh-CN" sz="2400" dirty="0"/>
                  <a:t>进行连接运算的结果</a:t>
                </a:r>
                <a:endParaRPr lang="en-US" altLang="zh-CN" sz="2400" dirty="0"/>
              </a:p>
              <a:p>
                <a:pPr lvl="1">
                  <a:lnSpc>
                    <a:spcPct val="150000"/>
                  </a:lnSpc>
                  <a:buFont typeface="Arial" panose="020B0604020202020204" pitchFamily="34" charset="0"/>
                  <a:buChar char="•"/>
                </a:pPr>
                <a:r>
                  <a:rPr lang="zh-CN" altLang="en-US" sz="2400" dirty="0"/>
                  <a:t>根据</a:t>
                </a:r>
                <a:r>
                  <a:rPr lang="zh-CN" altLang="zh-CN" sz="2400" dirty="0"/>
                  <a:t>对称性，只需考虑对</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1</m:t>
                        </m:r>
                      </m:sub>
                    </m:sSub>
                  </m:oMath>
                </a14:m>
                <a:r>
                  <a:rPr lang="zh-CN" altLang="zh-CN" sz="2400" dirty="0"/>
                  <a:t>的插入或删除</a:t>
                </a:r>
                <a:endParaRPr lang="en-US" altLang="zh-CN" sz="2400" dirty="0"/>
              </a:p>
              <a:p>
                <a:pPr lvl="1">
                  <a:lnSpc>
                    <a:spcPct val="150000"/>
                  </a:lnSpc>
                  <a:buFont typeface="Arial" panose="020B0604020202020204" pitchFamily="34" charset="0"/>
                  <a:buChar char="•"/>
                </a:pPr>
                <a:r>
                  <a:rPr lang="zh-CN" altLang="zh-CN" sz="2400" dirty="0"/>
                  <a:t>当</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a:latin typeface="Cambria Math" panose="02040503050406030204" pitchFamily="18" charset="0"/>
                          </a:rPr>
                          <m:t>1</m:t>
                        </m:r>
                      </m:sub>
                    </m:sSub>
                  </m:oMath>
                </a14:m>
                <a:r>
                  <a:rPr lang="zh-CN" altLang="zh-CN" sz="2400" dirty="0"/>
                  <a:t>插入一个元组</a:t>
                </a:r>
                <a14:m>
                  <m:oMath xmlns:m="http://schemas.openxmlformats.org/officeDocument/2006/math">
                    <m:r>
                      <a:rPr lang="en-US" altLang="zh-CN" sz="2400" i="1">
                        <a:latin typeface="Cambria Math" panose="02040503050406030204" pitchFamily="18" charset="0"/>
                      </a:rPr>
                      <m:t>𝑇</m:t>
                    </m:r>
                  </m:oMath>
                </a14:m>
                <a:r>
                  <a:rPr lang="zh-CN" altLang="zh-CN" sz="2400" dirty="0"/>
                  <a:t>时</a:t>
                </a:r>
                <a:r>
                  <a:rPr lang="zh-CN" altLang="en-US" sz="2400" dirty="0"/>
                  <a:t>：</a:t>
                </a:r>
                <a:endParaRPr lang="en-US" altLang="zh-CN" sz="2400" dirty="0"/>
              </a:p>
              <a:p>
                <a:pPr lvl="2">
                  <a:lnSpc>
                    <a:spcPct val="150000"/>
                  </a:lnSpc>
                  <a:buFont typeface="Arial" panose="020B0604020202020204" pitchFamily="34" charset="0"/>
                  <a:buChar char="•"/>
                </a:pP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𝑀</m:t>
                        </m:r>
                      </m:e>
                      <m:sup>
                        <m:r>
                          <a:rPr lang="en-US" altLang="zh-CN" sz="2000" i="1">
                            <a:latin typeface="Cambria Math" panose="02040503050406030204" pitchFamily="18" charset="0"/>
                          </a:rPr>
                          <m:t>′</m:t>
                        </m:r>
                      </m:sup>
                    </m:sSup>
                    <m:r>
                      <a:rPr lang="en-US" altLang="zh-CN" sz="2000">
                        <a:latin typeface="Cambria Math" panose="02040503050406030204" pitchFamily="18" charset="0"/>
                      </a:rPr>
                      <m:t>=</m:t>
                    </m:r>
                    <m:r>
                      <a:rPr lang="en-US" altLang="zh-CN" sz="2000" i="1">
                        <a:latin typeface="Cambria Math" panose="02040503050406030204" pitchFamily="18" charset="0"/>
                      </a:rPr>
                      <m:t>𝑀</m:t>
                    </m:r>
                    <m:r>
                      <a:rPr lang="en-US" altLang="zh-CN" sz="2000">
                        <a:latin typeface="Cambria Math" panose="02040503050406030204" pitchFamily="18" charset="0"/>
                      </a:rPr>
                      <m:t>∪(</m:t>
                    </m:r>
                    <m:r>
                      <a:rPr lang="en-US" altLang="zh-CN" sz="2000" i="1">
                        <a:latin typeface="Cambria Math" panose="02040503050406030204" pitchFamily="18" charset="0"/>
                      </a:rPr>
                      <m:t>𝑇</m:t>
                    </m:r>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a:latin typeface="Cambria Math" panose="02040503050406030204" pitchFamily="18" charset="0"/>
                          </a:rPr>
                          <m:t>2</m:t>
                        </m:r>
                      </m:sub>
                    </m:sSub>
                    <m:r>
                      <a:rPr lang="en-US" altLang="zh-CN" sz="2000">
                        <a:latin typeface="Cambria Math" panose="02040503050406030204" pitchFamily="18" charset="0"/>
                      </a:rPr>
                      <m:t>)</m:t>
                    </m:r>
                  </m:oMath>
                </a14:m>
                <a:r>
                  <a:rPr lang="zh-CN" altLang="zh-CN" sz="2000" dirty="0"/>
                  <a:t> </a:t>
                </a:r>
                <a:endParaRPr lang="en-US" altLang="zh-CN" sz="2000" dirty="0"/>
              </a:p>
              <a:p>
                <a:pPr lvl="1">
                  <a:lnSpc>
                    <a:spcPct val="150000"/>
                  </a:lnSpc>
                  <a:buFont typeface="Arial" panose="020B0604020202020204" pitchFamily="34" charset="0"/>
                  <a:buChar char="•"/>
                </a:pPr>
                <a:r>
                  <a:rPr lang="zh-CN" altLang="zh-CN" sz="2400" dirty="0"/>
                  <a:t>当从</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1</m:t>
                        </m:r>
                      </m:sub>
                    </m:sSub>
                  </m:oMath>
                </a14:m>
                <a:r>
                  <a:rPr lang="zh-CN" altLang="zh-CN" sz="2400" dirty="0"/>
                  <a:t>中删除一个元组</a:t>
                </a:r>
                <a14:m>
                  <m:oMath xmlns:m="http://schemas.openxmlformats.org/officeDocument/2006/math">
                    <m:r>
                      <a:rPr lang="en-US" altLang="zh-CN" sz="2400" i="1">
                        <a:latin typeface="Cambria Math" panose="02040503050406030204" pitchFamily="18" charset="0"/>
                      </a:rPr>
                      <m:t>𝑇</m:t>
                    </m:r>
                  </m:oMath>
                </a14:m>
                <a:r>
                  <a:rPr lang="zh-CN" altLang="zh-CN" sz="2400" dirty="0"/>
                  <a:t>时</a:t>
                </a:r>
                <a:r>
                  <a:rPr lang="zh-CN" altLang="en-US" sz="2400" dirty="0"/>
                  <a:t>：</a:t>
                </a:r>
                <a:endParaRPr lang="en-US" altLang="zh-CN" sz="2400" dirty="0"/>
              </a:p>
              <a:p>
                <a:pPr lvl="2">
                  <a:lnSpc>
                    <a:spcPct val="150000"/>
                  </a:lnSpc>
                  <a:buFont typeface="Arial" panose="020B0604020202020204" pitchFamily="34" charset="0"/>
                  <a:buChar char="•"/>
                </a:pP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𝑀</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𝑀</m:t>
                    </m:r>
                    <m:r>
                      <a:rPr lang="en-US" altLang="zh-CN" sz="2000" i="1">
                        <a:latin typeface="Cambria Math" panose="02040503050406030204" pitchFamily="18" charset="0"/>
                      </a:rPr>
                      <m:t>−(</m:t>
                    </m:r>
                    <m:r>
                      <a:rPr lang="en-US" altLang="zh-CN" sz="2000" i="1">
                        <a:latin typeface="Cambria Math" panose="02040503050406030204" pitchFamily="18" charset="0"/>
                      </a:rPr>
                      <m:t>𝑇</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𝑅</m:t>
                        </m:r>
                      </m:e>
                      <m:sub>
                        <m:r>
                          <a:rPr lang="en-US" altLang="zh-CN" sz="2000" i="1">
                            <a:latin typeface="Cambria Math" panose="02040503050406030204" pitchFamily="18" charset="0"/>
                          </a:rPr>
                          <m:t>2</m:t>
                        </m:r>
                      </m:sub>
                    </m:sSub>
                    <m:r>
                      <a:rPr lang="en-US" altLang="zh-CN" sz="2000">
                        <a:latin typeface="Cambria Math" panose="02040503050406030204" pitchFamily="18" charset="0"/>
                      </a:rPr>
                      <m:t>)</m:t>
                    </m:r>
                  </m:oMath>
                </a14:m>
                <a:r>
                  <a:rPr lang="zh-CN" altLang="zh-CN" sz="2000" dirty="0"/>
                  <a:t> </a:t>
                </a:r>
                <a:endParaRPr lang="en-US" altLang="zh-CN" sz="2000" dirty="0"/>
              </a:p>
              <a:p>
                <a:pPr lvl="1">
                  <a:buFont typeface="Wingdings" pitchFamily="2" charset="2"/>
                  <a:buChar char="–"/>
                </a:pPr>
                <a:endParaRPr lang="zh-CN" altLang="zh-CN" sz="2400" dirty="0"/>
              </a:p>
              <a:p>
                <a:endParaRPr lang="en-US" altLang="zh-CN" sz="2800" b="1" dirty="0">
                  <a:solidFill>
                    <a:srgbClr val="FF0000"/>
                  </a:solidFill>
                </a:endParaRPr>
              </a:p>
              <a:p>
                <a:pPr marL="0" indent="0">
                  <a:buNone/>
                </a:pPr>
                <a:endParaRPr lang="en-US" altLang="zh-CN" sz="2800" b="1" dirty="0">
                  <a:solidFill>
                    <a:srgbClr val="FF0000"/>
                  </a:solidFill>
                </a:endParaRPr>
              </a:p>
            </p:txBody>
          </p:sp>
        </mc:Choice>
        <mc:Fallback xmlns="">
          <p:sp>
            <p:nvSpPr>
              <p:cNvPr id="4" name="内容占位符 3">
                <a:extLst>
                  <a:ext uri="{FF2B5EF4-FFF2-40B4-BE49-F238E27FC236}">
                    <a16:creationId xmlns:a16="http://schemas.microsoft.com/office/drawing/2014/main" id="{18F8DDA4-BC9B-A9AD-FC5A-C73835AF3E1B}"/>
                  </a:ext>
                </a:extLst>
              </p:cNvPr>
              <p:cNvSpPr>
                <a:spLocks noGrp="1" noRot="1" noChangeAspect="1" noMove="1" noResize="1" noEditPoints="1" noAdjustHandles="1" noChangeArrowheads="1" noChangeShapeType="1" noTextEdit="1"/>
              </p:cNvSpPr>
              <p:nvPr>
                <p:ph idx="1"/>
              </p:nvPr>
            </p:nvSpPr>
            <p:spPr>
              <a:xfrm>
                <a:off x="1140311" y="1321390"/>
                <a:ext cx="11749912" cy="5005387"/>
              </a:xfrm>
              <a:blipFill>
                <a:blip r:embed="rId3"/>
                <a:stretch>
                  <a:fillRect l="-863"/>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3C2AEF88-137A-DA2F-2889-A98F79B250FB}"/>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334324410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5DF2400-6A13-1AC2-11D5-CB63CD4FE82A}"/>
              </a:ext>
            </a:extLst>
          </p:cNvPr>
          <p:cNvSpPr>
            <a:spLocks noGrp="1"/>
          </p:cNvSpPr>
          <p:nvPr>
            <p:ph type="sldNum" sz="quarter" idx="10"/>
          </p:nvPr>
        </p:nvSpPr>
        <p:spPr/>
        <p:txBody>
          <a:bodyPr/>
          <a:lstStyle/>
          <a:p>
            <a:fld id="{87BBDC00-B9E2-4EFD-9306-2934E87247C6}" type="slidenum">
              <a:rPr lang="zh-CN" altLang="en-US" smtClean="0"/>
              <a:pPr/>
              <a:t>179</a:t>
            </a:fld>
            <a:endParaRPr lang="zh-CN" altLang="en-US"/>
          </a:p>
        </p:txBody>
      </p:sp>
      <p:sp>
        <p:nvSpPr>
          <p:cNvPr id="3" name="标题 2">
            <a:extLst>
              <a:ext uri="{FF2B5EF4-FFF2-40B4-BE49-F238E27FC236}">
                <a16:creationId xmlns:a16="http://schemas.microsoft.com/office/drawing/2014/main" id="{8EE80BE5-E44E-A134-3B48-026E022361AA}"/>
              </a:ext>
            </a:extLst>
          </p:cNvPr>
          <p:cNvSpPr>
            <a:spLocks noGrp="1"/>
          </p:cNvSpPr>
          <p:nvPr>
            <p:ph type="title"/>
          </p:nvPr>
        </p:nvSpPr>
        <p:spPr/>
        <p:txBody>
          <a:bodyPr/>
          <a:lstStyle/>
          <a:p>
            <a:r>
              <a:rPr lang="zh-CN" altLang="en-US" dirty="0"/>
              <a:t>增量维护</a:t>
            </a:r>
            <a:endParaRPr kumimoji="1" lang="zh-CN" altLang="en-US" dirty="0"/>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18F8DDA4-BC9B-A9AD-FC5A-C73835AF3E1B}"/>
                  </a:ext>
                </a:extLst>
              </p:cNvPr>
              <p:cNvSpPr>
                <a:spLocks noGrp="1"/>
              </p:cNvSpPr>
              <p:nvPr>
                <p:ph idx="1"/>
              </p:nvPr>
            </p:nvSpPr>
            <p:spPr>
              <a:xfrm>
                <a:off x="1649296" y="1511759"/>
                <a:ext cx="9770765" cy="5005387"/>
              </a:xfrm>
            </p:spPr>
            <p:txBody>
              <a:bodyPr/>
              <a:lstStyle/>
              <a:p>
                <a:pPr>
                  <a:lnSpc>
                    <a:spcPct val="150000"/>
                  </a:lnSpc>
                  <a:buFont typeface="Wingdings" panose="05000000000000000000" pitchFamily="2" charset="2"/>
                  <a:buChar char="Ø"/>
                </a:pPr>
                <a:r>
                  <a:rPr lang="zh-CN" altLang="en-US" sz="2800" b="1" dirty="0"/>
                  <a:t>去重运算：</a:t>
                </a:r>
                <a:endParaRPr lang="en-US" altLang="zh-CN" sz="2800" b="1" dirty="0"/>
              </a:p>
              <a:p>
                <a:pPr lvl="1">
                  <a:lnSpc>
                    <a:spcPct val="150000"/>
                  </a:lnSpc>
                  <a:buFont typeface="Arial" panose="020B0604020202020204" pitchFamily="34" charset="0"/>
                  <a:buChar char="•"/>
                </a:pPr>
                <a:r>
                  <a:rPr lang="zh-CN" altLang="zh-CN" sz="2400" dirty="0"/>
                  <a:t>物化视图</a:t>
                </a:r>
                <a14:m>
                  <m:oMath xmlns:m="http://schemas.openxmlformats.org/officeDocument/2006/math">
                    <m:r>
                      <a:rPr lang="en-US" altLang="zh-CN" sz="2400" i="1">
                        <a:latin typeface="Cambria Math" panose="02040503050406030204" pitchFamily="18" charset="0"/>
                      </a:rPr>
                      <m:t>𝑀</m:t>
                    </m:r>
                    <m:r>
                      <a:rPr lang="en-US" altLang="zh-CN" sz="2400" i="1">
                        <a:latin typeface="Cambria Math" panose="02040503050406030204" pitchFamily="18" charset="0"/>
                      </a:rPr>
                      <m:t>=</m:t>
                    </m:r>
                    <m:r>
                      <a:rPr lang="en-US" altLang="zh-CN" sz="2400" i="1">
                        <a:latin typeface="Cambria Math" panose="02040503050406030204" pitchFamily="18" charset="0"/>
                      </a:rPr>
                      <m:t>𝛿</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𝑅</m:t>
                        </m:r>
                      </m:e>
                    </m:d>
                  </m:oMath>
                </a14:m>
                <a:r>
                  <a:rPr lang="zh-CN" altLang="zh-CN" sz="2400" dirty="0"/>
                  <a:t>，该视图表示对关系</a:t>
                </a:r>
                <a14:m>
                  <m:oMath xmlns:m="http://schemas.openxmlformats.org/officeDocument/2006/math">
                    <m:r>
                      <a:rPr lang="en-US" altLang="zh-CN" sz="2400" i="1">
                        <a:latin typeface="Cambria Math" panose="02040503050406030204" pitchFamily="18" charset="0"/>
                      </a:rPr>
                      <m:t>𝑅</m:t>
                    </m:r>
                  </m:oMath>
                </a14:m>
                <a:r>
                  <a:rPr lang="zh-CN" altLang="zh-CN" sz="2400" dirty="0"/>
                  <a:t>进行去重的结果 </a:t>
                </a:r>
                <a:endParaRPr lang="en-US" altLang="zh-CN" sz="2400" dirty="0"/>
              </a:p>
              <a:p>
                <a:pPr lvl="1">
                  <a:lnSpc>
                    <a:spcPct val="150000"/>
                  </a:lnSpc>
                  <a:buFont typeface="Arial" panose="020B0604020202020204" pitchFamily="34" charset="0"/>
                  <a:buChar char="•"/>
                </a:pPr>
                <a:r>
                  <a:rPr lang="zh-CN" altLang="zh-CN" sz="2400" dirty="0"/>
                  <a:t>去重可以视作是</a:t>
                </a:r>
                <a:r>
                  <a:rPr lang="zh-CN" altLang="zh-CN" sz="2400" b="1" dirty="0">
                    <a:solidFill>
                      <a:srgbClr val="701988"/>
                    </a:solidFill>
                  </a:rPr>
                  <a:t>投影属性集</a:t>
                </a:r>
                <a14:m>
                  <m:oMath xmlns:m="http://schemas.openxmlformats.org/officeDocument/2006/math">
                    <m:r>
                      <a:rPr lang="en-US" altLang="zh-CN" sz="2400" b="0" i="1">
                        <a:solidFill>
                          <a:srgbClr val="701988"/>
                        </a:solidFill>
                        <a:latin typeface="Cambria Math" panose="02040503050406030204" pitchFamily="18" charset="0"/>
                      </a:rPr>
                      <m:t>𝑆</m:t>
                    </m:r>
                  </m:oMath>
                </a14:m>
                <a:r>
                  <a:rPr lang="en-US" altLang="zh-CN" sz="2400" b="1" dirty="0">
                    <a:solidFill>
                      <a:srgbClr val="701988"/>
                    </a:solidFill>
                  </a:rPr>
                  <a:t> </a:t>
                </a:r>
                <a:r>
                  <a:rPr lang="zh-CN" altLang="zh-CN" sz="2400" b="1" dirty="0">
                    <a:solidFill>
                      <a:srgbClr val="701988"/>
                    </a:solidFill>
                  </a:rPr>
                  <a:t>是关系</a:t>
                </a:r>
                <a14:m>
                  <m:oMath xmlns:m="http://schemas.openxmlformats.org/officeDocument/2006/math">
                    <m:r>
                      <a:rPr lang="en-US" altLang="zh-CN" sz="2400" b="0" i="1">
                        <a:solidFill>
                          <a:srgbClr val="701988"/>
                        </a:solidFill>
                        <a:latin typeface="Cambria Math" panose="02040503050406030204" pitchFamily="18" charset="0"/>
                      </a:rPr>
                      <m:t>𝑅</m:t>
                    </m:r>
                  </m:oMath>
                </a14:m>
                <a:r>
                  <a:rPr lang="en-US" altLang="zh-CN" sz="2400" b="1" dirty="0">
                    <a:solidFill>
                      <a:srgbClr val="701988"/>
                    </a:solidFill>
                  </a:rPr>
                  <a:t> </a:t>
                </a:r>
                <a:r>
                  <a:rPr lang="zh-CN" altLang="zh-CN" sz="2400" b="1" dirty="0">
                    <a:solidFill>
                      <a:srgbClr val="701988"/>
                    </a:solidFill>
                  </a:rPr>
                  <a:t>中所有属性</a:t>
                </a:r>
                <a:r>
                  <a:rPr lang="zh-CN" altLang="zh-CN" sz="2400" dirty="0"/>
                  <a:t>的</a:t>
                </a:r>
                <a:r>
                  <a:rPr lang="zh-CN" altLang="zh-CN" sz="2400" b="1" dirty="0">
                    <a:solidFill>
                      <a:srgbClr val="701988"/>
                    </a:solidFill>
                  </a:rPr>
                  <a:t>特殊投影</a:t>
                </a:r>
                <a:endParaRPr lang="en-US" altLang="zh-CN" sz="2400" b="1" dirty="0">
                  <a:solidFill>
                    <a:srgbClr val="701988"/>
                  </a:solidFill>
                </a:endParaRPr>
              </a:p>
              <a:p>
                <a:pPr lvl="1">
                  <a:lnSpc>
                    <a:spcPct val="150000"/>
                  </a:lnSpc>
                  <a:buFont typeface="Arial" panose="020B0604020202020204" pitchFamily="34" charset="0"/>
                  <a:buChar char="•"/>
                </a:pPr>
                <a:r>
                  <a:rPr lang="zh-CN" altLang="zh-CN" sz="2400" dirty="0"/>
                  <a:t>可以按照与投影运算相同的方法处理</a:t>
                </a:r>
                <a:endParaRPr lang="en-US" altLang="zh-CN" sz="2400" dirty="0"/>
              </a:p>
              <a:p>
                <a:pPr lvl="1">
                  <a:buFont typeface="Wingdings" pitchFamily="2" charset="2"/>
                  <a:buChar char="–"/>
                </a:pPr>
                <a:endParaRPr lang="zh-CN" altLang="zh-CN" sz="2400" dirty="0"/>
              </a:p>
              <a:p>
                <a:endParaRPr lang="en-US" altLang="zh-CN" sz="2800" b="1" dirty="0">
                  <a:solidFill>
                    <a:srgbClr val="FF0000"/>
                  </a:solidFill>
                </a:endParaRPr>
              </a:p>
              <a:p>
                <a:pPr marL="0" indent="0">
                  <a:buNone/>
                </a:pPr>
                <a:endParaRPr lang="en-US" altLang="zh-CN" sz="2800" b="1" dirty="0">
                  <a:solidFill>
                    <a:srgbClr val="FF0000"/>
                  </a:solidFill>
                </a:endParaRPr>
              </a:p>
            </p:txBody>
          </p:sp>
        </mc:Choice>
        <mc:Fallback xmlns="">
          <p:sp>
            <p:nvSpPr>
              <p:cNvPr id="4" name="内容占位符 3">
                <a:extLst>
                  <a:ext uri="{FF2B5EF4-FFF2-40B4-BE49-F238E27FC236}">
                    <a16:creationId xmlns:a16="http://schemas.microsoft.com/office/drawing/2014/main" id="{18F8DDA4-BC9B-A9AD-FC5A-C73835AF3E1B}"/>
                  </a:ext>
                </a:extLst>
              </p:cNvPr>
              <p:cNvSpPr>
                <a:spLocks noGrp="1" noRot="1" noChangeAspect="1" noMove="1" noResize="1" noEditPoints="1" noAdjustHandles="1" noChangeArrowheads="1" noChangeShapeType="1" noTextEdit="1"/>
              </p:cNvSpPr>
              <p:nvPr>
                <p:ph idx="1"/>
              </p:nvPr>
            </p:nvSpPr>
            <p:spPr>
              <a:xfrm>
                <a:off x="1649296" y="1511759"/>
                <a:ext cx="9770765" cy="5005387"/>
              </a:xfrm>
              <a:blipFill>
                <a:blip r:embed="rId3"/>
                <a:stretch>
                  <a:fillRect l="-1169"/>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BA198E3E-8667-457F-93FB-32448EA6680C}"/>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sz="1200" dirty="0"/>
          </a:p>
        </p:txBody>
      </p:sp>
    </p:spTree>
    <p:extLst>
      <p:ext uri="{BB962C8B-B14F-4D97-AF65-F5344CB8AC3E}">
        <p14:creationId xmlns:p14="http://schemas.microsoft.com/office/powerpoint/2010/main" val="421335010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0FF52922-3D42-4412-80D4-E8608AC407DF}"/>
              </a:ext>
            </a:extLst>
          </p:cNvPr>
          <p:cNvSpPr/>
          <p:nvPr/>
        </p:nvSpPr>
        <p:spPr>
          <a:xfrm>
            <a:off x="1285981" y="3068053"/>
            <a:ext cx="9637453" cy="321953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4" name="灯片编号占位符 3">
            <a:extLst>
              <a:ext uri="{FF2B5EF4-FFF2-40B4-BE49-F238E27FC236}">
                <a16:creationId xmlns:a16="http://schemas.microsoft.com/office/drawing/2014/main" id="{8641CD36-67C4-1958-DA5E-AE66287D432E}"/>
              </a:ext>
            </a:extLst>
          </p:cNvPr>
          <p:cNvSpPr>
            <a:spLocks noGrp="1"/>
          </p:cNvSpPr>
          <p:nvPr>
            <p:ph type="sldNum" sz="quarter" idx="10"/>
          </p:nvPr>
        </p:nvSpPr>
        <p:spPr/>
        <p:txBody>
          <a:bodyPr/>
          <a:lstStyle/>
          <a:p>
            <a:fld id="{4B0D34C0-35A8-654C-9FBA-7B4E017BD630}" type="slidenum">
              <a:rPr lang="en-US" altLang="zh-CN" smtClean="0"/>
              <a:t>180</a:t>
            </a:fld>
            <a:endParaRPr kumimoji="1" lang="zh-CN" altLang="en-US"/>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查询优化</a:t>
            </a:r>
            <a:r>
              <a:rPr lang="zh-CN" altLang="fr-CA" dirty="0"/>
              <a:t>总结</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1"/>
          </p:nvPr>
        </p:nvSpPr>
        <p:spPr>
          <a:xfrm>
            <a:off x="1197429" y="1125538"/>
            <a:ext cx="10874188" cy="5005387"/>
          </a:xfrm>
        </p:spPr>
        <p:txBody>
          <a:bodyPr/>
          <a:lstStyle/>
          <a:p>
            <a:pPr>
              <a:lnSpc>
                <a:spcPct val="150000"/>
              </a:lnSpc>
              <a:buFont typeface="Wingdings" panose="05000000000000000000" pitchFamily="2" charset="2"/>
              <a:buChar char="Ø"/>
            </a:pPr>
            <a:r>
              <a:rPr lang="zh-CN" altLang="en-US" kern="1200" dirty="0"/>
              <a:t>学生表 </a:t>
            </a:r>
            <a:r>
              <a:rPr lang="en-US" altLang="zh-CN" kern="1200" dirty="0"/>
              <a:t>Student(</a:t>
            </a:r>
            <a:r>
              <a:rPr lang="en-US" altLang="zh-CN" kern="1200" dirty="0" err="1"/>
              <a:t>Sno</a:t>
            </a:r>
            <a:r>
              <a:rPr lang="en-US" altLang="zh-CN" kern="1200" dirty="0"/>
              <a:t> ,</a:t>
            </a:r>
            <a:r>
              <a:rPr lang="en-US" altLang="zh-CN" kern="1200" dirty="0" err="1"/>
              <a:t>Sname</a:t>
            </a:r>
            <a:r>
              <a:rPr lang="en-US" altLang="zh-CN" kern="1200" dirty="0"/>
              <a:t>, </a:t>
            </a:r>
            <a:r>
              <a:rPr lang="en-US" altLang="zh-CN" kern="1200" dirty="0" err="1"/>
              <a:t>Sgender</a:t>
            </a:r>
            <a:r>
              <a:rPr lang="en-US" altLang="zh-CN" kern="1200" dirty="0"/>
              <a:t>, Sage, </a:t>
            </a:r>
            <a:r>
              <a:rPr lang="en-US" altLang="zh-CN" kern="1200" dirty="0" err="1"/>
              <a:t>Sdept</a:t>
            </a:r>
            <a:r>
              <a:rPr lang="en-US" altLang="zh-CN" kern="1200" dirty="0"/>
              <a:t>)</a:t>
            </a:r>
            <a:r>
              <a:rPr lang="zh-CN" altLang="zh-CN" dirty="0"/>
              <a:t> </a:t>
            </a:r>
            <a:endParaRPr lang="en-US" altLang="zh-CN" kern="1200" dirty="0"/>
          </a:p>
          <a:p>
            <a:pPr>
              <a:lnSpc>
                <a:spcPct val="150000"/>
              </a:lnSpc>
              <a:buFont typeface="Wingdings" panose="05000000000000000000" pitchFamily="2" charset="2"/>
              <a:buChar char="Ø"/>
            </a:pPr>
            <a:r>
              <a:rPr lang="zh-CN" altLang="en-US" kern="1200" dirty="0"/>
              <a:t>学生选课表 </a:t>
            </a:r>
            <a:r>
              <a:rPr lang="en-US" altLang="zh-CN" kern="1200" dirty="0"/>
              <a:t>SC(</a:t>
            </a:r>
            <a:r>
              <a:rPr lang="en-US" altLang="zh-CN" kern="1200" dirty="0" err="1"/>
              <a:t>Sno</a:t>
            </a:r>
            <a:r>
              <a:rPr lang="en-US" altLang="zh-CN" kern="1200" dirty="0"/>
              <a:t>, </a:t>
            </a:r>
            <a:r>
              <a:rPr lang="en-US" altLang="zh-CN" kern="1200" dirty="0" err="1"/>
              <a:t>Cno</a:t>
            </a:r>
            <a:r>
              <a:rPr lang="en-US" altLang="zh-CN" kern="1200" dirty="0"/>
              <a:t>, Grade)</a:t>
            </a:r>
            <a:r>
              <a:rPr lang="zh-CN" altLang="zh-CN" dirty="0"/>
              <a:t> </a:t>
            </a:r>
            <a:endParaRPr lang="en-US" altLang="zh-CN" dirty="0"/>
          </a:p>
          <a:p>
            <a:pPr>
              <a:lnSpc>
                <a:spcPct val="150000"/>
              </a:lnSpc>
              <a:buFont typeface="Wingdings" panose="05000000000000000000" pitchFamily="2" charset="2"/>
              <a:buChar char="Ø"/>
            </a:pPr>
            <a:r>
              <a:rPr lang="zh-CN" altLang="en-US" dirty="0"/>
              <a:t>查询：</a:t>
            </a:r>
            <a:r>
              <a:rPr lang="zh-CN" altLang="zh-CN" kern="1200" dirty="0"/>
              <a:t>获取</a:t>
            </a:r>
            <a:r>
              <a:rPr lang="zh-CN" altLang="en-US" kern="1200" dirty="0"/>
              <a:t>选修了</a:t>
            </a:r>
            <a:r>
              <a:rPr lang="en-US" altLang="zh-CN" kern="1200" dirty="0"/>
              <a:t>1</a:t>
            </a:r>
            <a:r>
              <a:rPr lang="zh-CN" altLang="en-US" kern="1200" dirty="0"/>
              <a:t>号课程的学生学号、姓名及成绩</a:t>
            </a:r>
            <a:endParaRPr lang="zh-CN" altLang="en-US" dirty="0"/>
          </a:p>
          <a:p>
            <a:pPr marL="0" indent="0">
              <a:buNone/>
            </a:pPr>
            <a:r>
              <a:rPr lang="zh-CN" altLang="zh-CN" sz="2800" dirty="0"/>
              <a:t> </a:t>
            </a:r>
            <a:endParaRPr kumimoji="1" lang="zh-CN" altLang="en-US" sz="2800" dirty="0"/>
          </a:p>
        </p:txBody>
      </p:sp>
      <p:sp>
        <p:nvSpPr>
          <p:cNvPr id="6" name="页脚占位符 5">
            <a:extLst>
              <a:ext uri="{FF2B5EF4-FFF2-40B4-BE49-F238E27FC236}">
                <a16:creationId xmlns:a16="http://schemas.microsoft.com/office/drawing/2014/main" id="{202CA822-6A44-5418-72AD-64F6C7EF452A}"/>
              </a:ext>
            </a:extLst>
          </p:cNvPr>
          <p:cNvSpPr>
            <a:spLocks noGrp="1"/>
          </p:cNvSpPr>
          <p:nvPr>
            <p:ph type="ftr" sz="quarter" idx="3"/>
          </p:nvPr>
        </p:nvSpPr>
        <p:spPr/>
        <p:txBody>
          <a:bodyPr/>
          <a:lstStyle/>
          <a:p>
            <a:r>
              <a:rPr kumimoji="1" lang="zh-CN" altLang="en-US"/>
              <a:t>数据库系统</a:t>
            </a:r>
            <a:r>
              <a:rPr kumimoji="1" lang="en-US" altLang="zh-CN"/>
              <a:t>—</a:t>
            </a:r>
            <a:r>
              <a:rPr kumimoji="1" lang="zh-CN" altLang="en-US"/>
              <a:t>优化器</a:t>
            </a:r>
            <a:endParaRPr kumimoji="1" lang="zh-CN" altLang="en-US" dirty="0">
              <a:latin typeface="SimHei" panose="02010609060101010101" pitchFamily="49" charset="-122"/>
              <a:ea typeface="SimHei" panose="02010609060101010101" pitchFamily="49" charset="-122"/>
            </a:endParaRPr>
          </a:p>
        </p:txBody>
      </p:sp>
      <p:pic>
        <p:nvPicPr>
          <p:cNvPr id="5" name="图片 4">
            <a:extLst>
              <a:ext uri="{FF2B5EF4-FFF2-40B4-BE49-F238E27FC236}">
                <a16:creationId xmlns:a16="http://schemas.microsoft.com/office/drawing/2014/main" id="{86E98774-43F5-83F3-65C5-6713E9E0D098}"/>
              </a:ext>
            </a:extLst>
          </p:cNvPr>
          <p:cNvPicPr>
            <a:picLocks noChangeAspect="1"/>
          </p:cNvPicPr>
          <p:nvPr/>
        </p:nvPicPr>
        <p:blipFill>
          <a:blip r:embed="rId3"/>
          <a:stretch>
            <a:fillRect/>
          </a:stretch>
        </p:blipFill>
        <p:spPr>
          <a:xfrm>
            <a:off x="1612850" y="3177837"/>
            <a:ext cx="9001131" cy="2989139"/>
          </a:xfrm>
          <a:prstGeom prst="rect">
            <a:avLst/>
          </a:prstGeom>
        </p:spPr>
      </p:pic>
      <p:sp>
        <p:nvSpPr>
          <p:cNvPr id="8" name="文本框 7">
            <a:extLst>
              <a:ext uri="{FF2B5EF4-FFF2-40B4-BE49-F238E27FC236}">
                <a16:creationId xmlns:a16="http://schemas.microsoft.com/office/drawing/2014/main" id="{B335FA61-E7DB-CAFB-860F-06E19107EC95}"/>
              </a:ext>
            </a:extLst>
          </p:cNvPr>
          <p:cNvSpPr txBox="1"/>
          <p:nvPr/>
        </p:nvSpPr>
        <p:spPr>
          <a:xfrm>
            <a:off x="4323759" y="5978339"/>
            <a:ext cx="1055065" cy="338554"/>
          </a:xfrm>
          <a:prstGeom prst="rect">
            <a:avLst/>
          </a:prstGeom>
          <a:noFill/>
        </p:spPr>
        <p:txBody>
          <a:bodyPr wrap="square">
            <a:spAutoFit/>
          </a:bodyPr>
          <a:lstStyle/>
          <a:p>
            <a:r>
              <a:rPr lang="zh-CN" altLang="en-US" sz="1600" dirty="0"/>
              <a:t>统计信息</a:t>
            </a:r>
          </a:p>
        </p:txBody>
      </p:sp>
    </p:spTree>
    <p:extLst>
      <p:ext uri="{BB962C8B-B14F-4D97-AF65-F5344CB8AC3E}">
        <p14:creationId xmlns:p14="http://schemas.microsoft.com/office/powerpoint/2010/main" val="279300488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4150A28-EF32-E148-1438-153142CD033F}"/>
              </a:ext>
            </a:extLst>
          </p:cNvPr>
          <p:cNvSpPr>
            <a:spLocks noGrp="1"/>
          </p:cNvSpPr>
          <p:nvPr>
            <p:ph type="sldNum" sz="quarter" idx="10"/>
          </p:nvPr>
        </p:nvSpPr>
        <p:spPr/>
        <p:txBody>
          <a:bodyPr/>
          <a:lstStyle/>
          <a:p>
            <a:fld id="{87BBDC00-B9E2-4EFD-9306-2934E87247C6}" type="slidenum">
              <a:rPr lang="zh-CN" altLang="en-US" smtClean="0"/>
              <a:pPr/>
              <a:t>181</a:t>
            </a:fld>
            <a:endParaRPr lang="zh-CN" altLang="en-US" dirty="0"/>
          </a:p>
        </p:txBody>
      </p:sp>
      <p:sp>
        <p:nvSpPr>
          <p:cNvPr id="3" name="标题 2">
            <a:extLst>
              <a:ext uri="{FF2B5EF4-FFF2-40B4-BE49-F238E27FC236}">
                <a16:creationId xmlns:a16="http://schemas.microsoft.com/office/drawing/2014/main" id="{BB698AB1-863D-623B-A3B6-56128CA55413}"/>
              </a:ext>
            </a:extLst>
          </p:cNvPr>
          <p:cNvSpPr>
            <a:spLocks noGrp="1"/>
          </p:cNvSpPr>
          <p:nvPr>
            <p:ph type="title"/>
          </p:nvPr>
        </p:nvSpPr>
        <p:spPr/>
        <p:txBody>
          <a:bodyPr/>
          <a:lstStyle/>
          <a:p>
            <a:r>
              <a:rPr kumimoji="1" lang="zh-CN" altLang="en-US" dirty="0"/>
              <a:t>查询优化</a:t>
            </a:r>
            <a:r>
              <a:rPr lang="zh-CN" altLang="fr-CA" dirty="0"/>
              <a:t>总结</a:t>
            </a:r>
            <a:endParaRPr kumimoji="1" lang="zh-CN" altLang="en-US" dirty="0"/>
          </a:p>
        </p:txBody>
      </p:sp>
      <p:sp>
        <p:nvSpPr>
          <p:cNvPr id="4" name="内容占位符 3">
            <a:extLst>
              <a:ext uri="{FF2B5EF4-FFF2-40B4-BE49-F238E27FC236}">
                <a16:creationId xmlns:a16="http://schemas.microsoft.com/office/drawing/2014/main" id="{31C1A08A-F48E-921B-8B7C-A6A3CC48692D}"/>
              </a:ext>
            </a:extLst>
          </p:cNvPr>
          <p:cNvSpPr>
            <a:spLocks noGrp="1"/>
          </p:cNvSpPr>
          <p:nvPr>
            <p:ph idx="1"/>
          </p:nvPr>
        </p:nvSpPr>
        <p:spPr>
          <a:xfrm>
            <a:off x="4510554" y="1125538"/>
            <a:ext cx="3852862" cy="5005387"/>
          </a:xfrm>
        </p:spPr>
        <p:txBody>
          <a:bodyPr/>
          <a:lstStyle/>
          <a:p>
            <a:pPr>
              <a:lnSpc>
                <a:spcPct val="120000"/>
              </a:lnSpc>
            </a:pPr>
            <a:r>
              <a:rPr kumimoji="1" lang="zh-CN" altLang="en-US" dirty="0">
                <a:latin typeface="Microsoft YaHei" panose="020B0503020204020204" pitchFamily="34" charset="-122"/>
                <a:ea typeface="Microsoft YaHei" panose="020B0503020204020204" pitchFamily="34" charset="-122"/>
              </a:rPr>
              <a:t>逻辑优化</a:t>
            </a:r>
            <a:endParaRPr kumimoji="1" lang="en-US" altLang="zh-CN" dirty="0">
              <a:latin typeface="Microsoft YaHei" panose="020B0503020204020204" pitchFamily="34" charset="-122"/>
              <a:ea typeface="Microsoft YaHei" panose="020B0503020204020204" pitchFamily="34" charset="-122"/>
            </a:endParaRPr>
          </a:p>
          <a:p>
            <a:pPr lvl="1">
              <a:lnSpc>
                <a:spcPct val="120000"/>
              </a:lnSpc>
            </a:pPr>
            <a:r>
              <a:rPr kumimoji="1" lang="zh-CN" altLang="en-US" dirty="0">
                <a:latin typeface="Microsoft YaHei" panose="020B0503020204020204" pitchFamily="34" charset="-122"/>
                <a:ea typeface="Microsoft YaHei" panose="020B0503020204020204" pitchFamily="34" charset="-122"/>
              </a:rPr>
              <a:t>查询重写</a:t>
            </a:r>
            <a:endParaRPr kumimoji="1" lang="en-US" altLang="zh-CN" dirty="0">
              <a:latin typeface="Microsoft YaHei" panose="020B0503020204020204" pitchFamily="34" charset="-122"/>
              <a:ea typeface="Microsoft YaHei" panose="020B0503020204020204" pitchFamily="34" charset="-122"/>
            </a:endParaRPr>
          </a:p>
          <a:p>
            <a:pPr>
              <a:lnSpc>
                <a:spcPct val="120000"/>
              </a:lnSpc>
            </a:pPr>
            <a:r>
              <a:rPr lang="zh-CN" altLang="en-US" dirty="0">
                <a:latin typeface="Microsoft YaHei" panose="020B0503020204020204" pitchFamily="34" charset="-122"/>
                <a:ea typeface="Microsoft YaHei" panose="020B0503020204020204" pitchFamily="34" charset="-122"/>
              </a:rPr>
              <a:t>物理优化</a:t>
            </a:r>
            <a:endParaRPr lang="en-US" altLang="zh-CN" dirty="0">
              <a:latin typeface="Microsoft YaHei" panose="020B0503020204020204" pitchFamily="34" charset="-122"/>
              <a:ea typeface="Microsoft YaHei" panose="020B0503020204020204" pitchFamily="34" charset="-122"/>
            </a:endParaRPr>
          </a:p>
          <a:p>
            <a:pPr lvl="1">
              <a:lnSpc>
                <a:spcPct val="120000"/>
              </a:lnSpc>
            </a:pPr>
            <a:r>
              <a:rPr lang="zh-CN" altLang="en-US" dirty="0">
                <a:latin typeface="Microsoft YaHei" panose="020B0503020204020204" pitchFamily="34" charset="-122"/>
                <a:ea typeface="Microsoft YaHei" panose="020B0503020204020204" pitchFamily="34" charset="-122"/>
              </a:rPr>
              <a:t>基数估计</a:t>
            </a:r>
            <a:endParaRPr lang="en-US" altLang="zh-CN" dirty="0">
              <a:latin typeface="Microsoft YaHei" panose="020B0503020204020204" pitchFamily="34" charset="-122"/>
              <a:ea typeface="Microsoft YaHei" panose="020B0503020204020204" pitchFamily="34" charset="-122"/>
            </a:endParaRPr>
          </a:p>
          <a:p>
            <a:pPr lvl="1">
              <a:lnSpc>
                <a:spcPct val="120000"/>
              </a:lnSpc>
            </a:pPr>
            <a:r>
              <a:rPr kumimoji="1" lang="zh-CN" altLang="en-US" dirty="0">
                <a:latin typeface="Microsoft YaHei" panose="020B0503020204020204" pitchFamily="34" charset="-122"/>
                <a:ea typeface="Microsoft YaHei" panose="020B0503020204020204" pitchFamily="34" charset="-122"/>
              </a:rPr>
              <a:t>代价估计</a:t>
            </a:r>
            <a:endParaRPr kumimoji="1" lang="en-US" altLang="zh-CN" dirty="0">
              <a:latin typeface="Microsoft YaHei" panose="020B0503020204020204" pitchFamily="34" charset="-122"/>
              <a:ea typeface="Microsoft YaHei" panose="020B0503020204020204" pitchFamily="34" charset="-122"/>
            </a:endParaRPr>
          </a:p>
          <a:p>
            <a:pPr lvl="1">
              <a:lnSpc>
                <a:spcPct val="120000"/>
              </a:lnSpc>
            </a:pPr>
            <a:r>
              <a:rPr lang="zh-CN" altLang="en-US" dirty="0">
                <a:latin typeface="Microsoft YaHei" panose="020B0503020204020204" pitchFamily="34" charset="-122"/>
                <a:ea typeface="Microsoft YaHei" panose="020B0503020204020204" pitchFamily="34" charset="-122"/>
              </a:rPr>
              <a:t>连接顺序选择</a:t>
            </a:r>
            <a:endParaRPr lang="en-US" altLang="zh-CN" dirty="0">
              <a:latin typeface="Microsoft YaHei" panose="020B0503020204020204" pitchFamily="34" charset="-122"/>
              <a:ea typeface="Microsoft YaHei" panose="020B0503020204020204" pitchFamily="34" charset="-122"/>
            </a:endParaRPr>
          </a:p>
          <a:p>
            <a:pPr lvl="1">
              <a:lnSpc>
                <a:spcPct val="120000"/>
              </a:lnSpc>
            </a:pPr>
            <a:r>
              <a:rPr kumimoji="1" lang="zh-CN" altLang="en-US" dirty="0">
                <a:latin typeface="Microsoft YaHei" panose="020B0503020204020204" pitchFamily="34" charset="-122"/>
                <a:ea typeface="Microsoft YaHei" panose="020B0503020204020204" pitchFamily="34" charset="-122"/>
              </a:rPr>
              <a:t>物理算子选择</a:t>
            </a:r>
            <a:endParaRPr kumimoji="1" lang="en-US" altLang="zh-CN" dirty="0">
              <a:latin typeface="Microsoft YaHei" panose="020B0503020204020204" pitchFamily="34" charset="-122"/>
              <a:ea typeface="Microsoft YaHei" panose="020B0503020204020204" pitchFamily="34" charset="-122"/>
            </a:endParaRPr>
          </a:p>
          <a:p>
            <a:pPr>
              <a:lnSpc>
                <a:spcPct val="120000"/>
              </a:lnSpc>
            </a:pPr>
            <a:r>
              <a:rPr kumimoji="1" lang="zh-CN" altLang="en-US" dirty="0">
                <a:latin typeface="Microsoft YaHei" panose="020B0503020204020204" pitchFamily="34" charset="-122"/>
                <a:ea typeface="Microsoft YaHei" panose="020B0503020204020204" pitchFamily="34" charset="-122"/>
              </a:rPr>
              <a:t>优化器模型</a:t>
            </a:r>
            <a:endParaRPr kumimoji="1" lang="en-US" altLang="zh-CN" dirty="0">
              <a:latin typeface="Microsoft YaHei" panose="020B0503020204020204" pitchFamily="34" charset="-122"/>
              <a:ea typeface="Microsoft YaHei" panose="020B0503020204020204" pitchFamily="34" charset="-122"/>
            </a:endParaRPr>
          </a:p>
          <a:p>
            <a:pPr lvl="1">
              <a:lnSpc>
                <a:spcPct val="120000"/>
              </a:lnSpc>
            </a:pPr>
            <a:r>
              <a:rPr lang="zh-CN" altLang="en-US" dirty="0">
                <a:latin typeface="Microsoft YaHei" panose="020B0503020204020204" pitchFamily="34" charset="-122"/>
                <a:ea typeface="Microsoft YaHei" panose="020B0503020204020204" pitchFamily="34" charset="-122"/>
              </a:rPr>
              <a:t>自顶向下、自下向上</a:t>
            </a:r>
            <a:endParaRPr kumimoji="1" lang="en-US" altLang="zh-CN" dirty="0">
              <a:latin typeface="Microsoft YaHei" panose="020B0503020204020204" pitchFamily="34" charset="-122"/>
              <a:ea typeface="Microsoft YaHei" panose="020B0503020204020204" pitchFamily="34" charset="-122"/>
            </a:endParaRPr>
          </a:p>
          <a:p>
            <a:pPr>
              <a:lnSpc>
                <a:spcPct val="120000"/>
              </a:lnSpc>
            </a:pPr>
            <a:r>
              <a:rPr lang="zh-CN" altLang="en-US" dirty="0">
                <a:latin typeface="Microsoft YaHei" panose="020B0503020204020204" pitchFamily="34" charset="-122"/>
                <a:ea typeface="Microsoft YaHei" panose="020B0503020204020204" pitchFamily="34" charset="-122"/>
              </a:rPr>
              <a:t>物化与流水线</a:t>
            </a:r>
            <a:endParaRPr lang="en-US" altLang="zh-CN" dirty="0">
              <a:latin typeface="Microsoft YaHei" panose="020B0503020204020204" pitchFamily="34" charset="-122"/>
              <a:ea typeface="Microsoft YaHei" panose="020B0503020204020204" pitchFamily="34" charset="-122"/>
            </a:endParaRPr>
          </a:p>
          <a:p>
            <a:pPr>
              <a:lnSpc>
                <a:spcPct val="120000"/>
              </a:lnSpc>
            </a:pPr>
            <a:r>
              <a:rPr kumimoji="1" lang="zh-CN" altLang="en-US" dirty="0">
                <a:latin typeface="Microsoft YaHei" panose="020B0503020204020204" pitchFamily="34" charset="-122"/>
                <a:ea typeface="Microsoft YaHei" panose="020B0503020204020204" pitchFamily="34" charset="-122"/>
              </a:rPr>
              <a:t>物化视图</a:t>
            </a:r>
          </a:p>
        </p:txBody>
      </p:sp>
      <p:sp>
        <p:nvSpPr>
          <p:cNvPr id="5" name="页脚占位符 4">
            <a:extLst>
              <a:ext uri="{FF2B5EF4-FFF2-40B4-BE49-F238E27FC236}">
                <a16:creationId xmlns:a16="http://schemas.microsoft.com/office/drawing/2014/main" id="{461EC7A0-BED0-B07A-2387-58DC795EC62A}"/>
              </a:ext>
            </a:extLst>
          </p:cNvPr>
          <p:cNvSpPr>
            <a:spLocks noGrp="1"/>
          </p:cNvSpPr>
          <p:nvPr>
            <p:ph type="ftr" sz="quarter" idx="3"/>
          </p:nvPr>
        </p:nvSpPr>
        <p:spPr/>
        <p:txBody>
          <a:bodyPr/>
          <a:lstStyle/>
          <a:p>
            <a:pPr>
              <a:defRPr/>
            </a:pPr>
            <a:r>
              <a:rPr lang="zh-CN" altLang="en-US"/>
              <a:t>数据库系统</a:t>
            </a:r>
            <a:r>
              <a:rPr lang="en-US" altLang="zh-CN"/>
              <a:t>—</a:t>
            </a:r>
            <a:r>
              <a:rPr lang="zh-CN" altLang="en-US"/>
              <a:t>优化器</a:t>
            </a:r>
            <a:endParaRPr lang="en-US" altLang="zh-CN" dirty="0"/>
          </a:p>
        </p:txBody>
      </p:sp>
    </p:spTree>
    <p:extLst>
      <p:ext uri="{BB962C8B-B14F-4D97-AF65-F5344CB8AC3E}">
        <p14:creationId xmlns:p14="http://schemas.microsoft.com/office/powerpoint/2010/main" val="602637905"/>
      </p:ext>
    </p:extLst>
  </p:cSld>
  <p:clrMapOvr>
    <a:masterClrMapping/>
  </p:clrMapOvr>
</p:sld>
</file>

<file path=ppt/theme/theme1.xml><?xml version="1.0" encoding="utf-8"?>
<a:theme xmlns:a="http://schemas.openxmlformats.org/drawingml/2006/main" name="2_973青年-李国良v0.1">
  <a:themeElements>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Introductioin to Trec200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ductioin to Trec200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ductioin to Trec200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ductioin to Trec20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ductioin to Trec20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roductioin to Trec20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61705</TotalTime>
  <Words>14615</Words>
  <Application>Microsoft Macintosh PowerPoint</Application>
  <PresentationFormat>Widescreen</PresentationFormat>
  <Paragraphs>2405</Paragraphs>
  <Slides>181</Slides>
  <Notes>160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181</vt:i4>
      </vt:variant>
    </vt:vector>
  </HeadingPairs>
  <TitlesOfParts>
    <vt:vector size="195" baseType="lpstr">
      <vt:lpstr>等线</vt:lpstr>
      <vt:lpstr>Microsoft YaHei</vt:lpstr>
      <vt:lpstr>Microsoft YaHei</vt:lpstr>
      <vt:lpstr>OPPOSans M</vt:lpstr>
      <vt:lpstr>SimHei</vt:lpstr>
      <vt:lpstr>宋体</vt:lpstr>
      <vt:lpstr>华文楷体</vt:lpstr>
      <vt:lpstr>Arial</vt:lpstr>
      <vt:lpstr>Cambria Math</vt:lpstr>
      <vt:lpstr>Helvetica</vt:lpstr>
      <vt:lpstr>Monaco</vt:lpstr>
      <vt:lpstr>Times New Roman</vt:lpstr>
      <vt:lpstr>Wingdings</vt:lpstr>
      <vt:lpstr>2_973青年-李国良v0.1</vt:lpstr>
      <vt:lpstr>PowerPoint Presentation</vt:lpstr>
      <vt:lpstr>查询优化流程</vt:lpstr>
      <vt:lpstr>1、逻辑优化（查询重写）</vt:lpstr>
      <vt:lpstr>1、逻辑优化（查询重写）</vt:lpstr>
      <vt:lpstr>2、物理优化</vt:lpstr>
      <vt:lpstr>2、物理优化</vt:lpstr>
      <vt:lpstr>2、物理优化</vt:lpstr>
      <vt:lpstr>2、物理优化</vt:lpstr>
      <vt:lpstr>2、物理优化</vt:lpstr>
      <vt:lpstr>3、物化视图</vt:lpstr>
      <vt:lpstr>目录</vt:lpstr>
      <vt:lpstr>查询重写</vt:lpstr>
      <vt:lpstr>查询重写</vt:lpstr>
      <vt:lpstr>查询重写</vt:lpstr>
      <vt:lpstr>重写规则概览</vt:lpstr>
      <vt:lpstr>一个查询重写实例（1）</vt:lpstr>
      <vt:lpstr>一个查询重写实例（2）</vt:lpstr>
      <vt:lpstr>一个查询重写实例（3）</vt:lpstr>
      <vt:lpstr>一个查询重写实例（4）</vt:lpstr>
      <vt:lpstr>查询重写规则</vt:lpstr>
      <vt:lpstr>查询重写规则</vt:lpstr>
      <vt:lpstr>查询重写规则</vt:lpstr>
      <vt:lpstr>查询重写规则</vt:lpstr>
      <vt:lpstr>交换律与结合律</vt:lpstr>
      <vt:lpstr>交换律与结合律</vt:lpstr>
      <vt:lpstr>选择下推</vt:lpstr>
      <vt:lpstr>选择下推示例（1）</vt:lpstr>
      <vt:lpstr>选择下推示例（2）</vt:lpstr>
      <vt:lpstr>选择下推示例（3）</vt:lpstr>
      <vt:lpstr>选择运算的等价规则</vt:lpstr>
      <vt:lpstr>投影下推</vt:lpstr>
      <vt:lpstr>投影下推示例</vt:lpstr>
      <vt:lpstr>投影运算的等价规则</vt:lpstr>
      <vt:lpstr>笛卡尔积转连接示例</vt:lpstr>
      <vt:lpstr>连接与笛卡尔积运算的等价规则</vt:lpstr>
      <vt:lpstr>分组聚集与去重的重写示例</vt:lpstr>
      <vt:lpstr>去重运算的等价规则</vt:lpstr>
      <vt:lpstr>分组聚集运算的等价规则</vt:lpstr>
      <vt:lpstr>重写顺序</vt:lpstr>
      <vt:lpstr>重写顺序</vt:lpstr>
      <vt:lpstr>步骤1 分解复合的选择谓词</vt:lpstr>
      <vt:lpstr>步骤2 下推选择运算</vt:lpstr>
      <vt:lpstr>步骤3 将笛卡尔积转换为连接</vt:lpstr>
      <vt:lpstr>步骤4 引入以及下推投影运算</vt:lpstr>
      <vt:lpstr>其他重写策略：子查询转为连接</vt:lpstr>
      <vt:lpstr>其他重写策略：常数传播</vt:lpstr>
      <vt:lpstr>其他重写策略：去除非必要谓词</vt:lpstr>
      <vt:lpstr>查询重写总结</vt:lpstr>
      <vt:lpstr>目录</vt:lpstr>
      <vt:lpstr>代价估计</vt:lpstr>
      <vt:lpstr>基数估计</vt:lpstr>
      <vt:lpstr>统计数据</vt:lpstr>
      <vt:lpstr>直方图</vt:lpstr>
      <vt:lpstr>直方图分类</vt:lpstr>
      <vt:lpstr>统计数据假设</vt:lpstr>
      <vt:lpstr>选择运算的基数估计</vt:lpstr>
      <vt:lpstr>选择运算的基数估计</vt:lpstr>
      <vt:lpstr>选择运算的基数估计</vt:lpstr>
      <vt:lpstr>选择运算的基数估计</vt:lpstr>
      <vt:lpstr>选择运算的基数估计</vt:lpstr>
      <vt:lpstr>选择运算的基数估计示例</vt:lpstr>
      <vt:lpstr>选择运算的基数估计示例</vt:lpstr>
      <vt:lpstr>连接运算的基数估计</vt:lpstr>
      <vt:lpstr>连接运算的基数估计</vt:lpstr>
      <vt:lpstr>连接运算的基数估计</vt:lpstr>
      <vt:lpstr>连接运算的基数估计</vt:lpstr>
      <vt:lpstr>连接运算的基数估计</vt:lpstr>
      <vt:lpstr>连接运算的基数估计</vt:lpstr>
      <vt:lpstr>连接运算的基数估计示例</vt:lpstr>
      <vt:lpstr>连接运算的基数估计示例</vt:lpstr>
      <vt:lpstr>连接运算的基数估计示例</vt:lpstr>
      <vt:lpstr>连接运算的基数估计</vt:lpstr>
      <vt:lpstr>连接运算的基数估计示例（2）</vt:lpstr>
      <vt:lpstr>连接运算的基数估计</vt:lpstr>
      <vt:lpstr>连接运算的基数估计示例（3）</vt:lpstr>
      <vt:lpstr>其他算子的基数估计</vt:lpstr>
      <vt:lpstr>其他算子的基数估计</vt:lpstr>
      <vt:lpstr>基于数据画像的基数估计</vt:lpstr>
      <vt:lpstr>Count-Min算法</vt:lpstr>
      <vt:lpstr>Count-Min算法</vt:lpstr>
      <vt:lpstr>Count-Min算法</vt:lpstr>
      <vt:lpstr>Count-Min算法</vt:lpstr>
      <vt:lpstr>Count-Min算法</vt:lpstr>
      <vt:lpstr>Count-Min算法</vt:lpstr>
      <vt:lpstr>Count-Min算法</vt:lpstr>
      <vt:lpstr>Count-Min算法</vt:lpstr>
      <vt:lpstr>HyperLogLog算法</vt:lpstr>
      <vt:lpstr>HyperLogLog算法</vt:lpstr>
      <vt:lpstr>HyperLogLog算法</vt:lpstr>
      <vt:lpstr>HyperLogLog算法</vt:lpstr>
      <vt:lpstr>HyperLogLog算法示例（2）</vt:lpstr>
      <vt:lpstr>HyperLogLog复杂度分析</vt:lpstr>
      <vt:lpstr>基于采样的基数估计</vt:lpstr>
      <vt:lpstr>基于采样的基数估计</vt:lpstr>
      <vt:lpstr>蓄水池采样证明</vt:lpstr>
      <vt:lpstr>蓄水池采样证明</vt:lpstr>
      <vt:lpstr>目录</vt:lpstr>
      <vt:lpstr>连接树</vt:lpstr>
      <vt:lpstr>连接树示例</vt:lpstr>
      <vt:lpstr>连接树数量规模分析</vt:lpstr>
      <vt:lpstr>左深连接树</vt:lpstr>
      <vt:lpstr>连接顺序选择算法</vt:lpstr>
      <vt:lpstr>动态规划算法</vt:lpstr>
      <vt:lpstr>动态规划算法</vt:lpstr>
      <vt:lpstr>动态规划算法示例</vt:lpstr>
      <vt:lpstr>动态规划算法示例</vt:lpstr>
      <vt:lpstr>动态规划算法示例</vt:lpstr>
      <vt:lpstr>动态规划算法示例</vt:lpstr>
      <vt:lpstr>动态规划算法示例</vt:lpstr>
      <vt:lpstr>动态规划算法复杂度</vt:lpstr>
      <vt:lpstr>连接顺序选择算法</vt:lpstr>
      <vt:lpstr>贪心算法</vt:lpstr>
      <vt:lpstr>贪心算法示例</vt:lpstr>
      <vt:lpstr>贪心算法示例</vt:lpstr>
      <vt:lpstr>贪心算法示例</vt:lpstr>
      <vt:lpstr>连接顺序选择算法</vt:lpstr>
      <vt:lpstr>遗传算法</vt:lpstr>
      <vt:lpstr>遗传算法</vt:lpstr>
      <vt:lpstr>遗传算法示例</vt:lpstr>
      <vt:lpstr>目录</vt:lpstr>
      <vt:lpstr>动态规划</vt:lpstr>
      <vt:lpstr>动态规划：Selinger风格的优化</vt:lpstr>
      <vt:lpstr>目录</vt:lpstr>
      <vt:lpstr>优化器系统</vt:lpstr>
      <vt:lpstr>自底向上 vs 自顶向下</vt:lpstr>
      <vt:lpstr>自底向上 vs 自顶向下</vt:lpstr>
      <vt:lpstr>自底向上 vs 自顶向下</vt:lpstr>
      <vt:lpstr>自底向上</vt:lpstr>
      <vt:lpstr>自底向上示例</vt:lpstr>
      <vt:lpstr>自顶向下</vt:lpstr>
      <vt:lpstr>自顶向下</vt:lpstr>
      <vt:lpstr>优化器系统</vt:lpstr>
      <vt:lpstr>① 启发式方法</vt:lpstr>
      <vt:lpstr>② 启发式方法+代价选择连接顺序</vt:lpstr>
      <vt:lpstr>② 启发式方法+代价选择连接顺序</vt:lpstr>
      <vt:lpstr>② 启发式方法+代价选择连接顺序</vt:lpstr>
      <vt:lpstr>② 启发式方法+代价选择连接顺序</vt:lpstr>
      <vt:lpstr>③ 随机化搜索</vt:lpstr>
      <vt:lpstr>③ 随机化搜索</vt:lpstr>
      <vt:lpstr>优化器生成器：④分层+⑤统一搜索 </vt:lpstr>
      <vt:lpstr>优化器生成器：④分层+⑤统一搜索 </vt:lpstr>
      <vt:lpstr>④ 分层搜索</vt:lpstr>
      <vt:lpstr>④ 分层搜索：Starburst优化器</vt:lpstr>
      <vt:lpstr>④ 分层搜索</vt:lpstr>
      <vt:lpstr>⑤ 统一搜索</vt:lpstr>
      <vt:lpstr>⑤ 统一搜索</vt:lpstr>
      <vt:lpstr>⑤ 统一搜索：Cascades优化器</vt:lpstr>
      <vt:lpstr>⑤ Cascades优化器: 表达式</vt:lpstr>
      <vt:lpstr>⑤ Cascades优化器: 组</vt:lpstr>
      <vt:lpstr>⑤ Cascades优化器: 多重表达式</vt:lpstr>
      <vt:lpstr>⑤ Cascades优化器: 规则</vt:lpstr>
      <vt:lpstr>⑤ Cascades优化器: 规则</vt:lpstr>
      <vt:lpstr>⑤ Cascades优化器: 规则</vt:lpstr>
      <vt:lpstr>⑤ Cascades优化器: 规则</vt:lpstr>
      <vt:lpstr>⑤ Cascades优化器: 规则</vt:lpstr>
      <vt:lpstr>⑤ Cascades优化器: Memo表</vt:lpstr>
      <vt:lpstr>⑤ Cascades优化器：Memo</vt:lpstr>
      <vt:lpstr>⑤ Cascades优化器：Memo</vt:lpstr>
      <vt:lpstr>⑤ Cascades优化器：需要解决的问题</vt:lpstr>
      <vt:lpstr>⑤ Cascades优化器：流程</vt:lpstr>
      <vt:lpstr>⑤ Cascades优化器：流程</vt:lpstr>
      <vt:lpstr>⑤ Cascades优化器: 最优原则</vt:lpstr>
      <vt:lpstr>⑤ Cascades优化器: 剪枝</vt:lpstr>
      <vt:lpstr>⑤ Cascades优化器: 剪枝</vt:lpstr>
      <vt:lpstr>⑤ Cascades优化器: 枚举连接顺序</vt:lpstr>
      <vt:lpstr>⑤ Cascades优化器: 搜索终止条件</vt:lpstr>
      <vt:lpstr>⑤ Cascades优化器：实现</vt:lpstr>
      <vt:lpstr>优化器系统</vt:lpstr>
      <vt:lpstr>物化与流水线</vt:lpstr>
      <vt:lpstr>流水线方法的限制</vt:lpstr>
      <vt:lpstr>物化与流水线示例</vt:lpstr>
      <vt:lpstr>目录</vt:lpstr>
      <vt:lpstr>物化视图</vt:lpstr>
      <vt:lpstr>物化视图</vt:lpstr>
      <vt:lpstr>物化视图的维护方式</vt:lpstr>
      <vt:lpstr>增量维护</vt:lpstr>
      <vt:lpstr>增量维护</vt:lpstr>
      <vt:lpstr>增量维护</vt:lpstr>
      <vt:lpstr>增量维护</vt:lpstr>
      <vt:lpstr>查询优化总结</vt:lpstr>
      <vt:lpstr>查询优化总结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zhouxuan19@mails.tsinghua.edu.cn</dc:creator>
  <cp:lastModifiedBy>4 paradigm</cp:lastModifiedBy>
  <cp:revision>1988</cp:revision>
  <dcterms:created xsi:type="dcterms:W3CDTF">2022-04-14T04:30:04Z</dcterms:created>
  <dcterms:modified xsi:type="dcterms:W3CDTF">2026-03-13T04:31:17Z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(2)7ZIQ5LVf7clq3VZPNIhQeO0i/kQN02984dVW3omnIQMti4Es+1+qksm0uj7P71b8OfsyoxkJ
HY2OLNKuzNGe1dCvLYmM6MrA2UTY+SMxBbOa2oFU9R6KEbPP8dgZCAGcdHDAOQDbMbCMeee1
bBrLMlZGcm7PaJXd0IvBoJAzJqOEIqxJZdhjt1ohxvaYjTyndnQbVMNDzEC6szjA0M6/Okqr
CG70YIVmD9Mlcuqdhq</vt:lpwstr>
  </property>
  <property fmtid="{D5CDD505-2E9C-101B-9397-08002B2CF9AE}" pid="3" name="_2015_ms_pID_7253431">
    <vt:lpwstr>eFImYQPap9m/orlKpQYGafzUB750aTR9ZsQt0Rxh1szybwT/D5cqvD
jpxafzUImb12qu0DM2MRfQKMCQoX9zjog1nFQjCw9MAHM27mrlTGgvHuRMnEH3XSG1OhKQ95
xF93g+DvAcXUxyI/4LYSBIeUH9SntPrE2/l8TKJorakaXHKAFooC5ca8bmugA0n7DkBZBDS9
kb0yfxbtOP2OfGdq</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1690340388</vt:lpwstr>
  </property>
</Properties>
</file>