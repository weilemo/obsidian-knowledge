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b" ContentType="application/vnd.ms-excel.sheet.binary.macroEnabled.12"/>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71.xml" ContentType="application/vnd.openxmlformats-officedocument.presentationml.notesSlide+xml"/>
  <Override PartName="/ppt/charts/chart2.xml" ContentType="application/vnd.openxmlformats-officedocument.drawingml.chart+xml"/>
  <Override PartName="/ppt/theme/themeOverride1.xml" ContentType="application/vnd.openxmlformats-officedocument.themeOverr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72.xml" ContentType="application/vnd.openxmlformats-officedocument.presentationml.notesSlide+xml"/>
  <Override PartName="/ppt/charts/chart3.xml" ContentType="application/vnd.openxmlformats-officedocument.drawingml.chart+xml"/>
  <Override PartName="/ppt/theme/themeOverride2.xml" ContentType="application/vnd.openxmlformats-officedocument.themeOverr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3" r:id="rId1"/>
  </p:sldMasterIdLst>
  <p:notesMasterIdLst>
    <p:notesMasterId r:id="rId111"/>
  </p:notesMasterIdLst>
  <p:handoutMasterIdLst>
    <p:handoutMasterId r:id="rId112"/>
  </p:handoutMasterIdLst>
  <p:sldIdLst>
    <p:sldId id="256" r:id="rId2"/>
    <p:sldId id="2147378882" r:id="rId3"/>
    <p:sldId id="258" r:id="rId4"/>
    <p:sldId id="2147378884" r:id="rId5"/>
    <p:sldId id="2147378886" r:id="rId6"/>
    <p:sldId id="2147378887" r:id="rId7"/>
    <p:sldId id="2147378888" r:id="rId8"/>
    <p:sldId id="2147378890" r:id="rId9"/>
    <p:sldId id="281" r:id="rId10"/>
    <p:sldId id="282" r:id="rId11"/>
    <p:sldId id="2569" r:id="rId12"/>
    <p:sldId id="297" r:id="rId13"/>
    <p:sldId id="2570" r:id="rId14"/>
    <p:sldId id="298" r:id="rId15"/>
    <p:sldId id="294" r:id="rId16"/>
    <p:sldId id="2571" r:id="rId17"/>
    <p:sldId id="299" r:id="rId18"/>
    <p:sldId id="295" r:id="rId19"/>
    <p:sldId id="296" r:id="rId20"/>
    <p:sldId id="2564" r:id="rId21"/>
    <p:sldId id="283" r:id="rId22"/>
    <p:sldId id="2147378889" r:id="rId23"/>
    <p:sldId id="284" r:id="rId24"/>
    <p:sldId id="285" r:id="rId25"/>
    <p:sldId id="286" r:id="rId26"/>
    <p:sldId id="2565" r:id="rId27"/>
    <p:sldId id="2608" r:id="rId28"/>
    <p:sldId id="2609" r:id="rId29"/>
    <p:sldId id="261" r:id="rId30"/>
    <p:sldId id="287" r:id="rId31"/>
    <p:sldId id="288" r:id="rId32"/>
    <p:sldId id="2552" r:id="rId33"/>
    <p:sldId id="2572" r:id="rId34"/>
    <p:sldId id="300" r:id="rId35"/>
    <p:sldId id="2578" r:id="rId36"/>
    <p:sldId id="259" r:id="rId37"/>
    <p:sldId id="260" r:id="rId38"/>
    <p:sldId id="2588" r:id="rId39"/>
    <p:sldId id="2589" r:id="rId40"/>
    <p:sldId id="262" r:id="rId41"/>
    <p:sldId id="293" r:id="rId42"/>
    <p:sldId id="292" r:id="rId43"/>
    <p:sldId id="2590" r:id="rId44"/>
    <p:sldId id="2556" r:id="rId45"/>
    <p:sldId id="2557" r:id="rId46"/>
    <p:sldId id="2591" r:id="rId47"/>
    <p:sldId id="2574" r:id="rId48"/>
    <p:sldId id="2627" r:id="rId49"/>
    <p:sldId id="2607" r:id="rId50"/>
    <p:sldId id="266" r:id="rId51"/>
    <p:sldId id="2549" r:id="rId52"/>
    <p:sldId id="265" r:id="rId53"/>
    <p:sldId id="2558" r:id="rId54"/>
    <p:sldId id="267" r:id="rId55"/>
    <p:sldId id="268" r:id="rId56"/>
    <p:sldId id="2559" r:id="rId57"/>
    <p:sldId id="269" r:id="rId58"/>
    <p:sldId id="270" r:id="rId59"/>
    <p:sldId id="2560" r:id="rId60"/>
    <p:sldId id="2561" r:id="rId61"/>
    <p:sldId id="2526" r:id="rId62"/>
    <p:sldId id="2592" r:id="rId63"/>
    <p:sldId id="2562" r:id="rId64"/>
    <p:sldId id="2547" r:id="rId65"/>
    <p:sldId id="2548" r:id="rId66"/>
    <p:sldId id="2563" r:id="rId67"/>
    <p:sldId id="2595" r:id="rId68"/>
    <p:sldId id="2596" r:id="rId69"/>
    <p:sldId id="2597" r:id="rId70"/>
    <p:sldId id="2598" r:id="rId71"/>
    <p:sldId id="2599" r:id="rId72"/>
    <p:sldId id="2600" r:id="rId73"/>
    <p:sldId id="2601" r:id="rId74"/>
    <p:sldId id="2602" r:id="rId75"/>
    <p:sldId id="2582" r:id="rId76"/>
    <p:sldId id="2583" r:id="rId77"/>
    <p:sldId id="2603" r:id="rId78"/>
    <p:sldId id="2604" r:id="rId79"/>
    <p:sldId id="2605" r:id="rId80"/>
    <p:sldId id="272" r:id="rId81"/>
    <p:sldId id="2593" r:id="rId82"/>
    <p:sldId id="273" r:id="rId83"/>
    <p:sldId id="2610" r:id="rId84"/>
    <p:sldId id="2594" r:id="rId85"/>
    <p:sldId id="274" r:id="rId86"/>
    <p:sldId id="2550" r:id="rId87"/>
    <p:sldId id="2586" r:id="rId88"/>
    <p:sldId id="302" r:id="rId89"/>
    <p:sldId id="2566" r:id="rId90"/>
    <p:sldId id="2567" r:id="rId91"/>
    <p:sldId id="2568" r:id="rId92"/>
    <p:sldId id="2587" r:id="rId93"/>
    <p:sldId id="276" r:id="rId94"/>
    <p:sldId id="2551" r:id="rId95"/>
    <p:sldId id="277" r:id="rId96"/>
    <p:sldId id="2553" r:id="rId97"/>
    <p:sldId id="278" r:id="rId98"/>
    <p:sldId id="2579" r:id="rId99"/>
    <p:sldId id="290" r:id="rId100"/>
    <p:sldId id="291" r:id="rId101"/>
    <p:sldId id="2620" r:id="rId102"/>
    <p:sldId id="2621" r:id="rId103"/>
    <p:sldId id="2624" r:id="rId104"/>
    <p:sldId id="2626" r:id="rId105"/>
    <p:sldId id="257" r:id="rId106"/>
    <p:sldId id="2573" r:id="rId107"/>
    <p:sldId id="2554" r:id="rId108"/>
    <p:sldId id="2606" r:id="rId109"/>
    <p:sldId id="2577" r:id="rId1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5BE43E1-2CBB-F241-87DA-B951F11DD743}">
          <p14:sldIdLst>
            <p14:sldId id="256"/>
            <p14:sldId id="2147378882"/>
            <p14:sldId id="258"/>
            <p14:sldId id="2147378884"/>
            <p14:sldId id="2147378886"/>
            <p14:sldId id="2147378887"/>
            <p14:sldId id="2147378888"/>
            <p14:sldId id="2147378890"/>
            <p14:sldId id="281"/>
            <p14:sldId id="282"/>
            <p14:sldId id="2569"/>
            <p14:sldId id="297"/>
            <p14:sldId id="2570"/>
            <p14:sldId id="298"/>
            <p14:sldId id="294"/>
            <p14:sldId id="2571"/>
            <p14:sldId id="299"/>
            <p14:sldId id="295"/>
            <p14:sldId id="296"/>
            <p14:sldId id="2564"/>
            <p14:sldId id="283"/>
            <p14:sldId id="2147378889"/>
            <p14:sldId id="284"/>
            <p14:sldId id="285"/>
            <p14:sldId id="286"/>
            <p14:sldId id="2565"/>
            <p14:sldId id="2608"/>
            <p14:sldId id="2609"/>
            <p14:sldId id="261"/>
            <p14:sldId id="287"/>
            <p14:sldId id="288"/>
            <p14:sldId id="2552"/>
            <p14:sldId id="2572"/>
            <p14:sldId id="300"/>
            <p14:sldId id="2578"/>
            <p14:sldId id="259"/>
            <p14:sldId id="260"/>
            <p14:sldId id="2588"/>
            <p14:sldId id="2589"/>
            <p14:sldId id="262"/>
            <p14:sldId id="293"/>
            <p14:sldId id="292"/>
            <p14:sldId id="2590"/>
            <p14:sldId id="2556"/>
            <p14:sldId id="2557"/>
            <p14:sldId id="2591"/>
            <p14:sldId id="2574"/>
            <p14:sldId id="2627"/>
            <p14:sldId id="2607"/>
            <p14:sldId id="266"/>
            <p14:sldId id="2549"/>
            <p14:sldId id="265"/>
            <p14:sldId id="2558"/>
            <p14:sldId id="267"/>
            <p14:sldId id="268"/>
            <p14:sldId id="2559"/>
            <p14:sldId id="269"/>
            <p14:sldId id="270"/>
            <p14:sldId id="2560"/>
            <p14:sldId id="2561"/>
            <p14:sldId id="2526"/>
            <p14:sldId id="2592"/>
            <p14:sldId id="2562"/>
            <p14:sldId id="2547"/>
            <p14:sldId id="2548"/>
            <p14:sldId id="2563"/>
            <p14:sldId id="2595"/>
            <p14:sldId id="2596"/>
            <p14:sldId id="2597"/>
            <p14:sldId id="2598"/>
            <p14:sldId id="2599"/>
            <p14:sldId id="2600"/>
            <p14:sldId id="2601"/>
            <p14:sldId id="2602"/>
            <p14:sldId id="2582"/>
            <p14:sldId id="2583"/>
            <p14:sldId id="2603"/>
            <p14:sldId id="2604"/>
            <p14:sldId id="2605"/>
            <p14:sldId id="272"/>
            <p14:sldId id="2593"/>
            <p14:sldId id="273"/>
            <p14:sldId id="2610"/>
            <p14:sldId id="2594"/>
            <p14:sldId id="274"/>
            <p14:sldId id="2550"/>
            <p14:sldId id="2586"/>
            <p14:sldId id="302"/>
            <p14:sldId id="2566"/>
            <p14:sldId id="2567"/>
            <p14:sldId id="2568"/>
            <p14:sldId id="2587"/>
            <p14:sldId id="276"/>
            <p14:sldId id="2551"/>
            <p14:sldId id="277"/>
            <p14:sldId id="2553"/>
            <p14:sldId id="278"/>
            <p14:sldId id="2579"/>
            <p14:sldId id="290"/>
            <p14:sldId id="291"/>
            <p14:sldId id="2620"/>
            <p14:sldId id="2621"/>
            <p14:sldId id="2624"/>
            <p14:sldId id="2626"/>
            <p14:sldId id="257"/>
            <p14:sldId id="2573"/>
            <p14:sldId id="2554"/>
            <p14:sldId id="2606"/>
            <p14:sldId id="25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434F3"/>
    <a:srgbClr val="FFFFFF"/>
    <a:srgbClr val="E6E6E6"/>
    <a:srgbClr val="3A006A"/>
    <a:srgbClr val="3B20FF"/>
    <a:srgbClr val="0432FF"/>
    <a:srgbClr val="BDD8EE"/>
    <a:srgbClr val="E9F6FD"/>
    <a:srgbClr val="FF7E79"/>
    <a:srgbClr val="FF86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AF606853-7671-496A-8E4F-DF71F8EC918B}" styleName="深色样式 1 - 强调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74"/>
    <p:restoredTop sz="83398"/>
  </p:normalViewPr>
  <p:slideViewPr>
    <p:cSldViewPr snapToGrid="0" snapToObjects="1">
      <p:cViewPr>
        <p:scale>
          <a:sx n="79" d="100"/>
          <a:sy n="79" d="100"/>
        </p:scale>
        <p:origin x="1840" y="896"/>
      </p:cViewPr>
      <p:guideLst/>
    </p:cSldViewPr>
  </p:slideViewPr>
  <p:notesTextViewPr>
    <p:cViewPr>
      <p:scale>
        <a:sx n="125" d="100"/>
        <a:sy n="125" d="100"/>
      </p:scale>
      <p:origin x="0" y="0"/>
    </p:cViewPr>
  </p:notesTextViewPr>
  <p:notesViewPr>
    <p:cSldViewPr snapToGrid="0" snapToObjects="1">
      <p:cViewPr varScale="1">
        <p:scale>
          <a:sx n="54" d="100"/>
          <a:sy n="54" d="100"/>
        </p:scale>
        <p:origin x="5264" y="21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handoutMaster" Target="handoutMasters/handout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24037;&#20316;&#31807;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2" Type="http://schemas.openxmlformats.org/officeDocument/2006/relationships/package" Target="../embeddings/Microsoft_Excel_Binary_Worksheet.xlsb"/><Relationship Id="rId1" Type="http://schemas.openxmlformats.org/officeDocument/2006/relationships/themeOverride" Target="../theme/themeOverride1.xml"/></Relationships>
</file>

<file path=ppt/charts/_rels/chart3.xml.rels><?xml version="1.0" encoding="UTF-8" standalone="yes"?>
<Relationships xmlns="http://schemas.openxmlformats.org/package/2006/relationships"><Relationship Id="rId2" Type="http://schemas.openxmlformats.org/officeDocument/2006/relationships/package" Target="../embeddings/Microsoft_Excel_Binary_Worksheet1.xlsb"/><Relationship Id="rId1"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4416109027688896"/>
          <c:y val="0.11815025383298969"/>
          <c:w val="0.35927848353432201"/>
          <c:h val="0.76369949233402068"/>
        </c:manualLayout>
      </c:layout>
      <c:pieChart>
        <c:varyColors val="1"/>
        <c:ser>
          <c:idx val="0"/>
          <c:order val="0"/>
          <c:explosion val="4"/>
          <c:dPt>
            <c:idx val="0"/>
            <c:bubble3D val="0"/>
            <c:explosion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C0EA-F749-A9EB-24A9AEB963A1}"/>
              </c:ext>
            </c:extLst>
          </c:dPt>
          <c:dPt>
            <c:idx val="1"/>
            <c:bubble3D val="0"/>
            <c:explosion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C0EA-F749-A9EB-24A9AEB963A1}"/>
              </c:ext>
            </c:extLst>
          </c:dPt>
          <c:dPt>
            <c:idx val="2"/>
            <c:bubble3D val="0"/>
            <c:explosion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C0EA-F749-A9EB-24A9AEB963A1}"/>
              </c:ext>
            </c:extLst>
          </c:dPt>
          <c:dPt>
            <c:idx val="3"/>
            <c:bubble3D val="0"/>
            <c:explosion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C0EA-F749-A9EB-24A9AEB963A1}"/>
              </c:ext>
            </c:extLst>
          </c:dPt>
          <c:dPt>
            <c:idx val="4"/>
            <c:bubble3D val="0"/>
            <c:explosion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9-C0EA-F749-A9EB-24A9AEB963A1}"/>
              </c:ext>
            </c:extLst>
          </c:dPt>
          <c:dPt>
            <c:idx val="5"/>
            <c:bubble3D val="0"/>
            <c:spPr>
              <a:solidFill>
                <a:schemeClr val="accent6"/>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B-C0EA-F749-A9EB-24A9AEB963A1}"/>
              </c:ext>
            </c:extLst>
          </c:dPt>
          <c:dPt>
            <c:idx val="6"/>
            <c:bubble3D val="0"/>
            <c:spPr>
              <a:solidFill>
                <a:schemeClr val="accent1">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D-C0EA-F749-A9EB-24A9AEB963A1}"/>
              </c:ext>
            </c:extLst>
          </c:dPt>
          <c:dPt>
            <c:idx val="7"/>
            <c:bubble3D val="0"/>
            <c:spPr>
              <a:solidFill>
                <a:schemeClr val="accent2">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F-C0EA-F749-A9EB-24A9AEB963A1}"/>
              </c:ext>
            </c:extLst>
          </c:dPt>
          <c:dPt>
            <c:idx val="8"/>
            <c:bubble3D val="0"/>
            <c:spPr>
              <a:solidFill>
                <a:schemeClr val="accent3">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1-C0EA-F749-A9EB-24A9AEB963A1}"/>
              </c:ext>
            </c:extLst>
          </c:dPt>
          <c:dLbls>
            <c:dLbl>
              <c:idx val="0"/>
              <c:layout>
                <c:manualLayout>
                  <c:x val="2.1420383171862126E-2"/>
                  <c:y val="8.6005245563101337E-2"/>
                </c:manualLayout>
              </c:layout>
              <c:spPr>
                <a:noFill/>
                <a:ln>
                  <a:noFill/>
                </a:ln>
                <a:effectLst/>
              </c:spPr>
              <c:txPr>
                <a:bodyPr rot="0" spcFirstLastPara="0" vertOverflow="ellipsis" vert="horz" wrap="square" lIns="38100" tIns="19050" rIns="38100" bIns="19050" anchor="ctr" anchorCtr="1"/>
                <a:lstStyle/>
                <a:p>
                  <a:pPr>
                    <a:defRPr lang="zh-CN" sz="1000" b="1" i="0" u="none" strike="noStrike" kern="1200" spc="0" baseline="0">
                      <a:solidFill>
                        <a:schemeClr val="accent1"/>
                      </a:solidFill>
                      <a:latin typeface="+mn-lt"/>
                      <a:ea typeface="+mn-ea"/>
                      <a:cs typeface="+mn-cs"/>
                    </a:defRPr>
                  </a:pPr>
                  <a:endParaRPr lang="zh-CN"/>
                </a:p>
              </c:txPr>
              <c:dLblPos val="bestFit"/>
              <c:showLegendKey val="0"/>
              <c:showVal val="0"/>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1-C0EA-F749-A9EB-24A9AEB963A1}"/>
                </c:ext>
              </c:extLst>
            </c:dLbl>
            <c:dLbl>
              <c:idx val="1"/>
              <c:layout>
                <c:manualLayout>
                  <c:x val="5.712102179163233E-2"/>
                  <c:y val="-0.13659656648257268"/>
                </c:manualLayout>
              </c:layout>
              <c:spPr>
                <a:noFill/>
                <a:ln>
                  <a:noFill/>
                </a:ln>
                <a:effectLst/>
              </c:spPr>
              <c:txPr>
                <a:bodyPr rot="0" spcFirstLastPara="0" vertOverflow="ellipsis" vert="horz" wrap="square" lIns="38100" tIns="19050" rIns="38100" bIns="19050" anchor="ctr" anchorCtr="1"/>
                <a:lstStyle/>
                <a:p>
                  <a:pPr>
                    <a:defRPr lang="zh-CN" sz="1000" b="1" i="0" u="none" strike="noStrike" kern="1200" spc="0" baseline="0">
                      <a:solidFill>
                        <a:schemeClr val="accent2"/>
                      </a:solidFill>
                      <a:latin typeface="+mn-lt"/>
                      <a:ea typeface="+mn-ea"/>
                      <a:cs typeface="+mn-cs"/>
                    </a:defRPr>
                  </a:pPr>
                  <a:endParaRPr lang="zh-CN"/>
                </a:p>
              </c:txPr>
              <c:dLblPos val="bestFit"/>
              <c:showLegendKey val="0"/>
              <c:showVal val="0"/>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3-C0EA-F749-A9EB-24A9AEB963A1}"/>
                </c:ext>
              </c:extLst>
            </c:dLbl>
            <c:dLbl>
              <c:idx val="2"/>
              <c:layout>
                <c:manualLayout>
                  <c:x val="0.14756263962838345"/>
                  <c:y val="-0.10118264183894282"/>
                </c:manualLayout>
              </c:layout>
              <c:spPr>
                <a:noFill/>
                <a:ln>
                  <a:noFill/>
                </a:ln>
                <a:effectLst/>
              </c:spPr>
              <c:txPr>
                <a:bodyPr rot="0" spcFirstLastPara="0" vertOverflow="ellipsis" vert="horz" wrap="square" lIns="38100" tIns="19050" rIns="38100" bIns="19050" anchor="ctr" anchorCtr="1"/>
                <a:lstStyle/>
                <a:p>
                  <a:pPr>
                    <a:defRPr lang="zh-CN" sz="1000" b="1" i="0" u="none" strike="noStrike" kern="1200" spc="0" baseline="0">
                      <a:solidFill>
                        <a:schemeClr val="accent3"/>
                      </a:solidFill>
                      <a:latin typeface="+mn-lt"/>
                      <a:ea typeface="+mn-ea"/>
                      <a:cs typeface="+mn-cs"/>
                    </a:defRPr>
                  </a:pPr>
                  <a:endParaRPr lang="zh-CN"/>
                </a:p>
              </c:txPr>
              <c:dLblPos val="bestFit"/>
              <c:showLegendKey val="0"/>
              <c:showVal val="0"/>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5-C0EA-F749-A9EB-24A9AEB963A1}"/>
                </c:ext>
              </c:extLst>
            </c:dLbl>
            <c:dLbl>
              <c:idx val="3"/>
              <c:layout>
                <c:manualLayout>
                  <c:x val="-2.3800425746513514E-2"/>
                  <c:y val="-6.0709585103365639E-2"/>
                </c:manualLayout>
              </c:layout>
              <c:tx>
                <c:rich>
                  <a:bodyPr rot="0" spcFirstLastPara="0" vertOverflow="ellipsis" vert="horz" wrap="square" lIns="38100" tIns="19050" rIns="38100" bIns="19050" anchor="ctr" anchorCtr="1"/>
                  <a:lstStyle/>
                  <a:p>
                    <a:pPr>
                      <a:defRPr lang="zh-CN" sz="1000" b="1" i="0" u="none" strike="noStrike" kern="1200" spc="0" baseline="0">
                        <a:solidFill>
                          <a:schemeClr val="accent1"/>
                        </a:solidFill>
                        <a:latin typeface="+mn-lt"/>
                        <a:ea typeface="+mn-ea"/>
                        <a:cs typeface="+mn-cs"/>
                      </a:defRPr>
                    </a:pPr>
                    <a:fld id="{DC000C6A-60B6-FB40-8215-EC25187650DC}" type="CATEGORYNAME">
                      <a:rPr lang="zh-CN" altLang="en-US">
                        <a:solidFill>
                          <a:schemeClr val="accent4">
                            <a:lumMod val="75000"/>
                          </a:schemeClr>
                        </a:solidFill>
                      </a:rPr>
                      <a:pPr>
                        <a:defRPr>
                          <a:solidFill>
                            <a:schemeClr val="accent1"/>
                          </a:solidFill>
                        </a:defRPr>
                      </a:pPr>
                      <a:t>[CATEGORY NAME]</a:t>
                    </a:fld>
                    <a:r>
                      <a:rPr lang="zh-CN" altLang="en-US" baseline="0" dirty="0">
                        <a:solidFill>
                          <a:schemeClr val="accent4">
                            <a:lumMod val="75000"/>
                          </a:schemeClr>
                        </a:solidFill>
                      </a:rPr>
                      <a:t>
</a:t>
                    </a:r>
                    <a:fld id="{BCCB5EDE-9F23-E143-8D60-63A504D79E5A}" type="PERCENTAGE">
                      <a:rPr lang="en-US" altLang="zh-CN" baseline="0">
                        <a:solidFill>
                          <a:schemeClr val="accent4">
                            <a:lumMod val="75000"/>
                          </a:schemeClr>
                        </a:solidFill>
                      </a:rPr>
                      <a:pPr>
                        <a:defRPr>
                          <a:solidFill>
                            <a:schemeClr val="accent1"/>
                          </a:solidFill>
                        </a:defRPr>
                      </a:pPr>
                      <a:t>[PERCENTAGE]</a:t>
                    </a:fld>
                    <a:endParaRPr lang="zh-CN" altLang="en-US" baseline="0" dirty="0">
                      <a:solidFill>
                        <a:schemeClr val="accent4">
                          <a:lumMod val="75000"/>
                        </a:schemeClr>
                      </a:solidFill>
                    </a:endParaRPr>
                  </a:p>
                </c:rich>
              </c:tx>
              <c:spPr>
                <a:noFill/>
                <a:ln>
                  <a:noFill/>
                </a:ln>
                <a:effectLst/>
              </c:spPr>
              <c:txPr>
                <a:bodyPr rot="0" spcFirstLastPara="0" vertOverflow="ellipsis" vert="horz" wrap="square" lIns="38100" tIns="19050" rIns="38100" bIns="19050" anchor="ctr" anchorCtr="1"/>
                <a:lstStyle/>
                <a:p>
                  <a:pPr>
                    <a:defRPr lang="zh-CN" sz="1000" b="1" i="0" u="none" strike="noStrike" kern="1200" spc="0" baseline="0">
                      <a:solidFill>
                        <a:schemeClr val="accent1"/>
                      </a:solidFill>
                      <a:latin typeface="+mn-lt"/>
                      <a:ea typeface="+mn-ea"/>
                      <a:cs typeface="+mn-cs"/>
                    </a:defRPr>
                  </a:pPr>
                  <a:endParaRPr lang="zh-CN" altLang="en-US"/>
                </a:p>
              </c:txPr>
              <c:dLblPos val="bestFit"/>
              <c:showLegendKey val="0"/>
              <c:showVal val="0"/>
              <c:showCatName val="1"/>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7-C0EA-F749-A9EB-24A9AEB963A1}"/>
                </c:ext>
              </c:extLst>
            </c:dLbl>
            <c:dLbl>
              <c:idx val="4"/>
              <c:layout>
                <c:manualLayout>
                  <c:x val="-2.618046832116484E-2"/>
                  <c:y val="-9.2749683566771634E-17"/>
                </c:manualLayout>
              </c:layout>
              <c:spPr>
                <a:noFill/>
                <a:ln>
                  <a:noFill/>
                </a:ln>
                <a:effectLst/>
              </c:spPr>
              <c:txPr>
                <a:bodyPr rot="0" spcFirstLastPara="0" vertOverflow="ellipsis" vert="horz" wrap="square" lIns="38100" tIns="19050" rIns="38100" bIns="19050" anchor="ctr" anchorCtr="1"/>
                <a:lstStyle/>
                <a:p>
                  <a:pPr>
                    <a:defRPr lang="zh-CN" sz="1000" b="1" i="0" u="none" strike="noStrike" kern="1200" spc="0" baseline="0">
                      <a:solidFill>
                        <a:schemeClr val="accent5"/>
                      </a:solidFill>
                      <a:latin typeface="+mn-lt"/>
                      <a:ea typeface="+mn-ea"/>
                      <a:cs typeface="+mn-cs"/>
                    </a:defRPr>
                  </a:pPr>
                  <a:endParaRPr lang="zh-CN"/>
                </a:p>
              </c:txPr>
              <c:dLblPos val="bestFit"/>
              <c:showLegendKey val="0"/>
              <c:showVal val="0"/>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9-C0EA-F749-A9EB-24A9AEB963A1}"/>
                </c:ext>
              </c:extLst>
            </c:dLbl>
            <c:dLbl>
              <c:idx val="5"/>
              <c:layout>
                <c:manualLayout>
                  <c:x val="-1.1900212873256757E-2"/>
                  <c:y val="7.0827849287259909E-2"/>
                </c:manualLayout>
              </c:layout>
              <c:tx>
                <c:rich>
                  <a:bodyPr rot="0" spcFirstLastPara="0" vertOverflow="ellipsis" vert="horz" wrap="square" lIns="38100" tIns="19050" rIns="38100" bIns="19050" anchor="ctr" anchorCtr="1"/>
                  <a:lstStyle/>
                  <a:p>
                    <a:pPr>
                      <a:defRPr lang="zh-CN" sz="1000" b="1" i="0" u="none" strike="noStrike" kern="1200" spc="0" baseline="0">
                        <a:solidFill>
                          <a:schemeClr val="accent1"/>
                        </a:solidFill>
                        <a:latin typeface="+mn-lt"/>
                        <a:ea typeface="+mn-ea"/>
                        <a:cs typeface="+mn-cs"/>
                      </a:defRPr>
                    </a:pPr>
                    <a:fld id="{2E7A58E4-A237-7E47-838A-BB8A76AFBC29}" type="CATEGORYNAME">
                      <a:rPr lang="zh-CN" altLang="en-US">
                        <a:solidFill>
                          <a:schemeClr val="accent6">
                            <a:lumMod val="75000"/>
                          </a:schemeClr>
                        </a:solidFill>
                      </a:rPr>
                      <a:pPr>
                        <a:defRPr>
                          <a:solidFill>
                            <a:schemeClr val="accent1"/>
                          </a:solidFill>
                        </a:defRPr>
                      </a:pPr>
                      <a:t>[CATEGORY NAME]</a:t>
                    </a:fld>
                    <a:r>
                      <a:rPr lang="zh-CN" altLang="en-US" baseline="0" dirty="0">
                        <a:solidFill>
                          <a:schemeClr val="accent6">
                            <a:lumMod val="75000"/>
                          </a:schemeClr>
                        </a:solidFill>
                      </a:rPr>
                      <a:t>
</a:t>
                    </a:r>
                    <a:fld id="{DB438ABD-1C6B-A843-8DAD-3C3ADD7A479F}" type="PERCENTAGE">
                      <a:rPr lang="en-US" altLang="zh-CN" baseline="0">
                        <a:solidFill>
                          <a:schemeClr val="accent6">
                            <a:lumMod val="75000"/>
                          </a:schemeClr>
                        </a:solidFill>
                      </a:rPr>
                      <a:pPr>
                        <a:defRPr>
                          <a:solidFill>
                            <a:schemeClr val="accent1"/>
                          </a:solidFill>
                        </a:defRPr>
                      </a:pPr>
                      <a:t>[PERCENTAGE]</a:t>
                    </a:fld>
                    <a:endParaRPr lang="zh-CN" altLang="en-US" baseline="0" dirty="0">
                      <a:solidFill>
                        <a:schemeClr val="accent6">
                          <a:lumMod val="75000"/>
                        </a:schemeClr>
                      </a:solidFill>
                    </a:endParaRPr>
                  </a:p>
                </c:rich>
              </c:tx>
              <c:spPr>
                <a:noFill/>
                <a:ln>
                  <a:noFill/>
                </a:ln>
                <a:effectLst/>
              </c:spPr>
              <c:txPr>
                <a:bodyPr rot="0" spcFirstLastPara="0" vertOverflow="ellipsis" vert="horz" wrap="square" lIns="38100" tIns="19050" rIns="38100" bIns="19050" anchor="ctr" anchorCtr="1"/>
                <a:lstStyle/>
                <a:p>
                  <a:pPr>
                    <a:defRPr lang="zh-CN" sz="1000" b="1" i="0" u="none" strike="noStrike" kern="1200" spc="0" baseline="0">
                      <a:solidFill>
                        <a:schemeClr val="accent1"/>
                      </a:solidFill>
                      <a:latin typeface="+mn-lt"/>
                      <a:ea typeface="+mn-ea"/>
                      <a:cs typeface="+mn-cs"/>
                    </a:defRPr>
                  </a:pPr>
                  <a:endParaRPr lang="zh-CN" altLang="en-US"/>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26104044591878"/>
                      <c:h val="0.2206036540477837"/>
                    </c:manualLayout>
                  </c15:layout>
                  <c15:dlblFieldTable/>
                  <c15:showDataLabelsRange val="0"/>
                </c:ext>
                <c:ext xmlns:c16="http://schemas.microsoft.com/office/drawing/2014/chart" uri="{C3380CC4-5D6E-409C-BE32-E72D297353CC}">
                  <c16:uniqueId val="{0000000B-C0EA-F749-A9EB-24A9AEB963A1}"/>
                </c:ext>
              </c:extLst>
            </c:dLbl>
            <c:dLbl>
              <c:idx val="6"/>
              <c:layout>
                <c:manualLayout>
                  <c:x val="-9.5201702986053988E-3"/>
                  <c:y val="8.6005245563101324E-2"/>
                </c:manualLayout>
              </c:layout>
              <c:spPr>
                <a:noFill/>
                <a:ln>
                  <a:noFill/>
                </a:ln>
                <a:effectLst/>
              </c:spPr>
              <c:txPr>
                <a:bodyPr rot="0" spcFirstLastPara="0" vertOverflow="ellipsis" vert="horz" wrap="square" lIns="38100" tIns="19050" rIns="38100" bIns="19050" anchor="ctr" anchorCtr="1"/>
                <a:lstStyle/>
                <a:p>
                  <a:pPr>
                    <a:defRPr lang="zh-CN" sz="1000" b="1" i="0" u="none" strike="noStrike" kern="1200" spc="0" baseline="0">
                      <a:solidFill>
                        <a:schemeClr val="accent1">
                          <a:lumMod val="60000"/>
                        </a:schemeClr>
                      </a:solidFill>
                      <a:latin typeface="+mn-lt"/>
                      <a:ea typeface="+mn-ea"/>
                      <a:cs typeface="+mn-cs"/>
                    </a:defRPr>
                  </a:pPr>
                  <a:endParaRPr lang="zh-CN"/>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3800425746513471"/>
                      <c:h val="0.14539945632256071"/>
                    </c:manualLayout>
                  </c15:layout>
                </c:ext>
                <c:ext xmlns:c16="http://schemas.microsoft.com/office/drawing/2014/chart" uri="{C3380CC4-5D6E-409C-BE32-E72D297353CC}">
                  <c16:uniqueId val="{0000000D-C0EA-F749-A9EB-24A9AEB963A1}"/>
                </c:ext>
              </c:extLst>
            </c:dLbl>
            <c:dLbl>
              <c:idx val="7"/>
              <c:layout>
                <c:manualLayout>
                  <c:x val="-3.8080681194421553E-2"/>
                  <c:y val="2.529566045973566E-2"/>
                </c:manualLayout>
              </c:layout>
              <c:tx>
                <c:rich>
                  <a:bodyPr rot="0" spcFirstLastPara="0" vertOverflow="ellipsis" vert="horz" wrap="square" lIns="38100" tIns="19050" rIns="38100" bIns="19050" anchor="ctr" anchorCtr="1"/>
                  <a:lstStyle/>
                  <a:p>
                    <a:pPr>
                      <a:defRPr lang="zh-CN" sz="1000" b="1" i="0" u="none" strike="noStrike" kern="1200" spc="0" baseline="0">
                        <a:solidFill>
                          <a:schemeClr val="accent1"/>
                        </a:solidFill>
                        <a:latin typeface="+mn-lt"/>
                        <a:ea typeface="+mn-ea"/>
                        <a:cs typeface="+mn-cs"/>
                      </a:defRPr>
                    </a:pPr>
                    <a:fld id="{6F10DF16-EB83-684A-A459-26A9110D0191}" type="CATEGORYNAME">
                      <a:rPr lang="zh-CN" altLang="en-US" smtClean="0"/>
                      <a:pPr>
                        <a:defRPr>
                          <a:solidFill>
                            <a:schemeClr val="accent1"/>
                          </a:solidFill>
                        </a:defRPr>
                      </a:pPr>
                      <a:t>[CATEGORY NAME]</a:t>
                    </a:fld>
                    <a:fld id="{2B52D454-21D7-B843-A934-414FD28645B4}" type="PERCENTAGE">
                      <a:rPr lang="en-US" altLang="zh-CN" baseline="0" smtClean="0"/>
                      <a:pPr>
                        <a:defRPr>
                          <a:solidFill>
                            <a:schemeClr val="accent1"/>
                          </a:solidFill>
                        </a:defRPr>
                      </a:pPr>
                      <a:t>[PERCENTAGE]</a:t>
                    </a:fld>
                    <a:endParaRPr lang="en-US"/>
                  </a:p>
                </c:rich>
              </c:tx>
              <c:spPr>
                <a:noFill/>
                <a:ln>
                  <a:noFill/>
                </a:ln>
                <a:effectLst/>
              </c:spPr>
              <c:txPr>
                <a:bodyPr rot="0" spcFirstLastPara="0" vertOverflow="ellipsis" vert="horz" wrap="square" lIns="38100" tIns="19050" rIns="38100" bIns="19050" anchor="ctr" anchorCtr="1"/>
                <a:lstStyle/>
                <a:p>
                  <a:pPr>
                    <a:defRPr lang="zh-CN" sz="1000" b="1" i="0" u="none" strike="noStrike" kern="1200" spc="0" baseline="0">
                      <a:solidFill>
                        <a:schemeClr val="accent1"/>
                      </a:solidFill>
                      <a:latin typeface="+mn-lt"/>
                      <a:ea typeface="+mn-ea"/>
                      <a:cs typeface="+mn-cs"/>
                    </a:defRPr>
                  </a:pPr>
                  <a:endParaRPr lang="en-US" altLang="en-US"/>
                </a:p>
              </c:txPr>
              <c:dLblPos val="bestFit"/>
              <c:showLegendKey val="0"/>
              <c:showVal val="0"/>
              <c:showCatName val="1"/>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F-C0EA-F749-A9EB-24A9AEB963A1}"/>
                </c:ext>
              </c:extLst>
            </c:dLbl>
            <c:dLbl>
              <c:idx val="8"/>
              <c:layout>
                <c:manualLayout>
                  <c:x val="0.16541295893826855"/>
                  <c:y val="2.0236528367788546E-2"/>
                </c:manualLayout>
              </c:layout>
              <c:tx>
                <c:rich>
                  <a:bodyPr rot="0" spcFirstLastPara="0" vertOverflow="ellipsis" vert="horz" wrap="square" lIns="38100" tIns="19050" rIns="38100" bIns="19050" anchor="ctr" anchorCtr="1"/>
                  <a:lstStyle/>
                  <a:p>
                    <a:pPr>
                      <a:defRPr lang="zh-CN" sz="1000" b="1" i="0" u="none" strike="noStrike" kern="1200" spc="0" baseline="0">
                        <a:solidFill>
                          <a:schemeClr val="accent1"/>
                        </a:solidFill>
                        <a:latin typeface="+mn-lt"/>
                        <a:ea typeface="+mn-ea"/>
                        <a:cs typeface="+mn-cs"/>
                      </a:defRPr>
                    </a:pPr>
                    <a:fld id="{55B182C9-83F0-114E-8258-43559B50B3C5}" type="CATEGORYNAME">
                      <a:rPr lang="zh-CN" altLang="en-US" smtClean="0"/>
                      <a:pPr>
                        <a:defRPr>
                          <a:solidFill>
                            <a:schemeClr val="accent1"/>
                          </a:solidFill>
                        </a:defRPr>
                      </a:pPr>
                      <a:t>[CATEGORY NAME]</a:t>
                    </a:fld>
                    <a:fld id="{5174CFC6-3D24-154E-8BAF-EC3BD90D9325}" type="PERCENTAGE">
                      <a:rPr lang="en-US" altLang="zh-CN" baseline="0" smtClean="0"/>
                      <a:pPr>
                        <a:defRPr>
                          <a:solidFill>
                            <a:schemeClr val="accent1"/>
                          </a:solidFill>
                        </a:defRPr>
                      </a:pPr>
                      <a:t>[PERCENTAGE]</a:t>
                    </a:fld>
                    <a:endParaRPr lang="en-US"/>
                  </a:p>
                </c:rich>
              </c:tx>
              <c:spPr>
                <a:noFill/>
                <a:ln>
                  <a:noFill/>
                </a:ln>
                <a:effectLst/>
              </c:spPr>
              <c:txPr>
                <a:bodyPr rot="0" spcFirstLastPara="0" vertOverflow="ellipsis" vert="horz" wrap="square" lIns="38100" tIns="19050" rIns="38100" bIns="19050" anchor="ctr" anchorCtr="1"/>
                <a:lstStyle/>
                <a:p>
                  <a:pPr>
                    <a:defRPr lang="zh-CN" sz="1000" b="1" i="0" u="none" strike="noStrike" kern="1200" spc="0" baseline="0">
                      <a:solidFill>
                        <a:schemeClr val="accent1"/>
                      </a:solidFill>
                      <a:latin typeface="+mn-lt"/>
                      <a:ea typeface="+mn-ea"/>
                      <a:cs typeface="+mn-cs"/>
                    </a:defRPr>
                  </a:pPr>
                  <a:endParaRPr lang="en-US" altLang="en-US"/>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10234183071000792"/>
                      <c:h val="0.15212810200485039"/>
                    </c:manualLayout>
                  </c15:layout>
                  <c15:dlblFieldTable/>
                  <c15:showDataLabelsRange val="0"/>
                </c:ext>
                <c:ext xmlns:c16="http://schemas.microsoft.com/office/drawing/2014/chart" uri="{C3380CC4-5D6E-409C-BE32-E72D297353CC}">
                  <c16:uniqueId val="{00000011-C0EA-F749-A9EB-24A9AEB963A1}"/>
                </c:ext>
              </c:extLst>
            </c:dLbl>
            <c:spPr>
              <a:noFill/>
              <a:ln>
                <a:noFill/>
              </a:ln>
              <a:effectLst/>
            </c:spPr>
            <c:txPr>
              <a:bodyPr rot="0" spcFirstLastPara="0" vertOverflow="ellipsis" vert="horz" wrap="square" lIns="38100" tIns="19050" rIns="38100" bIns="19050" anchor="ctr" anchorCtr="1"/>
              <a:lstStyle/>
              <a:p>
                <a:pPr>
                  <a:defRPr lang="zh-CN" sz="1000" b="1" i="0" u="none" strike="noStrike" kern="1200" spc="0" baseline="0">
                    <a:solidFill>
                      <a:schemeClr val="accent1"/>
                    </a:solidFill>
                    <a:latin typeface="+mn-lt"/>
                    <a:ea typeface="+mn-ea"/>
                    <a:cs typeface="+mn-cs"/>
                  </a:defRPr>
                </a:pPr>
                <a:endParaRPr lang="zh-CN"/>
              </a:p>
            </c:tx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[工作簿1]Sheet1!$B$6:$B$14</c:f>
              <c:strCache>
                <c:ptCount val="9"/>
                <c:pt idx="0">
                  <c:v>查询质量</c:v>
                </c:pt>
                <c:pt idx="1">
                  <c:v>审计质量</c:v>
                </c:pt>
                <c:pt idx="2">
                  <c:v>参数配置</c:v>
                </c:pt>
                <c:pt idx="3">
                  <c:v>数据访问量大</c:v>
                </c:pt>
                <c:pt idx="4">
                  <c:v>索引问题</c:v>
                </c:pt>
                <c:pt idx="5">
                  <c:v>执行计划缓存不足</c:v>
                </c:pt>
                <c:pt idx="6">
                  <c:v>一致性模型问题</c:v>
                </c:pt>
                <c:pt idx="7">
                  <c:v>数据缓存不足</c:v>
                </c:pt>
                <c:pt idx="8">
                  <c:v>其他</c:v>
                </c:pt>
              </c:strCache>
            </c:strRef>
          </c:cat>
          <c:val>
            <c:numRef>
              <c:f>[工作簿1]Sheet1!$C$6:$C$14</c:f>
              <c:numCache>
                <c:formatCode>0%</c:formatCode>
                <c:ptCount val="9"/>
                <c:pt idx="0">
                  <c:v>0.27</c:v>
                </c:pt>
                <c:pt idx="1">
                  <c:v>0.15</c:v>
                </c:pt>
                <c:pt idx="2">
                  <c:v>0.13</c:v>
                </c:pt>
                <c:pt idx="3">
                  <c:v>0.11</c:v>
                </c:pt>
                <c:pt idx="4">
                  <c:v>0.09</c:v>
                </c:pt>
                <c:pt idx="5">
                  <c:v>0.08</c:v>
                </c:pt>
                <c:pt idx="6">
                  <c:v>7.0000000000000007E-2</c:v>
                </c:pt>
                <c:pt idx="7">
                  <c:v>0.04</c:v>
                </c:pt>
                <c:pt idx="8">
                  <c:v>0.06</c:v>
                </c:pt>
              </c:numCache>
            </c:numRef>
          </c:val>
          <c:extLst>
            <c:ext xmlns:c16="http://schemas.microsoft.com/office/drawing/2014/chart" uri="{C3380CC4-5D6E-409C-BE32-E72D297353CC}">
              <c16:uniqueId val="{00000012-C0EA-F749-A9EB-24A9AEB963A1}"/>
            </c:ext>
          </c:extLst>
        </c:ser>
        <c:dLbls>
          <c:showLegendKey val="0"/>
          <c:showVal val="0"/>
          <c:showCatName val="1"/>
          <c:showSerName val="0"/>
          <c:showPercent val="0"/>
          <c:showBubbleSize val="0"/>
          <c:showLeaderLines val="1"/>
        </c:dLbls>
        <c:firstSliceAng val="0"/>
      </c:pieChart>
      <c:spPr>
        <a:noFill/>
        <a:ln>
          <a:noFill/>
        </a:ln>
        <a:effectLst/>
      </c:spPr>
    </c:plotArea>
    <c:plotVisOnly val="1"/>
    <c:dispBlanksAs val="gap"/>
    <c:showDLblsOverMax val="0"/>
  </c:chart>
  <c:spPr>
    <a:noFill/>
    <a:ln w="9525" cap="flat" cmpd="sng" algn="ctr">
      <a:noFill/>
      <a:round/>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20626631853785901"/>
          <c:y val="2.7310924369747899E-2"/>
          <c:w val="0.58746736292428203"/>
          <c:h val="0.94537815126050417"/>
        </c:manualLayout>
      </c:layout>
      <c:pieChart>
        <c:varyColors val="0"/>
        <c:ser>
          <c:idx val="0"/>
          <c:order val="0"/>
          <c:dPt>
            <c:idx val="0"/>
            <c:bubble3D val="0"/>
            <c:spPr>
              <a:solidFill>
                <a:schemeClr val="accent1"/>
              </a:solidFill>
              <a:ln w="9525" algn="ctr">
                <a:solidFill>
                  <a:schemeClr val="bg1"/>
                </a:solidFill>
                <a:prstDash val="solid"/>
              </a:ln>
            </c:spPr>
            <c:extLst>
              <c:ext xmlns:c16="http://schemas.microsoft.com/office/drawing/2014/chart" uri="{C3380CC4-5D6E-409C-BE32-E72D297353CC}">
                <c16:uniqueId val="{00000001-2D95-884F-9969-CE3B1CD2E217}"/>
              </c:ext>
            </c:extLst>
          </c:dPt>
          <c:dPt>
            <c:idx val="1"/>
            <c:bubble3D val="0"/>
            <c:spPr>
              <a:solidFill>
                <a:srgbClr val="034B6F"/>
              </a:solidFill>
              <a:ln w="9525" algn="ctr">
                <a:solidFill>
                  <a:schemeClr val="bg1"/>
                </a:solidFill>
                <a:prstDash val="solid"/>
              </a:ln>
            </c:spPr>
            <c:extLst>
              <c:ext xmlns:c16="http://schemas.microsoft.com/office/drawing/2014/chart" uri="{C3380CC4-5D6E-409C-BE32-E72D297353CC}">
                <c16:uniqueId val="{00000003-2D95-884F-9969-CE3B1CD2E217}"/>
              </c:ext>
            </c:extLst>
          </c:dPt>
          <c:dPt>
            <c:idx val="2"/>
            <c:bubble3D val="0"/>
            <c:spPr>
              <a:solidFill>
                <a:srgbClr val="027AB1"/>
              </a:solidFill>
              <a:ln w="9525" algn="ctr">
                <a:solidFill>
                  <a:schemeClr val="bg1"/>
                </a:solidFill>
                <a:prstDash val="solid"/>
              </a:ln>
            </c:spPr>
            <c:extLst>
              <c:ext xmlns:c16="http://schemas.microsoft.com/office/drawing/2014/chart" uri="{C3380CC4-5D6E-409C-BE32-E72D297353CC}">
                <c16:uniqueId val="{00000005-2D95-884F-9969-CE3B1CD2E217}"/>
              </c:ext>
            </c:extLst>
          </c:dPt>
          <c:dPt>
            <c:idx val="3"/>
            <c:bubble3D val="0"/>
            <c:spPr>
              <a:solidFill>
                <a:srgbClr val="00A9F4"/>
              </a:solidFill>
              <a:ln w="9525" algn="ctr">
                <a:solidFill>
                  <a:schemeClr val="bg1"/>
                </a:solidFill>
                <a:prstDash val="solid"/>
              </a:ln>
            </c:spPr>
            <c:extLst>
              <c:ext xmlns:c16="http://schemas.microsoft.com/office/drawing/2014/chart" uri="{C3380CC4-5D6E-409C-BE32-E72D297353CC}">
                <c16:uniqueId val="{00000007-2D95-884F-9969-CE3B1CD2E217}"/>
              </c:ext>
            </c:extLst>
          </c:dPt>
          <c:dPt>
            <c:idx val="4"/>
            <c:bubble3D val="0"/>
            <c:spPr>
              <a:solidFill>
                <a:srgbClr val="39BDF3"/>
              </a:solidFill>
              <a:ln w="9525" algn="ctr">
                <a:solidFill>
                  <a:schemeClr val="bg1"/>
                </a:solidFill>
                <a:prstDash val="solid"/>
              </a:ln>
            </c:spPr>
            <c:extLst>
              <c:ext xmlns:c16="http://schemas.microsoft.com/office/drawing/2014/chart" uri="{C3380CC4-5D6E-409C-BE32-E72D297353CC}">
                <c16:uniqueId val="{00000009-2D95-884F-9969-CE3B1CD2E217}"/>
              </c:ext>
            </c:extLst>
          </c:dPt>
          <c:dPt>
            <c:idx val="5"/>
            <c:bubble3D val="0"/>
            <c:spPr>
              <a:solidFill>
                <a:srgbClr val="71D2F1"/>
              </a:solidFill>
              <a:ln w="9525" algn="ctr">
                <a:solidFill>
                  <a:schemeClr val="bg1"/>
                </a:solidFill>
                <a:prstDash val="solid"/>
              </a:ln>
            </c:spPr>
            <c:extLst>
              <c:ext xmlns:c16="http://schemas.microsoft.com/office/drawing/2014/chart" uri="{C3380CC4-5D6E-409C-BE32-E72D297353CC}">
                <c16:uniqueId val="{0000000B-2D95-884F-9969-CE3B1CD2E217}"/>
              </c:ext>
            </c:extLst>
          </c:dPt>
          <c:dPt>
            <c:idx val="6"/>
            <c:bubble3D val="0"/>
            <c:spPr>
              <a:solidFill>
                <a:srgbClr val="AAE6F0"/>
              </a:solidFill>
              <a:ln w="9525" algn="ctr">
                <a:solidFill>
                  <a:schemeClr val="bg1"/>
                </a:solidFill>
                <a:prstDash val="solid"/>
              </a:ln>
            </c:spPr>
            <c:extLst>
              <c:ext xmlns:c16="http://schemas.microsoft.com/office/drawing/2014/chart" uri="{C3380CC4-5D6E-409C-BE32-E72D297353CC}">
                <c16:uniqueId val="{0000000D-2D95-884F-9969-CE3B1CD2E217}"/>
              </c:ext>
            </c:extLst>
          </c:dPt>
          <c:dPt>
            <c:idx val="7"/>
            <c:bubble3D val="0"/>
            <c:spPr>
              <a:solidFill>
                <a:schemeClr val="accent6"/>
              </a:solidFill>
              <a:ln w="9525" algn="ctr">
                <a:solidFill>
                  <a:schemeClr val="bg1"/>
                </a:solidFill>
                <a:prstDash val="solid"/>
              </a:ln>
            </c:spPr>
            <c:extLst>
              <c:ext xmlns:c16="http://schemas.microsoft.com/office/drawing/2014/chart" uri="{C3380CC4-5D6E-409C-BE32-E72D297353CC}">
                <c16:uniqueId val="{0000000F-2D95-884F-9969-CE3B1CD2E217}"/>
              </c:ext>
            </c:extLst>
          </c:dPt>
          <c:dLbls>
            <c:dLbl>
              <c:idx val="0"/>
              <c:layout>
                <c:manualLayout>
                  <c:x val="3.9686684073106573E-3"/>
                  <c:y val="0.12262125322569972"/>
                </c:manualLayout>
              </c:layout>
              <c:numFmt formatCode="#,##0.00&quot;%&quot;;&quot;-&quot;#,##0.00&quot;%&quot;" sourceLinked="0"/>
              <c:spPr>
                <a:noFill/>
                <a:ln>
                  <a:noFill/>
                </a:ln>
              </c:spPr>
              <c:txPr>
                <a:bodyPr wrap="none"/>
                <a:lstStyle/>
                <a:p>
                  <a:pPr>
                    <a:defRPr sz="1800" kern="1200">
                      <a:solidFill>
                        <a:schemeClr val="tx2"/>
                      </a:solidFill>
                      <a:latin typeface="微软雅黑"/>
                      <a:ea typeface="微软雅黑"/>
                      <a:cs typeface="微软雅黑"/>
                      <a:sym typeface="微软雅黑"/>
                    </a:defRPr>
                  </a:pPr>
                  <a:endParaRPr lang="zh-CN"/>
                </a:p>
              </c:txPr>
              <c:dLblPos val="bestFi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D95-884F-9969-CE3B1CD2E217}"/>
                </c:ext>
              </c:extLst>
            </c:dLbl>
            <c:dLbl>
              <c:idx val="1"/>
              <c:layout>
                <c:manualLayout>
                  <c:x val="5.87467362924282E-2"/>
                  <c:y val="-6.8277310924369748E-3"/>
                </c:manualLayout>
              </c:layout>
              <c:numFmt formatCode="#,##0.00&quot;%&quot;;&quot;-&quot;#,##0.00&quot;%&quot;" sourceLinked="0"/>
              <c:spPr>
                <a:noFill/>
                <a:ln>
                  <a:noFill/>
                </a:ln>
              </c:spPr>
              <c:txPr>
                <a:bodyPr wrap="none"/>
                <a:lstStyle/>
                <a:p>
                  <a:pPr>
                    <a:defRPr sz="1800" kern="1200">
                      <a:solidFill>
                        <a:schemeClr val="tx2"/>
                      </a:solidFill>
                      <a:latin typeface="微软雅黑"/>
                      <a:ea typeface="微软雅黑"/>
                      <a:cs typeface="微软雅黑"/>
                      <a:sym typeface="微软雅黑"/>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2D95-884F-9969-CE3B1CD2E217}"/>
                </c:ext>
              </c:extLst>
            </c:dLbl>
            <c:dLbl>
              <c:idx val="2"/>
              <c:layout>
                <c:manualLayout>
                  <c:x val="4.0796344647519585E-2"/>
                  <c:y val="8.455882352941177E-2"/>
                </c:manualLayout>
              </c:layout>
              <c:numFmt formatCode="#,##0.00&quot;%&quot;;&quot;-&quot;#,##0.00&quot;%&quot;" sourceLinked="0"/>
              <c:spPr>
                <a:noFill/>
                <a:ln>
                  <a:noFill/>
                </a:ln>
              </c:spPr>
              <c:txPr>
                <a:bodyPr wrap="none"/>
                <a:lstStyle/>
                <a:p>
                  <a:pPr>
                    <a:defRPr sz="1800" kern="1200">
                      <a:solidFill>
                        <a:schemeClr val="tx2"/>
                      </a:solidFill>
                      <a:latin typeface="微软雅黑"/>
                      <a:ea typeface="微软雅黑"/>
                      <a:cs typeface="微软雅黑"/>
                      <a:sym typeface="微软雅黑"/>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2D95-884F-9969-CE3B1CD2E217}"/>
                </c:ext>
              </c:extLst>
            </c:dLbl>
            <c:dLbl>
              <c:idx val="3"/>
              <c:layout>
                <c:manualLayout>
                  <c:x val="-1.1749347258485639E-2"/>
                  <c:y val="0.16071428571428573"/>
                </c:manualLayout>
              </c:layout>
              <c:numFmt formatCode="#,##0.00&quot;%&quot;;&quot;-&quot;#,##0.00&quot;%&quot;" sourceLinked="0"/>
              <c:spPr>
                <a:noFill/>
                <a:ln>
                  <a:noFill/>
                </a:ln>
              </c:spPr>
              <c:txPr>
                <a:bodyPr wrap="none"/>
                <a:lstStyle/>
                <a:p>
                  <a:pPr>
                    <a:defRPr sz="1800" kern="1200">
                      <a:solidFill>
                        <a:schemeClr val="tx2"/>
                      </a:solidFill>
                      <a:latin typeface="微软雅黑"/>
                      <a:ea typeface="微软雅黑"/>
                      <a:cs typeface="微软雅黑"/>
                      <a:sym typeface="微软雅黑"/>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2D95-884F-9969-CE3B1CD2E21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val>
            <c:numRef>
              <c:f>Sheet1!$A$1:$A$8</c:f>
              <c:numCache>
                <c:formatCode>General</c:formatCode>
                <c:ptCount val="8"/>
                <c:pt idx="0">
                  <c:v>27</c:v>
                </c:pt>
                <c:pt idx="1">
                  <c:v>15</c:v>
                </c:pt>
                <c:pt idx="2">
                  <c:v>13</c:v>
                </c:pt>
                <c:pt idx="3">
                  <c:v>9</c:v>
                </c:pt>
                <c:pt idx="4">
                  <c:v>8</c:v>
                </c:pt>
                <c:pt idx="5">
                  <c:v>7.0000000000000009</c:v>
                </c:pt>
                <c:pt idx="6">
                  <c:v>4</c:v>
                </c:pt>
                <c:pt idx="7">
                  <c:v>6</c:v>
                </c:pt>
              </c:numCache>
            </c:numRef>
          </c:val>
          <c:extLst>
            <c:ext xmlns:c16="http://schemas.microsoft.com/office/drawing/2014/chart" uri="{C3380CC4-5D6E-409C-BE32-E72D297353CC}">
              <c16:uniqueId val="{00000010-2D95-884F-9969-CE3B1CD2E217}"/>
            </c:ext>
          </c:extLst>
        </c:ser>
        <c:dLbls>
          <c:showLegendKey val="0"/>
          <c:showVal val="0"/>
          <c:showCatName val="0"/>
          <c:showSerName val="0"/>
          <c:showPercent val="0"/>
          <c:showBubbleSize val="0"/>
          <c:showLeaderLines val="1"/>
        </c:dLbls>
        <c:firstSliceAng val="305"/>
      </c:pieChart>
    </c:plotArea>
    <c:plotVisOnly val="0"/>
    <c:dispBlanksAs val="gap"/>
    <c:showDLblsOverMax val="1"/>
  </c:chart>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20626631853785901"/>
          <c:y val="2.7310924369747899E-2"/>
          <c:w val="0.58746736292428203"/>
          <c:h val="0.94537815126050417"/>
        </c:manualLayout>
      </c:layout>
      <c:pieChart>
        <c:varyColors val="0"/>
        <c:ser>
          <c:idx val="0"/>
          <c:order val="0"/>
          <c:dPt>
            <c:idx val="0"/>
            <c:bubble3D val="0"/>
            <c:spPr>
              <a:solidFill>
                <a:schemeClr val="accent1"/>
              </a:solidFill>
              <a:ln w="9525" algn="ctr">
                <a:solidFill>
                  <a:schemeClr val="bg1"/>
                </a:solidFill>
                <a:prstDash val="solid"/>
              </a:ln>
            </c:spPr>
            <c:extLst>
              <c:ext xmlns:c16="http://schemas.microsoft.com/office/drawing/2014/chart" uri="{C3380CC4-5D6E-409C-BE32-E72D297353CC}">
                <c16:uniqueId val="{00000001-2D95-884F-9969-CE3B1CD2E217}"/>
              </c:ext>
            </c:extLst>
          </c:dPt>
          <c:dPt>
            <c:idx val="1"/>
            <c:bubble3D val="0"/>
            <c:spPr>
              <a:solidFill>
                <a:srgbClr val="034B6F"/>
              </a:solidFill>
              <a:ln w="9525" algn="ctr">
                <a:solidFill>
                  <a:schemeClr val="bg1"/>
                </a:solidFill>
                <a:prstDash val="solid"/>
              </a:ln>
            </c:spPr>
            <c:extLst>
              <c:ext xmlns:c16="http://schemas.microsoft.com/office/drawing/2014/chart" uri="{C3380CC4-5D6E-409C-BE32-E72D297353CC}">
                <c16:uniqueId val="{00000003-2D95-884F-9969-CE3B1CD2E217}"/>
              </c:ext>
            </c:extLst>
          </c:dPt>
          <c:dPt>
            <c:idx val="2"/>
            <c:bubble3D val="0"/>
            <c:spPr>
              <a:solidFill>
                <a:srgbClr val="027AB1"/>
              </a:solidFill>
              <a:ln w="9525" algn="ctr">
                <a:solidFill>
                  <a:schemeClr val="bg1"/>
                </a:solidFill>
                <a:prstDash val="solid"/>
              </a:ln>
            </c:spPr>
            <c:extLst>
              <c:ext xmlns:c16="http://schemas.microsoft.com/office/drawing/2014/chart" uri="{C3380CC4-5D6E-409C-BE32-E72D297353CC}">
                <c16:uniqueId val="{00000005-2D95-884F-9969-CE3B1CD2E217}"/>
              </c:ext>
            </c:extLst>
          </c:dPt>
          <c:dPt>
            <c:idx val="3"/>
            <c:bubble3D val="0"/>
            <c:spPr>
              <a:solidFill>
                <a:srgbClr val="00A9F4"/>
              </a:solidFill>
              <a:ln w="9525" algn="ctr">
                <a:solidFill>
                  <a:schemeClr val="bg1"/>
                </a:solidFill>
                <a:prstDash val="solid"/>
              </a:ln>
            </c:spPr>
            <c:extLst>
              <c:ext xmlns:c16="http://schemas.microsoft.com/office/drawing/2014/chart" uri="{C3380CC4-5D6E-409C-BE32-E72D297353CC}">
                <c16:uniqueId val="{00000007-2D95-884F-9969-CE3B1CD2E217}"/>
              </c:ext>
            </c:extLst>
          </c:dPt>
          <c:dPt>
            <c:idx val="5"/>
            <c:bubble3D val="0"/>
            <c:spPr>
              <a:solidFill>
                <a:srgbClr val="39BDF3"/>
              </a:solidFill>
              <a:ln w="9525" algn="ctr">
                <a:solidFill>
                  <a:schemeClr val="bg1"/>
                </a:solidFill>
                <a:prstDash val="solid"/>
              </a:ln>
            </c:spPr>
            <c:extLst>
              <c:ext xmlns:c16="http://schemas.microsoft.com/office/drawing/2014/chart" uri="{C3380CC4-5D6E-409C-BE32-E72D297353CC}">
                <c16:uniqueId val="{0000000B-2D95-884F-9969-CE3B1CD2E217}"/>
              </c:ext>
            </c:extLst>
          </c:dPt>
          <c:dPt>
            <c:idx val="6"/>
            <c:bubble3D val="0"/>
            <c:spPr>
              <a:solidFill>
                <a:srgbClr val="71D2F1"/>
              </a:solidFill>
              <a:ln w="9525" algn="ctr">
                <a:solidFill>
                  <a:schemeClr val="bg1"/>
                </a:solidFill>
                <a:prstDash val="solid"/>
              </a:ln>
            </c:spPr>
            <c:extLst>
              <c:ext xmlns:c16="http://schemas.microsoft.com/office/drawing/2014/chart" uri="{C3380CC4-5D6E-409C-BE32-E72D297353CC}">
                <c16:uniqueId val="{0000000D-2D95-884F-9969-CE3B1CD2E217}"/>
              </c:ext>
            </c:extLst>
          </c:dPt>
          <c:dPt>
            <c:idx val="7"/>
            <c:bubble3D val="0"/>
            <c:spPr>
              <a:solidFill>
                <a:srgbClr val="AAE6F0"/>
              </a:solidFill>
              <a:ln w="9525" algn="ctr">
                <a:solidFill>
                  <a:schemeClr val="bg1"/>
                </a:solidFill>
                <a:prstDash val="solid"/>
              </a:ln>
            </c:spPr>
            <c:extLst>
              <c:ext xmlns:c16="http://schemas.microsoft.com/office/drawing/2014/chart" uri="{C3380CC4-5D6E-409C-BE32-E72D297353CC}">
                <c16:uniqueId val="{0000000F-2D95-884F-9969-CE3B1CD2E217}"/>
              </c:ext>
            </c:extLst>
          </c:dPt>
          <c:dPt>
            <c:idx val="8"/>
            <c:bubble3D val="0"/>
            <c:spPr>
              <a:solidFill>
                <a:schemeClr val="accent6"/>
              </a:solidFill>
              <a:ln w="9525" algn="ctr">
                <a:solidFill>
                  <a:schemeClr val="bg1"/>
                </a:solidFill>
                <a:prstDash val="solid"/>
              </a:ln>
            </c:spPr>
            <c:extLst>
              <c:ext xmlns:c16="http://schemas.microsoft.com/office/drawing/2014/chart" uri="{C3380CC4-5D6E-409C-BE32-E72D297353CC}">
                <c16:uniqueId val="{0000000F-CE0D-7046-9BAF-6EA6F03D5212}"/>
              </c:ext>
            </c:extLst>
          </c:dPt>
          <c:dLbls>
            <c:dLbl>
              <c:idx val="0"/>
              <c:layout>
                <c:manualLayout>
                  <c:x val="3.9686684073106573E-3"/>
                  <c:y val="0.12262125322569972"/>
                </c:manualLayout>
              </c:layout>
              <c:numFmt formatCode="#,##0.00&quot;%&quot;;&quot;-&quot;#,##0.00&quot;%&quot;" sourceLinked="0"/>
              <c:spPr>
                <a:noFill/>
                <a:ln>
                  <a:noFill/>
                </a:ln>
              </c:spPr>
              <c:txPr>
                <a:bodyPr wrap="none"/>
                <a:lstStyle/>
                <a:p>
                  <a:pPr>
                    <a:defRPr sz="1800" kern="1200">
                      <a:solidFill>
                        <a:schemeClr val="tx2"/>
                      </a:solidFill>
                      <a:latin typeface="微软雅黑"/>
                      <a:ea typeface="微软雅黑"/>
                      <a:cs typeface="微软雅黑"/>
                      <a:sym typeface="微软雅黑"/>
                    </a:defRPr>
                  </a:pPr>
                  <a:endParaRPr lang="zh-CN"/>
                </a:p>
              </c:txPr>
              <c:dLblPos val="bestFi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D95-884F-9969-CE3B1CD2E217}"/>
                </c:ext>
              </c:extLst>
            </c:dLbl>
            <c:dLbl>
              <c:idx val="1"/>
              <c:layout>
                <c:manualLayout>
                  <c:x val="5.87467362924282E-2"/>
                  <c:y val="-6.8277310924369748E-3"/>
                </c:manualLayout>
              </c:layout>
              <c:numFmt formatCode="#,##0.00&quot;%&quot;;&quot;-&quot;#,##0.00&quot;%&quot;" sourceLinked="0"/>
              <c:spPr>
                <a:noFill/>
                <a:ln>
                  <a:noFill/>
                </a:ln>
              </c:spPr>
              <c:txPr>
                <a:bodyPr wrap="none"/>
                <a:lstStyle/>
                <a:p>
                  <a:pPr>
                    <a:defRPr sz="1800" kern="1200">
                      <a:solidFill>
                        <a:schemeClr val="tx2"/>
                      </a:solidFill>
                      <a:latin typeface="微软雅黑"/>
                      <a:ea typeface="微软雅黑"/>
                      <a:cs typeface="微软雅黑"/>
                      <a:sym typeface="微软雅黑"/>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2D95-884F-9969-CE3B1CD2E217}"/>
                </c:ext>
              </c:extLst>
            </c:dLbl>
            <c:dLbl>
              <c:idx val="2"/>
              <c:layout>
                <c:manualLayout>
                  <c:x val="-0.17552024012664214"/>
                  <c:y val="-0.14078409316482499"/>
                </c:manualLayout>
              </c:layout>
              <c:numFmt formatCode="#,##0.00&quot;%&quot;;&quot;-&quot;#,##0.00&quot;%&quot;" sourceLinked="0"/>
              <c:spPr>
                <a:noFill/>
                <a:ln>
                  <a:noFill/>
                </a:ln>
              </c:spPr>
              <c:txPr>
                <a:bodyPr wrap="none"/>
                <a:lstStyle/>
                <a:p>
                  <a:pPr>
                    <a:defRPr sz="1800" kern="1200">
                      <a:solidFill>
                        <a:schemeClr val="tx2"/>
                      </a:solidFill>
                      <a:latin typeface="微软雅黑"/>
                      <a:ea typeface="微软雅黑"/>
                      <a:cs typeface="微软雅黑"/>
                      <a:sym typeface="微软雅黑"/>
                    </a:defRPr>
                  </a:pPr>
                  <a:endParaRPr lang="zh-CN"/>
                </a:p>
              </c:txPr>
              <c:dLblPos val="bestFi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2D95-884F-9969-CE3B1CD2E217}"/>
                </c:ext>
              </c:extLst>
            </c:dLbl>
            <c:dLbl>
              <c:idx val="3"/>
              <c:layout>
                <c:manualLayout>
                  <c:x val="-0.24044962069036416"/>
                  <c:y val="-6.8166148349103423E-2"/>
                </c:manualLayout>
              </c:layout>
              <c:numFmt formatCode="#,##0.00&quot;%&quot;;&quot;-&quot;#,##0.00&quot;%&quot;" sourceLinked="0"/>
              <c:spPr>
                <a:noFill/>
                <a:ln>
                  <a:noFill/>
                </a:ln>
              </c:spPr>
              <c:txPr>
                <a:bodyPr wrap="none"/>
                <a:lstStyle/>
                <a:p>
                  <a:pPr>
                    <a:defRPr sz="1800" kern="1200">
                      <a:solidFill>
                        <a:schemeClr val="tx2"/>
                      </a:solidFill>
                      <a:latin typeface="微软雅黑"/>
                      <a:ea typeface="微软雅黑"/>
                      <a:cs typeface="微软雅黑"/>
                      <a:sym typeface="微软雅黑"/>
                    </a:defRPr>
                  </a:pPr>
                  <a:endParaRPr lang="zh-CN"/>
                </a:p>
              </c:txPr>
              <c:dLblPos val="bestFi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2D95-884F-9969-CE3B1CD2E21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val>
            <c:numRef>
              <c:f>Sheet1!$A$1:$A$9</c:f>
              <c:numCache>
                <c:formatCode>#,##0.00"%";"-"#,##0.00"%"</c:formatCode>
                <c:ptCount val="9"/>
                <c:pt idx="0">
                  <c:v>27</c:v>
                </c:pt>
                <c:pt idx="1">
                  <c:v>15</c:v>
                </c:pt>
                <c:pt idx="2">
                  <c:v>13</c:v>
                </c:pt>
                <c:pt idx="3">
                  <c:v>9</c:v>
                </c:pt>
                <c:pt idx="4">
                  <c:v>11</c:v>
                </c:pt>
                <c:pt idx="5" formatCode="General">
                  <c:v>8</c:v>
                </c:pt>
                <c:pt idx="6" formatCode="General">
                  <c:v>7.0000000000000009</c:v>
                </c:pt>
                <c:pt idx="7" formatCode="General">
                  <c:v>4</c:v>
                </c:pt>
                <c:pt idx="8" formatCode="General">
                  <c:v>6</c:v>
                </c:pt>
              </c:numCache>
            </c:numRef>
          </c:val>
          <c:extLst>
            <c:ext xmlns:c16="http://schemas.microsoft.com/office/drawing/2014/chart" uri="{C3380CC4-5D6E-409C-BE32-E72D297353CC}">
              <c16:uniqueId val="{00000010-2D95-884F-9969-CE3B1CD2E217}"/>
            </c:ext>
          </c:extLst>
        </c:ser>
        <c:dLbls>
          <c:showLegendKey val="0"/>
          <c:showVal val="0"/>
          <c:showCatName val="0"/>
          <c:showSerName val="0"/>
          <c:showPercent val="0"/>
          <c:showBubbleSize val="0"/>
          <c:showLeaderLines val="1"/>
        </c:dLbls>
        <c:firstSliceAng val="305"/>
      </c:pieChart>
    </c:plotArea>
    <c:plotVisOnly val="0"/>
    <c:dispBlanksAs val="gap"/>
    <c:showDLblsOverMax val="1"/>
  </c:chart>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9649A5-C646-B74F-BF3B-4D0D524D04E0}" type="doc">
      <dgm:prSet loTypeId="urn:microsoft.com/office/officeart/2005/8/layout/chevron1" loCatId="" qsTypeId="urn:microsoft.com/office/officeart/2005/8/quickstyle/simple1" qsCatId="simple" csTypeId="urn:microsoft.com/office/officeart/2005/8/colors/accent5_2" csCatId="accent5" phldr="1"/>
      <dgm:spPr/>
    </dgm:pt>
    <dgm:pt modelId="{4FCC7E81-4CB6-0F47-B039-A58F5F7E78F4}">
      <dgm:prSet phldrT="[文本]" custT="1"/>
      <dgm:spPr>
        <a:solidFill>
          <a:srgbClr val="0070C0"/>
        </a:solidFill>
      </dgm:spPr>
      <dgm:t>
        <a:bodyPr/>
        <a:lstStyle/>
        <a:p>
          <a:r>
            <a:rPr lang="zh-CN" altLang="en-US" sz="2800" b="1" dirty="0"/>
            <a:t>人工管理</a:t>
          </a:r>
        </a:p>
      </dgm:t>
    </dgm:pt>
    <dgm:pt modelId="{11C42607-0203-0545-8AE9-71D2812358BD}" type="parTrans" cxnId="{6A25FB9C-8553-304A-AFED-B11F989F1738}">
      <dgm:prSet/>
      <dgm:spPr/>
      <dgm:t>
        <a:bodyPr/>
        <a:lstStyle/>
        <a:p>
          <a:endParaRPr lang="zh-CN" altLang="en-US" sz="2800" b="1"/>
        </a:p>
      </dgm:t>
    </dgm:pt>
    <dgm:pt modelId="{4ECE365B-F3C1-2243-9DCA-1D170BE8908B}" type="sibTrans" cxnId="{6A25FB9C-8553-304A-AFED-B11F989F1738}">
      <dgm:prSet/>
      <dgm:spPr/>
      <dgm:t>
        <a:bodyPr/>
        <a:lstStyle/>
        <a:p>
          <a:endParaRPr lang="zh-CN" altLang="en-US" sz="2800" b="1"/>
        </a:p>
      </dgm:t>
    </dgm:pt>
    <dgm:pt modelId="{F3745A82-4D42-444D-939B-FDB5D6A25F60}">
      <dgm:prSet phldrT="[文本]" custT="1"/>
      <dgm:spPr>
        <a:solidFill>
          <a:srgbClr val="0070C0"/>
        </a:solidFill>
      </dgm:spPr>
      <dgm:t>
        <a:bodyPr/>
        <a:lstStyle/>
        <a:p>
          <a:r>
            <a:rPr lang="zh-CN" altLang="en-US" sz="2800" b="1" dirty="0"/>
            <a:t>文件系统管理</a:t>
          </a:r>
        </a:p>
      </dgm:t>
    </dgm:pt>
    <dgm:pt modelId="{A88E2082-1D3C-5E42-A0D6-8578BB738509}" type="parTrans" cxnId="{8E4D4973-FE26-6841-837A-B9EC485A0BA9}">
      <dgm:prSet/>
      <dgm:spPr/>
      <dgm:t>
        <a:bodyPr/>
        <a:lstStyle/>
        <a:p>
          <a:endParaRPr lang="zh-CN" altLang="en-US" sz="2800" b="1"/>
        </a:p>
      </dgm:t>
    </dgm:pt>
    <dgm:pt modelId="{5C2FB528-52FE-0A43-9D21-10E20F7CA7F1}" type="sibTrans" cxnId="{8E4D4973-FE26-6841-837A-B9EC485A0BA9}">
      <dgm:prSet/>
      <dgm:spPr/>
      <dgm:t>
        <a:bodyPr/>
        <a:lstStyle/>
        <a:p>
          <a:endParaRPr lang="zh-CN" altLang="en-US" sz="2800" b="1"/>
        </a:p>
      </dgm:t>
    </dgm:pt>
    <dgm:pt modelId="{565AD17A-A991-3E44-85AB-04784BB76C5C}">
      <dgm:prSet phldrT="[文本]" custT="1"/>
      <dgm:spPr>
        <a:solidFill>
          <a:srgbClr val="0070C0"/>
        </a:solidFill>
      </dgm:spPr>
      <dgm:t>
        <a:bodyPr/>
        <a:lstStyle/>
        <a:p>
          <a:r>
            <a:rPr lang="zh-CN" altLang="en-US" sz="2800" b="1" dirty="0"/>
            <a:t>数据库管理</a:t>
          </a:r>
        </a:p>
      </dgm:t>
    </dgm:pt>
    <dgm:pt modelId="{E2E900D5-754F-D943-9135-7E4AED5384E1}" type="parTrans" cxnId="{8841AF45-0FCE-3049-8246-E6DAD90CD6AA}">
      <dgm:prSet/>
      <dgm:spPr/>
      <dgm:t>
        <a:bodyPr/>
        <a:lstStyle/>
        <a:p>
          <a:endParaRPr lang="zh-CN" altLang="en-US" sz="2800" b="1"/>
        </a:p>
      </dgm:t>
    </dgm:pt>
    <dgm:pt modelId="{C1A230A6-28FE-814A-BCEF-81B3AACECD24}" type="sibTrans" cxnId="{8841AF45-0FCE-3049-8246-E6DAD90CD6AA}">
      <dgm:prSet/>
      <dgm:spPr/>
      <dgm:t>
        <a:bodyPr/>
        <a:lstStyle/>
        <a:p>
          <a:endParaRPr lang="zh-CN" altLang="en-US" sz="2800" b="1"/>
        </a:p>
      </dgm:t>
    </dgm:pt>
    <dgm:pt modelId="{62FD3055-CD17-324E-BDED-3AE7D730D9AA}" type="pres">
      <dgm:prSet presAssocID="{999649A5-C646-B74F-BF3B-4D0D524D04E0}" presName="Name0" presStyleCnt="0">
        <dgm:presLayoutVars>
          <dgm:dir/>
          <dgm:animLvl val="lvl"/>
          <dgm:resizeHandles val="exact"/>
        </dgm:presLayoutVars>
      </dgm:prSet>
      <dgm:spPr/>
    </dgm:pt>
    <dgm:pt modelId="{C285469C-28F8-4243-92EB-37948C95562E}" type="pres">
      <dgm:prSet presAssocID="{4FCC7E81-4CB6-0F47-B039-A58F5F7E78F4}" presName="parTxOnly" presStyleLbl="node1" presStyleIdx="0" presStyleCnt="3">
        <dgm:presLayoutVars>
          <dgm:chMax val="0"/>
          <dgm:chPref val="0"/>
          <dgm:bulletEnabled val="1"/>
        </dgm:presLayoutVars>
      </dgm:prSet>
      <dgm:spPr/>
    </dgm:pt>
    <dgm:pt modelId="{CCAB7A1F-E585-DC48-9E67-0C65CC715DE9}" type="pres">
      <dgm:prSet presAssocID="{4ECE365B-F3C1-2243-9DCA-1D170BE8908B}" presName="parTxOnlySpace" presStyleCnt="0"/>
      <dgm:spPr/>
    </dgm:pt>
    <dgm:pt modelId="{B6AA4060-87E9-5F4D-BC40-DE052D78AFA1}" type="pres">
      <dgm:prSet presAssocID="{F3745A82-4D42-444D-939B-FDB5D6A25F60}" presName="parTxOnly" presStyleLbl="node1" presStyleIdx="1" presStyleCnt="3" custScaleX="112332">
        <dgm:presLayoutVars>
          <dgm:chMax val="0"/>
          <dgm:chPref val="0"/>
          <dgm:bulletEnabled val="1"/>
        </dgm:presLayoutVars>
      </dgm:prSet>
      <dgm:spPr/>
    </dgm:pt>
    <dgm:pt modelId="{6D8BC36F-C882-1A48-80B9-5E60694F25DA}" type="pres">
      <dgm:prSet presAssocID="{5C2FB528-52FE-0A43-9D21-10E20F7CA7F1}" presName="parTxOnlySpace" presStyleCnt="0"/>
      <dgm:spPr/>
    </dgm:pt>
    <dgm:pt modelId="{D228FBC0-6C0F-D246-BF84-04997F690EA0}" type="pres">
      <dgm:prSet presAssocID="{565AD17A-A991-3E44-85AB-04784BB76C5C}" presName="parTxOnly" presStyleLbl="node1" presStyleIdx="2" presStyleCnt="3">
        <dgm:presLayoutVars>
          <dgm:chMax val="0"/>
          <dgm:chPref val="0"/>
          <dgm:bulletEnabled val="1"/>
        </dgm:presLayoutVars>
      </dgm:prSet>
      <dgm:spPr/>
    </dgm:pt>
  </dgm:ptLst>
  <dgm:cxnLst>
    <dgm:cxn modelId="{E4F8EE01-00D5-DA4F-8415-3AB261C5262A}" type="presOf" srcId="{F3745A82-4D42-444D-939B-FDB5D6A25F60}" destId="{B6AA4060-87E9-5F4D-BC40-DE052D78AFA1}" srcOrd="0" destOrd="0" presId="urn:microsoft.com/office/officeart/2005/8/layout/chevron1"/>
    <dgm:cxn modelId="{8841AF45-0FCE-3049-8246-E6DAD90CD6AA}" srcId="{999649A5-C646-B74F-BF3B-4D0D524D04E0}" destId="{565AD17A-A991-3E44-85AB-04784BB76C5C}" srcOrd="2" destOrd="0" parTransId="{E2E900D5-754F-D943-9135-7E4AED5384E1}" sibTransId="{C1A230A6-28FE-814A-BCEF-81B3AACECD24}"/>
    <dgm:cxn modelId="{5EFFB95F-5F42-4846-BED8-810EDB8ACA17}" type="presOf" srcId="{4FCC7E81-4CB6-0F47-B039-A58F5F7E78F4}" destId="{C285469C-28F8-4243-92EB-37948C95562E}" srcOrd="0" destOrd="0" presId="urn:microsoft.com/office/officeart/2005/8/layout/chevron1"/>
    <dgm:cxn modelId="{8E4D4973-FE26-6841-837A-B9EC485A0BA9}" srcId="{999649A5-C646-B74F-BF3B-4D0D524D04E0}" destId="{F3745A82-4D42-444D-939B-FDB5D6A25F60}" srcOrd="1" destOrd="0" parTransId="{A88E2082-1D3C-5E42-A0D6-8578BB738509}" sibTransId="{5C2FB528-52FE-0A43-9D21-10E20F7CA7F1}"/>
    <dgm:cxn modelId="{6A25FB9C-8553-304A-AFED-B11F989F1738}" srcId="{999649A5-C646-B74F-BF3B-4D0D524D04E0}" destId="{4FCC7E81-4CB6-0F47-B039-A58F5F7E78F4}" srcOrd="0" destOrd="0" parTransId="{11C42607-0203-0545-8AE9-71D2812358BD}" sibTransId="{4ECE365B-F3C1-2243-9DCA-1D170BE8908B}"/>
    <dgm:cxn modelId="{1E45A3B1-3F2E-644E-B2C1-A98BDBB31EC4}" type="presOf" srcId="{999649A5-C646-B74F-BF3B-4D0D524D04E0}" destId="{62FD3055-CD17-324E-BDED-3AE7D730D9AA}" srcOrd="0" destOrd="0" presId="urn:microsoft.com/office/officeart/2005/8/layout/chevron1"/>
    <dgm:cxn modelId="{563BF6F7-2791-BF40-A1C6-DB9D7E150A7E}" type="presOf" srcId="{565AD17A-A991-3E44-85AB-04784BB76C5C}" destId="{D228FBC0-6C0F-D246-BF84-04997F690EA0}" srcOrd="0" destOrd="0" presId="urn:microsoft.com/office/officeart/2005/8/layout/chevron1"/>
    <dgm:cxn modelId="{7196615F-8B46-8B4D-9601-D902F9406D83}" type="presParOf" srcId="{62FD3055-CD17-324E-BDED-3AE7D730D9AA}" destId="{C285469C-28F8-4243-92EB-37948C95562E}" srcOrd="0" destOrd="0" presId="urn:microsoft.com/office/officeart/2005/8/layout/chevron1"/>
    <dgm:cxn modelId="{FC205400-2527-5244-A132-378CCD91061E}" type="presParOf" srcId="{62FD3055-CD17-324E-BDED-3AE7D730D9AA}" destId="{CCAB7A1F-E585-DC48-9E67-0C65CC715DE9}" srcOrd="1" destOrd="0" presId="urn:microsoft.com/office/officeart/2005/8/layout/chevron1"/>
    <dgm:cxn modelId="{812FE842-6C30-004A-A19F-E664053F5FC7}" type="presParOf" srcId="{62FD3055-CD17-324E-BDED-3AE7D730D9AA}" destId="{B6AA4060-87E9-5F4D-BC40-DE052D78AFA1}" srcOrd="2" destOrd="0" presId="urn:microsoft.com/office/officeart/2005/8/layout/chevron1"/>
    <dgm:cxn modelId="{F85AC56C-0BA9-F849-8F68-0E34E7C214F2}" type="presParOf" srcId="{62FD3055-CD17-324E-BDED-3AE7D730D9AA}" destId="{6D8BC36F-C882-1A48-80B9-5E60694F25DA}" srcOrd="3" destOrd="0" presId="urn:microsoft.com/office/officeart/2005/8/layout/chevron1"/>
    <dgm:cxn modelId="{258D4E5A-5907-BA4E-A7F0-16E9B03D5884}" type="presParOf" srcId="{62FD3055-CD17-324E-BDED-3AE7D730D9AA}" destId="{D228FBC0-6C0F-D246-BF84-04997F690EA0}" srcOrd="4" destOrd="0" presId="urn:microsoft.com/office/officeart/2005/8/layout/chevron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9649A5-C646-B74F-BF3B-4D0D524D04E0}" type="doc">
      <dgm:prSet loTypeId="urn:microsoft.com/office/officeart/2005/8/layout/chevron1" loCatId="" qsTypeId="urn:microsoft.com/office/officeart/2005/8/quickstyle/simple1" qsCatId="simple" csTypeId="urn:microsoft.com/office/officeart/2005/8/colors/accent5_2" csCatId="accent5" phldr="1"/>
      <dgm:spPr/>
    </dgm:pt>
    <dgm:pt modelId="{4FCC7E81-4CB6-0F47-B039-A58F5F7E78F4}">
      <dgm:prSet phldrT="[文本]" custT="1"/>
      <dgm:spPr>
        <a:solidFill>
          <a:srgbClr val="0070C0"/>
        </a:solidFill>
      </dgm:spPr>
      <dgm:t>
        <a:bodyPr/>
        <a:lstStyle/>
        <a:p>
          <a:r>
            <a:rPr lang="zh-CN" altLang="en-US" sz="2800" b="1" dirty="0"/>
            <a:t>阶段一</a:t>
          </a:r>
        </a:p>
      </dgm:t>
    </dgm:pt>
    <dgm:pt modelId="{4ECE365B-F3C1-2243-9DCA-1D170BE8908B}" type="sibTrans" cxnId="{6A25FB9C-8553-304A-AFED-B11F989F1738}">
      <dgm:prSet/>
      <dgm:spPr/>
      <dgm:t>
        <a:bodyPr/>
        <a:lstStyle/>
        <a:p>
          <a:endParaRPr lang="zh-CN" altLang="en-US" sz="2800" b="1"/>
        </a:p>
      </dgm:t>
    </dgm:pt>
    <dgm:pt modelId="{11C42607-0203-0545-8AE9-71D2812358BD}" type="parTrans" cxnId="{6A25FB9C-8553-304A-AFED-B11F989F1738}">
      <dgm:prSet/>
      <dgm:spPr/>
      <dgm:t>
        <a:bodyPr/>
        <a:lstStyle/>
        <a:p>
          <a:endParaRPr lang="zh-CN" altLang="en-US" sz="2800" b="1"/>
        </a:p>
      </dgm:t>
    </dgm:pt>
    <dgm:pt modelId="{F3745A82-4D42-444D-939B-FDB5D6A25F60}">
      <dgm:prSet phldrT="[文本]" custT="1"/>
      <dgm:spPr>
        <a:solidFill>
          <a:srgbClr val="0070C0"/>
        </a:solidFill>
      </dgm:spPr>
      <dgm:t>
        <a:bodyPr/>
        <a:lstStyle/>
        <a:p>
          <a:r>
            <a:rPr lang="zh-CN" altLang="en-US" sz="2800" b="1" dirty="0"/>
            <a:t>阶段二</a:t>
          </a:r>
        </a:p>
      </dgm:t>
    </dgm:pt>
    <dgm:pt modelId="{5C2FB528-52FE-0A43-9D21-10E20F7CA7F1}" type="sibTrans" cxnId="{8E4D4973-FE26-6841-837A-B9EC485A0BA9}">
      <dgm:prSet/>
      <dgm:spPr/>
      <dgm:t>
        <a:bodyPr/>
        <a:lstStyle/>
        <a:p>
          <a:endParaRPr lang="zh-CN" altLang="en-US" sz="2800" b="1"/>
        </a:p>
      </dgm:t>
    </dgm:pt>
    <dgm:pt modelId="{A88E2082-1D3C-5E42-A0D6-8578BB738509}" type="parTrans" cxnId="{8E4D4973-FE26-6841-837A-B9EC485A0BA9}">
      <dgm:prSet/>
      <dgm:spPr/>
      <dgm:t>
        <a:bodyPr/>
        <a:lstStyle/>
        <a:p>
          <a:endParaRPr lang="zh-CN" altLang="en-US" sz="2800" b="1"/>
        </a:p>
      </dgm:t>
    </dgm:pt>
    <dgm:pt modelId="{565AD17A-A991-3E44-85AB-04784BB76C5C}">
      <dgm:prSet phldrT="[文本]" custT="1"/>
      <dgm:spPr>
        <a:solidFill>
          <a:srgbClr val="0070C0"/>
        </a:solidFill>
      </dgm:spPr>
      <dgm:t>
        <a:bodyPr/>
        <a:lstStyle/>
        <a:p>
          <a:r>
            <a:rPr lang="zh-CN" altLang="en-US" sz="2800" b="1" dirty="0"/>
            <a:t>阶段三</a:t>
          </a:r>
        </a:p>
      </dgm:t>
    </dgm:pt>
    <dgm:pt modelId="{C1A230A6-28FE-814A-BCEF-81B3AACECD24}" type="sibTrans" cxnId="{8841AF45-0FCE-3049-8246-E6DAD90CD6AA}">
      <dgm:prSet/>
      <dgm:spPr/>
      <dgm:t>
        <a:bodyPr/>
        <a:lstStyle/>
        <a:p>
          <a:endParaRPr lang="zh-CN" altLang="en-US" sz="2800" b="1"/>
        </a:p>
      </dgm:t>
    </dgm:pt>
    <dgm:pt modelId="{E2E900D5-754F-D943-9135-7E4AED5384E1}" type="parTrans" cxnId="{8841AF45-0FCE-3049-8246-E6DAD90CD6AA}">
      <dgm:prSet/>
      <dgm:spPr/>
      <dgm:t>
        <a:bodyPr/>
        <a:lstStyle/>
        <a:p>
          <a:endParaRPr lang="zh-CN" altLang="en-US" sz="2800" b="1"/>
        </a:p>
      </dgm:t>
    </dgm:pt>
    <dgm:pt modelId="{2FE646F9-E053-5348-96C8-384EBDB3D72B}">
      <dgm:prSet phldrT="[文本]" custT="1"/>
      <dgm:spPr>
        <a:solidFill>
          <a:srgbClr val="0070C0"/>
        </a:solidFill>
      </dgm:spPr>
      <dgm:t>
        <a:bodyPr/>
        <a:lstStyle/>
        <a:p>
          <a:r>
            <a:rPr lang="zh-CN" altLang="en-US" sz="2800" b="1" dirty="0"/>
            <a:t>阶段四</a:t>
          </a:r>
        </a:p>
      </dgm:t>
    </dgm:pt>
    <dgm:pt modelId="{D29239D6-7296-9146-A34C-D12E16663178}" type="parTrans" cxnId="{B755A509-D9E5-0343-8A0B-133ED2AE0676}">
      <dgm:prSet/>
      <dgm:spPr/>
      <dgm:t>
        <a:bodyPr/>
        <a:lstStyle/>
        <a:p>
          <a:endParaRPr lang="zh-CN" altLang="en-US" sz="2800"/>
        </a:p>
      </dgm:t>
    </dgm:pt>
    <dgm:pt modelId="{7F148EEE-C92C-324D-BF95-C7FA9D2FED86}" type="sibTrans" cxnId="{B755A509-D9E5-0343-8A0B-133ED2AE0676}">
      <dgm:prSet/>
      <dgm:spPr/>
      <dgm:t>
        <a:bodyPr/>
        <a:lstStyle/>
        <a:p>
          <a:endParaRPr lang="zh-CN" altLang="en-US" sz="2800"/>
        </a:p>
      </dgm:t>
    </dgm:pt>
    <dgm:pt modelId="{62FD3055-CD17-324E-BDED-3AE7D730D9AA}" type="pres">
      <dgm:prSet presAssocID="{999649A5-C646-B74F-BF3B-4D0D524D04E0}" presName="Name0" presStyleCnt="0">
        <dgm:presLayoutVars>
          <dgm:dir/>
          <dgm:animLvl val="lvl"/>
          <dgm:resizeHandles val="exact"/>
        </dgm:presLayoutVars>
      </dgm:prSet>
      <dgm:spPr/>
    </dgm:pt>
    <dgm:pt modelId="{C285469C-28F8-4243-92EB-37948C95562E}" type="pres">
      <dgm:prSet presAssocID="{4FCC7E81-4CB6-0F47-B039-A58F5F7E78F4}" presName="parTxOnly" presStyleLbl="node1" presStyleIdx="0" presStyleCnt="4" custScaleX="66961">
        <dgm:presLayoutVars>
          <dgm:chMax val="0"/>
          <dgm:chPref val="0"/>
          <dgm:bulletEnabled val="1"/>
        </dgm:presLayoutVars>
      </dgm:prSet>
      <dgm:spPr/>
    </dgm:pt>
    <dgm:pt modelId="{CCAB7A1F-E585-DC48-9E67-0C65CC715DE9}" type="pres">
      <dgm:prSet presAssocID="{4ECE365B-F3C1-2243-9DCA-1D170BE8908B}" presName="parTxOnlySpace" presStyleCnt="0"/>
      <dgm:spPr/>
    </dgm:pt>
    <dgm:pt modelId="{B6AA4060-87E9-5F4D-BC40-DE052D78AFA1}" type="pres">
      <dgm:prSet presAssocID="{F3745A82-4D42-444D-939B-FDB5D6A25F60}" presName="parTxOnly" presStyleLbl="node1" presStyleIdx="1" presStyleCnt="4" custScaleX="97353">
        <dgm:presLayoutVars>
          <dgm:chMax val="0"/>
          <dgm:chPref val="0"/>
          <dgm:bulletEnabled val="1"/>
        </dgm:presLayoutVars>
      </dgm:prSet>
      <dgm:spPr/>
    </dgm:pt>
    <dgm:pt modelId="{6D8BC36F-C882-1A48-80B9-5E60694F25DA}" type="pres">
      <dgm:prSet presAssocID="{5C2FB528-52FE-0A43-9D21-10E20F7CA7F1}" presName="parTxOnlySpace" presStyleCnt="0"/>
      <dgm:spPr/>
    </dgm:pt>
    <dgm:pt modelId="{D228FBC0-6C0F-D246-BF84-04997F690EA0}" type="pres">
      <dgm:prSet presAssocID="{565AD17A-A991-3E44-85AB-04784BB76C5C}" presName="parTxOnly" presStyleLbl="node1" presStyleIdx="2" presStyleCnt="4">
        <dgm:presLayoutVars>
          <dgm:chMax val="0"/>
          <dgm:chPref val="0"/>
          <dgm:bulletEnabled val="1"/>
        </dgm:presLayoutVars>
      </dgm:prSet>
      <dgm:spPr/>
    </dgm:pt>
    <dgm:pt modelId="{61384B67-C4D3-C641-BD58-58D1C78C2A89}" type="pres">
      <dgm:prSet presAssocID="{C1A230A6-28FE-814A-BCEF-81B3AACECD24}" presName="parTxOnlySpace" presStyleCnt="0"/>
      <dgm:spPr/>
    </dgm:pt>
    <dgm:pt modelId="{FDF80410-44B9-914E-80FE-CD05B58C35D5}" type="pres">
      <dgm:prSet presAssocID="{2FE646F9-E053-5348-96C8-384EBDB3D72B}" presName="parTxOnly" presStyleLbl="node1" presStyleIdx="3" presStyleCnt="4">
        <dgm:presLayoutVars>
          <dgm:chMax val="0"/>
          <dgm:chPref val="0"/>
          <dgm:bulletEnabled val="1"/>
        </dgm:presLayoutVars>
      </dgm:prSet>
      <dgm:spPr/>
    </dgm:pt>
  </dgm:ptLst>
  <dgm:cxnLst>
    <dgm:cxn modelId="{E4F8EE01-00D5-DA4F-8415-3AB261C5262A}" type="presOf" srcId="{F3745A82-4D42-444D-939B-FDB5D6A25F60}" destId="{B6AA4060-87E9-5F4D-BC40-DE052D78AFA1}" srcOrd="0" destOrd="0" presId="urn:microsoft.com/office/officeart/2005/8/layout/chevron1"/>
    <dgm:cxn modelId="{F773C002-BE2F-3042-9ABE-1E94FBE01195}" type="presOf" srcId="{2FE646F9-E053-5348-96C8-384EBDB3D72B}" destId="{FDF80410-44B9-914E-80FE-CD05B58C35D5}" srcOrd="0" destOrd="0" presId="urn:microsoft.com/office/officeart/2005/8/layout/chevron1"/>
    <dgm:cxn modelId="{B755A509-D9E5-0343-8A0B-133ED2AE0676}" srcId="{999649A5-C646-B74F-BF3B-4D0D524D04E0}" destId="{2FE646F9-E053-5348-96C8-384EBDB3D72B}" srcOrd="3" destOrd="0" parTransId="{D29239D6-7296-9146-A34C-D12E16663178}" sibTransId="{7F148EEE-C92C-324D-BF95-C7FA9D2FED86}"/>
    <dgm:cxn modelId="{8841AF45-0FCE-3049-8246-E6DAD90CD6AA}" srcId="{999649A5-C646-B74F-BF3B-4D0D524D04E0}" destId="{565AD17A-A991-3E44-85AB-04784BB76C5C}" srcOrd="2" destOrd="0" parTransId="{E2E900D5-754F-D943-9135-7E4AED5384E1}" sibTransId="{C1A230A6-28FE-814A-BCEF-81B3AACECD24}"/>
    <dgm:cxn modelId="{5EFFB95F-5F42-4846-BED8-810EDB8ACA17}" type="presOf" srcId="{4FCC7E81-4CB6-0F47-B039-A58F5F7E78F4}" destId="{C285469C-28F8-4243-92EB-37948C95562E}" srcOrd="0" destOrd="0" presId="urn:microsoft.com/office/officeart/2005/8/layout/chevron1"/>
    <dgm:cxn modelId="{8E4D4973-FE26-6841-837A-B9EC485A0BA9}" srcId="{999649A5-C646-B74F-BF3B-4D0D524D04E0}" destId="{F3745A82-4D42-444D-939B-FDB5D6A25F60}" srcOrd="1" destOrd="0" parTransId="{A88E2082-1D3C-5E42-A0D6-8578BB738509}" sibTransId="{5C2FB528-52FE-0A43-9D21-10E20F7CA7F1}"/>
    <dgm:cxn modelId="{6A25FB9C-8553-304A-AFED-B11F989F1738}" srcId="{999649A5-C646-B74F-BF3B-4D0D524D04E0}" destId="{4FCC7E81-4CB6-0F47-B039-A58F5F7E78F4}" srcOrd="0" destOrd="0" parTransId="{11C42607-0203-0545-8AE9-71D2812358BD}" sibTransId="{4ECE365B-F3C1-2243-9DCA-1D170BE8908B}"/>
    <dgm:cxn modelId="{1E45A3B1-3F2E-644E-B2C1-A98BDBB31EC4}" type="presOf" srcId="{999649A5-C646-B74F-BF3B-4D0D524D04E0}" destId="{62FD3055-CD17-324E-BDED-3AE7D730D9AA}" srcOrd="0" destOrd="0" presId="urn:microsoft.com/office/officeart/2005/8/layout/chevron1"/>
    <dgm:cxn modelId="{563BF6F7-2791-BF40-A1C6-DB9D7E150A7E}" type="presOf" srcId="{565AD17A-A991-3E44-85AB-04784BB76C5C}" destId="{D228FBC0-6C0F-D246-BF84-04997F690EA0}" srcOrd="0" destOrd="0" presId="urn:microsoft.com/office/officeart/2005/8/layout/chevron1"/>
    <dgm:cxn modelId="{7196615F-8B46-8B4D-9601-D902F9406D83}" type="presParOf" srcId="{62FD3055-CD17-324E-BDED-3AE7D730D9AA}" destId="{C285469C-28F8-4243-92EB-37948C95562E}" srcOrd="0" destOrd="0" presId="urn:microsoft.com/office/officeart/2005/8/layout/chevron1"/>
    <dgm:cxn modelId="{FC205400-2527-5244-A132-378CCD91061E}" type="presParOf" srcId="{62FD3055-CD17-324E-BDED-3AE7D730D9AA}" destId="{CCAB7A1F-E585-DC48-9E67-0C65CC715DE9}" srcOrd="1" destOrd="0" presId="urn:microsoft.com/office/officeart/2005/8/layout/chevron1"/>
    <dgm:cxn modelId="{812FE842-6C30-004A-A19F-E664053F5FC7}" type="presParOf" srcId="{62FD3055-CD17-324E-BDED-3AE7D730D9AA}" destId="{B6AA4060-87E9-5F4D-BC40-DE052D78AFA1}" srcOrd="2" destOrd="0" presId="urn:microsoft.com/office/officeart/2005/8/layout/chevron1"/>
    <dgm:cxn modelId="{F85AC56C-0BA9-F849-8F68-0E34E7C214F2}" type="presParOf" srcId="{62FD3055-CD17-324E-BDED-3AE7D730D9AA}" destId="{6D8BC36F-C882-1A48-80B9-5E60694F25DA}" srcOrd="3" destOrd="0" presId="urn:microsoft.com/office/officeart/2005/8/layout/chevron1"/>
    <dgm:cxn modelId="{258D4E5A-5907-BA4E-A7F0-16E9B03D5884}" type="presParOf" srcId="{62FD3055-CD17-324E-BDED-3AE7D730D9AA}" destId="{D228FBC0-6C0F-D246-BF84-04997F690EA0}" srcOrd="4" destOrd="0" presId="urn:microsoft.com/office/officeart/2005/8/layout/chevron1"/>
    <dgm:cxn modelId="{2F00C435-2F92-5F49-94C1-AA338EF03FA4}" type="presParOf" srcId="{62FD3055-CD17-324E-BDED-3AE7D730D9AA}" destId="{61384B67-C4D3-C641-BD58-58D1C78C2A89}" srcOrd="5" destOrd="0" presId="urn:microsoft.com/office/officeart/2005/8/layout/chevron1"/>
    <dgm:cxn modelId="{5DFA62D1-18BF-1441-A9B8-3427B38DE0EC}" type="presParOf" srcId="{62FD3055-CD17-324E-BDED-3AE7D730D9AA}" destId="{FDF80410-44B9-914E-80FE-CD05B58C35D5}" srcOrd="6" destOrd="0" presId="urn:microsoft.com/office/officeart/2005/8/layout/chevron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99649A5-C646-B74F-BF3B-4D0D524D04E0}" type="doc">
      <dgm:prSet loTypeId="urn:microsoft.com/office/officeart/2005/8/layout/chevron1" loCatId="" qsTypeId="urn:microsoft.com/office/officeart/2005/8/quickstyle/simple1" qsCatId="simple" csTypeId="urn:microsoft.com/office/officeart/2005/8/colors/accent5_2" csCatId="accent5" phldr="1"/>
      <dgm:spPr/>
    </dgm:pt>
    <dgm:pt modelId="{4FCC7E81-4CB6-0F47-B039-A58F5F7E78F4}">
      <dgm:prSet phldrT="[文本]" custT="1"/>
      <dgm:spPr>
        <a:solidFill>
          <a:srgbClr val="0070C0"/>
        </a:solidFill>
      </dgm:spPr>
      <dgm:t>
        <a:bodyPr/>
        <a:lstStyle/>
        <a:p>
          <a:r>
            <a:rPr lang="en-US" altLang="zh-CN" sz="2800" b="1" dirty="0"/>
            <a:t>OLTP</a:t>
          </a:r>
          <a:endParaRPr lang="zh-CN" altLang="en-US" sz="2800" b="1" dirty="0"/>
        </a:p>
      </dgm:t>
    </dgm:pt>
    <dgm:pt modelId="{4ECE365B-F3C1-2243-9DCA-1D170BE8908B}" type="sibTrans" cxnId="{6A25FB9C-8553-304A-AFED-B11F989F1738}">
      <dgm:prSet/>
      <dgm:spPr/>
      <dgm:t>
        <a:bodyPr/>
        <a:lstStyle/>
        <a:p>
          <a:endParaRPr lang="zh-CN" altLang="en-US" sz="2800" b="1"/>
        </a:p>
      </dgm:t>
    </dgm:pt>
    <dgm:pt modelId="{11C42607-0203-0545-8AE9-71D2812358BD}" type="parTrans" cxnId="{6A25FB9C-8553-304A-AFED-B11F989F1738}">
      <dgm:prSet/>
      <dgm:spPr/>
      <dgm:t>
        <a:bodyPr/>
        <a:lstStyle/>
        <a:p>
          <a:endParaRPr lang="zh-CN" altLang="en-US" sz="2800" b="1"/>
        </a:p>
      </dgm:t>
    </dgm:pt>
    <dgm:pt modelId="{F3745A82-4D42-444D-939B-FDB5D6A25F60}">
      <dgm:prSet phldrT="[文本]" custT="1"/>
      <dgm:spPr>
        <a:solidFill>
          <a:srgbClr val="0070C0"/>
        </a:solidFill>
      </dgm:spPr>
      <dgm:t>
        <a:bodyPr/>
        <a:lstStyle/>
        <a:p>
          <a:r>
            <a:rPr lang="en-US" altLang="zh-CN" sz="2800" b="1" dirty="0"/>
            <a:t>OLAP</a:t>
          </a:r>
          <a:endParaRPr lang="zh-CN" altLang="en-US" sz="2800" b="1" dirty="0"/>
        </a:p>
      </dgm:t>
    </dgm:pt>
    <dgm:pt modelId="{5C2FB528-52FE-0A43-9D21-10E20F7CA7F1}" type="sibTrans" cxnId="{8E4D4973-FE26-6841-837A-B9EC485A0BA9}">
      <dgm:prSet/>
      <dgm:spPr/>
      <dgm:t>
        <a:bodyPr/>
        <a:lstStyle/>
        <a:p>
          <a:endParaRPr lang="zh-CN" altLang="en-US" sz="2800" b="1"/>
        </a:p>
      </dgm:t>
    </dgm:pt>
    <dgm:pt modelId="{A88E2082-1D3C-5E42-A0D6-8578BB738509}" type="parTrans" cxnId="{8E4D4973-FE26-6841-837A-B9EC485A0BA9}">
      <dgm:prSet/>
      <dgm:spPr/>
      <dgm:t>
        <a:bodyPr/>
        <a:lstStyle/>
        <a:p>
          <a:endParaRPr lang="zh-CN" altLang="en-US" sz="2800" b="1"/>
        </a:p>
      </dgm:t>
    </dgm:pt>
    <dgm:pt modelId="{565AD17A-A991-3E44-85AB-04784BB76C5C}">
      <dgm:prSet phldrT="[文本]" custT="1"/>
      <dgm:spPr>
        <a:solidFill>
          <a:srgbClr val="0070C0"/>
        </a:solidFill>
      </dgm:spPr>
      <dgm:t>
        <a:bodyPr/>
        <a:lstStyle/>
        <a:p>
          <a:r>
            <a:rPr lang="en-US" altLang="zh-CN" sz="2800" b="1" dirty="0"/>
            <a:t>OLTP+OLAP</a:t>
          </a:r>
          <a:endParaRPr lang="zh-CN" altLang="en-US" sz="2800" b="1" dirty="0"/>
        </a:p>
      </dgm:t>
    </dgm:pt>
    <dgm:pt modelId="{C1A230A6-28FE-814A-BCEF-81B3AACECD24}" type="sibTrans" cxnId="{8841AF45-0FCE-3049-8246-E6DAD90CD6AA}">
      <dgm:prSet/>
      <dgm:spPr/>
      <dgm:t>
        <a:bodyPr/>
        <a:lstStyle/>
        <a:p>
          <a:endParaRPr lang="zh-CN" altLang="en-US" sz="2800" b="1"/>
        </a:p>
      </dgm:t>
    </dgm:pt>
    <dgm:pt modelId="{E2E900D5-754F-D943-9135-7E4AED5384E1}" type="parTrans" cxnId="{8841AF45-0FCE-3049-8246-E6DAD90CD6AA}">
      <dgm:prSet/>
      <dgm:spPr/>
      <dgm:t>
        <a:bodyPr/>
        <a:lstStyle/>
        <a:p>
          <a:endParaRPr lang="zh-CN" altLang="en-US" sz="2800" b="1"/>
        </a:p>
      </dgm:t>
    </dgm:pt>
    <dgm:pt modelId="{2FE646F9-E053-5348-96C8-384EBDB3D72B}">
      <dgm:prSet phldrT="[文本]" custT="1"/>
      <dgm:spPr>
        <a:solidFill>
          <a:srgbClr val="0070C0"/>
        </a:solidFill>
      </dgm:spPr>
      <dgm:t>
        <a:bodyPr/>
        <a:lstStyle/>
        <a:p>
          <a:r>
            <a:rPr lang="en-US" altLang="zh-CN" sz="2800" b="1" dirty="0"/>
            <a:t>HTAP</a:t>
          </a:r>
          <a:endParaRPr lang="zh-CN" altLang="en-US" sz="2800" b="1" dirty="0"/>
        </a:p>
      </dgm:t>
    </dgm:pt>
    <dgm:pt modelId="{D29239D6-7296-9146-A34C-D12E16663178}" type="parTrans" cxnId="{B755A509-D9E5-0343-8A0B-133ED2AE0676}">
      <dgm:prSet/>
      <dgm:spPr/>
      <dgm:t>
        <a:bodyPr/>
        <a:lstStyle/>
        <a:p>
          <a:endParaRPr lang="zh-CN" altLang="en-US" sz="2800"/>
        </a:p>
      </dgm:t>
    </dgm:pt>
    <dgm:pt modelId="{7F148EEE-C92C-324D-BF95-C7FA9D2FED86}" type="sibTrans" cxnId="{B755A509-D9E5-0343-8A0B-133ED2AE0676}">
      <dgm:prSet/>
      <dgm:spPr/>
      <dgm:t>
        <a:bodyPr/>
        <a:lstStyle/>
        <a:p>
          <a:endParaRPr lang="zh-CN" altLang="en-US" sz="2800"/>
        </a:p>
      </dgm:t>
    </dgm:pt>
    <dgm:pt modelId="{62FD3055-CD17-324E-BDED-3AE7D730D9AA}" type="pres">
      <dgm:prSet presAssocID="{999649A5-C646-B74F-BF3B-4D0D524D04E0}" presName="Name0" presStyleCnt="0">
        <dgm:presLayoutVars>
          <dgm:dir/>
          <dgm:animLvl val="lvl"/>
          <dgm:resizeHandles val="exact"/>
        </dgm:presLayoutVars>
      </dgm:prSet>
      <dgm:spPr/>
    </dgm:pt>
    <dgm:pt modelId="{C285469C-28F8-4243-92EB-37948C95562E}" type="pres">
      <dgm:prSet presAssocID="{4FCC7E81-4CB6-0F47-B039-A58F5F7E78F4}" presName="parTxOnly" presStyleLbl="node1" presStyleIdx="0" presStyleCnt="4" custScaleX="66961">
        <dgm:presLayoutVars>
          <dgm:chMax val="0"/>
          <dgm:chPref val="0"/>
          <dgm:bulletEnabled val="1"/>
        </dgm:presLayoutVars>
      </dgm:prSet>
      <dgm:spPr/>
    </dgm:pt>
    <dgm:pt modelId="{CCAB7A1F-E585-DC48-9E67-0C65CC715DE9}" type="pres">
      <dgm:prSet presAssocID="{4ECE365B-F3C1-2243-9DCA-1D170BE8908B}" presName="parTxOnlySpace" presStyleCnt="0"/>
      <dgm:spPr/>
    </dgm:pt>
    <dgm:pt modelId="{B6AA4060-87E9-5F4D-BC40-DE052D78AFA1}" type="pres">
      <dgm:prSet presAssocID="{F3745A82-4D42-444D-939B-FDB5D6A25F60}" presName="parTxOnly" presStyleLbl="node1" presStyleIdx="1" presStyleCnt="4" custScaleX="97353">
        <dgm:presLayoutVars>
          <dgm:chMax val="0"/>
          <dgm:chPref val="0"/>
          <dgm:bulletEnabled val="1"/>
        </dgm:presLayoutVars>
      </dgm:prSet>
      <dgm:spPr/>
    </dgm:pt>
    <dgm:pt modelId="{6D8BC36F-C882-1A48-80B9-5E60694F25DA}" type="pres">
      <dgm:prSet presAssocID="{5C2FB528-52FE-0A43-9D21-10E20F7CA7F1}" presName="parTxOnlySpace" presStyleCnt="0"/>
      <dgm:spPr/>
    </dgm:pt>
    <dgm:pt modelId="{D228FBC0-6C0F-D246-BF84-04997F690EA0}" type="pres">
      <dgm:prSet presAssocID="{565AD17A-A991-3E44-85AB-04784BB76C5C}" presName="parTxOnly" presStyleLbl="node1" presStyleIdx="2" presStyleCnt="4">
        <dgm:presLayoutVars>
          <dgm:chMax val="0"/>
          <dgm:chPref val="0"/>
          <dgm:bulletEnabled val="1"/>
        </dgm:presLayoutVars>
      </dgm:prSet>
      <dgm:spPr/>
    </dgm:pt>
    <dgm:pt modelId="{61384B67-C4D3-C641-BD58-58D1C78C2A89}" type="pres">
      <dgm:prSet presAssocID="{C1A230A6-28FE-814A-BCEF-81B3AACECD24}" presName="parTxOnlySpace" presStyleCnt="0"/>
      <dgm:spPr/>
    </dgm:pt>
    <dgm:pt modelId="{FDF80410-44B9-914E-80FE-CD05B58C35D5}" type="pres">
      <dgm:prSet presAssocID="{2FE646F9-E053-5348-96C8-384EBDB3D72B}" presName="parTxOnly" presStyleLbl="node1" presStyleIdx="3" presStyleCnt="4">
        <dgm:presLayoutVars>
          <dgm:chMax val="0"/>
          <dgm:chPref val="0"/>
          <dgm:bulletEnabled val="1"/>
        </dgm:presLayoutVars>
      </dgm:prSet>
      <dgm:spPr/>
    </dgm:pt>
  </dgm:ptLst>
  <dgm:cxnLst>
    <dgm:cxn modelId="{E4F8EE01-00D5-DA4F-8415-3AB261C5262A}" type="presOf" srcId="{F3745A82-4D42-444D-939B-FDB5D6A25F60}" destId="{B6AA4060-87E9-5F4D-BC40-DE052D78AFA1}" srcOrd="0" destOrd="0" presId="urn:microsoft.com/office/officeart/2005/8/layout/chevron1"/>
    <dgm:cxn modelId="{F773C002-BE2F-3042-9ABE-1E94FBE01195}" type="presOf" srcId="{2FE646F9-E053-5348-96C8-384EBDB3D72B}" destId="{FDF80410-44B9-914E-80FE-CD05B58C35D5}" srcOrd="0" destOrd="0" presId="urn:microsoft.com/office/officeart/2005/8/layout/chevron1"/>
    <dgm:cxn modelId="{B755A509-D9E5-0343-8A0B-133ED2AE0676}" srcId="{999649A5-C646-B74F-BF3B-4D0D524D04E0}" destId="{2FE646F9-E053-5348-96C8-384EBDB3D72B}" srcOrd="3" destOrd="0" parTransId="{D29239D6-7296-9146-A34C-D12E16663178}" sibTransId="{7F148EEE-C92C-324D-BF95-C7FA9D2FED86}"/>
    <dgm:cxn modelId="{8841AF45-0FCE-3049-8246-E6DAD90CD6AA}" srcId="{999649A5-C646-B74F-BF3B-4D0D524D04E0}" destId="{565AD17A-A991-3E44-85AB-04784BB76C5C}" srcOrd="2" destOrd="0" parTransId="{E2E900D5-754F-D943-9135-7E4AED5384E1}" sibTransId="{C1A230A6-28FE-814A-BCEF-81B3AACECD24}"/>
    <dgm:cxn modelId="{5EFFB95F-5F42-4846-BED8-810EDB8ACA17}" type="presOf" srcId="{4FCC7E81-4CB6-0F47-B039-A58F5F7E78F4}" destId="{C285469C-28F8-4243-92EB-37948C95562E}" srcOrd="0" destOrd="0" presId="urn:microsoft.com/office/officeart/2005/8/layout/chevron1"/>
    <dgm:cxn modelId="{8E4D4973-FE26-6841-837A-B9EC485A0BA9}" srcId="{999649A5-C646-B74F-BF3B-4D0D524D04E0}" destId="{F3745A82-4D42-444D-939B-FDB5D6A25F60}" srcOrd="1" destOrd="0" parTransId="{A88E2082-1D3C-5E42-A0D6-8578BB738509}" sibTransId="{5C2FB528-52FE-0A43-9D21-10E20F7CA7F1}"/>
    <dgm:cxn modelId="{6A25FB9C-8553-304A-AFED-B11F989F1738}" srcId="{999649A5-C646-B74F-BF3B-4D0D524D04E0}" destId="{4FCC7E81-4CB6-0F47-B039-A58F5F7E78F4}" srcOrd="0" destOrd="0" parTransId="{11C42607-0203-0545-8AE9-71D2812358BD}" sibTransId="{4ECE365B-F3C1-2243-9DCA-1D170BE8908B}"/>
    <dgm:cxn modelId="{1E45A3B1-3F2E-644E-B2C1-A98BDBB31EC4}" type="presOf" srcId="{999649A5-C646-B74F-BF3B-4D0D524D04E0}" destId="{62FD3055-CD17-324E-BDED-3AE7D730D9AA}" srcOrd="0" destOrd="0" presId="urn:microsoft.com/office/officeart/2005/8/layout/chevron1"/>
    <dgm:cxn modelId="{563BF6F7-2791-BF40-A1C6-DB9D7E150A7E}" type="presOf" srcId="{565AD17A-A991-3E44-85AB-04784BB76C5C}" destId="{D228FBC0-6C0F-D246-BF84-04997F690EA0}" srcOrd="0" destOrd="0" presId="urn:microsoft.com/office/officeart/2005/8/layout/chevron1"/>
    <dgm:cxn modelId="{7196615F-8B46-8B4D-9601-D902F9406D83}" type="presParOf" srcId="{62FD3055-CD17-324E-BDED-3AE7D730D9AA}" destId="{C285469C-28F8-4243-92EB-37948C95562E}" srcOrd="0" destOrd="0" presId="urn:microsoft.com/office/officeart/2005/8/layout/chevron1"/>
    <dgm:cxn modelId="{FC205400-2527-5244-A132-378CCD91061E}" type="presParOf" srcId="{62FD3055-CD17-324E-BDED-3AE7D730D9AA}" destId="{CCAB7A1F-E585-DC48-9E67-0C65CC715DE9}" srcOrd="1" destOrd="0" presId="urn:microsoft.com/office/officeart/2005/8/layout/chevron1"/>
    <dgm:cxn modelId="{812FE842-6C30-004A-A19F-E664053F5FC7}" type="presParOf" srcId="{62FD3055-CD17-324E-BDED-3AE7D730D9AA}" destId="{B6AA4060-87E9-5F4D-BC40-DE052D78AFA1}" srcOrd="2" destOrd="0" presId="urn:microsoft.com/office/officeart/2005/8/layout/chevron1"/>
    <dgm:cxn modelId="{F85AC56C-0BA9-F849-8F68-0E34E7C214F2}" type="presParOf" srcId="{62FD3055-CD17-324E-BDED-3AE7D730D9AA}" destId="{6D8BC36F-C882-1A48-80B9-5E60694F25DA}" srcOrd="3" destOrd="0" presId="urn:microsoft.com/office/officeart/2005/8/layout/chevron1"/>
    <dgm:cxn modelId="{258D4E5A-5907-BA4E-A7F0-16E9B03D5884}" type="presParOf" srcId="{62FD3055-CD17-324E-BDED-3AE7D730D9AA}" destId="{D228FBC0-6C0F-D246-BF84-04997F690EA0}" srcOrd="4" destOrd="0" presId="urn:microsoft.com/office/officeart/2005/8/layout/chevron1"/>
    <dgm:cxn modelId="{2F00C435-2F92-5F49-94C1-AA338EF03FA4}" type="presParOf" srcId="{62FD3055-CD17-324E-BDED-3AE7D730D9AA}" destId="{61384B67-C4D3-C641-BD58-58D1C78C2A89}" srcOrd="5" destOrd="0" presId="urn:microsoft.com/office/officeart/2005/8/layout/chevron1"/>
    <dgm:cxn modelId="{5DFA62D1-18BF-1441-A9B8-3427B38DE0EC}" type="presParOf" srcId="{62FD3055-CD17-324E-BDED-3AE7D730D9AA}" destId="{FDF80410-44B9-914E-80FE-CD05B58C35D5}" srcOrd="6" destOrd="0" presId="urn:microsoft.com/office/officeart/2005/8/layout/chevron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99649A5-C646-B74F-BF3B-4D0D524D04E0}" type="doc">
      <dgm:prSet loTypeId="urn:microsoft.com/office/officeart/2005/8/layout/chevron1" loCatId="" qsTypeId="urn:microsoft.com/office/officeart/2005/8/quickstyle/simple1" qsCatId="simple" csTypeId="urn:microsoft.com/office/officeart/2005/8/colors/accent5_2" csCatId="accent5" phldr="1"/>
      <dgm:spPr/>
    </dgm:pt>
    <dgm:pt modelId="{4FCC7E81-4CB6-0F47-B039-A58F5F7E78F4}">
      <dgm:prSet phldrT="[文本]" custT="1"/>
      <dgm:spPr>
        <a:solidFill>
          <a:srgbClr val="0070C0"/>
        </a:solidFill>
      </dgm:spPr>
      <dgm:t>
        <a:bodyPr/>
        <a:lstStyle/>
        <a:p>
          <a:r>
            <a:rPr lang="zh-CN" altLang="en-US" sz="2800" b="1" dirty="0"/>
            <a:t>阶段一</a:t>
          </a:r>
        </a:p>
      </dgm:t>
    </dgm:pt>
    <dgm:pt modelId="{4ECE365B-F3C1-2243-9DCA-1D170BE8908B}" type="sibTrans" cxnId="{6A25FB9C-8553-304A-AFED-B11F989F1738}">
      <dgm:prSet/>
      <dgm:spPr/>
      <dgm:t>
        <a:bodyPr/>
        <a:lstStyle/>
        <a:p>
          <a:endParaRPr lang="zh-CN" altLang="en-US" sz="2800" b="1"/>
        </a:p>
      </dgm:t>
    </dgm:pt>
    <dgm:pt modelId="{11C42607-0203-0545-8AE9-71D2812358BD}" type="parTrans" cxnId="{6A25FB9C-8553-304A-AFED-B11F989F1738}">
      <dgm:prSet/>
      <dgm:spPr/>
      <dgm:t>
        <a:bodyPr/>
        <a:lstStyle/>
        <a:p>
          <a:endParaRPr lang="zh-CN" altLang="en-US" sz="2800" b="1"/>
        </a:p>
      </dgm:t>
    </dgm:pt>
    <dgm:pt modelId="{F3745A82-4D42-444D-939B-FDB5D6A25F60}">
      <dgm:prSet phldrT="[文本]" custT="1"/>
      <dgm:spPr>
        <a:solidFill>
          <a:srgbClr val="0070C0"/>
        </a:solidFill>
      </dgm:spPr>
      <dgm:t>
        <a:bodyPr/>
        <a:lstStyle/>
        <a:p>
          <a:r>
            <a:rPr lang="zh-CN" altLang="en-US" sz="2800" b="1" dirty="0"/>
            <a:t>阶段二</a:t>
          </a:r>
        </a:p>
      </dgm:t>
    </dgm:pt>
    <dgm:pt modelId="{5C2FB528-52FE-0A43-9D21-10E20F7CA7F1}" type="sibTrans" cxnId="{8E4D4973-FE26-6841-837A-B9EC485A0BA9}">
      <dgm:prSet/>
      <dgm:spPr/>
      <dgm:t>
        <a:bodyPr/>
        <a:lstStyle/>
        <a:p>
          <a:endParaRPr lang="zh-CN" altLang="en-US" sz="2800" b="1"/>
        </a:p>
      </dgm:t>
    </dgm:pt>
    <dgm:pt modelId="{A88E2082-1D3C-5E42-A0D6-8578BB738509}" type="parTrans" cxnId="{8E4D4973-FE26-6841-837A-B9EC485A0BA9}">
      <dgm:prSet/>
      <dgm:spPr/>
      <dgm:t>
        <a:bodyPr/>
        <a:lstStyle/>
        <a:p>
          <a:endParaRPr lang="zh-CN" altLang="en-US" sz="2800" b="1"/>
        </a:p>
      </dgm:t>
    </dgm:pt>
    <dgm:pt modelId="{565AD17A-A991-3E44-85AB-04784BB76C5C}">
      <dgm:prSet phldrT="[文本]" custT="1"/>
      <dgm:spPr>
        <a:solidFill>
          <a:srgbClr val="0070C0"/>
        </a:solidFill>
      </dgm:spPr>
      <dgm:t>
        <a:bodyPr/>
        <a:lstStyle/>
        <a:p>
          <a:r>
            <a:rPr lang="zh-CN" altLang="en-US" sz="2800" b="1" dirty="0"/>
            <a:t>阶段三</a:t>
          </a:r>
        </a:p>
      </dgm:t>
    </dgm:pt>
    <dgm:pt modelId="{C1A230A6-28FE-814A-BCEF-81B3AACECD24}" type="sibTrans" cxnId="{8841AF45-0FCE-3049-8246-E6DAD90CD6AA}">
      <dgm:prSet/>
      <dgm:spPr/>
      <dgm:t>
        <a:bodyPr/>
        <a:lstStyle/>
        <a:p>
          <a:endParaRPr lang="zh-CN" altLang="en-US" sz="2800" b="1"/>
        </a:p>
      </dgm:t>
    </dgm:pt>
    <dgm:pt modelId="{E2E900D5-754F-D943-9135-7E4AED5384E1}" type="parTrans" cxnId="{8841AF45-0FCE-3049-8246-E6DAD90CD6AA}">
      <dgm:prSet/>
      <dgm:spPr/>
      <dgm:t>
        <a:bodyPr/>
        <a:lstStyle/>
        <a:p>
          <a:endParaRPr lang="zh-CN" altLang="en-US" sz="2800" b="1"/>
        </a:p>
      </dgm:t>
    </dgm:pt>
    <dgm:pt modelId="{2FE646F9-E053-5348-96C8-384EBDB3D72B}">
      <dgm:prSet phldrT="[文本]" custT="1"/>
      <dgm:spPr>
        <a:solidFill>
          <a:srgbClr val="0070C0"/>
        </a:solidFill>
      </dgm:spPr>
      <dgm:t>
        <a:bodyPr/>
        <a:lstStyle/>
        <a:p>
          <a:r>
            <a:rPr lang="zh-CN" altLang="en-US" sz="2800" b="1" dirty="0"/>
            <a:t>阶段四</a:t>
          </a:r>
        </a:p>
      </dgm:t>
    </dgm:pt>
    <dgm:pt modelId="{D29239D6-7296-9146-A34C-D12E16663178}" type="parTrans" cxnId="{B755A509-D9E5-0343-8A0B-133ED2AE0676}">
      <dgm:prSet/>
      <dgm:spPr/>
      <dgm:t>
        <a:bodyPr/>
        <a:lstStyle/>
        <a:p>
          <a:endParaRPr lang="zh-CN" altLang="en-US" sz="2800"/>
        </a:p>
      </dgm:t>
    </dgm:pt>
    <dgm:pt modelId="{7F148EEE-C92C-324D-BF95-C7FA9D2FED86}" type="sibTrans" cxnId="{B755A509-D9E5-0343-8A0B-133ED2AE0676}">
      <dgm:prSet/>
      <dgm:spPr/>
      <dgm:t>
        <a:bodyPr/>
        <a:lstStyle/>
        <a:p>
          <a:endParaRPr lang="zh-CN" altLang="en-US" sz="2800"/>
        </a:p>
      </dgm:t>
    </dgm:pt>
    <dgm:pt modelId="{62FD3055-CD17-324E-BDED-3AE7D730D9AA}" type="pres">
      <dgm:prSet presAssocID="{999649A5-C646-B74F-BF3B-4D0D524D04E0}" presName="Name0" presStyleCnt="0">
        <dgm:presLayoutVars>
          <dgm:dir/>
          <dgm:animLvl val="lvl"/>
          <dgm:resizeHandles val="exact"/>
        </dgm:presLayoutVars>
      </dgm:prSet>
      <dgm:spPr/>
    </dgm:pt>
    <dgm:pt modelId="{C285469C-28F8-4243-92EB-37948C95562E}" type="pres">
      <dgm:prSet presAssocID="{4FCC7E81-4CB6-0F47-B039-A58F5F7E78F4}" presName="parTxOnly" presStyleLbl="node1" presStyleIdx="0" presStyleCnt="4" custScaleX="66961">
        <dgm:presLayoutVars>
          <dgm:chMax val="0"/>
          <dgm:chPref val="0"/>
          <dgm:bulletEnabled val="1"/>
        </dgm:presLayoutVars>
      </dgm:prSet>
      <dgm:spPr/>
    </dgm:pt>
    <dgm:pt modelId="{CCAB7A1F-E585-DC48-9E67-0C65CC715DE9}" type="pres">
      <dgm:prSet presAssocID="{4ECE365B-F3C1-2243-9DCA-1D170BE8908B}" presName="parTxOnlySpace" presStyleCnt="0"/>
      <dgm:spPr/>
    </dgm:pt>
    <dgm:pt modelId="{B6AA4060-87E9-5F4D-BC40-DE052D78AFA1}" type="pres">
      <dgm:prSet presAssocID="{F3745A82-4D42-444D-939B-FDB5D6A25F60}" presName="parTxOnly" presStyleLbl="node1" presStyleIdx="1" presStyleCnt="4" custScaleX="97353">
        <dgm:presLayoutVars>
          <dgm:chMax val="0"/>
          <dgm:chPref val="0"/>
          <dgm:bulletEnabled val="1"/>
        </dgm:presLayoutVars>
      </dgm:prSet>
      <dgm:spPr/>
    </dgm:pt>
    <dgm:pt modelId="{6D8BC36F-C882-1A48-80B9-5E60694F25DA}" type="pres">
      <dgm:prSet presAssocID="{5C2FB528-52FE-0A43-9D21-10E20F7CA7F1}" presName="parTxOnlySpace" presStyleCnt="0"/>
      <dgm:spPr/>
    </dgm:pt>
    <dgm:pt modelId="{D228FBC0-6C0F-D246-BF84-04997F690EA0}" type="pres">
      <dgm:prSet presAssocID="{565AD17A-A991-3E44-85AB-04784BB76C5C}" presName="parTxOnly" presStyleLbl="node1" presStyleIdx="2" presStyleCnt="4">
        <dgm:presLayoutVars>
          <dgm:chMax val="0"/>
          <dgm:chPref val="0"/>
          <dgm:bulletEnabled val="1"/>
        </dgm:presLayoutVars>
      </dgm:prSet>
      <dgm:spPr/>
    </dgm:pt>
    <dgm:pt modelId="{61384B67-C4D3-C641-BD58-58D1C78C2A89}" type="pres">
      <dgm:prSet presAssocID="{C1A230A6-28FE-814A-BCEF-81B3AACECD24}" presName="parTxOnlySpace" presStyleCnt="0"/>
      <dgm:spPr/>
    </dgm:pt>
    <dgm:pt modelId="{FDF80410-44B9-914E-80FE-CD05B58C35D5}" type="pres">
      <dgm:prSet presAssocID="{2FE646F9-E053-5348-96C8-384EBDB3D72B}" presName="parTxOnly" presStyleLbl="node1" presStyleIdx="3" presStyleCnt="4">
        <dgm:presLayoutVars>
          <dgm:chMax val="0"/>
          <dgm:chPref val="0"/>
          <dgm:bulletEnabled val="1"/>
        </dgm:presLayoutVars>
      </dgm:prSet>
      <dgm:spPr/>
    </dgm:pt>
  </dgm:ptLst>
  <dgm:cxnLst>
    <dgm:cxn modelId="{E4F8EE01-00D5-DA4F-8415-3AB261C5262A}" type="presOf" srcId="{F3745A82-4D42-444D-939B-FDB5D6A25F60}" destId="{B6AA4060-87E9-5F4D-BC40-DE052D78AFA1}" srcOrd="0" destOrd="0" presId="urn:microsoft.com/office/officeart/2005/8/layout/chevron1"/>
    <dgm:cxn modelId="{F773C002-BE2F-3042-9ABE-1E94FBE01195}" type="presOf" srcId="{2FE646F9-E053-5348-96C8-384EBDB3D72B}" destId="{FDF80410-44B9-914E-80FE-CD05B58C35D5}" srcOrd="0" destOrd="0" presId="urn:microsoft.com/office/officeart/2005/8/layout/chevron1"/>
    <dgm:cxn modelId="{B755A509-D9E5-0343-8A0B-133ED2AE0676}" srcId="{999649A5-C646-B74F-BF3B-4D0D524D04E0}" destId="{2FE646F9-E053-5348-96C8-384EBDB3D72B}" srcOrd="3" destOrd="0" parTransId="{D29239D6-7296-9146-A34C-D12E16663178}" sibTransId="{7F148EEE-C92C-324D-BF95-C7FA9D2FED86}"/>
    <dgm:cxn modelId="{8841AF45-0FCE-3049-8246-E6DAD90CD6AA}" srcId="{999649A5-C646-B74F-BF3B-4D0D524D04E0}" destId="{565AD17A-A991-3E44-85AB-04784BB76C5C}" srcOrd="2" destOrd="0" parTransId="{E2E900D5-754F-D943-9135-7E4AED5384E1}" sibTransId="{C1A230A6-28FE-814A-BCEF-81B3AACECD24}"/>
    <dgm:cxn modelId="{5EFFB95F-5F42-4846-BED8-810EDB8ACA17}" type="presOf" srcId="{4FCC7E81-4CB6-0F47-B039-A58F5F7E78F4}" destId="{C285469C-28F8-4243-92EB-37948C95562E}" srcOrd="0" destOrd="0" presId="urn:microsoft.com/office/officeart/2005/8/layout/chevron1"/>
    <dgm:cxn modelId="{8E4D4973-FE26-6841-837A-B9EC485A0BA9}" srcId="{999649A5-C646-B74F-BF3B-4D0D524D04E0}" destId="{F3745A82-4D42-444D-939B-FDB5D6A25F60}" srcOrd="1" destOrd="0" parTransId="{A88E2082-1D3C-5E42-A0D6-8578BB738509}" sibTransId="{5C2FB528-52FE-0A43-9D21-10E20F7CA7F1}"/>
    <dgm:cxn modelId="{6A25FB9C-8553-304A-AFED-B11F989F1738}" srcId="{999649A5-C646-B74F-BF3B-4D0D524D04E0}" destId="{4FCC7E81-4CB6-0F47-B039-A58F5F7E78F4}" srcOrd="0" destOrd="0" parTransId="{11C42607-0203-0545-8AE9-71D2812358BD}" sibTransId="{4ECE365B-F3C1-2243-9DCA-1D170BE8908B}"/>
    <dgm:cxn modelId="{1E45A3B1-3F2E-644E-B2C1-A98BDBB31EC4}" type="presOf" srcId="{999649A5-C646-B74F-BF3B-4D0D524D04E0}" destId="{62FD3055-CD17-324E-BDED-3AE7D730D9AA}" srcOrd="0" destOrd="0" presId="urn:microsoft.com/office/officeart/2005/8/layout/chevron1"/>
    <dgm:cxn modelId="{563BF6F7-2791-BF40-A1C6-DB9D7E150A7E}" type="presOf" srcId="{565AD17A-A991-3E44-85AB-04784BB76C5C}" destId="{D228FBC0-6C0F-D246-BF84-04997F690EA0}" srcOrd="0" destOrd="0" presId="urn:microsoft.com/office/officeart/2005/8/layout/chevron1"/>
    <dgm:cxn modelId="{7196615F-8B46-8B4D-9601-D902F9406D83}" type="presParOf" srcId="{62FD3055-CD17-324E-BDED-3AE7D730D9AA}" destId="{C285469C-28F8-4243-92EB-37948C95562E}" srcOrd="0" destOrd="0" presId="urn:microsoft.com/office/officeart/2005/8/layout/chevron1"/>
    <dgm:cxn modelId="{FC205400-2527-5244-A132-378CCD91061E}" type="presParOf" srcId="{62FD3055-CD17-324E-BDED-3AE7D730D9AA}" destId="{CCAB7A1F-E585-DC48-9E67-0C65CC715DE9}" srcOrd="1" destOrd="0" presId="urn:microsoft.com/office/officeart/2005/8/layout/chevron1"/>
    <dgm:cxn modelId="{812FE842-6C30-004A-A19F-E664053F5FC7}" type="presParOf" srcId="{62FD3055-CD17-324E-BDED-3AE7D730D9AA}" destId="{B6AA4060-87E9-5F4D-BC40-DE052D78AFA1}" srcOrd="2" destOrd="0" presId="urn:microsoft.com/office/officeart/2005/8/layout/chevron1"/>
    <dgm:cxn modelId="{F85AC56C-0BA9-F849-8F68-0E34E7C214F2}" type="presParOf" srcId="{62FD3055-CD17-324E-BDED-3AE7D730D9AA}" destId="{6D8BC36F-C882-1A48-80B9-5E60694F25DA}" srcOrd="3" destOrd="0" presId="urn:microsoft.com/office/officeart/2005/8/layout/chevron1"/>
    <dgm:cxn modelId="{258D4E5A-5907-BA4E-A7F0-16E9B03D5884}" type="presParOf" srcId="{62FD3055-CD17-324E-BDED-3AE7D730D9AA}" destId="{D228FBC0-6C0F-D246-BF84-04997F690EA0}" srcOrd="4" destOrd="0" presId="urn:microsoft.com/office/officeart/2005/8/layout/chevron1"/>
    <dgm:cxn modelId="{2F00C435-2F92-5F49-94C1-AA338EF03FA4}" type="presParOf" srcId="{62FD3055-CD17-324E-BDED-3AE7D730D9AA}" destId="{61384B67-C4D3-C641-BD58-58D1C78C2A89}" srcOrd="5" destOrd="0" presId="urn:microsoft.com/office/officeart/2005/8/layout/chevron1"/>
    <dgm:cxn modelId="{5DFA62D1-18BF-1441-A9B8-3427B38DE0EC}" type="presParOf" srcId="{62FD3055-CD17-324E-BDED-3AE7D730D9AA}" destId="{FDF80410-44B9-914E-80FE-CD05B58C35D5}" srcOrd="6" destOrd="0" presId="urn:microsoft.com/office/officeart/2005/8/layout/chevron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BD278F6-93A6-164B-BA6F-BFDF686550AC}" type="doc">
      <dgm:prSet loTypeId="urn:microsoft.com/office/officeart/2005/8/layout/cycle4" loCatId="" qsTypeId="urn:microsoft.com/office/officeart/2005/8/quickstyle/simple1" qsCatId="simple" csTypeId="urn:microsoft.com/office/officeart/2005/8/colors/accent1_2" csCatId="accent1" phldr="1"/>
      <dgm:spPr/>
      <dgm:t>
        <a:bodyPr/>
        <a:lstStyle/>
        <a:p>
          <a:endParaRPr lang="zh-CN" altLang="en-US"/>
        </a:p>
      </dgm:t>
    </dgm:pt>
    <dgm:pt modelId="{6534F85D-9CBD-7E42-9387-F590EAD02505}">
      <dgm:prSet phldrT="[文本]" custT="1"/>
      <dgm:spPr/>
      <dgm:t>
        <a:bodyPr/>
        <a:lstStyle/>
        <a:p>
          <a:pPr algn="ctr"/>
          <a:endParaRPr lang="zh-CN" altLang="en-US" sz="4000" dirty="0"/>
        </a:p>
      </dgm:t>
    </dgm:pt>
    <dgm:pt modelId="{5741C8C0-31E5-AB46-BF32-CB6CD9502248}" type="sibTrans" cxnId="{78E9C35A-9A0F-3A4E-B536-5917D553B2F5}">
      <dgm:prSet/>
      <dgm:spPr/>
      <dgm:t>
        <a:bodyPr/>
        <a:lstStyle/>
        <a:p>
          <a:endParaRPr lang="zh-CN" altLang="en-US" sz="2400"/>
        </a:p>
      </dgm:t>
    </dgm:pt>
    <dgm:pt modelId="{AF6DF014-5FBD-DC41-81FB-6970378BF467}" type="parTrans" cxnId="{78E9C35A-9A0F-3A4E-B536-5917D553B2F5}">
      <dgm:prSet/>
      <dgm:spPr/>
      <dgm:t>
        <a:bodyPr/>
        <a:lstStyle/>
        <a:p>
          <a:endParaRPr lang="zh-CN" altLang="en-US" sz="2400"/>
        </a:p>
      </dgm:t>
    </dgm:pt>
    <dgm:pt modelId="{097C4925-26E3-1940-AD72-64621A36914D}">
      <dgm:prSet phldrT="[文本]" custT="1"/>
      <dgm:spPr/>
      <dgm:t>
        <a:bodyPr/>
        <a:lstStyle/>
        <a:p>
          <a:endParaRPr lang="zh-CN" altLang="en-US" sz="4000" dirty="0"/>
        </a:p>
      </dgm:t>
    </dgm:pt>
    <dgm:pt modelId="{9E94024F-A755-1B4B-9641-63A72C54EE4C}" type="sibTrans" cxnId="{E4B8F207-328D-AB49-B3F8-EF5B641CECD4}">
      <dgm:prSet/>
      <dgm:spPr/>
      <dgm:t>
        <a:bodyPr/>
        <a:lstStyle/>
        <a:p>
          <a:endParaRPr lang="zh-CN" altLang="en-US" sz="2400"/>
        </a:p>
      </dgm:t>
    </dgm:pt>
    <dgm:pt modelId="{BAAC747D-F390-3D48-B4BC-07A066967943}" type="parTrans" cxnId="{E4B8F207-328D-AB49-B3F8-EF5B641CECD4}">
      <dgm:prSet/>
      <dgm:spPr/>
      <dgm:t>
        <a:bodyPr/>
        <a:lstStyle/>
        <a:p>
          <a:endParaRPr lang="zh-CN" altLang="en-US" sz="2400"/>
        </a:p>
      </dgm:t>
    </dgm:pt>
    <dgm:pt modelId="{DE81A884-8687-0A48-8CFD-ECE47FD156E2}">
      <dgm:prSet phldrT="[文本]" custT="1"/>
      <dgm:spPr/>
      <dgm:t>
        <a:bodyPr/>
        <a:lstStyle/>
        <a:p>
          <a:endParaRPr lang="zh-CN" altLang="en-US" sz="4000" dirty="0"/>
        </a:p>
      </dgm:t>
    </dgm:pt>
    <dgm:pt modelId="{3F0AB801-9CEE-8049-9F52-56669A08D727}" type="sibTrans" cxnId="{9915B44F-0137-0D4E-9536-8F53ABAD8E11}">
      <dgm:prSet/>
      <dgm:spPr/>
      <dgm:t>
        <a:bodyPr/>
        <a:lstStyle/>
        <a:p>
          <a:endParaRPr lang="zh-CN" altLang="en-US" sz="2400"/>
        </a:p>
      </dgm:t>
    </dgm:pt>
    <dgm:pt modelId="{FBC1BA56-6E68-3247-9431-6E1010015102}" type="parTrans" cxnId="{9915B44F-0137-0D4E-9536-8F53ABAD8E11}">
      <dgm:prSet/>
      <dgm:spPr/>
      <dgm:t>
        <a:bodyPr/>
        <a:lstStyle/>
        <a:p>
          <a:endParaRPr lang="zh-CN" altLang="en-US" sz="2400"/>
        </a:p>
      </dgm:t>
    </dgm:pt>
    <dgm:pt modelId="{D7C1EB99-9D5F-6D45-A16A-71108A966EBE}">
      <dgm:prSet phldrT="[文本]" custT="1"/>
      <dgm:spPr/>
      <dgm:t>
        <a:bodyPr/>
        <a:lstStyle/>
        <a:p>
          <a:endParaRPr lang="zh-CN" altLang="en-US" sz="4000" b="1" dirty="0">
            <a:latin typeface="SimHei" panose="02010609060101010101" pitchFamily="49" charset="-122"/>
            <a:ea typeface="SimHei" panose="02010609060101010101" pitchFamily="49" charset="-122"/>
          </a:endParaRPr>
        </a:p>
      </dgm:t>
    </dgm:pt>
    <dgm:pt modelId="{82063035-7A7A-8348-B4FC-601F677FB895}" type="sibTrans" cxnId="{60AA9B9E-9B34-B044-8BB0-AA2AFE621447}">
      <dgm:prSet/>
      <dgm:spPr/>
      <dgm:t>
        <a:bodyPr/>
        <a:lstStyle/>
        <a:p>
          <a:endParaRPr lang="zh-CN" altLang="en-US" sz="2400"/>
        </a:p>
      </dgm:t>
    </dgm:pt>
    <dgm:pt modelId="{12A99637-8B30-1F4C-867F-1602F4403AA9}" type="parTrans" cxnId="{60AA9B9E-9B34-B044-8BB0-AA2AFE621447}">
      <dgm:prSet/>
      <dgm:spPr/>
      <dgm:t>
        <a:bodyPr/>
        <a:lstStyle/>
        <a:p>
          <a:endParaRPr lang="zh-CN" altLang="en-US" sz="2400"/>
        </a:p>
      </dgm:t>
    </dgm:pt>
    <dgm:pt modelId="{E01A448A-5A36-A742-84D7-77E6808D1DEC}" type="pres">
      <dgm:prSet presAssocID="{0BD278F6-93A6-164B-BA6F-BFDF686550AC}" presName="cycleMatrixDiagram" presStyleCnt="0">
        <dgm:presLayoutVars>
          <dgm:chMax val="1"/>
          <dgm:dir/>
          <dgm:animLvl val="lvl"/>
          <dgm:resizeHandles val="exact"/>
        </dgm:presLayoutVars>
      </dgm:prSet>
      <dgm:spPr/>
    </dgm:pt>
    <dgm:pt modelId="{5751D17B-0616-7143-BDD7-6164AC2F941C}" type="pres">
      <dgm:prSet presAssocID="{0BD278F6-93A6-164B-BA6F-BFDF686550AC}" presName="children" presStyleCnt="0"/>
      <dgm:spPr/>
    </dgm:pt>
    <dgm:pt modelId="{EDC581D8-8E15-D042-BA6A-EA63EFED4E58}" type="pres">
      <dgm:prSet presAssocID="{0BD278F6-93A6-164B-BA6F-BFDF686550AC}" presName="childPlaceholder" presStyleCnt="0"/>
      <dgm:spPr/>
    </dgm:pt>
    <dgm:pt modelId="{E39E2112-0255-E640-B399-4F98027941E5}" type="pres">
      <dgm:prSet presAssocID="{0BD278F6-93A6-164B-BA6F-BFDF686550AC}" presName="circle" presStyleCnt="0"/>
      <dgm:spPr/>
    </dgm:pt>
    <dgm:pt modelId="{1E0CC874-D97B-3D44-B785-7673F130169F}" type="pres">
      <dgm:prSet presAssocID="{0BD278F6-93A6-164B-BA6F-BFDF686550AC}" presName="quadrant1" presStyleLbl="node1" presStyleIdx="0" presStyleCnt="4">
        <dgm:presLayoutVars>
          <dgm:chMax val="1"/>
          <dgm:bulletEnabled val="1"/>
        </dgm:presLayoutVars>
      </dgm:prSet>
      <dgm:spPr/>
    </dgm:pt>
    <dgm:pt modelId="{37E89316-C11F-B147-9A76-7F60B23FB7C2}" type="pres">
      <dgm:prSet presAssocID="{0BD278F6-93A6-164B-BA6F-BFDF686550AC}" presName="quadrant2" presStyleLbl="node1" presStyleIdx="1" presStyleCnt="4">
        <dgm:presLayoutVars>
          <dgm:chMax val="1"/>
          <dgm:bulletEnabled val="1"/>
        </dgm:presLayoutVars>
      </dgm:prSet>
      <dgm:spPr/>
    </dgm:pt>
    <dgm:pt modelId="{52919525-8CDF-FB42-931C-383FBF745DE1}" type="pres">
      <dgm:prSet presAssocID="{0BD278F6-93A6-164B-BA6F-BFDF686550AC}" presName="quadrant3" presStyleLbl="node1" presStyleIdx="2" presStyleCnt="4">
        <dgm:presLayoutVars>
          <dgm:chMax val="1"/>
          <dgm:bulletEnabled val="1"/>
        </dgm:presLayoutVars>
      </dgm:prSet>
      <dgm:spPr/>
    </dgm:pt>
    <dgm:pt modelId="{E1B22371-8055-074F-B88F-4709DDD3804D}" type="pres">
      <dgm:prSet presAssocID="{0BD278F6-93A6-164B-BA6F-BFDF686550AC}" presName="quadrant4" presStyleLbl="node1" presStyleIdx="3" presStyleCnt="4">
        <dgm:presLayoutVars>
          <dgm:chMax val="1"/>
          <dgm:bulletEnabled val="1"/>
        </dgm:presLayoutVars>
      </dgm:prSet>
      <dgm:spPr/>
    </dgm:pt>
    <dgm:pt modelId="{30DFA4D5-4838-DD42-9EF1-95ACA74EF8DF}" type="pres">
      <dgm:prSet presAssocID="{0BD278F6-93A6-164B-BA6F-BFDF686550AC}" presName="quadrantPlaceholder" presStyleCnt="0"/>
      <dgm:spPr/>
    </dgm:pt>
    <dgm:pt modelId="{FFEC14A9-34A1-F945-9431-1A5A0EC1132F}" type="pres">
      <dgm:prSet presAssocID="{0BD278F6-93A6-164B-BA6F-BFDF686550AC}" presName="center1" presStyleLbl="fgShp" presStyleIdx="0" presStyleCnt="2"/>
      <dgm:spPr/>
    </dgm:pt>
    <dgm:pt modelId="{BF4E4748-9414-FC47-B516-857D7AE6C13B}" type="pres">
      <dgm:prSet presAssocID="{0BD278F6-93A6-164B-BA6F-BFDF686550AC}" presName="center2" presStyleLbl="fgShp" presStyleIdx="1" presStyleCnt="2"/>
      <dgm:spPr/>
    </dgm:pt>
  </dgm:ptLst>
  <dgm:cxnLst>
    <dgm:cxn modelId="{E4B8F207-328D-AB49-B3F8-EF5B641CECD4}" srcId="{0BD278F6-93A6-164B-BA6F-BFDF686550AC}" destId="{097C4925-26E3-1940-AD72-64621A36914D}" srcOrd="1" destOrd="0" parTransId="{BAAC747D-F390-3D48-B4BC-07A066967943}" sibTransId="{9E94024F-A755-1B4B-9641-63A72C54EE4C}"/>
    <dgm:cxn modelId="{CE1FE50C-3703-794D-B36C-4E0C0F2BCB5A}" type="presOf" srcId="{DE81A884-8687-0A48-8CFD-ECE47FD156E2}" destId="{52919525-8CDF-FB42-931C-383FBF745DE1}" srcOrd="0" destOrd="0" presId="urn:microsoft.com/office/officeart/2005/8/layout/cycle4"/>
    <dgm:cxn modelId="{9E5B0A3F-87E4-3544-9A75-FEDCF54A3D27}" type="presOf" srcId="{0BD278F6-93A6-164B-BA6F-BFDF686550AC}" destId="{E01A448A-5A36-A742-84D7-77E6808D1DEC}" srcOrd="0" destOrd="0" presId="urn:microsoft.com/office/officeart/2005/8/layout/cycle4"/>
    <dgm:cxn modelId="{9915B44F-0137-0D4E-9536-8F53ABAD8E11}" srcId="{0BD278F6-93A6-164B-BA6F-BFDF686550AC}" destId="{DE81A884-8687-0A48-8CFD-ECE47FD156E2}" srcOrd="2" destOrd="0" parTransId="{FBC1BA56-6E68-3247-9431-6E1010015102}" sibTransId="{3F0AB801-9CEE-8049-9F52-56669A08D727}"/>
    <dgm:cxn modelId="{78E9C35A-9A0F-3A4E-B536-5917D553B2F5}" srcId="{0BD278F6-93A6-164B-BA6F-BFDF686550AC}" destId="{6534F85D-9CBD-7E42-9387-F590EAD02505}" srcOrd="0" destOrd="0" parTransId="{AF6DF014-5FBD-DC41-81FB-6970378BF467}" sibTransId="{5741C8C0-31E5-AB46-BF32-CB6CD9502248}"/>
    <dgm:cxn modelId="{4BD33F73-807E-C946-ABC7-20626FA00E62}" type="presOf" srcId="{6534F85D-9CBD-7E42-9387-F590EAD02505}" destId="{1E0CC874-D97B-3D44-B785-7673F130169F}" srcOrd="0" destOrd="0" presId="urn:microsoft.com/office/officeart/2005/8/layout/cycle4"/>
    <dgm:cxn modelId="{60AA9B9E-9B34-B044-8BB0-AA2AFE621447}" srcId="{0BD278F6-93A6-164B-BA6F-BFDF686550AC}" destId="{D7C1EB99-9D5F-6D45-A16A-71108A966EBE}" srcOrd="3" destOrd="0" parTransId="{12A99637-8B30-1F4C-867F-1602F4403AA9}" sibTransId="{82063035-7A7A-8348-B4FC-601F677FB895}"/>
    <dgm:cxn modelId="{A8E8F6A9-A8E8-7A4C-A263-DEA536D1D2AD}" type="presOf" srcId="{D7C1EB99-9D5F-6D45-A16A-71108A966EBE}" destId="{E1B22371-8055-074F-B88F-4709DDD3804D}" srcOrd="0" destOrd="0" presId="urn:microsoft.com/office/officeart/2005/8/layout/cycle4"/>
    <dgm:cxn modelId="{A61589CB-EB28-F845-9252-F27E74750945}" type="presOf" srcId="{097C4925-26E3-1940-AD72-64621A36914D}" destId="{37E89316-C11F-B147-9A76-7F60B23FB7C2}" srcOrd="0" destOrd="0" presId="urn:microsoft.com/office/officeart/2005/8/layout/cycle4"/>
    <dgm:cxn modelId="{C4157003-EEAE-B74C-8D87-396038A0E230}" type="presParOf" srcId="{E01A448A-5A36-A742-84D7-77E6808D1DEC}" destId="{5751D17B-0616-7143-BDD7-6164AC2F941C}" srcOrd="0" destOrd="0" presId="urn:microsoft.com/office/officeart/2005/8/layout/cycle4"/>
    <dgm:cxn modelId="{56AD8F7C-ED33-4840-B2DC-4286F5EA6402}" type="presParOf" srcId="{5751D17B-0616-7143-BDD7-6164AC2F941C}" destId="{EDC581D8-8E15-D042-BA6A-EA63EFED4E58}" srcOrd="0" destOrd="0" presId="urn:microsoft.com/office/officeart/2005/8/layout/cycle4"/>
    <dgm:cxn modelId="{E8259E6C-B335-E54A-A79B-5AF463D91A25}" type="presParOf" srcId="{E01A448A-5A36-A742-84D7-77E6808D1DEC}" destId="{E39E2112-0255-E640-B399-4F98027941E5}" srcOrd="1" destOrd="0" presId="urn:microsoft.com/office/officeart/2005/8/layout/cycle4"/>
    <dgm:cxn modelId="{1FCB1435-A649-4A48-B4A0-EE092B19BCA8}" type="presParOf" srcId="{E39E2112-0255-E640-B399-4F98027941E5}" destId="{1E0CC874-D97B-3D44-B785-7673F130169F}" srcOrd="0" destOrd="0" presId="urn:microsoft.com/office/officeart/2005/8/layout/cycle4"/>
    <dgm:cxn modelId="{3B67F4C1-4F63-F546-B293-6B242A50E559}" type="presParOf" srcId="{E39E2112-0255-E640-B399-4F98027941E5}" destId="{37E89316-C11F-B147-9A76-7F60B23FB7C2}" srcOrd="1" destOrd="0" presId="urn:microsoft.com/office/officeart/2005/8/layout/cycle4"/>
    <dgm:cxn modelId="{007F9D30-C882-884C-B8DF-E05E91F74BBF}" type="presParOf" srcId="{E39E2112-0255-E640-B399-4F98027941E5}" destId="{52919525-8CDF-FB42-931C-383FBF745DE1}" srcOrd="2" destOrd="0" presId="urn:microsoft.com/office/officeart/2005/8/layout/cycle4"/>
    <dgm:cxn modelId="{5E0E58E9-F2BD-8D49-A3FD-111EFAD1BA41}" type="presParOf" srcId="{E39E2112-0255-E640-B399-4F98027941E5}" destId="{E1B22371-8055-074F-B88F-4709DDD3804D}" srcOrd="3" destOrd="0" presId="urn:microsoft.com/office/officeart/2005/8/layout/cycle4"/>
    <dgm:cxn modelId="{60D0EE46-5FFB-3347-8190-9A411028D236}" type="presParOf" srcId="{E39E2112-0255-E640-B399-4F98027941E5}" destId="{30DFA4D5-4838-DD42-9EF1-95ACA74EF8DF}" srcOrd="4" destOrd="0" presId="urn:microsoft.com/office/officeart/2005/8/layout/cycle4"/>
    <dgm:cxn modelId="{46FAE148-08D3-1A4E-BD98-C660B97C6D7C}" type="presParOf" srcId="{E01A448A-5A36-A742-84D7-77E6808D1DEC}" destId="{FFEC14A9-34A1-F945-9431-1A5A0EC1132F}" srcOrd="2" destOrd="0" presId="urn:microsoft.com/office/officeart/2005/8/layout/cycle4"/>
    <dgm:cxn modelId="{58EE3C82-3695-3B44-A66D-E20F88C201CD}" type="presParOf" srcId="{E01A448A-5A36-A742-84D7-77E6808D1DEC}" destId="{BF4E4748-9414-FC47-B516-857D7AE6C13B}"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85469C-28F8-4243-92EB-37948C95562E}">
      <dsp:nvSpPr>
        <dsp:cNvPr id="0" name=""/>
        <dsp:cNvSpPr/>
      </dsp:nvSpPr>
      <dsp:spPr>
        <a:xfrm>
          <a:off x="4791" y="0"/>
          <a:ext cx="4002236" cy="559026"/>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t>人工管理</a:t>
          </a:r>
        </a:p>
      </dsp:txBody>
      <dsp:txXfrm>
        <a:off x="284304" y="0"/>
        <a:ext cx="3443210" cy="559026"/>
      </dsp:txXfrm>
    </dsp:sp>
    <dsp:sp modelId="{B6AA4060-87E9-5F4D-BC40-DE052D78AFA1}">
      <dsp:nvSpPr>
        <dsp:cNvPr id="0" name=""/>
        <dsp:cNvSpPr/>
      </dsp:nvSpPr>
      <dsp:spPr>
        <a:xfrm>
          <a:off x="3606803" y="0"/>
          <a:ext cx="4495792" cy="559026"/>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t>文件系统管理</a:t>
          </a:r>
        </a:p>
      </dsp:txBody>
      <dsp:txXfrm>
        <a:off x="3886316" y="0"/>
        <a:ext cx="3936766" cy="559026"/>
      </dsp:txXfrm>
    </dsp:sp>
    <dsp:sp modelId="{D228FBC0-6C0F-D246-BF84-04997F690EA0}">
      <dsp:nvSpPr>
        <dsp:cNvPr id="0" name=""/>
        <dsp:cNvSpPr/>
      </dsp:nvSpPr>
      <dsp:spPr>
        <a:xfrm>
          <a:off x="7702372" y="0"/>
          <a:ext cx="4002236" cy="559026"/>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t>数据库管理</a:t>
          </a:r>
        </a:p>
      </dsp:txBody>
      <dsp:txXfrm>
        <a:off x="7981885" y="0"/>
        <a:ext cx="3443210" cy="5590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85469C-28F8-4243-92EB-37948C95562E}">
      <dsp:nvSpPr>
        <dsp:cNvPr id="0" name=""/>
        <dsp:cNvSpPr/>
      </dsp:nvSpPr>
      <dsp:spPr>
        <a:xfrm>
          <a:off x="5930" y="0"/>
          <a:ext cx="2432385" cy="463015"/>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t>阶段一</a:t>
          </a:r>
        </a:p>
      </dsp:txBody>
      <dsp:txXfrm>
        <a:off x="237438" y="0"/>
        <a:ext cx="1969370" cy="463015"/>
      </dsp:txXfrm>
    </dsp:sp>
    <dsp:sp modelId="{B6AA4060-87E9-5F4D-BC40-DE052D78AFA1}">
      <dsp:nvSpPr>
        <dsp:cNvPr id="0" name=""/>
        <dsp:cNvSpPr/>
      </dsp:nvSpPr>
      <dsp:spPr>
        <a:xfrm>
          <a:off x="2075062" y="0"/>
          <a:ext cx="3536387" cy="463015"/>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t>阶段二</a:t>
          </a:r>
        </a:p>
      </dsp:txBody>
      <dsp:txXfrm>
        <a:off x="2306570" y="0"/>
        <a:ext cx="3073372" cy="463015"/>
      </dsp:txXfrm>
    </dsp:sp>
    <dsp:sp modelId="{D228FBC0-6C0F-D246-BF84-04997F690EA0}">
      <dsp:nvSpPr>
        <dsp:cNvPr id="0" name=""/>
        <dsp:cNvSpPr/>
      </dsp:nvSpPr>
      <dsp:spPr>
        <a:xfrm>
          <a:off x="5248196" y="0"/>
          <a:ext cx="3632541" cy="463015"/>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t>阶段三</a:t>
          </a:r>
        </a:p>
      </dsp:txBody>
      <dsp:txXfrm>
        <a:off x="5479704" y="0"/>
        <a:ext cx="3169526" cy="463015"/>
      </dsp:txXfrm>
    </dsp:sp>
    <dsp:sp modelId="{FDF80410-44B9-914E-80FE-CD05B58C35D5}">
      <dsp:nvSpPr>
        <dsp:cNvPr id="0" name=""/>
        <dsp:cNvSpPr/>
      </dsp:nvSpPr>
      <dsp:spPr>
        <a:xfrm>
          <a:off x="8517483" y="0"/>
          <a:ext cx="3632541" cy="463015"/>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t>阶段四</a:t>
          </a:r>
        </a:p>
      </dsp:txBody>
      <dsp:txXfrm>
        <a:off x="8748991" y="0"/>
        <a:ext cx="3169526" cy="4630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85469C-28F8-4243-92EB-37948C95562E}">
      <dsp:nvSpPr>
        <dsp:cNvPr id="0" name=""/>
        <dsp:cNvSpPr/>
      </dsp:nvSpPr>
      <dsp:spPr>
        <a:xfrm>
          <a:off x="5930" y="0"/>
          <a:ext cx="2432385" cy="463015"/>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US" altLang="zh-CN" sz="2800" b="1" kern="1200" dirty="0"/>
            <a:t>OLTP</a:t>
          </a:r>
          <a:endParaRPr lang="zh-CN" altLang="en-US" sz="2800" b="1" kern="1200" dirty="0"/>
        </a:p>
      </dsp:txBody>
      <dsp:txXfrm>
        <a:off x="237438" y="0"/>
        <a:ext cx="1969370" cy="463015"/>
      </dsp:txXfrm>
    </dsp:sp>
    <dsp:sp modelId="{B6AA4060-87E9-5F4D-BC40-DE052D78AFA1}">
      <dsp:nvSpPr>
        <dsp:cNvPr id="0" name=""/>
        <dsp:cNvSpPr/>
      </dsp:nvSpPr>
      <dsp:spPr>
        <a:xfrm>
          <a:off x="2075062" y="0"/>
          <a:ext cx="3536387" cy="463015"/>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US" altLang="zh-CN" sz="2800" b="1" kern="1200" dirty="0"/>
            <a:t>OLAP</a:t>
          </a:r>
          <a:endParaRPr lang="zh-CN" altLang="en-US" sz="2800" b="1" kern="1200" dirty="0"/>
        </a:p>
      </dsp:txBody>
      <dsp:txXfrm>
        <a:off x="2306570" y="0"/>
        <a:ext cx="3073372" cy="463015"/>
      </dsp:txXfrm>
    </dsp:sp>
    <dsp:sp modelId="{D228FBC0-6C0F-D246-BF84-04997F690EA0}">
      <dsp:nvSpPr>
        <dsp:cNvPr id="0" name=""/>
        <dsp:cNvSpPr/>
      </dsp:nvSpPr>
      <dsp:spPr>
        <a:xfrm>
          <a:off x="5248196" y="0"/>
          <a:ext cx="3632541" cy="463015"/>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US" altLang="zh-CN" sz="2800" b="1" kern="1200" dirty="0"/>
            <a:t>OLTP+OLAP</a:t>
          </a:r>
          <a:endParaRPr lang="zh-CN" altLang="en-US" sz="2800" b="1" kern="1200" dirty="0"/>
        </a:p>
      </dsp:txBody>
      <dsp:txXfrm>
        <a:off x="5479704" y="0"/>
        <a:ext cx="3169526" cy="463015"/>
      </dsp:txXfrm>
    </dsp:sp>
    <dsp:sp modelId="{FDF80410-44B9-914E-80FE-CD05B58C35D5}">
      <dsp:nvSpPr>
        <dsp:cNvPr id="0" name=""/>
        <dsp:cNvSpPr/>
      </dsp:nvSpPr>
      <dsp:spPr>
        <a:xfrm>
          <a:off x="8517483" y="0"/>
          <a:ext cx="3632541" cy="463015"/>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US" altLang="zh-CN" sz="2800" b="1" kern="1200" dirty="0"/>
            <a:t>HTAP</a:t>
          </a:r>
          <a:endParaRPr lang="zh-CN" altLang="en-US" sz="2800" b="1" kern="1200" dirty="0"/>
        </a:p>
      </dsp:txBody>
      <dsp:txXfrm>
        <a:off x="8748991" y="0"/>
        <a:ext cx="3169526" cy="4630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85469C-28F8-4243-92EB-37948C95562E}">
      <dsp:nvSpPr>
        <dsp:cNvPr id="0" name=""/>
        <dsp:cNvSpPr/>
      </dsp:nvSpPr>
      <dsp:spPr>
        <a:xfrm>
          <a:off x="5930" y="0"/>
          <a:ext cx="2432385" cy="463015"/>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t>阶段一</a:t>
          </a:r>
        </a:p>
      </dsp:txBody>
      <dsp:txXfrm>
        <a:off x="237438" y="0"/>
        <a:ext cx="1969370" cy="463015"/>
      </dsp:txXfrm>
    </dsp:sp>
    <dsp:sp modelId="{B6AA4060-87E9-5F4D-BC40-DE052D78AFA1}">
      <dsp:nvSpPr>
        <dsp:cNvPr id="0" name=""/>
        <dsp:cNvSpPr/>
      </dsp:nvSpPr>
      <dsp:spPr>
        <a:xfrm>
          <a:off x="2075062" y="0"/>
          <a:ext cx="3536387" cy="463015"/>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t>阶段二</a:t>
          </a:r>
        </a:p>
      </dsp:txBody>
      <dsp:txXfrm>
        <a:off x="2306570" y="0"/>
        <a:ext cx="3073372" cy="463015"/>
      </dsp:txXfrm>
    </dsp:sp>
    <dsp:sp modelId="{D228FBC0-6C0F-D246-BF84-04997F690EA0}">
      <dsp:nvSpPr>
        <dsp:cNvPr id="0" name=""/>
        <dsp:cNvSpPr/>
      </dsp:nvSpPr>
      <dsp:spPr>
        <a:xfrm>
          <a:off x="5248196" y="0"/>
          <a:ext cx="3632541" cy="463015"/>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t>阶段三</a:t>
          </a:r>
        </a:p>
      </dsp:txBody>
      <dsp:txXfrm>
        <a:off x="5479704" y="0"/>
        <a:ext cx="3169526" cy="463015"/>
      </dsp:txXfrm>
    </dsp:sp>
    <dsp:sp modelId="{FDF80410-44B9-914E-80FE-CD05B58C35D5}">
      <dsp:nvSpPr>
        <dsp:cNvPr id="0" name=""/>
        <dsp:cNvSpPr/>
      </dsp:nvSpPr>
      <dsp:spPr>
        <a:xfrm>
          <a:off x="8517483" y="0"/>
          <a:ext cx="3632541" cy="463015"/>
        </a:xfrm>
        <a:prstGeom prst="chevron">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t>阶段四</a:t>
          </a:r>
        </a:p>
      </dsp:txBody>
      <dsp:txXfrm>
        <a:off x="8748991" y="0"/>
        <a:ext cx="3169526" cy="46301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0CC874-D97B-3D44-B785-7673F130169F}">
      <dsp:nvSpPr>
        <dsp:cNvPr id="0" name=""/>
        <dsp:cNvSpPr/>
      </dsp:nvSpPr>
      <dsp:spPr>
        <a:xfrm>
          <a:off x="2458891" y="308864"/>
          <a:ext cx="2346282" cy="2346282"/>
        </a:xfrm>
        <a:prstGeom prst="pieWedg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284480" rIns="284480" bIns="284480" numCol="1" spcCol="1270" anchor="ctr" anchorCtr="0">
          <a:noAutofit/>
        </a:bodyPr>
        <a:lstStyle/>
        <a:p>
          <a:pPr marL="0" lvl="0" indent="0" algn="ctr" defTabSz="1778000">
            <a:lnSpc>
              <a:spcPct val="90000"/>
            </a:lnSpc>
            <a:spcBef>
              <a:spcPct val="0"/>
            </a:spcBef>
            <a:spcAft>
              <a:spcPct val="35000"/>
            </a:spcAft>
            <a:buNone/>
          </a:pPr>
          <a:endParaRPr lang="zh-CN" altLang="en-US" sz="4000" kern="1200" dirty="0"/>
        </a:p>
      </dsp:txBody>
      <dsp:txXfrm>
        <a:off x="3146101" y="996074"/>
        <a:ext cx="1659072" cy="1659072"/>
      </dsp:txXfrm>
    </dsp:sp>
    <dsp:sp modelId="{37E89316-C11F-B147-9A76-7F60B23FB7C2}">
      <dsp:nvSpPr>
        <dsp:cNvPr id="0" name=""/>
        <dsp:cNvSpPr/>
      </dsp:nvSpPr>
      <dsp:spPr>
        <a:xfrm rot="5400000">
          <a:off x="4913547" y="308864"/>
          <a:ext cx="2346282" cy="2346282"/>
        </a:xfrm>
        <a:prstGeom prst="pieWedg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284480" rIns="284480" bIns="284480" numCol="1" spcCol="1270" anchor="ctr" anchorCtr="0">
          <a:noAutofit/>
        </a:bodyPr>
        <a:lstStyle/>
        <a:p>
          <a:pPr marL="0" lvl="0" indent="0" algn="ctr" defTabSz="1778000">
            <a:lnSpc>
              <a:spcPct val="90000"/>
            </a:lnSpc>
            <a:spcBef>
              <a:spcPct val="0"/>
            </a:spcBef>
            <a:spcAft>
              <a:spcPct val="35000"/>
            </a:spcAft>
            <a:buNone/>
          </a:pPr>
          <a:endParaRPr lang="zh-CN" altLang="en-US" sz="4000" kern="1200" dirty="0"/>
        </a:p>
      </dsp:txBody>
      <dsp:txXfrm rot="-5400000">
        <a:off x="4913547" y="996074"/>
        <a:ext cx="1659072" cy="1659072"/>
      </dsp:txXfrm>
    </dsp:sp>
    <dsp:sp modelId="{52919525-8CDF-FB42-931C-383FBF745DE1}">
      <dsp:nvSpPr>
        <dsp:cNvPr id="0" name=""/>
        <dsp:cNvSpPr/>
      </dsp:nvSpPr>
      <dsp:spPr>
        <a:xfrm rot="10800000">
          <a:off x="4913547" y="2763520"/>
          <a:ext cx="2346282" cy="2346282"/>
        </a:xfrm>
        <a:prstGeom prst="pieWedg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284480" rIns="284480" bIns="284480" numCol="1" spcCol="1270" anchor="ctr" anchorCtr="0">
          <a:noAutofit/>
        </a:bodyPr>
        <a:lstStyle/>
        <a:p>
          <a:pPr marL="0" lvl="0" indent="0" algn="ctr" defTabSz="1778000">
            <a:lnSpc>
              <a:spcPct val="90000"/>
            </a:lnSpc>
            <a:spcBef>
              <a:spcPct val="0"/>
            </a:spcBef>
            <a:spcAft>
              <a:spcPct val="35000"/>
            </a:spcAft>
            <a:buNone/>
          </a:pPr>
          <a:endParaRPr lang="zh-CN" altLang="en-US" sz="4000" kern="1200" dirty="0"/>
        </a:p>
      </dsp:txBody>
      <dsp:txXfrm rot="10800000">
        <a:off x="4913547" y="2763520"/>
        <a:ext cx="1659072" cy="1659072"/>
      </dsp:txXfrm>
    </dsp:sp>
    <dsp:sp modelId="{E1B22371-8055-074F-B88F-4709DDD3804D}">
      <dsp:nvSpPr>
        <dsp:cNvPr id="0" name=""/>
        <dsp:cNvSpPr/>
      </dsp:nvSpPr>
      <dsp:spPr>
        <a:xfrm rot="16200000">
          <a:off x="2458891" y="2763520"/>
          <a:ext cx="2346282" cy="2346282"/>
        </a:xfrm>
        <a:prstGeom prst="pieWedg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284480" rIns="284480" bIns="284480" numCol="1" spcCol="1270" anchor="ctr" anchorCtr="0">
          <a:noAutofit/>
        </a:bodyPr>
        <a:lstStyle/>
        <a:p>
          <a:pPr marL="0" lvl="0" indent="0" algn="ctr" defTabSz="1778000">
            <a:lnSpc>
              <a:spcPct val="90000"/>
            </a:lnSpc>
            <a:spcBef>
              <a:spcPct val="0"/>
            </a:spcBef>
            <a:spcAft>
              <a:spcPct val="35000"/>
            </a:spcAft>
            <a:buNone/>
          </a:pPr>
          <a:endParaRPr lang="zh-CN" altLang="en-US" sz="4000" b="1" kern="1200" dirty="0">
            <a:latin typeface="SimHei" panose="02010609060101010101" pitchFamily="49" charset="-122"/>
            <a:ea typeface="SimHei" panose="02010609060101010101" pitchFamily="49" charset="-122"/>
          </a:endParaRPr>
        </a:p>
      </dsp:txBody>
      <dsp:txXfrm rot="5400000">
        <a:off x="3146101" y="2763520"/>
        <a:ext cx="1659072" cy="1659072"/>
      </dsp:txXfrm>
    </dsp:sp>
    <dsp:sp modelId="{FFEC14A9-34A1-F945-9431-1A5A0EC1132F}">
      <dsp:nvSpPr>
        <dsp:cNvPr id="0" name=""/>
        <dsp:cNvSpPr/>
      </dsp:nvSpPr>
      <dsp:spPr>
        <a:xfrm>
          <a:off x="4454315" y="2221653"/>
          <a:ext cx="810090" cy="704426"/>
        </a:xfrm>
        <a:prstGeom prst="circular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F4E4748-9414-FC47-B516-857D7AE6C13B}">
      <dsp:nvSpPr>
        <dsp:cNvPr id="0" name=""/>
        <dsp:cNvSpPr/>
      </dsp:nvSpPr>
      <dsp:spPr>
        <a:xfrm rot="10800000">
          <a:off x="4454315" y="2492586"/>
          <a:ext cx="810090" cy="704426"/>
        </a:xfrm>
        <a:prstGeom prst="circular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0116589F-D427-F04A-91D2-2AD451DC08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001085BB-6BB3-2147-AD5B-1A56B9C9B11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87AFB1-FC2E-A841-AABB-8627E0910947}" type="datetimeFigureOut">
              <a:rPr kumimoji="1" lang="zh-CN" altLang="en-US" smtClean="0"/>
              <a:t>2026/3/4</a:t>
            </a:fld>
            <a:endParaRPr kumimoji="1" lang="zh-CN" altLang="en-US"/>
          </a:p>
        </p:txBody>
      </p:sp>
      <p:sp>
        <p:nvSpPr>
          <p:cNvPr id="4" name="页脚占位符 3">
            <a:extLst>
              <a:ext uri="{FF2B5EF4-FFF2-40B4-BE49-F238E27FC236}">
                <a16:creationId xmlns:a16="http://schemas.microsoft.com/office/drawing/2014/main" id="{B64C79B2-FF71-F345-830D-9C5BA8B64E0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FFF34E76-BC21-0A45-A642-1AA614B3E1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C95495-7EA9-3D41-A717-E01872EB964D}" type="slidenum">
              <a:rPr kumimoji="1" lang="zh-CN" altLang="en-US" smtClean="0"/>
              <a:t>‹#›</a:t>
            </a:fld>
            <a:endParaRPr kumimoji="1" lang="zh-CN" altLang="en-US"/>
          </a:p>
        </p:txBody>
      </p:sp>
    </p:spTree>
    <p:extLst>
      <p:ext uri="{BB962C8B-B14F-4D97-AF65-F5344CB8AC3E}">
        <p14:creationId xmlns:p14="http://schemas.microsoft.com/office/powerpoint/2010/main" val="32701215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9A5006-524B-774E-9EF8-7C98BABD4FCD}" type="datetimeFigureOut">
              <a:t>3/4/26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FA5C0-9868-CE46-A0FF-56EEF184B354}" type="slidenum">
              <a:t>‹#›</a:t>
            </a:fld>
            <a:endParaRPr kumimoji="1" lang="zh-CN" altLang="en-US"/>
          </a:p>
        </p:txBody>
      </p:sp>
    </p:spTree>
    <p:extLst>
      <p:ext uri="{BB962C8B-B14F-4D97-AF65-F5344CB8AC3E}">
        <p14:creationId xmlns:p14="http://schemas.microsoft.com/office/powerpoint/2010/main" val="834877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63FE5611-4BD0-4D93-A4BD-F3C9BFBFD652}"/>
              </a:ext>
            </a:extLst>
          </p:cNvPr>
          <p:cNvSpPr>
            <a:spLocks noGrp="1" noRot="1" noChangeAspect="1" noChangeArrowheads="1" noTextEdit="1"/>
          </p:cNvSpPr>
          <p:nvPr>
            <p:ph type="sldImg" idx="4294967295"/>
          </p:nvPr>
        </p:nvSpPr>
        <p:spPr>
          <a:ln>
            <a:miter lim="800000"/>
          </a:ln>
        </p:spPr>
      </p:sp>
      <p:sp>
        <p:nvSpPr>
          <p:cNvPr id="17411" name="备注占位符 2">
            <a:extLst>
              <a:ext uri="{FF2B5EF4-FFF2-40B4-BE49-F238E27FC236}">
                <a16:creationId xmlns:a16="http://schemas.microsoft.com/office/drawing/2014/main" id="{106CF9C3-8F14-45DC-88B1-CC355F60FDBF}"/>
              </a:ext>
            </a:extLst>
          </p:cNvPr>
          <p:cNvSpPr>
            <a:spLocks noGrp="1" noChangeArrowheads="1"/>
          </p:cNvSpPr>
          <p:nvPr>
            <p:ph type="body" idx="4294967295"/>
          </p:nvPr>
        </p:nvSpPr>
        <p:spPr/>
        <p:txBody>
          <a:bodyPr/>
          <a:lstStyle/>
          <a:p>
            <a:pPr>
              <a:buFont typeface="Wingdings" panose="05000000000000000000" pitchFamily="2" charset="2"/>
              <a:buNone/>
            </a:pPr>
            <a:r>
              <a:rPr lang="zh-CN" altLang="en-US" sz="1200" dirty="0">
                <a:latin typeface="仿宋" panose="02010609060101010101" pitchFamily="49" charset="-122"/>
                <a:ea typeface="仿宋" panose="02010609060101010101" pitchFamily="49" charset="-122"/>
              </a:rPr>
              <a:t>应用：</a:t>
            </a:r>
            <a:r>
              <a:rPr lang="en-US" altLang="zh-CN" sz="1200" dirty="0">
                <a:latin typeface="仿宋" panose="02010609060101010101" pitchFamily="49" charset="-122"/>
                <a:ea typeface="仿宋" panose="02010609060101010101" pitchFamily="49" charset="-122"/>
              </a:rPr>
              <a:t>12306</a:t>
            </a:r>
            <a:r>
              <a:rPr lang="zh-CN" altLang="en-US" sz="1200" dirty="0">
                <a:latin typeface="仿宋" panose="02010609060101010101" pitchFamily="49" charset="-122"/>
                <a:ea typeface="仿宋" panose="02010609060101010101" pitchFamily="49" charset="-122"/>
              </a:rPr>
              <a:t> 。。。</a:t>
            </a: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r>
              <a:rPr lang="zh-CN" altLang="en-US" sz="1200" dirty="0">
                <a:latin typeface="仿宋" panose="02010609060101010101" pitchFamily="49" charset="-122"/>
                <a:ea typeface="仿宋" panose="02010609060101010101" pitchFamily="49" charset="-122"/>
              </a:rPr>
              <a:t>查询</a:t>
            </a: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r>
              <a:rPr lang="zh-CN" altLang="en-US" sz="1200" dirty="0">
                <a:latin typeface="仿宋" panose="02010609060101010101" pitchFamily="49" charset="-122"/>
                <a:ea typeface="仿宋" panose="02010609060101010101" pitchFamily="49" charset="-122"/>
              </a:rPr>
              <a:t>有点有面、</a:t>
            </a: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r>
              <a:rPr lang="zh-CN" altLang="en-US" sz="1200" dirty="0">
                <a:latin typeface="仿宋" panose="02010609060101010101" pitchFamily="49" charset="-122"/>
                <a:ea typeface="仿宋" panose="02010609060101010101" pitchFamily="49" charset="-122"/>
              </a:rPr>
              <a:t>卡脖子、剩下多少钱、多少人</a:t>
            </a: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r>
              <a:rPr lang="en-US" altLang="zh-CN" sz="1200" dirty="0">
                <a:latin typeface="仿宋" panose="02010609060101010101" pitchFamily="49" charset="-122"/>
                <a:ea typeface="仿宋" panose="02010609060101010101" pitchFamily="49" charset="-122"/>
              </a:rPr>
              <a:t>##</a:t>
            </a:r>
            <a:r>
              <a:rPr lang="zh-CN" altLang="en-US" sz="1200" dirty="0">
                <a:latin typeface="仿宋" panose="02010609060101010101" pitchFamily="49" charset="-122"/>
                <a:ea typeface="仿宋" panose="02010609060101010101" pitchFamily="49" charset="-122"/>
              </a:rPr>
              <a:t> 通俗一些、</a:t>
            </a: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r>
              <a:rPr lang="en-US" altLang="zh-CN" sz="1200" dirty="0">
                <a:latin typeface="仿宋" panose="02010609060101010101" pitchFamily="49" charset="-122"/>
                <a:ea typeface="仿宋" panose="02010609060101010101" pitchFamily="49" charset="-122"/>
              </a:rPr>
              <a:t>##</a:t>
            </a:r>
            <a:r>
              <a:rPr lang="zh-CN" altLang="en-US" sz="1200" dirty="0">
                <a:latin typeface="仿宋" panose="02010609060101010101" pitchFamily="49" charset="-122"/>
                <a:ea typeface="仿宋" panose="02010609060101010101" pitchFamily="49" charset="-122"/>
              </a:rPr>
              <a:t> 弯道超车（不强调）；新的机遇（自主、高效），必然趋势；历史大势之下，有创新的机遇，为什么给了空间（）；大家到一个起跑线；推出来自己的问题，时间、空间、自治性，产生了什么价值；（我们做的各个模块，都是绕不过去；必要性没有强调）；</a:t>
            </a: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r>
              <a:rPr lang="zh-CN" altLang="en-US" sz="1200" dirty="0">
                <a:latin typeface="仿宋" panose="02010609060101010101" pitchFamily="49" charset="-122"/>
                <a:ea typeface="仿宋" panose="02010609060101010101" pitchFamily="49" charset="-122"/>
              </a:rPr>
              <a:t>中亚哟行；有影响；志趣</a:t>
            </a: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r>
              <a:rPr lang="zh-CN" altLang="en-US" sz="1200" dirty="0">
                <a:latin typeface="仿宋" panose="02010609060101010101" pitchFamily="49" charset="-122"/>
                <a:ea typeface="仿宋" panose="02010609060101010101" pitchFamily="49" charset="-122"/>
              </a:rPr>
              <a:t>讲好中国故事</a:t>
            </a: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r>
              <a:rPr lang="en-US" altLang="zh-CN" sz="1200" dirty="0">
                <a:latin typeface="仿宋" panose="02010609060101010101" pitchFamily="49" charset="-122"/>
                <a:ea typeface="仿宋" panose="02010609060101010101" pitchFamily="49" charset="-122"/>
              </a:rPr>
              <a:t>##</a:t>
            </a:r>
            <a:r>
              <a:rPr lang="zh-CN" altLang="en-US" sz="1200" dirty="0">
                <a:latin typeface="仿宋" panose="02010609060101010101" pitchFamily="49" charset="-122"/>
                <a:ea typeface="仿宋" panose="02010609060101010101" pitchFamily="49" charset="-122"/>
              </a:rPr>
              <a:t> </a:t>
            </a:r>
            <a:r>
              <a:rPr lang="en-US" altLang="zh-CN" sz="1200" dirty="0">
                <a:latin typeface="仿宋" panose="02010609060101010101" pitchFamily="49" charset="-122"/>
                <a:ea typeface="仿宋" panose="02010609060101010101" pitchFamily="49" charset="-122"/>
              </a:rPr>
              <a:t>ppt</a:t>
            </a:r>
            <a:r>
              <a:rPr lang="zh-CN" altLang="en-US" sz="1200" dirty="0">
                <a:latin typeface="仿宋" panose="02010609060101010101" pitchFamily="49" charset="-122"/>
                <a:ea typeface="仿宋" panose="02010609060101010101" pitchFamily="49" charset="-122"/>
              </a:rPr>
              <a:t>！稿子！提什么问题</a:t>
            </a: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r>
              <a:rPr lang="zh-CN" altLang="en-US" sz="1200" dirty="0">
                <a:latin typeface="仿宋" panose="02010609060101010101" pitchFamily="49" charset="-122"/>
                <a:ea typeface="仿宋" panose="02010609060101010101" pitchFamily="49" charset="-122"/>
              </a:rPr>
              <a:t>重要性</a:t>
            </a: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r>
              <a:rPr lang="zh-CN" altLang="en-US" sz="1200" dirty="0">
                <a:latin typeface="仿宋" panose="02010609060101010101" pitchFamily="49" charset="-122"/>
                <a:ea typeface="仿宋" panose="02010609060101010101" pitchFamily="49" charset="-122"/>
              </a:rPr>
              <a:t>不只要做国产的，还要换道超车</a:t>
            </a: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r>
              <a:rPr lang="zh-CN" altLang="en-US" sz="1200" dirty="0">
                <a:latin typeface="仿宋" panose="02010609060101010101" pitchFamily="49" charset="-122"/>
                <a:ea typeface="仿宋" panose="02010609060101010101" pitchFamily="49" charset="-122"/>
              </a:rPr>
              <a:t>重要 震撼</a:t>
            </a: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a:p>
            <a:pPr>
              <a:buFont typeface="Wingdings" panose="05000000000000000000" pitchFamily="2" charset="2"/>
              <a:buNone/>
            </a:pPr>
            <a:endParaRPr lang="en-US" altLang="zh-CN" sz="1200" dirty="0">
              <a:latin typeface="仿宋" panose="02010609060101010101" pitchFamily="49" charset="-122"/>
              <a:ea typeface="仿宋" panose="02010609060101010101" pitchFamily="49" charset="-122"/>
            </a:endParaRPr>
          </a:p>
        </p:txBody>
      </p:sp>
      <p:sp>
        <p:nvSpPr>
          <p:cNvPr id="17412" name="日期占位符 3">
            <a:extLst>
              <a:ext uri="{FF2B5EF4-FFF2-40B4-BE49-F238E27FC236}">
                <a16:creationId xmlns:a16="http://schemas.microsoft.com/office/drawing/2014/main" id="{E9DDB4DF-170F-41F4-8F54-61BD9C3D622B}"/>
              </a:ext>
            </a:extLst>
          </p:cNvPr>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457200" rtl="0" eaLnBrk="1" fontAlgn="base" latinLnBrk="0" hangingPunct="1">
              <a:lnSpc>
                <a:spcPct val="100000"/>
              </a:lnSpc>
              <a:spcBef>
                <a:spcPct val="0"/>
              </a:spcBef>
              <a:spcAft>
                <a:spcPct val="0"/>
              </a:spcAft>
              <a:buClrTx/>
              <a:buSzTx/>
              <a:buFont typeface="Arial" panose="020B0604020202020204" pitchFamily="34" charset="0"/>
              <a:buNone/>
              <a:tabLst/>
              <a:defRPr/>
            </a:pPr>
            <a:fld id="{71074B26-B30C-444C-8124-B3C1BBF9B2A8}" type="datetime1">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457200" rtl="0" eaLnBrk="1" fontAlgn="base" latinLnBrk="0" hangingPunct="1">
                <a:lnSpc>
                  <a:spcPct val="100000"/>
                </a:lnSpc>
                <a:spcBef>
                  <a:spcPct val="0"/>
                </a:spcBef>
                <a:spcAft>
                  <a:spcPct val="0"/>
                </a:spcAft>
                <a:buClrTx/>
                <a:buSzTx/>
                <a:buFont typeface="Arial" panose="020B0604020202020204" pitchFamily="34" charset="0"/>
                <a:buNone/>
                <a:tabLst/>
                <a:defRPr/>
              </a:pPr>
              <a:t>2026/3/4</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71902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kern="1200">
                <a:solidFill>
                  <a:schemeClr val="tx1"/>
                </a:solidFill>
                <a:effectLst/>
                <a:latin typeface="+mn-lt"/>
                <a:ea typeface="+mn-ea"/>
                <a:cs typeface="+mn-cs"/>
              </a:rPr>
              <a:t>计划四年内投资</a:t>
            </a:r>
            <a:r>
              <a:rPr lang="en-US" altLang="zh-CN" sz="1200" b="0" i="0" kern="1200">
                <a:solidFill>
                  <a:schemeClr val="tx1"/>
                </a:solidFill>
                <a:effectLst/>
                <a:latin typeface="+mn-lt"/>
                <a:ea typeface="+mn-ea"/>
                <a:cs typeface="+mn-cs"/>
              </a:rPr>
              <a:t>5000</a:t>
            </a:r>
            <a:r>
              <a:rPr lang="zh-CN" altLang="en-US" sz="1200" b="0" i="0" kern="1200">
                <a:solidFill>
                  <a:schemeClr val="tx1"/>
                </a:solidFill>
                <a:effectLst/>
                <a:latin typeface="+mn-lt"/>
                <a:ea typeface="+mn-ea"/>
                <a:cs typeface="+mn-cs"/>
              </a:rPr>
              <a:t>亿美元，首期投入</a:t>
            </a:r>
            <a:r>
              <a:rPr lang="en-US" altLang="zh-CN" sz="1200" b="0" i="0" kern="1200">
                <a:solidFill>
                  <a:schemeClr val="tx1"/>
                </a:solidFill>
                <a:effectLst/>
                <a:latin typeface="+mn-lt"/>
                <a:ea typeface="+mn-ea"/>
                <a:cs typeface="+mn-cs"/>
              </a:rPr>
              <a:t>1000</a:t>
            </a:r>
            <a:r>
              <a:rPr lang="zh-CN" altLang="en-US" sz="1200" b="0" i="0" kern="1200">
                <a:solidFill>
                  <a:schemeClr val="tx1"/>
                </a:solidFill>
                <a:effectLst/>
                <a:latin typeface="+mn-lt"/>
                <a:ea typeface="+mn-ea"/>
                <a:cs typeface="+mn-cs"/>
              </a:rPr>
              <a:t>亿美元，旨在构建覆盖数据中心集群、能源扩容系统及半导体制造能力的</a:t>
            </a:r>
            <a:r>
              <a:rPr lang="en-US" sz="1200" b="0" i="0" kern="1200">
                <a:solidFill>
                  <a:schemeClr val="tx1"/>
                </a:solidFill>
                <a:effectLst/>
                <a:latin typeface="+mn-lt"/>
                <a:ea typeface="+mn-ea"/>
                <a:cs typeface="+mn-cs"/>
              </a:rPr>
              <a:t>AI</a:t>
            </a:r>
            <a:r>
              <a:rPr lang="zh-CN" altLang="en-US" sz="1200" b="0" i="0" kern="1200">
                <a:solidFill>
                  <a:schemeClr val="tx1"/>
                </a:solidFill>
                <a:effectLst/>
                <a:latin typeface="+mn-lt"/>
                <a:ea typeface="+mn-ea"/>
                <a:cs typeface="+mn-cs"/>
              </a:rPr>
              <a:t>基础设施网络</a:t>
            </a:r>
            <a:endParaRPr lang="en-US" altLang="zh-CN"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FE4FA5C0-9868-CE46-A0FF-56EEF184B354}" type="slidenum">
              <a:rPr lang="en-US"/>
              <a:t>5</a:t>
            </a:fld>
            <a:endParaRPr kumimoji="1" lang="en-US" altLang="zh-CN"/>
          </a:p>
        </p:txBody>
      </p:sp>
    </p:spTree>
    <p:extLst>
      <p:ext uri="{BB962C8B-B14F-4D97-AF65-F5344CB8AC3E}">
        <p14:creationId xmlns:p14="http://schemas.microsoft.com/office/powerpoint/2010/main" val="1284565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kern="1200">
                <a:solidFill>
                  <a:schemeClr val="tx1"/>
                </a:solidFill>
                <a:effectLst/>
                <a:latin typeface="+mn-lt"/>
                <a:ea typeface="+mn-ea"/>
                <a:cs typeface="+mn-cs"/>
              </a:rPr>
              <a:t>计划四年内投资</a:t>
            </a:r>
            <a:r>
              <a:rPr lang="en-US" altLang="zh-CN" sz="1200" b="0" i="0" kern="1200">
                <a:solidFill>
                  <a:schemeClr val="tx1"/>
                </a:solidFill>
                <a:effectLst/>
                <a:latin typeface="+mn-lt"/>
                <a:ea typeface="+mn-ea"/>
                <a:cs typeface="+mn-cs"/>
              </a:rPr>
              <a:t>5000</a:t>
            </a:r>
            <a:r>
              <a:rPr lang="zh-CN" altLang="en-US" sz="1200" b="0" i="0" kern="1200">
                <a:solidFill>
                  <a:schemeClr val="tx1"/>
                </a:solidFill>
                <a:effectLst/>
                <a:latin typeface="+mn-lt"/>
                <a:ea typeface="+mn-ea"/>
                <a:cs typeface="+mn-cs"/>
              </a:rPr>
              <a:t>亿美元，首期投入</a:t>
            </a:r>
            <a:r>
              <a:rPr lang="en-US" altLang="zh-CN" sz="1200" b="0" i="0" kern="1200">
                <a:solidFill>
                  <a:schemeClr val="tx1"/>
                </a:solidFill>
                <a:effectLst/>
                <a:latin typeface="+mn-lt"/>
                <a:ea typeface="+mn-ea"/>
                <a:cs typeface="+mn-cs"/>
              </a:rPr>
              <a:t>1000</a:t>
            </a:r>
            <a:r>
              <a:rPr lang="zh-CN" altLang="en-US" sz="1200" b="0" i="0" kern="1200">
                <a:solidFill>
                  <a:schemeClr val="tx1"/>
                </a:solidFill>
                <a:effectLst/>
                <a:latin typeface="+mn-lt"/>
                <a:ea typeface="+mn-ea"/>
                <a:cs typeface="+mn-cs"/>
              </a:rPr>
              <a:t>亿美元，旨在构建覆盖数据中心集群、能源扩容系统及半导体制造能力的</a:t>
            </a:r>
            <a:r>
              <a:rPr lang="en-US" sz="1200" b="0" i="0" kern="1200">
                <a:solidFill>
                  <a:schemeClr val="tx1"/>
                </a:solidFill>
                <a:effectLst/>
                <a:latin typeface="+mn-lt"/>
                <a:ea typeface="+mn-ea"/>
                <a:cs typeface="+mn-cs"/>
              </a:rPr>
              <a:t>AI</a:t>
            </a:r>
            <a:r>
              <a:rPr lang="zh-CN" altLang="en-US" sz="1200" b="0" i="0" kern="1200">
                <a:solidFill>
                  <a:schemeClr val="tx1"/>
                </a:solidFill>
                <a:effectLst/>
                <a:latin typeface="+mn-lt"/>
                <a:ea typeface="+mn-ea"/>
                <a:cs typeface="+mn-cs"/>
              </a:rPr>
              <a:t>基础设施网络</a:t>
            </a:r>
            <a:endParaRPr lang="en-US"/>
          </a:p>
        </p:txBody>
      </p:sp>
      <p:sp>
        <p:nvSpPr>
          <p:cNvPr id="4" name="Slide Number Placeholder 3"/>
          <p:cNvSpPr>
            <a:spLocks noGrp="1"/>
          </p:cNvSpPr>
          <p:nvPr>
            <p:ph type="sldNum" sz="quarter" idx="5"/>
          </p:nvPr>
        </p:nvSpPr>
        <p:spPr/>
        <p:txBody>
          <a:bodyPr/>
          <a:lstStyle/>
          <a:p>
            <a:fld id="{FE4FA5C0-9868-CE46-A0FF-56EEF184B354}" type="slidenum">
              <a:rPr lang="en-US"/>
              <a:t>6</a:t>
            </a:fld>
            <a:endParaRPr kumimoji="1" lang="en-US" altLang="zh-CN"/>
          </a:p>
        </p:txBody>
      </p:sp>
    </p:spTree>
    <p:extLst>
      <p:ext uri="{BB962C8B-B14F-4D97-AF65-F5344CB8AC3E}">
        <p14:creationId xmlns:p14="http://schemas.microsoft.com/office/powerpoint/2010/main" val="3662918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7C4D6-1E86-785A-9F4F-A476D19E06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29E286-B4A2-1FFB-75A6-C8CFC3635A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5DEB16-2609-42C9-B8E3-EF497EB68C4C}"/>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72E74F53-A151-1CD5-9680-37969945A7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4FA5C0-9868-CE46-A0FF-56EEF184B354}" type="slidenum">
              <a:rPr kumimoji="0" lang="en-CN"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en-CN" altLang="zh-CN"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863565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调整 简史和概述的顺序</a:t>
            </a:r>
            <a:r>
              <a:rPr kumimoji="1" lang="en-US" altLang="zh-CN" dirty="0"/>
              <a:t>【√】</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9</a:t>
            </a:fld>
            <a:endParaRPr kumimoji="1" lang="zh-CN" altLang="en-US"/>
          </a:p>
        </p:txBody>
      </p:sp>
    </p:spTree>
    <p:extLst>
      <p:ext uri="{BB962C8B-B14F-4D97-AF65-F5344CB8AC3E}">
        <p14:creationId xmlns:p14="http://schemas.microsoft.com/office/powerpoint/2010/main" val="6663726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10</a:t>
            </a:fld>
            <a:endParaRPr kumimoji="1" lang="en-CN" altLang="zh-CN"/>
          </a:p>
        </p:txBody>
      </p:sp>
    </p:spTree>
    <p:extLst>
      <p:ext uri="{BB962C8B-B14F-4D97-AF65-F5344CB8AC3E}">
        <p14:creationId xmlns:p14="http://schemas.microsoft.com/office/powerpoint/2010/main" val="279597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11</a:t>
            </a:fld>
            <a:endParaRPr kumimoji="1" lang="en-CN" altLang="zh-CN"/>
          </a:p>
        </p:txBody>
      </p:sp>
    </p:spTree>
    <p:extLst>
      <p:ext uri="{BB962C8B-B14F-4D97-AF65-F5344CB8AC3E}">
        <p14:creationId xmlns:p14="http://schemas.microsoft.com/office/powerpoint/2010/main" val="36901817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12</a:t>
            </a:fld>
            <a:endParaRPr kumimoji="1" lang="en-CN" altLang="zh-CN"/>
          </a:p>
        </p:txBody>
      </p:sp>
    </p:spTree>
    <p:extLst>
      <p:ext uri="{BB962C8B-B14F-4D97-AF65-F5344CB8AC3E}">
        <p14:creationId xmlns:p14="http://schemas.microsoft.com/office/powerpoint/2010/main" val="3443250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13</a:t>
            </a:fld>
            <a:endParaRPr kumimoji="1" lang="en-CN" altLang="zh-CN"/>
          </a:p>
        </p:txBody>
      </p:sp>
    </p:spTree>
    <p:extLst>
      <p:ext uri="{BB962C8B-B14F-4D97-AF65-F5344CB8AC3E}">
        <p14:creationId xmlns:p14="http://schemas.microsoft.com/office/powerpoint/2010/main" val="28467542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14</a:t>
            </a:fld>
            <a:endParaRPr kumimoji="1" lang="en-CN" altLang="zh-CN"/>
          </a:p>
        </p:txBody>
      </p:sp>
    </p:spTree>
    <p:extLst>
      <p:ext uri="{BB962C8B-B14F-4D97-AF65-F5344CB8AC3E}">
        <p14:creationId xmlns:p14="http://schemas.microsoft.com/office/powerpoint/2010/main" val="23550668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15</a:t>
            </a:fld>
            <a:endParaRPr kumimoji="1" lang="en-CN" altLang="zh-CN"/>
          </a:p>
        </p:txBody>
      </p:sp>
    </p:spTree>
    <p:extLst>
      <p:ext uri="{BB962C8B-B14F-4D97-AF65-F5344CB8AC3E}">
        <p14:creationId xmlns:p14="http://schemas.microsoft.com/office/powerpoint/2010/main" val="28443770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16</a:t>
            </a:fld>
            <a:endParaRPr kumimoji="1" lang="en-CN" altLang="zh-CN"/>
          </a:p>
        </p:txBody>
      </p:sp>
    </p:spTree>
    <p:extLst>
      <p:ext uri="{BB962C8B-B14F-4D97-AF65-F5344CB8AC3E}">
        <p14:creationId xmlns:p14="http://schemas.microsoft.com/office/powerpoint/2010/main" val="27805650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17</a:t>
            </a:fld>
            <a:endParaRPr kumimoji="1" lang="en-CN" altLang="zh-CN"/>
          </a:p>
        </p:txBody>
      </p:sp>
    </p:spTree>
    <p:extLst>
      <p:ext uri="{BB962C8B-B14F-4D97-AF65-F5344CB8AC3E}">
        <p14:creationId xmlns:p14="http://schemas.microsoft.com/office/powerpoint/2010/main" val="41606297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18</a:t>
            </a:fld>
            <a:endParaRPr kumimoji="1" lang="en-CN" altLang="zh-CN"/>
          </a:p>
        </p:txBody>
      </p:sp>
    </p:spTree>
    <p:extLst>
      <p:ext uri="{BB962C8B-B14F-4D97-AF65-F5344CB8AC3E}">
        <p14:creationId xmlns:p14="http://schemas.microsoft.com/office/powerpoint/2010/main" val="35412499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19</a:t>
            </a:fld>
            <a:endParaRPr kumimoji="1" lang="en-CN" altLang="zh-CN"/>
          </a:p>
        </p:txBody>
      </p:sp>
    </p:spTree>
    <p:extLst>
      <p:ext uri="{BB962C8B-B14F-4D97-AF65-F5344CB8AC3E}">
        <p14:creationId xmlns:p14="http://schemas.microsoft.com/office/powerpoint/2010/main" val="19951912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20</a:t>
            </a:fld>
            <a:endParaRPr kumimoji="1" lang="en-CN" altLang="zh-CN"/>
          </a:p>
        </p:txBody>
      </p:sp>
    </p:spTree>
    <p:extLst>
      <p:ext uri="{BB962C8B-B14F-4D97-AF65-F5344CB8AC3E}">
        <p14:creationId xmlns:p14="http://schemas.microsoft.com/office/powerpoint/2010/main" val="18172914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21</a:t>
            </a:fld>
            <a:endParaRPr kumimoji="1" lang="en-CN" altLang="zh-CN"/>
          </a:p>
        </p:txBody>
      </p:sp>
    </p:spTree>
    <p:extLst>
      <p:ext uri="{BB962C8B-B14F-4D97-AF65-F5344CB8AC3E}">
        <p14:creationId xmlns:p14="http://schemas.microsoft.com/office/powerpoint/2010/main" val="2850282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225B5-F3F9-9920-3B1D-45C5E7185A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A31BF2-57A2-2C6D-68E6-A79C83A44C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1AB035-EB4F-C8D4-22D9-80489A641D78}"/>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C58341D1-DE19-68DA-C0A4-78981812C632}"/>
              </a:ext>
            </a:extLst>
          </p:cNvPr>
          <p:cNvSpPr>
            <a:spLocks noGrp="1"/>
          </p:cNvSpPr>
          <p:nvPr>
            <p:ph type="sldNum" sz="quarter" idx="5"/>
          </p:nvPr>
        </p:nvSpPr>
        <p:spPr/>
        <p:txBody>
          <a:bodyPr/>
          <a:lstStyle/>
          <a:p>
            <a:fld id="{FE4FA5C0-9868-CE46-A0FF-56EEF184B354}" type="slidenum">
              <a:rPr lang="en-CN" smtClean="0"/>
              <a:t>22</a:t>
            </a:fld>
            <a:endParaRPr kumimoji="1" lang="en-CN" altLang="zh-CN"/>
          </a:p>
        </p:txBody>
      </p:sp>
    </p:spTree>
    <p:extLst>
      <p:ext uri="{BB962C8B-B14F-4D97-AF65-F5344CB8AC3E}">
        <p14:creationId xmlns:p14="http://schemas.microsoft.com/office/powerpoint/2010/main" val="25126224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23</a:t>
            </a:fld>
            <a:endParaRPr kumimoji="1" lang="en-CN" altLang="zh-CN"/>
          </a:p>
        </p:txBody>
      </p:sp>
    </p:spTree>
    <p:extLst>
      <p:ext uri="{BB962C8B-B14F-4D97-AF65-F5344CB8AC3E}">
        <p14:creationId xmlns:p14="http://schemas.microsoft.com/office/powerpoint/2010/main" val="41666407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24</a:t>
            </a:fld>
            <a:endParaRPr kumimoji="1" lang="en-CN" altLang="zh-CN"/>
          </a:p>
        </p:txBody>
      </p:sp>
    </p:spTree>
    <p:extLst>
      <p:ext uri="{BB962C8B-B14F-4D97-AF65-F5344CB8AC3E}">
        <p14:creationId xmlns:p14="http://schemas.microsoft.com/office/powerpoint/2010/main" val="16149595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25</a:t>
            </a:fld>
            <a:endParaRPr kumimoji="1" lang="en-CN" altLang="zh-CN"/>
          </a:p>
        </p:txBody>
      </p:sp>
    </p:spTree>
    <p:extLst>
      <p:ext uri="{BB962C8B-B14F-4D97-AF65-F5344CB8AC3E}">
        <p14:creationId xmlns:p14="http://schemas.microsoft.com/office/powerpoint/2010/main" val="21865471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30</a:t>
            </a:fld>
            <a:endParaRPr kumimoji="1" lang="en-CN" altLang="zh-CN"/>
          </a:p>
        </p:txBody>
      </p:sp>
    </p:spTree>
    <p:extLst>
      <p:ext uri="{BB962C8B-B14F-4D97-AF65-F5344CB8AC3E}">
        <p14:creationId xmlns:p14="http://schemas.microsoft.com/office/powerpoint/2010/main" val="42916905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31</a:t>
            </a:fld>
            <a:endParaRPr kumimoji="1" lang="en-CN" altLang="zh-CN"/>
          </a:p>
        </p:txBody>
      </p:sp>
    </p:spTree>
    <p:extLst>
      <p:ext uri="{BB962C8B-B14F-4D97-AF65-F5344CB8AC3E}">
        <p14:creationId xmlns:p14="http://schemas.microsoft.com/office/powerpoint/2010/main" val="19224656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32</a:t>
            </a:fld>
            <a:endParaRPr kumimoji="1" lang="zh-CN" altLang="en-US"/>
          </a:p>
        </p:txBody>
      </p:sp>
    </p:spTree>
    <p:extLst>
      <p:ext uri="{BB962C8B-B14F-4D97-AF65-F5344CB8AC3E}">
        <p14:creationId xmlns:p14="http://schemas.microsoft.com/office/powerpoint/2010/main" val="21930705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33</a:t>
            </a:fld>
            <a:endParaRPr kumimoji="1" lang="en-CN" altLang="zh-CN"/>
          </a:p>
        </p:txBody>
      </p:sp>
    </p:spTree>
    <p:extLst>
      <p:ext uri="{BB962C8B-B14F-4D97-AF65-F5344CB8AC3E}">
        <p14:creationId xmlns:p14="http://schemas.microsoft.com/office/powerpoint/2010/main" val="14040694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34</a:t>
            </a:fld>
            <a:endParaRPr kumimoji="1" lang="en-CN" altLang="zh-CN"/>
          </a:p>
        </p:txBody>
      </p:sp>
    </p:spTree>
    <p:extLst>
      <p:ext uri="{BB962C8B-B14F-4D97-AF65-F5344CB8AC3E}">
        <p14:creationId xmlns:p14="http://schemas.microsoft.com/office/powerpoint/2010/main" val="28930259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36</a:t>
            </a:fld>
            <a:endParaRPr kumimoji="1" lang="en-CN" altLang="zh-CN"/>
          </a:p>
        </p:txBody>
      </p:sp>
    </p:spTree>
    <p:extLst>
      <p:ext uri="{BB962C8B-B14F-4D97-AF65-F5344CB8AC3E}">
        <p14:creationId xmlns:p14="http://schemas.microsoft.com/office/powerpoint/2010/main" val="39051973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37</a:t>
            </a:fld>
            <a:endParaRPr kumimoji="1" lang="en-CN" altLang="zh-CN"/>
          </a:p>
        </p:txBody>
      </p:sp>
    </p:spTree>
    <p:extLst>
      <p:ext uri="{BB962C8B-B14F-4D97-AF65-F5344CB8AC3E}">
        <p14:creationId xmlns:p14="http://schemas.microsoft.com/office/powerpoint/2010/main" val="7111431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40</a:t>
            </a:fld>
            <a:endParaRPr kumimoji="1" lang="en-CN" altLang="zh-CN"/>
          </a:p>
        </p:txBody>
      </p:sp>
    </p:spTree>
    <p:extLst>
      <p:ext uri="{BB962C8B-B14F-4D97-AF65-F5344CB8AC3E}">
        <p14:creationId xmlns:p14="http://schemas.microsoft.com/office/powerpoint/2010/main" val="20476547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41</a:t>
            </a:fld>
            <a:endParaRPr kumimoji="1" lang="en-CN" altLang="zh-CN"/>
          </a:p>
        </p:txBody>
      </p:sp>
    </p:spTree>
    <p:extLst>
      <p:ext uri="{BB962C8B-B14F-4D97-AF65-F5344CB8AC3E}">
        <p14:creationId xmlns:p14="http://schemas.microsoft.com/office/powerpoint/2010/main" val="17630567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Slide Number Placeholder 3"/>
          <p:cNvSpPr>
            <a:spLocks noGrp="1"/>
          </p:cNvSpPr>
          <p:nvPr>
            <p:ph type="sldNum" sz="quarter" idx="5"/>
          </p:nvPr>
        </p:nvSpPr>
        <p:spPr/>
        <p:txBody>
          <a:bodyPr/>
          <a:lstStyle/>
          <a:p>
            <a:fld id="{FE4FA5C0-9868-CE46-A0FF-56EEF184B354}" type="slidenum">
              <a:rPr lang="en-CN" smtClean="0"/>
              <a:t>42</a:t>
            </a:fld>
            <a:endParaRPr kumimoji="1" lang="en-CN" altLang="zh-CN"/>
          </a:p>
        </p:txBody>
      </p:sp>
    </p:spTree>
    <p:extLst>
      <p:ext uri="{BB962C8B-B14F-4D97-AF65-F5344CB8AC3E}">
        <p14:creationId xmlns:p14="http://schemas.microsoft.com/office/powerpoint/2010/main" val="40547994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44</a:t>
            </a:fld>
            <a:endParaRPr kumimoji="1" lang="en-CN" altLang="zh-CN"/>
          </a:p>
        </p:txBody>
      </p:sp>
    </p:spTree>
    <p:extLst>
      <p:ext uri="{BB962C8B-B14F-4D97-AF65-F5344CB8AC3E}">
        <p14:creationId xmlns:p14="http://schemas.microsoft.com/office/powerpoint/2010/main" val="34134544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45</a:t>
            </a:fld>
            <a:endParaRPr kumimoji="1" lang="en-CN" altLang="zh-CN"/>
          </a:p>
        </p:txBody>
      </p:sp>
    </p:spTree>
    <p:extLst>
      <p:ext uri="{BB962C8B-B14F-4D97-AF65-F5344CB8AC3E}">
        <p14:creationId xmlns:p14="http://schemas.microsoft.com/office/powerpoint/2010/main" val="32858701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看不出来</a:t>
            </a:r>
            <a:r>
              <a:rPr lang="en-US" altLang="zh-CN" dirty="0"/>
              <a:t>ap</a:t>
            </a:r>
            <a:r>
              <a:rPr lang="zh-CN" altLang="en-US" dirty="0"/>
              <a:t> </a:t>
            </a:r>
            <a:r>
              <a:rPr lang="en-US" altLang="zh-CN" dirty="0" err="1"/>
              <a:t>tp</a:t>
            </a:r>
            <a:r>
              <a:rPr lang="zh-CN" altLang="en-US" dirty="0"/>
              <a:t>的关系 行列存储。</a:t>
            </a:r>
            <a:r>
              <a:rPr lang="en-US" altLang="zh-CN" dirty="0"/>
              <a:t>【√】</a:t>
            </a:r>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47</a:t>
            </a:fld>
            <a:endParaRPr kumimoji="1" lang="en-CN" altLang="zh-CN"/>
          </a:p>
        </p:txBody>
      </p:sp>
    </p:spTree>
    <p:extLst>
      <p:ext uri="{BB962C8B-B14F-4D97-AF65-F5344CB8AC3E}">
        <p14:creationId xmlns:p14="http://schemas.microsoft.com/office/powerpoint/2010/main" val="38637852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看不出来</a:t>
            </a:r>
            <a:r>
              <a:rPr lang="en-US" altLang="zh-CN" dirty="0"/>
              <a:t>ap</a:t>
            </a:r>
            <a:r>
              <a:rPr lang="zh-CN" altLang="en-US" dirty="0"/>
              <a:t> </a:t>
            </a:r>
            <a:r>
              <a:rPr lang="en-US" altLang="zh-CN" dirty="0" err="1"/>
              <a:t>tp</a:t>
            </a:r>
            <a:r>
              <a:rPr lang="zh-CN" altLang="en-US" dirty="0"/>
              <a:t>的关系 行列存储。</a:t>
            </a:r>
            <a:r>
              <a:rPr lang="en-US" altLang="zh-CN" dirty="0"/>
              <a:t>【√】</a:t>
            </a:r>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48</a:t>
            </a:fld>
            <a:endParaRPr kumimoji="1" lang="en-CN" altLang="zh-CN"/>
          </a:p>
        </p:txBody>
      </p:sp>
    </p:spTree>
    <p:extLst>
      <p:ext uri="{BB962C8B-B14F-4D97-AF65-F5344CB8AC3E}">
        <p14:creationId xmlns:p14="http://schemas.microsoft.com/office/powerpoint/2010/main" val="22451758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看不出来</a:t>
            </a:r>
            <a:r>
              <a:rPr lang="en-US" altLang="zh-CN" dirty="0"/>
              <a:t>ap</a:t>
            </a:r>
            <a:r>
              <a:rPr lang="zh-CN" altLang="en-US" dirty="0"/>
              <a:t> </a:t>
            </a:r>
            <a:r>
              <a:rPr lang="en-US" altLang="zh-CN" dirty="0" err="1"/>
              <a:t>tp</a:t>
            </a:r>
            <a:r>
              <a:rPr lang="zh-CN" altLang="en-US" dirty="0"/>
              <a:t>的关系 行列存储。</a:t>
            </a:r>
            <a:r>
              <a:rPr lang="en-US" altLang="zh-CN" dirty="0"/>
              <a:t>【√】</a:t>
            </a:r>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49</a:t>
            </a:fld>
            <a:endParaRPr kumimoji="1" lang="en-CN" altLang="zh-CN"/>
          </a:p>
        </p:txBody>
      </p:sp>
    </p:spTree>
    <p:extLst>
      <p:ext uri="{BB962C8B-B14F-4D97-AF65-F5344CB8AC3E}">
        <p14:creationId xmlns:p14="http://schemas.microsoft.com/office/powerpoint/2010/main" val="37243204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50</a:t>
            </a:fld>
            <a:endParaRPr kumimoji="1" lang="en-CN" altLang="zh-CN"/>
          </a:p>
        </p:txBody>
      </p:sp>
    </p:spTree>
    <p:extLst>
      <p:ext uri="{BB962C8B-B14F-4D97-AF65-F5344CB8AC3E}">
        <p14:creationId xmlns:p14="http://schemas.microsoft.com/office/powerpoint/2010/main" val="30792139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51</a:t>
            </a:fld>
            <a:endParaRPr kumimoji="1" lang="en-CN" altLang="zh-CN"/>
          </a:p>
        </p:txBody>
      </p:sp>
    </p:spTree>
    <p:extLst>
      <p:ext uri="{BB962C8B-B14F-4D97-AF65-F5344CB8AC3E}">
        <p14:creationId xmlns:p14="http://schemas.microsoft.com/office/powerpoint/2010/main" val="33031600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52</a:t>
            </a:fld>
            <a:endParaRPr kumimoji="1" lang="en-CN" altLang="zh-CN"/>
          </a:p>
        </p:txBody>
      </p:sp>
    </p:spTree>
    <p:extLst>
      <p:ext uri="{BB962C8B-B14F-4D97-AF65-F5344CB8AC3E}">
        <p14:creationId xmlns:p14="http://schemas.microsoft.com/office/powerpoint/2010/main" val="31256292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53</a:t>
            </a:fld>
            <a:endParaRPr kumimoji="1" lang="en-CN" altLang="zh-CN"/>
          </a:p>
        </p:txBody>
      </p:sp>
    </p:spTree>
    <p:extLst>
      <p:ext uri="{BB962C8B-B14F-4D97-AF65-F5344CB8AC3E}">
        <p14:creationId xmlns:p14="http://schemas.microsoft.com/office/powerpoint/2010/main" val="17610658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54</a:t>
            </a:fld>
            <a:endParaRPr kumimoji="1" lang="en-CN" altLang="zh-CN"/>
          </a:p>
        </p:txBody>
      </p:sp>
    </p:spTree>
    <p:extLst>
      <p:ext uri="{BB962C8B-B14F-4D97-AF65-F5344CB8AC3E}">
        <p14:creationId xmlns:p14="http://schemas.microsoft.com/office/powerpoint/2010/main" val="15929516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55</a:t>
            </a:fld>
            <a:endParaRPr kumimoji="1" lang="en-CN" altLang="zh-CN"/>
          </a:p>
        </p:txBody>
      </p:sp>
    </p:spTree>
    <p:extLst>
      <p:ext uri="{BB962C8B-B14F-4D97-AF65-F5344CB8AC3E}">
        <p14:creationId xmlns:p14="http://schemas.microsoft.com/office/powerpoint/2010/main" val="28322491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56</a:t>
            </a:fld>
            <a:endParaRPr kumimoji="1" lang="zh-CN" altLang="en-US"/>
          </a:p>
        </p:txBody>
      </p:sp>
    </p:spTree>
    <p:extLst>
      <p:ext uri="{BB962C8B-B14F-4D97-AF65-F5344CB8AC3E}">
        <p14:creationId xmlns:p14="http://schemas.microsoft.com/office/powerpoint/2010/main" val="21558565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57</a:t>
            </a:fld>
            <a:endParaRPr kumimoji="1" lang="en-CN" altLang="zh-CN"/>
          </a:p>
        </p:txBody>
      </p:sp>
    </p:spTree>
    <p:extLst>
      <p:ext uri="{BB962C8B-B14F-4D97-AF65-F5344CB8AC3E}">
        <p14:creationId xmlns:p14="http://schemas.microsoft.com/office/powerpoint/2010/main" val="8427305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58</a:t>
            </a:fld>
            <a:endParaRPr kumimoji="1" lang="en-CN" altLang="zh-CN"/>
          </a:p>
        </p:txBody>
      </p:sp>
    </p:spTree>
    <p:extLst>
      <p:ext uri="{BB962C8B-B14F-4D97-AF65-F5344CB8AC3E}">
        <p14:creationId xmlns:p14="http://schemas.microsoft.com/office/powerpoint/2010/main" val="42281684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59</a:t>
            </a:fld>
            <a:endParaRPr kumimoji="1" lang="en-CN" altLang="zh-CN"/>
          </a:p>
        </p:txBody>
      </p:sp>
    </p:spTree>
    <p:extLst>
      <p:ext uri="{BB962C8B-B14F-4D97-AF65-F5344CB8AC3E}">
        <p14:creationId xmlns:p14="http://schemas.microsoft.com/office/powerpoint/2010/main" val="390519734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60</a:t>
            </a:fld>
            <a:endParaRPr kumimoji="1" lang="en-CN" altLang="zh-CN"/>
          </a:p>
        </p:txBody>
      </p:sp>
    </p:spTree>
    <p:extLst>
      <p:ext uri="{BB962C8B-B14F-4D97-AF65-F5344CB8AC3E}">
        <p14:creationId xmlns:p14="http://schemas.microsoft.com/office/powerpoint/2010/main" val="9033995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b="1"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23BED1-D6E5-7F4E-B315-E55710BDAA2B}"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61</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2146743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FE4FA5C0-9868-CE46-A0FF-56EEF184B354}" type="slidenum">
              <a:rPr lang="en-CN" smtClean="0"/>
              <a:t>63</a:t>
            </a:fld>
            <a:endParaRPr kumimoji="1" lang="en-CN" altLang="zh-CN"/>
          </a:p>
        </p:txBody>
      </p:sp>
    </p:spTree>
    <p:extLst>
      <p:ext uri="{BB962C8B-B14F-4D97-AF65-F5344CB8AC3E}">
        <p14:creationId xmlns:p14="http://schemas.microsoft.com/office/powerpoint/2010/main" val="9019453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FE4FA5C0-9868-CE46-A0FF-56EEF184B354}" type="slidenum">
              <a:rPr lang="en-CN" smtClean="0"/>
              <a:t>64</a:t>
            </a:fld>
            <a:endParaRPr kumimoji="1" lang="en-CN" altLang="zh-CN"/>
          </a:p>
        </p:txBody>
      </p:sp>
    </p:spTree>
    <p:extLst>
      <p:ext uri="{BB962C8B-B14F-4D97-AF65-F5344CB8AC3E}">
        <p14:creationId xmlns:p14="http://schemas.microsoft.com/office/powerpoint/2010/main" val="348759103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zh-CN" altLang="en-US" dirty="0"/>
              <a:t>一页一个</a:t>
            </a:r>
            <a:r>
              <a:rPr kumimoji="1" lang="en-US" altLang="zh-CN" dirty="0"/>
              <a:t>NoSQL</a:t>
            </a:r>
            <a:r>
              <a:rPr kumimoji="1" lang="zh-CN" altLang="en-US" dirty="0"/>
              <a:t>数据库。</a:t>
            </a:r>
          </a:p>
        </p:txBody>
      </p:sp>
      <p:sp>
        <p:nvSpPr>
          <p:cNvPr id="4" name="Slide Number Placeholder 3"/>
          <p:cNvSpPr>
            <a:spLocks noGrp="1"/>
          </p:cNvSpPr>
          <p:nvPr>
            <p:ph type="sldNum" sz="quarter" idx="5"/>
          </p:nvPr>
        </p:nvSpPr>
        <p:spPr/>
        <p:txBody>
          <a:bodyPr/>
          <a:lstStyle/>
          <a:p>
            <a:fld id="{FE4FA5C0-9868-CE46-A0FF-56EEF184B354}" type="slidenum">
              <a:rPr lang="en-CN" smtClean="0"/>
              <a:t>65</a:t>
            </a:fld>
            <a:endParaRPr kumimoji="1" lang="en-CN" altLang="zh-CN"/>
          </a:p>
        </p:txBody>
      </p:sp>
    </p:spTree>
    <p:extLst>
      <p:ext uri="{BB962C8B-B14F-4D97-AF65-F5344CB8AC3E}">
        <p14:creationId xmlns:p14="http://schemas.microsoft.com/office/powerpoint/2010/main" val="162923407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FE4FA5C0-9868-CE46-A0FF-56EEF184B354}" type="slidenum">
              <a:rPr lang="en-CN" smtClean="0"/>
              <a:t>66</a:t>
            </a:fld>
            <a:endParaRPr kumimoji="1" lang="en-CN" altLang="zh-CN"/>
          </a:p>
        </p:txBody>
      </p:sp>
    </p:spTree>
    <p:extLst>
      <p:ext uri="{BB962C8B-B14F-4D97-AF65-F5344CB8AC3E}">
        <p14:creationId xmlns:p14="http://schemas.microsoft.com/office/powerpoint/2010/main" val="291241820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FE4FA5C0-9868-CE46-A0FF-56EEF184B354}" type="slidenum">
              <a:rPr lang="en-CN" smtClean="0"/>
              <a:t>67</a:t>
            </a:fld>
            <a:endParaRPr kumimoji="1" lang="en-CN" altLang="zh-CN"/>
          </a:p>
        </p:txBody>
      </p:sp>
    </p:spTree>
    <p:extLst>
      <p:ext uri="{BB962C8B-B14F-4D97-AF65-F5344CB8AC3E}">
        <p14:creationId xmlns:p14="http://schemas.microsoft.com/office/powerpoint/2010/main" val="250889459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FE4FA5C0-9868-CE46-A0FF-56EEF184B354}" type="slidenum">
              <a:rPr lang="en-CN" smtClean="0"/>
              <a:t>69</a:t>
            </a:fld>
            <a:endParaRPr kumimoji="1" lang="en-CN" altLang="zh-CN"/>
          </a:p>
        </p:txBody>
      </p:sp>
    </p:spTree>
    <p:extLst>
      <p:ext uri="{BB962C8B-B14F-4D97-AF65-F5344CB8AC3E}">
        <p14:creationId xmlns:p14="http://schemas.microsoft.com/office/powerpoint/2010/main" val="142668770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FE4FA5C0-9868-CE46-A0FF-56EEF184B354}" type="slidenum">
              <a:rPr lang="en-CN" smtClean="0"/>
              <a:t>71</a:t>
            </a:fld>
            <a:endParaRPr kumimoji="1" lang="en-CN" altLang="zh-CN"/>
          </a:p>
        </p:txBody>
      </p:sp>
    </p:spTree>
    <p:extLst>
      <p:ext uri="{BB962C8B-B14F-4D97-AF65-F5344CB8AC3E}">
        <p14:creationId xmlns:p14="http://schemas.microsoft.com/office/powerpoint/2010/main" val="412243690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FE4FA5C0-9868-CE46-A0FF-56EEF184B354}" type="slidenum">
              <a:rPr lang="en-CN" smtClean="0"/>
              <a:t>74</a:t>
            </a:fld>
            <a:endParaRPr kumimoji="1" lang="en-CN" altLang="zh-CN"/>
          </a:p>
        </p:txBody>
      </p:sp>
    </p:spTree>
    <p:extLst>
      <p:ext uri="{BB962C8B-B14F-4D97-AF65-F5344CB8AC3E}">
        <p14:creationId xmlns:p14="http://schemas.microsoft.com/office/powerpoint/2010/main" val="88861778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FE4FA5C0-9868-CE46-A0FF-56EEF184B354}" type="slidenum">
              <a:rPr lang="en-CN" smtClean="0"/>
              <a:t>76</a:t>
            </a:fld>
            <a:endParaRPr kumimoji="1" lang="en-CN" altLang="zh-CN"/>
          </a:p>
        </p:txBody>
      </p:sp>
    </p:spTree>
    <p:extLst>
      <p:ext uri="{BB962C8B-B14F-4D97-AF65-F5344CB8AC3E}">
        <p14:creationId xmlns:p14="http://schemas.microsoft.com/office/powerpoint/2010/main" val="36994307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FE4FA5C0-9868-CE46-A0FF-56EEF184B354}" type="slidenum">
              <a:rPr lang="en-CN" smtClean="0"/>
              <a:t>77</a:t>
            </a:fld>
            <a:endParaRPr kumimoji="1" lang="en-CN" altLang="zh-CN"/>
          </a:p>
        </p:txBody>
      </p:sp>
    </p:spTree>
    <p:extLst>
      <p:ext uri="{BB962C8B-B14F-4D97-AF65-F5344CB8AC3E}">
        <p14:creationId xmlns:p14="http://schemas.microsoft.com/office/powerpoint/2010/main" val="271034517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80</a:t>
            </a:fld>
            <a:endParaRPr kumimoji="1" lang="en-CN" altLang="zh-CN"/>
          </a:p>
        </p:txBody>
      </p:sp>
    </p:spTree>
    <p:extLst>
      <p:ext uri="{BB962C8B-B14F-4D97-AF65-F5344CB8AC3E}">
        <p14:creationId xmlns:p14="http://schemas.microsoft.com/office/powerpoint/2010/main" val="24414693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82</a:t>
            </a:fld>
            <a:endParaRPr kumimoji="1" lang="en-CN" altLang="zh-CN"/>
          </a:p>
        </p:txBody>
      </p:sp>
    </p:spTree>
    <p:extLst>
      <p:ext uri="{BB962C8B-B14F-4D97-AF65-F5344CB8AC3E}">
        <p14:creationId xmlns:p14="http://schemas.microsoft.com/office/powerpoint/2010/main" val="424668049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第一张图主节点读，体现一下</a:t>
            </a:r>
            <a:r>
              <a:rPr kumimoji="1" lang="en-US" altLang="zh-CN" dirty="0"/>
              <a:t>shard</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83</a:t>
            </a:fld>
            <a:endParaRPr kumimoji="1" lang="zh-CN" altLang="en-US"/>
          </a:p>
        </p:txBody>
      </p:sp>
    </p:spTree>
    <p:extLst>
      <p:ext uri="{BB962C8B-B14F-4D97-AF65-F5344CB8AC3E}">
        <p14:creationId xmlns:p14="http://schemas.microsoft.com/office/powerpoint/2010/main" val="241743373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85</a:t>
            </a:fld>
            <a:endParaRPr kumimoji="1" lang="en-CN" altLang="zh-CN"/>
          </a:p>
        </p:txBody>
      </p:sp>
    </p:spTree>
    <p:extLst>
      <p:ext uri="{BB962C8B-B14F-4D97-AF65-F5344CB8AC3E}">
        <p14:creationId xmlns:p14="http://schemas.microsoft.com/office/powerpoint/2010/main" val="209018996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86</a:t>
            </a:fld>
            <a:endParaRPr kumimoji="1" lang="en-CN" altLang="zh-CN"/>
          </a:p>
        </p:txBody>
      </p:sp>
    </p:spTree>
    <p:extLst>
      <p:ext uri="{BB962C8B-B14F-4D97-AF65-F5344CB8AC3E}">
        <p14:creationId xmlns:p14="http://schemas.microsoft.com/office/powerpoint/2010/main" val="18456429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88</a:t>
            </a:fld>
            <a:endParaRPr kumimoji="1" lang="zh-CN" altLang="en-US"/>
          </a:p>
        </p:txBody>
      </p:sp>
    </p:spTree>
    <p:extLst>
      <p:ext uri="{BB962C8B-B14F-4D97-AF65-F5344CB8AC3E}">
        <p14:creationId xmlns:p14="http://schemas.microsoft.com/office/powerpoint/2010/main" val="68544045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93</a:t>
            </a:fld>
            <a:endParaRPr kumimoji="1" lang="en-CN" altLang="zh-CN"/>
          </a:p>
        </p:txBody>
      </p:sp>
    </p:spTree>
    <p:extLst>
      <p:ext uri="{BB962C8B-B14F-4D97-AF65-F5344CB8AC3E}">
        <p14:creationId xmlns:p14="http://schemas.microsoft.com/office/powerpoint/2010/main" val="183393531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94</a:t>
            </a:fld>
            <a:endParaRPr kumimoji="1" lang="en-CN" altLang="zh-CN"/>
          </a:p>
        </p:txBody>
      </p:sp>
    </p:spTree>
    <p:extLst>
      <p:ext uri="{BB962C8B-B14F-4D97-AF65-F5344CB8AC3E}">
        <p14:creationId xmlns:p14="http://schemas.microsoft.com/office/powerpoint/2010/main" val="300420244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95</a:t>
            </a:fld>
            <a:endParaRPr kumimoji="1" lang="en-CN" altLang="zh-CN"/>
          </a:p>
        </p:txBody>
      </p:sp>
    </p:spTree>
    <p:extLst>
      <p:ext uri="{BB962C8B-B14F-4D97-AF65-F5344CB8AC3E}">
        <p14:creationId xmlns:p14="http://schemas.microsoft.com/office/powerpoint/2010/main" val="255888523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96</a:t>
            </a:fld>
            <a:endParaRPr kumimoji="1" lang="en-CN" altLang="zh-CN"/>
          </a:p>
        </p:txBody>
      </p:sp>
    </p:spTree>
    <p:extLst>
      <p:ext uri="{BB962C8B-B14F-4D97-AF65-F5344CB8AC3E}">
        <p14:creationId xmlns:p14="http://schemas.microsoft.com/office/powerpoint/2010/main" val="286231311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FE4FA5C0-9868-CE46-A0FF-56EEF184B354}" type="slidenum">
              <a:rPr lang="en-CN" smtClean="0"/>
              <a:t>97</a:t>
            </a:fld>
            <a:endParaRPr kumimoji="1" lang="en-CN" altLang="zh-CN"/>
          </a:p>
        </p:txBody>
      </p:sp>
    </p:spTree>
    <p:extLst>
      <p:ext uri="{BB962C8B-B14F-4D97-AF65-F5344CB8AC3E}">
        <p14:creationId xmlns:p14="http://schemas.microsoft.com/office/powerpoint/2010/main" val="68510360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1" dirty="0"/>
          </a:p>
          <a:p>
            <a:r>
              <a:rPr kumimoji="1" lang="en-US" altLang="zh-CN" b="1" dirty="0" err="1"/>
              <a:t>Xxx</a:t>
            </a:r>
            <a:r>
              <a:rPr kumimoji="1" lang="en-US" altLang="zh-CN" b="1" dirty="0"/>
              <a:t> will introduce xxx</a:t>
            </a:r>
            <a:endParaRPr kumimoji="1" lang="zh-CN" altLang="en-US" b="1"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623BED1-D6E5-7F4E-B315-E55710BDAA2B}"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101</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4094715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1" dirty="0"/>
          </a:p>
          <a:p>
            <a:r>
              <a:rPr kumimoji="1" lang="en-US" altLang="zh-CN" b="1" dirty="0" err="1"/>
              <a:t>Xxx</a:t>
            </a:r>
            <a:r>
              <a:rPr kumimoji="1" lang="en-US" altLang="zh-CN" b="1" dirty="0"/>
              <a:t> will introduce xxx</a:t>
            </a:r>
            <a:endParaRPr kumimoji="1" lang="zh-CN" altLang="en-US" b="1"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623BED1-D6E5-7F4E-B315-E55710BDAA2B}"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102</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9282578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1" dirty="0"/>
          </a:p>
          <a:p>
            <a:r>
              <a:rPr kumimoji="1" lang="en-US" altLang="zh-CN" b="1" dirty="0" err="1"/>
              <a:t>Xxx</a:t>
            </a:r>
            <a:r>
              <a:rPr kumimoji="1" lang="en-US" altLang="zh-CN" b="1" dirty="0"/>
              <a:t> will introduce xxx</a:t>
            </a:r>
            <a:endParaRPr kumimoji="1" lang="zh-CN" altLang="en-US" b="1"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623BED1-D6E5-7F4E-B315-E55710BDAA2B}"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103</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2522804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1" dirty="0"/>
          </a:p>
          <a:p>
            <a:r>
              <a:rPr kumimoji="1" lang="en-US" altLang="zh-CN" b="1" dirty="0" err="1"/>
              <a:t>Xxx</a:t>
            </a:r>
            <a:r>
              <a:rPr kumimoji="1" lang="en-US" altLang="zh-CN" b="1" dirty="0"/>
              <a:t> will introduce xxx</a:t>
            </a:r>
            <a:endParaRPr kumimoji="1" lang="zh-CN" altLang="en-US" b="1"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623BED1-D6E5-7F4E-B315-E55710BDAA2B}"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104</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70809256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109</a:t>
            </a:fld>
            <a:endParaRPr kumimoji="1" lang="zh-CN" altLang="en-US"/>
          </a:p>
        </p:txBody>
      </p:sp>
    </p:spTree>
    <p:extLst>
      <p:ext uri="{BB962C8B-B14F-4D97-AF65-F5344CB8AC3E}">
        <p14:creationId xmlns:p14="http://schemas.microsoft.com/office/powerpoint/2010/main" val="2679360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单击此处编辑母版标题样式</a:t>
            </a:r>
          </a:p>
        </p:txBody>
      </p:sp>
      <p:sp>
        <p:nvSpPr>
          <p:cNvPr id="3" name="内容占位符 2"/>
          <p:cNvSpPr>
            <a:spLocks noGrp="1"/>
          </p:cNvSpPr>
          <p:nvPr>
            <p:ph idx="1"/>
          </p:nvPr>
        </p:nvSpPr>
        <p:spPr>
          <a:xfrm>
            <a:off x="304800" y="1201270"/>
            <a:ext cx="11456894" cy="4876801"/>
          </a:xfrm>
        </p:spPr>
        <p:txBody>
          <a:bodyPr/>
          <a:lstStyle>
            <a:lvl1pPr>
              <a:defRPr>
                <a:latin typeface="SimHei" panose="02010609060101010101" pitchFamily="49" charset="-122"/>
                <a:ea typeface="SimHei" panose="02010609060101010101" pitchFamily="49" charset="-122"/>
              </a:defRPr>
            </a:lvl1pPr>
            <a:lvl2pPr>
              <a:defRPr>
                <a:latin typeface="SimHei" panose="02010609060101010101" pitchFamily="49" charset="-122"/>
                <a:ea typeface="SimHei" panose="02010609060101010101" pitchFamily="49" charset="-122"/>
              </a:defRPr>
            </a:lvl2pPr>
            <a:lvl3pPr>
              <a:defRPr>
                <a:latin typeface="SimHei" panose="02010609060101010101" pitchFamily="49" charset="-122"/>
                <a:ea typeface="SimHei" panose="02010609060101010101" pitchFamily="49" charset="-122"/>
              </a:defRPr>
            </a:lvl3pPr>
            <a:lvl4pPr>
              <a:defRPr>
                <a:latin typeface="SimHei" panose="02010609060101010101" pitchFamily="49" charset="-122"/>
                <a:ea typeface="SimHei" panose="02010609060101010101" pitchFamily="49" charset="-122"/>
              </a:defRPr>
            </a:lvl4pPr>
            <a:lvl5pPr>
              <a:defRPr>
                <a:latin typeface="SimHei" panose="02010609060101010101" pitchFamily="49" charset="-122"/>
                <a:ea typeface="SimHei" panose="02010609060101010101" pitchFamily="49" charset="-122"/>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页脚占位符 4"/>
          <p:cNvSpPr>
            <a:spLocks noGrp="1"/>
          </p:cNvSpPr>
          <p:nvPr>
            <p:ph type="ftr" sz="quarter" idx="11"/>
          </p:nvPr>
        </p:nvSpPr>
        <p:spPr>
          <a:xfrm>
            <a:off x="4038600" y="6356350"/>
            <a:ext cx="4114800" cy="501650"/>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SimHei" panose="02010609060101010101" pitchFamily="49" charset="-122"/>
                <a:ea typeface="SimHei"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dirty="0"/>
              <a:t>数据库系统</a:t>
            </a:r>
            <a:r>
              <a:rPr kumimoji="1" lang="en-US" altLang="zh-CN" dirty="0"/>
              <a:t>—</a:t>
            </a:r>
            <a:r>
              <a:rPr kumimoji="1" lang="zh-CN" altLang="en-US" dirty="0"/>
              <a:t>存储引擎</a:t>
            </a:r>
            <a:endParaRPr kumimoji="1" lang="zh-CN" altLang="en-US" dirty="0">
              <a:latin typeface="SimHei" panose="02010609060101010101" pitchFamily="49" charset="-122"/>
              <a:ea typeface="SimHei" panose="02010609060101010101" pitchFamily="49" charset="-122"/>
            </a:endParaRPr>
          </a:p>
        </p:txBody>
      </p:sp>
      <p:sp>
        <p:nvSpPr>
          <p:cNvPr id="6" name="灯片编号占位符 5"/>
          <p:cNvSpPr>
            <a:spLocks noGrp="1"/>
          </p:cNvSpPr>
          <p:nvPr>
            <p:ph type="sldNum" sz="quarter" idx="12"/>
          </p:nvPr>
        </p:nvSpPr>
        <p:spPr/>
        <p:txBody>
          <a:bodyPr/>
          <a:lstStyle/>
          <a:p>
            <a:fld id="{4B0D34C0-35A8-654C-9FBA-7B4E017BD630}" type="slidenum">
              <a:rPr/>
              <a:t>‹#›</a:t>
            </a:fld>
            <a:endParaRPr kumimoji="1" lang="zh-CN" altLang="en-US"/>
          </a:p>
        </p:txBody>
      </p:sp>
    </p:spTree>
    <p:extLst>
      <p:ext uri="{BB962C8B-B14F-4D97-AF65-F5344CB8AC3E}">
        <p14:creationId xmlns:p14="http://schemas.microsoft.com/office/powerpoint/2010/main" val="2529396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A43A6EF-72EA-BF49-9572-4A36487CB914}"/>
              </a:ext>
            </a:extLst>
          </p:cNvPr>
          <p:cNvSpPr>
            <a:spLocks noGrp="1"/>
          </p:cNvSpPr>
          <p:nvPr>
            <p:ph type="sldNum" sz="quarter" idx="10"/>
          </p:nvPr>
        </p:nvSpPr>
        <p:spPr/>
        <p:txBody>
          <a:bodyPr/>
          <a:lstStyle/>
          <a:p>
            <a:fld id="{87BBDC00-B9E2-4EFD-9306-2934E87247C6}" type="slidenum">
              <a:rPr lang="zh-CN" altLang="en-US" smtClean="0"/>
              <a:pPr/>
              <a:t>‹#›</a:t>
            </a:fld>
            <a:endParaRPr lang="zh-CN" altLang="en-US"/>
          </a:p>
        </p:txBody>
      </p:sp>
      <p:sp>
        <p:nvSpPr>
          <p:cNvPr id="5" name="Rectangle 7">
            <a:extLst>
              <a:ext uri="{FF2B5EF4-FFF2-40B4-BE49-F238E27FC236}">
                <a16:creationId xmlns:a16="http://schemas.microsoft.com/office/drawing/2014/main" id="{A0DC9526-AEAB-C547-9BBC-659D55C0F681}"/>
              </a:ext>
            </a:extLst>
          </p:cNvPr>
          <p:cNvSpPr>
            <a:spLocks noGrp="1" noChangeArrowheads="1"/>
          </p:cNvSpPr>
          <p:nvPr>
            <p:ph type="title"/>
          </p:nvPr>
        </p:nvSpPr>
        <p:spPr bwMode="auto">
          <a:xfrm>
            <a:off x="1050551" y="109584"/>
            <a:ext cx="10090897" cy="67847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8" name="Rectangle 4">
            <a:extLst>
              <a:ext uri="{FF2B5EF4-FFF2-40B4-BE49-F238E27FC236}">
                <a16:creationId xmlns:a16="http://schemas.microsoft.com/office/drawing/2014/main" id="{E17AFDEE-BBF8-634D-A3D6-F4ABC9CB6190}"/>
              </a:ext>
            </a:extLst>
          </p:cNvPr>
          <p:cNvSpPr>
            <a:spLocks noGrp="1" noChangeArrowheads="1"/>
          </p:cNvSpPr>
          <p:nvPr>
            <p:ph idx="1"/>
          </p:nvPr>
        </p:nvSpPr>
        <p:spPr bwMode="auto">
          <a:xfrm>
            <a:off x="457200" y="1125538"/>
            <a:ext cx="10874188" cy="500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latin typeface="SimHei" panose="02010609060101010101" pitchFamily="49" charset="-122"/>
                <a:ea typeface="SimHei" panose="02010609060101010101" pitchFamily="49" charset="-122"/>
              </a:defRPr>
            </a:lvl1pPr>
            <a:lvl2pPr>
              <a:defRPr>
                <a:latin typeface="SimHei" panose="02010609060101010101" pitchFamily="49" charset="-122"/>
                <a:ea typeface="SimHei" panose="02010609060101010101" pitchFamily="49" charset="-122"/>
              </a:defRPr>
            </a:lvl2pPr>
            <a:lvl3pPr>
              <a:defRPr>
                <a:latin typeface="SimHei" panose="02010609060101010101" pitchFamily="49" charset="-122"/>
                <a:ea typeface="SimHei" panose="02010609060101010101" pitchFamily="49" charset="-122"/>
              </a:defRPr>
            </a:lvl3pPr>
            <a:lvl4pPr>
              <a:defRPr>
                <a:latin typeface="SimHei" panose="02010609060101010101" pitchFamily="49" charset="-122"/>
                <a:ea typeface="SimHei" panose="02010609060101010101" pitchFamily="49" charset="-122"/>
              </a:defRPr>
            </a:lvl4pPr>
            <a:lvl5pPr>
              <a:defRPr>
                <a:latin typeface="SimHei" panose="02010609060101010101" pitchFamily="49" charset="-122"/>
                <a:ea typeface="SimHei" panose="02010609060101010101" pitchFamily="49" charset="-122"/>
              </a:defRPr>
            </a:lvl5pPr>
          </a:lstStyle>
          <a:p>
            <a:pPr lvl="0"/>
            <a:r>
              <a:rPr lang="en-US" altLang="zh-CN" dirty="0" err="1"/>
              <a:t>单击此处编辑母版文本样式</a:t>
            </a:r>
            <a:endParaRPr lang="en-US" altLang="zh-CN" dirty="0"/>
          </a:p>
          <a:p>
            <a:pPr lvl="1"/>
            <a:r>
              <a:rPr lang="en-US" altLang="zh-CN" dirty="0" err="1"/>
              <a:t>第二级</a:t>
            </a:r>
            <a:endParaRPr lang="en-US" altLang="zh-CN" dirty="0"/>
          </a:p>
          <a:p>
            <a:pPr lvl="2"/>
            <a:r>
              <a:rPr lang="en-US" altLang="zh-CN" dirty="0" err="1"/>
              <a:t>第三级</a:t>
            </a:r>
            <a:endParaRPr lang="en-US" altLang="zh-CN" dirty="0"/>
          </a:p>
          <a:p>
            <a:pPr lvl="3"/>
            <a:r>
              <a:rPr lang="en-US" altLang="zh-CN" dirty="0" err="1"/>
              <a:t>第四级</a:t>
            </a:r>
            <a:endParaRPr lang="en-US" altLang="zh-CN" dirty="0"/>
          </a:p>
          <a:p>
            <a:pPr lvl="4"/>
            <a:r>
              <a:rPr lang="en-US" altLang="zh-CN" dirty="0" err="1"/>
              <a:t>第五级</a:t>
            </a:r>
            <a:endParaRPr lang="en-US" altLang="zh-CN" dirty="0"/>
          </a:p>
        </p:txBody>
      </p:sp>
      <p:sp>
        <p:nvSpPr>
          <p:cNvPr id="9" name="Rectangle 6">
            <a:extLst>
              <a:ext uri="{FF2B5EF4-FFF2-40B4-BE49-F238E27FC236}">
                <a16:creationId xmlns:a16="http://schemas.microsoft.com/office/drawing/2014/main" id="{E0A0153D-2D6F-DA49-B92D-436E519A825E}"/>
              </a:ext>
            </a:extLst>
          </p:cNvPr>
          <p:cNvSpPr>
            <a:spLocks noGrp="1" noChangeArrowheads="1"/>
          </p:cNvSpPr>
          <p:nvPr>
            <p:ph type="ftr" sz="quarter" idx="3"/>
          </p:nvPr>
        </p:nvSpPr>
        <p:spPr bwMode="auto">
          <a:xfrm>
            <a:off x="4090567" y="6548437"/>
            <a:ext cx="3852862" cy="3095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latin typeface="SimHei" panose="02010609060101010101" pitchFamily="49" charset="-122"/>
                <a:ea typeface="SimHei" panose="02010609060101010101" pitchFamily="49" charset="-122"/>
                <a:cs typeface="+mn-cs"/>
              </a:defRPr>
            </a:lvl1pPr>
          </a:lstStyle>
          <a:p>
            <a:pPr>
              <a:defRPr/>
            </a:pPr>
            <a:r>
              <a:rPr lang="zh-CN" altLang="en-US"/>
              <a:t>数据库系统</a:t>
            </a:r>
            <a:r>
              <a:rPr lang="en-US" altLang="zh-CN"/>
              <a:t>—</a:t>
            </a:r>
            <a:r>
              <a:rPr lang="zh-CN" altLang="en-US"/>
              <a:t>存储引擎</a:t>
            </a:r>
            <a:endParaRPr lang="en-US" altLang="zh-CN" sz="1200" dirty="0"/>
          </a:p>
        </p:txBody>
      </p:sp>
    </p:spTree>
    <p:extLst>
      <p:ext uri="{BB962C8B-B14F-4D97-AF65-F5344CB8AC3E}">
        <p14:creationId xmlns:p14="http://schemas.microsoft.com/office/powerpoint/2010/main" val="1490974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日期占位符 1">
            <a:extLst>
              <a:ext uri="{FF2B5EF4-FFF2-40B4-BE49-F238E27FC236}">
                <a16:creationId xmlns:a16="http://schemas.microsoft.com/office/drawing/2014/main" id="{FF09F1A9-6F05-47BF-839F-CE0F952BDCE7}"/>
              </a:ext>
            </a:extLst>
          </p:cNvPr>
          <p:cNvSpPr>
            <a:spLocks noGrp="1"/>
          </p:cNvSpPr>
          <p:nvPr>
            <p:ph type="dt" sz="half" idx="10"/>
          </p:nvPr>
        </p:nvSpPr>
        <p:spPr/>
        <p:txBody>
          <a:bodyPr/>
          <a:lstStyle>
            <a:lvl1pPr>
              <a:defRPr/>
            </a:lvl1pPr>
          </a:lstStyle>
          <a:p>
            <a:pPr>
              <a:defRPr/>
            </a:pPr>
            <a:fld id="{5CCA1C5A-F784-4088-8BB1-81C40131E9A4}" type="datetimeFigureOut">
              <a:rPr lang="zh-CN" altLang="en-US"/>
              <a:pPr>
                <a:defRPr/>
              </a:pPr>
              <a:t>2026/3/4</a:t>
            </a:fld>
            <a:endParaRPr lang="zh-CN" altLang="en-US"/>
          </a:p>
        </p:txBody>
      </p:sp>
      <p:sp>
        <p:nvSpPr>
          <p:cNvPr id="4" name="页脚占位符 2">
            <a:extLst>
              <a:ext uri="{FF2B5EF4-FFF2-40B4-BE49-F238E27FC236}">
                <a16:creationId xmlns:a16="http://schemas.microsoft.com/office/drawing/2014/main" id="{6DE4CB66-F35C-4866-A478-DC69301F6B30}"/>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3">
            <a:extLst>
              <a:ext uri="{FF2B5EF4-FFF2-40B4-BE49-F238E27FC236}">
                <a16:creationId xmlns:a16="http://schemas.microsoft.com/office/drawing/2014/main" id="{A6A59284-F24E-47DF-9F9A-B7D4BDE233D1}"/>
              </a:ext>
            </a:extLst>
          </p:cNvPr>
          <p:cNvSpPr>
            <a:spLocks noGrp="1"/>
          </p:cNvSpPr>
          <p:nvPr>
            <p:ph type="sldNum" sz="quarter" idx="12"/>
          </p:nvPr>
        </p:nvSpPr>
        <p:spPr/>
        <p:txBody>
          <a:bodyPr/>
          <a:lstStyle>
            <a:lvl1pPr>
              <a:defRPr/>
            </a:lvl1pPr>
          </a:lstStyle>
          <a:p>
            <a:pPr>
              <a:defRPr/>
            </a:pPr>
            <a:fld id="{E43B2106-63D1-47D2-AC9E-0560FA8EF209}" type="slidenum">
              <a:rPr lang="zh-CN" altLang="en-US"/>
              <a:pPr>
                <a:defRPr/>
              </a:pPr>
              <a:t>‹#›</a:t>
            </a:fld>
            <a:endParaRPr lang="zh-CN" altLang="en-US"/>
          </a:p>
        </p:txBody>
      </p:sp>
      <p:cxnSp>
        <p:nvCxnSpPr>
          <p:cNvPr id="2" name="直线连接符 6">
            <a:extLst>
              <a:ext uri="{FF2B5EF4-FFF2-40B4-BE49-F238E27FC236}">
                <a16:creationId xmlns:a16="http://schemas.microsoft.com/office/drawing/2014/main" id="{69206E56-CFF2-2E7A-E3AF-55EA1F96B31B}"/>
              </a:ext>
            </a:extLst>
          </p:cNvPr>
          <p:cNvCxnSpPr>
            <a:cxnSpLocks/>
          </p:cNvCxnSpPr>
          <p:nvPr userDrawn="1"/>
        </p:nvCxnSpPr>
        <p:spPr>
          <a:xfrm>
            <a:off x="835068" y="765716"/>
            <a:ext cx="10522333" cy="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84509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3" name="Rectangle 7"/>
          <p:cNvSpPr>
            <a:spLocks noGrp="1" noChangeArrowheads="1"/>
          </p:cNvSpPr>
          <p:nvPr>
            <p:ph type="title"/>
          </p:nvPr>
        </p:nvSpPr>
        <p:spPr bwMode="auto">
          <a:xfrm>
            <a:off x="971550" y="53752"/>
            <a:ext cx="10090897" cy="67847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4104" name="Rectangle 8"/>
          <p:cNvSpPr>
            <a:spLocks noGrp="1" noChangeArrowheads="1"/>
          </p:cNvSpPr>
          <p:nvPr>
            <p:ph type="body" idx="1"/>
          </p:nvPr>
        </p:nvSpPr>
        <p:spPr bwMode="auto">
          <a:xfrm>
            <a:off x="304800" y="1201270"/>
            <a:ext cx="11456894" cy="55400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p:txBody>
      </p:sp>
      <p:sp>
        <p:nvSpPr>
          <p:cNvPr id="4" name="Rectangle 11"/>
          <p:cNvSpPr>
            <a:spLocks noGrp="1" noChangeArrowheads="1"/>
          </p:cNvSpPr>
          <p:nvPr>
            <p:ph type="sldNum" sz="quarter" idx="4"/>
          </p:nvPr>
        </p:nvSpPr>
        <p:spPr>
          <a:xfrm>
            <a:off x="11571088" y="6517146"/>
            <a:ext cx="765605" cy="476250"/>
          </a:xfrm>
          <a:prstGeom prst="rect">
            <a:avLst/>
          </a:prstGeom>
          <a:ln/>
        </p:spPr>
        <p:txBody>
          <a:bodyPr/>
          <a:lstStyle>
            <a:lvl1pPr>
              <a:defRPr/>
            </a:lvl1pPr>
          </a:lstStyle>
          <a:p>
            <a:fld id="{87BBDC00-B9E2-4EFD-9306-2934E87247C6}" type="slidenum">
              <a:rPr lang="zh-CN" altLang="en-US" smtClean="0"/>
              <a:pPr/>
              <a:t>‹#›</a:t>
            </a:fld>
            <a:endParaRPr lang="zh-CN" altLang="en-US"/>
          </a:p>
        </p:txBody>
      </p:sp>
    </p:spTree>
    <p:extLst>
      <p:ext uri="{BB962C8B-B14F-4D97-AF65-F5344CB8AC3E}">
        <p14:creationId xmlns:p14="http://schemas.microsoft.com/office/powerpoint/2010/main" val="1687947087"/>
      </p:ext>
    </p:extLst>
  </p:cSld>
  <p:clrMap bg1="lt1" tx1="dk1" bg2="lt2" tx2="dk2" accent1="accent1" accent2="accent2" accent3="accent3" accent4="accent4" accent5="accent5" accent6="accent6" hlink="hlink" folHlink="folHlink"/>
  <p:sldLayoutIdLst>
    <p:sldLayoutId id="2147483705" r:id="rId1"/>
    <p:sldLayoutId id="2147483704" r:id="rId2"/>
    <p:sldLayoutId id="2147483706" r:id="rId3"/>
  </p:sldLayoutIdLst>
  <p:hf hdr="0" ftr="0" dt="0"/>
  <p:txStyles>
    <p:titleStyle>
      <a:lvl1pPr algn="ctr" rtl="0" eaLnBrk="1" fontAlgn="base" hangingPunct="1">
        <a:spcBef>
          <a:spcPct val="0"/>
        </a:spcBef>
        <a:spcAft>
          <a:spcPct val="0"/>
        </a:spcAft>
        <a:defRPr kumimoji="1" sz="4800" b="1" i="0">
          <a:solidFill>
            <a:schemeClr val="tx2"/>
          </a:solidFill>
          <a:effectLst/>
          <a:latin typeface="Arial"/>
          <a:ea typeface="黑体"/>
          <a:cs typeface="Arial"/>
        </a:defRPr>
      </a:lvl1pPr>
      <a:lvl2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2pPr>
      <a:lvl3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3pPr>
      <a:lvl4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4pPr>
      <a:lvl5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5pPr>
      <a:lvl6pPr marL="422041"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6pPr>
      <a:lvl7pPr marL="844083"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7pPr>
      <a:lvl8pPr marL="1266124"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8pPr>
      <a:lvl9pPr marL="1688165"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9pPr>
    </p:titleStyle>
    <p:body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Arial"/>
          <a:ea typeface="黑体"/>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Arial"/>
          <a:ea typeface="黑体"/>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Arial"/>
          <a:ea typeface="黑体"/>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hyperlink" Target="https://wiki.mbalib.com/wiki/%E4%BC%8A%E5%88%A9%E8%AF%BA%E6%96%AF%E5%A4%A7%E5%AD%A6" TargetMode="External"/><Relationship Id="rId7" Type="http://schemas.openxmlformats.org/officeDocument/2006/relationships/image" Target="../media/image8.jpeg"/><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jpeg"/><Relationship Id="rId9"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3.emf"/></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jpeg"/></Relationships>
</file>

<file path=ppt/slides/_rels/slide3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jpeg"/></Relationships>
</file>

<file path=ppt/slides/_rels/slide4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jpe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jpeg"/></Relationships>
</file>

<file path=ppt/slides/_rels/slide47.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diagramColors" Target="../diagrams/colors2.xml"/><Relationship Id="rId11" Type="http://schemas.openxmlformats.org/officeDocument/2006/relationships/image" Target="../media/image33.emf"/><Relationship Id="rId5" Type="http://schemas.openxmlformats.org/officeDocument/2006/relationships/diagramQuickStyle" Target="../diagrams/quickStyle2.xml"/><Relationship Id="rId10" Type="http://schemas.openxmlformats.org/officeDocument/2006/relationships/image" Target="../media/image32.emf"/><Relationship Id="rId4" Type="http://schemas.openxmlformats.org/officeDocument/2006/relationships/diagramLayout" Target="../diagrams/layout2.xml"/><Relationship Id="rId9" Type="http://schemas.openxmlformats.org/officeDocument/2006/relationships/image" Target="../media/image31.emf"/></Relationships>
</file>

<file path=ppt/slides/_rels/slide48.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diagramColors" Target="../diagrams/colors3.xml"/><Relationship Id="rId11" Type="http://schemas.openxmlformats.org/officeDocument/2006/relationships/image" Target="../media/image33.emf"/><Relationship Id="rId5" Type="http://schemas.openxmlformats.org/officeDocument/2006/relationships/diagramQuickStyle" Target="../diagrams/quickStyle3.xml"/><Relationship Id="rId10" Type="http://schemas.openxmlformats.org/officeDocument/2006/relationships/image" Target="../media/image32.emf"/><Relationship Id="rId4" Type="http://schemas.openxmlformats.org/officeDocument/2006/relationships/diagramLayout" Target="../diagrams/layout3.xml"/><Relationship Id="rId9" Type="http://schemas.openxmlformats.org/officeDocument/2006/relationships/image" Target="../media/image31.emf"/></Relationships>
</file>

<file path=ppt/slides/_rels/slide49.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diagramColors" Target="../diagrams/colors4.xml"/><Relationship Id="rId11" Type="http://schemas.openxmlformats.org/officeDocument/2006/relationships/image" Target="../media/image33.emf"/><Relationship Id="rId5" Type="http://schemas.openxmlformats.org/officeDocument/2006/relationships/diagramQuickStyle" Target="../diagrams/quickStyle4.xml"/><Relationship Id="rId10" Type="http://schemas.openxmlformats.org/officeDocument/2006/relationships/image" Target="../media/image32.emf"/><Relationship Id="rId4" Type="http://schemas.openxmlformats.org/officeDocument/2006/relationships/diagramLayout" Target="../diagrams/layout4.xml"/><Relationship Id="rId9" Type="http://schemas.openxmlformats.org/officeDocument/2006/relationships/image" Target="../media/image31.emf"/></Relationships>
</file>

<file path=ppt/slides/_rels/slide5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6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jpeg"/></Relationships>
</file>

<file path=ppt/slides/_rels/slide6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6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6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67.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emf"/><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jpeg"/></Relationships>
</file>

<file path=ppt/slides/_rels/slide8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63.emf"/><Relationship Id="rId4" Type="http://schemas.openxmlformats.org/officeDocument/2006/relationships/image" Target="../media/image62.emf"/></Relationships>
</file>

<file path=ppt/slides/_rels/slide8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jpe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jpeg"/></Relationships>
</file>

<file path=ppt/slides/_rels/slide8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jpe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chart" Target="../charts/chart1.xml"/><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71.png"/><Relationship Id="rId4" Type="http://schemas.openxmlformats.org/officeDocument/2006/relationships/image" Target="../media/image70.png"/></Relationships>
</file>

<file path=ppt/slides/_rels/slide10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21" Type="http://schemas.openxmlformats.org/officeDocument/2006/relationships/notesSlide" Target="../notesSlides/notesSlide71.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chart" Target="../charts/chart2.xml"/></Relationships>
</file>

<file path=ppt/slides/_rels/slide103.xml.rels><?xml version="1.0" encoding="UTF-8" standalone="yes"?>
<Relationships xmlns="http://schemas.openxmlformats.org/package/2006/relationships"><Relationship Id="rId8" Type="http://schemas.openxmlformats.org/officeDocument/2006/relationships/tags" Target="../tags/tag28.xml"/><Relationship Id="rId13" Type="http://schemas.openxmlformats.org/officeDocument/2006/relationships/tags" Target="../tags/tag33.xml"/><Relationship Id="rId18" Type="http://schemas.openxmlformats.org/officeDocument/2006/relationships/tags" Target="../tags/tag38.xml"/><Relationship Id="rId3" Type="http://schemas.openxmlformats.org/officeDocument/2006/relationships/tags" Target="../tags/tag23.xml"/><Relationship Id="rId21" Type="http://schemas.openxmlformats.org/officeDocument/2006/relationships/slideLayout" Target="../slideLayouts/slideLayout1.xml"/><Relationship Id="rId7" Type="http://schemas.openxmlformats.org/officeDocument/2006/relationships/tags" Target="../tags/tag27.xml"/><Relationship Id="rId12" Type="http://schemas.openxmlformats.org/officeDocument/2006/relationships/tags" Target="../tags/tag32.xml"/><Relationship Id="rId17" Type="http://schemas.openxmlformats.org/officeDocument/2006/relationships/tags" Target="../tags/tag37.xml"/><Relationship Id="rId2" Type="http://schemas.openxmlformats.org/officeDocument/2006/relationships/tags" Target="../tags/tag22.xml"/><Relationship Id="rId16" Type="http://schemas.openxmlformats.org/officeDocument/2006/relationships/tags" Target="../tags/tag36.xml"/><Relationship Id="rId20" Type="http://schemas.openxmlformats.org/officeDocument/2006/relationships/tags" Target="../tags/tag40.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tags" Target="../tags/tag31.xml"/><Relationship Id="rId5" Type="http://schemas.openxmlformats.org/officeDocument/2006/relationships/tags" Target="../tags/tag25.xml"/><Relationship Id="rId15" Type="http://schemas.openxmlformats.org/officeDocument/2006/relationships/tags" Target="../tags/tag35.xml"/><Relationship Id="rId23" Type="http://schemas.openxmlformats.org/officeDocument/2006/relationships/chart" Target="../charts/chart3.xml"/><Relationship Id="rId10" Type="http://schemas.openxmlformats.org/officeDocument/2006/relationships/tags" Target="../tags/tag30.xml"/><Relationship Id="rId19" Type="http://schemas.openxmlformats.org/officeDocument/2006/relationships/tags" Target="../tags/tag39.xml"/><Relationship Id="rId4" Type="http://schemas.openxmlformats.org/officeDocument/2006/relationships/tags" Target="../tags/tag24.xml"/><Relationship Id="rId9" Type="http://schemas.openxmlformats.org/officeDocument/2006/relationships/tags" Target="../tags/tag29.xml"/><Relationship Id="rId14" Type="http://schemas.openxmlformats.org/officeDocument/2006/relationships/tags" Target="../tags/tag34.xml"/><Relationship Id="rId22" Type="http://schemas.openxmlformats.org/officeDocument/2006/relationships/notesSlide" Target="../notesSlides/notesSlide72.xml"/></Relationships>
</file>

<file path=ppt/slides/_rels/slide104.x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94AA0B9-2526-6434-381E-0D55D1F63182}"/>
              </a:ext>
            </a:extLst>
          </p:cNvPr>
          <p:cNvSpPr txBox="1"/>
          <p:nvPr/>
        </p:nvSpPr>
        <p:spPr>
          <a:xfrm>
            <a:off x="3103869" y="2476828"/>
            <a:ext cx="6026727" cy="1938992"/>
          </a:xfrm>
          <a:prstGeom prst="rect">
            <a:avLst/>
          </a:prstGeom>
          <a:noFill/>
        </p:spPr>
        <p:txBody>
          <a:bodyPr wrap="square" rtlCol="0">
            <a:spAutoFit/>
          </a:bodyPr>
          <a:lstStyle/>
          <a:p>
            <a:pPr algn="ctr"/>
            <a:r>
              <a:rPr kumimoji="1" lang="en-US" altLang="zh-CN" sz="3200" dirty="0"/>
              <a:t>SJTU </a:t>
            </a:r>
            <a:r>
              <a:rPr kumimoji="1" lang="zh-CN" altLang="en-US" sz="3200" dirty="0"/>
              <a:t>周煊赫</a:t>
            </a:r>
            <a:endParaRPr kumimoji="1" lang="en-US" altLang="zh-CN" sz="3200" dirty="0"/>
          </a:p>
          <a:p>
            <a:pPr algn="ctr"/>
            <a:r>
              <a:rPr kumimoji="1" lang="zh-CN" altLang="en-US" sz="3200" dirty="0"/>
              <a:t>助教：任子谦</a:t>
            </a:r>
          </a:p>
          <a:p>
            <a:pPr algn="ctr"/>
            <a:r>
              <a:rPr kumimoji="1" lang="en-US" altLang="zh-CN" sz="2800" i="1" dirty="0" err="1">
                <a:solidFill>
                  <a:srgbClr val="3B20FF"/>
                </a:solidFill>
              </a:rPr>
              <a:t>zhouxh@cs.sjtu.edu.cn</a:t>
            </a:r>
            <a:r>
              <a:rPr kumimoji="1" lang="en-US" altLang="zh-CN" sz="2800" i="1" dirty="0">
                <a:solidFill>
                  <a:srgbClr val="3B20FF"/>
                </a:solidFill>
              </a:rPr>
              <a:t> </a:t>
            </a:r>
          </a:p>
          <a:p>
            <a:pPr algn="ctr"/>
            <a:r>
              <a:rPr kumimoji="1" lang="en-US" altLang="zh-CN" sz="2800" i="1" dirty="0">
                <a:solidFill>
                  <a:srgbClr val="3B20FF"/>
                </a:solidFill>
              </a:rPr>
              <a:t>https://db.zhouxh.store</a:t>
            </a:r>
            <a:endParaRPr kumimoji="1" lang="zh-CN" altLang="en-US" sz="2800" i="1" dirty="0">
              <a:solidFill>
                <a:srgbClr val="3B20FF"/>
              </a:solidFill>
            </a:endParaRPr>
          </a:p>
        </p:txBody>
      </p:sp>
      <p:sp>
        <p:nvSpPr>
          <p:cNvPr id="2" name="标题 1">
            <a:extLst>
              <a:ext uri="{FF2B5EF4-FFF2-40B4-BE49-F238E27FC236}">
                <a16:creationId xmlns:a16="http://schemas.microsoft.com/office/drawing/2014/main" id="{7EA9B729-A66D-D4DC-A336-AF4CB39422D6}"/>
              </a:ext>
            </a:extLst>
          </p:cNvPr>
          <p:cNvSpPr txBox="1">
            <a:spLocks/>
          </p:cNvSpPr>
          <p:nvPr>
            <p:custDataLst>
              <p:tags r:id="rId1"/>
            </p:custDataLst>
          </p:nvPr>
        </p:nvSpPr>
        <p:spPr bwMode="auto">
          <a:xfrm>
            <a:off x="604781" y="411802"/>
            <a:ext cx="11262475" cy="278889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lvl1pPr algn="ctr" rtl="0" eaLnBrk="1" fontAlgn="base" hangingPunct="1">
              <a:spcBef>
                <a:spcPct val="0"/>
              </a:spcBef>
              <a:spcAft>
                <a:spcPct val="0"/>
              </a:spcAft>
              <a:defRPr kumimoji="1" sz="4800" b="1" i="0">
                <a:solidFill>
                  <a:schemeClr val="tx2"/>
                </a:solidFill>
                <a:effectLst/>
                <a:latin typeface="Arial"/>
                <a:ea typeface="黑体"/>
                <a:cs typeface="Arial"/>
              </a:defRPr>
            </a:lvl1pPr>
            <a:lvl2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2pPr>
            <a:lvl3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3pPr>
            <a:lvl4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4pPr>
            <a:lvl5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5pPr>
            <a:lvl6pPr marL="422041"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6pPr>
            <a:lvl7pPr marL="844083"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7pPr>
            <a:lvl8pPr marL="1266124"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8pPr>
            <a:lvl9pPr marL="1688165"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9pPr>
          </a:lstStyle>
          <a:p>
            <a:pPr>
              <a:lnSpc>
                <a:spcPct val="130000"/>
              </a:lnSpc>
            </a:pPr>
            <a:r>
              <a:rPr lang="zh-CN" altLang="en-US" sz="4400" kern="0" dirty="0">
                <a:latin typeface="微软雅黑" panose="020B0503020204020204" pitchFamily="34" charset="-122"/>
                <a:ea typeface="微软雅黑" panose="020B0503020204020204" pitchFamily="34" charset="-122"/>
              </a:rPr>
              <a:t>数据库系统概论 </a:t>
            </a:r>
            <a:r>
              <a:rPr lang="en-US" altLang="zh-CN" sz="4400" kern="0" dirty="0">
                <a:latin typeface="微软雅黑" panose="020B0503020204020204" pitchFamily="34" charset="-122"/>
                <a:ea typeface="微软雅黑" panose="020B0503020204020204" pitchFamily="34" charset="-122"/>
              </a:rPr>
              <a:t>&amp;</a:t>
            </a:r>
            <a:r>
              <a:rPr lang="zh-CN" altLang="en-US" sz="4400" kern="0" dirty="0">
                <a:latin typeface="微软雅黑" panose="020B0503020204020204" pitchFamily="34" charset="-122"/>
                <a:ea typeface="微软雅黑" panose="020B0503020204020204" pitchFamily="34" charset="-122"/>
              </a:rPr>
              <a:t> 前沿技术与应用</a:t>
            </a:r>
            <a:endParaRPr lang="zh-CN" altLang="en-US" sz="4400" kern="0" dirty="0">
              <a:solidFill>
                <a:srgbClr val="157FAB"/>
              </a:solidFill>
              <a:latin typeface="微软雅黑" panose="020B0503020204020204" pitchFamily="34" charset="-122"/>
              <a:ea typeface="微软雅黑" panose="020B0503020204020204" pitchFamily="34" charset="-122"/>
            </a:endParaRPr>
          </a:p>
        </p:txBody>
      </p:sp>
      <p:pic>
        <p:nvPicPr>
          <p:cNvPr id="3" name="Picture 2" descr="Shanghai Jiao Tong University | Shanghai">
            <a:extLst>
              <a:ext uri="{FF2B5EF4-FFF2-40B4-BE49-F238E27FC236}">
                <a16:creationId xmlns:a16="http://schemas.microsoft.com/office/drawing/2014/main" id="{475F174D-F69F-7EA8-F716-00BC2FE096C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66" t="6801" r="4978" b="4444"/>
          <a:stretch/>
        </p:blipFill>
        <p:spPr bwMode="auto">
          <a:xfrm>
            <a:off x="5213634" y="4858930"/>
            <a:ext cx="1807195" cy="1781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0818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FFE0D6-ECB0-3342-9600-27E2C4D9ADFE}"/>
              </a:ext>
            </a:extLst>
          </p:cNvPr>
          <p:cNvSpPr txBox="1">
            <a:spLocks noChangeArrowheads="1"/>
          </p:cNvSpPr>
          <p:nvPr/>
        </p:nvSpPr>
        <p:spPr bwMode="auto">
          <a:xfrm>
            <a:off x="959774" y="35310"/>
            <a:ext cx="798420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750"/>
              </a:spcBef>
              <a:buFont typeface="Arial" panose="020B0604020202020204" pitchFamily="34" charset="0"/>
              <a:buChar char="•"/>
              <a:defRPr sz="2100">
                <a:solidFill>
                  <a:schemeClr val="tx1"/>
                </a:solidFill>
                <a:latin typeface="Arial" panose="020B0604020202020204" pitchFamily="34" charset="0"/>
                <a:ea typeface="黑体" panose="02010609060101010101" pitchFamily="49" charset="-122"/>
              </a:defRPr>
            </a:lvl1pPr>
            <a:lvl2pPr marL="742950" indent="-285750">
              <a:lnSpc>
                <a:spcPct val="90000"/>
              </a:lnSpc>
              <a:spcBef>
                <a:spcPts val="375"/>
              </a:spcBef>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Arial" panose="020B0604020202020204" pitchFamily="34" charset="0"/>
                <a:ea typeface="黑体" panose="02010609060101010101" pitchFamily="49"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9pPr>
          </a:lstStyle>
          <a:p>
            <a:pPr>
              <a:lnSpc>
                <a:spcPct val="100000"/>
              </a:lnSpc>
              <a:spcBef>
                <a:spcPct val="0"/>
              </a:spcBef>
              <a:buNone/>
            </a:pPr>
            <a:r>
              <a:rPr lang="zh-CN" altLang="en-US" sz="3600" b="1" dirty="0">
                <a:latin typeface="Microsoft YaHei UI" panose="020B0503020204020204" pitchFamily="34" charset="-122"/>
                <a:ea typeface="Microsoft YaHei UI" panose="020B0503020204020204" pitchFamily="34" charset="-122"/>
              </a:rPr>
              <a:t>周煊赫 </a:t>
            </a:r>
            <a:r>
              <a:rPr lang="zh-CN" altLang="en-US" sz="3600" dirty="0">
                <a:latin typeface="Microsoft YaHei UI" panose="020B0503020204020204" pitchFamily="34" charset="-122"/>
                <a:ea typeface="Microsoft YaHei UI" panose="020B0503020204020204" pitchFamily="34" charset="-122"/>
              </a:rPr>
              <a:t>（</a:t>
            </a:r>
            <a:r>
              <a:rPr kumimoji="1" lang="en-US" altLang="zh-CN" sz="3600" i="1" dirty="0" err="1">
                <a:solidFill>
                  <a:srgbClr val="3B20FF"/>
                </a:solidFill>
              </a:rPr>
              <a:t> zhouxh@cs.sjtu.edu.cn</a:t>
            </a:r>
            <a:r>
              <a:rPr kumimoji="1" lang="en-US" altLang="zh-CN" sz="3600" i="1" dirty="0">
                <a:solidFill>
                  <a:srgbClr val="3B20FF"/>
                </a:solidFill>
              </a:rPr>
              <a:t> </a:t>
            </a:r>
            <a:r>
              <a:rPr lang="zh-CN" altLang="en-US" sz="3600" dirty="0">
                <a:latin typeface="Microsoft YaHei UI" panose="020B0503020204020204" pitchFamily="34" charset="-122"/>
                <a:ea typeface="Microsoft YaHei UI" panose="020B0503020204020204" pitchFamily="34" charset="-122"/>
              </a:rPr>
              <a:t>）</a:t>
            </a:r>
          </a:p>
        </p:txBody>
      </p:sp>
      <p:sp>
        <p:nvSpPr>
          <p:cNvPr id="3" name="文本框 5">
            <a:extLst>
              <a:ext uri="{FF2B5EF4-FFF2-40B4-BE49-F238E27FC236}">
                <a16:creationId xmlns:a16="http://schemas.microsoft.com/office/drawing/2014/main" id="{1A7E0A67-4983-A151-D7B1-C143B780C8F3}"/>
              </a:ext>
            </a:extLst>
          </p:cNvPr>
          <p:cNvSpPr txBox="1">
            <a:spLocks noChangeArrowheads="1"/>
          </p:cNvSpPr>
          <p:nvPr/>
        </p:nvSpPr>
        <p:spPr bwMode="auto">
          <a:xfrm>
            <a:off x="214967" y="894677"/>
            <a:ext cx="11639576" cy="5800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750"/>
              </a:spcBef>
              <a:buFont typeface="Arial" panose="020B0604020202020204" pitchFamily="34" charset="0"/>
              <a:buChar char="•"/>
              <a:defRPr sz="2100">
                <a:solidFill>
                  <a:schemeClr val="tx1"/>
                </a:solidFill>
                <a:latin typeface="Arial" panose="020B0604020202020204" pitchFamily="34" charset="0"/>
                <a:ea typeface="黑体" panose="02010609060101010101" pitchFamily="49" charset="-122"/>
              </a:defRPr>
            </a:lvl1pPr>
            <a:lvl2pPr marL="742950" indent="-285750">
              <a:lnSpc>
                <a:spcPct val="90000"/>
              </a:lnSpc>
              <a:spcBef>
                <a:spcPts val="375"/>
              </a:spcBef>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Arial" panose="020B0604020202020204" pitchFamily="34" charset="0"/>
                <a:ea typeface="黑体" panose="02010609060101010101" pitchFamily="49"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9pPr>
          </a:lstStyle>
          <a:p>
            <a:pPr marL="285744" indent="-285744">
              <a:lnSpc>
                <a:spcPct val="110000"/>
              </a:lnSpc>
              <a:spcBef>
                <a:spcPct val="0"/>
              </a:spcBef>
              <a:spcAft>
                <a:spcPts val="600"/>
              </a:spcAft>
              <a:buFont typeface="Wingdings" panose="05000000000000000000" pitchFamily="2" charset="2"/>
              <a:buChar char="n"/>
            </a:pPr>
            <a:r>
              <a:rPr lang="zh-CN" altLang="en-US" sz="2667" b="1" dirty="0">
                <a:solidFill>
                  <a:srgbClr val="C00000"/>
                </a:solidFill>
                <a:latin typeface="黑体" panose="02010609060101010101" pitchFamily="49" charset="-122"/>
              </a:rPr>
              <a:t>上海交通大学计算机系，助理教授</a:t>
            </a:r>
            <a:endParaRPr lang="en-US" altLang="zh-CN" sz="2667" b="1" dirty="0">
              <a:solidFill>
                <a:srgbClr val="C00000"/>
              </a:solidFill>
              <a:latin typeface="黑体" panose="02010609060101010101" pitchFamily="49" charset="-122"/>
            </a:endParaRPr>
          </a:p>
          <a:p>
            <a:pPr>
              <a:lnSpc>
                <a:spcPct val="110000"/>
              </a:lnSpc>
              <a:spcBef>
                <a:spcPct val="0"/>
              </a:spcBef>
              <a:spcAft>
                <a:spcPts val="600"/>
              </a:spcAft>
              <a:buFont typeface="Wingdings" panose="05000000000000000000" pitchFamily="2" charset="2"/>
              <a:buChar char="n"/>
            </a:pPr>
            <a:r>
              <a:rPr lang="zh-CN" altLang="en-US" sz="2133" b="1" dirty="0">
                <a:latin typeface="黑体" panose="02010609060101010101" pitchFamily="49" charset="-122"/>
              </a:rPr>
              <a:t> 研究方向：数据系统、文档智能、统一世界模型</a:t>
            </a:r>
            <a:endParaRPr lang="en-US" altLang="zh-CN" sz="2133" b="1" dirty="0">
              <a:latin typeface="黑体" panose="02010609060101010101" pitchFamily="49" charset="-122"/>
            </a:endParaRPr>
          </a:p>
          <a:p>
            <a:pPr>
              <a:lnSpc>
                <a:spcPct val="110000"/>
              </a:lnSpc>
              <a:spcBef>
                <a:spcPct val="0"/>
              </a:spcBef>
              <a:spcAft>
                <a:spcPts val="600"/>
              </a:spcAft>
              <a:buFont typeface="Wingdings" panose="05000000000000000000" pitchFamily="2" charset="2"/>
              <a:buChar char="n"/>
            </a:pPr>
            <a:r>
              <a:rPr lang="zh-CN" altLang="en-US" sz="2133" b="1" dirty="0">
                <a:latin typeface="黑体" panose="02010609060101010101" pitchFamily="49" charset="-122"/>
              </a:rPr>
              <a:t> 研究情况：</a:t>
            </a:r>
            <a:endParaRPr lang="en-US" altLang="zh-CN" sz="2133" b="1" dirty="0">
              <a:latin typeface="黑体" panose="02010609060101010101" pitchFamily="49" charset="-122"/>
            </a:endParaRPr>
          </a:p>
          <a:p>
            <a:pPr marL="626384" indent="-284393">
              <a:lnSpc>
                <a:spcPct val="110000"/>
              </a:lnSpc>
              <a:spcBef>
                <a:spcPct val="0"/>
              </a:spcBef>
              <a:spcAft>
                <a:spcPts val="600"/>
              </a:spcAft>
              <a:buFont typeface="Wingdings" panose="05000000000000000000" pitchFamily="2" charset="2"/>
              <a:buChar char="ü"/>
            </a:pPr>
            <a:r>
              <a:rPr lang="zh-CN" altLang="en-US" sz="2133" dirty="0">
                <a:latin typeface="黑体" panose="02010609060101010101" pitchFamily="49" charset="-122"/>
              </a:rPr>
              <a:t>发表数十篇国际顶会</a:t>
            </a:r>
            <a:r>
              <a:rPr lang="en-US" altLang="zh-CN" sz="2133" dirty="0">
                <a:latin typeface="黑体" panose="02010609060101010101" pitchFamily="49" charset="-122"/>
              </a:rPr>
              <a:t>/</a:t>
            </a:r>
            <a:r>
              <a:rPr lang="zh-CN" altLang="en-US" sz="2133" dirty="0">
                <a:latin typeface="黑体" panose="02010609060101010101" pitchFamily="49" charset="-122"/>
              </a:rPr>
              <a:t>顶刊系统级论文，</a:t>
            </a:r>
            <a:r>
              <a:rPr lang="zh-CN" altLang="en-US" sz="2133" b="1" dirty="0">
                <a:latin typeface="黑体" panose="02010609060101010101" pitchFamily="49" charset="-122"/>
              </a:rPr>
              <a:t>引用三千余次</a:t>
            </a:r>
            <a:r>
              <a:rPr lang="zh-CN" altLang="en-US" sz="2133" dirty="0">
                <a:latin typeface="黑体" panose="02010609060101010101" pitchFamily="49" charset="-122"/>
              </a:rPr>
              <a:t>；</a:t>
            </a:r>
            <a:endParaRPr lang="en-US" altLang="zh-CN" sz="2133" dirty="0">
              <a:latin typeface="黑体" panose="02010609060101010101" pitchFamily="49" charset="-122"/>
            </a:endParaRPr>
          </a:p>
          <a:p>
            <a:pPr marL="626384" indent="-284393">
              <a:lnSpc>
                <a:spcPct val="110000"/>
              </a:lnSpc>
              <a:spcBef>
                <a:spcPct val="0"/>
              </a:spcBef>
              <a:spcAft>
                <a:spcPts val="600"/>
              </a:spcAft>
              <a:buFont typeface="Wingdings" panose="05000000000000000000" pitchFamily="2" charset="2"/>
              <a:buChar char="ü"/>
            </a:pPr>
            <a:r>
              <a:rPr lang="zh-CN" altLang="en-US" sz="2133" dirty="0">
                <a:latin typeface="黑体" panose="02010609060101010101" pitchFamily="49" charset="-122"/>
              </a:rPr>
              <a:t>多次入选</a:t>
            </a:r>
            <a:r>
              <a:rPr lang="en-US" altLang="zh-CN" sz="2133" dirty="0">
                <a:latin typeface="黑体" panose="02010609060101010101" pitchFamily="49" charset="-122"/>
              </a:rPr>
              <a:t>2020-2024</a:t>
            </a:r>
            <a:r>
              <a:rPr lang="zh-CN" altLang="en-US" sz="2133" dirty="0">
                <a:latin typeface="黑体" panose="02010609060101010101" pitchFamily="49" charset="-122"/>
              </a:rPr>
              <a:t>年 </a:t>
            </a:r>
            <a:r>
              <a:rPr lang="en-US" altLang="zh-CN" sz="2133" dirty="0">
                <a:latin typeface="黑体" panose="02010609060101010101" pitchFamily="49" charset="-122"/>
              </a:rPr>
              <a:t>NIPS</a:t>
            </a:r>
            <a:r>
              <a:rPr lang="zh-CN" altLang="en-US" sz="2133" dirty="0">
                <a:latin typeface="黑体" panose="02010609060101010101" pitchFamily="49" charset="-122"/>
              </a:rPr>
              <a:t>、</a:t>
            </a:r>
            <a:r>
              <a:rPr lang="en" altLang="zh-CN" sz="2133" dirty="0">
                <a:latin typeface="黑体" panose="02010609060101010101" pitchFamily="49" charset="-122"/>
              </a:rPr>
              <a:t>VLDB</a:t>
            </a:r>
            <a:r>
              <a:rPr lang="zh-CN" altLang="en-US" sz="2133" dirty="0">
                <a:latin typeface="黑体" panose="02010609060101010101" pitchFamily="49" charset="-122"/>
              </a:rPr>
              <a:t>、</a:t>
            </a:r>
            <a:r>
              <a:rPr lang="en-US" altLang="zh-CN" sz="2133" dirty="0">
                <a:latin typeface="黑体" panose="02010609060101010101" pitchFamily="49" charset="-122"/>
              </a:rPr>
              <a:t>ICDE</a:t>
            </a:r>
            <a:r>
              <a:rPr lang="zh-CN" altLang="en-US" sz="2133" dirty="0">
                <a:latin typeface="黑体" panose="02010609060101010101" pitchFamily="49" charset="-122"/>
              </a:rPr>
              <a:t> 顶会</a:t>
            </a:r>
            <a:r>
              <a:rPr lang="zh-CN" altLang="en-US" sz="2133" b="1" dirty="0">
                <a:latin typeface="黑体" panose="02010609060101010101" pitchFamily="49" charset="-122"/>
              </a:rPr>
              <a:t>高被引用论文</a:t>
            </a:r>
            <a:r>
              <a:rPr lang="zh-CN" altLang="en-US" sz="2133" dirty="0">
                <a:latin typeface="黑体" panose="02010609060101010101" pitchFamily="49" charset="-122"/>
              </a:rPr>
              <a:t>；</a:t>
            </a:r>
            <a:endParaRPr lang="en-US" altLang="zh-CN" sz="2133" dirty="0">
              <a:latin typeface="黑体" panose="02010609060101010101" pitchFamily="49" charset="-122"/>
            </a:endParaRPr>
          </a:p>
          <a:p>
            <a:pPr marL="626384" indent="-284393">
              <a:lnSpc>
                <a:spcPct val="110000"/>
              </a:lnSpc>
              <a:spcBef>
                <a:spcPct val="0"/>
              </a:spcBef>
              <a:spcAft>
                <a:spcPts val="600"/>
              </a:spcAft>
              <a:buFont typeface="Wingdings" panose="05000000000000000000" pitchFamily="2" charset="2"/>
              <a:buChar char="ü"/>
            </a:pPr>
            <a:r>
              <a:rPr lang="zh-CN" altLang="en-US" sz="2133" dirty="0">
                <a:latin typeface="黑体" panose="02010609060101010101" pitchFamily="49" charset="-122"/>
              </a:rPr>
              <a:t>多篇论文选入知名高校课程（如</a:t>
            </a:r>
            <a:r>
              <a:rPr lang="en-US" altLang="zh-CN" sz="2133" dirty="0">
                <a:latin typeface="黑体" panose="02010609060101010101" pitchFamily="49" charset="-122"/>
              </a:rPr>
              <a:t>CMU 15-799</a:t>
            </a:r>
            <a:r>
              <a:rPr lang="zh-CN" altLang="en-US" sz="2133" dirty="0">
                <a:latin typeface="黑体" panose="02010609060101010101" pitchFamily="49" charset="-122"/>
              </a:rPr>
              <a:t>、</a:t>
            </a:r>
            <a:r>
              <a:rPr lang="en-US" altLang="zh-CN" sz="2133" dirty="0">
                <a:latin typeface="黑体" panose="02010609060101010101" pitchFamily="49" charset="-122"/>
              </a:rPr>
              <a:t>Cornell 7390</a:t>
            </a:r>
            <a:r>
              <a:rPr lang="zh-CN" altLang="en-US" sz="2133" dirty="0">
                <a:latin typeface="黑体" panose="02010609060101010101" pitchFamily="49" charset="-122"/>
              </a:rPr>
              <a:t>） </a:t>
            </a:r>
            <a:endParaRPr lang="en-US" altLang="zh-CN" sz="2133" dirty="0">
              <a:latin typeface="黑体" panose="02010609060101010101" pitchFamily="49" charset="-122"/>
            </a:endParaRPr>
          </a:p>
          <a:p>
            <a:pPr>
              <a:lnSpc>
                <a:spcPct val="110000"/>
              </a:lnSpc>
              <a:spcBef>
                <a:spcPct val="0"/>
              </a:spcBef>
              <a:spcAft>
                <a:spcPts val="600"/>
              </a:spcAft>
              <a:buFont typeface="Wingdings" panose="05000000000000000000" pitchFamily="2" charset="2"/>
              <a:buChar char="n"/>
            </a:pPr>
            <a:r>
              <a:rPr lang="zh-CN" altLang="en-US" sz="2133" b="1" dirty="0">
                <a:latin typeface="黑体" panose="02010609060101010101" pitchFamily="49" charset="-122"/>
              </a:rPr>
              <a:t> 代表项目：</a:t>
            </a:r>
            <a:endParaRPr lang="en-US" altLang="zh-CN" sz="2133" dirty="0" err="1">
              <a:latin typeface="黑体" panose="02010609060101010101" pitchFamily="49" charset="-122"/>
            </a:endParaRPr>
          </a:p>
          <a:p>
            <a:pPr marL="626384" indent="-284393">
              <a:lnSpc>
                <a:spcPct val="110000"/>
              </a:lnSpc>
              <a:spcBef>
                <a:spcPct val="0"/>
              </a:spcBef>
              <a:spcAft>
                <a:spcPts val="600"/>
              </a:spcAft>
              <a:buFont typeface="Wingdings" panose="05000000000000000000" pitchFamily="2" charset="2"/>
              <a:buChar char="ü"/>
            </a:pPr>
            <a:r>
              <a:rPr lang="en-US" altLang="zh-CN" sz="2133" b="1" dirty="0" err="1">
                <a:cs typeface="Arial" panose="020B0604020202020204" pitchFamily="34" charset="0"/>
              </a:rPr>
              <a:t>openGauss</a:t>
            </a:r>
            <a:r>
              <a:rPr lang="zh-CN" altLang="en-US" sz="2133" dirty="0" err="1">
                <a:latin typeface="黑体" panose="02010609060101010101" pitchFamily="49" charset="-122"/>
              </a:rPr>
              <a:t>自治版内核</a:t>
            </a:r>
            <a:r>
              <a:rPr lang="zh-CN" altLang="en-US" sz="2133" dirty="0">
                <a:latin typeface="黑体" panose="02010609060101010101" pitchFamily="49" charset="-122"/>
              </a:rPr>
              <a:t>，</a:t>
            </a:r>
            <a:r>
              <a:rPr lang="en-US" altLang="zh-CN" sz="2400" b="1" dirty="0">
                <a:latin typeface="黑体" panose="02010609060101010101" pitchFamily="49" charset="-122"/>
              </a:rPr>
              <a:t>3000+</a:t>
            </a:r>
            <a:r>
              <a:rPr lang="zh-CN" altLang="en-US" sz="2133" dirty="0">
                <a:latin typeface="黑体" panose="02010609060101010101" pitchFamily="49" charset="-122"/>
              </a:rPr>
              <a:t>星标，下载量破</a:t>
            </a:r>
            <a:r>
              <a:rPr lang="en-US" altLang="zh-CN" sz="2400" dirty="0">
                <a:latin typeface="黑体" panose="02010609060101010101" pitchFamily="49" charset="-122"/>
              </a:rPr>
              <a:t>300</a:t>
            </a:r>
            <a:r>
              <a:rPr lang="zh-CN" altLang="en-US" sz="2133" dirty="0">
                <a:latin typeface="黑体" panose="02010609060101010101" pitchFamily="49" charset="-122"/>
              </a:rPr>
              <a:t>万次，通信学会科学技术一等奖</a:t>
            </a:r>
            <a:endParaRPr lang="en-US" altLang="zh-CN" sz="2133" dirty="0">
              <a:latin typeface="黑体" panose="02010609060101010101" pitchFamily="49" charset="-122"/>
            </a:endParaRPr>
          </a:p>
          <a:p>
            <a:pPr marL="626384" indent="-284393">
              <a:lnSpc>
                <a:spcPct val="110000"/>
              </a:lnSpc>
              <a:spcBef>
                <a:spcPct val="0"/>
              </a:spcBef>
              <a:spcAft>
                <a:spcPts val="600"/>
              </a:spcAft>
              <a:buFont typeface="Wingdings" panose="05000000000000000000" pitchFamily="2" charset="2"/>
              <a:buChar char="ü"/>
            </a:pPr>
            <a:r>
              <a:rPr lang="en-US" altLang="zh-CN" sz="2133" b="1">
                <a:cs typeface="Arial" panose="020B0604020202020204" pitchFamily="34" charset="0"/>
              </a:rPr>
              <a:t>DB-GPT</a:t>
            </a:r>
            <a:r>
              <a:rPr lang="zh-CN" altLang="en-US" sz="2133" b="1">
                <a:cs typeface="Arial" panose="020B0604020202020204" pitchFamily="34" charset="0"/>
              </a:rPr>
              <a:t> </a:t>
            </a:r>
            <a:r>
              <a:rPr lang="zh-CN" altLang="en-US" sz="2133">
                <a:cs typeface="Arial" panose="020B0604020202020204" pitchFamily="34" charset="0"/>
              </a:rPr>
              <a:t>自治运维</a:t>
            </a:r>
            <a:r>
              <a:rPr lang="en-US" altLang="zh-CN" sz="2133">
                <a:latin typeface="黑体" panose="02010609060101010101" pitchFamily="49" charset="-122"/>
                <a:cs typeface="Arial" panose="020B0604020202020204" pitchFamily="34" charset="0"/>
              </a:rPr>
              <a:t>(</a:t>
            </a:r>
            <a:r>
              <a:rPr lang="en-US" sz="2133">
                <a:cs typeface="Arial" panose="020B0604020202020204" pitchFamily="34" charset="0"/>
              </a:rPr>
              <a:t>Benchcouncil Top100</a:t>
            </a:r>
            <a:r>
              <a:rPr lang="zh-CN" altLang="en-US" sz="2133">
                <a:cs typeface="Arial" panose="020B0604020202020204" pitchFamily="34" charset="0"/>
              </a:rPr>
              <a:t> </a:t>
            </a:r>
            <a:r>
              <a:rPr lang="zh-CN" altLang="en-US" sz="2133">
                <a:latin typeface="黑体" panose="02010609060101010101" pitchFamily="49" charset="-122"/>
              </a:rPr>
              <a:t>开源成就</a:t>
            </a:r>
            <a:r>
              <a:rPr lang="en-US" altLang="zh-CN" sz="2133">
                <a:latin typeface="黑体" panose="02010609060101010101" pitchFamily="49" charset="-122"/>
                <a:cs typeface="Arial" panose="020B0604020202020204" pitchFamily="34" charset="0"/>
              </a:rPr>
              <a:t>)</a:t>
            </a:r>
            <a:r>
              <a:rPr lang="zh-CN" altLang="en-US" sz="2133">
                <a:latin typeface="黑体" panose="02010609060101010101" pitchFamily="49" charset="-122"/>
              </a:rPr>
              <a:t>、</a:t>
            </a:r>
            <a:r>
              <a:rPr lang="en-US" altLang="zh-CN" sz="2133" b="1">
                <a:latin typeface="黑体" panose="02010609060101010101" pitchFamily="49" charset="-122"/>
              </a:rPr>
              <a:t>BMTools</a:t>
            </a:r>
            <a:r>
              <a:rPr lang="en-US" altLang="zh-CN" sz="2133">
                <a:latin typeface="黑体" panose="02010609060101010101" pitchFamily="49" charset="-122"/>
              </a:rPr>
              <a:t>(2.9k</a:t>
            </a:r>
            <a:r>
              <a:rPr lang="zh-CN" altLang="en-US" sz="2133">
                <a:latin typeface="黑体" panose="02010609060101010101" pitchFamily="49" charset="-122"/>
              </a:rPr>
              <a:t> </a:t>
            </a:r>
            <a:r>
              <a:rPr lang="en-US" altLang="zh-CN" sz="2133">
                <a:latin typeface="黑体" panose="02010609060101010101" pitchFamily="49" charset="-122"/>
              </a:rPr>
              <a:t>star)</a:t>
            </a:r>
            <a:endParaRPr lang="en-US" altLang="zh-CN" sz="2133" dirty="0">
              <a:latin typeface="黑体" panose="02010609060101010101" pitchFamily="49" charset="-122"/>
            </a:endParaRPr>
          </a:p>
          <a:p>
            <a:pPr marL="626384" indent="-284393">
              <a:lnSpc>
                <a:spcPct val="110000"/>
              </a:lnSpc>
              <a:spcBef>
                <a:spcPct val="0"/>
              </a:spcBef>
              <a:spcAft>
                <a:spcPts val="600"/>
              </a:spcAft>
              <a:buFont typeface="Wingdings" panose="05000000000000000000" pitchFamily="2" charset="2"/>
              <a:buChar char="ü"/>
            </a:pPr>
            <a:r>
              <a:rPr lang="en-US" altLang="zh-CN" sz="2133" b="1" dirty="0">
                <a:cs typeface="Arial" panose="020B0604020202020204" pitchFamily="34" charset="0"/>
              </a:rPr>
              <a:t>Bird-SQL</a:t>
            </a:r>
            <a:r>
              <a:rPr lang="zh-CN" altLang="en-US" sz="2133" dirty="0">
                <a:latin typeface="黑体" panose="02010609060101010101" pitchFamily="49" charset="-122"/>
              </a:rPr>
              <a:t>，被</a:t>
            </a:r>
            <a:r>
              <a:rPr lang="en-US" altLang="zh-CN" sz="2133" dirty="0">
                <a:cs typeface="Arial" panose="020B0604020202020204" pitchFamily="34" charset="0"/>
              </a:rPr>
              <a:t>openAI</a:t>
            </a:r>
            <a:r>
              <a:rPr lang="zh-CN" altLang="en-US" sz="2133" dirty="0">
                <a:latin typeface="黑体" panose="02010609060101010101" pitchFamily="49" charset="-122"/>
              </a:rPr>
              <a:t>采用推广其微调服务</a:t>
            </a:r>
            <a:endParaRPr lang="en-US" altLang="zh-CN" sz="2133" b="1" dirty="0">
              <a:latin typeface="黑体" panose="02010609060101010101" pitchFamily="49" charset="-122"/>
            </a:endParaRPr>
          </a:p>
          <a:p>
            <a:pPr>
              <a:lnSpc>
                <a:spcPct val="110000"/>
              </a:lnSpc>
              <a:spcBef>
                <a:spcPct val="0"/>
              </a:spcBef>
              <a:spcAft>
                <a:spcPts val="600"/>
              </a:spcAft>
              <a:buFont typeface="Wingdings" panose="05000000000000000000" pitchFamily="2" charset="2"/>
              <a:buChar char="n"/>
            </a:pPr>
            <a:r>
              <a:rPr lang="zh-CN" altLang="en-US" sz="2133" b="1" dirty="0">
                <a:latin typeface="黑体" panose="02010609060101010101" pitchFamily="49" charset="-122"/>
              </a:rPr>
              <a:t> 获奖情况：</a:t>
            </a:r>
            <a:endParaRPr lang="en-US" altLang="zh-CN" sz="2133" b="1" dirty="0">
              <a:latin typeface="黑体" panose="02010609060101010101" pitchFamily="49" charset="-122"/>
            </a:endParaRPr>
          </a:p>
          <a:p>
            <a:pPr marL="626384" indent="-284393">
              <a:lnSpc>
                <a:spcPct val="110000"/>
              </a:lnSpc>
              <a:spcBef>
                <a:spcPct val="0"/>
              </a:spcBef>
              <a:spcAft>
                <a:spcPts val="600"/>
              </a:spcAft>
              <a:buFont typeface="Wingdings" panose="05000000000000000000" pitchFamily="2" charset="2"/>
              <a:buChar char="ü"/>
            </a:pPr>
            <a:r>
              <a:rPr lang="en-US" altLang="zh-CN" sz="2133">
                <a:latin typeface="黑体" panose="02010609060101010101" pitchFamily="49" charset="-122"/>
              </a:rPr>
              <a:t>VLDB 2023 </a:t>
            </a:r>
            <a:r>
              <a:rPr lang="zh-CN" altLang="en-US" sz="2133">
                <a:latin typeface="黑体" panose="02010609060101010101" pitchFamily="49" charset="-122"/>
              </a:rPr>
              <a:t>最佳工业论文奖、</a:t>
            </a:r>
            <a:r>
              <a:rPr lang="en-US" altLang="zh-CN" sz="2133">
                <a:latin typeface="黑体" panose="02010609060101010101" pitchFamily="49" charset="-122"/>
              </a:rPr>
              <a:t>SIGMOD</a:t>
            </a:r>
            <a:r>
              <a:rPr lang="zh-CN" altLang="en-US" sz="2133">
                <a:latin typeface="黑体" panose="02010609060101010101" pitchFamily="49" charset="-122"/>
              </a:rPr>
              <a:t> </a:t>
            </a:r>
            <a:r>
              <a:rPr lang="en-US" altLang="zh-CN" sz="2133">
                <a:latin typeface="黑体" panose="02010609060101010101" pitchFamily="49" charset="-122"/>
              </a:rPr>
              <a:t>Jim</a:t>
            </a:r>
            <a:r>
              <a:rPr lang="zh-CN" altLang="en-US" sz="2133">
                <a:latin typeface="黑体" panose="02010609060101010101" pitchFamily="49" charset="-122"/>
              </a:rPr>
              <a:t> </a:t>
            </a:r>
            <a:r>
              <a:rPr lang="en-US" altLang="zh-CN" sz="2133">
                <a:latin typeface="黑体" panose="02010609060101010101" pitchFamily="49" charset="-122"/>
              </a:rPr>
              <a:t>Gray</a:t>
            </a:r>
            <a:r>
              <a:rPr lang="zh-CN" altLang="en-US" sz="2133">
                <a:latin typeface="黑体" panose="02010609060101010101" pitchFamily="49" charset="-122"/>
              </a:rPr>
              <a:t>提名奖（大陆首次）</a:t>
            </a:r>
            <a:endParaRPr lang="en-US" altLang="zh-CN" sz="2133">
              <a:latin typeface="黑体" panose="02010609060101010101" pitchFamily="49" charset="-122"/>
            </a:endParaRPr>
          </a:p>
          <a:p>
            <a:pPr marL="626384" indent="-284393">
              <a:lnSpc>
                <a:spcPct val="110000"/>
              </a:lnSpc>
              <a:spcBef>
                <a:spcPct val="0"/>
              </a:spcBef>
              <a:spcAft>
                <a:spcPts val="600"/>
              </a:spcAft>
              <a:buFont typeface="Wingdings" panose="05000000000000000000" pitchFamily="2" charset="2"/>
              <a:buChar char="ü"/>
            </a:pPr>
            <a:r>
              <a:rPr lang="zh-CN" altLang="en-US" sz="2133">
                <a:latin typeface="黑体" panose="02010609060101010101" pitchFamily="49" charset="-122"/>
              </a:rPr>
              <a:t>微软学者、字节跳动奖学金、清华特奖</a:t>
            </a:r>
            <a:endParaRPr lang="en-US" altLang="zh-CN" sz="2133">
              <a:latin typeface="黑体" panose="02010609060101010101" pitchFamily="49" charset="-122"/>
            </a:endParaRPr>
          </a:p>
        </p:txBody>
      </p:sp>
      <p:pic>
        <p:nvPicPr>
          <p:cNvPr id="8" name="Picture 7">
            <a:extLst>
              <a:ext uri="{FF2B5EF4-FFF2-40B4-BE49-F238E27FC236}">
                <a16:creationId xmlns:a16="http://schemas.microsoft.com/office/drawing/2014/main" id="{50F7A0DF-A507-463A-9151-E75A53C0F05F}"/>
              </a:ext>
            </a:extLst>
          </p:cNvPr>
          <p:cNvPicPr>
            <a:picLocks noChangeAspect="1"/>
          </p:cNvPicPr>
          <p:nvPr/>
        </p:nvPicPr>
        <p:blipFill>
          <a:blip r:embed="rId3"/>
          <a:srcRect l="7447" t="24875" r="7867" b="15413"/>
          <a:stretch>
            <a:fillRect/>
          </a:stretch>
        </p:blipFill>
        <p:spPr>
          <a:xfrm>
            <a:off x="8534689" y="107784"/>
            <a:ext cx="3415047" cy="3823419"/>
          </a:xfrm>
          <a:prstGeom prst="rect">
            <a:avLst/>
          </a:prstGeom>
        </p:spPr>
      </p:pic>
    </p:spTree>
    <p:extLst>
      <p:ext uri="{BB962C8B-B14F-4D97-AF65-F5344CB8AC3E}">
        <p14:creationId xmlns:p14="http://schemas.microsoft.com/office/powerpoint/2010/main" val="4272657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p:txBody>
          <a:bodyPr/>
          <a:lstStyle/>
          <a:p>
            <a:pPr>
              <a:buFont typeface="Wingdings" pitchFamily="2" charset="2"/>
              <a:buChar char="l"/>
            </a:pPr>
            <a:r>
              <a:rPr lang="zh-CN" altLang="en-US" dirty="0"/>
              <a:t>商业数据库之父发家史</a:t>
            </a:r>
            <a:endParaRPr lang="en-US" altLang="zh-CN" dirty="0"/>
          </a:p>
          <a:p>
            <a:pPr>
              <a:buFont typeface="Wingdings" pitchFamily="2" charset="2"/>
              <a:buChar char="l"/>
            </a:pPr>
            <a:r>
              <a:rPr lang="zh-CN" altLang="en-US" dirty="0"/>
              <a:t>数据库系统概述</a:t>
            </a:r>
            <a:endParaRPr lang="en-US" altLang="zh-CN" dirty="0"/>
          </a:p>
          <a:p>
            <a:pPr>
              <a:buFont typeface="Wingdings" pitchFamily="2" charset="2"/>
              <a:buChar char="l"/>
            </a:pPr>
            <a:r>
              <a:rPr lang="zh-CN" altLang="en-US" dirty="0"/>
              <a:t>数据库发展简史</a:t>
            </a:r>
            <a:endParaRPr lang="en-US" altLang="zh-CN" dirty="0"/>
          </a:p>
          <a:p>
            <a:pPr>
              <a:buFont typeface="Wingdings" pitchFamily="2" charset="2"/>
              <a:buChar char="l"/>
            </a:pPr>
            <a:r>
              <a:rPr lang="zh-CN" altLang="en-US" dirty="0"/>
              <a:t>数据库系统的应用和展望</a:t>
            </a:r>
            <a:endParaRPr lang="en-US" altLang="zh-CN" dirty="0"/>
          </a:p>
          <a:p>
            <a:pPr>
              <a:buFont typeface="Wingdings" pitchFamily="2" charset="2"/>
              <a:buChar char="l"/>
            </a:pPr>
            <a:r>
              <a:rPr lang="zh-CN" altLang="en-US"/>
              <a:t>本章小结</a:t>
            </a:r>
            <a:endParaRPr lang="zh-CN" altLang="en-US" dirty="0"/>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Tree>
    <p:extLst>
      <p:ext uri="{BB962C8B-B14F-4D97-AF65-F5344CB8AC3E}">
        <p14:creationId xmlns:p14="http://schemas.microsoft.com/office/powerpoint/2010/main" val="345977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DF39A-DBBC-7899-F5D5-095D4A24AC22}"/>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C6837F6B-24A7-C04F-EFD7-E1E7A302CDE3}"/>
              </a:ext>
            </a:extLst>
          </p:cNvPr>
          <p:cNvSpPr>
            <a:spLocks noGrp="1"/>
          </p:cNvSpPr>
          <p:nvPr>
            <p:ph idx="1"/>
          </p:nvPr>
        </p:nvSpPr>
        <p:spPr/>
        <p:txBody>
          <a:bodyPr/>
          <a:lstStyle/>
          <a:p>
            <a:pPr>
              <a:buFont typeface="Wingdings" pitchFamily="2" charset="2"/>
              <a:buChar char="l"/>
            </a:pPr>
            <a:r>
              <a:rPr lang="zh-CN" altLang="en-US" dirty="0"/>
              <a:t>商业数据库之父发家史</a:t>
            </a:r>
            <a:endParaRPr lang="en-US" altLang="zh-CN" dirty="0"/>
          </a:p>
          <a:p>
            <a:pPr>
              <a:buFont typeface="Wingdings" pitchFamily="2" charset="2"/>
              <a:buChar char="l"/>
            </a:pPr>
            <a:r>
              <a:rPr lang="zh-CN" altLang="en-US" dirty="0">
                <a:solidFill>
                  <a:schemeClr val="bg1">
                    <a:lumMod val="65000"/>
                  </a:schemeClr>
                </a:solidFill>
              </a:rPr>
              <a:t>数据库系统概述</a:t>
            </a:r>
            <a:endParaRPr lang="en-US" altLang="zh-CN" dirty="0">
              <a:solidFill>
                <a:schemeClr val="bg1">
                  <a:lumMod val="65000"/>
                </a:schemeClr>
              </a:solidFill>
            </a:endParaRPr>
          </a:p>
          <a:p>
            <a:pPr>
              <a:buFont typeface="Wingdings" pitchFamily="2" charset="2"/>
              <a:buChar char="l"/>
            </a:pPr>
            <a:r>
              <a:rPr lang="zh-CN" altLang="en-US" dirty="0">
                <a:solidFill>
                  <a:schemeClr val="bg1">
                    <a:lumMod val="65000"/>
                  </a:schemeClr>
                </a:solidFill>
              </a:rPr>
              <a:t>数据库发展简史</a:t>
            </a:r>
            <a:endParaRPr lang="en-US" altLang="zh-CN" dirty="0">
              <a:solidFill>
                <a:schemeClr val="bg1">
                  <a:lumMod val="65000"/>
                </a:schemeClr>
              </a:solidFill>
            </a:endParaRPr>
          </a:p>
          <a:p>
            <a:pPr>
              <a:buFont typeface="Wingdings" pitchFamily="2" charset="2"/>
              <a:buChar char="l"/>
            </a:pPr>
            <a:r>
              <a:rPr lang="zh-CN" altLang="en-US" dirty="0">
                <a:solidFill>
                  <a:schemeClr val="bg1">
                    <a:lumMod val="65000"/>
                  </a:schemeClr>
                </a:solidFill>
              </a:rPr>
              <a:t>数据库系统的应用和展望</a:t>
            </a:r>
            <a:endParaRPr lang="en-US" altLang="zh-CN" dirty="0">
              <a:solidFill>
                <a:schemeClr val="bg1">
                  <a:lumMod val="65000"/>
                </a:schemeClr>
              </a:solidFill>
            </a:endParaRPr>
          </a:p>
          <a:p>
            <a:pPr>
              <a:buFont typeface="Wingdings" pitchFamily="2" charset="2"/>
              <a:buChar char="l"/>
            </a:pPr>
            <a:r>
              <a:rPr lang="zh-CN" altLang="en-US">
                <a:solidFill>
                  <a:schemeClr val="bg1">
                    <a:lumMod val="65000"/>
                  </a:schemeClr>
                </a:solidFill>
              </a:rPr>
              <a:t>本章小结</a:t>
            </a:r>
            <a:endParaRPr lang="zh-CN" altLang="en-US" dirty="0">
              <a:solidFill>
                <a:schemeClr val="bg1">
                  <a:lumMod val="65000"/>
                </a:schemeClr>
              </a:solidFill>
            </a:endParaRPr>
          </a:p>
        </p:txBody>
      </p:sp>
      <p:sp>
        <p:nvSpPr>
          <p:cNvPr id="6" name="标题 5">
            <a:extLst>
              <a:ext uri="{FF2B5EF4-FFF2-40B4-BE49-F238E27FC236}">
                <a16:creationId xmlns:a16="http://schemas.microsoft.com/office/drawing/2014/main" id="{3A0A728E-1D41-86AB-C7C6-2E5FE8EF2532}"/>
              </a:ext>
            </a:extLst>
          </p:cNvPr>
          <p:cNvSpPr>
            <a:spLocks noGrp="1"/>
          </p:cNvSpPr>
          <p:nvPr>
            <p:ph type="title"/>
          </p:nvPr>
        </p:nvSpPr>
        <p:spPr/>
        <p:txBody>
          <a:bodyPr/>
          <a:lstStyle/>
          <a:p>
            <a:r>
              <a:rPr lang="zh-CN" altLang="en-US" dirty="0"/>
              <a:t>目录</a:t>
            </a:r>
          </a:p>
        </p:txBody>
      </p:sp>
    </p:spTree>
    <p:extLst>
      <p:ext uri="{BB962C8B-B14F-4D97-AF65-F5344CB8AC3E}">
        <p14:creationId xmlns:p14="http://schemas.microsoft.com/office/powerpoint/2010/main" val="4174897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76B24-0CF3-7DFB-3D17-2AF069864769}"/>
            </a:ext>
          </a:extLst>
        </p:cNvPr>
        <p:cNvGrpSpPr/>
        <p:nvPr/>
      </p:nvGrpSpPr>
      <p:grpSpPr>
        <a:xfrm>
          <a:off x="0" y="0"/>
          <a:ext cx="0" cy="0"/>
          <a:chOff x="0" y="0"/>
          <a:chExt cx="0" cy="0"/>
        </a:xfrm>
      </p:grpSpPr>
      <p:sp>
        <p:nvSpPr>
          <p:cNvPr id="5" name="文本框 6">
            <a:extLst>
              <a:ext uri="{FF2B5EF4-FFF2-40B4-BE49-F238E27FC236}">
                <a16:creationId xmlns:a16="http://schemas.microsoft.com/office/drawing/2014/main" id="{FEB72A19-DCB5-180E-E3EE-6EB031A84E8F}"/>
              </a:ext>
            </a:extLst>
          </p:cNvPr>
          <p:cNvSpPr txBox="1"/>
          <p:nvPr/>
        </p:nvSpPr>
        <p:spPr>
          <a:xfrm>
            <a:off x="930207" y="38369"/>
            <a:ext cx="10673684" cy="646331"/>
          </a:xfrm>
          <a:prstGeom prst="rect">
            <a:avLst/>
          </a:prstGeom>
          <a:noFill/>
        </p:spPr>
        <p:txBody>
          <a:bodyPr wrap="square">
            <a:spAutoFit/>
          </a:bodyPr>
          <a:lstStyle/>
          <a:p>
            <a:pPr algn="ctr" defTabSz="457189">
              <a:defRPr/>
            </a:pPr>
            <a:r>
              <a:rPr lang="zh-CN" altLang="en-US" sz="3600" b="1"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商业数据库之父</a:t>
            </a:r>
            <a:r>
              <a:rPr lang="en-US" altLang="zh-CN" sz="3600" b="1"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3600" b="1"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拉里</a:t>
            </a:r>
            <a:r>
              <a:rPr lang="en-US" altLang="zh-CN" sz="3600" b="1"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3600" b="1"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埃里森</a:t>
            </a:r>
            <a:endParaRPr lang="en-US" altLang="zh-CN" sz="3600" b="1"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endParaRPr>
          </a:p>
        </p:txBody>
      </p:sp>
      <p:pic>
        <p:nvPicPr>
          <p:cNvPr id="9" name="Picture 2" descr="Sam Altman, OpenAI CEO, speaks as President Donald Trump, left, Masayoshi Son, SoftBank Group CEO, third from left, and, Larry Ellison, chairman of Oracle Corporation and chief technology officer, right, listen, in the Roosevelt Room at the White House, on Jan. 21, 2025, in Washington.">
            <a:extLst>
              <a:ext uri="{FF2B5EF4-FFF2-40B4-BE49-F238E27FC236}">
                <a16:creationId xmlns:a16="http://schemas.microsoft.com/office/drawing/2014/main" id="{EA6DEEC9-7E99-0D93-12F9-DECFE7DBD6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2298" y="806293"/>
            <a:ext cx="8947404" cy="5964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5864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0E087-7754-1B3F-5955-2A3ECC13D6CA}"/>
            </a:ext>
          </a:extLst>
        </p:cNvPr>
        <p:cNvGrpSpPr/>
        <p:nvPr/>
      </p:nvGrpSpPr>
      <p:grpSpPr>
        <a:xfrm>
          <a:off x="0" y="0"/>
          <a:ext cx="0" cy="0"/>
          <a:chOff x="0" y="0"/>
          <a:chExt cx="0" cy="0"/>
        </a:xfrm>
      </p:grpSpPr>
      <p:sp>
        <p:nvSpPr>
          <p:cNvPr id="5" name="文本框 6">
            <a:extLst>
              <a:ext uri="{FF2B5EF4-FFF2-40B4-BE49-F238E27FC236}">
                <a16:creationId xmlns:a16="http://schemas.microsoft.com/office/drawing/2014/main" id="{BABD10FD-A958-50AF-00E6-2A0F42CADECD}"/>
              </a:ext>
            </a:extLst>
          </p:cNvPr>
          <p:cNvSpPr txBox="1"/>
          <p:nvPr/>
        </p:nvSpPr>
        <p:spPr>
          <a:xfrm>
            <a:off x="930207" y="38369"/>
            <a:ext cx="10673684" cy="646331"/>
          </a:xfrm>
          <a:prstGeom prst="rect">
            <a:avLst/>
          </a:prstGeom>
          <a:noFill/>
        </p:spPr>
        <p:txBody>
          <a:bodyPr wrap="square">
            <a:spAutoFit/>
          </a:bodyPr>
          <a:lstStyle/>
          <a:p>
            <a:pPr algn="ctr" defTabSz="457189">
              <a:defRPr/>
            </a:pPr>
            <a:r>
              <a:rPr lang="zh-CN" altLang="en-US" sz="3600" b="1"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商业数据库之父</a:t>
            </a:r>
            <a:r>
              <a:rPr lang="en-US" altLang="zh-CN" sz="3600" b="1"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3600" b="1"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拉里</a:t>
            </a:r>
            <a:r>
              <a:rPr lang="en-US" altLang="zh-CN" sz="3600" b="1"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3600" b="1"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埃里森</a:t>
            </a:r>
            <a:endParaRPr lang="en-US" altLang="zh-CN" sz="3600" b="1"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endParaRPr>
          </a:p>
        </p:txBody>
      </p:sp>
      <p:pic>
        <p:nvPicPr>
          <p:cNvPr id="2" name="Picture 2" descr="Sam Altman, OpenAI CEO, speaks as President Donald Trump, left, Masayoshi Son, SoftBank Group CEO, third from left, and, Larry Ellison, chairman of Oracle Corporation and chief technology officer, right, listen, in the Roosevelt Room at the White House, on Jan. 21, 2025, in Washington.">
            <a:extLst>
              <a:ext uri="{FF2B5EF4-FFF2-40B4-BE49-F238E27FC236}">
                <a16:creationId xmlns:a16="http://schemas.microsoft.com/office/drawing/2014/main" id="{AD0ED31B-BF2C-B39E-3713-8AC93B1CD7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2298" y="806293"/>
            <a:ext cx="8947404" cy="5964936"/>
          </a:xfrm>
          <a:prstGeom prst="rect">
            <a:avLst/>
          </a:prstGeom>
          <a:noFill/>
          <a:extLst>
            <a:ext uri="{909E8E84-426E-40DD-AFC4-6F175D3DCCD1}">
              <a14:hiddenFill xmlns:a14="http://schemas.microsoft.com/office/drawing/2010/main">
                <a:solidFill>
                  <a:srgbClr val="FFFFFF"/>
                </a:solidFill>
              </a14:hiddenFill>
            </a:ext>
          </a:extLst>
        </p:spPr>
      </p:pic>
      <p:sp>
        <p:nvSpPr>
          <p:cNvPr id="3" name="Shape18">
            <a:extLst>
              <a:ext uri="{FF2B5EF4-FFF2-40B4-BE49-F238E27FC236}">
                <a16:creationId xmlns:a16="http://schemas.microsoft.com/office/drawing/2014/main" id="{FB83324A-685E-DCC7-8FA1-C0494977ED39}"/>
              </a:ext>
            </a:extLst>
          </p:cNvPr>
          <p:cNvSpPr/>
          <p:nvPr/>
        </p:nvSpPr>
        <p:spPr>
          <a:xfrm>
            <a:off x="8203248" y="1943816"/>
            <a:ext cx="1401117" cy="3948151"/>
          </a:xfrm>
          <a:prstGeom prst="roundRect">
            <a:avLst>
              <a:gd name="adj" fmla="val 3046"/>
            </a:avLst>
          </a:prstGeom>
          <a:noFill/>
          <a:ln w="31750" cap="flat">
            <a:solidFill>
              <a:srgbClr val="C00000"/>
            </a:solidFill>
            <a:prstDash val="dash"/>
            <a:miter/>
            <a:extLst>
              <a:ext uri="{C807C97D-BFC1-408E-A445-0C87EB9F89A2}">
                <ask:lineSketchStyleProps xmlns:ask="http://schemas.microsoft.com/office/drawing/2018/sketchyshapes">
                  <ask:type>
                    <ask:lineSketchNone/>
                  </ask:type>
                </ask:lineSketchStyleProps>
              </a:ext>
            </a:extLst>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Tree>
    <p:extLst>
      <p:ext uri="{BB962C8B-B14F-4D97-AF65-F5344CB8AC3E}">
        <p14:creationId xmlns:p14="http://schemas.microsoft.com/office/powerpoint/2010/main" val="565355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A9C5-36FC-F682-5D59-60C79A32AFBE}"/>
            </a:ext>
          </a:extLst>
        </p:cNvPr>
        <p:cNvGrpSpPr/>
        <p:nvPr/>
      </p:nvGrpSpPr>
      <p:grpSpPr>
        <a:xfrm>
          <a:off x="0" y="0"/>
          <a:ext cx="0" cy="0"/>
          <a:chOff x="0" y="0"/>
          <a:chExt cx="0" cy="0"/>
        </a:xfrm>
      </p:grpSpPr>
      <p:sp>
        <p:nvSpPr>
          <p:cNvPr id="5" name="文本框 6">
            <a:extLst>
              <a:ext uri="{FF2B5EF4-FFF2-40B4-BE49-F238E27FC236}">
                <a16:creationId xmlns:a16="http://schemas.microsoft.com/office/drawing/2014/main" id="{2ECCD4F7-4CF1-C3F3-1846-DE6B96BF86A1}"/>
              </a:ext>
            </a:extLst>
          </p:cNvPr>
          <p:cNvSpPr txBox="1"/>
          <p:nvPr/>
        </p:nvSpPr>
        <p:spPr>
          <a:xfrm>
            <a:off x="930207" y="38369"/>
            <a:ext cx="10673684" cy="646331"/>
          </a:xfrm>
          <a:prstGeom prst="rect">
            <a:avLst/>
          </a:prstGeom>
          <a:noFill/>
        </p:spPr>
        <p:txBody>
          <a:bodyPr wrap="square">
            <a:spAutoFit/>
          </a:bodyPr>
          <a:lstStyle/>
          <a:p>
            <a:pPr algn="ctr" defTabSz="457189">
              <a:defRPr/>
            </a:pPr>
            <a:r>
              <a:rPr lang="zh-CN" altLang="en-US" sz="3600" b="1"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商业数据库之父</a:t>
            </a:r>
            <a:r>
              <a:rPr lang="en-US" altLang="zh-CN" sz="3600" b="1"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3600" b="1"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拉里</a:t>
            </a:r>
            <a:r>
              <a:rPr lang="en-US" altLang="zh-CN" sz="3600" b="1"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3600" b="1"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rPr>
              <a:t>埃里森</a:t>
            </a:r>
            <a:endParaRPr lang="en-US" altLang="zh-CN" sz="3600" b="1" dirty="0">
              <a:solidFill>
                <a:srgbClr val="000000"/>
              </a:solidFill>
              <a:latin typeface="Microsoft YaHei" panose="020B0503020204020204" pitchFamily="34" charset="-122"/>
              <a:ea typeface="Microsoft YaHei" panose="020B0503020204020204" pitchFamily="34" charset="-122"/>
              <a:cs typeface="Arial" panose="020B0604020202020204" pitchFamily="34" charset="0"/>
            </a:endParaRPr>
          </a:p>
        </p:txBody>
      </p:sp>
      <p:pic>
        <p:nvPicPr>
          <p:cNvPr id="4" name="Picture 4" descr="Larry Ellison tells USC grads how he went from divorced college dropout to  high-tech billionaire - Los Angeles Times">
            <a:extLst>
              <a:ext uri="{FF2B5EF4-FFF2-40B4-BE49-F238E27FC236}">
                <a16:creationId xmlns:a16="http://schemas.microsoft.com/office/drawing/2014/main" id="{ABE7ED4E-084F-C720-FA87-9B9985E503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399" y="1239127"/>
            <a:ext cx="3203134" cy="212754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4344F5D-2406-7FC2-1278-9B14DDA7EC4E}"/>
              </a:ext>
            </a:extLst>
          </p:cNvPr>
          <p:cNvSpPr txBox="1"/>
          <p:nvPr/>
        </p:nvSpPr>
        <p:spPr>
          <a:xfrm>
            <a:off x="597062" y="726265"/>
            <a:ext cx="3203133" cy="461665"/>
          </a:xfrm>
          <a:prstGeom prst="rect">
            <a:avLst/>
          </a:prstGeom>
          <a:noFill/>
        </p:spPr>
        <p:txBody>
          <a:bodyPr wrap="square" rtlCol="0">
            <a:spAutoFit/>
          </a:bodyPr>
          <a:lstStyle/>
          <a:p>
            <a:r>
              <a:rPr lang="en-US" altLang="zh-CN" sz="2400"/>
              <a:t>1962</a:t>
            </a:r>
            <a:r>
              <a:rPr lang="zh-CN" altLang="en-US" sz="2400"/>
              <a:t> </a:t>
            </a:r>
            <a:r>
              <a:rPr lang="en-US" altLang="zh-CN" sz="2400"/>
              <a:t>in</a:t>
            </a:r>
            <a:r>
              <a:rPr lang="zh-CN" altLang="en-US" sz="2400"/>
              <a:t> </a:t>
            </a:r>
            <a:r>
              <a:rPr lang="zh-CN" altLang="en-US" sz="2400" b="0" i="0" u="sng">
                <a:solidFill>
                  <a:srgbClr val="00008B"/>
                </a:solidFill>
                <a:effectLst/>
                <a:latin typeface="Arial" panose="020B0604020202020204" pitchFamily="34" charset="0"/>
                <a:hlinkClick r:id="rId3" tooltip="伊利诺斯大学"/>
              </a:rPr>
              <a:t>伊利诺斯大学</a:t>
            </a:r>
            <a:endParaRPr lang="en-US" sz="2400"/>
          </a:p>
        </p:txBody>
      </p:sp>
      <p:pic>
        <p:nvPicPr>
          <p:cNvPr id="7" name="Picture 2" descr="80岁硅谷大佬恋上33岁小邓文迪！为东北妹子壕掷千金，比马斯克还会玩....">
            <a:extLst>
              <a:ext uri="{FF2B5EF4-FFF2-40B4-BE49-F238E27FC236}">
                <a16:creationId xmlns:a16="http://schemas.microsoft.com/office/drawing/2014/main" id="{4E9B8736-6A85-B64C-10EA-D858889B5E9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1119" b="4476"/>
          <a:stretch/>
        </p:blipFill>
        <p:spPr bwMode="auto">
          <a:xfrm>
            <a:off x="4038601" y="1220588"/>
            <a:ext cx="3465400" cy="219111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1EC0166-D0FA-18E4-9FC7-042C67866E70}"/>
              </a:ext>
            </a:extLst>
          </p:cNvPr>
          <p:cNvSpPr txBox="1"/>
          <p:nvPr/>
        </p:nvSpPr>
        <p:spPr>
          <a:xfrm>
            <a:off x="4856973" y="738140"/>
            <a:ext cx="2053160" cy="461665"/>
          </a:xfrm>
          <a:prstGeom prst="rect">
            <a:avLst/>
          </a:prstGeom>
          <a:noFill/>
        </p:spPr>
        <p:txBody>
          <a:bodyPr wrap="square" rtlCol="0">
            <a:spAutoFit/>
          </a:bodyPr>
          <a:lstStyle/>
          <a:p>
            <a:r>
              <a:rPr lang="en-US" sz="2400"/>
              <a:t>早年在IBM</a:t>
            </a:r>
          </a:p>
        </p:txBody>
      </p:sp>
      <p:pic>
        <p:nvPicPr>
          <p:cNvPr id="11" name="Picture 10">
            <a:extLst>
              <a:ext uri="{FF2B5EF4-FFF2-40B4-BE49-F238E27FC236}">
                <a16:creationId xmlns:a16="http://schemas.microsoft.com/office/drawing/2014/main" id="{67A2D4E5-D2C6-48AB-9D28-DF22B160B22E}"/>
              </a:ext>
            </a:extLst>
          </p:cNvPr>
          <p:cNvPicPr>
            <a:picLocks noChangeAspect="1"/>
          </p:cNvPicPr>
          <p:nvPr/>
        </p:nvPicPr>
        <p:blipFill>
          <a:blip r:embed="rId5"/>
          <a:stretch>
            <a:fillRect/>
          </a:stretch>
        </p:blipFill>
        <p:spPr>
          <a:xfrm>
            <a:off x="4438434" y="1255189"/>
            <a:ext cx="2665734" cy="2191112"/>
          </a:xfrm>
          <a:prstGeom prst="rect">
            <a:avLst/>
          </a:prstGeom>
        </p:spPr>
      </p:pic>
      <p:pic>
        <p:nvPicPr>
          <p:cNvPr id="12" name="Picture 6" descr="When Larry Ellison Tore apart Bill gates and Microsoft">
            <a:extLst>
              <a:ext uri="{FF2B5EF4-FFF2-40B4-BE49-F238E27FC236}">
                <a16:creationId xmlns:a16="http://schemas.microsoft.com/office/drawing/2014/main" id="{C97DCA57-8432-E08D-6296-A39A912C08E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16869"/>
          <a:stretch/>
        </p:blipFill>
        <p:spPr bwMode="auto">
          <a:xfrm>
            <a:off x="352175" y="4216550"/>
            <a:ext cx="3203134" cy="216737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8651986D-18F2-490F-DF7E-B87E2BEA08E4}"/>
              </a:ext>
            </a:extLst>
          </p:cNvPr>
          <p:cNvSpPr txBox="1"/>
          <p:nvPr/>
        </p:nvSpPr>
        <p:spPr>
          <a:xfrm>
            <a:off x="9379929" y="721811"/>
            <a:ext cx="2053160" cy="461665"/>
          </a:xfrm>
          <a:prstGeom prst="rect">
            <a:avLst/>
          </a:prstGeom>
          <a:noFill/>
        </p:spPr>
        <p:txBody>
          <a:bodyPr wrap="square" rtlCol="0">
            <a:spAutoFit/>
          </a:bodyPr>
          <a:lstStyle/>
          <a:p>
            <a:r>
              <a:rPr lang="en-US" sz="2400"/>
              <a:t>第一桶金</a:t>
            </a:r>
          </a:p>
        </p:txBody>
      </p:sp>
      <p:pic>
        <p:nvPicPr>
          <p:cNvPr id="14" name="Picture 8" descr="Openly Pro-Israel Tech Group Now Has Control over UK's Most Sensitive  National Security Data">
            <a:extLst>
              <a:ext uri="{FF2B5EF4-FFF2-40B4-BE49-F238E27FC236}">
                <a16:creationId xmlns:a16="http://schemas.microsoft.com/office/drawing/2014/main" id="{987A0C06-17F2-54EC-4D03-01594AC75C6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94454" y="1206369"/>
            <a:ext cx="3943759" cy="221733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141BF01B-82EC-C700-EFBD-7261C98804F3}"/>
              </a:ext>
            </a:extLst>
          </p:cNvPr>
          <p:cNvSpPr txBox="1"/>
          <p:nvPr/>
        </p:nvSpPr>
        <p:spPr>
          <a:xfrm>
            <a:off x="843353" y="3698567"/>
            <a:ext cx="2732598" cy="461665"/>
          </a:xfrm>
          <a:prstGeom prst="rect">
            <a:avLst/>
          </a:prstGeom>
          <a:noFill/>
        </p:spPr>
        <p:txBody>
          <a:bodyPr wrap="square" rtlCol="0">
            <a:spAutoFit/>
          </a:bodyPr>
          <a:lstStyle/>
          <a:p>
            <a:r>
              <a:rPr lang="en-US" sz="2400"/>
              <a:t>找到对手</a:t>
            </a:r>
            <a:r>
              <a:rPr lang="zh-CN" altLang="en-US" sz="2400"/>
              <a:t>：微软</a:t>
            </a:r>
            <a:endParaRPr lang="en-US" sz="2400"/>
          </a:p>
        </p:txBody>
      </p:sp>
      <p:pic>
        <p:nvPicPr>
          <p:cNvPr id="16" name="Picture 10" descr="How Oracle's Larry Ellison Owns Most of Hawaiian Island Lana'i - Business  Insider">
            <a:extLst>
              <a:ext uri="{FF2B5EF4-FFF2-40B4-BE49-F238E27FC236}">
                <a16:creationId xmlns:a16="http://schemas.microsoft.com/office/drawing/2014/main" id="{0D799F90-52BA-3F21-9FAA-0F113BAC35F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75798" y="4232030"/>
            <a:ext cx="2869921" cy="215244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3BFAD84D-3A89-F3ED-3758-1B379C280930}"/>
              </a:ext>
            </a:extLst>
          </p:cNvPr>
          <p:cNvSpPr txBox="1"/>
          <p:nvPr/>
        </p:nvSpPr>
        <p:spPr>
          <a:xfrm>
            <a:off x="8964748" y="3698567"/>
            <a:ext cx="3373934" cy="461665"/>
          </a:xfrm>
          <a:prstGeom prst="rect">
            <a:avLst/>
          </a:prstGeom>
          <a:noFill/>
        </p:spPr>
        <p:txBody>
          <a:bodyPr wrap="square" rtlCol="0">
            <a:spAutoFit/>
          </a:bodyPr>
          <a:lstStyle/>
          <a:p>
            <a:r>
              <a:rPr lang="zh-CN" altLang="en-US" sz="2400"/>
              <a:t>“</a:t>
            </a:r>
            <a:r>
              <a:rPr lang="en-US" sz="2400"/>
              <a:t>无趣</a:t>
            </a:r>
            <a:r>
              <a:rPr lang="zh-CN" altLang="en-US" sz="2400"/>
              <a:t>”</a:t>
            </a:r>
            <a:r>
              <a:rPr lang="en-US" sz="2400"/>
              <a:t>的亿万富翁生活</a:t>
            </a:r>
          </a:p>
        </p:txBody>
      </p:sp>
      <p:sp>
        <p:nvSpPr>
          <p:cNvPr id="19" name="TextBox 18">
            <a:extLst>
              <a:ext uri="{FF2B5EF4-FFF2-40B4-BE49-F238E27FC236}">
                <a16:creationId xmlns:a16="http://schemas.microsoft.com/office/drawing/2014/main" id="{4FF7DD94-B1C4-FC0C-7580-C55A017CDB22}"/>
              </a:ext>
            </a:extLst>
          </p:cNvPr>
          <p:cNvSpPr txBox="1"/>
          <p:nvPr/>
        </p:nvSpPr>
        <p:spPr>
          <a:xfrm>
            <a:off x="4318589" y="3714609"/>
            <a:ext cx="3784118" cy="461665"/>
          </a:xfrm>
          <a:prstGeom prst="rect">
            <a:avLst/>
          </a:prstGeom>
          <a:noFill/>
        </p:spPr>
        <p:txBody>
          <a:bodyPr wrap="square" rtlCol="0">
            <a:spAutoFit/>
          </a:bodyPr>
          <a:lstStyle/>
          <a:p>
            <a:r>
              <a:rPr lang="en-US" sz="2400"/>
              <a:t>数据库</a:t>
            </a:r>
            <a:r>
              <a:rPr lang="zh-CN" altLang="en-US" sz="2400"/>
              <a:t> </a:t>
            </a:r>
            <a:r>
              <a:rPr lang="en-US" altLang="zh-CN" sz="2400"/>
              <a:t>+</a:t>
            </a:r>
            <a:r>
              <a:rPr lang="zh-CN" altLang="en-US" sz="2400"/>
              <a:t> </a:t>
            </a:r>
            <a:r>
              <a:rPr lang="en-US" altLang="zh-CN" sz="2400"/>
              <a:t>AI</a:t>
            </a:r>
            <a:r>
              <a:rPr lang="zh-CN" altLang="en-US" sz="2400"/>
              <a:t>，开启新时代</a:t>
            </a:r>
            <a:endParaRPr lang="en-US" sz="2400"/>
          </a:p>
        </p:txBody>
      </p:sp>
      <p:sp>
        <p:nvSpPr>
          <p:cNvPr id="20" name="Rectangle 3">
            <a:extLst>
              <a:ext uri="{FF2B5EF4-FFF2-40B4-BE49-F238E27FC236}">
                <a16:creationId xmlns:a16="http://schemas.microsoft.com/office/drawing/2014/main" id="{AD7D2F99-2372-811C-BB6D-9845DB09A99C}"/>
              </a:ext>
            </a:extLst>
          </p:cNvPr>
          <p:cNvSpPr/>
          <p:nvPr/>
        </p:nvSpPr>
        <p:spPr>
          <a:xfrm>
            <a:off x="822960" y="1442528"/>
            <a:ext cx="10121186" cy="1715183"/>
          </a:xfrm>
          <a:prstGeom prst="rect">
            <a:avLst/>
          </a:prstGeom>
          <a:solidFill>
            <a:srgbClr val="C1DCFF"/>
          </a:solidFill>
          <a:ln w="25400" cap="flat" cmpd="sng" algn="ctr">
            <a:noFill/>
            <a:prstDash val="solid"/>
          </a:ln>
          <a:effectLst/>
        </p:spPr>
        <p:txBody>
          <a:bodyPr rtlCol="0" anchor="ctr"/>
          <a:lstStyle/>
          <a:p>
            <a:pPr algn="ctr" defTabSz="914377">
              <a:defRPr/>
            </a:pPr>
            <a:r>
              <a:rPr lang="en-US" altLang="zh-CN" sz="2200" b="1" dirty="0">
                <a:latin typeface="Microsoft YaHei" panose="020B0503020204020204" pitchFamily="34" charset="-122"/>
                <a:ea typeface="Microsoft YaHei" panose="020B0503020204020204" pitchFamily="34" charset="-122"/>
              </a:rPr>
              <a:t>70</a:t>
            </a:r>
            <a:r>
              <a:rPr lang="zh-CN" altLang="en-US" sz="2200" b="1" dirty="0">
                <a:latin typeface="Microsoft YaHei" panose="020B0503020204020204" pitchFamily="34" charset="-122"/>
                <a:ea typeface="Microsoft YaHei" panose="020B0503020204020204" pitchFamily="34" charset="-122"/>
              </a:rPr>
              <a:t>年代，数据库技术已经广泛应用于商场，成千上万种商品的品牌、价格、生产日期等复杂信息都通过数据库存入电脑，每一种商品都被编码标号，出纳员只要用扫描机识别这一号码，就可以快速打印出商品的名称、数量、价格等信息，大大节省了人力和时间。正是数据库技术使超级市场变成了今天的模样。</a:t>
            </a:r>
          </a:p>
        </p:txBody>
      </p:sp>
      <p:pic>
        <p:nvPicPr>
          <p:cNvPr id="3074" name="Picture 2" descr="Oracle Autonomous Database：サービス概要のご紹介 - Speaker Deck">
            <a:extLst>
              <a:ext uri="{FF2B5EF4-FFF2-40B4-BE49-F238E27FC236}">
                <a16:creationId xmlns:a16="http://schemas.microsoft.com/office/drawing/2014/main" id="{8877148A-3C2E-F39D-3827-55D339F46F13}"/>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5848" t="37857" r="34669" b="17590"/>
          <a:stretch/>
        </p:blipFill>
        <p:spPr bwMode="auto">
          <a:xfrm>
            <a:off x="3715354" y="4215702"/>
            <a:ext cx="5225144" cy="2201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4269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07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3" grpId="0"/>
      <p:bldP spid="15" grpId="0"/>
      <p:bldP spid="17" grpId="0"/>
      <p:bldP spid="19" grpId="0"/>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C57A4-F068-66FF-72E3-3AF0C6F4231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6B081AD-A74A-690D-58C3-C615C5085501}"/>
              </a:ext>
            </a:extLst>
          </p:cNvPr>
          <p:cNvSpPr>
            <a:spLocks noGrp="1"/>
          </p:cNvSpPr>
          <p:nvPr>
            <p:ph type="title"/>
          </p:nvPr>
        </p:nvSpPr>
        <p:spPr/>
        <p:txBody>
          <a:bodyPr/>
          <a:lstStyle/>
          <a:p>
            <a:r>
              <a:rPr kumimoji="1" lang="zh-CN" altLang="en-US" dirty="0"/>
              <a:t>数据库发展史概览</a:t>
            </a:r>
          </a:p>
        </p:txBody>
      </p:sp>
      <p:pic>
        <p:nvPicPr>
          <p:cNvPr id="15" name="图片 14">
            <a:extLst>
              <a:ext uri="{FF2B5EF4-FFF2-40B4-BE49-F238E27FC236}">
                <a16:creationId xmlns:a16="http://schemas.microsoft.com/office/drawing/2014/main" id="{C8704C50-25DE-DAB8-AAAB-FFC66BF32841}"/>
              </a:ext>
            </a:extLst>
          </p:cNvPr>
          <p:cNvPicPr>
            <a:picLocks noChangeAspect="1"/>
          </p:cNvPicPr>
          <p:nvPr/>
        </p:nvPicPr>
        <p:blipFill>
          <a:blip r:embed="rId3"/>
          <a:stretch>
            <a:fillRect/>
          </a:stretch>
        </p:blipFill>
        <p:spPr>
          <a:xfrm>
            <a:off x="282786" y="989646"/>
            <a:ext cx="11540914" cy="5868354"/>
          </a:xfrm>
          <a:prstGeom prst="rect">
            <a:avLst/>
          </a:prstGeom>
        </p:spPr>
      </p:pic>
      <p:sp>
        <p:nvSpPr>
          <p:cNvPr id="4" name="灯片编号占位符 1">
            <a:extLst>
              <a:ext uri="{FF2B5EF4-FFF2-40B4-BE49-F238E27FC236}">
                <a16:creationId xmlns:a16="http://schemas.microsoft.com/office/drawing/2014/main" id="{2B6F4005-850A-966F-EDFB-A8507CB3364B}"/>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87BBDC00-B9E2-4EFD-9306-2934E87247C6}" type="slidenum">
              <a:rPr kumimoji="0" lang="zh-CN" altLang="en-US" sz="1800" b="0" i="0" u="none" strike="noStrike" kern="1200" cap="none" spc="0" normalizeH="0" baseline="0" noProof="0" smtClean="0">
                <a:ln>
                  <a:noFill/>
                </a:ln>
                <a:solidFill>
                  <a:srgbClr val="000000"/>
                </a:solidFill>
                <a:effectLst/>
                <a:uLnTx/>
                <a:uFillTx/>
                <a:latin typeface="Times New Roman"/>
                <a:ea typeface="华文楷体"/>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zh-CN" altLang="en-US" sz="1800" b="0" i="0" u="none" strike="noStrike" kern="1200" cap="none" spc="0" normalizeH="0" baseline="0" noProof="0">
              <a:ln>
                <a:noFill/>
              </a:ln>
              <a:solidFill>
                <a:srgbClr val="000000"/>
              </a:solidFill>
              <a:effectLst/>
              <a:uLnTx/>
              <a:uFillTx/>
              <a:latin typeface="Times New Roman"/>
              <a:ea typeface="华文楷体"/>
              <a:cs typeface="+mn-cs"/>
            </a:endParaRPr>
          </a:p>
        </p:txBody>
      </p:sp>
    </p:spTree>
    <p:extLst>
      <p:ext uri="{BB962C8B-B14F-4D97-AF65-F5344CB8AC3E}">
        <p14:creationId xmlns:p14="http://schemas.microsoft.com/office/powerpoint/2010/main" val="3253586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p:txBody>
          <a:bodyPr/>
          <a:lstStyle/>
          <a:p>
            <a:pPr>
              <a:buFont typeface="Wingdings" pitchFamily="2" charset="2"/>
              <a:buChar char="l"/>
            </a:pPr>
            <a:r>
              <a:rPr lang="zh-CN" altLang="en-US" dirty="0"/>
              <a:t>商业数据库之父发家史</a:t>
            </a:r>
            <a:endParaRPr lang="en-US" altLang="zh-CN" dirty="0"/>
          </a:p>
          <a:p>
            <a:pPr>
              <a:buFont typeface="Wingdings" pitchFamily="2" charset="2"/>
              <a:buChar char="l"/>
            </a:pPr>
            <a:r>
              <a:rPr lang="zh-CN" altLang="en-US" dirty="0"/>
              <a:t>数据库系统概述</a:t>
            </a:r>
            <a:endParaRPr lang="en-US" altLang="zh-CN" dirty="0"/>
          </a:p>
          <a:p>
            <a:pPr>
              <a:buFont typeface="Wingdings" pitchFamily="2" charset="2"/>
              <a:buChar char="l"/>
            </a:pPr>
            <a:r>
              <a:rPr lang="zh-CN" altLang="en-US" dirty="0">
                <a:solidFill>
                  <a:schemeClr val="bg2">
                    <a:lumMod val="40000"/>
                    <a:lumOff val="60000"/>
                  </a:schemeClr>
                </a:solidFill>
              </a:rPr>
              <a:t>数据库发展简史</a:t>
            </a:r>
            <a:endParaRPr lang="en-US" altLang="zh-CN" dirty="0"/>
          </a:p>
          <a:p>
            <a:pPr>
              <a:buFont typeface="Wingdings" pitchFamily="2" charset="2"/>
              <a:buChar char="l"/>
            </a:pPr>
            <a:r>
              <a:rPr lang="zh-CN" altLang="en-US" dirty="0">
                <a:solidFill>
                  <a:schemeClr val="bg2">
                    <a:lumMod val="40000"/>
                    <a:lumOff val="60000"/>
                  </a:schemeClr>
                </a:solidFill>
              </a:rPr>
              <a:t>数据库系统的应用和展望</a:t>
            </a:r>
            <a:endParaRPr lang="en-US" altLang="zh-CN" dirty="0">
              <a:solidFill>
                <a:schemeClr val="bg2">
                  <a:lumMod val="40000"/>
                  <a:lumOff val="60000"/>
                </a:schemeClr>
              </a:solidFill>
            </a:endParaRPr>
          </a:p>
          <a:p>
            <a:pPr>
              <a:buFont typeface="Wingdings" pitchFamily="2" charset="2"/>
              <a:buChar char="l"/>
            </a:pPr>
            <a:r>
              <a:rPr lang="zh-CN" altLang="en-US" dirty="0">
                <a:solidFill>
                  <a:schemeClr val="bg2">
                    <a:lumMod val="40000"/>
                    <a:lumOff val="60000"/>
                  </a:schemeClr>
                </a:solidFill>
              </a:rPr>
              <a:t>本章小结</a:t>
            </a: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
        <p:nvSpPr>
          <p:cNvPr id="4" name="灯片编号占位符 1">
            <a:extLst>
              <a:ext uri="{FF2B5EF4-FFF2-40B4-BE49-F238E27FC236}">
                <a16:creationId xmlns:a16="http://schemas.microsoft.com/office/drawing/2014/main" id="{88E1F849-360F-82A6-B20D-803211CAC736}"/>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9</a:t>
            </a:fld>
            <a:endParaRPr lang="zh-CN" altLang="en-US" dirty="0"/>
          </a:p>
        </p:txBody>
      </p:sp>
    </p:spTree>
    <p:extLst>
      <p:ext uri="{BB962C8B-B14F-4D97-AF65-F5344CB8AC3E}">
        <p14:creationId xmlns:p14="http://schemas.microsoft.com/office/powerpoint/2010/main" val="4053352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数据库的基本概念</a:t>
            </a:r>
          </a:p>
        </p:txBody>
      </p:sp>
      <p:sp>
        <p:nvSpPr>
          <p:cNvPr id="4" name="内容占位符 2">
            <a:extLst>
              <a:ext uri="{FF2B5EF4-FFF2-40B4-BE49-F238E27FC236}">
                <a16:creationId xmlns:a16="http://schemas.microsoft.com/office/drawing/2014/main" id="{99E90919-814E-29FD-7353-AFE98BE01B5D}"/>
              </a:ext>
            </a:extLst>
          </p:cNvPr>
          <p:cNvSpPr>
            <a:spLocks noGrp="1"/>
          </p:cNvSpPr>
          <p:nvPr>
            <p:ph idx="1"/>
          </p:nvPr>
        </p:nvSpPr>
        <p:spPr>
          <a:xfrm>
            <a:off x="304800" y="1201270"/>
            <a:ext cx="11456894" cy="2797523"/>
          </a:xfrm>
        </p:spPr>
        <p:txBody>
          <a:bodyPr/>
          <a:lstStyle/>
          <a:p>
            <a:r>
              <a:rPr lang="zh-CN" altLang="en-US" dirty="0">
                <a:latin typeface="Times" pitchFamily="2" charset="0"/>
              </a:rPr>
              <a:t>数据（</a:t>
            </a:r>
            <a:r>
              <a:rPr lang="en-US" altLang="zh-CN" dirty="0">
                <a:latin typeface="Times" pitchFamily="2" charset="0"/>
              </a:rPr>
              <a:t>Data</a:t>
            </a:r>
            <a:r>
              <a:rPr lang="zh-CN" altLang="en-US" dirty="0">
                <a:latin typeface="Times" pitchFamily="2" charset="0"/>
              </a:rPr>
              <a:t>）</a:t>
            </a:r>
            <a:endParaRPr lang="en-US" altLang="zh-CN" dirty="0">
              <a:latin typeface="Times" pitchFamily="2" charset="0"/>
            </a:endParaRPr>
          </a:p>
          <a:p>
            <a:r>
              <a:rPr lang="zh-CN" altLang="en-US" dirty="0">
                <a:latin typeface="Times" pitchFamily="2" charset="0"/>
              </a:rPr>
              <a:t>数据库（</a:t>
            </a:r>
            <a:r>
              <a:rPr lang="en-US" altLang="zh-CN" dirty="0">
                <a:latin typeface="Times" pitchFamily="2" charset="0"/>
              </a:rPr>
              <a:t>Database</a:t>
            </a:r>
            <a:r>
              <a:rPr lang="zh-CN" altLang="en-US" dirty="0">
                <a:latin typeface="Times" pitchFamily="2" charset="0"/>
              </a:rPr>
              <a:t>，</a:t>
            </a:r>
            <a:r>
              <a:rPr lang="en-US" altLang="zh-CN" dirty="0">
                <a:latin typeface="Times" pitchFamily="2" charset="0"/>
              </a:rPr>
              <a:t>DB</a:t>
            </a:r>
            <a:r>
              <a:rPr lang="zh-CN" altLang="en-US" dirty="0">
                <a:latin typeface="Times" pitchFamily="2" charset="0"/>
              </a:rPr>
              <a:t>）</a:t>
            </a:r>
            <a:endParaRPr lang="en-US" altLang="zh-CN" dirty="0">
              <a:latin typeface="Times" pitchFamily="2" charset="0"/>
            </a:endParaRPr>
          </a:p>
          <a:p>
            <a:r>
              <a:rPr lang="zh-CN" altLang="en-US" dirty="0">
                <a:latin typeface="Times" pitchFamily="2" charset="0"/>
              </a:rPr>
              <a:t>数据库管理系统（</a:t>
            </a:r>
            <a:r>
              <a:rPr lang="en-US" altLang="zh-CN" dirty="0">
                <a:latin typeface="Times" pitchFamily="2" charset="0"/>
              </a:rPr>
              <a:t>Database</a:t>
            </a:r>
            <a:r>
              <a:rPr lang="zh-CN" altLang="en-US" dirty="0">
                <a:latin typeface="Times" pitchFamily="2" charset="0"/>
              </a:rPr>
              <a:t> </a:t>
            </a:r>
            <a:r>
              <a:rPr lang="en-US" altLang="zh-CN" dirty="0">
                <a:latin typeface="Times" pitchFamily="2" charset="0"/>
              </a:rPr>
              <a:t>Management</a:t>
            </a:r>
            <a:r>
              <a:rPr lang="zh-CN" altLang="en-US" dirty="0">
                <a:latin typeface="Times" pitchFamily="2" charset="0"/>
              </a:rPr>
              <a:t> </a:t>
            </a:r>
            <a:r>
              <a:rPr lang="en-US" altLang="zh-CN" dirty="0">
                <a:latin typeface="Times" pitchFamily="2" charset="0"/>
              </a:rPr>
              <a:t>System</a:t>
            </a:r>
            <a:r>
              <a:rPr lang="zh-CN" altLang="en-US" dirty="0">
                <a:latin typeface="Times" pitchFamily="2" charset="0"/>
              </a:rPr>
              <a:t>，</a:t>
            </a:r>
            <a:r>
              <a:rPr lang="en-US" altLang="zh-CN" dirty="0">
                <a:latin typeface="Times" pitchFamily="2" charset="0"/>
              </a:rPr>
              <a:t>DBMS</a:t>
            </a:r>
            <a:r>
              <a:rPr lang="zh-CN" altLang="en-US" dirty="0">
                <a:latin typeface="Times" pitchFamily="2" charset="0"/>
              </a:rPr>
              <a:t>）</a:t>
            </a:r>
            <a:endParaRPr lang="en-US" altLang="zh-CN" dirty="0">
              <a:latin typeface="Times" pitchFamily="2" charset="0"/>
            </a:endParaRPr>
          </a:p>
          <a:p>
            <a:r>
              <a:rPr lang="zh-CN" altLang="en-US" dirty="0">
                <a:latin typeface="Times" pitchFamily="2" charset="0"/>
              </a:rPr>
              <a:t>数据库系统（</a:t>
            </a:r>
            <a:r>
              <a:rPr lang="en-US" altLang="zh-CN" dirty="0">
                <a:latin typeface="Times" pitchFamily="2" charset="0"/>
              </a:rPr>
              <a:t>Database</a:t>
            </a:r>
            <a:r>
              <a:rPr lang="zh-CN" altLang="en-US" dirty="0">
                <a:latin typeface="Times" pitchFamily="2" charset="0"/>
              </a:rPr>
              <a:t> </a:t>
            </a:r>
            <a:r>
              <a:rPr lang="en-US" altLang="zh-CN" dirty="0">
                <a:latin typeface="Times" pitchFamily="2" charset="0"/>
              </a:rPr>
              <a:t>System</a:t>
            </a:r>
            <a:r>
              <a:rPr lang="zh-CN" altLang="en-US" dirty="0">
                <a:latin typeface="Times" pitchFamily="2" charset="0"/>
              </a:rPr>
              <a:t>，</a:t>
            </a:r>
            <a:r>
              <a:rPr lang="en-US" altLang="zh-CN" dirty="0">
                <a:latin typeface="Times" pitchFamily="2" charset="0"/>
              </a:rPr>
              <a:t>DBS</a:t>
            </a:r>
            <a:r>
              <a:rPr lang="zh-CN" altLang="en-US" dirty="0">
                <a:latin typeface="Times" pitchFamily="2" charset="0"/>
              </a:rPr>
              <a:t>）</a:t>
            </a:r>
            <a:endParaRPr lang="en-US" altLang="zh-CN" dirty="0">
              <a:latin typeface="Times" pitchFamily="2" charset="0"/>
            </a:endParaRPr>
          </a:p>
          <a:p>
            <a:endParaRPr lang="en-US" altLang="zh-CN" sz="2000" dirty="0">
              <a:latin typeface="Times" pitchFamily="2" charset="0"/>
              <a:cs typeface="Arial" panose="020B0604020202020204" pitchFamily="34" charset="0"/>
            </a:endParaRPr>
          </a:p>
          <a:p>
            <a:endParaRPr lang="en-US" altLang="zh-CN" sz="2400" dirty="0">
              <a:latin typeface="Times" pitchFamily="2" charset="0"/>
              <a:cs typeface="Arial" panose="020B0604020202020204" pitchFamily="34" charset="0"/>
            </a:endParaRPr>
          </a:p>
        </p:txBody>
      </p:sp>
      <p:pic>
        <p:nvPicPr>
          <p:cNvPr id="6" name="图片 5">
            <a:extLst>
              <a:ext uri="{FF2B5EF4-FFF2-40B4-BE49-F238E27FC236}">
                <a16:creationId xmlns:a16="http://schemas.microsoft.com/office/drawing/2014/main" id="{1A214A47-2EC8-3BB0-067F-F85A74C2CEE5}"/>
              </a:ext>
            </a:extLst>
          </p:cNvPr>
          <p:cNvPicPr>
            <a:picLocks noChangeAspect="1"/>
          </p:cNvPicPr>
          <p:nvPr/>
        </p:nvPicPr>
        <p:blipFill>
          <a:blip r:embed="rId3"/>
          <a:stretch>
            <a:fillRect/>
          </a:stretch>
        </p:blipFill>
        <p:spPr>
          <a:xfrm>
            <a:off x="1905623" y="3739344"/>
            <a:ext cx="8380753" cy="3118656"/>
          </a:xfrm>
          <a:prstGeom prst="rect">
            <a:avLst/>
          </a:prstGeom>
        </p:spPr>
      </p:pic>
      <p:sp>
        <p:nvSpPr>
          <p:cNvPr id="5" name="灯片编号占位符 1">
            <a:extLst>
              <a:ext uri="{FF2B5EF4-FFF2-40B4-BE49-F238E27FC236}">
                <a16:creationId xmlns:a16="http://schemas.microsoft.com/office/drawing/2014/main" id="{405A4893-104A-3054-777B-BC7644954354}"/>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10</a:t>
            </a:fld>
            <a:endParaRPr lang="zh-CN" altLang="en-US" dirty="0"/>
          </a:p>
        </p:txBody>
      </p:sp>
    </p:spTree>
    <p:extLst>
      <p:ext uri="{BB962C8B-B14F-4D97-AF65-F5344CB8AC3E}">
        <p14:creationId xmlns:p14="http://schemas.microsoft.com/office/powerpoint/2010/main" val="2148271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数据库的基本概念</a:t>
            </a:r>
          </a:p>
        </p:txBody>
      </p:sp>
      <p:sp>
        <p:nvSpPr>
          <p:cNvPr id="4" name="内容占位符 2">
            <a:extLst>
              <a:ext uri="{FF2B5EF4-FFF2-40B4-BE49-F238E27FC236}">
                <a16:creationId xmlns:a16="http://schemas.microsoft.com/office/drawing/2014/main" id="{99E90919-814E-29FD-7353-AFE98BE01B5D}"/>
              </a:ext>
            </a:extLst>
          </p:cNvPr>
          <p:cNvSpPr>
            <a:spLocks noGrp="1"/>
          </p:cNvSpPr>
          <p:nvPr>
            <p:ph idx="1"/>
          </p:nvPr>
        </p:nvSpPr>
        <p:spPr>
          <a:xfrm>
            <a:off x="304800" y="1201270"/>
            <a:ext cx="11456894" cy="2797523"/>
          </a:xfrm>
        </p:spPr>
        <p:txBody>
          <a:bodyPr/>
          <a:lstStyle/>
          <a:p>
            <a:r>
              <a:rPr lang="zh-CN" altLang="en-US" dirty="0">
                <a:latin typeface="Times" pitchFamily="2" charset="0"/>
              </a:rPr>
              <a:t>数据（</a:t>
            </a:r>
            <a:r>
              <a:rPr lang="en-US" altLang="zh-CN" dirty="0">
                <a:latin typeface="Times" pitchFamily="2" charset="0"/>
              </a:rPr>
              <a:t>Data</a:t>
            </a:r>
            <a:r>
              <a:rPr lang="zh-CN" altLang="en-US" dirty="0">
                <a:latin typeface="Times" pitchFamily="2" charset="0"/>
              </a:rPr>
              <a:t>）</a:t>
            </a:r>
            <a:endParaRPr lang="en-US" altLang="zh-CN" dirty="0">
              <a:latin typeface="Times" pitchFamily="2" charset="0"/>
            </a:endParaRPr>
          </a:p>
          <a:p>
            <a:r>
              <a:rPr lang="zh-CN" altLang="en-US" dirty="0">
                <a:solidFill>
                  <a:schemeClr val="tx1">
                    <a:lumMod val="50000"/>
                    <a:lumOff val="50000"/>
                  </a:schemeClr>
                </a:solidFill>
                <a:latin typeface="Times" pitchFamily="2" charset="0"/>
              </a:rPr>
              <a:t>数据库（</a:t>
            </a:r>
            <a:r>
              <a:rPr lang="en-US" altLang="zh-CN" dirty="0">
                <a:solidFill>
                  <a:schemeClr val="tx1">
                    <a:lumMod val="50000"/>
                    <a:lumOff val="50000"/>
                  </a:schemeClr>
                </a:solidFill>
                <a:latin typeface="Times" pitchFamily="2" charset="0"/>
              </a:rPr>
              <a:t>Database</a:t>
            </a:r>
            <a:r>
              <a:rPr lang="zh-CN" altLang="en-US" dirty="0">
                <a:solidFill>
                  <a:schemeClr val="tx1">
                    <a:lumMod val="50000"/>
                    <a:lumOff val="50000"/>
                  </a:schemeClr>
                </a:solidFill>
                <a:latin typeface="Times" pitchFamily="2" charset="0"/>
              </a:rPr>
              <a:t>，</a:t>
            </a:r>
            <a:r>
              <a:rPr lang="en-US" altLang="zh-CN" dirty="0">
                <a:solidFill>
                  <a:schemeClr val="tx1">
                    <a:lumMod val="50000"/>
                    <a:lumOff val="50000"/>
                  </a:schemeClr>
                </a:solidFill>
                <a:latin typeface="Times" pitchFamily="2" charset="0"/>
              </a:rPr>
              <a:t>DB</a:t>
            </a:r>
            <a:r>
              <a:rPr lang="zh-CN" altLang="en-US" dirty="0">
                <a:solidFill>
                  <a:schemeClr val="tx1">
                    <a:lumMod val="50000"/>
                    <a:lumOff val="50000"/>
                  </a:schemeClr>
                </a:solidFill>
                <a:latin typeface="Times" pitchFamily="2" charset="0"/>
              </a:rPr>
              <a:t>）</a:t>
            </a:r>
            <a:endParaRPr lang="en-US" altLang="zh-CN" dirty="0">
              <a:solidFill>
                <a:schemeClr val="tx1">
                  <a:lumMod val="50000"/>
                  <a:lumOff val="50000"/>
                </a:schemeClr>
              </a:solidFill>
              <a:latin typeface="Times" pitchFamily="2" charset="0"/>
            </a:endParaRPr>
          </a:p>
          <a:p>
            <a:r>
              <a:rPr lang="zh-CN" altLang="en-US" dirty="0">
                <a:solidFill>
                  <a:schemeClr val="tx1">
                    <a:lumMod val="50000"/>
                    <a:lumOff val="50000"/>
                  </a:schemeClr>
                </a:solidFill>
                <a:latin typeface="Times" pitchFamily="2" charset="0"/>
              </a:rPr>
              <a:t>数据库管理系统（</a:t>
            </a:r>
            <a:r>
              <a:rPr lang="en-US" altLang="zh-CN" dirty="0">
                <a:solidFill>
                  <a:schemeClr val="tx1">
                    <a:lumMod val="50000"/>
                    <a:lumOff val="50000"/>
                  </a:schemeClr>
                </a:solidFill>
                <a:latin typeface="Times" pitchFamily="2" charset="0"/>
              </a:rPr>
              <a:t>Database</a:t>
            </a:r>
            <a:r>
              <a:rPr lang="zh-CN" altLang="en-US" dirty="0">
                <a:solidFill>
                  <a:schemeClr val="tx1">
                    <a:lumMod val="50000"/>
                    <a:lumOff val="50000"/>
                  </a:schemeClr>
                </a:solidFill>
                <a:latin typeface="Times" pitchFamily="2" charset="0"/>
              </a:rPr>
              <a:t> </a:t>
            </a:r>
            <a:r>
              <a:rPr lang="en-US" altLang="zh-CN" dirty="0">
                <a:solidFill>
                  <a:schemeClr val="tx1">
                    <a:lumMod val="50000"/>
                    <a:lumOff val="50000"/>
                  </a:schemeClr>
                </a:solidFill>
                <a:latin typeface="Times" pitchFamily="2" charset="0"/>
              </a:rPr>
              <a:t>Management</a:t>
            </a:r>
            <a:r>
              <a:rPr lang="zh-CN" altLang="en-US" dirty="0">
                <a:solidFill>
                  <a:schemeClr val="tx1">
                    <a:lumMod val="50000"/>
                    <a:lumOff val="50000"/>
                  </a:schemeClr>
                </a:solidFill>
                <a:latin typeface="Times" pitchFamily="2" charset="0"/>
              </a:rPr>
              <a:t> </a:t>
            </a:r>
            <a:r>
              <a:rPr lang="en-US" altLang="zh-CN" dirty="0">
                <a:solidFill>
                  <a:schemeClr val="tx1">
                    <a:lumMod val="50000"/>
                    <a:lumOff val="50000"/>
                  </a:schemeClr>
                </a:solidFill>
                <a:latin typeface="Times" pitchFamily="2" charset="0"/>
              </a:rPr>
              <a:t>System</a:t>
            </a:r>
            <a:r>
              <a:rPr lang="zh-CN" altLang="en-US" dirty="0">
                <a:solidFill>
                  <a:schemeClr val="tx1">
                    <a:lumMod val="50000"/>
                    <a:lumOff val="50000"/>
                  </a:schemeClr>
                </a:solidFill>
                <a:latin typeface="Times" pitchFamily="2" charset="0"/>
              </a:rPr>
              <a:t>，</a:t>
            </a:r>
            <a:r>
              <a:rPr lang="en-US" altLang="zh-CN" dirty="0">
                <a:solidFill>
                  <a:schemeClr val="tx1">
                    <a:lumMod val="50000"/>
                    <a:lumOff val="50000"/>
                  </a:schemeClr>
                </a:solidFill>
                <a:latin typeface="Times" pitchFamily="2" charset="0"/>
              </a:rPr>
              <a:t>DBMS</a:t>
            </a:r>
            <a:r>
              <a:rPr lang="zh-CN" altLang="en-US" dirty="0">
                <a:solidFill>
                  <a:schemeClr val="tx1">
                    <a:lumMod val="50000"/>
                    <a:lumOff val="50000"/>
                  </a:schemeClr>
                </a:solidFill>
                <a:latin typeface="Times" pitchFamily="2" charset="0"/>
              </a:rPr>
              <a:t>）</a:t>
            </a:r>
            <a:endParaRPr lang="en-US" altLang="zh-CN" dirty="0">
              <a:solidFill>
                <a:schemeClr val="tx1">
                  <a:lumMod val="50000"/>
                  <a:lumOff val="50000"/>
                </a:schemeClr>
              </a:solidFill>
              <a:latin typeface="Times" pitchFamily="2" charset="0"/>
            </a:endParaRPr>
          </a:p>
          <a:p>
            <a:r>
              <a:rPr lang="zh-CN" altLang="en-US" dirty="0">
                <a:solidFill>
                  <a:schemeClr val="tx1">
                    <a:lumMod val="50000"/>
                    <a:lumOff val="50000"/>
                  </a:schemeClr>
                </a:solidFill>
                <a:latin typeface="Times" pitchFamily="2" charset="0"/>
              </a:rPr>
              <a:t>数据库系统（</a:t>
            </a:r>
            <a:r>
              <a:rPr lang="en-US" altLang="zh-CN" dirty="0">
                <a:solidFill>
                  <a:schemeClr val="tx1">
                    <a:lumMod val="50000"/>
                    <a:lumOff val="50000"/>
                  </a:schemeClr>
                </a:solidFill>
                <a:latin typeface="Times" pitchFamily="2" charset="0"/>
              </a:rPr>
              <a:t>Database</a:t>
            </a:r>
            <a:r>
              <a:rPr lang="zh-CN" altLang="en-US" dirty="0">
                <a:solidFill>
                  <a:schemeClr val="tx1">
                    <a:lumMod val="50000"/>
                    <a:lumOff val="50000"/>
                  </a:schemeClr>
                </a:solidFill>
                <a:latin typeface="Times" pitchFamily="2" charset="0"/>
              </a:rPr>
              <a:t> </a:t>
            </a:r>
            <a:r>
              <a:rPr lang="en-US" altLang="zh-CN" dirty="0">
                <a:solidFill>
                  <a:schemeClr val="tx1">
                    <a:lumMod val="50000"/>
                    <a:lumOff val="50000"/>
                  </a:schemeClr>
                </a:solidFill>
                <a:latin typeface="Times" pitchFamily="2" charset="0"/>
              </a:rPr>
              <a:t>System</a:t>
            </a:r>
            <a:r>
              <a:rPr lang="zh-CN" altLang="en-US" dirty="0">
                <a:solidFill>
                  <a:schemeClr val="tx1">
                    <a:lumMod val="50000"/>
                    <a:lumOff val="50000"/>
                  </a:schemeClr>
                </a:solidFill>
                <a:latin typeface="Times" pitchFamily="2" charset="0"/>
              </a:rPr>
              <a:t>，</a:t>
            </a:r>
            <a:r>
              <a:rPr lang="en-US" altLang="zh-CN" dirty="0">
                <a:solidFill>
                  <a:schemeClr val="tx1">
                    <a:lumMod val="50000"/>
                    <a:lumOff val="50000"/>
                  </a:schemeClr>
                </a:solidFill>
                <a:latin typeface="Times" pitchFamily="2" charset="0"/>
              </a:rPr>
              <a:t>DBS</a:t>
            </a:r>
            <a:r>
              <a:rPr lang="zh-CN" altLang="en-US" dirty="0">
                <a:solidFill>
                  <a:schemeClr val="tx1">
                    <a:lumMod val="50000"/>
                    <a:lumOff val="50000"/>
                  </a:schemeClr>
                </a:solidFill>
                <a:latin typeface="Times" pitchFamily="2" charset="0"/>
              </a:rPr>
              <a:t>）</a:t>
            </a:r>
            <a:endParaRPr lang="en-US" altLang="zh-CN" dirty="0">
              <a:solidFill>
                <a:schemeClr val="tx1">
                  <a:lumMod val="50000"/>
                  <a:lumOff val="50000"/>
                </a:schemeClr>
              </a:solidFill>
              <a:latin typeface="Times" pitchFamily="2" charset="0"/>
            </a:endParaRPr>
          </a:p>
          <a:p>
            <a:endParaRPr lang="en-US" altLang="zh-CN" sz="2000" dirty="0">
              <a:latin typeface="Times" pitchFamily="2" charset="0"/>
              <a:cs typeface="Arial" panose="020B0604020202020204" pitchFamily="34" charset="0"/>
            </a:endParaRPr>
          </a:p>
          <a:p>
            <a:endParaRPr lang="en-US" altLang="zh-CN" sz="2400" dirty="0">
              <a:latin typeface="Times" pitchFamily="2" charset="0"/>
              <a:cs typeface="Arial" panose="020B0604020202020204" pitchFamily="34" charset="0"/>
            </a:endParaRPr>
          </a:p>
        </p:txBody>
      </p:sp>
      <p:pic>
        <p:nvPicPr>
          <p:cNvPr id="6" name="图片 5">
            <a:extLst>
              <a:ext uri="{FF2B5EF4-FFF2-40B4-BE49-F238E27FC236}">
                <a16:creationId xmlns:a16="http://schemas.microsoft.com/office/drawing/2014/main" id="{1A214A47-2EC8-3BB0-067F-F85A74C2CEE5}"/>
              </a:ext>
            </a:extLst>
          </p:cNvPr>
          <p:cNvPicPr>
            <a:picLocks noChangeAspect="1"/>
          </p:cNvPicPr>
          <p:nvPr/>
        </p:nvPicPr>
        <p:blipFill>
          <a:blip r:embed="rId3"/>
          <a:stretch>
            <a:fillRect/>
          </a:stretch>
        </p:blipFill>
        <p:spPr>
          <a:xfrm>
            <a:off x="1905623" y="3739344"/>
            <a:ext cx="8380753" cy="3118656"/>
          </a:xfrm>
          <a:prstGeom prst="rect">
            <a:avLst/>
          </a:prstGeom>
        </p:spPr>
      </p:pic>
      <p:sp>
        <p:nvSpPr>
          <p:cNvPr id="5" name="灯片编号占位符 1">
            <a:extLst>
              <a:ext uri="{FF2B5EF4-FFF2-40B4-BE49-F238E27FC236}">
                <a16:creationId xmlns:a16="http://schemas.microsoft.com/office/drawing/2014/main" id="{95756256-ADBB-5F3C-49C2-8D3A0C022181}"/>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11</a:t>
            </a:fld>
            <a:endParaRPr lang="zh-CN" altLang="en-US" dirty="0"/>
          </a:p>
        </p:txBody>
      </p:sp>
    </p:spTree>
    <p:extLst>
      <p:ext uri="{BB962C8B-B14F-4D97-AF65-F5344CB8AC3E}">
        <p14:creationId xmlns:p14="http://schemas.microsoft.com/office/powerpoint/2010/main" val="2926523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数据</a:t>
            </a:r>
          </a:p>
        </p:txBody>
      </p:sp>
      <p:sp>
        <p:nvSpPr>
          <p:cNvPr id="9" name="内容占位符 2">
            <a:extLst>
              <a:ext uri="{FF2B5EF4-FFF2-40B4-BE49-F238E27FC236}">
                <a16:creationId xmlns:a16="http://schemas.microsoft.com/office/drawing/2014/main" id="{A940BF3F-74FD-1D56-0CB3-C868BBCBE800}"/>
              </a:ext>
            </a:extLst>
          </p:cNvPr>
          <p:cNvSpPr>
            <a:spLocks noGrp="1"/>
          </p:cNvSpPr>
          <p:nvPr>
            <p:ph idx="1"/>
          </p:nvPr>
        </p:nvSpPr>
        <p:spPr>
          <a:xfrm>
            <a:off x="326836" y="1352575"/>
            <a:ext cx="11523042" cy="5170145"/>
          </a:xfrm>
        </p:spPr>
        <p:txBody>
          <a:bodyPr/>
          <a:lstStyle/>
          <a:p>
            <a:r>
              <a:rPr lang="zh-CN" altLang="en-US" dirty="0"/>
              <a:t>什么是数据？</a:t>
            </a:r>
            <a:endParaRPr lang="en-US" altLang="zh-CN" dirty="0"/>
          </a:p>
          <a:p>
            <a:pPr lvl="1"/>
            <a:r>
              <a:rPr lang="zh-CN" altLang="en-US" dirty="0"/>
              <a:t>在现实生活，</a:t>
            </a:r>
            <a:r>
              <a:rPr lang="zh-CN" altLang="zh-CN" dirty="0"/>
              <a:t>数据是可识别的抽象符号</a:t>
            </a:r>
            <a:r>
              <a:rPr lang="zh-CN" altLang="en-US" dirty="0"/>
              <a:t>，即描述事物的符号记录</a:t>
            </a:r>
            <a:r>
              <a:rPr lang="zh-CN" altLang="zh-CN" dirty="0"/>
              <a:t>。</a:t>
            </a:r>
            <a:endParaRPr lang="en-US" altLang="zh-CN" dirty="0"/>
          </a:p>
          <a:p>
            <a:pPr lvl="1"/>
            <a:r>
              <a:rPr lang="zh-CN" altLang="zh-CN" dirty="0"/>
              <a:t>在计算机中，数据是所有能被计算机处理的符号的总称</a:t>
            </a:r>
            <a:endParaRPr lang="en-US" altLang="zh-CN" dirty="0"/>
          </a:p>
          <a:p>
            <a:pPr lvl="1"/>
            <a:r>
              <a:rPr lang="zh-CN" altLang="en-US" dirty="0"/>
              <a:t>在数据库中，数据</a:t>
            </a:r>
            <a:r>
              <a:rPr lang="zh-CN" altLang="zh-CN" dirty="0"/>
              <a:t>是数据库中</a:t>
            </a:r>
            <a:r>
              <a:rPr lang="zh-CN" altLang="en-US" dirty="0"/>
              <a:t>存储</a:t>
            </a:r>
            <a:r>
              <a:rPr lang="zh-CN" altLang="zh-CN" dirty="0"/>
              <a:t>的基本对象 </a:t>
            </a:r>
            <a:endParaRPr lang="en-US" altLang="zh-CN" dirty="0"/>
          </a:p>
          <a:p>
            <a:r>
              <a:rPr lang="zh-CN" altLang="en-US" dirty="0"/>
              <a:t>数据的种类</a:t>
            </a:r>
            <a:r>
              <a:rPr lang="en-US" altLang="zh-CN" dirty="0"/>
              <a:t>:</a:t>
            </a:r>
          </a:p>
          <a:p>
            <a:pPr lvl="1"/>
            <a:r>
              <a:rPr lang="zh-CN" altLang="en-US" dirty="0"/>
              <a:t>数字，例如 </a:t>
            </a:r>
            <a:r>
              <a:rPr lang="en-US" altLang="zh-CN" dirty="0"/>
              <a:t>1</a:t>
            </a:r>
            <a:r>
              <a:rPr lang="zh-CN" altLang="en-US" dirty="0"/>
              <a:t>、</a:t>
            </a:r>
            <a:r>
              <a:rPr lang="en-US" altLang="zh-CN" dirty="0"/>
              <a:t>2</a:t>
            </a:r>
            <a:r>
              <a:rPr lang="zh-CN" altLang="en-US" dirty="0"/>
              <a:t>、</a:t>
            </a:r>
            <a:r>
              <a:rPr lang="en-US" altLang="zh-CN" dirty="0"/>
              <a:t>3</a:t>
            </a:r>
          </a:p>
          <a:p>
            <a:pPr lvl="1"/>
            <a:r>
              <a:rPr lang="zh-CN" altLang="en-US" dirty="0"/>
              <a:t>文本</a:t>
            </a:r>
            <a:endParaRPr lang="en-US" altLang="zh-CN" dirty="0"/>
          </a:p>
          <a:p>
            <a:pPr lvl="1"/>
            <a:r>
              <a:rPr lang="zh-CN" altLang="en-US" dirty="0"/>
              <a:t>图像</a:t>
            </a:r>
            <a:endParaRPr lang="en-US" altLang="zh-CN" dirty="0"/>
          </a:p>
          <a:p>
            <a:pPr lvl="1"/>
            <a:r>
              <a:rPr lang="zh-CN" altLang="en-US" dirty="0"/>
              <a:t>音频</a:t>
            </a:r>
            <a:endParaRPr lang="en-US" altLang="zh-CN" dirty="0"/>
          </a:p>
          <a:p>
            <a:pPr lvl="1"/>
            <a:r>
              <a:rPr lang="en-US" altLang="zh-CN" dirty="0"/>
              <a:t>…</a:t>
            </a:r>
          </a:p>
        </p:txBody>
      </p:sp>
      <p:sp>
        <p:nvSpPr>
          <p:cNvPr id="4" name="灯片编号占位符 1">
            <a:extLst>
              <a:ext uri="{FF2B5EF4-FFF2-40B4-BE49-F238E27FC236}">
                <a16:creationId xmlns:a16="http://schemas.microsoft.com/office/drawing/2014/main" id="{3FCA3F72-756B-E84E-2499-AD9D3530E9D6}"/>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12</a:t>
            </a:fld>
            <a:endParaRPr lang="zh-CN" altLang="en-US" dirty="0"/>
          </a:p>
        </p:txBody>
      </p:sp>
    </p:spTree>
    <p:extLst>
      <p:ext uri="{BB962C8B-B14F-4D97-AF65-F5344CB8AC3E}">
        <p14:creationId xmlns:p14="http://schemas.microsoft.com/office/powerpoint/2010/main" val="2000215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数据库的基本概念</a:t>
            </a:r>
          </a:p>
        </p:txBody>
      </p:sp>
      <p:sp>
        <p:nvSpPr>
          <p:cNvPr id="4" name="内容占位符 2">
            <a:extLst>
              <a:ext uri="{FF2B5EF4-FFF2-40B4-BE49-F238E27FC236}">
                <a16:creationId xmlns:a16="http://schemas.microsoft.com/office/drawing/2014/main" id="{99E90919-814E-29FD-7353-AFE98BE01B5D}"/>
              </a:ext>
            </a:extLst>
          </p:cNvPr>
          <p:cNvSpPr>
            <a:spLocks noGrp="1"/>
          </p:cNvSpPr>
          <p:nvPr>
            <p:ph idx="1"/>
          </p:nvPr>
        </p:nvSpPr>
        <p:spPr>
          <a:xfrm>
            <a:off x="304800" y="1201270"/>
            <a:ext cx="11456894" cy="2797523"/>
          </a:xfrm>
        </p:spPr>
        <p:txBody>
          <a:bodyPr/>
          <a:lstStyle/>
          <a:p>
            <a:r>
              <a:rPr lang="zh-CN" altLang="en-US" dirty="0">
                <a:solidFill>
                  <a:schemeClr val="tx1">
                    <a:lumMod val="50000"/>
                    <a:lumOff val="50000"/>
                  </a:schemeClr>
                </a:solidFill>
                <a:latin typeface="Times" pitchFamily="2" charset="0"/>
              </a:rPr>
              <a:t>数据（</a:t>
            </a:r>
            <a:r>
              <a:rPr lang="en-US" altLang="zh-CN" dirty="0">
                <a:solidFill>
                  <a:schemeClr val="tx1">
                    <a:lumMod val="50000"/>
                    <a:lumOff val="50000"/>
                  </a:schemeClr>
                </a:solidFill>
                <a:latin typeface="Times" pitchFamily="2" charset="0"/>
              </a:rPr>
              <a:t>Data</a:t>
            </a:r>
            <a:r>
              <a:rPr lang="zh-CN" altLang="en-US" dirty="0">
                <a:solidFill>
                  <a:schemeClr val="tx1">
                    <a:lumMod val="50000"/>
                    <a:lumOff val="50000"/>
                  </a:schemeClr>
                </a:solidFill>
                <a:latin typeface="Times" pitchFamily="2" charset="0"/>
              </a:rPr>
              <a:t>）</a:t>
            </a:r>
            <a:endParaRPr lang="en-US" altLang="zh-CN" dirty="0">
              <a:solidFill>
                <a:schemeClr val="tx1">
                  <a:lumMod val="50000"/>
                  <a:lumOff val="50000"/>
                </a:schemeClr>
              </a:solidFill>
              <a:latin typeface="Times" pitchFamily="2" charset="0"/>
            </a:endParaRPr>
          </a:p>
          <a:p>
            <a:r>
              <a:rPr lang="zh-CN" altLang="en-US" dirty="0">
                <a:latin typeface="Times" pitchFamily="2" charset="0"/>
              </a:rPr>
              <a:t>数据库（</a:t>
            </a:r>
            <a:r>
              <a:rPr lang="en-US" altLang="zh-CN" dirty="0">
                <a:latin typeface="Times" pitchFamily="2" charset="0"/>
              </a:rPr>
              <a:t>Database</a:t>
            </a:r>
            <a:r>
              <a:rPr lang="zh-CN" altLang="en-US" dirty="0">
                <a:latin typeface="Times" pitchFamily="2" charset="0"/>
              </a:rPr>
              <a:t>，</a:t>
            </a:r>
            <a:r>
              <a:rPr lang="en-US" altLang="zh-CN" dirty="0">
                <a:latin typeface="Times" pitchFamily="2" charset="0"/>
              </a:rPr>
              <a:t>DB</a:t>
            </a:r>
            <a:r>
              <a:rPr lang="zh-CN" altLang="en-US" dirty="0">
                <a:latin typeface="Times" pitchFamily="2" charset="0"/>
              </a:rPr>
              <a:t>）</a:t>
            </a:r>
            <a:endParaRPr lang="en-US" altLang="zh-CN" dirty="0">
              <a:latin typeface="Times" pitchFamily="2" charset="0"/>
            </a:endParaRPr>
          </a:p>
          <a:p>
            <a:r>
              <a:rPr lang="zh-CN" altLang="en-US" dirty="0">
                <a:solidFill>
                  <a:schemeClr val="tx1">
                    <a:lumMod val="50000"/>
                    <a:lumOff val="50000"/>
                  </a:schemeClr>
                </a:solidFill>
                <a:latin typeface="Times" pitchFamily="2" charset="0"/>
              </a:rPr>
              <a:t>数据库管理系统（</a:t>
            </a:r>
            <a:r>
              <a:rPr lang="en-US" altLang="zh-CN" dirty="0">
                <a:solidFill>
                  <a:schemeClr val="tx1">
                    <a:lumMod val="50000"/>
                    <a:lumOff val="50000"/>
                  </a:schemeClr>
                </a:solidFill>
                <a:latin typeface="Times" pitchFamily="2" charset="0"/>
              </a:rPr>
              <a:t>Database</a:t>
            </a:r>
            <a:r>
              <a:rPr lang="zh-CN" altLang="en-US" dirty="0">
                <a:solidFill>
                  <a:schemeClr val="tx1">
                    <a:lumMod val="50000"/>
                    <a:lumOff val="50000"/>
                  </a:schemeClr>
                </a:solidFill>
                <a:latin typeface="Times" pitchFamily="2" charset="0"/>
              </a:rPr>
              <a:t> </a:t>
            </a:r>
            <a:r>
              <a:rPr lang="en-US" altLang="zh-CN" dirty="0">
                <a:solidFill>
                  <a:schemeClr val="tx1">
                    <a:lumMod val="50000"/>
                    <a:lumOff val="50000"/>
                  </a:schemeClr>
                </a:solidFill>
                <a:latin typeface="Times" pitchFamily="2" charset="0"/>
              </a:rPr>
              <a:t>Management</a:t>
            </a:r>
            <a:r>
              <a:rPr lang="zh-CN" altLang="en-US" dirty="0">
                <a:solidFill>
                  <a:schemeClr val="tx1">
                    <a:lumMod val="50000"/>
                    <a:lumOff val="50000"/>
                  </a:schemeClr>
                </a:solidFill>
                <a:latin typeface="Times" pitchFamily="2" charset="0"/>
              </a:rPr>
              <a:t> </a:t>
            </a:r>
            <a:r>
              <a:rPr lang="en-US" altLang="zh-CN" dirty="0">
                <a:solidFill>
                  <a:schemeClr val="tx1">
                    <a:lumMod val="50000"/>
                    <a:lumOff val="50000"/>
                  </a:schemeClr>
                </a:solidFill>
                <a:latin typeface="Times" pitchFamily="2" charset="0"/>
              </a:rPr>
              <a:t>System</a:t>
            </a:r>
            <a:r>
              <a:rPr lang="zh-CN" altLang="en-US" dirty="0">
                <a:solidFill>
                  <a:schemeClr val="tx1">
                    <a:lumMod val="50000"/>
                    <a:lumOff val="50000"/>
                  </a:schemeClr>
                </a:solidFill>
                <a:latin typeface="Times" pitchFamily="2" charset="0"/>
              </a:rPr>
              <a:t>，</a:t>
            </a:r>
            <a:r>
              <a:rPr lang="en-US" altLang="zh-CN" dirty="0">
                <a:solidFill>
                  <a:schemeClr val="tx1">
                    <a:lumMod val="50000"/>
                    <a:lumOff val="50000"/>
                  </a:schemeClr>
                </a:solidFill>
                <a:latin typeface="Times" pitchFamily="2" charset="0"/>
              </a:rPr>
              <a:t>DBMS</a:t>
            </a:r>
            <a:r>
              <a:rPr lang="zh-CN" altLang="en-US" dirty="0">
                <a:solidFill>
                  <a:schemeClr val="tx1">
                    <a:lumMod val="50000"/>
                    <a:lumOff val="50000"/>
                  </a:schemeClr>
                </a:solidFill>
                <a:latin typeface="Times" pitchFamily="2" charset="0"/>
              </a:rPr>
              <a:t>）</a:t>
            </a:r>
            <a:endParaRPr lang="en-US" altLang="zh-CN" dirty="0">
              <a:solidFill>
                <a:schemeClr val="tx1">
                  <a:lumMod val="50000"/>
                  <a:lumOff val="50000"/>
                </a:schemeClr>
              </a:solidFill>
              <a:latin typeface="Times" pitchFamily="2" charset="0"/>
            </a:endParaRPr>
          </a:p>
          <a:p>
            <a:r>
              <a:rPr lang="zh-CN" altLang="en-US" dirty="0">
                <a:solidFill>
                  <a:schemeClr val="tx1">
                    <a:lumMod val="50000"/>
                    <a:lumOff val="50000"/>
                  </a:schemeClr>
                </a:solidFill>
                <a:latin typeface="Times" pitchFamily="2" charset="0"/>
              </a:rPr>
              <a:t>数据库系统（</a:t>
            </a:r>
            <a:r>
              <a:rPr lang="en-US" altLang="zh-CN" dirty="0">
                <a:solidFill>
                  <a:schemeClr val="tx1">
                    <a:lumMod val="50000"/>
                    <a:lumOff val="50000"/>
                  </a:schemeClr>
                </a:solidFill>
                <a:latin typeface="Times" pitchFamily="2" charset="0"/>
              </a:rPr>
              <a:t>Database</a:t>
            </a:r>
            <a:r>
              <a:rPr lang="zh-CN" altLang="en-US" dirty="0">
                <a:solidFill>
                  <a:schemeClr val="tx1">
                    <a:lumMod val="50000"/>
                    <a:lumOff val="50000"/>
                  </a:schemeClr>
                </a:solidFill>
                <a:latin typeface="Times" pitchFamily="2" charset="0"/>
              </a:rPr>
              <a:t> </a:t>
            </a:r>
            <a:r>
              <a:rPr lang="en-US" altLang="zh-CN" dirty="0">
                <a:solidFill>
                  <a:schemeClr val="tx1">
                    <a:lumMod val="50000"/>
                    <a:lumOff val="50000"/>
                  </a:schemeClr>
                </a:solidFill>
                <a:latin typeface="Times" pitchFamily="2" charset="0"/>
              </a:rPr>
              <a:t>System</a:t>
            </a:r>
            <a:r>
              <a:rPr lang="zh-CN" altLang="en-US" dirty="0">
                <a:solidFill>
                  <a:schemeClr val="tx1">
                    <a:lumMod val="50000"/>
                    <a:lumOff val="50000"/>
                  </a:schemeClr>
                </a:solidFill>
                <a:latin typeface="Times" pitchFamily="2" charset="0"/>
              </a:rPr>
              <a:t>，</a:t>
            </a:r>
            <a:r>
              <a:rPr lang="en-US" altLang="zh-CN" dirty="0">
                <a:solidFill>
                  <a:schemeClr val="tx1">
                    <a:lumMod val="50000"/>
                    <a:lumOff val="50000"/>
                  </a:schemeClr>
                </a:solidFill>
                <a:latin typeface="Times" pitchFamily="2" charset="0"/>
              </a:rPr>
              <a:t>DBS</a:t>
            </a:r>
            <a:r>
              <a:rPr lang="zh-CN" altLang="en-US" dirty="0">
                <a:solidFill>
                  <a:schemeClr val="tx1">
                    <a:lumMod val="50000"/>
                    <a:lumOff val="50000"/>
                  </a:schemeClr>
                </a:solidFill>
                <a:latin typeface="Times" pitchFamily="2" charset="0"/>
              </a:rPr>
              <a:t>）</a:t>
            </a:r>
            <a:endParaRPr lang="en-US" altLang="zh-CN" dirty="0">
              <a:solidFill>
                <a:schemeClr val="tx1">
                  <a:lumMod val="50000"/>
                  <a:lumOff val="50000"/>
                </a:schemeClr>
              </a:solidFill>
              <a:latin typeface="Times" pitchFamily="2" charset="0"/>
            </a:endParaRPr>
          </a:p>
          <a:p>
            <a:endParaRPr lang="en-US" altLang="zh-CN" sz="2000" dirty="0">
              <a:latin typeface="Times" pitchFamily="2" charset="0"/>
              <a:cs typeface="Arial" panose="020B0604020202020204" pitchFamily="34" charset="0"/>
            </a:endParaRPr>
          </a:p>
          <a:p>
            <a:endParaRPr lang="en-US" altLang="zh-CN" sz="2400" dirty="0">
              <a:latin typeface="Times" pitchFamily="2" charset="0"/>
              <a:cs typeface="Arial" panose="020B0604020202020204" pitchFamily="34" charset="0"/>
            </a:endParaRPr>
          </a:p>
        </p:txBody>
      </p:sp>
      <p:pic>
        <p:nvPicPr>
          <p:cNvPr id="6" name="图片 5">
            <a:extLst>
              <a:ext uri="{FF2B5EF4-FFF2-40B4-BE49-F238E27FC236}">
                <a16:creationId xmlns:a16="http://schemas.microsoft.com/office/drawing/2014/main" id="{1A214A47-2EC8-3BB0-067F-F85A74C2CEE5}"/>
              </a:ext>
            </a:extLst>
          </p:cNvPr>
          <p:cNvPicPr>
            <a:picLocks noChangeAspect="1"/>
          </p:cNvPicPr>
          <p:nvPr/>
        </p:nvPicPr>
        <p:blipFill>
          <a:blip r:embed="rId3"/>
          <a:stretch>
            <a:fillRect/>
          </a:stretch>
        </p:blipFill>
        <p:spPr>
          <a:xfrm>
            <a:off x="1905623" y="3739344"/>
            <a:ext cx="8380753" cy="3118656"/>
          </a:xfrm>
          <a:prstGeom prst="rect">
            <a:avLst/>
          </a:prstGeom>
        </p:spPr>
      </p:pic>
      <p:sp>
        <p:nvSpPr>
          <p:cNvPr id="5" name="灯片编号占位符 1">
            <a:extLst>
              <a:ext uri="{FF2B5EF4-FFF2-40B4-BE49-F238E27FC236}">
                <a16:creationId xmlns:a16="http://schemas.microsoft.com/office/drawing/2014/main" id="{0BB33E02-B92F-FE09-4293-7E0D6ADFAD36}"/>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13</a:t>
            </a:fld>
            <a:endParaRPr lang="zh-CN" altLang="en-US" dirty="0"/>
          </a:p>
        </p:txBody>
      </p:sp>
    </p:spTree>
    <p:extLst>
      <p:ext uri="{BB962C8B-B14F-4D97-AF65-F5344CB8AC3E}">
        <p14:creationId xmlns:p14="http://schemas.microsoft.com/office/powerpoint/2010/main" val="2005531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数据库</a:t>
            </a:r>
          </a:p>
        </p:txBody>
      </p:sp>
      <p:sp>
        <p:nvSpPr>
          <p:cNvPr id="9" name="内容占位符 2">
            <a:extLst>
              <a:ext uri="{FF2B5EF4-FFF2-40B4-BE49-F238E27FC236}">
                <a16:creationId xmlns:a16="http://schemas.microsoft.com/office/drawing/2014/main" id="{A940BF3F-74FD-1D56-0CB3-C868BBCBE800}"/>
              </a:ext>
            </a:extLst>
          </p:cNvPr>
          <p:cNvSpPr>
            <a:spLocks noGrp="1"/>
          </p:cNvSpPr>
          <p:nvPr>
            <p:ph idx="1"/>
          </p:nvPr>
        </p:nvSpPr>
        <p:spPr>
          <a:xfrm>
            <a:off x="326836" y="1352575"/>
            <a:ext cx="10735611" cy="5170145"/>
          </a:xfrm>
        </p:spPr>
        <p:txBody>
          <a:bodyPr/>
          <a:lstStyle/>
          <a:p>
            <a:r>
              <a:rPr lang="zh-CN" altLang="en-US" dirty="0"/>
              <a:t>什么是数据库？</a:t>
            </a:r>
          </a:p>
          <a:p>
            <a:pPr lvl="1"/>
            <a:r>
              <a:rPr lang="zh-CN" altLang="en-US" dirty="0"/>
              <a:t>定义</a:t>
            </a:r>
            <a:r>
              <a:rPr lang="en-US" altLang="zh-CN" dirty="0"/>
              <a:t>1</a:t>
            </a:r>
            <a:r>
              <a:rPr lang="zh-CN" altLang="en-US" dirty="0"/>
              <a:t>：是长期储存在计算机中的</a:t>
            </a:r>
            <a:r>
              <a:rPr lang="zh-CN" altLang="en-US" dirty="0">
                <a:solidFill>
                  <a:srgbClr val="7030A0"/>
                </a:solidFill>
              </a:rPr>
              <a:t>有组织的、可管理和可共享</a:t>
            </a:r>
            <a:r>
              <a:rPr lang="zh-CN" altLang="en-US" dirty="0"/>
              <a:t>的</a:t>
            </a:r>
            <a:r>
              <a:rPr lang="zh-CN" altLang="en-US" dirty="0">
                <a:solidFill>
                  <a:srgbClr val="7030A0"/>
                </a:solidFill>
              </a:rPr>
              <a:t>数据集合</a:t>
            </a:r>
            <a:endParaRPr lang="en-US" altLang="zh-CN" dirty="0"/>
          </a:p>
          <a:p>
            <a:pPr lvl="1"/>
            <a:r>
              <a:rPr lang="zh-CN" altLang="en-US" dirty="0"/>
              <a:t>定义</a:t>
            </a:r>
            <a:r>
              <a:rPr lang="en-US" altLang="zh-CN" dirty="0"/>
              <a:t>2</a:t>
            </a:r>
            <a:r>
              <a:rPr lang="zh-CN" altLang="en-US" dirty="0"/>
              <a:t>：就是指一组</a:t>
            </a:r>
            <a:r>
              <a:rPr lang="zh-CN" altLang="en-US" dirty="0">
                <a:solidFill>
                  <a:srgbClr val="7030A0"/>
                </a:solidFill>
              </a:rPr>
              <a:t>相互有关联</a:t>
            </a:r>
            <a:r>
              <a:rPr lang="zh-CN" altLang="en-US" dirty="0"/>
              <a:t>的</a:t>
            </a:r>
            <a:r>
              <a:rPr lang="zh-CN" altLang="en-US" dirty="0">
                <a:solidFill>
                  <a:srgbClr val="7030A0"/>
                </a:solidFill>
              </a:rPr>
              <a:t>数据集合</a:t>
            </a:r>
          </a:p>
          <a:p>
            <a:r>
              <a:rPr lang="zh-CN" altLang="en-US" dirty="0"/>
              <a:t>数据库的基本特征</a:t>
            </a:r>
          </a:p>
          <a:p>
            <a:pPr lvl="1"/>
            <a:r>
              <a:rPr lang="zh-CN" altLang="en-US" dirty="0"/>
              <a:t>数据按一定的数据模型组织、描述和储存</a:t>
            </a:r>
            <a:endParaRPr lang="en-US" altLang="zh-CN" dirty="0"/>
          </a:p>
          <a:p>
            <a:pPr lvl="1"/>
            <a:r>
              <a:rPr lang="zh-CN" altLang="en-US" dirty="0"/>
              <a:t>可为各种用户共享</a:t>
            </a:r>
            <a:endParaRPr lang="en-US" altLang="zh-CN" dirty="0"/>
          </a:p>
          <a:p>
            <a:pPr lvl="1"/>
            <a:r>
              <a:rPr lang="zh-CN" altLang="en-US" dirty="0"/>
              <a:t>冗余度较小</a:t>
            </a:r>
            <a:endParaRPr lang="en-US" altLang="zh-CN" dirty="0"/>
          </a:p>
          <a:p>
            <a:pPr lvl="1"/>
            <a:r>
              <a:rPr lang="zh-CN" altLang="en-US" dirty="0"/>
              <a:t>数据独立性较高</a:t>
            </a:r>
            <a:endParaRPr lang="en-US" altLang="zh-CN" dirty="0"/>
          </a:p>
          <a:p>
            <a:pPr lvl="1"/>
            <a:r>
              <a:rPr lang="zh-CN" altLang="en-US" dirty="0"/>
              <a:t>易扩展</a:t>
            </a:r>
            <a:endParaRPr lang="en-US" altLang="zh-CN" dirty="0"/>
          </a:p>
        </p:txBody>
      </p:sp>
      <p:sp>
        <p:nvSpPr>
          <p:cNvPr id="4" name="灯片编号占位符 1">
            <a:extLst>
              <a:ext uri="{FF2B5EF4-FFF2-40B4-BE49-F238E27FC236}">
                <a16:creationId xmlns:a16="http://schemas.microsoft.com/office/drawing/2014/main" id="{CF85FA84-1ADF-5B6C-7605-F2B38F42A929}"/>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14</a:t>
            </a:fld>
            <a:endParaRPr lang="zh-CN" altLang="en-US" dirty="0"/>
          </a:p>
        </p:txBody>
      </p:sp>
    </p:spTree>
    <p:extLst>
      <p:ext uri="{BB962C8B-B14F-4D97-AF65-F5344CB8AC3E}">
        <p14:creationId xmlns:p14="http://schemas.microsoft.com/office/powerpoint/2010/main" val="4155439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数据库在计算机系统中的位置</a:t>
            </a:r>
          </a:p>
        </p:txBody>
      </p:sp>
      <p:grpSp>
        <p:nvGrpSpPr>
          <p:cNvPr id="16" name="组合 15">
            <a:extLst>
              <a:ext uri="{FF2B5EF4-FFF2-40B4-BE49-F238E27FC236}">
                <a16:creationId xmlns:a16="http://schemas.microsoft.com/office/drawing/2014/main" id="{ECA5D2C6-7388-D589-BF59-46868461FE8F}"/>
              </a:ext>
            </a:extLst>
          </p:cNvPr>
          <p:cNvGrpSpPr/>
          <p:nvPr/>
        </p:nvGrpSpPr>
        <p:grpSpPr>
          <a:xfrm>
            <a:off x="2363529" y="2276668"/>
            <a:ext cx="7306937" cy="3736726"/>
            <a:chOff x="2648581" y="3229481"/>
            <a:chExt cx="6217569" cy="3209643"/>
          </a:xfrm>
        </p:grpSpPr>
        <p:sp>
          <p:nvSpPr>
            <p:cNvPr id="7" name="矩形 6">
              <a:extLst>
                <a:ext uri="{FF2B5EF4-FFF2-40B4-BE49-F238E27FC236}">
                  <a16:creationId xmlns:a16="http://schemas.microsoft.com/office/drawing/2014/main" id="{8B93E269-4C89-D723-896E-A24892475325}"/>
                </a:ext>
              </a:extLst>
            </p:cNvPr>
            <p:cNvSpPr/>
            <p:nvPr/>
          </p:nvSpPr>
          <p:spPr bwMode="auto">
            <a:xfrm rot="5400000">
              <a:off x="1302207" y="4575855"/>
              <a:ext cx="3190342" cy="497593"/>
            </a:xfrm>
            <a:prstGeom prst="rect">
              <a:avLst/>
            </a:prstGeom>
            <a:solidFill>
              <a:srgbClr val="00B050"/>
            </a:solidFill>
            <a:ln w="38100" cap="flat" cmpd="sng" algn="ctr">
              <a:solidFill>
                <a:schemeClr val="bg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3200" b="0" i="0" u="none" strike="noStrike" cap="none" normalizeH="0" baseline="0" dirty="0">
                  <a:solidFill>
                    <a:schemeClr val="bg1"/>
                  </a:solidFill>
                  <a:effectLst/>
                  <a:latin typeface="SimHei" panose="02010609060101010101" pitchFamily="49" charset="-122"/>
                  <a:ea typeface="SimHei" panose="02010609060101010101" pitchFamily="49" charset="-122"/>
                </a:rPr>
                <a:t>理论 </a:t>
              </a:r>
              <a:r>
                <a:rPr kumimoji="1" lang="en-US" altLang="zh-CN" sz="3200" b="0" i="0" u="none" strike="noStrike" cap="none" normalizeH="0" baseline="0" dirty="0">
                  <a:solidFill>
                    <a:schemeClr val="bg1"/>
                  </a:solidFill>
                  <a:effectLst/>
                  <a:latin typeface="SimHei" panose="02010609060101010101" pitchFamily="49" charset="-122"/>
                  <a:ea typeface="SimHei" panose="02010609060101010101" pitchFamily="49" charset="-122"/>
                </a:rPr>
                <a:t>Theory</a:t>
              </a:r>
              <a:endParaRPr kumimoji="1" lang="zh-CN" altLang="en-US" sz="3200" b="0" i="0" u="none" strike="noStrike" cap="none" normalizeH="0" baseline="0" dirty="0">
                <a:solidFill>
                  <a:schemeClr val="bg1"/>
                </a:solidFill>
                <a:effectLst/>
                <a:latin typeface="SimHei" panose="02010609060101010101" pitchFamily="49" charset="-122"/>
                <a:ea typeface="SimHei" panose="02010609060101010101" pitchFamily="49" charset="-122"/>
              </a:endParaRPr>
            </a:p>
          </p:txBody>
        </p:sp>
        <p:sp>
          <p:nvSpPr>
            <p:cNvPr id="8" name="矩形 7">
              <a:extLst>
                <a:ext uri="{FF2B5EF4-FFF2-40B4-BE49-F238E27FC236}">
                  <a16:creationId xmlns:a16="http://schemas.microsoft.com/office/drawing/2014/main" id="{983ABEAD-9278-97DF-7789-2C90A9BFF7E8}"/>
                </a:ext>
              </a:extLst>
            </p:cNvPr>
            <p:cNvSpPr/>
            <p:nvPr/>
          </p:nvSpPr>
          <p:spPr bwMode="auto">
            <a:xfrm rot="5400000">
              <a:off x="6373528" y="4595154"/>
              <a:ext cx="3190341" cy="497593"/>
            </a:xfrm>
            <a:prstGeom prst="rect">
              <a:avLst/>
            </a:prstGeom>
            <a:solidFill>
              <a:srgbClr val="00B050"/>
            </a:solidFill>
            <a:ln w="38100" cap="flat" cmpd="sng" algn="ctr">
              <a:solidFill>
                <a:schemeClr val="bg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3200" b="0" i="0" u="none" strike="noStrike" cap="none" normalizeH="0" baseline="0" dirty="0">
                  <a:solidFill>
                    <a:schemeClr val="bg1"/>
                  </a:solidFill>
                  <a:effectLst/>
                  <a:latin typeface="SimHei" panose="02010609060101010101" pitchFamily="49" charset="-122"/>
                  <a:ea typeface="SimHei" panose="02010609060101010101" pitchFamily="49" charset="-122"/>
                </a:rPr>
                <a:t>网络 </a:t>
              </a:r>
              <a:r>
                <a:rPr kumimoji="1" lang="en-US" altLang="zh-CN" sz="3200" b="0" i="0" u="none" strike="noStrike" cap="none" normalizeH="0" baseline="0" dirty="0">
                  <a:solidFill>
                    <a:schemeClr val="bg1"/>
                  </a:solidFill>
                  <a:effectLst/>
                  <a:latin typeface="SimHei" panose="02010609060101010101" pitchFamily="49" charset="-122"/>
                  <a:ea typeface="SimHei" panose="02010609060101010101" pitchFamily="49" charset="-122"/>
                </a:rPr>
                <a:t>Network</a:t>
              </a:r>
              <a:endParaRPr kumimoji="1" lang="zh-CN" altLang="en-US" sz="3200" b="0" i="0" u="none" strike="noStrike" cap="none" normalizeH="0" baseline="0" dirty="0">
                <a:solidFill>
                  <a:schemeClr val="bg1"/>
                </a:solidFill>
                <a:effectLst/>
                <a:latin typeface="SimHei" panose="02010609060101010101" pitchFamily="49" charset="-122"/>
                <a:ea typeface="SimHei" panose="02010609060101010101" pitchFamily="49" charset="-122"/>
              </a:endParaRPr>
            </a:p>
          </p:txBody>
        </p:sp>
        <p:sp>
          <p:nvSpPr>
            <p:cNvPr id="9" name="矩形 8">
              <a:extLst>
                <a:ext uri="{FF2B5EF4-FFF2-40B4-BE49-F238E27FC236}">
                  <a16:creationId xmlns:a16="http://schemas.microsoft.com/office/drawing/2014/main" id="{FBCB39E5-7576-DCFE-CBCC-02EEE9947E66}"/>
                </a:ext>
              </a:extLst>
            </p:cNvPr>
            <p:cNvSpPr/>
            <p:nvPr/>
          </p:nvSpPr>
          <p:spPr bwMode="auto">
            <a:xfrm rot="5400000">
              <a:off x="7022183" y="4595157"/>
              <a:ext cx="3190341" cy="497593"/>
            </a:xfrm>
            <a:prstGeom prst="rect">
              <a:avLst/>
            </a:prstGeom>
            <a:solidFill>
              <a:srgbClr val="00B050"/>
            </a:solidFill>
            <a:ln w="38100" cap="flat" cmpd="sng" algn="ctr">
              <a:solidFill>
                <a:schemeClr val="bg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3200" dirty="0">
                  <a:solidFill>
                    <a:schemeClr val="bg1"/>
                  </a:solidFill>
                  <a:latin typeface="SimHei" panose="02010609060101010101" pitchFamily="49" charset="-122"/>
                  <a:ea typeface="SimHei" panose="02010609060101010101" pitchFamily="49" charset="-122"/>
                </a:rPr>
                <a:t>安全 </a:t>
              </a:r>
              <a:r>
                <a:rPr kumimoji="1" lang="en-US" altLang="zh-CN" sz="3200" dirty="0">
                  <a:solidFill>
                    <a:schemeClr val="bg1"/>
                  </a:solidFill>
                  <a:latin typeface="SimHei" panose="02010609060101010101" pitchFamily="49" charset="-122"/>
                  <a:ea typeface="SimHei" panose="02010609060101010101" pitchFamily="49" charset="-122"/>
                </a:rPr>
                <a:t>Security</a:t>
              </a:r>
              <a:endParaRPr kumimoji="1" lang="zh-CN" altLang="en-US" sz="3200" b="0" i="0" u="none" strike="noStrike" cap="none" normalizeH="0" baseline="0" dirty="0">
                <a:solidFill>
                  <a:schemeClr val="bg1"/>
                </a:solidFill>
                <a:effectLst/>
                <a:latin typeface="SimHei" panose="02010609060101010101" pitchFamily="49" charset="-122"/>
                <a:ea typeface="SimHei" panose="02010609060101010101" pitchFamily="49" charset="-122"/>
              </a:endParaRPr>
            </a:p>
          </p:txBody>
        </p:sp>
        <p:sp>
          <p:nvSpPr>
            <p:cNvPr id="10" name="矩形 9">
              <a:extLst>
                <a:ext uri="{FF2B5EF4-FFF2-40B4-BE49-F238E27FC236}">
                  <a16:creationId xmlns:a16="http://schemas.microsoft.com/office/drawing/2014/main" id="{729526A7-7C87-807B-7200-FC2408AAEAC6}"/>
                </a:ext>
              </a:extLst>
            </p:cNvPr>
            <p:cNvSpPr/>
            <p:nvPr/>
          </p:nvSpPr>
          <p:spPr bwMode="auto">
            <a:xfrm>
              <a:off x="3293223" y="3248782"/>
              <a:ext cx="4275117" cy="502290"/>
            </a:xfrm>
            <a:prstGeom prst="rect">
              <a:avLst/>
            </a:prstGeom>
            <a:solidFill>
              <a:srgbClr val="00B050"/>
            </a:solidFill>
            <a:ln w="38100" cap="flat" cmpd="sng" algn="ctr">
              <a:solidFill>
                <a:schemeClr val="bg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3200" b="0" i="0" u="none" strike="noStrike" cap="none" normalizeH="0" baseline="0" dirty="0">
                  <a:solidFill>
                    <a:schemeClr val="bg1"/>
                  </a:solidFill>
                  <a:effectLst/>
                  <a:latin typeface="SimHei" panose="02010609060101010101" pitchFamily="49" charset="-122"/>
                  <a:ea typeface="SimHei" panose="02010609060101010101" pitchFamily="49" charset="-122"/>
                </a:rPr>
                <a:t>应用 </a:t>
              </a:r>
              <a:r>
                <a:rPr kumimoji="1" lang="en-US" altLang="zh-CN" sz="3200" b="0" i="0" u="none" strike="noStrike" cap="none" normalizeH="0" baseline="0" dirty="0">
                  <a:solidFill>
                    <a:schemeClr val="bg1"/>
                  </a:solidFill>
                  <a:effectLst/>
                  <a:latin typeface="SimHei" panose="02010609060101010101" pitchFamily="49" charset="-122"/>
                  <a:ea typeface="SimHei" panose="02010609060101010101" pitchFamily="49" charset="-122"/>
                </a:rPr>
                <a:t>Application</a:t>
              </a:r>
              <a:endParaRPr kumimoji="1" lang="zh-CN" altLang="en-US" sz="3200" b="0" i="0" u="none" strike="noStrike" cap="none" normalizeH="0" baseline="0" dirty="0">
                <a:solidFill>
                  <a:schemeClr val="bg1"/>
                </a:solidFill>
                <a:effectLst/>
                <a:latin typeface="SimHei" panose="02010609060101010101" pitchFamily="49" charset="-122"/>
                <a:ea typeface="SimHei" panose="02010609060101010101" pitchFamily="49" charset="-122"/>
              </a:endParaRPr>
            </a:p>
          </p:txBody>
        </p:sp>
        <p:sp>
          <p:nvSpPr>
            <p:cNvPr id="12" name="矩形 11">
              <a:extLst>
                <a:ext uri="{FF2B5EF4-FFF2-40B4-BE49-F238E27FC236}">
                  <a16:creationId xmlns:a16="http://schemas.microsoft.com/office/drawing/2014/main" id="{255317B9-EF48-3A6C-AE41-B8B09DFDECD3}"/>
                </a:ext>
              </a:extLst>
            </p:cNvPr>
            <p:cNvSpPr/>
            <p:nvPr/>
          </p:nvSpPr>
          <p:spPr bwMode="auto">
            <a:xfrm>
              <a:off x="3293223" y="3867763"/>
              <a:ext cx="4275117" cy="608035"/>
            </a:xfrm>
            <a:prstGeom prst="rect">
              <a:avLst/>
            </a:prstGeom>
            <a:solidFill>
              <a:srgbClr val="00B0F0"/>
            </a:solidFill>
            <a:ln w="38100" cap="flat" cmpd="sng" algn="ctr">
              <a:solidFill>
                <a:schemeClr val="bg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4000" b="1" i="0" u="none" strike="noStrike" cap="none" normalizeH="0" baseline="0" dirty="0">
                  <a:solidFill>
                    <a:schemeClr val="bg1"/>
                  </a:solidFill>
                  <a:effectLst/>
                  <a:latin typeface="SimHei" panose="02010609060101010101" pitchFamily="49" charset="-122"/>
                  <a:ea typeface="SimHei" panose="02010609060101010101" pitchFamily="49" charset="-122"/>
                </a:rPr>
                <a:t>数据库 </a:t>
              </a:r>
              <a:r>
                <a:rPr kumimoji="1" lang="en-US" altLang="zh-CN" sz="4000" b="1" i="0" u="none" strike="noStrike" cap="none" normalizeH="0" baseline="0" dirty="0">
                  <a:solidFill>
                    <a:schemeClr val="bg1"/>
                  </a:solidFill>
                  <a:effectLst/>
                  <a:latin typeface="SimHei" panose="02010609060101010101" pitchFamily="49" charset="-122"/>
                  <a:ea typeface="SimHei" panose="02010609060101010101" pitchFamily="49" charset="-122"/>
                </a:rPr>
                <a:t>Database</a:t>
              </a:r>
              <a:endParaRPr kumimoji="1" lang="zh-CN" altLang="en-US" sz="4000" b="1" i="0" u="none" strike="noStrike" cap="none" normalizeH="0" baseline="0" dirty="0">
                <a:solidFill>
                  <a:schemeClr val="bg1"/>
                </a:solidFill>
                <a:effectLst/>
                <a:latin typeface="SimHei" panose="02010609060101010101" pitchFamily="49" charset="-122"/>
                <a:ea typeface="SimHei" panose="02010609060101010101" pitchFamily="49" charset="-122"/>
              </a:endParaRPr>
            </a:p>
          </p:txBody>
        </p:sp>
        <p:sp>
          <p:nvSpPr>
            <p:cNvPr id="13" name="矩形 12">
              <a:extLst>
                <a:ext uri="{FF2B5EF4-FFF2-40B4-BE49-F238E27FC236}">
                  <a16:creationId xmlns:a16="http://schemas.microsoft.com/office/drawing/2014/main" id="{7D6BC01E-6121-5F00-C89F-B01866C25772}"/>
                </a:ext>
              </a:extLst>
            </p:cNvPr>
            <p:cNvSpPr/>
            <p:nvPr/>
          </p:nvSpPr>
          <p:spPr bwMode="auto">
            <a:xfrm>
              <a:off x="3293223" y="4612739"/>
              <a:ext cx="4275117" cy="502290"/>
            </a:xfrm>
            <a:prstGeom prst="rect">
              <a:avLst/>
            </a:prstGeom>
            <a:solidFill>
              <a:srgbClr val="00B050"/>
            </a:solidFill>
            <a:ln w="38100" cap="flat" cmpd="sng" algn="ctr">
              <a:solidFill>
                <a:schemeClr val="bg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3200" b="0" i="0" u="none" strike="noStrike" cap="none" normalizeH="0" baseline="0" dirty="0">
                  <a:solidFill>
                    <a:schemeClr val="bg1"/>
                  </a:solidFill>
                  <a:effectLst/>
                  <a:latin typeface="SimHei" panose="02010609060101010101" pitchFamily="49" charset="-122"/>
                  <a:ea typeface="SimHei" panose="02010609060101010101" pitchFamily="49" charset="-122"/>
                </a:rPr>
                <a:t>编译器 </a:t>
              </a:r>
              <a:r>
                <a:rPr kumimoji="1" lang="en-US" altLang="zh-CN" sz="3200" b="0" i="0" u="none" strike="noStrike" cap="none" normalizeH="0" baseline="0" dirty="0">
                  <a:solidFill>
                    <a:schemeClr val="bg1"/>
                  </a:solidFill>
                  <a:effectLst/>
                  <a:latin typeface="SimHei" panose="02010609060101010101" pitchFamily="49" charset="-122"/>
                  <a:ea typeface="SimHei" panose="02010609060101010101" pitchFamily="49" charset="-122"/>
                </a:rPr>
                <a:t>Compiler</a:t>
              </a:r>
              <a:endParaRPr kumimoji="1" lang="zh-CN" altLang="en-US" sz="3200" b="0" i="0" u="none" strike="noStrike" cap="none" normalizeH="0" baseline="0" dirty="0">
                <a:solidFill>
                  <a:schemeClr val="bg1"/>
                </a:solidFill>
                <a:effectLst/>
                <a:latin typeface="SimHei" panose="02010609060101010101" pitchFamily="49" charset="-122"/>
                <a:ea typeface="SimHei" panose="02010609060101010101" pitchFamily="49" charset="-122"/>
              </a:endParaRPr>
            </a:p>
          </p:txBody>
        </p:sp>
        <p:sp>
          <p:nvSpPr>
            <p:cNvPr id="14" name="矩形 13">
              <a:extLst>
                <a:ext uri="{FF2B5EF4-FFF2-40B4-BE49-F238E27FC236}">
                  <a16:creationId xmlns:a16="http://schemas.microsoft.com/office/drawing/2014/main" id="{71BB4D5D-B9F5-0DAE-DF09-43B71C318EBF}"/>
                </a:ext>
              </a:extLst>
            </p:cNvPr>
            <p:cNvSpPr/>
            <p:nvPr/>
          </p:nvSpPr>
          <p:spPr bwMode="auto">
            <a:xfrm>
              <a:off x="3293223" y="5214687"/>
              <a:ext cx="4275117" cy="502290"/>
            </a:xfrm>
            <a:prstGeom prst="rect">
              <a:avLst/>
            </a:prstGeom>
            <a:solidFill>
              <a:srgbClr val="00B050"/>
            </a:solidFill>
            <a:ln w="38100" cap="flat" cmpd="sng" algn="ctr">
              <a:solidFill>
                <a:schemeClr val="bg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3200" b="0" i="0" u="none" strike="noStrike" cap="none" normalizeH="0" baseline="0" dirty="0">
                  <a:solidFill>
                    <a:schemeClr val="bg1"/>
                  </a:solidFill>
                  <a:effectLst/>
                  <a:latin typeface="SimHei" panose="02010609060101010101" pitchFamily="49" charset="-122"/>
                  <a:ea typeface="SimHei" panose="02010609060101010101" pitchFamily="49" charset="-122"/>
                </a:rPr>
                <a:t>操作系统 </a:t>
              </a:r>
              <a:r>
                <a:rPr kumimoji="1" lang="en-US" altLang="zh-CN" sz="3200" b="0" i="0" u="none" strike="noStrike" cap="none" normalizeH="0" baseline="0" dirty="0">
                  <a:solidFill>
                    <a:schemeClr val="bg1"/>
                  </a:solidFill>
                  <a:effectLst/>
                  <a:latin typeface="SimHei" panose="02010609060101010101" pitchFamily="49" charset="-122"/>
                  <a:ea typeface="SimHei" panose="02010609060101010101" pitchFamily="49" charset="-122"/>
                </a:rPr>
                <a:t>OS</a:t>
              </a:r>
              <a:endParaRPr kumimoji="1" lang="zh-CN" altLang="en-US" sz="3200" b="0" i="0" u="none" strike="noStrike" cap="none" normalizeH="0" baseline="0" dirty="0">
                <a:solidFill>
                  <a:schemeClr val="bg1"/>
                </a:solidFill>
                <a:effectLst/>
                <a:latin typeface="SimHei" panose="02010609060101010101" pitchFamily="49" charset="-122"/>
                <a:ea typeface="SimHei" panose="02010609060101010101" pitchFamily="49" charset="-122"/>
              </a:endParaRPr>
            </a:p>
          </p:txBody>
        </p:sp>
        <p:sp>
          <p:nvSpPr>
            <p:cNvPr id="15" name="矩形 14">
              <a:extLst>
                <a:ext uri="{FF2B5EF4-FFF2-40B4-BE49-F238E27FC236}">
                  <a16:creationId xmlns:a16="http://schemas.microsoft.com/office/drawing/2014/main" id="{D0BD753A-39EA-99D4-25A5-788BA032F9C3}"/>
                </a:ext>
              </a:extLst>
            </p:cNvPr>
            <p:cNvSpPr/>
            <p:nvPr/>
          </p:nvSpPr>
          <p:spPr bwMode="auto">
            <a:xfrm>
              <a:off x="3293223" y="5818632"/>
              <a:ext cx="4275117" cy="502290"/>
            </a:xfrm>
            <a:prstGeom prst="rect">
              <a:avLst/>
            </a:prstGeom>
            <a:solidFill>
              <a:srgbClr val="00B050"/>
            </a:solidFill>
            <a:ln w="38100" cap="flat" cmpd="sng" algn="ctr">
              <a:solidFill>
                <a:schemeClr val="bg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3200" b="0" i="0" u="none" strike="noStrike" cap="none" normalizeH="0" baseline="0" dirty="0">
                  <a:solidFill>
                    <a:schemeClr val="bg1"/>
                  </a:solidFill>
                  <a:effectLst/>
                  <a:latin typeface="SimHei" panose="02010609060101010101" pitchFamily="49" charset="-122"/>
                  <a:ea typeface="SimHei" panose="02010609060101010101" pitchFamily="49" charset="-122"/>
                </a:rPr>
                <a:t>硬件 </a:t>
              </a:r>
              <a:r>
                <a:rPr kumimoji="1" lang="en-US" altLang="zh-CN" sz="3200" b="0" i="0" u="none" strike="noStrike" cap="none" normalizeH="0" baseline="0" dirty="0">
                  <a:solidFill>
                    <a:schemeClr val="bg1"/>
                  </a:solidFill>
                  <a:effectLst/>
                  <a:latin typeface="SimHei" panose="02010609060101010101" pitchFamily="49" charset="-122"/>
                  <a:ea typeface="SimHei" panose="02010609060101010101" pitchFamily="49" charset="-122"/>
                </a:rPr>
                <a:t>Hardware</a:t>
              </a:r>
              <a:endParaRPr kumimoji="1" lang="zh-CN" altLang="en-US" sz="3200" b="0" i="0" u="none" strike="noStrike" cap="none" normalizeH="0" baseline="0" dirty="0">
                <a:solidFill>
                  <a:schemeClr val="bg1"/>
                </a:solidFill>
                <a:effectLst/>
                <a:latin typeface="SimHei" panose="02010609060101010101" pitchFamily="49" charset="-122"/>
                <a:ea typeface="SimHei" panose="02010609060101010101" pitchFamily="49" charset="-122"/>
              </a:endParaRPr>
            </a:p>
          </p:txBody>
        </p:sp>
      </p:grpSp>
      <p:sp>
        <p:nvSpPr>
          <p:cNvPr id="17" name="文本框 16">
            <a:extLst>
              <a:ext uri="{FF2B5EF4-FFF2-40B4-BE49-F238E27FC236}">
                <a16:creationId xmlns:a16="http://schemas.microsoft.com/office/drawing/2014/main" id="{85CDC926-3669-E4EF-F82A-9F9628E3A627}"/>
              </a:ext>
            </a:extLst>
          </p:cNvPr>
          <p:cNvSpPr txBox="1"/>
          <p:nvPr/>
        </p:nvSpPr>
        <p:spPr>
          <a:xfrm>
            <a:off x="2313995" y="1432490"/>
            <a:ext cx="6986038" cy="584775"/>
          </a:xfrm>
          <a:prstGeom prst="rect">
            <a:avLst/>
          </a:prstGeom>
          <a:noFill/>
        </p:spPr>
        <p:txBody>
          <a:bodyPr wrap="square">
            <a:spAutoFit/>
          </a:bodyPr>
          <a:lstStyle/>
          <a:p>
            <a:r>
              <a:rPr lang="zh-CN" altLang="en-US" sz="3200" b="0" i="0" dirty="0">
                <a:solidFill>
                  <a:srgbClr val="33353C"/>
                </a:solidFill>
                <a:effectLst/>
                <a:latin typeface="SimHei" panose="02010609060101010101" pitchFamily="49" charset="-122"/>
                <a:ea typeface="SimHei" panose="02010609060101010101" pitchFamily="49" charset="-122"/>
              </a:rPr>
              <a:t>数据库是</a:t>
            </a:r>
            <a:r>
              <a:rPr lang="zh-CN" altLang="en-US" sz="3200" dirty="0">
                <a:solidFill>
                  <a:srgbClr val="33353C"/>
                </a:solidFill>
                <a:latin typeface="SimHei" panose="02010609060101010101" pitchFamily="49" charset="-122"/>
                <a:ea typeface="SimHei" panose="02010609060101010101" pitchFamily="49" charset="-122"/>
              </a:rPr>
              <a:t>计算机的核心基础软件之一</a:t>
            </a:r>
            <a:endParaRPr lang="zh-CN" altLang="en-US" sz="3200"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2966526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数据库的基本概念</a:t>
            </a:r>
          </a:p>
        </p:txBody>
      </p:sp>
      <p:sp>
        <p:nvSpPr>
          <p:cNvPr id="4" name="内容占位符 2">
            <a:extLst>
              <a:ext uri="{FF2B5EF4-FFF2-40B4-BE49-F238E27FC236}">
                <a16:creationId xmlns:a16="http://schemas.microsoft.com/office/drawing/2014/main" id="{99E90919-814E-29FD-7353-AFE98BE01B5D}"/>
              </a:ext>
            </a:extLst>
          </p:cNvPr>
          <p:cNvSpPr>
            <a:spLocks noGrp="1"/>
          </p:cNvSpPr>
          <p:nvPr>
            <p:ph idx="1"/>
          </p:nvPr>
        </p:nvSpPr>
        <p:spPr>
          <a:xfrm>
            <a:off x="304800" y="1201270"/>
            <a:ext cx="11456894" cy="2797523"/>
          </a:xfrm>
        </p:spPr>
        <p:txBody>
          <a:bodyPr/>
          <a:lstStyle/>
          <a:p>
            <a:r>
              <a:rPr lang="zh-CN" altLang="en-US" dirty="0">
                <a:solidFill>
                  <a:schemeClr val="tx1">
                    <a:lumMod val="50000"/>
                    <a:lumOff val="50000"/>
                  </a:schemeClr>
                </a:solidFill>
                <a:latin typeface="Times" pitchFamily="2" charset="0"/>
              </a:rPr>
              <a:t>数据（</a:t>
            </a:r>
            <a:r>
              <a:rPr lang="en-US" altLang="zh-CN" dirty="0">
                <a:solidFill>
                  <a:schemeClr val="tx1">
                    <a:lumMod val="50000"/>
                    <a:lumOff val="50000"/>
                  </a:schemeClr>
                </a:solidFill>
                <a:latin typeface="Times" pitchFamily="2" charset="0"/>
              </a:rPr>
              <a:t>Data</a:t>
            </a:r>
            <a:r>
              <a:rPr lang="zh-CN" altLang="en-US" dirty="0">
                <a:solidFill>
                  <a:schemeClr val="tx1">
                    <a:lumMod val="50000"/>
                    <a:lumOff val="50000"/>
                  </a:schemeClr>
                </a:solidFill>
                <a:latin typeface="Times" pitchFamily="2" charset="0"/>
              </a:rPr>
              <a:t>）</a:t>
            </a:r>
            <a:endParaRPr lang="en-US" altLang="zh-CN" dirty="0">
              <a:solidFill>
                <a:schemeClr val="tx1">
                  <a:lumMod val="50000"/>
                  <a:lumOff val="50000"/>
                </a:schemeClr>
              </a:solidFill>
              <a:latin typeface="Times" pitchFamily="2" charset="0"/>
            </a:endParaRPr>
          </a:p>
          <a:p>
            <a:r>
              <a:rPr lang="zh-CN" altLang="en-US" dirty="0">
                <a:solidFill>
                  <a:schemeClr val="tx1">
                    <a:lumMod val="50000"/>
                    <a:lumOff val="50000"/>
                  </a:schemeClr>
                </a:solidFill>
                <a:latin typeface="Times" pitchFamily="2" charset="0"/>
              </a:rPr>
              <a:t>数据库（</a:t>
            </a:r>
            <a:r>
              <a:rPr lang="en-US" altLang="zh-CN" dirty="0">
                <a:solidFill>
                  <a:schemeClr val="tx1">
                    <a:lumMod val="50000"/>
                    <a:lumOff val="50000"/>
                  </a:schemeClr>
                </a:solidFill>
                <a:latin typeface="Times" pitchFamily="2" charset="0"/>
              </a:rPr>
              <a:t>Database</a:t>
            </a:r>
            <a:r>
              <a:rPr lang="zh-CN" altLang="en-US" dirty="0">
                <a:solidFill>
                  <a:schemeClr val="tx1">
                    <a:lumMod val="50000"/>
                    <a:lumOff val="50000"/>
                  </a:schemeClr>
                </a:solidFill>
                <a:latin typeface="Times" pitchFamily="2" charset="0"/>
              </a:rPr>
              <a:t>，</a:t>
            </a:r>
            <a:r>
              <a:rPr lang="en-US" altLang="zh-CN" dirty="0">
                <a:solidFill>
                  <a:schemeClr val="tx1">
                    <a:lumMod val="50000"/>
                    <a:lumOff val="50000"/>
                  </a:schemeClr>
                </a:solidFill>
                <a:latin typeface="Times" pitchFamily="2" charset="0"/>
              </a:rPr>
              <a:t>DB</a:t>
            </a:r>
            <a:r>
              <a:rPr lang="zh-CN" altLang="en-US" dirty="0">
                <a:solidFill>
                  <a:schemeClr val="tx1">
                    <a:lumMod val="50000"/>
                    <a:lumOff val="50000"/>
                  </a:schemeClr>
                </a:solidFill>
                <a:latin typeface="Times" pitchFamily="2" charset="0"/>
              </a:rPr>
              <a:t>）</a:t>
            </a:r>
            <a:endParaRPr lang="en-US" altLang="zh-CN" dirty="0">
              <a:solidFill>
                <a:schemeClr val="tx1">
                  <a:lumMod val="50000"/>
                  <a:lumOff val="50000"/>
                </a:schemeClr>
              </a:solidFill>
              <a:latin typeface="Times" pitchFamily="2" charset="0"/>
            </a:endParaRPr>
          </a:p>
          <a:p>
            <a:r>
              <a:rPr lang="zh-CN" altLang="en-US" dirty="0">
                <a:latin typeface="Times" pitchFamily="2" charset="0"/>
              </a:rPr>
              <a:t>数据库管理系统（</a:t>
            </a:r>
            <a:r>
              <a:rPr lang="en-US" altLang="zh-CN" dirty="0">
                <a:latin typeface="Times" pitchFamily="2" charset="0"/>
              </a:rPr>
              <a:t>Database</a:t>
            </a:r>
            <a:r>
              <a:rPr lang="zh-CN" altLang="en-US" dirty="0">
                <a:latin typeface="Times" pitchFamily="2" charset="0"/>
              </a:rPr>
              <a:t> </a:t>
            </a:r>
            <a:r>
              <a:rPr lang="en-US" altLang="zh-CN" dirty="0">
                <a:latin typeface="Times" pitchFamily="2" charset="0"/>
              </a:rPr>
              <a:t>Management</a:t>
            </a:r>
            <a:r>
              <a:rPr lang="zh-CN" altLang="en-US" dirty="0">
                <a:latin typeface="Times" pitchFamily="2" charset="0"/>
              </a:rPr>
              <a:t> </a:t>
            </a:r>
            <a:r>
              <a:rPr lang="en-US" altLang="zh-CN" dirty="0">
                <a:latin typeface="Times" pitchFamily="2" charset="0"/>
              </a:rPr>
              <a:t>System</a:t>
            </a:r>
            <a:r>
              <a:rPr lang="zh-CN" altLang="en-US" dirty="0">
                <a:latin typeface="Times" pitchFamily="2" charset="0"/>
              </a:rPr>
              <a:t>，</a:t>
            </a:r>
            <a:r>
              <a:rPr lang="en-US" altLang="zh-CN" dirty="0">
                <a:latin typeface="Times" pitchFamily="2" charset="0"/>
              </a:rPr>
              <a:t>DBMS</a:t>
            </a:r>
            <a:r>
              <a:rPr lang="zh-CN" altLang="en-US" dirty="0">
                <a:latin typeface="Times" pitchFamily="2" charset="0"/>
              </a:rPr>
              <a:t>）</a:t>
            </a:r>
            <a:endParaRPr lang="en-US" altLang="zh-CN" dirty="0">
              <a:latin typeface="Times" pitchFamily="2" charset="0"/>
            </a:endParaRPr>
          </a:p>
          <a:p>
            <a:r>
              <a:rPr lang="zh-CN" altLang="en-US" dirty="0">
                <a:solidFill>
                  <a:schemeClr val="tx1">
                    <a:lumMod val="50000"/>
                    <a:lumOff val="50000"/>
                  </a:schemeClr>
                </a:solidFill>
                <a:latin typeface="Times" pitchFamily="2" charset="0"/>
              </a:rPr>
              <a:t>数据库系统（</a:t>
            </a:r>
            <a:r>
              <a:rPr lang="en-US" altLang="zh-CN" dirty="0">
                <a:solidFill>
                  <a:schemeClr val="tx1">
                    <a:lumMod val="50000"/>
                    <a:lumOff val="50000"/>
                  </a:schemeClr>
                </a:solidFill>
                <a:latin typeface="Times" pitchFamily="2" charset="0"/>
              </a:rPr>
              <a:t>Database</a:t>
            </a:r>
            <a:r>
              <a:rPr lang="zh-CN" altLang="en-US" dirty="0">
                <a:solidFill>
                  <a:schemeClr val="tx1">
                    <a:lumMod val="50000"/>
                    <a:lumOff val="50000"/>
                  </a:schemeClr>
                </a:solidFill>
                <a:latin typeface="Times" pitchFamily="2" charset="0"/>
              </a:rPr>
              <a:t> </a:t>
            </a:r>
            <a:r>
              <a:rPr lang="en-US" altLang="zh-CN" dirty="0">
                <a:solidFill>
                  <a:schemeClr val="tx1">
                    <a:lumMod val="50000"/>
                    <a:lumOff val="50000"/>
                  </a:schemeClr>
                </a:solidFill>
                <a:latin typeface="Times" pitchFamily="2" charset="0"/>
              </a:rPr>
              <a:t>System</a:t>
            </a:r>
            <a:r>
              <a:rPr lang="zh-CN" altLang="en-US" dirty="0">
                <a:solidFill>
                  <a:schemeClr val="tx1">
                    <a:lumMod val="50000"/>
                    <a:lumOff val="50000"/>
                  </a:schemeClr>
                </a:solidFill>
                <a:latin typeface="Times" pitchFamily="2" charset="0"/>
              </a:rPr>
              <a:t>，</a:t>
            </a:r>
            <a:r>
              <a:rPr lang="en-US" altLang="zh-CN" dirty="0">
                <a:solidFill>
                  <a:schemeClr val="tx1">
                    <a:lumMod val="50000"/>
                    <a:lumOff val="50000"/>
                  </a:schemeClr>
                </a:solidFill>
                <a:latin typeface="Times" pitchFamily="2" charset="0"/>
              </a:rPr>
              <a:t>DBS</a:t>
            </a:r>
            <a:r>
              <a:rPr lang="zh-CN" altLang="en-US" dirty="0">
                <a:solidFill>
                  <a:schemeClr val="tx1">
                    <a:lumMod val="50000"/>
                    <a:lumOff val="50000"/>
                  </a:schemeClr>
                </a:solidFill>
                <a:latin typeface="Times" pitchFamily="2" charset="0"/>
              </a:rPr>
              <a:t>）</a:t>
            </a:r>
            <a:endParaRPr lang="en-US" altLang="zh-CN" dirty="0">
              <a:solidFill>
                <a:schemeClr val="tx1">
                  <a:lumMod val="50000"/>
                  <a:lumOff val="50000"/>
                </a:schemeClr>
              </a:solidFill>
              <a:latin typeface="Times" pitchFamily="2" charset="0"/>
            </a:endParaRPr>
          </a:p>
          <a:p>
            <a:endParaRPr lang="en-US" altLang="zh-CN" sz="2000" dirty="0">
              <a:latin typeface="Times" pitchFamily="2" charset="0"/>
              <a:cs typeface="Arial" panose="020B0604020202020204" pitchFamily="34" charset="0"/>
            </a:endParaRPr>
          </a:p>
          <a:p>
            <a:endParaRPr lang="en-US" altLang="zh-CN" sz="2400" dirty="0">
              <a:latin typeface="Times" pitchFamily="2" charset="0"/>
              <a:cs typeface="Arial" panose="020B0604020202020204" pitchFamily="34" charset="0"/>
            </a:endParaRPr>
          </a:p>
        </p:txBody>
      </p:sp>
      <p:pic>
        <p:nvPicPr>
          <p:cNvPr id="6" name="图片 5">
            <a:extLst>
              <a:ext uri="{FF2B5EF4-FFF2-40B4-BE49-F238E27FC236}">
                <a16:creationId xmlns:a16="http://schemas.microsoft.com/office/drawing/2014/main" id="{1A214A47-2EC8-3BB0-067F-F85A74C2CEE5}"/>
              </a:ext>
            </a:extLst>
          </p:cNvPr>
          <p:cNvPicPr>
            <a:picLocks noChangeAspect="1"/>
          </p:cNvPicPr>
          <p:nvPr/>
        </p:nvPicPr>
        <p:blipFill>
          <a:blip r:embed="rId3"/>
          <a:stretch>
            <a:fillRect/>
          </a:stretch>
        </p:blipFill>
        <p:spPr>
          <a:xfrm>
            <a:off x="1905623" y="3739344"/>
            <a:ext cx="8380753" cy="3118656"/>
          </a:xfrm>
          <a:prstGeom prst="rect">
            <a:avLst/>
          </a:prstGeom>
        </p:spPr>
      </p:pic>
      <p:sp>
        <p:nvSpPr>
          <p:cNvPr id="5" name="灯片编号占位符 1">
            <a:extLst>
              <a:ext uri="{FF2B5EF4-FFF2-40B4-BE49-F238E27FC236}">
                <a16:creationId xmlns:a16="http://schemas.microsoft.com/office/drawing/2014/main" id="{AAF06658-31F1-7A4A-5FDC-E0944EC44BD9}"/>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16</a:t>
            </a:fld>
            <a:endParaRPr lang="zh-CN" altLang="en-US" dirty="0"/>
          </a:p>
        </p:txBody>
      </p:sp>
    </p:spTree>
    <p:extLst>
      <p:ext uri="{BB962C8B-B14F-4D97-AF65-F5344CB8AC3E}">
        <p14:creationId xmlns:p14="http://schemas.microsoft.com/office/powerpoint/2010/main" val="26337306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数据库管理系统</a:t>
            </a:r>
          </a:p>
        </p:txBody>
      </p:sp>
      <p:sp>
        <p:nvSpPr>
          <p:cNvPr id="9" name="内容占位符 2">
            <a:extLst>
              <a:ext uri="{FF2B5EF4-FFF2-40B4-BE49-F238E27FC236}">
                <a16:creationId xmlns:a16="http://schemas.microsoft.com/office/drawing/2014/main" id="{A940BF3F-74FD-1D56-0CB3-C868BBCBE800}"/>
              </a:ext>
            </a:extLst>
          </p:cNvPr>
          <p:cNvSpPr>
            <a:spLocks noGrp="1"/>
          </p:cNvSpPr>
          <p:nvPr>
            <p:ph idx="1"/>
          </p:nvPr>
        </p:nvSpPr>
        <p:spPr>
          <a:xfrm>
            <a:off x="152025" y="1142626"/>
            <a:ext cx="7480417" cy="5290272"/>
          </a:xfrm>
        </p:spPr>
        <p:txBody>
          <a:bodyPr/>
          <a:lstStyle/>
          <a:p>
            <a:r>
              <a:rPr lang="zh-CN" altLang="en-US" dirty="0"/>
              <a:t>什么是数据库管理系统？</a:t>
            </a:r>
            <a:endParaRPr lang="en-US" altLang="zh-CN" dirty="0"/>
          </a:p>
          <a:p>
            <a:pPr lvl="1"/>
            <a:r>
              <a:rPr lang="zh-CN" altLang="en-US" dirty="0"/>
              <a:t>定义</a:t>
            </a:r>
            <a:r>
              <a:rPr lang="en-US" altLang="zh-CN" dirty="0"/>
              <a:t>1</a:t>
            </a:r>
            <a:r>
              <a:rPr lang="zh-CN" altLang="en-US" dirty="0"/>
              <a:t>：是用户（应用程序）与操作系统之间的</a:t>
            </a:r>
            <a:r>
              <a:rPr lang="zh-CN" altLang="en-US" b="1" dirty="0"/>
              <a:t>数据管理软件</a:t>
            </a:r>
            <a:endParaRPr lang="en-US" altLang="zh-CN" b="1" dirty="0"/>
          </a:p>
          <a:p>
            <a:pPr lvl="1"/>
            <a:r>
              <a:rPr lang="zh-CN" altLang="en-US" dirty="0"/>
              <a:t>定义</a:t>
            </a:r>
            <a:r>
              <a:rPr lang="en-US" altLang="zh-CN" dirty="0"/>
              <a:t>2</a:t>
            </a:r>
            <a:r>
              <a:rPr lang="zh-CN" altLang="en-US" dirty="0"/>
              <a:t>：是一个大型复杂的基础软件系统</a:t>
            </a:r>
            <a:endParaRPr lang="en-US" altLang="zh-CN" dirty="0"/>
          </a:p>
          <a:p>
            <a:pPr marL="422041" lvl="1" indent="0">
              <a:buNone/>
            </a:pPr>
            <a:endParaRPr lang="zh-CN" altLang="en-US" dirty="0"/>
          </a:p>
          <a:p>
            <a:r>
              <a:rPr lang="zh-CN" altLang="en-US" dirty="0"/>
              <a:t>数据库管理系统的用途</a:t>
            </a:r>
          </a:p>
          <a:p>
            <a:pPr lvl="1"/>
            <a:r>
              <a:rPr lang="zh-CN" altLang="en-US" dirty="0"/>
              <a:t>科学地组织和存储数据</a:t>
            </a:r>
            <a:endParaRPr lang="en-US" altLang="zh-CN" dirty="0"/>
          </a:p>
          <a:p>
            <a:pPr lvl="1"/>
            <a:r>
              <a:rPr lang="zh-CN" altLang="en-US" dirty="0"/>
              <a:t>高效地获取和管理数据</a:t>
            </a:r>
            <a:endParaRPr lang="en-US" altLang="zh-CN" dirty="0"/>
          </a:p>
          <a:p>
            <a:pPr lvl="1"/>
            <a:r>
              <a:rPr lang="zh-CN" altLang="zh-CN" dirty="0"/>
              <a:t>负责对数据库进行统一的管理和控制</a:t>
            </a:r>
            <a:endParaRPr lang="en-US" altLang="zh-CN" dirty="0"/>
          </a:p>
          <a:p>
            <a:pPr lvl="1"/>
            <a:r>
              <a:rPr lang="zh-CN" altLang="zh-CN" dirty="0"/>
              <a:t>保证数据库的可用性和安全性</a:t>
            </a:r>
            <a:endParaRPr lang="en-US" altLang="zh-CN" dirty="0"/>
          </a:p>
          <a:p>
            <a:pPr lvl="1"/>
            <a:r>
              <a:rPr lang="zh-CN" altLang="zh-CN" dirty="0"/>
              <a:t>为用户提供进行数据存取和管理的接口 </a:t>
            </a:r>
            <a:endParaRPr lang="en-US" altLang="zh-CN" dirty="0"/>
          </a:p>
        </p:txBody>
      </p:sp>
      <p:pic>
        <p:nvPicPr>
          <p:cNvPr id="4" name="图片 3">
            <a:extLst>
              <a:ext uri="{FF2B5EF4-FFF2-40B4-BE49-F238E27FC236}">
                <a16:creationId xmlns:a16="http://schemas.microsoft.com/office/drawing/2014/main" id="{6BDF3581-5E81-F03B-646D-663A7251F9D6}"/>
              </a:ext>
            </a:extLst>
          </p:cNvPr>
          <p:cNvPicPr>
            <a:picLocks noChangeAspect="1"/>
          </p:cNvPicPr>
          <p:nvPr/>
        </p:nvPicPr>
        <p:blipFill>
          <a:blip r:embed="rId3"/>
          <a:stretch>
            <a:fillRect/>
          </a:stretch>
        </p:blipFill>
        <p:spPr>
          <a:xfrm>
            <a:off x="7632442" y="1142626"/>
            <a:ext cx="4242318" cy="5661622"/>
          </a:xfrm>
          <a:prstGeom prst="rect">
            <a:avLst/>
          </a:prstGeom>
        </p:spPr>
      </p:pic>
      <p:sp>
        <p:nvSpPr>
          <p:cNvPr id="5" name="灯片编号占位符 1">
            <a:extLst>
              <a:ext uri="{FF2B5EF4-FFF2-40B4-BE49-F238E27FC236}">
                <a16:creationId xmlns:a16="http://schemas.microsoft.com/office/drawing/2014/main" id="{055055A6-A4E5-2A8E-745D-D9AE7C9A23F4}"/>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17</a:t>
            </a:fld>
            <a:endParaRPr lang="zh-CN" altLang="en-US" dirty="0"/>
          </a:p>
        </p:txBody>
      </p:sp>
    </p:spTree>
    <p:extLst>
      <p:ext uri="{BB962C8B-B14F-4D97-AF65-F5344CB8AC3E}">
        <p14:creationId xmlns:p14="http://schemas.microsoft.com/office/powerpoint/2010/main" val="1114126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数据库管理系统的主要功能</a:t>
            </a:r>
          </a:p>
        </p:txBody>
      </p:sp>
      <p:sp>
        <p:nvSpPr>
          <p:cNvPr id="9" name="内容占位符 2">
            <a:extLst>
              <a:ext uri="{FF2B5EF4-FFF2-40B4-BE49-F238E27FC236}">
                <a16:creationId xmlns:a16="http://schemas.microsoft.com/office/drawing/2014/main" id="{A940BF3F-74FD-1D56-0CB3-C868BBCBE800}"/>
              </a:ext>
            </a:extLst>
          </p:cNvPr>
          <p:cNvSpPr>
            <a:spLocks noGrp="1"/>
          </p:cNvSpPr>
          <p:nvPr>
            <p:ph idx="1"/>
          </p:nvPr>
        </p:nvSpPr>
        <p:spPr>
          <a:xfrm>
            <a:off x="326836" y="1352575"/>
            <a:ext cx="12474764" cy="5170145"/>
          </a:xfrm>
        </p:spPr>
        <p:txBody>
          <a:bodyPr/>
          <a:lstStyle/>
          <a:p>
            <a:r>
              <a:rPr lang="zh-CN" altLang="en-US" dirty="0">
                <a:latin typeface="Times" pitchFamily="2" charset="0"/>
              </a:rPr>
              <a:t>数据定义功能</a:t>
            </a:r>
            <a:endParaRPr lang="en-US" altLang="zh-CN" dirty="0">
              <a:latin typeface="Times" pitchFamily="2" charset="0"/>
            </a:endParaRPr>
          </a:p>
          <a:p>
            <a:pPr lvl="1"/>
            <a:r>
              <a:rPr lang="zh-CN" altLang="en-US" dirty="0">
                <a:latin typeface="Times" pitchFamily="2" charset="0"/>
              </a:rPr>
              <a:t>提供数据定义语言（</a:t>
            </a:r>
            <a:r>
              <a:rPr lang="en-US" altLang="zh-CN" dirty="0">
                <a:latin typeface="Times" pitchFamily="2" charset="0"/>
              </a:rPr>
              <a:t>data definition language</a:t>
            </a:r>
            <a:r>
              <a:rPr lang="zh-CN" altLang="zh-CN" dirty="0">
                <a:latin typeface="Times" pitchFamily="2" charset="0"/>
              </a:rPr>
              <a:t>，</a:t>
            </a:r>
            <a:r>
              <a:rPr lang="en-US" altLang="zh-CN" dirty="0">
                <a:latin typeface="Times" pitchFamily="2" charset="0"/>
              </a:rPr>
              <a:t>DDL</a:t>
            </a:r>
            <a:r>
              <a:rPr lang="zh-CN" altLang="zh-CN" dirty="0">
                <a:latin typeface="Times" pitchFamily="2" charset="0"/>
              </a:rPr>
              <a:t> </a:t>
            </a:r>
            <a:r>
              <a:rPr lang="zh-CN" altLang="en-US" dirty="0">
                <a:latin typeface="Times" pitchFamily="2" charset="0"/>
              </a:rPr>
              <a:t>）</a:t>
            </a:r>
            <a:endParaRPr lang="en-US" altLang="zh-CN" dirty="0">
              <a:latin typeface="Times" pitchFamily="2" charset="0"/>
            </a:endParaRPr>
          </a:p>
          <a:p>
            <a:pPr lvl="1"/>
            <a:r>
              <a:rPr lang="zh-CN" altLang="en-US" dirty="0">
                <a:latin typeface="Times" pitchFamily="2" charset="0"/>
              </a:rPr>
              <a:t>定义数据库中的数据对象</a:t>
            </a:r>
            <a:endParaRPr lang="en-US" altLang="zh-CN" dirty="0">
              <a:latin typeface="Times" pitchFamily="2" charset="0"/>
            </a:endParaRPr>
          </a:p>
          <a:p>
            <a:pPr marL="422041" lvl="1" indent="0">
              <a:buNone/>
            </a:pPr>
            <a:endParaRPr lang="en-US" altLang="zh-CN" sz="2400" dirty="0">
              <a:latin typeface="Times" pitchFamily="2" charset="0"/>
            </a:endParaRPr>
          </a:p>
          <a:p>
            <a:r>
              <a:rPr lang="zh-CN" altLang="en-US" dirty="0">
                <a:latin typeface="Times" pitchFamily="2" charset="0"/>
              </a:rPr>
              <a:t>数据组织、存储和管理</a:t>
            </a:r>
            <a:endParaRPr lang="en-US" altLang="zh-CN" dirty="0">
              <a:latin typeface="Times" pitchFamily="2" charset="0"/>
            </a:endParaRPr>
          </a:p>
          <a:p>
            <a:pPr lvl="1"/>
            <a:r>
              <a:rPr lang="zh-CN" altLang="en-US" dirty="0">
                <a:latin typeface="Times" pitchFamily="2" charset="0"/>
              </a:rPr>
              <a:t>分类组织、存储和管理各种数据</a:t>
            </a:r>
            <a:endParaRPr lang="en-US" altLang="zh-CN" dirty="0">
              <a:latin typeface="Times" pitchFamily="2" charset="0"/>
            </a:endParaRPr>
          </a:p>
          <a:p>
            <a:pPr lvl="1"/>
            <a:r>
              <a:rPr lang="zh-CN" altLang="en-US" dirty="0">
                <a:latin typeface="Times" pitchFamily="2" charset="0"/>
              </a:rPr>
              <a:t>确定组织数据的文件结构和存取方式</a:t>
            </a:r>
            <a:endParaRPr lang="en-US" altLang="zh-CN" dirty="0">
              <a:latin typeface="Times" pitchFamily="2" charset="0"/>
            </a:endParaRPr>
          </a:p>
          <a:p>
            <a:pPr lvl="1"/>
            <a:r>
              <a:rPr lang="zh-CN" altLang="en-US" dirty="0">
                <a:latin typeface="Times" pitchFamily="2" charset="0"/>
              </a:rPr>
              <a:t>实现数据之间的联系</a:t>
            </a:r>
            <a:endParaRPr lang="en-US" altLang="zh-CN" dirty="0">
              <a:latin typeface="Times" pitchFamily="2" charset="0"/>
            </a:endParaRPr>
          </a:p>
          <a:p>
            <a:pPr lvl="1"/>
            <a:r>
              <a:rPr lang="zh-CN" altLang="en-US" dirty="0">
                <a:latin typeface="Times" pitchFamily="2" charset="0"/>
              </a:rPr>
              <a:t>提供多种存取方法提高存取效率</a:t>
            </a:r>
            <a:endParaRPr lang="en-US" altLang="zh-CN" dirty="0">
              <a:latin typeface="Times" pitchFamily="2" charset="0"/>
            </a:endParaRPr>
          </a:p>
        </p:txBody>
      </p:sp>
      <p:sp>
        <p:nvSpPr>
          <p:cNvPr id="4" name="灯片编号占位符 1">
            <a:extLst>
              <a:ext uri="{FF2B5EF4-FFF2-40B4-BE49-F238E27FC236}">
                <a16:creationId xmlns:a16="http://schemas.microsoft.com/office/drawing/2014/main" id="{5DC7ED43-10D3-31F3-D09A-5F84DCDA3AEE}"/>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18</a:t>
            </a:fld>
            <a:endParaRPr lang="zh-CN" altLang="en-US" dirty="0"/>
          </a:p>
        </p:txBody>
      </p:sp>
    </p:spTree>
    <p:extLst>
      <p:ext uri="{BB962C8B-B14F-4D97-AF65-F5344CB8AC3E}">
        <p14:creationId xmlns:p14="http://schemas.microsoft.com/office/powerpoint/2010/main" val="3531656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数据库管理系统的主要功能（续）</a:t>
            </a:r>
          </a:p>
        </p:txBody>
      </p:sp>
      <p:sp>
        <p:nvSpPr>
          <p:cNvPr id="9" name="内容占位符 2">
            <a:extLst>
              <a:ext uri="{FF2B5EF4-FFF2-40B4-BE49-F238E27FC236}">
                <a16:creationId xmlns:a16="http://schemas.microsoft.com/office/drawing/2014/main" id="{A940BF3F-74FD-1D56-0CB3-C868BBCBE800}"/>
              </a:ext>
            </a:extLst>
          </p:cNvPr>
          <p:cNvSpPr>
            <a:spLocks noGrp="1"/>
          </p:cNvSpPr>
          <p:nvPr>
            <p:ph idx="1"/>
          </p:nvPr>
        </p:nvSpPr>
        <p:spPr>
          <a:xfrm>
            <a:off x="326835" y="1352575"/>
            <a:ext cx="10273431" cy="5170145"/>
          </a:xfrm>
        </p:spPr>
        <p:txBody>
          <a:bodyPr/>
          <a:lstStyle/>
          <a:p>
            <a:r>
              <a:rPr lang="zh-CN" altLang="en-US" dirty="0">
                <a:latin typeface="Times" pitchFamily="2" charset="0"/>
              </a:rPr>
              <a:t>数据操纵功能</a:t>
            </a:r>
          </a:p>
          <a:p>
            <a:pPr lvl="1"/>
            <a:r>
              <a:rPr lang="zh-CN" altLang="en-US" dirty="0">
                <a:latin typeface="Times" pitchFamily="2" charset="0"/>
              </a:rPr>
              <a:t>提供数据操纵语言（</a:t>
            </a:r>
            <a:r>
              <a:rPr lang="en-US" altLang="zh-CN" dirty="0">
                <a:latin typeface="Times" pitchFamily="2" charset="0"/>
              </a:rPr>
              <a:t>data manipulation language</a:t>
            </a:r>
            <a:r>
              <a:rPr lang="zh-CN" altLang="zh-CN" dirty="0">
                <a:latin typeface="Times" pitchFamily="2" charset="0"/>
              </a:rPr>
              <a:t>，</a:t>
            </a:r>
            <a:r>
              <a:rPr lang="en-US" altLang="zh-CN" dirty="0">
                <a:latin typeface="Times" pitchFamily="2" charset="0"/>
              </a:rPr>
              <a:t>DML</a:t>
            </a:r>
            <a:r>
              <a:rPr lang="zh-CN" altLang="zh-CN" dirty="0">
                <a:latin typeface="Times" pitchFamily="2" charset="0"/>
              </a:rPr>
              <a:t> </a:t>
            </a:r>
            <a:r>
              <a:rPr lang="zh-CN" altLang="en" dirty="0">
                <a:latin typeface="Times" pitchFamily="2" charset="0"/>
              </a:rPr>
              <a:t>） </a:t>
            </a:r>
            <a:endParaRPr lang="en-US" altLang="zh-CN" dirty="0">
              <a:latin typeface="Times" pitchFamily="2" charset="0"/>
            </a:endParaRPr>
          </a:p>
          <a:p>
            <a:pPr lvl="1"/>
            <a:r>
              <a:rPr lang="zh-CN" altLang="en-US" dirty="0">
                <a:latin typeface="Times" pitchFamily="2" charset="0"/>
              </a:rPr>
              <a:t>实现对数据库的基本操作 （查询、插入、删除和修改）</a:t>
            </a:r>
          </a:p>
          <a:p>
            <a:endParaRPr lang="zh-CN" altLang="en-US" dirty="0">
              <a:latin typeface="Times" pitchFamily="2" charset="0"/>
            </a:endParaRPr>
          </a:p>
          <a:p>
            <a:r>
              <a:rPr lang="zh-CN" altLang="en-US" dirty="0">
                <a:latin typeface="Times" pitchFamily="2" charset="0"/>
              </a:rPr>
              <a:t>数据库的事务管理和运行管理</a:t>
            </a:r>
          </a:p>
          <a:p>
            <a:pPr lvl="1"/>
            <a:r>
              <a:rPr lang="zh-CN" altLang="en-US" dirty="0">
                <a:latin typeface="Times" pitchFamily="2" charset="0"/>
              </a:rPr>
              <a:t>数据库在建立、运行和维护时由数据库管理系统统一管 理和控制</a:t>
            </a:r>
            <a:endParaRPr lang="en-US" altLang="zh-CN" dirty="0">
              <a:latin typeface="Times" pitchFamily="2" charset="0"/>
            </a:endParaRPr>
          </a:p>
          <a:p>
            <a:pPr lvl="1"/>
            <a:r>
              <a:rPr lang="zh-CN" altLang="en-US" dirty="0">
                <a:latin typeface="Times" pitchFamily="2" charset="0"/>
              </a:rPr>
              <a:t>保证数据的安全性、完整性、多用户对数据的并发使用</a:t>
            </a:r>
            <a:endParaRPr lang="en-US" altLang="zh-CN" dirty="0">
              <a:latin typeface="Times" pitchFamily="2" charset="0"/>
            </a:endParaRPr>
          </a:p>
          <a:p>
            <a:pPr lvl="1"/>
            <a:r>
              <a:rPr lang="zh-CN" altLang="en-US" dirty="0">
                <a:latin typeface="Times" pitchFamily="2" charset="0"/>
              </a:rPr>
              <a:t>发生故障后的系统恢复</a:t>
            </a:r>
            <a:endParaRPr lang="en-US" altLang="zh-CN" sz="2000" dirty="0">
              <a:latin typeface="Times" pitchFamily="2" charset="0"/>
            </a:endParaRPr>
          </a:p>
        </p:txBody>
      </p:sp>
      <p:sp>
        <p:nvSpPr>
          <p:cNvPr id="4" name="灯片编号占位符 1">
            <a:extLst>
              <a:ext uri="{FF2B5EF4-FFF2-40B4-BE49-F238E27FC236}">
                <a16:creationId xmlns:a16="http://schemas.microsoft.com/office/drawing/2014/main" id="{EDFD3966-8C7A-926C-9391-D7375660F5BC}"/>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19</a:t>
            </a:fld>
            <a:endParaRPr lang="zh-CN" altLang="en-US" dirty="0"/>
          </a:p>
        </p:txBody>
      </p:sp>
    </p:spTree>
    <p:extLst>
      <p:ext uri="{BB962C8B-B14F-4D97-AF65-F5344CB8AC3E}">
        <p14:creationId xmlns:p14="http://schemas.microsoft.com/office/powerpoint/2010/main" val="1740866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数据库管理系统的主要</a:t>
            </a:r>
            <a:r>
              <a:rPr lang="zh-CN" altLang="en-US" dirty="0"/>
              <a:t>功能（续）</a:t>
            </a:r>
            <a:endParaRPr kumimoji="1" lang="zh-CN" altLang="en-US" dirty="0"/>
          </a:p>
        </p:txBody>
      </p:sp>
      <p:sp>
        <p:nvSpPr>
          <p:cNvPr id="9" name="内容占位符 2">
            <a:extLst>
              <a:ext uri="{FF2B5EF4-FFF2-40B4-BE49-F238E27FC236}">
                <a16:creationId xmlns:a16="http://schemas.microsoft.com/office/drawing/2014/main" id="{A940BF3F-74FD-1D56-0CB3-C868BBCBE800}"/>
              </a:ext>
            </a:extLst>
          </p:cNvPr>
          <p:cNvSpPr>
            <a:spLocks noGrp="1"/>
          </p:cNvSpPr>
          <p:nvPr>
            <p:ph idx="1"/>
          </p:nvPr>
        </p:nvSpPr>
        <p:spPr>
          <a:xfrm>
            <a:off x="326835" y="1352575"/>
            <a:ext cx="10273431" cy="5170145"/>
          </a:xfrm>
        </p:spPr>
        <p:txBody>
          <a:bodyPr/>
          <a:lstStyle/>
          <a:p>
            <a:r>
              <a:rPr lang="zh-CN" altLang="en-US" dirty="0"/>
              <a:t>数据库的建立和维护功能</a:t>
            </a:r>
            <a:endParaRPr lang="en-US" altLang="zh-CN" sz="2400" dirty="0"/>
          </a:p>
          <a:p>
            <a:pPr lvl="1"/>
            <a:r>
              <a:rPr lang="zh-CN" altLang="en-US" sz="2400" dirty="0"/>
              <a:t>数据库初始数据的装载和转换</a:t>
            </a:r>
            <a:endParaRPr lang="en-US" altLang="zh-CN" sz="2400" dirty="0"/>
          </a:p>
          <a:p>
            <a:pPr lvl="1"/>
            <a:r>
              <a:rPr lang="zh-CN" altLang="en-US" sz="2400" dirty="0"/>
              <a:t>数据库转储、恢复功能</a:t>
            </a:r>
            <a:endParaRPr lang="en-US" altLang="zh-CN" sz="2400" dirty="0"/>
          </a:p>
          <a:p>
            <a:pPr lvl="1"/>
            <a:r>
              <a:rPr lang="zh-CN" altLang="en-US" sz="2400" dirty="0"/>
              <a:t>数据库的重组织</a:t>
            </a:r>
            <a:endParaRPr lang="en-US" altLang="zh-CN" sz="2400" dirty="0"/>
          </a:p>
          <a:p>
            <a:pPr lvl="1"/>
            <a:r>
              <a:rPr lang="zh-CN" altLang="en-US" sz="2400" dirty="0"/>
              <a:t>性能监视、分析等</a:t>
            </a:r>
          </a:p>
          <a:p>
            <a:pPr algn="just">
              <a:lnSpc>
                <a:spcPct val="150000"/>
              </a:lnSpc>
              <a:spcBef>
                <a:spcPct val="0"/>
              </a:spcBef>
            </a:pPr>
            <a:r>
              <a:rPr lang="zh-CN" altLang="en-US" dirty="0"/>
              <a:t>其它功能</a:t>
            </a:r>
            <a:endParaRPr lang="en-US" altLang="zh-CN" sz="2800" dirty="0"/>
          </a:p>
          <a:p>
            <a:pPr lvl="1" algn="just">
              <a:lnSpc>
                <a:spcPct val="150000"/>
              </a:lnSpc>
              <a:spcBef>
                <a:spcPct val="0"/>
              </a:spcBef>
            </a:pPr>
            <a:r>
              <a:rPr lang="zh-CN" altLang="en-US" sz="2400" dirty="0"/>
              <a:t>数据库管理系统与网络中其它软件系统的通信</a:t>
            </a:r>
            <a:endParaRPr lang="en-US" altLang="zh-CN" sz="2400" dirty="0"/>
          </a:p>
          <a:p>
            <a:pPr lvl="1" algn="just">
              <a:lnSpc>
                <a:spcPct val="150000"/>
              </a:lnSpc>
              <a:spcBef>
                <a:spcPct val="0"/>
              </a:spcBef>
            </a:pPr>
            <a:r>
              <a:rPr lang="zh-CN" altLang="en-US" sz="2400" dirty="0"/>
              <a:t>数据库管理系统系统之间的数据转换</a:t>
            </a:r>
            <a:endParaRPr lang="en-US" altLang="zh-CN" sz="2400" dirty="0"/>
          </a:p>
          <a:p>
            <a:pPr lvl="1" algn="just">
              <a:lnSpc>
                <a:spcPct val="150000"/>
              </a:lnSpc>
              <a:spcBef>
                <a:spcPct val="0"/>
              </a:spcBef>
            </a:pPr>
            <a:r>
              <a:rPr lang="zh-CN" altLang="en-US" sz="2400" dirty="0"/>
              <a:t>异构数据库之间的互访和互操作</a:t>
            </a:r>
          </a:p>
        </p:txBody>
      </p:sp>
      <p:sp>
        <p:nvSpPr>
          <p:cNvPr id="4" name="灯片编号占位符 1">
            <a:extLst>
              <a:ext uri="{FF2B5EF4-FFF2-40B4-BE49-F238E27FC236}">
                <a16:creationId xmlns:a16="http://schemas.microsoft.com/office/drawing/2014/main" id="{F8A73535-1E52-044C-2FC6-5694BA0F6325}"/>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20</a:t>
            </a:fld>
            <a:endParaRPr lang="zh-CN" altLang="en-US" dirty="0"/>
          </a:p>
        </p:txBody>
      </p:sp>
    </p:spTree>
    <p:extLst>
      <p:ext uri="{BB962C8B-B14F-4D97-AF65-F5344CB8AC3E}">
        <p14:creationId xmlns:p14="http://schemas.microsoft.com/office/powerpoint/2010/main" val="19241758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数据库管理系统概述</a:t>
            </a:r>
          </a:p>
        </p:txBody>
      </p:sp>
      <p:sp>
        <p:nvSpPr>
          <p:cNvPr id="4" name="内容占位符 2">
            <a:extLst>
              <a:ext uri="{FF2B5EF4-FFF2-40B4-BE49-F238E27FC236}">
                <a16:creationId xmlns:a16="http://schemas.microsoft.com/office/drawing/2014/main" id="{99E90919-814E-29FD-7353-AFE98BE01B5D}"/>
              </a:ext>
            </a:extLst>
          </p:cNvPr>
          <p:cNvSpPr>
            <a:spLocks noGrp="1"/>
          </p:cNvSpPr>
          <p:nvPr>
            <p:ph idx="1"/>
          </p:nvPr>
        </p:nvSpPr>
        <p:spPr>
          <a:xfrm>
            <a:off x="971550" y="732222"/>
            <a:ext cx="11456894" cy="5929685"/>
          </a:xfrm>
        </p:spPr>
        <p:txBody>
          <a:bodyPr/>
          <a:lstStyle/>
          <a:p>
            <a:r>
              <a:rPr lang="zh-CN" altLang="en-US" sz="2800" dirty="0"/>
              <a:t>查询接口层</a:t>
            </a:r>
            <a:endParaRPr lang="en-US" altLang="zh-CN" sz="2800" dirty="0"/>
          </a:p>
          <a:p>
            <a:pPr lvl="1"/>
            <a:r>
              <a:rPr lang="zh-CN" altLang="zh-CN" sz="2400" dirty="0"/>
              <a:t>负责用户和数据库管理系统的交互 </a:t>
            </a:r>
            <a:endParaRPr lang="en-US" altLang="zh-CN" sz="2400" dirty="0"/>
          </a:p>
          <a:p>
            <a:pPr lvl="1"/>
            <a:r>
              <a:rPr lang="en-US" altLang="zh-CN" sz="2400" dirty="0"/>
              <a:t>SQL</a:t>
            </a:r>
            <a:r>
              <a:rPr lang="zh-CN" altLang="en-US" sz="2400" dirty="0"/>
              <a:t>查询语言</a:t>
            </a:r>
            <a:endParaRPr lang="en-US" altLang="zh-CN" sz="2400" dirty="0"/>
          </a:p>
          <a:p>
            <a:r>
              <a:rPr lang="zh-CN" altLang="en-US" sz="2800" dirty="0"/>
              <a:t>查询处理层</a:t>
            </a:r>
            <a:endParaRPr lang="en-US" altLang="zh-CN" sz="2800" dirty="0"/>
          </a:p>
          <a:p>
            <a:pPr lvl="1"/>
            <a:r>
              <a:rPr lang="zh-CN" altLang="zh-CN" sz="2400" dirty="0"/>
              <a:t>对数据库的各类语句进行词法分析等</a:t>
            </a:r>
            <a:endParaRPr lang="en-US" altLang="zh-CN" sz="2400" dirty="0"/>
          </a:p>
          <a:p>
            <a:pPr lvl="1"/>
            <a:r>
              <a:rPr lang="zh-CN" altLang="zh-CN" sz="2400" dirty="0"/>
              <a:t>授权检验、视图转换和查询优化等任务  </a:t>
            </a:r>
            <a:endParaRPr lang="en-US" altLang="zh-CN" sz="2400" dirty="0">
              <a:latin typeface="Arial" panose="020B0604020202020204" pitchFamily="34" charset="0"/>
              <a:cs typeface="Arial" panose="020B0604020202020204" pitchFamily="34" charset="0"/>
            </a:endParaRPr>
          </a:p>
          <a:p>
            <a:r>
              <a:rPr lang="zh-CN" altLang="en-US" sz="2800" dirty="0">
                <a:latin typeface="Arial" panose="020B0604020202020204" pitchFamily="34" charset="0"/>
                <a:cs typeface="Arial" panose="020B0604020202020204" pitchFamily="34" charset="0"/>
              </a:rPr>
              <a:t>查询执行层</a:t>
            </a:r>
            <a:endParaRPr lang="en-US" altLang="zh-CN" sz="2800" dirty="0">
              <a:latin typeface="Arial" panose="020B0604020202020204" pitchFamily="34" charset="0"/>
              <a:cs typeface="Arial" panose="020B0604020202020204" pitchFamily="34" charset="0"/>
            </a:endParaRPr>
          </a:p>
          <a:p>
            <a:pPr lvl="1"/>
            <a:r>
              <a:rPr lang="zh-CN" altLang="zh-CN" sz="2400" dirty="0"/>
              <a:t>形成数据库语言语句的执行计划</a:t>
            </a:r>
            <a:endParaRPr lang="en-US" altLang="zh-CN" sz="2400" dirty="0"/>
          </a:p>
          <a:p>
            <a:pPr lvl="1"/>
            <a:r>
              <a:rPr lang="zh-CN" altLang="zh-CN" sz="2400" dirty="0"/>
              <a:t>完成数据存取、路径维护和并发控制等 </a:t>
            </a:r>
            <a:endParaRPr lang="en-US" altLang="zh-CN" sz="2400" dirty="0">
              <a:latin typeface="Arial" panose="020B0604020202020204" pitchFamily="34" charset="0"/>
              <a:cs typeface="Arial" panose="020B0604020202020204" pitchFamily="34" charset="0"/>
            </a:endParaRPr>
          </a:p>
          <a:p>
            <a:r>
              <a:rPr lang="zh-CN" altLang="en-US" sz="2800" dirty="0">
                <a:latin typeface="Arial" panose="020B0604020202020204" pitchFamily="34" charset="0"/>
                <a:cs typeface="Arial" panose="020B0604020202020204" pitchFamily="34" charset="0"/>
              </a:rPr>
              <a:t>存储管理层</a:t>
            </a:r>
            <a:endParaRPr lang="en-US" altLang="zh-CN" sz="2800" dirty="0">
              <a:latin typeface="Arial" panose="020B0604020202020204" pitchFamily="34" charset="0"/>
              <a:cs typeface="Arial" panose="020B0604020202020204" pitchFamily="34" charset="0"/>
            </a:endParaRPr>
          </a:p>
          <a:p>
            <a:pPr lvl="1"/>
            <a:r>
              <a:rPr lang="zh-CN" altLang="zh-CN" sz="2400" dirty="0"/>
              <a:t>在数据存储器中完成数据的增删改查操作 </a:t>
            </a:r>
            <a:endParaRPr lang="en-US" altLang="zh-CN" sz="2400" dirty="0">
              <a:latin typeface="Arial" panose="020B0604020202020204" pitchFamily="34" charset="0"/>
              <a:cs typeface="Arial" panose="020B0604020202020204" pitchFamily="34" charset="0"/>
            </a:endParaRPr>
          </a:p>
          <a:p>
            <a:r>
              <a:rPr lang="zh-CN" altLang="en-US" sz="2800" dirty="0">
                <a:latin typeface="Arial" panose="020B0604020202020204" pitchFamily="34" charset="0"/>
                <a:cs typeface="Arial" panose="020B0604020202020204" pitchFamily="34" charset="0"/>
              </a:rPr>
              <a:t>安全管理</a:t>
            </a:r>
            <a:endParaRPr lang="en-US" altLang="zh-CN" sz="2800" dirty="0">
              <a:latin typeface="Arial" panose="020B0604020202020204" pitchFamily="34" charset="0"/>
              <a:cs typeface="Arial" panose="020B0604020202020204" pitchFamily="34" charset="0"/>
            </a:endParaRPr>
          </a:p>
          <a:p>
            <a:pPr lvl="1"/>
            <a:r>
              <a:rPr lang="zh-CN" altLang="zh-CN" sz="2400" dirty="0"/>
              <a:t>负责数据库全生命周期的安全管理 </a:t>
            </a:r>
            <a:endParaRPr lang="en-US" altLang="zh-CN" sz="2400" dirty="0"/>
          </a:p>
        </p:txBody>
      </p:sp>
      <p:pic>
        <p:nvPicPr>
          <p:cNvPr id="3" name="图片 2">
            <a:extLst>
              <a:ext uri="{FF2B5EF4-FFF2-40B4-BE49-F238E27FC236}">
                <a16:creationId xmlns:a16="http://schemas.microsoft.com/office/drawing/2014/main" id="{93DD6FF0-E349-933A-6510-A44880FD35EA}"/>
              </a:ext>
            </a:extLst>
          </p:cNvPr>
          <p:cNvPicPr>
            <a:picLocks noChangeAspect="1"/>
          </p:cNvPicPr>
          <p:nvPr/>
        </p:nvPicPr>
        <p:blipFill>
          <a:blip r:embed="rId3"/>
          <a:stretch>
            <a:fillRect/>
          </a:stretch>
        </p:blipFill>
        <p:spPr>
          <a:xfrm>
            <a:off x="7882161" y="1262550"/>
            <a:ext cx="3942286" cy="5261212"/>
          </a:xfrm>
          <a:prstGeom prst="rect">
            <a:avLst/>
          </a:prstGeom>
        </p:spPr>
      </p:pic>
      <p:sp>
        <p:nvSpPr>
          <p:cNvPr id="5" name="灯片编号占位符 1">
            <a:extLst>
              <a:ext uri="{FF2B5EF4-FFF2-40B4-BE49-F238E27FC236}">
                <a16:creationId xmlns:a16="http://schemas.microsoft.com/office/drawing/2014/main" id="{D90B2446-3D03-E189-0ECA-1B7E9431FF93}"/>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21</a:t>
            </a:fld>
            <a:endParaRPr lang="zh-CN" altLang="en-US" dirty="0"/>
          </a:p>
        </p:txBody>
      </p:sp>
    </p:spTree>
    <p:extLst>
      <p:ext uri="{BB962C8B-B14F-4D97-AF65-F5344CB8AC3E}">
        <p14:creationId xmlns:p14="http://schemas.microsoft.com/office/powerpoint/2010/main" val="1322669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5C33D-F026-248D-4CAB-E554F47DB4E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98304BE-059D-80CB-D4D5-E295C65B5399}"/>
              </a:ext>
            </a:extLst>
          </p:cNvPr>
          <p:cNvSpPr>
            <a:spLocks noGrp="1"/>
          </p:cNvSpPr>
          <p:nvPr>
            <p:ph type="title"/>
          </p:nvPr>
        </p:nvSpPr>
        <p:spPr/>
        <p:txBody>
          <a:bodyPr/>
          <a:lstStyle/>
          <a:p>
            <a:r>
              <a:rPr kumimoji="1" lang="zh-CN" altLang="en-US" dirty="0"/>
              <a:t>数据库管理系统概述</a:t>
            </a:r>
          </a:p>
        </p:txBody>
      </p:sp>
      <p:sp>
        <p:nvSpPr>
          <p:cNvPr id="4" name="内容占位符 2">
            <a:extLst>
              <a:ext uri="{FF2B5EF4-FFF2-40B4-BE49-F238E27FC236}">
                <a16:creationId xmlns:a16="http://schemas.microsoft.com/office/drawing/2014/main" id="{EE87EEEB-5D89-2CBA-A5A0-57EAD96F1272}"/>
              </a:ext>
            </a:extLst>
          </p:cNvPr>
          <p:cNvSpPr>
            <a:spLocks noGrp="1"/>
          </p:cNvSpPr>
          <p:nvPr>
            <p:ph idx="1"/>
          </p:nvPr>
        </p:nvSpPr>
        <p:spPr>
          <a:xfrm>
            <a:off x="971550" y="732222"/>
            <a:ext cx="11456894" cy="5929685"/>
          </a:xfrm>
        </p:spPr>
        <p:txBody>
          <a:bodyPr/>
          <a:lstStyle/>
          <a:p>
            <a:r>
              <a:rPr lang="zh-CN" altLang="en-US" sz="2800" dirty="0"/>
              <a:t>查询接口层</a:t>
            </a:r>
            <a:endParaRPr lang="en-US" altLang="zh-CN" sz="2800" dirty="0"/>
          </a:p>
          <a:p>
            <a:pPr lvl="1"/>
            <a:r>
              <a:rPr lang="zh-CN" altLang="zh-CN" sz="2400" dirty="0"/>
              <a:t>负责用户和数据库管理系统的交互 </a:t>
            </a:r>
            <a:endParaRPr lang="en-US" altLang="zh-CN" sz="2400" dirty="0"/>
          </a:p>
          <a:p>
            <a:pPr lvl="1"/>
            <a:r>
              <a:rPr lang="en-US" altLang="zh-CN" sz="2400" dirty="0"/>
              <a:t>SQL</a:t>
            </a:r>
            <a:r>
              <a:rPr lang="zh-CN" altLang="en-US" sz="2400" dirty="0"/>
              <a:t>查询语言</a:t>
            </a:r>
            <a:endParaRPr lang="en-US" altLang="zh-CN" sz="2400" dirty="0"/>
          </a:p>
          <a:p>
            <a:r>
              <a:rPr lang="zh-CN" altLang="en-US" sz="2800" dirty="0"/>
              <a:t>查询处理层</a:t>
            </a:r>
            <a:endParaRPr lang="en-US" altLang="zh-CN" sz="2800" dirty="0"/>
          </a:p>
          <a:p>
            <a:pPr lvl="1"/>
            <a:r>
              <a:rPr lang="zh-CN" altLang="zh-CN" sz="2400" dirty="0"/>
              <a:t>对数据库的各类语句进行词法分析等</a:t>
            </a:r>
            <a:endParaRPr lang="en-US" altLang="zh-CN" sz="2400" dirty="0"/>
          </a:p>
          <a:p>
            <a:pPr lvl="1"/>
            <a:r>
              <a:rPr lang="zh-CN" altLang="zh-CN" sz="2400" dirty="0"/>
              <a:t>授权检验、视图转换和查询优化等任务  </a:t>
            </a:r>
            <a:endParaRPr lang="en-US" altLang="zh-CN" sz="2400" dirty="0">
              <a:latin typeface="Arial" panose="020B0604020202020204" pitchFamily="34" charset="0"/>
              <a:cs typeface="Arial" panose="020B0604020202020204" pitchFamily="34" charset="0"/>
            </a:endParaRPr>
          </a:p>
          <a:p>
            <a:r>
              <a:rPr lang="zh-CN" altLang="en-US" sz="2800" dirty="0">
                <a:latin typeface="Arial" panose="020B0604020202020204" pitchFamily="34" charset="0"/>
                <a:cs typeface="Arial" panose="020B0604020202020204" pitchFamily="34" charset="0"/>
              </a:rPr>
              <a:t>查询执行层</a:t>
            </a:r>
            <a:endParaRPr lang="en-US" altLang="zh-CN" sz="2800" dirty="0">
              <a:latin typeface="Arial" panose="020B0604020202020204" pitchFamily="34" charset="0"/>
              <a:cs typeface="Arial" panose="020B0604020202020204" pitchFamily="34" charset="0"/>
            </a:endParaRPr>
          </a:p>
          <a:p>
            <a:pPr lvl="1"/>
            <a:r>
              <a:rPr lang="zh-CN" altLang="zh-CN" sz="2400" dirty="0"/>
              <a:t>形成数据库语言语句的执行计划</a:t>
            </a:r>
            <a:endParaRPr lang="en-US" altLang="zh-CN" sz="2400" dirty="0"/>
          </a:p>
          <a:p>
            <a:pPr lvl="1"/>
            <a:r>
              <a:rPr lang="zh-CN" altLang="zh-CN" sz="2400" dirty="0"/>
              <a:t>完成数据存取、路径维护和并发控制等 </a:t>
            </a:r>
            <a:endParaRPr lang="en-US" altLang="zh-CN" sz="2400" dirty="0">
              <a:latin typeface="Arial" panose="020B0604020202020204" pitchFamily="34" charset="0"/>
              <a:cs typeface="Arial" panose="020B0604020202020204" pitchFamily="34" charset="0"/>
            </a:endParaRPr>
          </a:p>
          <a:p>
            <a:r>
              <a:rPr lang="zh-CN" altLang="en-US" sz="2800" dirty="0">
                <a:latin typeface="Arial" panose="020B0604020202020204" pitchFamily="34" charset="0"/>
                <a:cs typeface="Arial" panose="020B0604020202020204" pitchFamily="34" charset="0"/>
              </a:rPr>
              <a:t>存储管理层</a:t>
            </a:r>
            <a:endParaRPr lang="en-US" altLang="zh-CN" sz="2800" dirty="0">
              <a:latin typeface="Arial" panose="020B0604020202020204" pitchFamily="34" charset="0"/>
              <a:cs typeface="Arial" panose="020B0604020202020204" pitchFamily="34" charset="0"/>
            </a:endParaRPr>
          </a:p>
          <a:p>
            <a:pPr lvl="1"/>
            <a:r>
              <a:rPr lang="zh-CN" altLang="zh-CN" sz="2400" dirty="0"/>
              <a:t>在数据存储器中完成数据的增删改查操作 </a:t>
            </a:r>
            <a:endParaRPr lang="en-US" altLang="zh-CN" sz="2400" dirty="0">
              <a:latin typeface="Arial" panose="020B0604020202020204" pitchFamily="34" charset="0"/>
              <a:cs typeface="Arial" panose="020B0604020202020204" pitchFamily="34" charset="0"/>
            </a:endParaRPr>
          </a:p>
          <a:p>
            <a:r>
              <a:rPr lang="zh-CN" altLang="en-US" sz="2800" dirty="0">
                <a:latin typeface="Arial" panose="020B0604020202020204" pitchFamily="34" charset="0"/>
                <a:cs typeface="Arial" panose="020B0604020202020204" pitchFamily="34" charset="0"/>
              </a:rPr>
              <a:t>安全管理</a:t>
            </a:r>
            <a:endParaRPr lang="en-US" altLang="zh-CN" sz="2800" dirty="0">
              <a:latin typeface="Arial" panose="020B0604020202020204" pitchFamily="34" charset="0"/>
              <a:cs typeface="Arial" panose="020B0604020202020204" pitchFamily="34" charset="0"/>
            </a:endParaRPr>
          </a:p>
          <a:p>
            <a:pPr lvl="1"/>
            <a:r>
              <a:rPr lang="zh-CN" altLang="zh-CN" sz="2400" dirty="0"/>
              <a:t>负责数据库全生命周期的安全管理 </a:t>
            </a:r>
            <a:endParaRPr lang="en-US" altLang="zh-CN" sz="2400" dirty="0"/>
          </a:p>
        </p:txBody>
      </p:sp>
      <p:pic>
        <p:nvPicPr>
          <p:cNvPr id="3" name="图片 2">
            <a:extLst>
              <a:ext uri="{FF2B5EF4-FFF2-40B4-BE49-F238E27FC236}">
                <a16:creationId xmlns:a16="http://schemas.microsoft.com/office/drawing/2014/main" id="{566831D1-4F5A-7B52-4C14-7A019D45DC98}"/>
              </a:ext>
            </a:extLst>
          </p:cNvPr>
          <p:cNvPicPr>
            <a:picLocks noChangeAspect="1"/>
          </p:cNvPicPr>
          <p:nvPr/>
        </p:nvPicPr>
        <p:blipFill>
          <a:blip r:embed="rId3"/>
          <a:stretch>
            <a:fillRect/>
          </a:stretch>
        </p:blipFill>
        <p:spPr>
          <a:xfrm>
            <a:off x="7882161" y="1262550"/>
            <a:ext cx="3942286" cy="5261212"/>
          </a:xfrm>
          <a:prstGeom prst="rect">
            <a:avLst/>
          </a:prstGeom>
        </p:spPr>
      </p:pic>
      <p:sp>
        <p:nvSpPr>
          <p:cNvPr id="5" name="灯片编号占位符 1">
            <a:extLst>
              <a:ext uri="{FF2B5EF4-FFF2-40B4-BE49-F238E27FC236}">
                <a16:creationId xmlns:a16="http://schemas.microsoft.com/office/drawing/2014/main" id="{EA63E842-E9F0-6DF1-21B4-C731AE894917}"/>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22</a:t>
            </a:fld>
            <a:endParaRPr lang="zh-CN" altLang="en-US" dirty="0"/>
          </a:p>
        </p:txBody>
      </p:sp>
      <p:pic>
        <p:nvPicPr>
          <p:cNvPr id="6" name="Picture 5">
            <a:extLst>
              <a:ext uri="{FF2B5EF4-FFF2-40B4-BE49-F238E27FC236}">
                <a16:creationId xmlns:a16="http://schemas.microsoft.com/office/drawing/2014/main" id="{6994FCC8-15B8-B1E6-F466-E624B9023983}"/>
              </a:ext>
            </a:extLst>
          </p:cNvPr>
          <p:cNvPicPr>
            <a:picLocks noChangeAspect="1"/>
          </p:cNvPicPr>
          <p:nvPr/>
        </p:nvPicPr>
        <p:blipFill>
          <a:blip r:embed="rId4"/>
          <a:stretch>
            <a:fillRect/>
          </a:stretch>
        </p:blipFill>
        <p:spPr>
          <a:xfrm>
            <a:off x="299355" y="1223663"/>
            <a:ext cx="11435286" cy="5155960"/>
          </a:xfrm>
          <a:prstGeom prst="rect">
            <a:avLst/>
          </a:prstGeom>
        </p:spPr>
      </p:pic>
    </p:spTree>
    <p:extLst>
      <p:ext uri="{BB962C8B-B14F-4D97-AF65-F5344CB8AC3E}">
        <p14:creationId xmlns:p14="http://schemas.microsoft.com/office/powerpoint/2010/main" val="1081668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数据库管理系统</a:t>
            </a:r>
          </a:p>
        </p:txBody>
      </p:sp>
      <p:pic>
        <p:nvPicPr>
          <p:cNvPr id="7" name="图片 6">
            <a:extLst>
              <a:ext uri="{FF2B5EF4-FFF2-40B4-BE49-F238E27FC236}">
                <a16:creationId xmlns:a16="http://schemas.microsoft.com/office/drawing/2014/main" id="{3D95D267-2231-D890-A2F2-CCDC90744076}"/>
              </a:ext>
            </a:extLst>
          </p:cNvPr>
          <p:cNvPicPr>
            <a:picLocks noChangeAspect="1"/>
          </p:cNvPicPr>
          <p:nvPr/>
        </p:nvPicPr>
        <p:blipFill>
          <a:blip r:embed="rId3"/>
          <a:stretch>
            <a:fillRect/>
          </a:stretch>
        </p:blipFill>
        <p:spPr>
          <a:xfrm>
            <a:off x="6358917" y="687604"/>
            <a:ext cx="5682957" cy="6170396"/>
          </a:xfrm>
          <a:prstGeom prst="rect">
            <a:avLst/>
          </a:prstGeom>
        </p:spPr>
      </p:pic>
      <p:pic>
        <p:nvPicPr>
          <p:cNvPr id="8" name="图片 7">
            <a:extLst>
              <a:ext uri="{FF2B5EF4-FFF2-40B4-BE49-F238E27FC236}">
                <a16:creationId xmlns:a16="http://schemas.microsoft.com/office/drawing/2014/main" id="{C66C532F-DE93-5712-C2CB-CD7463638056}"/>
              </a:ext>
            </a:extLst>
          </p:cNvPr>
          <p:cNvPicPr>
            <a:picLocks noChangeAspect="1"/>
          </p:cNvPicPr>
          <p:nvPr/>
        </p:nvPicPr>
        <p:blipFill>
          <a:blip r:embed="rId4"/>
          <a:stretch>
            <a:fillRect/>
          </a:stretch>
        </p:blipFill>
        <p:spPr>
          <a:xfrm>
            <a:off x="648848" y="1879333"/>
            <a:ext cx="3472776" cy="4634623"/>
          </a:xfrm>
          <a:prstGeom prst="rect">
            <a:avLst/>
          </a:prstGeom>
        </p:spPr>
      </p:pic>
      <p:sp>
        <p:nvSpPr>
          <p:cNvPr id="10" name="Right Arrow 3">
            <a:extLst>
              <a:ext uri="{FF2B5EF4-FFF2-40B4-BE49-F238E27FC236}">
                <a16:creationId xmlns:a16="http://schemas.microsoft.com/office/drawing/2014/main" id="{ED2AC8CF-8E4D-4327-CF77-55013FC87F8E}"/>
              </a:ext>
            </a:extLst>
          </p:cNvPr>
          <p:cNvSpPr/>
          <p:nvPr/>
        </p:nvSpPr>
        <p:spPr>
          <a:xfrm>
            <a:off x="4803921" y="3636348"/>
            <a:ext cx="1029163" cy="326572"/>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1" name="文本框 10">
            <a:extLst>
              <a:ext uri="{FF2B5EF4-FFF2-40B4-BE49-F238E27FC236}">
                <a16:creationId xmlns:a16="http://schemas.microsoft.com/office/drawing/2014/main" id="{FCD1EC28-EB7C-E201-8B46-F0308534CB95}"/>
              </a:ext>
            </a:extLst>
          </p:cNvPr>
          <p:cNvSpPr txBox="1"/>
          <p:nvPr/>
        </p:nvSpPr>
        <p:spPr>
          <a:xfrm>
            <a:off x="4803921" y="3194946"/>
            <a:ext cx="954107" cy="400110"/>
          </a:xfrm>
          <a:prstGeom prst="rect">
            <a:avLst/>
          </a:prstGeom>
          <a:noFill/>
        </p:spPr>
        <p:txBody>
          <a:bodyPr wrap="none" rtlCol="0">
            <a:spAutoFit/>
          </a:bodyPr>
          <a:lstStyle/>
          <a:p>
            <a:r>
              <a:rPr kumimoji="1" lang="zh-CN" altLang="en-US" sz="2000" dirty="0"/>
              <a:t>具体化</a:t>
            </a:r>
          </a:p>
        </p:txBody>
      </p:sp>
      <p:sp>
        <p:nvSpPr>
          <p:cNvPr id="9" name="灯片编号占位符 1">
            <a:extLst>
              <a:ext uri="{FF2B5EF4-FFF2-40B4-BE49-F238E27FC236}">
                <a16:creationId xmlns:a16="http://schemas.microsoft.com/office/drawing/2014/main" id="{43347B2D-57F0-A816-B3BF-4B803438EF38}"/>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23</a:t>
            </a:fld>
            <a:endParaRPr lang="zh-CN" altLang="en-US" dirty="0"/>
          </a:p>
        </p:txBody>
      </p:sp>
    </p:spTree>
    <p:extLst>
      <p:ext uri="{BB962C8B-B14F-4D97-AF65-F5344CB8AC3E}">
        <p14:creationId xmlns:p14="http://schemas.microsoft.com/office/powerpoint/2010/main" val="16575262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查询接口层</a:t>
            </a:r>
          </a:p>
        </p:txBody>
      </p:sp>
      <p:pic>
        <p:nvPicPr>
          <p:cNvPr id="7" name="图片 6">
            <a:extLst>
              <a:ext uri="{FF2B5EF4-FFF2-40B4-BE49-F238E27FC236}">
                <a16:creationId xmlns:a16="http://schemas.microsoft.com/office/drawing/2014/main" id="{BFD57129-BE15-719B-1AA8-65CFEBC554DB}"/>
              </a:ext>
            </a:extLst>
          </p:cNvPr>
          <p:cNvPicPr>
            <a:picLocks noChangeAspect="1"/>
          </p:cNvPicPr>
          <p:nvPr/>
        </p:nvPicPr>
        <p:blipFill>
          <a:blip r:embed="rId3"/>
          <a:stretch>
            <a:fillRect/>
          </a:stretch>
        </p:blipFill>
        <p:spPr>
          <a:xfrm>
            <a:off x="6372565" y="819705"/>
            <a:ext cx="5682957" cy="5984543"/>
          </a:xfrm>
          <a:prstGeom prst="rect">
            <a:avLst/>
          </a:prstGeom>
        </p:spPr>
      </p:pic>
      <p:sp>
        <p:nvSpPr>
          <p:cNvPr id="12" name="内容占位符 2">
            <a:extLst>
              <a:ext uri="{FF2B5EF4-FFF2-40B4-BE49-F238E27FC236}">
                <a16:creationId xmlns:a16="http://schemas.microsoft.com/office/drawing/2014/main" id="{9D302420-5BFF-D154-F3EF-8E46156AECFF}"/>
              </a:ext>
            </a:extLst>
          </p:cNvPr>
          <p:cNvSpPr>
            <a:spLocks noGrp="1"/>
          </p:cNvSpPr>
          <p:nvPr>
            <p:ph idx="1"/>
          </p:nvPr>
        </p:nvSpPr>
        <p:spPr>
          <a:xfrm>
            <a:off x="326836" y="1352575"/>
            <a:ext cx="6275411" cy="1459471"/>
          </a:xfrm>
        </p:spPr>
        <p:txBody>
          <a:bodyPr/>
          <a:lstStyle/>
          <a:p>
            <a:r>
              <a:rPr lang="zh-CN" altLang="en-US" sz="2800" dirty="0">
                <a:latin typeface="Times" pitchFamily="2" charset="0"/>
              </a:rPr>
              <a:t>查询接口层</a:t>
            </a:r>
            <a:endParaRPr lang="en-US" altLang="zh-CN" sz="2800" dirty="0">
              <a:latin typeface="Times" pitchFamily="2" charset="0"/>
            </a:endParaRPr>
          </a:p>
          <a:p>
            <a:pPr lvl="1"/>
            <a:r>
              <a:rPr lang="zh-CN" altLang="zh-CN" sz="2400" dirty="0">
                <a:latin typeface="Times" pitchFamily="2" charset="0"/>
              </a:rPr>
              <a:t>负责用户和数据库管理系统的交互 </a:t>
            </a:r>
            <a:endParaRPr lang="zh-CN" altLang="en-US" sz="2400" dirty="0">
              <a:latin typeface="Times" pitchFamily="2" charset="0"/>
            </a:endParaRPr>
          </a:p>
          <a:p>
            <a:pPr lvl="1"/>
            <a:r>
              <a:rPr lang="en-US" altLang="zh-CN" sz="2400" dirty="0">
                <a:latin typeface="Times" pitchFamily="2" charset="0"/>
              </a:rPr>
              <a:t>SQL</a:t>
            </a:r>
            <a:r>
              <a:rPr lang="zh-CN" altLang="en-US" sz="2400" dirty="0">
                <a:latin typeface="Times" pitchFamily="2" charset="0"/>
              </a:rPr>
              <a:t>查询语言</a:t>
            </a:r>
            <a:endParaRPr lang="en-US" altLang="zh-CN" sz="2400" dirty="0">
              <a:latin typeface="Times" pitchFamily="2" charset="0"/>
            </a:endParaRPr>
          </a:p>
        </p:txBody>
      </p:sp>
      <p:sp>
        <p:nvSpPr>
          <p:cNvPr id="13" name="内容占位符 2">
            <a:extLst>
              <a:ext uri="{FF2B5EF4-FFF2-40B4-BE49-F238E27FC236}">
                <a16:creationId xmlns:a16="http://schemas.microsoft.com/office/drawing/2014/main" id="{16928203-808C-E67B-F43C-8B137ED34B00}"/>
              </a:ext>
            </a:extLst>
          </p:cNvPr>
          <p:cNvSpPr txBox="1">
            <a:spLocks/>
          </p:cNvSpPr>
          <p:nvPr/>
        </p:nvSpPr>
        <p:spPr bwMode="auto">
          <a:xfrm>
            <a:off x="326836" y="4933068"/>
            <a:ext cx="7343207" cy="25781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r>
              <a:rPr lang="zh-CN" altLang="en-US" sz="2800" kern="0" dirty="0">
                <a:latin typeface="Times" pitchFamily="2" charset="0"/>
              </a:rPr>
              <a:t>常见的查询接口</a:t>
            </a:r>
            <a:endParaRPr lang="en-US" altLang="zh-CN" sz="2800" kern="0" dirty="0">
              <a:latin typeface="Times" pitchFamily="2" charset="0"/>
            </a:endParaRPr>
          </a:p>
          <a:p>
            <a:pPr lvl="1"/>
            <a:r>
              <a:rPr lang="en-US" altLang="zh-CN" dirty="0">
                <a:latin typeface="Times" pitchFamily="2" charset="0"/>
              </a:rPr>
              <a:t>JDBC</a:t>
            </a:r>
            <a:r>
              <a:rPr lang="zh-CN" altLang="zh-CN" sz="2400" dirty="0">
                <a:latin typeface="Times" pitchFamily="2" charset="0"/>
              </a:rPr>
              <a:t>（</a:t>
            </a:r>
            <a:r>
              <a:rPr lang="en-US" altLang="zh-CN" sz="2400" dirty="0">
                <a:latin typeface="Times" pitchFamily="2" charset="0"/>
              </a:rPr>
              <a:t>Java database connectivity</a:t>
            </a:r>
            <a:r>
              <a:rPr lang="zh-CN" altLang="zh-CN" sz="2400" dirty="0">
                <a:latin typeface="Times" pitchFamily="2" charset="0"/>
              </a:rPr>
              <a:t>，</a:t>
            </a:r>
            <a:r>
              <a:rPr lang="en-US" altLang="zh-CN" sz="2400" dirty="0">
                <a:latin typeface="Times" pitchFamily="2" charset="0"/>
              </a:rPr>
              <a:t>JDBC</a:t>
            </a:r>
            <a:r>
              <a:rPr lang="zh-CN" altLang="zh-CN" sz="2400" dirty="0">
                <a:latin typeface="Times" pitchFamily="2" charset="0"/>
              </a:rPr>
              <a:t>）</a:t>
            </a:r>
            <a:endParaRPr lang="en-US" altLang="zh-CN" dirty="0">
              <a:latin typeface="Times" pitchFamily="2" charset="0"/>
            </a:endParaRPr>
          </a:p>
          <a:p>
            <a:pPr lvl="1"/>
            <a:r>
              <a:rPr lang="en-US" altLang="zh-CN" dirty="0">
                <a:latin typeface="Times" pitchFamily="2" charset="0"/>
              </a:rPr>
              <a:t>ODBC</a:t>
            </a:r>
            <a:r>
              <a:rPr lang="zh-CN" altLang="zh-CN" sz="2400" dirty="0">
                <a:latin typeface="Times" pitchFamily="2" charset="0"/>
              </a:rPr>
              <a:t>（</a:t>
            </a:r>
            <a:r>
              <a:rPr lang="en-US" altLang="zh-CN" sz="2400" dirty="0">
                <a:latin typeface="Times" pitchFamily="2" charset="0"/>
              </a:rPr>
              <a:t>open database connectivity</a:t>
            </a:r>
            <a:r>
              <a:rPr lang="zh-CN" altLang="zh-CN" sz="2400" dirty="0">
                <a:latin typeface="Times" pitchFamily="2" charset="0"/>
              </a:rPr>
              <a:t>，</a:t>
            </a:r>
            <a:r>
              <a:rPr lang="en-US" altLang="zh-CN" sz="2400" dirty="0">
                <a:latin typeface="Times" pitchFamily="2" charset="0"/>
              </a:rPr>
              <a:t>ODBC</a:t>
            </a:r>
            <a:r>
              <a:rPr lang="zh-CN" altLang="zh-CN" sz="2400" dirty="0">
                <a:latin typeface="Times" pitchFamily="2" charset="0"/>
              </a:rPr>
              <a:t>）</a:t>
            </a:r>
            <a:r>
              <a:rPr lang="zh-CN" altLang="zh-CN" sz="2000" dirty="0">
                <a:latin typeface="Times" pitchFamily="2" charset="0"/>
              </a:rPr>
              <a:t> </a:t>
            </a:r>
            <a:endParaRPr lang="en-US" altLang="zh-CN" sz="2400" kern="0" dirty="0">
              <a:latin typeface="Times" pitchFamily="2" charset="0"/>
            </a:endParaRPr>
          </a:p>
        </p:txBody>
      </p:sp>
      <p:sp>
        <p:nvSpPr>
          <p:cNvPr id="14" name="矩形 13">
            <a:extLst>
              <a:ext uri="{FF2B5EF4-FFF2-40B4-BE49-F238E27FC236}">
                <a16:creationId xmlns:a16="http://schemas.microsoft.com/office/drawing/2014/main" id="{9D01A7F4-AA9B-1D53-2F99-D96FCE898D1A}"/>
              </a:ext>
            </a:extLst>
          </p:cNvPr>
          <p:cNvSpPr/>
          <p:nvPr/>
        </p:nvSpPr>
        <p:spPr bwMode="auto">
          <a:xfrm>
            <a:off x="7601802" y="1721221"/>
            <a:ext cx="4195121" cy="653490"/>
          </a:xfrm>
          <a:prstGeom prst="rect">
            <a:avLst/>
          </a:prstGeom>
          <a:noFill/>
          <a:ln w="38100" cap="flat" cmpd="sng" algn="ctr">
            <a:solidFill>
              <a:srgbClr val="FF0000"/>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0000" tIns="45720" rIns="91440" bIns="45720" numCol="1" rtlCol="0" anchor="t"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dirty="0">
              <a:ln>
                <a:noFill/>
              </a:ln>
              <a:solidFill>
                <a:schemeClr val="tx1"/>
              </a:solidFill>
              <a:effectLst/>
              <a:latin typeface="Times New Roman" pitchFamily="18" charset="0"/>
              <a:ea typeface="华文楷体" pitchFamily="2" charset="-122"/>
            </a:endParaRPr>
          </a:p>
        </p:txBody>
      </p:sp>
      <p:sp>
        <p:nvSpPr>
          <p:cNvPr id="8" name="灯片编号占位符 1">
            <a:extLst>
              <a:ext uri="{FF2B5EF4-FFF2-40B4-BE49-F238E27FC236}">
                <a16:creationId xmlns:a16="http://schemas.microsoft.com/office/drawing/2014/main" id="{B8A9A7DE-2D7F-A4CA-BCDD-4B96FCCE1121}"/>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24</a:t>
            </a:fld>
            <a:endParaRPr lang="zh-CN" altLang="en-US" dirty="0"/>
          </a:p>
        </p:txBody>
      </p:sp>
    </p:spTree>
    <p:extLst>
      <p:ext uri="{BB962C8B-B14F-4D97-AF65-F5344CB8AC3E}">
        <p14:creationId xmlns:p14="http://schemas.microsoft.com/office/powerpoint/2010/main" val="9731699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查询处理层</a:t>
            </a:r>
          </a:p>
        </p:txBody>
      </p:sp>
      <p:pic>
        <p:nvPicPr>
          <p:cNvPr id="7" name="图片 6">
            <a:extLst>
              <a:ext uri="{FF2B5EF4-FFF2-40B4-BE49-F238E27FC236}">
                <a16:creationId xmlns:a16="http://schemas.microsoft.com/office/drawing/2014/main" id="{BFD57129-BE15-719B-1AA8-65CFEBC554DB}"/>
              </a:ext>
            </a:extLst>
          </p:cNvPr>
          <p:cNvPicPr>
            <a:picLocks noChangeAspect="1"/>
          </p:cNvPicPr>
          <p:nvPr/>
        </p:nvPicPr>
        <p:blipFill>
          <a:blip r:embed="rId3"/>
          <a:stretch>
            <a:fillRect/>
          </a:stretch>
        </p:blipFill>
        <p:spPr>
          <a:xfrm>
            <a:off x="6372565" y="819705"/>
            <a:ext cx="5682957" cy="5984543"/>
          </a:xfrm>
          <a:prstGeom prst="rect">
            <a:avLst/>
          </a:prstGeom>
        </p:spPr>
      </p:pic>
      <p:sp>
        <p:nvSpPr>
          <p:cNvPr id="12" name="内容占位符 2">
            <a:extLst>
              <a:ext uri="{FF2B5EF4-FFF2-40B4-BE49-F238E27FC236}">
                <a16:creationId xmlns:a16="http://schemas.microsoft.com/office/drawing/2014/main" id="{9D302420-5BFF-D154-F3EF-8E46156AECFF}"/>
              </a:ext>
            </a:extLst>
          </p:cNvPr>
          <p:cNvSpPr>
            <a:spLocks noGrp="1"/>
          </p:cNvSpPr>
          <p:nvPr>
            <p:ph idx="1"/>
          </p:nvPr>
        </p:nvSpPr>
        <p:spPr>
          <a:xfrm>
            <a:off x="326836" y="1352575"/>
            <a:ext cx="6275411" cy="1459471"/>
          </a:xfrm>
        </p:spPr>
        <p:txBody>
          <a:bodyPr/>
          <a:lstStyle/>
          <a:p>
            <a:r>
              <a:rPr lang="zh-CN" altLang="en-US" sz="2800" dirty="0"/>
              <a:t>查询处理层</a:t>
            </a:r>
            <a:endParaRPr lang="en-US" altLang="zh-CN" sz="2800" dirty="0"/>
          </a:p>
          <a:p>
            <a:pPr lvl="1"/>
            <a:r>
              <a:rPr lang="zh-CN" altLang="zh-CN" sz="2400" dirty="0"/>
              <a:t>对数据库的各类语句进行词法分析等</a:t>
            </a:r>
            <a:endParaRPr lang="en-US" altLang="zh-CN" sz="2400" dirty="0"/>
          </a:p>
          <a:p>
            <a:pPr lvl="1"/>
            <a:r>
              <a:rPr lang="zh-CN" altLang="zh-CN" sz="2400" dirty="0"/>
              <a:t>授权检验、视图转换和查询优化等任务  </a:t>
            </a:r>
            <a:endParaRPr lang="en-US" altLang="zh-CN" sz="2400" dirty="0">
              <a:latin typeface="Arial" panose="020B0604020202020204" pitchFamily="34" charset="0"/>
              <a:cs typeface="Arial" panose="020B0604020202020204" pitchFamily="34" charset="0"/>
            </a:endParaRPr>
          </a:p>
          <a:p>
            <a:pPr lvl="1"/>
            <a:endParaRPr lang="en-US" altLang="zh-CN" sz="2400" dirty="0"/>
          </a:p>
        </p:txBody>
      </p:sp>
      <p:sp>
        <p:nvSpPr>
          <p:cNvPr id="13" name="内容占位符 2">
            <a:extLst>
              <a:ext uri="{FF2B5EF4-FFF2-40B4-BE49-F238E27FC236}">
                <a16:creationId xmlns:a16="http://schemas.microsoft.com/office/drawing/2014/main" id="{16928203-808C-E67B-F43C-8B137ED34B00}"/>
              </a:ext>
            </a:extLst>
          </p:cNvPr>
          <p:cNvSpPr txBox="1">
            <a:spLocks/>
          </p:cNvSpPr>
          <p:nvPr/>
        </p:nvSpPr>
        <p:spPr bwMode="auto">
          <a:xfrm>
            <a:off x="326836" y="3167520"/>
            <a:ext cx="6045730" cy="345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r>
              <a:rPr lang="zh-CN" altLang="en-US" sz="2800" kern="0" dirty="0"/>
              <a:t>查询处理层组成</a:t>
            </a:r>
            <a:endParaRPr lang="en-US" altLang="zh-CN" sz="2800" kern="0" dirty="0"/>
          </a:p>
          <a:p>
            <a:pPr lvl="1"/>
            <a:r>
              <a:rPr lang="zh-CN" altLang="en-US" sz="2400" dirty="0"/>
              <a:t>查询解析</a:t>
            </a:r>
            <a:endParaRPr lang="en-US" altLang="zh-CN" sz="2400" kern="0" dirty="0"/>
          </a:p>
          <a:p>
            <a:pPr lvl="1"/>
            <a:r>
              <a:rPr lang="zh-CN" altLang="en-US" sz="2400" kern="0" dirty="0"/>
              <a:t>查询重写</a:t>
            </a:r>
            <a:endParaRPr lang="en-US" altLang="zh-CN" sz="2400" kern="0" dirty="0"/>
          </a:p>
          <a:p>
            <a:pPr lvl="1"/>
            <a:r>
              <a:rPr lang="zh-CN" altLang="en-US" sz="2400" kern="0" dirty="0"/>
              <a:t>视图转换</a:t>
            </a:r>
            <a:endParaRPr lang="en-US" altLang="zh-CN" sz="2400" kern="0" dirty="0"/>
          </a:p>
          <a:p>
            <a:pPr lvl="1"/>
            <a:r>
              <a:rPr lang="zh-CN" altLang="en-US" sz="2400" kern="0" dirty="0"/>
              <a:t>逻辑优化</a:t>
            </a:r>
            <a:endParaRPr lang="en-US" altLang="zh-CN" sz="2400" kern="0" dirty="0"/>
          </a:p>
          <a:p>
            <a:pPr lvl="1"/>
            <a:r>
              <a:rPr lang="zh-CN" altLang="en-US" sz="2400" kern="0" dirty="0"/>
              <a:t>物理优化</a:t>
            </a:r>
            <a:endParaRPr lang="en-US" altLang="zh-CN" sz="2400" kern="0" dirty="0"/>
          </a:p>
          <a:p>
            <a:pPr lvl="1"/>
            <a:r>
              <a:rPr lang="zh-CN" altLang="en-US" sz="2400" kern="0" dirty="0"/>
              <a:t>代价估计</a:t>
            </a:r>
            <a:endParaRPr lang="en-US" altLang="zh-CN" sz="2400" dirty="0"/>
          </a:p>
        </p:txBody>
      </p:sp>
      <p:sp>
        <p:nvSpPr>
          <p:cNvPr id="11" name="矩形 10">
            <a:extLst>
              <a:ext uri="{FF2B5EF4-FFF2-40B4-BE49-F238E27FC236}">
                <a16:creationId xmlns:a16="http://schemas.microsoft.com/office/drawing/2014/main" id="{0590C492-F1BE-EC82-5F7E-0E22C9D262C0}"/>
              </a:ext>
            </a:extLst>
          </p:cNvPr>
          <p:cNvSpPr/>
          <p:nvPr/>
        </p:nvSpPr>
        <p:spPr bwMode="auto">
          <a:xfrm>
            <a:off x="7615451" y="2442949"/>
            <a:ext cx="4135270" cy="724571"/>
          </a:xfrm>
          <a:prstGeom prst="rect">
            <a:avLst/>
          </a:prstGeom>
          <a:noFill/>
          <a:ln w="38100" cap="flat" cmpd="sng" algn="ctr">
            <a:solidFill>
              <a:srgbClr val="FF0000"/>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0000" tIns="45720" rIns="91440" bIns="45720" numCol="1" rtlCol="0" anchor="t"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dirty="0">
              <a:ln>
                <a:noFill/>
              </a:ln>
              <a:solidFill>
                <a:schemeClr val="tx1"/>
              </a:solidFill>
              <a:effectLst/>
              <a:latin typeface="Times New Roman" pitchFamily="18" charset="0"/>
              <a:ea typeface="华文楷体" pitchFamily="2" charset="-122"/>
            </a:endParaRPr>
          </a:p>
        </p:txBody>
      </p:sp>
      <p:sp>
        <p:nvSpPr>
          <p:cNvPr id="8" name="灯片编号占位符 1">
            <a:extLst>
              <a:ext uri="{FF2B5EF4-FFF2-40B4-BE49-F238E27FC236}">
                <a16:creationId xmlns:a16="http://schemas.microsoft.com/office/drawing/2014/main" id="{2B6507C1-9D6D-7E7B-B3C0-EC08E2FBE31C}"/>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25</a:t>
            </a:fld>
            <a:endParaRPr lang="zh-CN" altLang="en-US" dirty="0"/>
          </a:p>
        </p:txBody>
      </p:sp>
    </p:spTree>
    <p:extLst>
      <p:ext uri="{BB962C8B-B14F-4D97-AF65-F5344CB8AC3E}">
        <p14:creationId xmlns:p14="http://schemas.microsoft.com/office/powerpoint/2010/main" val="8520721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8C40D56-554F-084D-8B13-84D095A20589}"/>
              </a:ext>
            </a:extLst>
          </p:cNvPr>
          <p:cNvSpPr>
            <a:spLocks noGrp="1"/>
          </p:cNvSpPr>
          <p:nvPr>
            <p:ph type="sldNum" sz="quarter" idx="10"/>
          </p:nvPr>
        </p:nvSpPr>
        <p:spPr/>
        <p:txBody>
          <a:bodyPr/>
          <a:lstStyle/>
          <a:p>
            <a:fld id="{87BBDC00-B9E2-4EFD-9306-2934E87247C6}" type="slidenum">
              <a:rPr lang="zh-CN" altLang="en-US" smtClean="0"/>
              <a:pPr/>
              <a:t>26</a:t>
            </a:fld>
            <a:endParaRPr lang="zh-CN" altLang="en-US"/>
          </a:p>
        </p:txBody>
      </p:sp>
      <p:sp>
        <p:nvSpPr>
          <p:cNvPr id="3" name="标题 2">
            <a:extLst>
              <a:ext uri="{FF2B5EF4-FFF2-40B4-BE49-F238E27FC236}">
                <a16:creationId xmlns:a16="http://schemas.microsoft.com/office/drawing/2014/main" id="{FCC05C97-10CE-ED43-AD1C-C7F360B731A1}"/>
              </a:ext>
            </a:extLst>
          </p:cNvPr>
          <p:cNvSpPr>
            <a:spLocks noGrp="1"/>
          </p:cNvSpPr>
          <p:nvPr>
            <p:ph type="title"/>
          </p:nvPr>
        </p:nvSpPr>
        <p:spPr/>
        <p:txBody>
          <a:bodyPr/>
          <a:lstStyle/>
          <a:p>
            <a:r>
              <a:rPr kumimoji="1" lang="zh-CN" altLang="en-US" dirty="0"/>
              <a:t>查询处理层（续）</a:t>
            </a:r>
          </a:p>
        </p:txBody>
      </p:sp>
      <p:sp>
        <p:nvSpPr>
          <p:cNvPr id="4" name="内容占位符 3">
            <a:extLst>
              <a:ext uri="{FF2B5EF4-FFF2-40B4-BE49-F238E27FC236}">
                <a16:creationId xmlns:a16="http://schemas.microsoft.com/office/drawing/2014/main" id="{4324B5DF-2A30-9045-9564-A40AAA2BFEE1}"/>
              </a:ext>
            </a:extLst>
          </p:cNvPr>
          <p:cNvSpPr>
            <a:spLocks noGrp="1"/>
          </p:cNvSpPr>
          <p:nvPr>
            <p:ph idx="1"/>
          </p:nvPr>
        </p:nvSpPr>
        <p:spPr>
          <a:xfrm>
            <a:off x="457201" y="1125538"/>
            <a:ext cx="6305340" cy="5005387"/>
          </a:xfrm>
        </p:spPr>
        <p:txBody>
          <a:bodyPr/>
          <a:lstStyle/>
          <a:p>
            <a:r>
              <a:rPr lang="zh-CN" altLang="zh-CN" sz="2800" dirty="0"/>
              <a:t>查询处理是指针对一条查询，从数据库中提取目标数据时对该查询进行的处理过程，包括：</a:t>
            </a:r>
            <a:endParaRPr lang="en-US" altLang="zh-CN" sz="2800" dirty="0"/>
          </a:p>
          <a:p>
            <a:pPr lvl="1">
              <a:buFont typeface="Wingdings" pitchFamily="2" charset="2"/>
              <a:buChar char="p"/>
            </a:pPr>
            <a:r>
              <a:rPr lang="zh-CN" altLang="en-US" b="1" dirty="0"/>
              <a:t>查询解析</a:t>
            </a:r>
            <a:r>
              <a:rPr lang="zh-CN" altLang="en-US" dirty="0"/>
              <a:t>：</a:t>
            </a:r>
            <a:r>
              <a:rPr lang="zh-CN" altLang="zh-CN" dirty="0"/>
              <a:t>将查询语句</a:t>
            </a:r>
            <a:r>
              <a:rPr lang="zh-CN" altLang="en-US" dirty="0"/>
              <a:t>转化为</a:t>
            </a:r>
            <a:r>
              <a:rPr lang="zh-CN" altLang="zh-CN" dirty="0"/>
              <a:t>容易被数据库执行的表达</a:t>
            </a:r>
            <a:endParaRPr lang="en-US" altLang="zh-CN" dirty="0"/>
          </a:p>
          <a:p>
            <a:pPr lvl="1">
              <a:buFont typeface="Wingdings" pitchFamily="2" charset="2"/>
              <a:buChar char="p"/>
            </a:pPr>
            <a:r>
              <a:rPr lang="zh-CN" altLang="en-US" b="1" dirty="0"/>
              <a:t>查询优化</a:t>
            </a:r>
            <a:r>
              <a:rPr lang="zh-CN" altLang="en-US" dirty="0"/>
              <a:t>：</a:t>
            </a:r>
            <a:r>
              <a:rPr lang="zh-CN" altLang="zh-CN" dirty="0"/>
              <a:t>为优化查询的执行计划而进行各种逻辑等价的转换</a:t>
            </a:r>
            <a:endParaRPr lang="en-US" altLang="zh-CN" dirty="0"/>
          </a:p>
          <a:p>
            <a:pPr lvl="1">
              <a:buFont typeface="Wingdings" pitchFamily="2" charset="2"/>
              <a:buChar char="p"/>
            </a:pPr>
            <a:r>
              <a:rPr lang="zh-CN" altLang="en-US" b="1" dirty="0"/>
              <a:t>查询执行</a:t>
            </a:r>
            <a:r>
              <a:rPr lang="zh-CN" altLang="en-US" dirty="0"/>
              <a:t>：</a:t>
            </a:r>
            <a:r>
              <a:rPr lang="zh-CN" altLang="zh-CN" dirty="0"/>
              <a:t>查询的实际执行</a:t>
            </a:r>
            <a:endParaRPr kumimoji="1" lang="zh-CN" altLang="en-US" dirty="0"/>
          </a:p>
        </p:txBody>
      </p:sp>
      <p:pic>
        <p:nvPicPr>
          <p:cNvPr id="5" name="图片 4">
            <a:extLst>
              <a:ext uri="{FF2B5EF4-FFF2-40B4-BE49-F238E27FC236}">
                <a16:creationId xmlns:a16="http://schemas.microsoft.com/office/drawing/2014/main" id="{4B16935C-35D8-8049-AF5D-7CBC8FCB324D}"/>
              </a:ext>
            </a:extLst>
          </p:cNvPr>
          <p:cNvPicPr>
            <a:picLocks noChangeAspect="1"/>
          </p:cNvPicPr>
          <p:nvPr/>
        </p:nvPicPr>
        <p:blipFill>
          <a:blip r:embed="rId2"/>
          <a:stretch>
            <a:fillRect/>
          </a:stretch>
        </p:blipFill>
        <p:spPr>
          <a:xfrm>
            <a:off x="6959418" y="930385"/>
            <a:ext cx="3782272" cy="5744105"/>
          </a:xfrm>
          <a:prstGeom prst="rect">
            <a:avLst/>
          </a:prstGeom>
        </p:spPr>
      </p:pic>
    </p:spTree>
    <p:extLst>
      <p:ext uri="{BB962C8B-B14F-4D97-AF65-F5344CB8AC3E}">
        <p14:creationId xmlns:p14="http://schemas.microsoft.com/office/powerpoint/2010/main" val="6069905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8C40D56-554F-084D-8B13-84D095A20589}"/>
              </a:ext>
            </a:extLst>
          </p:cNvPr>
          <p:cNvSpPr>
            <a:spLocks noGrp="1"/>
          </p:cNvSpPr>
          <p:nvPr>
            <p:ph type="sldNum" sz="quarter" idx="10"/>
          </p:nvPr>
        </p:nvSpPr>
        <p:spPr/>
        <p:txBody>
          <a:bodyPr/>
          <a:lstStyle/>
          <a:p>
            <a:fld id="{87BBDC00-B9E2-4EFD-9306-2934E87247C6}" type="slidenum">
              <a:rPr lang="zh-CN" altLang="en-US" smtClean="0"/>
              <a:pPr/>
              <a:t>27</a:t>
            </a:fld>
            <a:endParaRPr lang="zh-CN" altLang="en-US"/>
          </a:p>
        </p:txBody>
      </p:sp>
      <p:sp>
        <p:nvSpPr>
          <p:cNvPr id="3" name="标题 2">
            <a:extLst>
              <a:ext uri="{FF2B5EF4-FFF2-40B4-BE49-F238E27FC236}">
                <a16:creationId xmlns:a16="http://schemas.microsoft.com/office/drawing/2014/main" id="{FCC05C97-10CE-ED43-AD1C-C7F360B731A1}"/>
              </a:ext>
            </a:extLst>
          </p:cNvPr>
          <p:cNvSpPr>
            <a:spLocks noGrp="1"/>
          </p:cNvSpPr>
          <p:nvPr>
            <p:ph type="title"/>
          </p:nvPr>
        </p:nvSpPr>
        <p:spPr/>
        <p:txBody>
          <a:bodyPr/>
          <a:lstStyle/>
          <a:p>
            <a:r>
              <a:rPr lang="zh-CN" altLang="en-US" dirty="0"/>
              <a:t>查询处理层（续）</a:t>
            </a:r>
            <a:endParaRPr kumimoji="1" lang="zh-CN" altLang="en-US" dirty="0"/>
          </a:p>
        </p:txBody>
      </p:sp>
      <p:sp>
        <p:nvSpPr>
          <p:cNvPr id="4" name="内容占位符 3">
            <a:extLst>
              <a:ext uri="{FF2B5EF4-FFF2-40B4-BE49-F238E27FC236}">
                <a16:creationId xmlns:a16="http://schemas.microsoft.com/office/drawing/2014/main" id="{4324B5DF-2A30-9045-9564-A40AAA2BFEE1}"/>
              </a:ext>
            </a:extLst>
          </p:cNvPr>
          <p:cNvSpPr>
            <a:spLocks noGrp="1"/>
          </p:cNvSpPr>
          <p:nvPr>
            <p:ph idx="1"/>
          </p:nvPr>
        </p:nvSpPr>
        <p:spPr/>
        <p:txBody>
          <a:bodyPr/>
          <a:lstStyle/>
          <a:p>
            <a:r>
              <a:rPr kumimoji="1" lang="zh-CN" altLang="en-US" sz="2800" b="1" dirty="0"/>
              <a:t>查询解析</a:t>
            </a:r>
            <a:endParaRPr kumimoji="1" lang="en-US" altLang="zh-CN" sz="2800" b="1" dirty="0"/>
          </a:p>
          <a:p>
            <a:pPr lvl="1"/>
            <a:r>
              <a:rPr kumimoji="1" lang="zh-CN" altLang="en-US" sz="2400" b="1" dirty="0"/>
              <a:t>输入</a:t>
            </a:r>
            <a:r>
              <a:rPr kumimoji="1" lang="en-US" altLang="zh-CN" sz="2400" b="1" dirty="0"/>
              <a:t>SQL</a:t>
            </a:r>
            <a:r>
              <a:rPr kumimoji="1" lang="zh-CN" altLang="en-US" sz="2400" b="1" dirty="0"/>
              <a:t>查询，输出查询树</a:t>
            </a:r>
            <a:endParaRPr kumimoji="1" lang="en-US" altLang="zh-CN" sz="2400" b="1" dirty="0"/>
          </a:p>
          <a:p>
            <a:pPr lvl="1"/>
            <a:r>
              <a:rPr kumimoji="1" lang="zh-CN" altLang="en-US" sz="2400" b="1" dirty="0"/>
              <a:t>词法分析</a:t>
            </a:r>
            <a:r>
              <a:rPr kumimoji="1" lang="zh-CN" altLang="en-US" sz="2400" dirty="0"/>
              <a:t>：</a:t>
            </a:r>
            <a:r>
              <a:rPr lang="zh-CN" altLang="zh-CN" sz="2400" dirty="0"/>
              <a:t>提取出</a:t>
            </a:r>
            <a:r>
              <a:rPr lang="en-US" altLang="zh-CN" sz="2400" dirty="0"/>
              <a:t>SQL</a:t>
            </a:r>
            <a:r>
              <a:rPr lang="zh-CN" altLang="zh-CN" sz="2400" dirty="0"/>
              <a:t>查询中的关键词、常量等成分 </a:t>
            </a:r>
            <a:endParaRPr kumimoji="1" lang="en-US" altLang="zh-CN" sz="2400" dirty="0"/>
          </a:p>
          <a:p>
            <a:pPr lvl="1"/>
            <a:r>
              <a:rPr lang="zh-CN" altLang="en-US" sz="2400" b="1" dirty="0"/>
              <a:t>语法分析</a:t>
            </a:r>
            <a:r>
              <a:rPr lang="zh-CN" altLang="en-US" sz="2400" dirty="0"/>
              <a:t>：</a:t>
            </a:r>
            <a:r>
              <a:rPr lang="zh-CN" altLang="zh-CN" sz="2400" dirty="0"/>
              <a:t>将</a:t>
            </a:r>
            <a:r>
              <a:rPr lang="zh-CN" altLang="en-US" sz="2400" dirty="0"/>
              <a:t>词法分析提取的</a:t>
            </a:r>
            <a:r>
              <a:rPr lang="zh-CN" altLang="zh-CN" sz="2400" dirty="0"/>
              <a:t>成分构建为一颗语法分析树 </a:t>
            </a:r>
            <a:endParaRPr lang="en-US" altLang="zh-CN" sz="2400" dirty="0"/>
          </a:p>
          <a:p>
            <a:pPr lvl="1"/>
            <a:r>
              <a:rPr kumimoji="1" lang="zh-CN" altLang="en-US" sz="2400" b="1" dirty="0"/>
              <a:t>语义分析</a:t>
            </a:r>
            <a:r>
              <a:rPr kumimoji="1" lang="zh-CN" altLang="en-US" sz="2400" dirty="0"/>
              <a:t>：</a:t>
            </a:r>
            <a:r>
              <a:rPr lang="zh-CN" altLang="zh-CN" sz="2400" dirty="0"/>
              <a:t>检查语法分析树的语义正确性，并将其转化为基于关系代数式表达的查询树 </a:t>
            </a:r>
            <a:endParaRPr kumimoji="1" lang="zh-CN" altLang="en-US" sz="2400" dirty="0"/>
          </a:p>
        </p:txBody>
      </p:sp>
      <p:pic>
        <p:nvPicPr>
          <p:cNvPr id="5" name="图片 4">
            <a:extLst>
              <a:ext uri="{FF2B5EF4-FFF2-40B4-BE49-F238E27FC236}">
                <a16:creationId xmlns:a16="http://schemas.microsoft.com/office/drawing/2014/main" id="{3FBC1155-2287-444F-8DF2-C1732B38DEB9}"/>
              </a:ext>
            </a:extLst>
          </p:cNvPr>
          <p:cNvPicPr>
            <a:picLocks noChangeAspect="1"/>
          </p:cNvPicPr>
          <p:nvPr/>
        </p:nvPicPr>
        <p:blipFill rotWithShape="1">
          <a:blip r:embed="rId2"/>
          <a:srcRect t="-1" b="60394"/>
          <a:stretch/>
        </p:blipFill>
        <p:spPr>
          <a:xfrm>
            <a:off x="5289909" y="3488480"/>
            <a:ext cx="5035183" cy="3028666"/>
          </a:xfrm>
          <a:prstGeom prst="rect">
            <a:avLst/>
          </a:prstGeom>
        </p:spPr>
      </p:pic>
    </p:spTree>
    <p:extLst>
      <p:ext uri="{BB962C8B-B14F-4D97-AF65-F5344CB8AC3E}">
        <p14:creationId xmlns:p14="http://schemas.microsoft.com/office/powerpoint/2010/main" val="7797973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8C40D56-554F-084D-8B13-84D095A20589}"/>
              </a:ext>
            </a:extLst>
          </p:cNvPr>
          <p:cNvSpPr>
            <a:spLocks noGrp="1"/>
          </p:cNvSpPr>
          <p:nvPr>
            <p:ph type="sldNum" sz="quarter" idx="10"/>
          </p:nvPr>
        </p:nvSpPr>
        <p:spPr/>
        <p:txBody>
          <a:bodyPr/>
          <a:lstStyle/>
          <a:p>
            <a:fld id="{87BBDC00-B9E2-4EFD-9306-2934E87247C6}" type="slidenum">
              <a:rPr lang="zh-CN" altLang="en-US" smtClean="0"/>
              <a:pPr/>
              <a:t>28</a:t>
            </a:fld>
            <a:endParaRPr lang="zh-CN" altLang="en-US"/>
          </a:p>
        </p:txBody>
      </p:sp>
      <p:sp>
        <p:nvSpPr>
          <p:cNvPr id="3" name="标题 2">
            <a:extLst>
              <a:ext uri="{FF2B5EF4-FFF2-40B4-BE49-F238E27FC236}">
                <a16:creationId xmlns:a16="http://schemas.microsoft.com/office/drawing/2014/main" id="{FCC05C97-10CE-ED43-AD1C-C7F360B731A1}"/>
              </a:ext>
            </a:extLst>
          </p:cNvPr>
          <p:cNvSpPr>
            <a:spLocks noGrp="1"/>
          </p:cNvSpPr>
          <p:nvPr>
            <p:ph type="title"/>
          </p:nvPr>
        </p:nvSpPr>
        <p:spPr/>
        <p:txBody>
          <a:bodyPr/>
          <a:lstStyle/>
          <a:p>
            <a:r>
              <a:rPr lang="zh-CN" altLang="en-US" dirty="0"/>
              <a:t>查询处理层（续）</a:t>
            </a:r>
            <a:endParaRPr kumimoji="1" lang="zh-CN" altLang="en-US" dirty="0"/>
          </a:p>
        </p:txBody>
      </p:sp>
      <p:sp>
        <p:nvSpPr>
          <p:cNvPr id="4" name="内容占位符 3">
            <a:extLst>
              <a:ext uri="{FF2B5EF4-FFF2-40B4-BE49-F238E27FC236}">
                <a16:creationId xmlns:a16="http://schemas.microsoft.com/office/drawing/2014/main" id="{4324B5DF-2A30-9045-9564-A40AAA2BFEE1}"/>
              </a:ext>
            </a:extLst>
          </p:cNvPr>
          <p:cNvSpPr>
            <a:spLocks noGrp="1"/>
          </p:cNvSpPr>
          <p:nvPr>
            <p:ph idx="1"/>
          </p:nvPr>
        </p:nvSpPr>
        <p:spPr/>
        <p:txBody>
          <a:bodyPr/>
          <a:lstStyle/>
          <a:p>
            <a:r>
              <a:rPr lang="zh-CN" altLang="en-US" sz="2800" b="1" dirty="0"/>
              <a:t>查询优化</a:t>
            </a:r>
            <a:endParaRPr lang="en-US" altLang="zh-CN" sz="2800" b="1" dirty="0"/>
          </a:p>
          <a:p>
            <a:pPr lvl="1"/>
            <a:r>
              <a:rPr kumimoji="1" lang="zh-CN" altLang="en-US" b="1" dirty="0"/>
              <a:t>输入查询树，输出物理执行计划</a:t>
            </a:r>
            <a:endParaRPr kumimoji="1" lang="en-US" altLang="zh-CN" b="1" dirty="0"/>
          </a:p>
          <a:p>
            <a:pPr lvl="1"/>
            <a:r>
              <a:rPr lang="zh-CN" altLang="zh-CN" sz="2400" b="1" dirty="0"/>
              <a:t>逻辑优化</a:t>
            </a:r>
            <a:r>
              <a:rPr lang="zh-CN" altLang="en-US" sz="2400" b="1" dirty="0"/>
              <a:t>：</a:t>
            </a:r>
            <a:r>
              <a:rPr lang="zh-CN" altLang="zh-CN" sz="2400" dirty="0"/>
              <a:t>依赖于逻辑等价变换规则</a:t>
            </a:r>
            <a:r>
              <a:rPr lang="zh-CN" altLang="en-US" sz="2400" dirty="0"/>
              <a:t>将</a:t>
            </a:r>
            <a:r>
              <a:rPr lang="zh-CN" altLang="zh-CN" sz="2400" dirty="0"/>
              <a:t>关系代数表达式变</a:t>
            </a:r>
            <a:r>
              <a:rPr lang="zh-CN" altLang="en-US" sz="2400" dirty="0"/>
              <a:t>换为有更高</a:t>
            </a:r>
            <a:r>
              <a:rPr lang="zh-CN" altLang="zh-CN" sz="2400" dirty="0"/>
              <a:t>执行效率</a:t>
            </a:r>
            <a:r>
              <a:rPr lang="zh-CN" altLang="en-US" sz="2400" dirty="0"/>
              <a:t>的形式</a:t>
            </a:r>
            <a:r>
              <a:rPr lang="zh-CN" altLang="zh-CN" sz="2400" dirty="0"/>
              <a:t> </a:t>
            </a:r>
            <a:endParaRPr lang="en-US" altLang="zh-CN" sz="2400" dirty="0"/>
          </a:p>
          <a:p>
            <a:pPr lvl="1"/>
            <a:r>
              <a:rPr kumimoji="1" lang="zh-CN" altLang="en-US" sz="2400" b="1" dirty="0"/>
              <a:t>代价估计</a:t>
            </a:r>
            <a:r>
              <a:rPr kumimoji="1" lang="zh-CN" altLang="en-US" sz="2400" dirty="0"/>
              <a:t>：用来预测各执行计划的资源消耗大小</a:t>
            </a:r>
            <a:endParaRPr kumimoji="1" lang="en-US" altLang="zh-CN" sz="2400" dirty="0"/>
          </a:p>
          <a:p>
            <a:pPr lvl="1"/>
            <a:r>
              <a:rPr lang="zh-CN" altLang="en-US" sz="2400" b="1" dirty="0"/>
              <a:t>物理</a:t>
            </a:r>
            <a:r>
              <a:rPr lang="zh-CN" altLang="zh-CN" sz="2400" b="1" dirty="0"/>
              <a:t>优化</a:t>
            </a:r>
            <a:r>
              <a:rPr lang="zh-CN" altLang="en-US" sz="2400" dirty="0"/>
              <a:t>：</a:t>
            </a:r>
            <a:r>
              <a:rPr lang="zh-CN" altLang="zh-CN" sz="2400" dirty="0"/>
              <a:t>依赖于代价估计器估计各执行计划的代价，以从中选取资源消耗最小的执行计划</a:t>
            </a:r>
            <a:endParaRPr kumimoji="1" lang="zh-CN" altLang="en-US" sz="2400" b="1" dirty="0"/>
          </a:p>
        </p:txBody>
      </p:sp>
      <p:pic>
        <p:nvPicPr>
          <p:cNvPr id="5" name="图片 4">
            <a:extLst>
              <a:ext uri="{FF2B5EF4-FFF2-40B4-BE49-F238E27FC236}">
                <a16:creationId xmlns:a16="http://schemas.microsoft.com/office/drawing/2014/main" id="{9F151036-A2B0-3B4A-8CA9-04F73B14CE0B}"/>
              </a:ext>
            </a:extLst>
          </p:cNvPr>
          <p:cNvPicPr>
            <a:picLocks noChangeAspect="1"/>
          </p:cNvPicPr>
          <p:nvPr/>
        </p:nvPicPr>
        <p:blipFill rotWithShape="1">
          <a:blip r:embed="rId2"/>
          <a:srcRect t="34534" b="25931"/>
          <a:stretch/>
        </p:blipFill>
        <p:spPr>
          <a:xfrm>
            <a:off x="5305530" y="3874641"/>
            <a:ext cx="4602145" cy="2763190"/>
          </a:xfrm>
          <a:prstGeom prst="rect">
            <a:avLst/>
          </a:prstGeom>
        </p:spPr>
      </p:pic>
    </p:spTree>
    <p:extLst>
      <p:ext uri="{BB962C8B-B14F-4D97-AF65-F5344CB8AC3E}">
        <p14:creationId xmlns:p14="http://schemas.microsoft.com/office/powerpoint/2010/main" val="28066520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8C40D56-554F-084D-8B13-84D095A20589}"/>
              </a:ext>
            </a:extLst>
          </p:cNvPr>
          <p:cNvSpPr>
            <a:spLocks noGrp="1"/>
          </p:cNvSpPr>
          <p:nvPr>
            <p:ph type="sldNum" sz="quarter" idx="10"/>
          </p:nvPr>
        </p:nvSpPr>
        <p:spPr/>
        <p:txBody>
          <a:bodyPr/>
          <a:lstStyle/>
          <a:p>
            <a:fld id="{87BBDC00-B9E2-4EFD-9306-2934E87247C6}" type="slidenum">
              <a:rPr lang="zh-CN" altLang="en-US" smtClean="0"/>
              <a:pPr/>
              <a:t>29</a:t>
            </a:fld>
            <a:endParaRPr lang="zh-CN" altLang="en-US"/>
          </a:p>
        </p:txBody>
      </p:sp>
      <p:sp>
        <p:nvSpPr>
          <p:cNvPr id="3" name="标题 2">
            <a:extLst>
              <a:ext uri="{FF2B5EF4-FFF2-40B4-BE49-F238E27FC236}">
                <a16:creationId xmlns:a16="http://schemas.microsoft.com/office/drawing/2014/main" id="{FCC05C97-10CE-ED43-AD1C-C7F360B731A1}"/>
              </a:ext>
            </a:extLst>
          </p:cNvPr>
          <p:cNvSpPr>
            <a:spLocks noGrp="1"/>
          </p:cNvSpPr>
          <p:nvPr>
            <p:ph type="title"/>
          </p:nvPr>
        </p:nvSpPr>
        <p:spPr/>
        <p:txBody>
          <a:bodyPr/>
          <a:lstStyle/>
          <a:p>
            <a:r>
              <a:rPr lang="zh-CN" altLang="en-US" dirty="0"/>
              <a:t>查询处理层（续）</a:t>
            </a:r>
            <a:endParaRPr kumimoji="1" lang="zh-CN" altLang="en-US" dirty="0"/>
          </a:p>
        </p:txBody>
      </p:sp>
      <p:sp>
        <p:nvSpPr>
          <p:cNvPr id="4" name="内容占位符 3">
            <a:extLst>
              <a:ext uri="{FF2B5EF4-FFF2-40B4-BE49-F238E27FC236}">
                <a16:creationId xmlns:a16="http://schemas.microsoft.com/office/drawing/2014/main" id="{4324B5DF-2A30-9045-9564-A40AAA2BFEE1}"/>
              </a:ext>
            </a:extLst>
          </p:cNvPr>
          <p:cNvSpPr>
            <a:spLocks noGrp="1"/>
          </p:cNvSpPr>
          <p:nvPr>
            <p:ph idx="1"/>
          </p:nvPr>
        </p:nvSpPr>
        <p:spPr/>
        <p:txBody>
          <a:bodyPr/>
          <a:lstStyle/>
          <a:p>
            <a:r>
              <a:rPr kumimoji="1" lang="zh-CN" altLang="en-US" sz="2800" b="1" dirty="0"/>
              <a:t>查询执行</a:t>
            </a:r>
            <a:endParaRPr kumimoji="1" lang="en-US" altLang="zh-CN" sz="2800" b="1" dirty="0"/>
          </a:p>
          <a:p>
            <a:pPr lvl="1"/>
            <a:r>
              <a:rPr kumimoji="1" lang="zh-CN" altLang="en-US" sz="2400" b="1" dirty="0"/>
              <a:t>输入为查询的执行计划，输出为查询结果</a:t>
            </a:r>
            <a:endParaRPr kumimoji="1" lang="en-US" altLang="zh-CN" sz="2400" b="1" dirty="0"/>
          </a:p>
          <a:p>
            <a:pPr lvl="1"/>
            <a:r>
              <a:rPr kumimoji="1" lang="zh-CN" altLang="en-US" sz="2400" b="1" dirty="0"/>
              <a:t>计划编译</a:t>
            </a:r>
            <a:r>
              <a:rPr kumimoji="1" lang="zh-CN" altLang="en-US" sz="2400" dirty="0"/>
              <a:t>：将</a:t>
            </a:r>
            <a:r>
              <a:rPr lang="zh-CN" altLang="zh-CN" sz="2400" dirty="0"/>
              <a:t>查询</a:t>
            </a:r>
            <a:r>
              <a:rPr lang="zh-CN" altLang="en-US" sz="2400" dirty="0"/>
              <a:t>的执行</a:t>
            </a:r>
            <a:r>
              <a:rPr lang="zh-CN" altLang="zh-CN" sz="2400" dirty="0"/>
              <a:t>计划</a:t>
            </a:r>
            <a:r>
              <a:rPr lang="zh-CN" altLang="en-US" sz="2400" dirty="0"/>
              <a:t>编译</a:t>
            </a:r>
            <a:r>
              <a:rPr lang="zh-CN" altLang="zh-CN" sz="2400" dirty="0"/>
              <a:t>可执行的编程代码，甚至是机器码</a:t>
            </a:r>
            <a:endParaRPr kumimoji="1" lang="en-US" altLang="zh-CN" sz="2400" dirty="0"/>
          </a:p>
          <a:p>
            <a:pPr lvl="1"/>
            <a:r>
              <a:rPr lang="zh-CN" altLang="en-US" sz="2400" b="1" dirty="0"/>
              <a:t>计划执行</a:t>
            </a:r>
            <a:r>
              <a:rPr lang="zh-CN" altLang="en-US" sz="2400" dirty="0"/>
              <a:t>：执行计划编译的结果，与使用何种查询执行模型有关</a:t>
            </a:r>
            <a:endParaRPr kumimoji="1" lang="zh-CN" altLang="en-US" sz="2400" dirty="0"/>
          </a:p>
        </p:txBody>
      </p:sp>
      <p:pic>
        <p:nvPicPr>
          <p:cNvPr id="5" name="图片 4">
            <a:extLst>
              <a:ext uri="{FF2B5EF4-FFF2-40B4-BE49-F238E27FC236}">
                <a16:creationId xmlns:a16="http://schemas.microsoft.com/office/drawing/2014/main" id="{12847249-456A-3F4D-9E15-EE1BED44706D}"/>
              </a:ext>
            </a:extLst>
          </p:cNvPr>
          <p:cNvPicPr>
            <a:picLocks noChangeAspect="1"/>
          </p:cNvPicPr>
          <p:nvPr/>
        </p:nvPicPr>
        <p:blipFill rotWithShape="1">
          <a:blip r:embed="rId2"/>
          <a:srcRect t="68471"/>
          <a:stretch/>
        </p:blipFill>
        <p:spPr>
          <a:xfrm>
            <a:off x="3408021" y="3759514"/>
            <a:ext cx="4952449" cy="2371411"/>
          </a:xfrm>
          <a:prstGeom prst="rect">
            <a:avLst/>
          </a:prstGeom>
        </p:spPr>
      </p:pic>
    </p:spTree>
    <p:extLst>
      <p:ext uri="{BB962C8B-B14F-4D97-AF65-F5344CB8AC3E}">
        <p14:creationId xmlns:p14="http://schemas.microsoft.com/office/powerpoint/2010/main" val="39460912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存储管理层</a:t>
            </a:r>
            <a:endParaRPr kumimoji="1" lang="zh-CN" altLang="en-US" dirty="0"/>
          </a:p>
        </p:txBody>
      </p:sp>
      <p:pic>
        <p:nvPicPr>
          <p:cNvPr id="7" name="图片 6">
            <a:extLst>
              <a:ext uri="{FF2B5EF4-FFF2-40B4-BE49-F238E27FC236}">
                <a16:creationId xmlns:a16="http://schemas.microsoft.com/office/drawing/2014/main" id="{BFD57129-BE15-719B-1AA8-65CFEBC554DB}"/>
              </a:ext>
            </a:extLst>
          </p:cNvPr>
          <p:cNvPicPr>
            <a:picLocks noChangeAspect="1"/>
          </p:cNvPicPr>
          <p:nvPr/>
        </p:nvPicPr>
        <p:blipFill>
          <a:blip r:embed="rId3"/>
          <a:stretch>
            <a:fillRect/>
          </a:stretch>
        </p:blipFill>
        <p:spPr>
          <a:xfrm>
            <a:off x="6372565" y="819705"/>
            <a:ext cx="5682957" cy="5984543"/>
          </a:xfrm>
          <a:prstGeom prst="rect">
            <a:avLst/>
          </a:prstGeom>
        </p:spPr>
      </p:pic>
      <p:sp>
        <p:nvSpPr>
          <p:cNvPr id="12" name="内容占位符 2">
            <a:extLst>
              <a:ext uri="{FF2B5EF4-FFF2-40B4-BE49-F238E27FC236}">
                <a16:creationId xmlns:a16="http://schemas.microsoft.com/office/drawing/2014/main" id="{9D302420-5BFF-D154-F3EF-8E46156AECFF}"/>
              </a:ext>
            </a:extLst>
          </p:cNvPr>
          <p:cNvSpPr>
            <a:spLocks noGrp="1"/>
          </p:cNvSpPr>
          <p:nvPr>
            <p:ph idx="1"/>
          </p:nvPr>
        </p:nvSpPr>
        <p:spPr>
          <a:xfrm>
            <a:off x="326837" y="1352575"/>
            <a:ext cx="5492600" cy="1459471"/>
          </a:xfrm>
        </p:spPr>
        <p:txBody>
          <a:bodyPr/>
          <a:lstStyle/>
          <a:p>
            <a:r>
              <a:rPr lang="zh-CN" altLang="en-US" sz="2800" dirty="0"/>
              <a:t>存储管理层</a:t>
            </a:r>
            <a:endParaRPr lang="en-US" altLang="zh-CN" sz="2800" dirty="0"/>
          </a:p>
          <a:p>
            <a:pPr lvl="1"/>
            <a:r>
              <a:rPr lang="zh-CN" altLang="zh-CN" dirty="0"/>
              <a:t>根据查询执行层的操作指令，在数据存储器中完成数据的增删改查操作</a:t>
            </a:r>
            <a:endParaRPr lang="en-US" altLang="zh-CN" sz="2400" dirty="0">
              <a:latin typeface="Arial" panose="020B0604020202020204" pitchFamily="34" charset="0"/>
              <a:cs typeface="Arial" panose="020B0604020202020204" pitchFamily="34" charset="0"/>
            </a:endParaRPr>
          </a:p>
          <a:p>
            <a:pPr lvl="1"/>
            <a:endParaRPr lang="en-US" altLang="zh-CN" sz="2400" dirty="0"/>
          </a:p>
        </p:txBody>
      </p:sp>
      <p:sp>
        <p:nvSpPr>
          <p:cNvPr id="13" name="内容占位符 2">
            <a:extLst>
              <a:ext uri="{FF2B5EF4-FFF2-40B4-BE49-F238E27FC236}">
                <a16:creationId xmlns:a16="http://schemas.microsoft.com/office/drawing/2014/main" id="{16928203-808C-E67B-F43C-8B137ED34B00}"/>
              </a:ext>
            </a:extLst>
          </p:cNvPr>
          <p:cNvSpPr txBox="1">
            <a:spLocks/>
          </p:cNvSpPr>
          <p:nvPr/>
        </p:nvSpPr>
        <p:spPr bwMode="auto">
          <a:xfrm>
            <a:off x="326835" y="3344916"/>
            <a:ext cx="6196795" cy="345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r>
              <a:rPr lang="zh-CN" altLang="en-US" sz="2800" kern="0" dirty="0"/>
              <a:t>存储管理层组成</a:t>
            </a:r>
            <a:endParaRPr lang="en-US" altLang="zh-CN" sz="2800" kern="0" dirty="0"/>
          </a:p>
          <a:p>
            <a:pPr lvl="1"/>
            <a:r>
              <a:rPr lang="zh-CN" altLang="en-US" sz="2400" dirty="0"/>
              <a:t>事务管理程序</a:t>
            </a:r>
            <a:endParaRPr lang="en-US" altLang="zh-CN" sz="2400" dirty="0"/>
          </a:p>
          <a:p>
            <a:pPr lvl="2"/>
            <a:r>
              <a:rPr lang="zh-CN" altLang="en-US" sz="2000" dirty="0"/>
              <a:t>事务管理</a:t>
            </a:r>
            <a:endParaRPr lang="en-US" altLang="zh-CN" sz="2000" dirty="0"/>
          </a:p>
          <a:p>
            <a:pPr lvl="2"/>
            <a:r>
              <a:rPr lang="zh-CN" altLang="en-US" sz="2000" dirty="0"/>
              <a:t>并发控制</a:t>
            </a:r>
            <a:endParaRPr lang="en-US" altLang="zh-CN" sz="2000" dirty="0"/>
          </a:p>
          <a:p>
            <a:pPr lvl="2"/>
            <a:r>
              <a:rPr lang="zh-CN" altLang="en-US" sz="2000" dirty="0"/>
              <a:t>异常恢复</a:t>
            </a:r>
            <a:endParaRPr lang="en-US" altLang="zh-CN" sz="2000" dirty="0"/>
          </a:p>
          <a:p>
            <a:pPr lvl="1"/>
            <a:r>
              <a:rPr lang="zh-CN" altLang="en-US" sz="2400" dirty="0"/>
              <a:t>存储管理程序</a:t>
            </a:r>
            <a:endParaRPr lang="en-US" altLang="zh-CN" sz="2400" dirty="0"/>
          </a:p>
          <a:p>
            <a:pPr lvl="2"/>
            <a:r>
              <a:rPr lang="zh-CN" altLang="en-US" sz="2000" dirty="0"/>
              <a:t>存储管理</a:t>
            </a:r>
            <a:endParaRPr lang="en-US" altLang="zh-CN" sz="2000" dirty="0"/>
          </a:p>
          <a:p>
            <a:pPr lvl="2"/>
            <a:r>
              <a:rPr lang="zh-CN" altLang="en-US" sz="2000" dirty="0"/>
              <a:t>索引管理</a:t>
            </a:r>
            <a:endParaRPr lang="en-US" altLang="zh-CN" sz="2000" dirty="0"/>
          </a:p>
          <a:p>
            <a:pPr lvl="1"/>
            <a:endParaRPr lang="en-US" altLang="zh-CN" sz="2400" dirty="0"/>
          </a:p>
        </p:txBody>
      </p:sp>
      <p:sp>
        <p:nvSpPr>
          <p:cNvPr id="14" name="矩形 13">
            <a:extLst>
              <a:ext uri="{FF2B5EF4-FFF2-40B4-BE49-F238E27FC236}">
                <a16:creationId xmlns:a16="http://schemas.microsoft.com/office/drawing/2014/main" id="{FFBC19A6-B029-AB8F-54F6-5D0C25F85172}"/>
              </a:ext>
            </a:extLst>
          </p:cNvPr>
          <p:cNvSpPr/>
          <p:nvPr/>
        </p:nvSpPr>
        <p:spPr bwMode="auto">
          <a:xfrm>
            <a:off x="7656394" y="4135272"/>
            <a:ext cx="4094327" cy="1045279"/>
          </a:xfrm>
          <a:prstGeom prst="rect">
            <a:avLst/>
          </a:prstGeom>
          <a:noFill/>
          <a:ln w="38100" cap="flat" cmpd="sng" algn="ctr">
            <a:solidFill>
              <a:srgbClr val="FF0000"/>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0000" tIns="45720" rIns="91440" bIns="45720" numCol="1" rtlCol="0" anchor="t"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dirty="0">
              <a:ln>
                <a:noFill/>
              </a:ln>
              <a:solidFill>
                <a:schemeClr val="tx1"/>
              </a:solidFill>
              <a:effectLst/>
              <a:latin typeface="Times New Roman" pitchFamily="18" charset="0"/>
              <a:ea typeface="华文楷体" pitchFamily="2" charset="-122"/>
            </a:endParaRPr>
          </a:p>
        </p:txBody>
      </p:sp>
      <p:sp>
        <p:nvSpPr>
          <p:cNvPr id="8" name="灯片编号占位符 1">
            <a:extLst>
              <a:ext uri="{FF2B5EF4-FFF2-40B4-BE49-F238E27FC236}">
                <a16:creationId xmlns:a16="http://schemas.microsoft.com/office/drawing/2014/main" id="{38A98F7B-666D-34A3-BD11-0597C44F3913}"/>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30</a:t>
            </a:fld>
            <a:endParaRPr lang="zh-CN" altLang="en-US" dirty="0"/>
          </a:p>
        </p:txBody>
      </p:sp>
    </p:spTree>
    <p:extLst>
      <p:ext uri="{BB962C8B-B14F-4D97-AF65-F5344CB8AC3E}">
        <p14:creationId xmlns:p14="http://schemas.microsoft.com/office/powerpoint/2010/main" val="2684197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安全管理层</a:t>
            </a:r>
            <a:endParaRPr kumimoji="1" lang="zh-CN" altLang="en-US" dirty="0"/>
          </a:p>
        </p:txBody>
      </p:sp>
      <p:pic>
        <p:nvPicPr>
          <p:cNvPr id="7" name="图片 6">
            <a:extLst>
              <a:ext uri="{FF2B5EF4-FFF2-40B4-BE49-F238E27FC236}">
                <a16:creationId xmlns:a16="http://schemas.microsoft.com/office/drawing/2014/main" id="{BFD57129-BE15-719B-1AA8-65CFEBC554DB}"/>
              </a:ext>
            </a:extLst>
          </p:cNvPr>
          <p:cNvPicPr>
            <a:picLocks noChangeAspect="1"/>
          </p:cNvPicPr>
          <p:nvPr/>
        </p:nvPicPr>
        <p:blipFill>
          <a:blip r:embed="rId3"/>
          <a:stretch>
            <a:fillRect/>
          </a:stretch>
        </p:blipFill>
        <p:spPr>
          <a:xfrm>
            <a:off x="6372565" y="819705"/>
            <a:ext cx="5682957" cy="5984543"/>
          </a:xfrm>
          <a:prstGeom prst="rect">
            <a:avLst/>
          </a:prstGeom>
        </p:spPr>
      </p:pic>
      <p:sp>
        <p:nvSpPr>
          <p:cNvPr id="8" name="矩形 7">
            <a:extLst>
              <a:ext uri="{FF2B5EF4-FFF2-40B4-BE49-F238E27FC236}">
                <a16:creationId xmlns:a16="http://schemas.microsoft.com/office/drawing/2014/main" id="{DD5057AA-933D-ED95-1C7C-CAEB020B2BD3}"/>
              </a:ext>
            </a:extLst>
          </p:cNvPr>
          <p:cNvSpPr/>
          <p:nvPr/>
        </p:nvSpPr>
        <p:spPr bwMode="auto">
          <a:xfrm>
            <a:off x="6372565" y="1721220"/>
            <a:ext cx="1297478" cy="3459331"/>
          </a:xfrm>
          <a:prstGeom prst="rect">
            <a:avLst/>
          </a:prstGeom>
          <a:noFill/>
          <a:ln w="38100" cap="flat" cmpd="sng" algn="ctr">
            <a:solidFill>
              <a:srgbClr val="FF0000"/>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0000" tIns="45720" rIns="91440" bIns="45720" numCol="1" rtlCol="0" anchor="t"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dirty="0">
              <a:ln>
                <a:noFill/>
              </a:ln>
              <a:solidFill>
                <a:schemeClr val="tx1"/>
              </a:solidFill>
              <a:effectLst/>
              <a:latin typeface="Times New Roman" pitchFamily="18" charset="0"/>
              <a:ea typeface="华文楷体" pitchFamily="2" charset="-122"/>
            </a:endParaRPr>
          </a:p>
        </p:txBody>
      </p:sp>
      <p:sp>
        <p:nvSpPr>
          <p:cNvPr id="12" name="内容占位符 2">
            <a:extLst>
              <a:ext uri="{FF2B5EF4-FFF2-40B4-BE49-F238E27FC236}">
                <a16:creationId xmlns:a16="http://schemas.microsoft.com/office/drawing/2014/main" id="{9D302420-5BFF-D154-F3EF-8E46156AECFF}"/>
              </a:ext>
            </a:extLst>
          </p:cNvPr>
          <p:cNvSpPr>
            <a:spLocks noGrp="1"/>
          </p:cNvSpPr>
          <p:nvPr>
            <p:ph idx="1"/>
          </p:nvPr>
        </p:nvSpPr>
        <p:spPr>
          <a:xfrm>
            <a:off x="326837" y="1352575"/>
            <a:ext cx="5492600" cy="1459471"/>
          </a:xfrm>
        </p:spPr>
        <p:txBody>
          <a:bodyPr/>
          <a:lstStyle/>
          <a:p>
            <a:r>
              <a:rPr lang="zh-CN" altLang="en-US" sz="2800" dirty="0"/>
              <a:t>安全管理层</a:t>
            </a:r>
            <a:endParaRPr lang="en-US" altLang="zh-CN" sz="2800" dirty="0"/>
          </a:p>
          <a:p>
            <a:pPr lvl="1"/>
            <a:r>
              <a:rPr lang="zh-CN" altLang="zh-CN" dirty="0"/>
              <a:t>根据查询执行层的操作指令，在数据存储器中完成数据的增删改查操作</a:t>
            </a:r>
            <a:endParaRPr lang="en-US" altLang="zh-CN" sz="2400" dirty="0">
              <a:latin typeface="Arial" panose="020B0604020202020204" pitchFamily="34" charset="0"/>
              <a:cs typeface="Arial" panose="020B0604020202020204" pitchFamily="34" charset="0"/>
            </a:endParaRPr>
          </a:p>
          <a:p>
            <a:pPr lvl="1"/>
            <a:endParaRPr lang="en-US" altLang="zh-CN" sz="2400" dirty="0"/>
          </a:p>
        </p:txBody>
      </p:sp>
      <p:sp>
        <p:nvSpPr>
          <p:cNvPr id="13" name="内容占位符 2">
            <a:extLst>
              <a:ext uri="{FF2B5EF4-FFF2-40B4-BE49-F238E27FC236}">
                <a16:creationId xmlns:a16="http://schemas.microsoft.com/office/drawing/2014/main" id="{16928203-808C-E67B-F43C-8B137ED34B00}"/>
              </a:ext>
            </a:extLst>
          </p:cNvPr>
          <p:cNvSpPr txBox="1">
            <a:spLocks/>
          </p:cNvSpPr>
          <p:nvPr/>
        </p:nvSpPr>
        <p:spPr bwMode="auto">
          <a:xfrm>
            <a:off x="326835" y="3344916"/>
            <a:ext cx="7343207" cy="345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r>
              <a:rPr lang="zh-CN" altLang="en-US" sz="2800" kern="0" dirty="0"/>
              <a:t>安全管理层组成</a:t>
            </a:r>
            <a:endParaRPr lang="en-US" altLang="zh-CN" sz="2800" kern="0" dirty="0"/>
          </a:p>
          <a:p>
            <a:pPr lvl="1"/>
            <a:r>
              <a:rPr lang="zh-CN" altLang="en-US" sz="2400" dirty="0"/>
              <a:t>数据库安全</a:t>
            </a:r>
            <a:endParaRPr lang="en-US" altLang="zh-CN" sz="1600" dirty="0"/>
          </a:p>
          <a:p>
            <a:pPr lvl="2"/>
            <a:r>
              <a:rPr lang="zh-CN" altLang="en-US" sz="2000" dirty="0"/>
              <a:t>外围级安全管理</a:t>
            </a:r>
            <a:endParaRPr lang="en-US" altLang="zh-CN" sz="2000" dirty="0"/>
          </a:p>
          <a:p>
            <a:pPr lvl="2"/>
            <a:r>
              <a:rPr lang="zh-CN" altLang="en-US" sz="2000" dirty="0"/>
              <a:t>访问级安全管理</a:t>
            </a:r>
            <a:endParaRPr lang="en-US" altLang="zh-CN" sz="2000" dirty="0"/>
          </a:p>
          <a:p>
            <a:pPr lvl="2"/>
            <a:r>
              <a:rPr lang="zh-CN" altLang="en-US" sz="2000" dirty="0"/>
              <a:t>数据级安全管理</a:t>
            </a:r>
            <a:endParaRPr lang="en-US" altLang="zh-CN" sz="2000" dirty="0"/>
          </a:p>
          <a:p>
            <a:pPr lvl="1"/>
            <a:r>
              <a:rPr lang="zh-CN" altLang="en-US" sz="2400" dirty="0"/>
              <a:t>数据库高可用</a:t>
            </a:r>
            <a:endParaRPr lang="en-US" altLang="zh-CN" sz="2400" dirty="0"/>
          </a:p>
        </p:txBody>
      </p:sp>
      <p:sp>
        <p:nvSpPr>
          <p:cNvPr id="9" name="灯片编号占位符 1">
            <a:extLst>
              <a:ext uri="{FF2B5EF4-FFF2-40B4-BE49-F238E27FC236}">
                <a16:creationId xmlns:a16="http://schemas.microsoft.com/office/drawing/2014/main" id="{3286FE16-4B36-51DB-663C-9E79C3CE2F38}"/>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31</a:t>
            </a:fld>
            <a:endParaRPr lang="zh-CN" altLang="en-US" dirty="0"/>
          </a:p>
        </p:txBody>
      </p:sp>
    </p:spTree>
    <p:extLst>
      <p:ext uri="{BB962C8B-B14F-4D97-AF65-F5344CB8AC3E}">
        <p14:creationId xmlns:p14="http://schemas.microsoft.com/office/powerpoint/2010/main" val="27642650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9A56B7D-4BF6-0A0A-1B11-D751A2E316F5}"/>
              </a:ext>
            </a:extLst>
          </p:cNvPr>
          <p:cNvSpPr>
            <a:spLocks noGrp="1"/>
          </p:cNvSpPr>
          <p:nvPr>
            <p:ph type="sldNum" sz="quarter" idx="10"/>
          </p:nvPr>
        </p:nvSpPr>
        <p:spPr/>
        <p:txBody>
          <a:bodyPr/>
          <a:lstStyle/>
          <a:p>
            <a:fld id="{87BBDC00-B9E2-4EFD-9306-2934E87247C6}" type="slidenum">
              <a:rPr lang="zh-CN" altLang="en-US" smtClean="0"/>
              <a:pPr/>
              <a:t>32</a:t>
            </a:fld>
            <a:endParaRPr lang="zh-CN" altLang="en-US"/>
          </a:p>
        </p:txBody>
      </p:sp>
      <p:sp>
        <p:nvSpPr>
          <p:cNvPr id="3" name="标题 2">
            <a:extLst>
              <a:ext uri="{FF2B5EF4-FFF2-40B4-BE49-F238E27FC236}">
                <a16:creationId xmlns:a16="http://schemas.microsoft.com/office/drawing/2014/main" id="{CFF607C5-F4D0-E013-C4B1-7E9EAA31CD27}"/>
              </a:ext>
            </a:extLst>
          </p:cNvPr>
          <p:cNvSpPr>
            <a:spLocks noGrp="1"/>
          </p:cNvSpPr>
          <p:nvPr>
            <p:ph type="title"/>
          </p:nvPr>
        </p:nvSpPr>
        <p:spPr/>
        <p:txBody>
          <a:bodyPr/>
          <a:lstStyle/>
          <a:p>
            <a:r>
              <a:rPr lang="zh-CN" altLang="en-US" dirty="0"/>
              <a:t>数据库安全简介</a:t>
            </a:r>
            <a:endParaRPr kumimoji="1" lang="zh-CN" altLang="en-US" dirty="0"/>
          </a:p>
        </p:txBody>
      </p:sp>
      <p:pic>
        <p:nvPicPr>
          <p:cNvPr id="6" name="图片 5">
            <a:extLst>
              <a:ext uri="{FF2B5EF4-FFF2-40B4-BE49-F238E27FC236}">
                <a16:creationId xmlns:a16="http://schemas.microsoft.com/office/drawing/2014/main" id="{F77A83DD-6305-4AB4-6AB6-9DD700F9A3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6585" y="945991"/>
            <a:ext cx="5213986" cy="5831453"/>
          </a:xfrm>
          <a:prstGeom prst="rect">
            <a:avLst/>
          </a:prstGeom>
        </p:spPr>
      </p:pic>
      <p:sp>
        <p:nvSpPr>
          <p:cNvPr id="7" name="内容占位符 3">
            <a:extLst>
              <a:ext uri="{FF2B5EF4-FFF2-40B4-BE49-F238E27FC236}">
                <a16:creationId xmlns:a16="http://schemas.microsoft.com/office/drawing/2014/main" id="{07F328C8-AE39-EC5B-EB23-53BEC28EA5C4}"/>
              </a:ext>
            </a:extLst>
          </p:cNvPr>
          <p:cNvSpPr>
            <a:spLocks noGrp="1"/>
          </p:cNvSpPr>
          <p:nvPr>
            <p:ph idx="1"/>
          </p:nvPr>
        </p:nvSpPr>
        <p:spPr>
          <a:xfrm>
            <a:off x="5769439" y="994912"/>
            <a:ext cx="6059264" cy="5732462"/>
          </a:xfrm>
        </p:spPr>
        <p:txBody>
          <a:bodyPr/>
          <a:lstStyle/>
          <a:p>
            <a:r>
              <a:rPr lang="zh-CN" altLang="en-US" dirty="0"/>
              <a:t>外围级防御</a:t>
            </a:r>
            <a:endParaRPr lang="en-US" altLang="zh-CN" dirty="0"/>
          </a:p>
          <a:p>
            <a:pPr lvl="1"/>
            <a:r>
              <a:rPr lang="zh-CN" altLang="en-US" dirty="0"/>
              <a:t>决定哪些用户可以访问数据库</a:t>
            </a:r>
            <a:endParaRPr lang="en-US" altLang="zh-CN" dirty="0"/>
          </a:p>
          <a:p>
            <a:pPr lvl="1"/>
            <a:r>
              <a:rPr lang="zh-CN" altLang="en-US" dirty="0"/>
              <a:t>安全认证、防火墙、入侵检测</a:t>
            </a:r>
            <a:endParaRPr lang="en-US" altLang="zh-CN" dirty="0"/>
          </a:p>
          <a:p>
            <a:r>
              <a:rPr lang="zh-CN" altLang="en-US" dirty="0"/>
              <a:t>访问级防御</a:t>
            </a:r>
            <a:endParaRPr lang="en-US" altLang="zh-CN" dirty="0"/>
          </a:p>
          <a:p>
            <a:pPr lvl="1"/>
            <a:r>
              <a:rPr lang="zh-CN" altLang="en-US" dirty="0"/>
              <a:t>控制允许哪些用户有权访问某些数据或包含它的系统</a:t>
            </a:r>
            <a:endParaRPr lang="en-US" altLang="zh-CN" dirty="0"/>
          </a:p>
          <a:p>
            <a:pPr lvl="1"/>
            <a:r>
              <a:rPr lang="zh-CN" altLang="en-US" dirty="0"/>
              <a:t>安全配置策略、访问控制、审计</a:t>
            </a:r>
            <a:endParaRPr lang="en-US" altLang="zh-CN" dirty="0"/>
          </a:p>
          <a:p>
            <a:r>
              <a:rPr lang="zh-CN" altLang="en-US" dirty="0"/>
              <a:t>数据级防御</a:t>
            </a:r>
            <a:endParaRPr lang="en-US" altLang="zh-CN" dirty="0"/>
          </a:p>
          <a:p>
            <a:pPr lvl="1"/>
            <a:r>
              <a:rPr lang="zh-CN" altLang="en-US" dirty="0"/>
              <a:t>预防和应对发生在数据库本身的安全隐患</a:t>
            </a:r>
            <a:endParaRPr lang="en-US" altLang="zh-CN" dirty="0"/>
          </a:p>
          <a:p>
            <a:pPr lvl="1"/>
            <a:r>
              <a:rPr lang="zh-CN" altLang="en-US" dirty="0"/>
              <a:t>数据加密、隐私保护</a:t>
            </a:r>
            <a:endParaRPr lang="en-US" altLang="zh-CN" dirty="0"/>
          </a:p>
        </p:txBody>
      </p:sp>
    </p:spTree>
    <p:extLst>
      <p:ext uri="{BB962C8B-B14F-4D97-AF65-F5344CB8AC3E}">
        <p14:creationId xmlns:p14="http://schemas.microsoft.com/office/powerpoint/2010/main" val="37812487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数据库的基本概念</a:t>
            </a:r>
          </a:p>
        </p:txBody>
      </p:sp>
      <p:sp>
        <p:nvSpPr>
          <p:cNvPr id="4" name="内容占位符 2">
            <a:extLst>
              <a:ext uri="{FF2B5EF4-FFF2-40B4-BE49-F238E27FC236}">
                <a16:creationId xmlns:a16="http://schemas.microsoft.com/office/drawing/2014/main" id="{99E90919-814E-29FD-7353-AFE98BE01B5D}"/>
              </a:ext>
            </a:extLst>
          </p:cNvPr>
          <p:cNvSpPr>
            <a:spLocks noGrp="1"/>
          </p:cNvSpPr>
          <p:nvPr>
            <p:ph idx="1"/>
          </p:nvPr>
        </p:nvSpPr>
        <p:spPr>
          <a:xfrm>
            <a:off x="304800" y="1201270"/>
            <a:ext cx="11456894" cy="2797523"/>
          </a:xfrm>
        </p:spPr>
        <p:txBody>
          <a:bodyPr/>
          <a:lstStyle/>
          <a:p>
            <a:r>
              <a:rPr lang="zh-CN" altLang="en-US" dirty="0">
                <a:solidFill>
                  <a:schemeClr val="tx1">
                    <a:lumMod val="50000"/>
                    <a:lumOff val="50000"/>
                  </a:schemeClr>
                </a:solidFill>
                <a:latin typeface="Times" pitchFamily="2" charset="0"/>
              </a:rPr>
              <a:t>数据（</a:t>
            </a:r>
            <a:r>
              <a:rPr lang="en-US" altLang="zh-CN" dirty="0">
                <a:solidFill>
                  <a:schemeClr val="tx1">
                    <a:lumMod val="50000"/>
                    <a:lumOff val="50000"/>
                  </a:schemeClr>
                </a:solidFill>
                <a:latin typeface="Times" pitchFamily="2" charset="0"/>
              </a:rPr>
              <a:t>Data</a:t>
            </a:r>
            <a:r>
              <a:rPr lang="zh-CN" altLang="en-US" dirty="0">
                <a:solidFill>
                  <a:schemeClr val="tx1">
                    <a:lumMod val="50000"/>
                    <a:lumOff val="50000"/>
                  </a:schemeClr>
                </a:solidFill>
                <a:latin typeface="Times" pitchFamily="2" charset="0"/>
              </a:rPr>
              <a:t>）</a:t>
            </a:r>
            <a:endParaRPr lang="en-US" altLang="zh-CN" dirty="0">
              <a:solidFill>
                <a:schemeClr val="tx1">
                  <a:lumMod val="50000"/>
                  <a:lumOff val="50000"/>
                </a:schemeClr>
              </a:solidFill>
              <a:latin typeface="Times" pitchFamily="2" charset="0"/>
            </a:endParaRPr>
          </a:p>
          <a:p>
            <a:r>
              <a:rPr lang="zh-CN" altLang="en-US" dirty="0">
                <a:solidFill>
                  <a:schemeClr val="tx1">
                    <a:lumMod val="50000"/>
                    <a:lumOff val="50000"/>
                  </a:schemeClr>
                </a:solidFill>
                <a:latin typeface="Times" pitchFamily="2" charset="0"/>
              </a:rPr>
              <a:t>数据库（</a:t>
            </a:r>
            <a:r>
              <a:rPr lang="en-US" altLang="zh-CN" dirty="0">
                <a:solidFill>
                  <a:schemeClr val="tx1">
                    <a:lumMod val="50000"/>
                    <a:lumOff val="50000"/>
                  </a:schemeClr>
                </a:solidFill>
                <a:latin typeface="Times" pitchFamily="2" charset="0"/>
              </a:rPr>
              <a:t>Database</a:t>
            </a:r>
            <a:r>
              <a:rPr lang="zh-CN" altLang="en-US" dirty="0">
                <a:solidFill>
                  <a:schemeClr val="tx1">
                    <a:lumMod val="50000"/>
                    <a:lumOff val="50000"/>
                  </a:schemeClr>
                </a:solidFill>
                <a:latin typeface="Times" pitchFamily="2" charset="0"/>
              </a:rPr>
              <a:t>，</a:t>
            </a:r>
            <a:r>
              <a:rPr lang="en-US" altLang="zh-CN" dirty="0">
                <a:solidFill>
                  <a:schemeClr val="tx1">
                    <a:lumMod val="50000"/>
                    <a:lumOff val="50000"/>
                  </a:schemeClr>
                </a:solidFill>
                <a:latin typeface="Times" pitchFamily="2" charset="0"/>
              </a:rPr>
              <a:t>DB</a:t>
            </a:r>
            <a:r>
              <a:rPr lang="zh-CN" altLang="en-US" dirty="0">
                <a:solidFill>
                  <a:schemeClr val="tx1">
                    <a:lumMod val="50000"/>
                    <a:lumOff val="50000"/>
                  </a:schemeClr>
                </a:solidFill>
                <a:latin typeface="Times" pitchFamily="2" charset="0"/>
              </a:rPr>
              <a:t>）</a:t>
            </a:r>
            <a:endParaRPr lang="en-US" altLang="zh-CN" dirty="0">
              <a:solidFill>
                <a:schemeClr val="tx1">
                  <a:lumMod val="50000"/>
                  <a:lumOff val="50000"/>
                </a:schemeClr>
              </a:solidFill>
              <a:latin typeface="Times" pitchFamily="2" charset="0"/>
            </a:endParaRPr>
          </a:p>
          <a:p>
            <a:r>
              <a:rPr lang="zh-CN" altLang="en-US" dirty="0">
                <a:solidFill>
                  <a:schemeClr val="tx1">
                    <a:lumMod val="50000"/>
                    <a:lumOff val="50000"/>
                  </a:schemeClr>
                </a:solidFill>
                <a:latin typeface="Times" pitchFamily="2" charset="0"/>
              </a:rPr>
              <a:t>数据库管理系统（</a:t>
            </a:r>
            <a:r>
              <a:rPr lang="en-US" altLang="zh-CN" dirty="0">
                <a:solidFill>
                  <a:schemeClr val="tx1">
                    <a:lumMod val="50000"/>
                    <a:lumOff val="50000"/>
                  </a:schemeClr>
                </a:solidFill>
                <a:latin typeface="Times" pitchFamily="2" charset="0"/>
              </a:rPr>
              <a:t>Database</a:t>
            </a:r>
            <a:r>
              <a:rPr lang="zh-CN" altLang="en-US" dirty="0">
                <a:solidFill>
                  <a:schemeClr val="tx1">
                    <a:lumMod val="50000"/>
                    <a:lumOff val="50000"/>
                  </a:schemeClr>
                </a:solidFill>
                <a:latin typeface="Times" pitchFamily="2" charset="0"/>
              </a:rPr>
              <a:t> </a:t>
            </a:r>
            <a:r>
              <a:rPr lang="en-US" altLang="zh-CN" dirty="0">
                <a:solidFill>
                  <a:schemeClr val="tx1">
                    <a:lumMod val="50000"/>
                    <a:lumOff val="50000"/>
                  </a:schemeClr>
                </a:solidFill>
                <a:latin typeface="Times" pitchFamily="2" charset="0"/>
              </a:rPr>
              <a:t>Management</a:t>
            </a:r>
            <a:r>
              <a:rPr lang="zh-CN" altLang="en-US" dirty="0">
                <a:solidFill>
                  <a:schemeClr val="tx1">
                    <a:lumMod val="50000"/>
                    <a:lumOff val="50000"/>
                  </a:schemeClr>
                </a:solidFill>
                <a:latin typeface="Times" pitchFamily="2" charset="0"/>
              </a:rPr>
              <a:t> </a:t>
            </a:r>
            <a:r>
              <a:rPr lang="en-US" altLang="zh-CN" dirty="0">
                <a:solidFill>
                  <a:schemeClr val="tx1">
                    <a:lumMod val="50000"/>
                    <a:lumOff val="50000"/>
                  </a:schemeClr>
                </a:solidFill>
                <a:latin typeface="Times" pitchFamily="2" charset="0"/>
              </a:rPr>
              <a:t>System</a:t>
            </a:r>
            <a:r>
              <a:rPr lang="zh-CN" altLang="en-US" dirty="0">
                <a:solidFill>
                  <a:schemeClr val="tx1">
                    <a:lumMod val="50000"/>
                    <a:lumOff val="50000"/>
                  </a:schemeClr>
                </a:solidFill>
                <a:latin typeface="Times" pitchFamily="2" charset="0"/>
              </a:rPr>
              <a:t>，</a:t>
            </a:r>
            <a:r>
              <a:rPr lang="en-US" altLang="zh-CN" dirty="0">
                <a:solidFill>
                  <a:schemeClr val="tx1">
                    <a:lumMod val="50000"/>
                    <a:lumOff val="50000"/>
                  </a:schemeClr>
                </a:solidFill>
                <a:latin typeface="Times" pitchFamily="2" charset="0"/>
              </a:rPr>
              <a:t>DBMS</a:t>
            </a:r>
            <a:r>
              <a:rPr lang="zh-CN" altLang="en-US" dirty="0">
                <a:solidFill>
                  <a:schemeClr val="tx1">
                    <a:lumMod val="50000"/>
                    <a:lumOff val="50000"/>
                  </a:schemeClr>
                </a:solidFill>
                <a:latin typeface="Times" pitchFamily="2" charset="0"/>
              </a:rPr>
              <a:t>）</a:t>
            </a:r>
            <a:endParaRPr lang="en-US" altLang="zh-CN" dirty="0">
              <a:solidFill>
                <a:schemeClr val="tx1">
                  <a:lumMod val="50000"/>
                  <a:lumOff val="50000"/>
                </a:schemeClr>
              </a:solidFill>
              <a:latin typeface="Times" pitchFamily="2" charset="0"/>
            </a:endParaRPr>
          </a:p>
          <a:p>
            <a:r>
              <a:rPr lang="zh-CN" altLang="en-US" dirty="0">
                <a:latin typeface="Times" pitchFamily="2" charset="0"/>
              </a:rPr>
              <a:t>数据库系统（</a:t>
            </a:r>
            <a:r>
              <a:rPr lang="en-US" altLang="zh-CN" dirty="0">
                <a:latin typeface="Times" pitchFamily="2" charset="0"/>
              </a:rPr>
              <a:t>Database</a:t>
            </a:r>
            <a:r>
              <a:rPr lang="zh-CN" altLang="en-US" dirty="0">
                <a:latin typeface="Times" pitchFamily="2" charset="0"/>
              </a:rPr>
              <a:t> </a:t>
            </a:r>
            <a:r>
              <a:rPr lang="en-US" altLang="zh-CN" dirty="0">
                <a:latin typeface="Times" pitchFamily="2" charset="0"/>
              </a:rPr>
              <a:t>System</a:t>
            </a:r>
            <a:r>
              <a:rPr lang="zh-CN" altLang="en-US" dirty="0">
                <a:latin typeface="Times" pitchFamily="2" charset="0"/>
              </a:rPr>
              <a:t>，</a:t>
            </a:r>
            <a:r>
              <a:rPr lang="en-US" altLang="zh-CN" dirty="0">
                <a:latin typeface="Times" pitchFamily="2" charset="0"/>
              </a:rPr>
              <a:t>DBS</a:t>
            </a:r>
            <a:r>
              <a:rPr lang="zh-CN" altLang="en-US" dirty="0">
                <a:latin typeface="Times" pitchFamily="2" charset="0"/>
              </a:rPr>
              <a:t>）</a:t>
            </a:r>
            <a:endParaRPr lang="en-US" altLang="zh-CN" dirty="0">
              <a:latin typeface="Times" pitchFamily="2" charset="0"/>
            </a:endParaRPr>
          </a:p>
          <a:p>
            <a:endParaRPr lang="en-US" altLang="zh-CN" sz="2000" dirty="0">
              <a:latin typeface="Times" pitchFamily="2" charset="0"/>
              <a:cs typeface="Arial" panose="020B0604020202020204" pitchFamily="34" charset="0"/>
            </a:endParaRPr>
          </a:p>
          <a:p>
            <a:endParaRPr lang="en-US" altLang="zh-CN" sz="2400" dirty="0">
              <a:latin typeface="Times" pitchFamily="2" charset="0"/>
              <a:cs typeface="Arial" panose="020B0604020202020204" pitchFamily="34" charset="0"/>
            </a:endParaRPr>
          </a:p>
        </p:txBody>
      </p:sp>
      <p:pic>
        <p:nvPicPr>
          <p:cNvPr id="6" name="图片 5">
            <a:extLst>
              <a:ext uri="{FF2B5EF4-FFF2-40B4-BE49-F238E27FC236}">
                <a16:creationId xmlns:a16="http://schemas.microsoft.com/office/drawing/2014/main" id="{1A214A47-2EC8-3BB0-067F-F85A74C2CEE5}"/>
              </a:ext>
            </a:extLst>
          </p:cNvPr>
          <p:cNvPicPr>
            <a:picLocks noChangeAspect="1"/>
          </p:cNvPicPr>
          <p:nvPr/>
        </p:nvPicPr>
        <p:blipFill>
          <a:blip r:embed="rId3"/>
          <a:stretch>
            <a:fillRect/>
          </a:stretch>
        </p:blipFill>
        <p:spPr>
          <a:xfrm>
            <a:off x="1905623" y="3739344"/>
            <a:ext cx="8380753" cy="3118656"/>
          </a:xfrm>
          <a:prstGeom prst="rect">
            <a:avLst/>
          </a:prstGeom>
        </p:spPr>
      </p:pic>
      <p:sp>
        <p:nvSpPr>
          <p:cNvPr id="5" name="灯片编号占位符 1">
            <a:extLst>
              <a:ext uri="{FF2B5EF4-FFF2-40B4-BE49-F238E27FC236}">
                <a16:creationId xmlns:a16="http://schemas.microsoft.com/office/drawing/2014/main" id="{231EFF31-6870-2959-5E73-FC095112E406}"/>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33</a:t>
            </a:fld>
            <a:endParaRPr lang="zh-CN" altLang="en-US" dirty="0"/>
          </a:p>
        </p:txBody>
      </p:sp>
    </p:spTree>
    <p:extLst>
      <p:ext uri="{BB962C8B-B14F-4D97-AF65-F5344CB8AC3E}">
        <p14:creationId xmlns:p14="http://schemas.microsoft.com/office/powerpoint/2010/main" val="8653779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数据库系统</a:t>
            </a:r>
            <a:endParaRPr kumimoji="1" lang="zh-CN" altLang="en-US" dirty="0"/>
          </a:p>
        </p:txBody>
      </p:sp>
      <p:sp>
        <p:nvSpPr>
          <p:cNvPr id="9" name="内容占位符 2">
            <a:extLst>
              <a:ext uri="{FF2B5EF4-FFF2-40B4-BE49-F238E27FC236}">
                <a16:creationId xmlns:a16="http://schemas.microsoft.com/office/drawing/2014/main" id="{A940BF3F-74FD-1D56-0CB3-C868BBCBE800}"/>
              </a:ext>
            </a:extLst>
          </p:cNvPr>
          <p:cNvSpPr>
            <a:spLocks noGrp="1"/>
          </p:cNvSpPr>
          <p:nvPr>
            <p:ph idx="1"/>
          </p:nvPr>
        </p:nvSpPr>
        <p:spPr>
          <a:xfrm>
            <a:off x="229299" y="1109979"/>
            <a:ext cx="12009857" cy="5170145"/>
          </a:xfrm>
        </p:spPr>
        <p:txBody>
          <a:bodyPr/>
          <a:lstStyle/>
          <a:p>
            <a:r>
              <a:rPr lang="zh-CN" altLang="en-US" dirty="0">
                <a:latin typeface="Times" pitchFamily="2" charset="0"/>
              </a:rPr>
              <a:t>什么是数据库系统？</a:t>
            </a:r>
            <a:endParaRPr lang="en-US" altLang="zh-CN" dirty="0">
              <a:latin typeface="Times" pitchFamily="2" charset="0"/>
            </a:endParaRPr>
          </a:p>
          <a:p>
            <a:pPr lvl="1"/>
            <a:r>
              <a:rPr lang="zh-CN" altLang="en-US" dirty="0">
                <a:latin typeface="Times" pitchFamily="2" charset="0"/>
              </a:rPr>
              <a:t>数据库系统是指在计算机系统中引入数据库之后的系统，一般由数据库、数据库管理系统及其开发工具、应用系统、数据库管理员和终端用户构成。</a:t>
            </a:r>
            <a:r>
              <a:rPr lang="zh-CN" altLang="en-US" b="1" u="sng" dirty="0">
                <a:latin typeface="Times" pitchFamily="2" charset="0"/>
              </a:rPr>
              <a:t>口语中的常说的“数据库系统”在大多数时候都是指</a:t>
            </a:r>
            <a:r>
              <a:rPr lang="en-US" altLang="zh-CN" b="1" u="sng" dirty="0">
                <a:latin typeface="Times" pitchFamily="2" charset="0"/>
              </a:rPr>
              <a:t>DBMS</a:t>
            </a:r>
            <a:r>
              <a:rPr lang="zh-CN" altLang="en-US" dirty="0">
                <a:latin typeface="Times" pitchFamily="2" charset="0"/>
              </a:rPr>
              <a:t>。</a:t>
            </a:r>
          </a:p>
          <a:p>
            <a:pPr lvl="1"/>
            <a:endParaRPr lang="en-US" altLang="zh-CN" dirty="0">
              <a:latin typeface="Times" pitchFamily="2" charset="0"/>
            </a:endParaRPr>
          </a:p>
        </p:txBody>
      </p:sp>
      <p:pic>
        <p:nvPicPr>
          <p:cNvPr id="4" name="图片 3">
            <a:extLst>
              <a:ext uri="{FF2B5EF4-FFF2-40B4-BE49-F238E27FC236}">
                <a16:creationId xmlns:a16="http://schemas.microsoft.com/office/drawing/2014/main" id="{5C69CFDF-6CBC-2353-9736-D2ECB74B4943}"/>
              </a:ext>
            </a:extLst>
          </p:cNvPr>
          <p:cNvPicPr>
            <a:picLocks noChangeAspect="1"/>
          </p:cNvPicPr>
          <p:nvPr/>
        </p:nvPicPr>
        <p:blipFill>
          <a:blip r:embed="rId3"/>
          <a:stretch>
            <a:fillRect/>
          </a:stretch>
        </p:blipFill>
        <p:spPr>
          <a:xfrm>
            <a:off x="1488631" y="3375248"/>
            <a:ext cx="9214738" cy="3429000"/>
          </a:xfrm>
          <a:prstGeom prst="rect">
            <a:avLst/>
          </a:prstGeom>
        </p:spPr>
      </p:pic>
      <p:sp>
        <p:nvSpPr>
          <p:cNvPr id="5" name="灯片编号占位符 1">
            <a:extLst>
              <a:ext uri="{FF2B5EF4-FFF2-40B4-BE49-F238E27FC236}">
                <a16:creationId xmlns:a16="http://schemas.microsoft.com/office/drawing/2014/main" id="{8F1A68BD-E0E7-2247-29DB-709D1EEE3DD3}"/>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34</a:t>
            </a:fld>
            <a:endParaRPr lang="zh-CN" altLang="en-US" dirty="0"/>
          </a:p>
        </p:txBody>
      </p:sp>
    </p:spTree>
    <p:extLst>
      <p:ext uri="{BB962C8B-B14F-4D97-AF65-F5344CB8AC3E}">
        <p14:creationId xmlns:p14="http://schemas.microsoft.com/office/powerpoint/2010/main" val="9089665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p:txBody>
          <a:bodyPr/>
          <a:lstStyle/>
          <a:p>
            <a:pPr>
              <a:buFont typeface="Wingdings" pitchFamily="2" charset="2"/>
              <a:buChar char="l"/>
            </a:pPr>
            <a:r>
              <a:rPr lang="zh-CN" altLang="en-US" dirty="0">
                <a:solidFill>
                  <a:schemeClr val="tx1">
                    <a:lumMod val="50000"/>
                    <a:lumOff val="50000"/>
                  </a:schemeClr>
                </a:solidFill>
              </a:rPr>
              <a:t>商业数据库之父发家史</a:t>
            </a:r>
            <a:endParaRPr lang="en-US" altLang="zh-CN" dirty="0">
              <a:solidFill>
                <a:schemeClr val="tx1">
                  <a:lumMod val="50000"/>
                  <a:lumOff val="50000"/>
                </a:schemeClr>
              </a:solidFill>
            </a:endParaRPr>
          </a:p>
          <a:p>
            <a:pPr>
              <a:buFont typeface="Wingdings" pitchFamily="2" charset="2"/>
              <a:buChar char="l"/>
            </a:pPr>
            <a:r>
              <a:rPr lang="zh-CN" altLang="en-US" dirty="0">
                <a:solidFill>
                  <a:schemeClr val="tx1">
                    <a:lumMod val="50000"/>
                    <a:lumOff val="50000"/>
                  </a:schemeClr>
                </a:solidFill>
              </a:rPr>
              <a:t>数据库系统概述</a:t>
            </a:r>
            <a:endParaRPr lang="en-US" altLang="zh-CN" dirty="0">
              <a:solidFill>
                <a:schemeClr val="tx1">
                  <a:lumMod val="50000"/>
                  <a:lumOff val="50000"/>
                </a:schemeClr>
              </a:solidFill>
            </a:endParaRPr>
          </a:p>
          <a:p>
            <a:pPr>
              <a:buFont typeface="Wingdings" pitchFamily="2" charset="2"/>
              <a:buChar char="l"/>
            </a:pPr>
            <a:r>
              <a:rPr lang="zh-CN" altLang="en-US" dirty="0"/>
              <a:t>数据库发展简史</a:t>
            </a:r>
            <a:endParaRPr lang="en-US" altLang="zh-CN" dirty="0"/>
          </a:p>
          <a:p>
            <a:pPr>
              <a:buFont typeface="Wingdings" pitchFamily="2" charset="2"/>
              <a:buChar char="l"/>
            </a:pPr>
            <a:r>
              <a:rPr lang="zh-CN" altLang="en-US" dirty="0">
                <a:solidFill>
                  <a:schemeClr val="tx1">
                    <a:lumMod val="50000"/>
                    <a:lumOff val="50000"/>
                  </a:schemeClr>
                </a:solidFill>
              </a:rPr>
              <a:t>数据库系统的应用和展望</a:t>
            </a:r>
            <a:endParaRPr lang="en-US" altLang="zh-CN" dirty="0">
              <a:solidFill>
                <a:schemeClr val="tx1">
                  <a:lumMod val="50000"/>
                  <a:lumOff val="50000"/>
                </a:schemeClr>
              </a:solidFill>
            </a:endParaRPr>
          </a:p>
          <a:p>
            <a:pPr>
              <a:buFont typeface="Wingdings" pitchFamily="2" charset="2"/>
              <a:buChar char="l"/>
            </a:pPr>
            <a:r>
              <a:rPr lang="zh-CN" altLang="en-US" dirty="0">
                <a:solidFill>
                  <a:schemeClr val="tx1">
                    <a:lumMod val="50000"/>
                    <a:lumOff val="50000"/>
                  </a:schemeClr>
                </a:solidFill>
              </a:rPr>
              <a:t>本章小结</a:t>
            </a: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Tree>
    <p:extLst>
      <p:ext uri="{BB962C8B-B14F-4D97-AF65-F5344CB8AC3E}">
        <p14:creationId xmlns:p14="http://schemas.microsoft.com/office/powerpoint/2010/main" val="16762650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数据管理的三个阶段</a:t>
            </a:r>
          </a:p>
        </p:txBody>
      </p:sp>
      <p:graphicFrame>
        <p:nvGraphicFramePr>
          <p:cNvPr id="4" name="图示 3">
            <a:extLst>
              <a:ext uri="{FF2B5EF4-FFF2-40B4-BE49-F238E27FC236}">
                <a16:creationId xmlns:a16="http://schemas.microsoft.com/office/drawing/2014/main" id="{5C311E7D-4F9F-6D13-14BA-0EEC1FBAAC4A}"/>
              </a:ext>
            </a:extLst>
          </p:cNvPr>
          <p:cNvGraphicFramePr/>
          <p:nvPr>
            <p:extLst>
              <p:ext uri="{D42A27DB-BD31-4B8C-83A1-F6EECF244321}">
                <p14:modId xmlns:p14="http://schemas.microsoft.com/office/powerpoint/2010/main" val="1937626814"/>
              </p:ext>
            </p:extLst>
          </p:nvPr>
        </p:nvGraphicFramePr>
        <p:xfrm>
          <a:off x="222913" y="1256126"/>
          <a:ext cx="11709400" cy="5590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文本框 8">
            <a:extLst>
              <a:ext uri="{FF2B5EF4-FFF2-40B4-BE49-F238E27FC236}">
                <a16:creationId xmlns:a16="http://schemas.microsoft.com/office/drawing/2014/main" id="{6F8C10F3-4780-84B2-926E-63C10C7039A6}"/>
              </a:ext>
            </a:extLst>
          </p:cNvPr>
          <p:cNvSpPr txBox="1"/>
          <p:nvPr/>
        </p:nvSpPr>
        <p:spPr>
          <a:xfrm>
            <a:off x="889663" y="886793"/>
            <a:ext cx="2527300" cy="369332"/>
          </a:xfrm>
          <a:prstGeom prst="rect">
            <a:avLst/>
          </a:prstGeom>
          <a:noFill/>
        </p:spPr>
        <p:txBody>
          <a:bodyPr wrap="square">
            <a:spAutoFit/>
          </a:bodyPr>
          <a:lstStyle/>
          <a:p>
            <a:r>
              <a:rPr lang="en-US" altLang="zh-CN" b="1" dirty="0">
                <a:latin typeface="Arial" panose="020B0604020202020204" pitchFamily="34" charset="0"/>
                <a:cs typeface="Arial" panose="020B0604020202020204" pitchFamily="34" charset="0"/>
              </a:rPr>
              <a:t>—</a:t>
            </a:r>
            <a:r>
              <a:rPr lang="zh-CN" altLang="en-US" b="1" dirty="0">
                <a:latin typeface="Arial" panose="020B0604020202020204" pitchFamily="34" charset="0"/>
                <a:cs typeface="Arial" panose="020B0604020202020204" pitchFamily="34" charset="0"/>
              </a:rPr>
              <a:t> </a:t>
            </a:r>
            <a:r>
              <a:rPr lang="en-US" altLang="zh-CN" b="1" dirty="0">
                <a:latin typeface="Arial" panose="020B0604020202020204" pitchFamily="34" charset="0"/>
                <a:cs typeface="Arial" panose="020B0604020202020204" pitchFamily="34" charset="0"/>
              </a:rPr>
              <a:t>20</a:t>
            </a:r>
            <a:r>
              <a:rPr lang="zh-CN" altLang="en-US" b="1" dirty="0">
                <a:latin typeface="Arial" panose="020B0604020202020204" pitchFamily="34" charset="0"/>
                <a:cs typeface="Arial" panose="020B0604020202020204" pitchFamily="34" charset="0"/>
              </a:rPr>
              <a:t>世纪</a:t>
            </a:r>
            <a:r>
              <a:rPr lang="en-US" altLang="zh-CN" b="1" dirty="0">
                <a:latin typeface="Arial" panose="020B0604020202020204" pitchFamily="34" charset="0"/>
                <a:cs typeface="Arial" panose="020B0604020202020204" pitchFamily="34" charset="0"/>
              </a:rPr>
              <a:t>50</a:t>
            </a:r>
            <a:r>
              <a:rPr lang="zh-CN" altLang="en-US" b="1" dirty="0">
                <a:latin typeface="Arial" panose="020B0604020202020204" pitchFamily="34" charset="0"/>
                <a:cs typeface="Arial" panose="020B0604020202020204" pitchFamily="34" charset="0"/>
              </a:rPr>
              <a:t>年代中期</a:t>
            </a:r>
            <a:endParaRPr lang="zh-CN" altLang="en-US" b="1" dirty="0"/>
          </a:p>
        </p:txBody>
      </p:sp>
      <p:sp>
        <p:nvSpPr>
          <p:cNvPr id="10" name="文本框 9">
            <a:extLst>
              <a:ext uri="{FF2B5EF4-FFF2-40B4-BE49-F238E27FC236}">
                <a16:creationId xmlns:a16="http://schemas.microsoft.com/office/drawing/2014/main" id="{7168FA0A-4676-185C-1552-115163E5F2D9}"/>
              </a:ext>
            </a:extLst>
          </p:cNvPr>
          <p:cNvSpPr txBox="1"/>
          <p:nvPr/>
        </p:nvSpPr>
        <p:spPr>
          <a:xfrm>
            <a:off x="4137688" y="886793"/>
            <a:ext cx="3708400" cy="369332"/>
          </a:xfrm>
          <a:prstGeom prst="rect">
            <a:avLst/>
          </a:prstGeom>
          <a:noFill/>
        </p:spPr>
        <p:txBody>
          <a:bodyPr wrap="square">
            <a:spAutoFit/>
          </a:bodyPr>
          <a:lstStyle/>
          <a:p>
            <a:r>
              <a:rPr lang="en-US" altLang="zh-CN" b="1" dirty="0">
                <a:latin typeface="Arial" panose="020B0604020202020204" pitchFamily="34" charset="0"/>
                <a:cs typeface="Arial" panose="020B0604020202020204" pitchFamily="34" charset="0"/>
              </a:rPr>
              <a:t>20</a:t>
            </a:r>
            <a:r>
              <a:rPr lang="zh-CN" altLang="en-US" b="1" dirty="0">
                <a:latin typeface="Arial" panose="020B0604020202020204" pitchFamily="34" charset="0"/>
                <a:cs typeface="Arial" panose="020B0604020202020204" pitchFamily="34" charset="0"/>
              </a:rPr>
              <a:t>世纪</a:t>
            </a:r>
            <a:r>
              <a:rPr lang="en-US" altLang="zh-CN" b="1" dirty="0">
                <a:latin typeface="Arial" panose="020B0604020202020204" pitchFamily="34" charset="0"/>
                <a:cs typeface="Arial" panose="020B0604020202020204" pitchFamily="34" charset="0"/>
              </a:rPr>
              <a:t>50</a:t>
            </a:r>
            <a:r>
              <a:rPr lang="zh-CN" altLang="en-US" b="1" dirty="0">
                <a:latin typeface="Arial" panose="020B0604020202020204" pitchFamily="34" charset="0"/>
                <a:cs typeface="Arial" panose="020B0604020202020204" pitchFamily="34" charset="0"/>
              </a:rPr>
              <a:t>年代中期 </a:t>
            </a:r>
            <a:r>
              <a:rPr lang="en-US" altLang="zh-CN" b="1" dirty="0">
                <a:latin typeface="Arial" panose="020B0604020202020204" pitchFamily="34" charset="0"/>
                <a:cs typeface="Arial" panose="020B0604020202020204" pitchFamily="34" charset="0"/>
              </a:rPr>
              <a:t>—</a:t>
            </a:r>
            <a:r>
              <a:rPr lang="zh-CN" altLang="en-US" b="1" dirty="0">
                <a:latin typeface="Arial" panose="020B0604020202020204" pitchFamily="34" charset="0"/>
                <a:cs typeface="Arial" panose="020B0604020202020204" pitchFamily="34" charset="0"/>
              </a:rPr>
              <a:t> </a:t>
            </a:r>
            <a:r>
              <a:rPr lang="en-US" altLang="zh-CN" b="1" dirty="0">
                <a:latin typeface="Arial" panose="020B0604020202020204" pitchFamily="34" charset="0"/>
                <a:cs typeface="Arial" panose="020B0604020202020204" pitchFamily="34" charset="0"/>
              </a:rPr>
              <a:t>60</a:t>
            </a:r>
            <a:r>
              <a:rPr lang="zh-CN" altLang="en-US" b="1" dirty="0">
                <a:latin typeface="Arial" panose="020B0604020202020204" pitchFamily="34" charset="0"/>
                <a:cs typeface="Arial" panose="020B0604020202020204" pitchFamily="34" charset="0"/>
              </a:rPr>
              <a:t>年代中期</a:t>
            </a:r>
            <a:endParaRPr lang="zh-CN" altLang="en-US" b="1" dirty="0"/>
          </a:p>
        </p:txBody>
      </p:sp>
      <p:sp>
        <p:nvSpPr>
          <p:cNvPr id="12" name="文本框 11">
            <a:extLst>
              <a:ext uri="{FF2B5EF4-FFF2-40B4-BE49-F238E27FC236}">
                <a16:creationId xmlns:a16="http://schemas.microsoft.com/office/drawing/2014/main" id="{CE7802FF-2834-F68D-5AE5-313016B3A563}"/>
              </a:ext>
            </a:extLst>
          </p:cNvPr>
          <p:cNvSpPr txBox="1"/>
          <p:nvPr/>
        </p:nvSpPr>
        <p:spPr>
          <a:xfrm>
            <a:off x="8401713" y="886793"/>
            <a:ext cx="2971800" cy="369332"/>
          </a:xfrm>
          <a:prstGeom prst="rect">
            <a:avLst/>
          </a:prstGeom>
          <a:noFill/>
        </p:spPr>
        <p:txBody>
          <a:bodyPr wrap="square">
            <a:spAutoFit/>
          </a:bodyPr>
          <a:lstStyle/>
          <a:p>
            <a:r>
              <a:rPr lang="en-US" altLang="zh-CN" b="1" dirty="0">
                <a:latin typeface="Arial" panose="020B0604020202020204" pitchFamily="34" charset="0"/>
                <a:cs typeface="Arial" panose="020B0604020202020204" pitchFamily="34" charset="0"/>
              </a:rPr>
              <a:t>20</a:t>
            </a:r>
            <a:r>
              <a:rPr lang="zh-CN" altLang="en-US" b="1" dirty="0">
                <a:latin typeface="Arial" panose="020B0604020202020204" pitchFamily="34" charset="0"/>
                <a:cs typeface="Arial" panose="020B0604020202020204" pitchFamily="34" charset="0"/>
              </a:rPr>
              <a:t>世纪</a:t>
            </a:r>
            <a:r>
              <a:rPr lang="en-US" altLang="zh-CN" b="1" dirty="0">
                <a:latin typeface="Arial" panose="020B0604020202020204" pitchFamily="34" charset="0"/>
                <a:cs typeface="Arial" panose="020B0604020202020204" pitchFamily="34" charset="0"/>
              </a:rPr>
              <a:t>60</a:t>
            </a:r>
            <a:r>
              <a:rPr lang="zh-CN" altLang="en-US" b="1" dirty="0">
                <a:latin typeface="Arial" panose="020B0604020202020204" pitchFamily="34" charset="0"/>
                <a:cs typeface="Arial" panose="020B0604020202020204" pitchFamily="34" charset="0"/>
              </a:rPr>
              <a:t>年代末 </a:t>
            </a:r>
            <a:r>
              <a:rPr lang="en-US" altLang="zh-CN" b="1" dirty="0">
                <a:latin typeface="Arial" panose="020B0604020202020204" pitchFamily="34" charset="0"/>
                <a:cs typeface="Arial" panose="020B0604020202020204" pitchFamily="34" charset="0"/>
              </a:rPr>
              <a:t>—</a:t>
            </a:r>
            <a:r>
              <a:rPr lang="zh-CN" altLang="en-US" b="1" dirty="0">
                <a:latin typeface="Arial" panose="020B0604020202020204" pitchFamily="34" charset="0"/>
                <a:cs typeface="Arial" panose="020B0604020202020204" pitchFamily="34" charset="0"/>
              </a:rPr>
              <a:t> 至今</a:t>
            </a:r>
            <a:endParaRPr lang="zh-CN" altLang="en-US" b="1" dirty="0"/>
          </a:p>
        </p:txBody>
      </p:sp>
      <p:graphicFrame>
        <p:nvGraphicFramePr>
          <p:cNvPr id="7" name="表格 7">
            <a:extLst>
              <a:ext uri="{FF2B5EF4-FFF2-40B4-BE49-F238E27FC236}">
                <a16:creationId xmlns:a16="http://schemas.microsoft.com/office/drawing/2014/main" id="{EE3E8F10-4F60-76AA-38DA-6ACF89501163}"/>
              </a:ext>
            </a:extLst>
          </p:cNvPr>
          <p:cNvGraphicFramePr>
            <a:graphicFrameLocks noGrp="1"/>
          </p:cNvGraphicFramePr>
          <p:nvPr>
            <p:extLst>
              <p:ext uri="{D42A27DB-BD31-4B8C-83A1-F6EECF244321}">
                <p14:modId xmlns:p14="http://schemas.microsoft.com/office/powerpoint/2010/main" val="3152813702"/>
              </p:ext>
            </p:extLst>
          </p:nvPr>
        </p:nvGraphicFramePr>
        <p:xfrm>
          <a:off x="58420" y="1836008"/>
          <a:ext cx="11831320" cy="4968240"/>
        </p:xfrm>
        <a:graphic>
          <a:graphicData uri="http://schemas.openxmlformats.org/drawingml/2006/table">
            <a:tbl>
              <a:tblPr firstRow="1" bandRow="1">
                <a:tableStyleId>{69012ECD-51FC-41F1-AA8D-1B2483CD663E}</a:tableStyleId>
              </a:tblPr>
              <a:tblGrid>
                <a:gridCol w="1274976">
                  <a:extLst>
                    <a:ext uri="{9D8B030D-6E8A-4147-A177-3AD203B41FA5}">
                      <a16:colId xmlns:a16="http://schemas.microsoft.com/office/drawing/2014/main" val="939978977"/>
                    </a:ext>
                  </a:extLst>
                </a:gridCol>
                <a:gridCol w="3291220">
                  <a:extLst>
                    <a:ext uri="{9D8B030D-6E8A-4147-A177-3AD203B41FA5}">
                      <a16:colId xmlns:a16="http://schemas.microsoft.com/office/drawing/2014/main" val="574935257"/>
                    </a:ext>
                  </a:extLst>
                </a:gridCol>
                <a:gridCol w="3562066">
                  <a:extLst>
                    <a:ext uri="{9D8B030D-6E8A-4147-A177-3AD203B41FA5}">
                      <a16:colId xmlns:a16="http://schemas.microsoft.com/office/drawing/2014/main" val="2516008783"/>
                    </a:ext>
                  </a:extLst>
                </a:gridCol>
                <a:gridCol w="3703058">
                  <a:extLst>
                    <a:ext uri="{9D8B030D-6E8A-4147-A177-3AD203B41FA5}">
                      <a16:colId xmlns:a16="http://schemas.microsoft.com/office/drawing/2014/main" val="1570972648"/>
                    </a:ext>
                  </a:extLst>
                </a:gridCol>
              </a:tblGrid>
              <a:tr h="394049">
                <a:tc>
                  <a:txBody>
                    <a:bodyPr/>
                    <a:lstStyle/>
                    <a:p>
                      <a:endParaRPr lang="zh-CN" altLang="en-US" sz="2000" dirty="0">
                        <a:latin typeface="SimHei" panose="02010609060101010101" pitchFamily="49" charset="-122"/>
                        <a:ea typeface="SimHei"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a:latin typeface="SimHei" panose="02010609060101010101" pitchFamily="49" charset="-122"/>
                          <a:ea typeface="SimHei" panose="02010609060101010101" pitchFamily="49" charset="-122"/>
                        </a:rPr>
                        <a:t>人工管理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a:latin typeface="SimHei" panose="02010609060101010101" pitchFamily="49" charset="-122"/>
                          <a:ea typeface="SimHei" panose="02010609060101010101" pitchFamily="49" charset="-122"/>
                        </a:rPr>
                        <a:t>文件系统管理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a:latin typeface="SimHei" panose="02010609060101010101" pitchFamily="49" charset="-122"/>
                          <a:ea typeface="SimHei" panose="02010609060101010101" pitchFamily="49" charset="-122"/>
                        </a:rPr>
                        <a:t>数据库管理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1233453"/>
                  </a:ext>
                </a:extLst>
              </a:tr>
              <a:tr h="341510">
                <a:tc>
                  <a:txBody>
                    <a:bodyPr/>
                    <a:lstStyle/>
                    <a:p>
                      <a:r>
                        <a:rPr lang="zh-CN" altLang="en-US" sz="2000" b="1" dirty="0">
                          <a:latin typeface="SimHei" panose="02010609060101010101" pitchFamily="49" charset="-122"/>
                          <a:ea typeface="SimHei" panose="02010609060101010101" pitchFamily="49" charset="-122"/>
                        </a:rPr>
                        <a:t>应用背景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latin typeface="SimHei" panose="02010609060101010101" pitchFamily="49" charset="-122"/>
                          <a:ea typeface="SimHei" panose="02010609060101010101" pitchFamily="49" charset="-122"/>
                        </a:rPr>
                        <a:t>满足科学计算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latin typeface="SimHei" panose="02010609060101010101" pitchFamily="49" charset="-122"/>
                          <a:ea typeface="SimHei" panose="02010609060101010101" pitchFamily="49" charset="-122"/>
                        </a:rPr>
                        <a:t>满足科学计算和数据管理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latin typeface="SimHei" panose="02010609060101010101" pitchFamily="49" charset="-122"/>
                          <a:ea typeface="SimHei" panose="02010609060101010101" pitchFamily="49" charset="-122"/>
                        </a:rPr>
                        <a:t>大规模数据管理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4458072"/>
                  </a:ext>
                </a:extLst>
              </a:tr>
              <a:tr h="341510">
                <a:tc>
                  <a:txBody>
                    <a:bodyPr/>
                    <a:lstStyle/>
                    <a:p>
                      <a:r>
                        <a:rPr lang="zh-CN" altLang="en-US" sz="2000" b="1" dirty="0">
                          <a:latin typeface="SimHei" panose="02010609060101010101" pitchFamily="49" charset="-122"/>
                          <a:ea typeface="SimHei" panose="02010609060101010101" pitchFamily="49" charset="-122"/>
                        </a:rPr>
                        <a:t>硬件条件</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844083" rtl="0" eaLnBrk="1" fontAlgn="auto" latinLnBrk="0" hangingPunct="1">
                        <a:lnSpc>
                          <a:spcPct val="100000"/>
                        </a:lnSpc>
                        <a:spcBef>
                          <a:spcPts val="0"/>
                        </a:spcBef>
                        <a:spcAft>
                          <a:spcPts val="0"/>
                        </a:spcAft>
                        <a:buClrTx/>
                        <a:buSzTx/>
                        <a:buFontTx/>
                        <a:buNone/>
                        <a:tabLst/>
                        <a:defRPr/>
                      </a:pPr>
                      <a:r>
                        <a:rPr lang="zh-CN" altLang="en-US" sz="2000" dirty="0">
                          <a:latin typeface="SimHei" panose="02010609060101010101" pitchFamily="49" charset="-122"/>
                          <a:ea typeface="SimHei" panose="02010609060101010101" pitchFamily="49" charset="-122"/>
                        </a:rPr>
                        <a:t>无直接存取存储设备</a:t>
                      </a:r>
                      <a:endParaRPr lang="en-US" altLang="zh-CN" sz="2000" dirty="0">
                        <a:latin typeface="SimHei" panose="02010609060101010101" pitchFamily="49" charset="-122"/>
                        <a:ea typeface="SimHei"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latin typeface="SimHei" panose="02010609060101010101" pitchFamily="49" charset="-122"/>
                          <a:ea typeface="SimHei" panose="02010609060101010101" pitchFamily="49" charset="-122"/>
                        </a:rPr>
                        <a:t>磁盘、磁鼓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latin typeface="SimHei" panose="02010609060101010101" pitchFamily="49" charset="-122"/>
                          <a:ea typeface="SimHei" panose="02010609060101010101" pitchFamily="49" charset="-122"/>
                        </a:rPr>
                        <a:t>大容量磁盘</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3931735"/>
                  </a:ext>
                </a:extLst>
              </a:tr>
              <a:tr h="341510">
                <a:tc>
                  <a:txBody>
                    <a:bodyPr/>
                    <a:lstStyle/>
                    <a:p>
                      <a:r>
                        <a:rPr lang="zh-CN" altLang="en-US" sz="2000" b="1" dirty="0">
                          <a:latin typeface="SimHei" panose="02010609060101010101" pitchFamily="49" charset="-122"/>
                          <a:ea typeface="SimHei" panose="02010609060101010101" pitchFamily="49" charset="-122"/>
                        </a:rPr>
                        <a:t>软件条件</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latin typeface="SimHei" panose="02010609060101010101" pitchFamily="49" charset="-122"/>
                          <a:ea typeface="SimHei" panose="02010609060101010101" pitchFamily="49" charset="-122"/>
                        </a:rPr>
                        <a:t>没有操作系统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latin typeface="SimHei" panose="02010609060101010101" pitchFamily="49" charset="-122"/>
                          <a:ea typeface="SimHei" panose="02010609060101010101" pitchFamily="49" charset="-122"/>
                        </a:rPr>
                        <a:t>有文件系统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latin typeface="SimHei" panose="02010609060101010101" pitchFamily="49" charset="-122"/>
                          <a:ea typeface="SimHei" panose="02010609060101010101" pitchFamily="49" charset="-122"/>
                        </a:rPr>
                        <a:t>数据库管理系统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8671286"/>
                  </a:ext>
                </a:extLst>
              </a:tr>
              <a:tr h="604209">
                <a:tc>
                  <a:txBody>
                    <a:bodyPr/>
                    <a:lstStyle/>
                    <a:p>
                      <a:r>
                        <a:rPr lang="zh-CN" altLang="en-US" sz="2000" b="1" dirty="0">
                          <a:latin typeface="SimHei" panose="02010609060101010101" pitchFamily="49" charset="-122"/>
                          <a:ea typeface="SimHei" panose="02010609060101010101" pitchFamily="49" charset="-122"/>
                        </a:rPr>
                        <a:t>处理方式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latin typeface="SimHei" panose="02010609060101010101" pitchFamily="49" charset="-122"/>
                          <a:ea typeface="SimHei" panose="02010609060101010101" pitchFamily="49" charset="-122"/>
                        </a:rPr>
                        <a:t>批处理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latin typeface="SimHei" panose="02010609060101010101" pitchFamily="49" charset="-122"/>
                          <a:ea typeface="SimHei" panose="02010609060101010101" pitchFamily="49" charset="-122"/>
                        </a:rPr>
                        <a:t>联机实时处理、批处理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latin typeface="SimHei" panose="02010609060101010101" pitchFamily="49" charset="-122"/>
                          <a:ea typeface="SimHei" panose="02010609060101010101" pitchFamily="49" charset="-122"/>
                        </a:rPr>
                        <a:t>联机实时处理、批处理、分布式处理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9353146"/>
                  </a:ext>
                </a:extLst>
              </a:tr>
              <a:tr h="189070">
                <a:tc>
                  <a:txBody>
                    <a:bodyPr/>
                    <a:lstStyle/>
                    <a:p>
                      <a:r>
                        <a:rPr lang="zh-CN" altLang="en-US" sz="2000" b="1" dirty="0">
                          <a:latin typeface="SimHei" panose="02010609060101010101" pitchFamily="49" charset="-122"/>
                          <a:ea typeface="SimHei" panose="02010609060101010101" pitchFamily="49" charset="-122"/>
                        </a:rPr>
                        <a:t>实现方式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dirty="0">
                          <a:latin typeface="SimHei" panose="02010609060101010101" pitchFamily="49" charset="-122"/>
                          <a:ea typeface="SimHei" panose="02010609060101010101" pitchFamily="49" charset="-122"/>
                        </a:rPr>
                        <a:t>通过卡带、卡片和磁带等计算机间接存取设备实现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844083" rtl="0" eaLnBrk="1" fontAlgn="auto" latinLnBrk="0" hangingPunct="1">
                        <a:lnSpc>
                          <a:spcPct val="100000"/>
                        </a:lnSpc>
                        <a:spcBef>
                          <a:spcPts val="0"/>
                        </a:spcBef>
                        <a:spcAft>
                          <a:spcPts val="0"/>
                        </a:spcAft>
                        <a:buClrTx/>
                        <a:buSzTx/>
                        <a:buFontTx/>
                        <a:buNone/>
                        <a:tabLst/>
                        <a:defRPr/>
                      </a:pPr>
                      <a:r>
                        <a:rPr lang="zh-CN" altLang="en-US" sz="2000" kern="0" dirty="0">
                          <a:latin typeface="SimHei" panose="02010609060101010101" pitchFamily="49" charset="-122"/>
                          <a:ea typeface="SimHei" panose="02010609060101010101" pitchFamily="49" charset="-122"/>
                        </a:rPr>
                        <a:t>通过磁盘和磁鼓等计算机直接存取设备实现</a:t>
                      </a:r>
                      <a:endParaRPr lang="en-US" altLang="zh-CN" sz="2000" kern="0" dirty="0">
                        <a:latin typeface="SimHei" panose="02010609060101010101" pitchFamily="49" charset="-122"/>
                        <a:ea typeface="SimHei"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844083" rtl="0" eaLnBrk="1" fontAlgn="auto" latinLnBrk="0" hangingPunct="1">
                        <a:lnSpc>
                          <a:spcPct val="100000"/>
                        </a:lnSpc>
                        <a:spcBef>
                          <a:spcPts val="0"/>
                        </a:spcBef>
                        <a:spcAft>
                          <a:spcPts val="0"/>
                        </a:spcAft>
                        <a:buClrTx/>
                        <a:buSzTx/>
                        <a:buFontTx/>
                        <a:buNone/>
                        <a:tabLst/>
                        <a:defRPr/>
                      </a:pPr>
                      <a:r>
                        <a:rPr lang="zh-CN" altLang="zh-CN" sz="2000" kern="0" dirty="0">
                          <a:solidFill>
                            <a:schemeClr val="tx1"/>
                          </a:solidFill>
                          <a:latin typeface="SimHei" panose="02010609060101010101" pitchFamily="49" charset="-122"/>
                          <a:ea typeface="SimHei" panose="02010609060101010101" pitchFamily="49" charset="-122"/>
                          <a:cs typeface="+mn-cs"/>
                        </a:rPr>
                        <a:t>通过数据库管理系统与数据库进行交互以实现数据管理操作</a:t>
                      </a:r>
                      <a:endParaRPr lang="en-US" altLang="zh-CN" sz="2000" kern="0" dirty="0">
                        <a:solidFill>
                          <a:schemeClr val="tx1"/>
                        </a:solidFill>
                        <a:latin typeface="SimHei" panose="02010609060101010101" pitchFamily="49" charset="-122"/>
                        <a:ea typeface="SimHei" panose="02010609060101010101" pitchFamily="49"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7040473"/>
                  </a:ext>
                </a:extLst>
              </a:tr>
              <a:tr h="1655008">
                <a:tc>
                  <a:txBody>
                    <a:bodyPr/>
                    <a:lstStyle/>
                    <a:p>
                      <a:r>
                        <a:rPr lang="zh-CN" altLang="en-US" sz="2000" b="1" dirty="0">
                          <a:latin typeface="SimHei" panose="02010609060101010101" pitchFamily="49" charset="-122"/>
                          <a:ea typeface="SimHei" panose="02010609060101010101" pitchFamily="49" charset="-122"/>
                        </a:rPr>
                        <a:t>特点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zh-CN" altLang="en-US" sz="2000" dirty="0">
                          <a:latin typeface="SimHei" panose="02010609060101010101" pitchFamily="49" charset="-122"/>
                          <a:ea typeface="SimHei" panose="02010609060101010101" pitchFamily="49" charset="-122"/>
                        </a:rPr>
                        <a:t>人力维护成本极高</a:t>
                      </a:r>
                      <a:endParaRPr lang="en-US" altLang="zh-CN" sz="2000" dirty="0">
                        <a:latin typeface="SimHei" panose="02010609060101010101" pitchFamily="49" charset="-122"/>
                        <a:ea typeface="SimHei" panose="02010609060101010101" pitchFamily="49" charset="-122"/>
                      </a:endParaRPr>
                    </a:p>
                    <a:p>
                      <a:pPr marL="285750" lvl="0" indent="-285750">
                        <a:buFont typeface="Arial" panose="020B0604020202020204" pitchFamily="34" charset="0"/>
                        <a:buChar char="•"/>
                      </a:pPr>
                      <a:r>
                        <a:rPr lang="zh-CN" altLang="en-US" sz="2000" dirty="0">
                          <a:latin typeface="SimHei" panose="02010609060101010101" pitchFamily="49" charset="-122"/>
                          <a:ea typeface="SimHei" panose="02010609060101010101" pitchFamily="49" charset="-122"/>
                        </a:rPr>
                        <a:t>数据与应用程序深度绑定</a:t>
                      </a:r>
                      <a:endParaRPr lang="en-US" altLang="zh-CN" sz="2000" dirty="0">
                        <a:latin typeface="SimHei" panose="02010609060101010101" pitchFamily="49" charset="-122"/>
                        <a:ea typeface="SimHei" panose="02010609060101010101" pitchFamily="49" charset="-122"/>
                      </a:endParaRPr>
                    </a:p>
                    <a:p>
                      <a:pPr marL="285750" lvl="0" indent="-285750">
                        <a:buFont typeface="Arial" panose="020B0604020202020204" pitchFamily="34" charset="0"/>
                        <a:buChar char="•"/>
                      </a:pPr>
                      <a:r>
                        <a:rPr lang="zh-CN" altLang="en-US" sz="2000" dirty="0">
                          <a:latin typeface="SimHei" panose="02010609060101010101" pitchFamily="49" charset="-122"/>
                          <a:ea typeface="SimHei" panose="02010609060101010101" pitchFamily="49" charset="-122"/>
                        </a:rPr>
                        <a:t>数据间缺乏组织和独立性</a:t>
                      </a:r>
                      <a:endParaRPr lang="en-US" altLang="zh-CN" sz="2000" dirty="0">
                        <a:latin typeface="SimHei" panose="02010609060101010101" pitchFamily="49" charset="-122"/>
                        <a:ea typeface="SimHei" panose="02010609060101010101" pitchFamily="49" charset="-122"/>
                      </a:endParaRPr>
                    </a:p>
                    <a:p>
                      <a:pPr marL="285750" lvl="0" indent="-285750">
                        <a:buFont typeface="Arial" panose="020B0604020202020204" pitchFamily="34" charset="0"/>
                        <a:buChar char="•"/>
                      </a:pPr>
                      <a:r>
                        <a:rPr lang="zh-CN" altLang="en-US" sz="2000" dirty="0">
                          <a:latin typeface="SimHei" panose="02010609060101010101" pitchFamily="49" charset="-122"/>
                          <a:ea typeface="SimHei" panose="02010609060101010101" pitchFamily="49" charset="-122"/>
                        </a:rPr>
                        <a:t>数据无共享、冗余度极大</a:t>
                      </a:r>
                    </a:p>
                    <a:p>
                      <a:pPr marL="285750" lvl="0" indent="-285750">
                        <a:buFont typeface="Arial" panose="020B0604020202020204" pitchFamily="34" charset="0"/>
                        <a:buChar char="•"/>
                      </a:pPr>
                      <a:endParaRPr lang="en-US" altLang="zh-CN" sz="2000" dirty="0">
                        <a:latin typeface="SimHei" panose="02010609060101010101" pitchFamily="49" charset="-122"/>
                        <a:ea typeface="SimHei"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zh-CN" altLang="en-US" sz="2000" kern="0" dirty="0">
                          <a:latin typeface="SimHei" panose="02010609060101010101" pitchFamily="49" charset="-122"/>
                          <a:ea typeface="SimHei" panose="02010609060101010101" pitchFamily="49" charset="-122"/>
                        </a:rPr>
                        <a:t>人力维护成本很高</a:t>
                      </a:r>
                      <a:endParaRPr lang="en-US" altLang="zh-CN" sz="2000" kern="0" dirty="0">
                        <a:latin typeface="SimHei" panose="02010609060101010101" pitchFamily="49" charset="-122"/>
                        <a:ea typeface="SimHei" panose="02010609060101010101" pitchFamily="49" charset="-122"/>
                      </a:endParaRPr>
                    </a:p>
                    <a:p>
                      <a:pPr marL="285750" lvl="0" indent="-285750">
                        <a:buFont typeface="Arial" panose="020B0604020202020204" pitchFamily="34" charset="0"/>
                        <a:buChar char="•"/>
                      </a:pPr>
                      <a:r>
                        <a:rPr lang="zh-CN" altLang="en-US" sz="2000" kern="0" dirty="0">
                          <a:latin typeface="SimHei" panose="02010609060101010101" pitchFamily="49" charset="-122"/>
                          <a:ea typeface="SimHei" panose="02010609060101010101" pitchFamily="49" charset="-122"/>
                        </a:rPr>
                        <a:t>数据文件与应用程序耦合</a:t>
                      </a:r>
                      <a:endParaRPr lang="en-US" altLang="zh-CN" sz="2000" kern="0" dirty="0">
                        <a:latin typeface="SimHei" panose="02010609060101010101" pitchFamily="49" charset="-122"/>
                        <a:ea typeface="SimHei" panose="02010609060101010101" pitchFamily="49" charset="-122"/>
                      </a:endParaRPr>
                    </a:p>
                    <a:p>
                      <a:pPr marL="285750" marR="0" lvl="0" indent="-285750" algn="l" defTabSz="84408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2000" kern="0" dirty="0">
                          <a:latin typeface="SimHei" panose="02010609060101010101" pitchFamily="49" charset="-122"/>
                          <a:ea typeface="SimHei" panose="02010609060101010101" pitchFamily="49" charset="-122"/>
                        </a:rPr>
                        <a:t>数据共享性差、冗余度大</a:t>
                      </a:r>
                      <a:endParaRPr lang="en-US" altLang="zh-CN" sz="2000" kern="0" dirty="0">
                        <a:latin typeface="SimHei" panose="02010609060101010101" pitchFamily="49" charset="-122"/>
                        <a:ea typeface="SimHei" panose="02010609060101010101" pitchFamily="49" charset="-122"/>
                      </a:endParaRPr>
                    </a:p>
                    <a:p>
                      <a:pPr marL="285750" lvl="0" indent="-285750">
                        <a:buFont typeface="Arial" panose="020B0604020202020204" pitchFamily="34" charset="0"/>
                        <a:buChar char="•"/>
                      </a:pPr>
                      <a:r>
                        <a:rPr lang="zh-CN" altLang="en-US" sz="2000" kern="0" dirty="0">
                          <a:latin typeface="SimHei" panose="02010609060101010101" pitchFamily="49" charset="-122"/>
                          <a:ea typeface="SimHei" panose="02010609060101010101" pitchFamily="49" charset="-122"/>
                        </a:rPr>
                        <a:t>不支持多用户并发访问数据</a:t>
                      </a:r>
                      <a:endParaRPr lang="zh-CN" altLang="en-US" sz="2000" dirty="0">
                        <a:latin typeface="SimHei" panose="02010609060101010101" pitchFamily="49" charset="-122"/>
                        <a:ea typeface="SimHei"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84408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2000" kern="0" dirty="0">
                          <a:latin typeface="SimHei" panose="02010609060101010101" pitchFamily="49" charset="-122"/>
                          <a:ea typeface="SimHei" panose="02010609060101010101" pitchFamily="49" charset="-122"/>
                          <a:cs typeface="Arial" panose="020B0604020202020204" pitchFamily="34" charset="0"/>
                        </a:rPr>
                        <a:t>数据使用数据模型描述，无需应用程序定义，组织程度和共享</a:t>
                      </a:r>
                      <a:r>
                        <a:rPr lang="zh-CN" altLang="en-US" sz="2000" kern="0">
                          <a:latin typeface="SimHei" panose="02010609060101010101" pitchFamily="49" charset="-122"/>
                          <a:ea typeface="SimHei" panose="02010609060101010101" pitchFamily="49" charset="-122"/>
                          <a:cs typeface="Arial" panose="020B0604020202020204" pitchFamily="34" charset="0"/>
                        </a:rPr>
                        <a:t>程度高</a:t>
                      </a:r>
                      <a:endParaRPr lang="en-US" altLang="zh-CN" sz="2000" kern="0" dirty="0">
                        <a:latin typeface="SimHei" panose="02010609060101010101" pitchFamily="49" charset="-122"/>
                        <a:ea typeface="SimHei" panose="02010609060101010101" pitchFamily="49" charset="-122"/>
                        <a:cs typeface="Arial" panose="020B0604020202020204" pitchFamily="34" charset="0"/>
                      </a:endParaRPr>
                    </a:p>
                    <a:p>
                      <a:pPr marL="285750" lvl="0" indent="-285750">
                        <a:buFont typeface="Arial" panose="020B0604020202020204" pitchFamily="34" charset="0"/>
                        <a:buChar char="•"/>
                      </a:pPr>
                      <a:r>
                        <a:rPr lang="zh-CN" altLang="en-US" sz="2000" kern="0" dirty="0">
                          <a:latin typeface="SimHei" panose="02010609060101010101" pitchFamily="49" charset="-122"/>
                          <a:ea typeface="SimHei" panose="02010609060101010101" pitchFamily="49" charset="-122"/>
                          <a:cs typeface="Arial" panose="020B0604020202020204" pitchFamily="34" charset="0"/>
                        </a:rPr>
                        <a:t>编程友好，无需关心数据库文件的物理操作和系统控制</a:t>
                      </a:r>
                      <a:endParaRPr lang="en-US" altLang="zh-CN" sz="2000" kern="0" dirty="0">
                        <a:latin typeface="SimHei" panose="02010609060101010101" pitchFamily="49" charset="-122"/>
                        <a:ea typeface="SimHei" panose="02010609060101010101" pitchFamily="49" charset="-122"/>
                        <a:cs typeface="Arial" panose="020B0604020202020204" pitchFamily="34" charset="0"/>
                      </a:endParaRPr>
                    </a:p>
                    <a:p>
                      <a:pPr marL="285750" lvl="0" indent="-285750">
                        <a:buFont typeface="Arial" panose="020B0604020202020204" pitchFamily="34" charset="0"/>
                        <a:buChar char="•"/>
                      </a:pPr>
                      <a:r>
                        <a:rPr lang="zh-CN" altLang="en-US" sz="2000" kern="0" dirty="0">
                          <a:latin typeface="SimHei" panose="02010609060101010101" pitchFamily="49" charset="-122"/>
                          <a:ea typeface="SimHei" panose="02010609060101010101" pitchFamily="49" charset="-122"/>
                          <a:cs typeface="Arial" panose="020B0604020202020204" pitchFamily="34" charset="0"/>
                        </a:rPr>
                        <a:t>支持多用户并发访问</a:t>
                      </a:r>
                      <a:endParaRPr lang="en-US" altLang="zh-CN" sz="2000" kern="0" dirty="0">
                        <a:latin typeface="SimHei" panose="02010609060101010101" pitchFamily="49" charset="-122"/>
                        <a:ea typeface="SimHei" panose="02010609060101010101" pitchFamily="49" charset="-122"/>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4350814"/>
                  </a:ext>
                </a:extLst>
              </a:tr>
            </a:tbl>
          </a:graphicData>
        </a:graphic>
      </p:graphicFrame>
      <p:sp>
        <p:nvSpPr>
          <p:cNvPr id="8" name="灯片编号占位符 1">
            <a:extLst>
              <a:ext uri="{FF2B5EF4-FFF2-40B4-BE49-F238E27FC236}">
                <a16:creationId xmlns:a16="http://schemas.microsoft.com/office/drawing/2014/main" id="{8BAECC37-888E-900E-F013-3A403A09172E}"/>
              </a:ext>
            </a:extLst>
          </p:cNvPr>
          <p:cNvSpPr txBox="1">
            <a:spLocks/>
          </p:cNvSpPr>
          <p:nvPr/>
        </p:nvSpPr>
        <p:spPr>
          <a:xfrm>
            <a:off x="11889740" y="6468378"/>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36</a:t>
            </a:fld>
            <a:endParaRPr lang="zh-CN" altLang="en-US"/>
          </a:p>
        </p:txBody>
      </p:sp>
    </p:spTree>
    <p:extLst>
      <p:ext uri="{BB962C8B-B14F-4D97-AF65-F5344CB8AC3E}">
        <p14:creationId xmlns:p14="http://schemas.microsoft.com/office/powerpoint/2010/main" val="26811653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数据库发展史概览</a:t>
            </a:r>
          </a:p>
        </p:txBody>
      </p:sp>
      <p:pic>
        <p:nvPicPr>
          <p:cNvPr id="15" name="图片 14">
            <a:extLst>
              <a:ext uri="{FF2B5EF4-FFF2-40B4-BE49-F238E27FC236}">
                <a16:creationId xmlns:a16="http://schemas.microsoft.com/office/drawing/2014/main" id="{BDC75431-AEC6-300D-BAA7-24A1601763EC}"/>
              </a:ext>
            </a:extLst>
          </p:cNvPr>
          <p:cNvPicPr>
            <a:picLocks noChangeAspect="1"/>
          </p:cNvPicPr>
          <p:nvPr/>
        </p:nvPicPr>
        <p:blipFill>
          <a:blip r:embed="rId3"/>
          <a:stretch>
            <a:fillRect/>
          </a:stretch>
        </p:blipFill>
        <p:spPr>
          <a:xfrm>
            <a:off x="282786" y="989646"/>
            <a:ext cx="11540914" cy="5868354"/>
          </a:xfrm>
          <a:prstGeom prst="rect">
            <a:avLst/>
          </a:prstGeom>
        </p:spPr>
      </p:pic>
      <p:sp>
        <p:nvSpPr>
          <p:cNvPr id="4" name="灯片编号占位符 1">
            <a:extLst>
              <a:ext uri="{FF2B5EF4-FFF2-40B4-BE49-F238E27FC236}">
                <a16:creationId xmlns:a16="http://schemas.microsoft.com/office/drawing/2014/main" id="{3D698600-5948-42F2-B1FF-FB665E769549}"/>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37</a:t>
            </a:fld>
            <a:endParaRPr lang="zh-CN" altLang="en-US"/>
          </a:p>
        </p:txBody>
      </p:sp>
    </p:spTree>
    <p:extLst>
      <p:ext uri="{BB962C8B-B14F-4D97-AF65-F5344CB8AC3E}">
        <p14:creationId xmlns:p14="http://schemas.microsoft.com/office/powerpoint/2010/main" val="39837440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p:txBody>
          <a:bodyPr/>
          <a:lstStyle/>
          <a:p>
            <a:pPr>
              <a:buFont typeface="Wingdings" pitchFamily="2" charset="2"/>
              <a:buChar char="l"/>
            </a:pPr>
            <a:r>
              <a:rPr lang="zh-CN" altLang="en-US" sz="2800" dirty="0">
                <a:latin typeface="Times" pitchFamily="2" charset="0"/>
              </a:rPr>
              <a:t>层次和网状数据库</a:t>
            </a:r>
            <a:endParaRPr lang="en-US" altLang="zh-CN" sz="2800" dirty="0">
              <a:latin typeface="Times" pitchFamily="2" charset="0"/>
            </a:endParaRPr>
          </a:p>
          <a:p>
            <a:pPr>
              <a:buFont typeface="Wingdings" pitchFamily="2" charset="2"/>
              <a:buChar char="l"/>
            </a:pPr>
            <a:r>
              <a:rPr lang="zh-CN" altLang="en-US" sz="2800" dirty="0">
                <a:latin typeface="Times" pitchFamily="2" charset="0"/>
              </a:rPr>
              <a:t>关系数据库</a:t>
            </a:r>
            <a:endParaRPr lang="en-US" altLang="zh-CN" sz="2800" dirty="0">
              <a:latin typeface="Times" pitchFamily="2" charset="0"/>
            </a:endParaRPr>
          </a:p>
          <a:p>
            <a:pPr>
              <a:buFont typeface="Wingdings" pitchFamily="2" charset="2"/>
              <a:buChar char="l"/>
            </a:pPr>
            <a:r>
              <a:rPr lang="en-US" altLang="zh-CN" sz="2800" dirty="0">
                <a:latin typeface="Times" pitchFamily="2" charset="0"/>
              </a:rPr>
              <a:t>OLTP</a:t>
            </a:r>
            <a:r>
              <a:rPr lang="zh-CN" altLang="en-US" sz="2800" dirty="0">
                <a:latin typeface="Times" pitchFamily="2" charset="0"/>
              </a:rPr>
              <a:t>、</a:t>
            </a:r>
            <a:r>
              <a:rPr lang="en-US" altLang="zh-CN" sz="2800" dirty="0">
                <a:latin typeface="Times" pitchFamily="2" charset="0"/>
              </a:rPr>
              <a:t>OLAP</a:t>
            </a:r>
            <a:r>
              <a:rPr lang="zh-CN" altLang="en-US" sz="2800" dirty="0">
                <a:latin typeface="Times" pitchFamily="2" charset="0"/>
              </a:rPr>
              <a:t>与</a:t>
            </a:r>
            <a:r>
              <a:rPr lang="en-US" altLang="zh-CN" sz="2800" dirty="0">
                <a:latin typeface="Times" pitchFamily="2" charset="0"/>
              </a:rPr>
              <a:t>HTAP</a:t>
            </a:r>
            <a:r>
              <a:rPr lang="zh-CN" altLang="en-US" sz="2800" dirty="0">
                <a:latin typeface="Times" pitchFamily="2" charset="0"/>
              </a:rPr>
              <a:t>数据库</a:t>
            </a:r>
            <a:endParaRPr lang="en-US" altLang="zh-CN" sz="2800" dirty="0">
              <a:latin typeface="Times" pitchFamily="2" charset="0"/>
            </a:endParaRPr>
          </a:p>
          <a:p>
            <a:pPr>
              <a:buFont typeface="Wingdings" pitchFamily="2" charset="2"/>
              <a:buChar char="l"/>
            </a:pPr>
            <a:r>
              <a:rPr lang="en-US" altLang="zh-CN" sz="2800" dirty="0">
                <a:latin typeface="Times" pitchFamily="2" charset="0"/>
              </a:rPr>
              <a:t>NoSQL</a:t>
            </a:r>
            <a:r>
              <a:rPr lang="zh-CN" altLang="en-US" sz="2800" dirty="0">
                <a:latin typeface="Times" pitchFamily="2" charset="0"/>
              </a:rPr>
              <a:t>数据库</a:t>
            </a:r>
            <a:endParaRPr lang="en-US" altLang="zh-CN" sz="2800" dirty="0">
              <a:latin typeface="Times" pitchFamily="2" charset="0"/>
            </a:endParaRPr>
          </a:p>
          <a:p>
            <a:pPr>
              <a:buFont typeface="Wingdings" pitchFamily="2" charset="2"/>
              <a:buChar char="l"/>
            </a:pPr>
            <a:r>
              <a:rPr lang="zh-CN" altLang="en-US" sz="2800" dirty="0">
                <a:latin typeface="Times" pitchFamily="2" charset="0"/>
              </a:rPr>
              <a:t>分布式数据库</a:t>
            </a:r>
            <a:endParaRPr lang="en-US" altLang="zh-CN" sz="2800" dirty="0">
              <a:latin typeface="Times" pitchFamily="2" charset="0"/>
            </a:endParaRPr>
          </a:p>
          <a:p>
            <a:pPr>
              <a:buFont typeface="Wingdings" pitchFamily="2" charset="2"/>
              <a:buChar char="l"/>
            </a:pPr>
            <a:r>
              <a:rPr lang="zh-CN" altLang="en-US" sz="2800" dirty="0">
                <a:latin typeface="Times" pitchFamily="2" charset="0"/>
              </a:rPr>
              <a:t>内存数据库</a:t>
            </a:r>
            <a:endParaRPr lang="en-US" altLang="zh-CN" sz="2800" dirty="0">
              <a:latin typeface="Times" pitchFamily="2" charset="0"/>
            </a:endParaRPr>
          </a:p>
          <a:p>
            <a:pPr>
              <a:buFont typeface="Wingdings" pitchFamily="2" charset="2"/>
              <a:buChar char="l"/>
            </a:pPr>
            <a:r>
              <a:rPr lang="zh-CN" altLang="en-US" sz="2800" dirty="0">
                <a:latin typeface="Times" pitchFamily="2" charset="0"/>
              </a:rPr>
              <a:t>云数据库</a:t>
            </a:r>
            <a:endParaRPr lang="en-US" altLang="zh-CN" sz="2800" dirty="0">
              <a:latin typeface="Times" pitchFamily="2" charset="0"/>
            </a:endParaRPr>
          </a:p>
          <a:p>
            <a:pPr>
              <a:buFont typeface="Wingdings" pitchFamily="2" charset="2"/>
              <a:buChar char="l"/>
            </a:pPr>
            <a:r>
              <a:rPr lang="zh-CN" altLang="en-US" sz="2800" dirty="0">
                <a:latin typeface="Times" pitchFamily="2" charset="0"/>
              </a:rPr>
              <a:t>其它类型数据库</a:t>
            </a:r>
            <a:endParaRPr lang="en-US" altLang="zh-CN" sz="2800" dirty="0">
              <a:latin typeface="Times" pitchFamily="2" charset="0"/>
            </a:endParaRPr>
          </a:p>
          <a:p>
            <a:pPr lvl="1">
              <a:buFont typeface="Wingdings" pitchFamily="2" charset="2"/>
              <a:buChar char="l"/>
            </a:pPr>
            <a:r>
              <a:rPr lang="zh-CN" altLang="en-US" sz="2400" dirty="0">
                <a:latin typeface="Times" pitchFamily="2" charset="0"/>
              </a:rPr>
              <a:t>实时数据库</a:t>
            </a:r>
            <a:endParaRPr lang="en-US" altLang="zh-CN" sz="2400" dirty="0">
              <a:latin typeface="Times" pitchFamily="2" charset="0"/>
            </a:endParaRPr>
          </a:p>
          <a:p>
            <a:pPr lvl="1">
              <a:buFont typeface="Wingdings" pitchFamily="2" charset="2"/>
              <a:buChar char="l"/>
            </a:pPr>
            <a:r>
              <a:rPr lang="zh-CN" altLang="en-US" sz="2400" dirty="0">
                <a:latin typeface="Times" pitchFamily="2" charset="0"/>
              </a:rPr>
              <a:t>并行数据库</a:t>
            </a:r>
            <a:endParaRPr lang="en-US" altLang="zh-CN" sz="2400" dirty="0">
              <a:latin typeface="Times" pitchFamily="2" charset="0"/>
            </a:endParaRPr>
          </a:p>
          <a:p>
            <a:pPr lvl="1">
              <a:buFont typeface="Wingdings" pitchFamily="2" charset="2"/>
              <a:buChar char="l"/>
            </a:pPr>
            <a:r>
              <a:rPr lang="zh-CN" altLang="en-US" sz="2400" dirty="0">
                <a:latin typeface="Times" pitchFamily="2" charset="0"/>
              </a:rPr>
              <a:t>终端数据库</a:t>
            </a: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数据库发展史概览</a:t>
            </a:r>
          </a:p>
        </p:txBody>
      </p:sp>
      <p:pic>
        <p:nvPicPr>
          <p:cNvPr id="4" name="图片 3">
            <a:extLst>
              <a:ext uri="{FF2B5EF4-FFF2-40B4-BE49-F238E27FC236}">
                <a16:creationId xmlns:a16="http://schemas.microsoft.com/office/drawing/2014/main" id="{60ED12C6-759A-07BF-765A-0E56422F1245}"/>
              </a:ext>
            </a:extLst>
          </p:cNvPr>
          <p:cNvPicPr>
            <a:picLocks noChangeAspect="1"/>
          </p:cNvPicPr>
          <p:nvPr/>
        </p:nvPicPr>
        <p:blipFill>
          <a:blip r:embed="rId2"/>
          <a:stretch>
            <a:fillRect/>
          </a:stretch>
        </p:blipFill>
        <p:spPr>
          <a:xfrm>
            <a:off x="8859520" y="4958475"/>
            <a:ext cx="2810510" cy="1689950"/>
          </a:xfrm>
          <a:prstGeom prst="rect">
            <a:avLst/>
          </a:prstGeom>
        </p:spPr>
      </p:pic>
      <p:pic>
        <p:nvPicPr>
          <p:cNvPr id="5" name="Picture 2" descr="PostgreSQL Elephant Logo">
            <a:extLst>
              <a:ext uri="{FF2B5EF4-FFF2-40B4-BE49-F238E27FC236}">
                <a16:creationId xmlns:a16="http://schemas.microsoft.com/office/drawing/2014/main" id="{9AC9BF95-67D0-3871-2C06-C04A69BB7E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4420" y="5212823"/>
            <a:ext cx="1353185" cy="139583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Neo4j logo">
            <a:extLst>
              <a:ext uri="{FF2B5EF4-FFF2-40B4-BE49-F238E27FC236}">
                <a16:creationId xmlns:a16="http://schemas.microsoft.com/office/drawing/2014/main" id="{AC77A613-3452-5ABC-28EB-2F46994549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8536" y="3913744"/>
            <a:ext cx="2004954" cy="72907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dis logo">
            <a:extLst>
              <a:ext uri="{FF2B5EF4-FFF2-40B4-BE49-F238E27FC236}">
                <a16:creationId xmlns:a16="http://schemas.microsoft.com/office/drawing/2014/main" id="{81A7B719-CB14-88EE-04D2-C8D2E405DF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84080" y="3914046"/>
            <a:ext cx="1977614" cy="729074"/>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6" descr="MongoDB logo">
            <a:extLst>
              <a:ext uri="{FF2B5EF4-FFF2-40B4-BE49-F238E27FC236}">
                <a16:creationId xmlns:a16="http://schemas.microsoft.com/office/drawing/2014/main" id="{7E40835E-5FB1-2417-933C-90BE3DA644F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 name="图片 9">
            <a:extLst>
              <a:ext uri="{FF2B5EF4-FFF2-40B4-BE49-F238E27FC236}">
                <a16:creationId xmlns:a16="http://schemas.microsoft.com/office/drawing/2014/main" id="{21B986D6-51FA-D013-EC20-2DE64654C4CD}"/>
              </a:ext>
            </a:extLst>
          </p:cNvPr>
          <p:cNvPicPr>
            <a:picLocks noChangeAspect="1"/>
          </p:cNvPicPr>
          <p:nvPr/>
        </p:nvPicPr>
        <p:blipFill>
          <a:blip r:embed="rId6"/>
          <a:stretch>
            <a:fillRect/>
          </a:stretch>
        </p:blipFill>
        <p:spPr>
          <a:xfrm>
            <a:off x="9293317" y="2845968"/>
            <a:ext cx="2356393" cy="833554"/>
          </a:xfrm>
          <a:prstGeom prst="rect">
            <a:avLst/>
          </a:prstGeom>
        </p:spPr>
      </p:pic>
      <p:pic>
        <p:nvPicPr>
          <p:cNvPr id="2058" name="Picture 10" descr="MongoDB gets a data lake, new security features and more | TechCrunch">
            <a:extLst>
              <a:ext uri="{FF2B5EF4-FFF2-40B4-BE49-F238E27FC236}">
                <a16:creationId xmlns:a16="http://schemas.microsoft.com/office/drawing/2014/main" id="{FD4466B4-BF39-EAA2-C477-E8091C6F4AB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69070" y="2037705"/>
            <a:ext cx="2580640" cy="696907"/>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SQLite - Wikipedia">
            <a:extLst>
              <a:ext uri="{FF2B5EF4-FFF2-40B4-BE49-F238E27FC236}">
                <a16:creationId xmlns:a16="http://schemas.microsoft.com/office/drawing/2014/main" id="{365E81DD-E7AB-75AF-5379-4DFAFB0D03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34246" y="2759489"/>
            <a:ext cx="1613535" cy="765169"/>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Oracle Database : Fujitsu EMEIA">
            <a:extLst>
              <a:ext uri="{FF2B5EF4-FFF2-40B4-BE49-F238E27FC236}">
                <a16:creationId xmlns:a16="http://schemas.microsoft.com/office/drawing/2014/main" id="{7D5D036E-43D5-4753-B5F9-A452DE0CD62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38536" y="1751328"/>
            <a:ext cx="1981244" cy="76517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1">
            <a:extLst>
              <a:ext uri="{FF2B5EF4-FFF2-40B4-BE49-F238E27FC236}">
                <a16:creationId xmlns:a16="http://schemas.microsoft.com/office/drawing/2014/main" id="{E6D16C8F-20E1-7F11-61FA-DF84F1BBFBC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38</a:t>
            </a:fld>
            <a:endParaRPr lang="zh-CN" altLang="en-US"/>
          </a:p>
        </p:txBody>
      </p:sp>
    </p:spTree>
    <p:extLst>
      <p:ext uri="{BB962C8B-B14F-4D97-AF65-F5344CB8AC3E}">
        <p14:creationId xmlns:p14="http://schemas.microsoft.com/office/powerpoint/2010/main" val="24907859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p:txBody>
          <a:bodyPr/>
          <a:lstStyle/>
          <a:p>
            <a:pPr>
              <a:buFont typeface="Wingdings" pitchFamily="2" charset="2"/>
              <a:buChar char="l"/>
            </a:pPr>
            <a:r>
              <a:rPr lang="zh-CN" altLang="en-US" sz="2800" dirty="0">
                <a:latin typeface="Times" pitchFamily="2" charset="0"/>
              </a:rPr>
              <a:t>层次和网状数据库</a:t>
            </a:r>
            <a:endParaRPr lang="en-US" altLang="zh-CN" sz="2800" dirty="0">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关系数据库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en-US" altLang="zh-CN" sz="2800" dirty="0">
                <a:solidFill>
                  <a:schemeClr val="tx1">
                    <a:lumMod val="50000"/>
                    <a:lumOff val="50000"/>
                  </a:schemeClr>
                </a:solidFill>
                <a:latin typeface="Times" pitchFamily="2" charset="0"/>
              </a:rPr>
              <a:t>OLTP</a:t>
            </a:r>
            <a:r>
              <a:rPr lang="zh-CN" altLang="en-US" sz="2800" dirty="0">
                <a:solidFill>
                  <a:schemeClr val="tx1">
                    <a:lumMod val="50000"/>
                    <a:lumOff val="50000"/>
                  </a:schemeClr>
                </a:solidFill>
                <a:latin typeface="Times" pitchFamily="2" charset="0"/>
              </a:rPr>
              <a:t>、</a:t>
            </a:r>
            <a:r>
              <a:rPr lang="en-US" altLang="zh-CN" sz="2800" dirty="0">
                <a:solidFill>
                  <a:schemeClr val="tx1">
                    <a:lumMod val="50000"/>
                    <a:lumOff val="50000"/>
                  </a:schemeClr>
                </a:solidFill>
                <a:latin typeface="Times" pitchFamily="2" charset="0"/>
              </a:rPr>
              <a:t>OLAP</a:t>
            </a:r>
            <a:r>
              <a:rPr lang="zh-CN" altLang="en-US" sz="2800" dirty="0">
                <a:solidFill>
                  <a:schemeClr val="tx1">
                    <a:lumMod val="50000"/>
                    <a:lumOff val="50000"/>
                  </a:schemeClr>
                </a:solidFill>
                <a:latin typeface="Times" pitchFamily="2" charset="0"/>
              </a:rPr>
              <a:t>与</a:t>
            </a:r>
            <a:r>
              <a:rPr lang="en-US" altLang="zh-CN" sz="2800" dirty="0">
                <a:solidFill>
                  <a:schemeClr val="tx1">
                    <a:lumMod val="50000"/>
                    <a:lumOff val="50000"/>
                  </a:schemeClr>
                </a:solidFill>
                <a:latin typeface="Times" pitchFamily="2" charset="0"/>
              </a:rPr>
              <a:t>HTAP</a:t>
            </a:r>
            <a:r>
              <a:rPr lang="zh-CN" altLang="en-US" sz="2800" dirty="0">
                <a:solidFill>
                  <a:schemeClr val="tx1">
                    <a:lumMod val="50000"/>
                    <a:lumOff val="50000"/>
                  </a:schemeClr>
                </a:solidFill>
                <a:latin typeface="Times" pitchFamily="2" charset="0"/>
              </a:rPr>
              <a:t>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en-US" altLang="zh-CN" sz="2800" dirty="0">
                <a:solidFill>
                  <a:schemeClr val="tx1">
                    <a:lumMod val="50000"/>
                    <a:lumOff val="50000"/>
                  </a:schemeClr>
                </a:solidFill>
                <a:latin typeface="Times" pitchFamily="2" charset="0"/>
              </a:rPr>
              <a:t>NoSQL</a:t>
            </a:r>
            <a:r>
              <a:rPr lang="zh-CN" altLang="en-US" sz="2800" dirty="0">
                <a:solidFill>
                  <a:schemeClr val="tx1">
                    <a:lumMod val="50000"/>
                    <a:lumOff val="50000"/>
                  </a:schemeClr>
                </a:solidFill>
                <a:latin typeface="Times" pitchFamily="2" charset="0"/>
              </a:rPr>
              <a:t>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分布式数据库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内存数据库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云数据库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其它类型数据库</a:t>
            </a:r>
            <a:endParaRPr lang="en-US" altLang="zh-CN" sz="28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实时数据库</a:t>
            </a:r>
            <a:endParaRPr lang="en-US" altLang="zh-CN" sz="24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并行数据库</a:t>
            </a:r>
            <a:endParaRPr lang="en-US" altLang="zh-CN" sz="24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终端数据库</a:t>
            </a: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数据库发展史概览</a:t>
            </a:r>
          </a:p>
        </p:txBody>
      </p:sp>
      <p:pic>
        <p:nvPicPr>
          <p:cNvPr id="4" name="图片 3">
            <a:extLst>
              <a:ext uri="{FF2B5EF4-FFF2-40B4-BE49-F238E27FC236}">
                <a16:creationId xmlns:a16="http://schemas.microsoft.com/office/drawing/2014/main" id="{60ED12C6-759A-07BF-765A-0E56422F1245}"/>
              </a:ext>
            </a:extLst>
          </p:cNvPr>
          <p:cNvPicPr>
            <a:picLocks noChangeAspect="1"/>
          </p:cNvPicPr>
          <p:nvPr/>
        </p:nvPicPr>
        <p:blipFill>
          <a:blip r:embed="rId2"/>
          <a:stretch>
            <a:fillRect/>
          </a:stretch>
        </p:blipFill>
        <p:spPr>
          <a:xfrm>
            <a:off x="8859520" y="4958475"/>
            <a:ext cx="2810510" cy="1689950"/>
          </a:xfrm>
          <a:prstGeom prst="rect">
            <a:avLst/>
          </a:prstGeom>
        </p:spPr>
      </p:pic>
      <p:pic>
        <p:nvPicPr>
          <p:cNvPr id="5" name="Picture 2" descr="PostgreSQL Elephant Logo">
            <a:extLst>
              <a:ext uri="{FF2B5EF4-FFF2-40B4-BE49-F238E27FC236}">
                <a16:creationId xmlns:a16="http://schemas.microsoft.com/office/drawing/2014/main" id="{9AC9BF95-67D0-3871-2C06-C04A69BB7E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4420" y="5212823"/>
            <a:ext cx="1353185" cy="139583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Neo4j logo">
            <a:extLst>
              <a:ext uri="{FF2B5EF4-FFF2-40B4-BE49-F238E27FC236}">
                <a16:creationId xmlns:a16="http://schemas.microsoft.com/office/drawing/2014/main" id="{AC77A613-3452-5ABC-28EB-2F46994549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8536" y="3913744"/>
            <a:ext cx="2004954" cy="72907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dis logo">
            <a:extLst>
              <a:ext uri="{FF2B5EF4-FFF2-40B4-BE49-F238E27FC236}">
                <a16:creationId xmlns:a16="http://schemas.microsoft.com/office/drawing/2014/main" id="{81A7B719-CB14-88EE-04D2-C8D2E405DF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84080" y="3914046"/>
            <a:ext cx="1977614" cy="729074"/>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6" descr="MongoDB logo">
            <a:extLst>
              <a:ext uri="{FF2B5EF4-FFF2-40B4-BE49-F238E27FC236}">
                <a16:creationId xmlns:a16="http://schemas.microsoft.com/office/drawing/2014/main" id="{7E40835E-5FB1-2417-933C-90BE3DA644F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 name="图片 9">
            <a:extLst>
              <a:ext uri="{FF2B5EF4-FFF2-40B4-BE49-F238E27FC236}">
                <a16:creationId xmlns:a16="http://schemas.microsoft.com/office/drawing/2014/main" id="{21B986D6-51FA-D013-EC20-2DE64654C4CD}"/>
              </a:ext>
            </a:extLst>
          </p:cNvPr>
          <p:cNvPicPr>
            <a:picLocks noChangeAspect="1"/>
          </p:cNvPicPr>
          <p:nvPr/>
        </p:nvPicPr>
        <p:blipFill>
          <a:blip r:embed="rId6"/>
          <a:stretch>
            <a:fillRect/>
          </a:stretch>
        </p:blipFill>
        <p:spPr>
          <a:xfrm>
            <a:off x="9293317" y="2845968"/>
            <a:ext cx="2356393" cy="833554"/>
          </a:xfrm>
          <a:prstGeom prst="rect">
            <a:avLst/>
          </a:prstGeom>
        </p:spPr>
      </p:pic>
      <p:pic>
        <p:nvPicPr>
          <p:cNvPr id="2058" name="Picture 10" descr="MongoDB gets a data lake, new security features and more | TechCrunch">
            <a:extLst>
              <a:ext uri="{FF2B5EF4-FFF2-40B4-BE49-F238E27FC236}">
                <a16:creationId xmlns:a16="http://schemas.microsoft.com/office/drawing/2014/main" id="{FD4466B4-BF39-EAA2-C477-E8091C6F4AB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69070" y="2037705"/>
            <a:ext cx="2580640" cy="696907"/>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SQLite - Wikipedia">
            <a:extLst>
              <a:ext uri="{FF2B5EF4-FFF2-40B4-BE49-F238E27FC236}">
                <a16:creationId xmlns:a16="http://schemas.microsoft.com/office/drawing/2014/main" id="{365E81DD-E7AB-75AF-5379-4DFAFB0D03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34246" y="2759489"/>
            <a:ext cx="1613535" cy="765169"/>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Oracle Database : Fujitsu EMEIA">
            <a:extLst>
              <a:ext uri="{FF2B5EF4-FFF2-40B4-BE49-F238E27FC236}">
                <a16:creationId xmlns:a16="http://schemas.microsoft.com/office/drawing/2014/main" id="{7D5D036E-43D5-4753-B5F9-A452DE0CD62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38536" y="1751328"/>
            <a:ext cx="1981244" cy="76517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1">
            <a:extLst>
              <a:ext uri="{FF2B5EF4-FFF2-40B4-BE49-F238E27FC236}">
                <a16:creationId xmlns:a16="http://schemas.microsoft.com/office/drawing/2014/main" id="{E6D16C8F-20E1-7F11-61FA-DF84F1BBFBC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39</a:t>
            </a:fld>
            <a:endParaRPr lang="zh-CN" altLang="en-US"/>
          </a:p>
        </p:txBody>
      </p:sp>
    </p:spTree>
    <p:extLst>
      <p:ext uri="{BB962C8B-B14F-4D97-AF65-F5344CB8AC3E}">
        <p14:creationId xmlns:p14="http://schemas.microsoft.com/office/powerpoint/2010/main" val="22355446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层次数据库和网状数据库</a:t>
            </a:r>
          </a:p>
        </p:txBody>
      </p:sp>
      <p:sp>
        <p:nvSpPr>
          <p:cNvPr id="4" name="内容占位符 2">
            <a:extLst>
              <a:ext uri="{FF2B5EF4-FFF2-40B4-BE49-F238E27FC236}">
                <a16:creationId xmlns:a16="http://schemas.microsoft.com/office/drawing/2014/main" id="{99E90919-814E-29FD-7353-AFE98BE01B5D}"/>
              </a:ext>
            </a:extLst>
          </p:cNvPr>
          <p:cNvSpPr>
            <a:spLocks noGrp="1"/>
          </p:cNvSpPr>
          <p:nvPr>
            <p:ph idx="1"/>
          </p:nvPr>
        </p:nvSpPr>
        <p:spPr>
          <a:xfrm>
            <a:off x="304800" y="1201270"/>
            <a:ext cx="11456894" cy="3082121"/>
          </a:xfrm>
        </p:spPr>
        <p:txBody>
          <a:bodyPr/>
          <a:lstStyle/>
          <a:p>
            <a:r>
              <a:rPr lang="zh-CN" altLang="zh-CN" dirty="0">
                <a:latin typeface="Times" pitchFamily="2" charset="0"/>
              </a:rPr>
              <a:t>在数据库发展的早期，有两类重要的数据库</a:t>
            </a:r>
            <a:endParaRPr lang="en-US" altLang="zh-CN" dirty="0">
              <a:latin typeface="Times" pitchFamily="2" charset="0"/>
            </a:endParaRPr>
          </a:p>
          <a:p>
            <a:pPr lvl="1"/>
            <a:r>
              <a:rPr lang="zh-CN" altLang="zh-CN" sz="2400" dirty="0">
                <a:latin typeface="Times" pitchFamily="2" charset="0"/>
              </a:rPr>
              <a:t>层次数据库</a:t>
            </a:r>
            <a:r>
              <a:rPr lang="zh-CN" altLang="en-US" sz="2400" dirty="0">
                <a:latin typeface="Times" pitchFamily="2" charset="0"/>
              </a:rPr>
              <a:t>（</a:t>
            </a:r>
            <a:r>
              <a:rPr lang="en" altLang="zh-CN" sz="2400" dirty="0">
                <a:latin typeface="Times" pitchFamily="2" charset="0"/>
              </a:rPr>
              <a:t>Hierarchical Database</a:t>
            </a:r>
            <a:r>
              <a:rPr lang="zh-CN" altLang="en-US" sz="2400" dirty="0">
                <a:latin typeface="Times" pitchFamily="2" charset="0"/>
              </a:rPr>
              <a:t>）</a:t>
            </a:r>
            <a:r>
              <a:rPr lang="zh-CN" altLang="zh-CN" sz="2400" dirty="0">
                <a:latin typeface="Times" pitchFamily="2" charset="0"/>
              </a:rPr>
              <a:t>和网状数据库</a:t>
            </a:r>
            <a:r>
              <a:rPr lang="zh-CN" altLang="en-US" sz="2400" dirty="0">
                <a:latin typeface="Times" pitchFamily="2" charset="0"/>
              </a:rPr>
              <a:t>（</a:t>
            </a:r>
            <a:r>
              <a:rPr lang="en" altLang="zh-CN" sz="2400" dirty="0">
                <a:latin typeface="Times" pitchFamily="2" charset="0"/>
              </a:rPr>
              <a:t>Network Database</a:t>
            </a:r>
            <a:r>
              <a:rPr lang="zh-CN" altLang="en-US" sz="2400" dirty="0">
                <a:latin typeface="Times" pitchFamily="2" charset="0"/>
              </a:rPr>
              <a:t>）</a:t>
            </a:r>
            <a:endParaRPr lang="en-US" altLang="zh-CN" sz="2400" dirty="0">
              <a:latin typeface="Times" pitchFamily="2" charset="0"/>
            </a:endParaRPr>
          </a:p>
          <a:p>
            <a:pPr lvl="1"/>
            <a:r>
              <a:rPr lang="zh-CN" altLang="zh-CN" sz="2400" dirty="0">
                <a:latin typeface="Times" pitchFamily="2" charset="0"/>
              </a:rPr>
              <a:t>层次数据库</a:t>
            </a:r>
            <a:r>
              <a:rPr lang="zh-CN" altLang="en-US" sz="2400" dirty="0">
                <a:latin typeface="Times" pitchFamily="2" charset="0"/>
              </a:rPr>
              <a:t>基于</a:t>
            </a:r>
            <a:r>
              <a:rPr lang="zh-CN" altLang="zh-CN" sz="2400" dirty="0">
                <a:latin typeface="Times" pitchFamily="2" charset="0"/>
              </a:rPr>
              <a:t>层次模型</a:t>
            </a:r>
            <a:r>
              <a:rPr lang="zh-CN" altLang="en-US" sz="2400" dirty="0">
                <a:latin typeface="Times" pitchFamily="2" charset="0"/>
              </a:rPr>
              <a:t>，</a:t>
            </a:r>
            <a:r>
              <a:rPr lang="zh-CN" altLang="zh-CN" sz="2400" dirty="0">
                <a:latin typeface="Times" pitchFamily="2" charset="0"/>
              </a:rPr>
              <a:t>以</a:t>
            </a:r>
            <a:r>
              <a:rPr lang="en-US" altLang="zh-CN" sz="2400" dirty="0">
                <a:latin typeface="Times" pitchFamily="2" charset="0"/>
              </a:rPr>
              <a:t>“</a:t>
            </a:r>
            <a:r>
              <a:rPr lang="zh-CN" altLang="zh-CN" sz="2400" dirty="0">
                <a:latin typeface="Times" pitchFamily="2" charset="0"/>
              </a:rPr>
              <a:t>树结构</a:t>
            </a:r>
            <a:r>
              <a:rPr lang="en-US" altLang="zh-CN" sz="2400" dirty="0">
                <a:latin typeface="Times" pitchFamily="2" charset="0"/>
              </a:rPr>
              <a:t>”</a:t>
            </a:r>
            <a:r>
              <a:rPr lang="zh-CN" altLang="zh-CN" sz="2400" dirty="0">
                <a:latin typeface="Times" pitchFamily="2" charset="0"/>
              </a:rPr>
              <a:t>来表示数据记录之间的联系</a:t>
            </a:r>
            <a:endParaRPr lang="en-US" altLang="zh-CN" sz="2400" dirty="0">
              <a:latin typeface="Times" pitchFamily="2" charset="0"/>
            </a:endParaRPr>
          </a:p>
          <a:p>
            <a:pPr lvl="1"/>
            <a:r>
              <a:rPr lang="zh-CN" altLang="zh-CN" sz="2400" dirty="0">
                <a:latin typeface="Times" pitchFamily="2" charset="0"/>
              </a:rPr>
              <a:t>网状数据库</a:t>
            </a:r>
            <a:r>
              <a:rPr lang="zh-CN" altLang="en-US" sz="2400" dirty="0">
                <a:latin typeface="Times" pitchFamily="2" charset="0"/>
              </a:rPr>
              <a:t>基于</a:t>
            </a:r>
            <a:r>
              <a:rPr lang="zh-CN" altLang="zh-CN" sz="2400" dirty="0">
                <a:latin typeface="Times" pitchFamily="2" charset="0"/>
              </a:rPr>
              <a:t>网状模型</a:t>
            </a:r>
            <a:r>
              <a:rPr lang="zh-CN" altLang="en-US" sz="2400" dirty="0">
                <a:latin typeface="Times" pitchFamily="2" charset="0"/>
              </a:rPr>
              <a:t>，</a:t>
            </a:r>
            <a:r>
              <a:rPr lang="zh-CN" altLang="zh-CN" sz="2400" dirty="0">
                <a:latin typeface="Times" pitchFamily="2" charset="0"/>
              </a:rPr>
              <a:t>以</a:t>
            </a:r>
            <a:r>
              <a:rPr lang="en-US" altLang="zh-CN" sz="2400" dirty="0">
                <a:latin typeface="Times" pitchFamily="2" charset="0"/>
              </a:rPr>
              <a:t>“</a:t>
            </a:r>
            <a:r>
              <a:rPr lang="zh-CN" altLang="zh-CN" sz="2400" dirty="0">
                <a:latin typeface="Times" pitchFamily="2" charset="0"/>
              </a:rPr>
              <a:t>图结构</a:t>
            </a:r>
            <a:r>
              <a:rPr lang="en-US" altLang="zh-CN" sz="2400" dirty="0">
                <a:latin typeface="Times" pitchFamily="2" charset="0"/>
              </a:rPr>
              <a:t>”</a:t>
            </a:r>
            <a:r>
              <a:rPr lang="zh-CN" altLang="zh-CN" sz="2400" dirty="0">
                <a:latin typeface="Times" pitchFamily="2" charset="0"/>
              </a:rPr>
              <a:t>来表示数据记录之间的联系</a:t>
            </a:r>
            <a:endParaRPr lang="en-US" altLang="zh-CN" sz="2400" dirty="0">
              <a:latin typeface="Times" pitchFamily="2" charset="0"/>
            </a:endParaRPr>
          </a:p>
          <a:p>
            <a:pPr marL="422041" lvl="1" indent="0">
              <a:buNone/>
            </a:pPr>
            <a:endParaRPr lang="zh-CN" altLang="en-US" sz="2400" dirty="0">
              <a:latin typeface="Times" pitchFamily="2" charset="0"/>
              <a:cs typeface="Arial" panose="020B0604020202020204" pitchFamily="34" charset="0"/>
            </a:endParaRPr>
          </a:p>
          <a:p>
            <a:pPr lvl="1"/>
            <a:endParaRPr lang="en-US" altLang="zh-CN" sz="2000" dirty="0">
              <a:latin typeface="Times" pitchFamily="2" charset="0"/>
              <a:cs typeface="Arial" panose="020B0604020202020204" pitchFamily="34" charset="0"/>
            </a:endParaRPr>
          </a:p>
          <a:p>
            <a:endParaRPr lang="en-US" altLang="zh-CN" sz="2400" dirty="0">
              <a:latin typeface="Times" pitchFamily="2" charset="0"/>
              <a:cs typeface="Arial" panose="020B0604020202020204" pitchFamily="34" charset="0"/>
            </a:endParaRPr>
          </a:p>
        </p:txBody>
      </p:sp>
      <p:pic>
        <p:nvPicPr>
          <p:cNvPr id="5" name="图片 4">
            <a:extLst>
              <a:ext uri="{FF2B5EF4-FFF2-40B4-BE49-F238E27FC236}">
                <a16:creationId xmlns:a16="http://schemas.microsoft.com/office/drawing/2014/main" id="{6840F228-F46E-CC30-C18F-58C79458366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43142"/>
          <a:stretch/>
        </p:blipFill>
        <p:spPr bwMode="auto">
          <a:xfrm>
            <a:off x="971550" y="3135873"/>
            <a:ext cx="10515823" cy="3375248"/>
          </a:xfrm>
          <a:prstGeom prst="rect">
            <a:avLst/>
          </a:prstGeom>
          <a:ln>
            <a:noFill/>
          </a:ln>
          <a:extLst>
            <a:ext uri="{53640926-AAD7-44D8-BBD7-CCE9431645EC}">
              <a14:shadowObscured xmlns:a14="http://schemas.microsoft.com/office/drawing/2010/main"/>
            </a:ext>
          </a:extLst>
        </p:spPr>
      </p:pic>
      <p:sp>
        <p:nvSpPr>
          <p:cNvPr id="6" name="灯片编号占位符 1">
            <a:extLst>
              <a:ext uri="{FF2B5EF4-FFF2-40B4-BE49-F238E27FC236}">
                <a16:creationId xmlns:a16="http://schemas.microsoft.com/office/drawing/2014/main" id="{FE1C3F49-02DE-127E-60A6-674B920242E2}"/>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40</a:t>
            </a:fld>
            <a:endParaRPr lang="zh-CN" altLang="en-US"/>
          </a:p>
        </p:txBody>
      </p:sp>
    </p:spTree>
    <p:extLst>
      <p:ext uri="{BB962C8B-B14F-4D97-AF65-F5344CB8AC3E}">
        <p14:creationId xmlns:p14="http://schemas.microsoft.com/office/powerpoint/2010/main" val="13559059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层次模型与层次数据库</a:t>
            </a:r>
          </a:p>
        </p:txBody>
      </p:sp>
      <p:sp>
        <p:nvSpPr>
          <p:cNvPr id="4" name="内容占位符 2">
            <a:extLst>
              <a:ext uri="{FF2B5EF4-FFF2-40B4-BE49-F238E27FC236}">
                <a16:creationId xmlns:a16="http://schemas.microsoft.com/office/drawing/2014/main" id="{99E90919-814E-29FD-7353-AFE98BE01B5D}"/>
              </a:ext>
            </a:extLst>
          </p:cNvPr>
          <p:cNvSpPr>
            <a:spLocks noGrp="1"/>
          </p:cNvSpPr>
          <p:nvPr>
            <p:ph idx="1"/>
          </p:nvPr>
        </p:nvSpPr>
        <p:spPr>
          <a:xfrm>
            <a:off x="304800" y="1201270"/>
            <a:ext cx="11456894" cy="4553144"/>
          </a:xfrm>
        </p:spPr>
        <p:txBody>
          <a:bodyPr/>
          <a:lstStyle/>
          <a:p>
            <a:r>
              <a:rPr lang="zh-CN" altLang="en-US" dirty="0">
                <a:latin typeface="Times" pitchFamily="2" charset="0"/>
              </a:rPr>
              <a:t>层次模型是数据库系统中最早出现的数据模型</a:t>
            </a:r>
            <a:endParaRPr lang="en-US" altLang="zh-CN" dirty="0">
              <a:latin typeface="Times" pitchFamily="2" charset="0"/>
            </a:endParaRPr>
          </a:p>
          <a:p>
            <a:r>
              <a:rPr lang="zh-CN" altLang="en-US" dirty="0">
                <a:latin typeface="Times" pitchFamily="2" charset="0"/>
              </a:rPr>
              <a:t>层次模型用树形结构来表示各类实体以及实体间的联系</a:t>
            </a:r>
            <a:endParaRPr lang="en-US" altLang="zh-CN" sz="2800" dirty="0">
              <a:latin typeface="Times" pitchFamily="2" charset="0"/>
            </a:endParaRPr>
          </a:p>
          <a:p>
            <a:r>
              <a:rPr lang="zh-CN" altLang="en-US" dirty="0">
                <a:latin typeface="Times" pitchFamily="2" charset="0"/>
              </a:rPr>
              <a:t>层次数据库系统的典型代表是</a:t>
            </a:r>
            <a:r>
              <a:rPr lang="en" altLang="zh-CN" dirty="0">
                <a:latin typeface="Times" pitchFamily="2" charset="0"/>
              </a:rPr>
              <a:t>IBM</a:t>
            </a:r>
            <a:r>
              <a:rPr lang="zh-CN" altLang="en-US" dirty="0">
                <a:latin typeface="Times" pitchFamily="2" charset="0"/>
              </a:rPr>
              <a:t>公司的</a:t>
            </a:r>
            <a:r>
              <a:rPr lang="en" altLang="zh-CN" dirty="0">
                <a:latin typeface="Times" pitchFamily="2" charset="0"/>
              </a:rPr>
              <a:t>IMS </a:t>
            </a:r>
            <a:r>
              <a:rPr lang="zh-CN" altLang="en" dirty="0">
                <a:latin typeface="Times" pitchFamily="2" charset="0"/>
              </a:rPr>
              <a:t>（</a:t>
            </a:r>
            <a:r>
              <a:rPr lang="en" altLang="zh-CN" dirty="0">
                <a:latin typeface="Times" pitchFamily="2" charset="0"/>
              </a:rPr>
              <a:t>Information Management System</a:t>
            </a:r>
            <a:r>
              <a:rPr lang="zh-CN" altLang="en-US" dirty="0">
                <a:latin typeface="Times" pitchFamily="2" charset="0"/>
              </a:rPr>
              <a:t>，</a:t>
            </a:r>
            <a:r>
              <a:rPr lang="en-US" altLang="zh-CN" dirty="0">
                <a:latin typeface="Times" pitchFamily="2" charset="0"/>
              </a:rPr>
              <a:t>IMS</a:t>
            </a:r>
            <a:r>
              <a:rPr lang="zh-CN" altLang="en" dirty="0">
                <a:latin typeface="Times" pitchFamily="2" charset="0"/>
              </a:rPr>
              <a:t>）</a:t>
            </a:r>
            <a:r>
              <a:rPr lang="zh-CN" altLang="en-US" dirty="0">
                <a:latin typeface="Times" pitchFamily="2" charset="0"/>
              </a:rPr>
              <a:t>数据库</a:t>
            </a:r>
            <a:endParaRPr lang="en-US" altLang="zh-CN" dirty="0">
              <a:latin typeface="Times" pitchFamily="2" charset="0"/>
            </a:endParaRPr>
          </a:p>
          <a:p>
            <a:endParaRPr lang="en-US" altLang="zh-CN" dirty="0">
              <a:latin typeface="Times" pitchFamily="2" charset="0"/>
            </a:endParaRPr>
          </a:p>
          <a:p>
            <a:r>
              <a:rPr lang="zh-CN" altLang="en-US" dirty="0">
                <a:latin typeface="Times" pitchFamily="2" charset="0"/>
              </a:rPr>
              <a:t>层次模型</a:t>
            </a:r>
          </a:p>
          <a:p>
            <a:pPr lvl="1"/>
            <a:r>
              <a:rPr lang="zh-CN" altLang="en-US" dirty="0">
                <a:latin typeface="Times" pitchFamily="2" charset="0"/>
              </a:rPr>
              <a:t>有且只有一个结点没有双亲结点，这个结点是根结点</a:t>
            </a:r>
            <a:endParaRPr lang="en-US" altLang="zh-CN" dirty="0">
              <a:latin typeface="Times" pitchFamily="2" charset="0"/>
            </a:endParaRPr>
          </a:p>
          <a:p>
            <a:pPr lvl="1"/>
            <a:r>
              <a:rPr lang="zh-CN" altLang="en-US" dirty="0">
                <a:latin typeface="Times" pitchFamily="2" charset="0"/>
              </a:rPr>
              <a:t>除根节点以外，其他结点有且只有一个双亲结点</a:t>
            </a:r>
            <a:endParaRPr lang="en-US" altLang="zh-CN" dirty="0">
              <a:latin typeface="Times" pitchFamily="2" charset="0"/>
            </a:endParaRPr>
          </a:p>
          <a:p>
            <a:pPr marL="422041" lvl="1" indent="0">
              <a:buNone/>
            </a:pPr>
            <a:endParaRPr lang="zh-CN" altLang="en-US" sz="2400" dirty="0">
              <a:latin typeface="Times" pitchFamily="2" charset="0"/>
              <a:cs typeface="Arial" panose="020B0604020202020204" pitchFamily="34" charset="0"/>
            </a:endParaRPr>
          </a:p>
          <a:p>
            <a:pPr lvl="1"/>
            <a:endParaRPr lang="en-US" altLang="zh-CN" sz="2000" dirty="0">
              <a:latin typeface="Times" pitchFamily="2" charset="0"/>
              <a:cs typeface="Arial" panose="020B0604020202020204" pitchFamily="34" charset="0"/>
            </a:endParaRPr>
          </a:p>
          <a:p>
            <a:endParaRPr lang="en-US" altLang="zh-CN" sz="2400" dirty="0">
              <a:latin typeface="Times" pitchFamily="2" charset="0"/>
              <a:cs typeface="Arial" panose="020B0604020202020204" pitchFamily="34" charset="0"/>
            </a:endParaRPr>
          </a:p>
        </p:txBody>
      </p:sp>
      <p:sp>
        <p:nvSpPr>
          <p:cNvPr id="5" name="灯片编号占位符 1">
            <a:extLst>
              <a:ext uri="{FF2B5EF4-FFF2-40B4-BE49-F238E27FC236}">
                <a16:creationId xmlns:a16="http://schemas.microsoft.com/office/drawing/2014/main" id="{09A2D1E6-DD53-FBD7-73D9-F99DE73AA82C}"/>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41</a:t>
            </a:fld>
            <a:endParaRPr lang="zh-CN" altLang="en-US"/>
          </a:p>
        </p:txBody>
      </p:sp>
    </p:spTree>
    <p:extLst>
      <p:ext uri="{BB962C8B-B14F-4D97-AF65-F5344CB8AC3E}">
        <p14:creationId xmlns:p14="http://schemas.microsoft.com/office/powerpoint/2010/main" val="19002726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网状模型和网状数据库</a:t>
            </a:r>
          </a:p>
        </p:txBody>
      </p:sp>
      <p:sp>
        <p:nvSpPr>
          <p:cNvPr id="4" name="内容占位符 2">
            <a:extLst>
              <a:ext uri="{FF2B5EF4-FFF2-40B4-BE49-F238E27FC236}">
                <a16:creationId xmlns:a16="http://schemas.microsoft.com/office/drawing/2014/main" id="{99E90919-814E-29FD-7353-AFE98BE01B5D}"/>
              </a:ext>
            </a:extLst>
          </p:cNvPr>
          <p:cNvSpPr>
            <a:spLocks noGrp="1"/>
          </p:cNvSpPr>
          <p:nvPr>
            <p:ph idx="1"/>
          </p:nvPr>
        </p:nvSpPr>
        <p:spPr>
          <a:xfrm>
            <a:off x="304800" y="1201270"/>
            <a:ext cx="11456894" cy="4805392"/>
          </a:xfrm>
        </p:spPr>
        <p:txBody>
          <a:bodyPr/>
          <a:lstStyle/>
          <a:p>
            <a:r>
              <a:rPr lang="zh-CN" altLang="en-US" dirty="0">
                <a:latin typeface="Times" pitchFamily="2" charset="0"/>
              </a:rPr>
              <a:t>网状模型是网状数据库的组织方式</a:t>
            </a:r>
            <a:endParaRPr lang="en-US" altLang="zh-CN" sz="2800" dirty="0">
              <a:latin typeface="Times" pitchFamily="2" charset="0"/>
            </a:endParaRPr>
          </a:p>
          <a:p>
            <a:r>
              <a:rPr lang="en-US" altLang="zh-CN" dirty="0">
                <a:latin typeface="Times" pitchFamily="2" charset="0"/>
              </a:rPr>
              <a:t>1964</a:t>
            </a:r>
            <a:r>
              <a:rPr lang="zh-CN" altLang="zh-CN" dirty="0">
                <a:latin typeface="Times" pitchFamily="2" charset="0"/>
              </a:rPr>
              <a:t>年，美国通用电气公司发布了世界上第一个网状数据库系统</a:t>
            </a:r>
            <a:r>
              <a:rPr lang="en-US" altLang="zh-CN" dirty="0">
                <a:latin typeface="Times" pitchFamily="2" charset="0"/>
              </a:rPr>
              <a:t>——IDS</a:t>
            </a:r>
            <a:r>
              <a:rPr lang="zh-CN" altLang="zh-CN" dirty="0">
                <a:latin typeface="Times" pitchFamily="2" charset="0"/>
              </a:rPr>
              <a:t>（</a:t>
            </a:r>
            <a:r>
              <a:rPr lang="en-US" altLang="zh-CN" dirty="0">
                <a:latin typeface="Times" pitchFamily="2" charset="0"/>
              </a:rPr>
              <a:t>Integrated Data Storage</a:t>
            </a:r>
            <a:r>
              <a:rPr lang="zh-CN" altLang="zh-CN" dirty="0">
                <a:latin typeface="Times" pitchFamily="2" charset="0"/>
              </a:rPr>
              <a:t>，集成数据存储）</a:t>
            </a:r>
            <a:endParaRPr lang="en-US" altLang="zh-CN" dirty="0">
              <a:latin typeface="Times" pitchFamily="2" charset="0"/>
            </a:endParaRPr>
          </a:p>
          <a:p>
            <a:endParaRPr lang="en-US" altLang="zh-CN" sz="2000" dirty="0">
              <a:latin typeface="Times" pitchFamily="2" charset="0"/>
            </a:endParaRPr>
          </a:p>
          <a:p>
            <a:r>
              <a:rPr lang="zh-CN" altLang="en-US" dirty="0">
                <a:latin typeface="Times" pitchFamily="2" charset="0"/>
              </a:rPr>
              <a:t>网状模型：</a:t>
            </a:r>
          </a:p>
          <a:p>
            <a:pPr lvl="1"/>
            <a:r>
              <a:rPr lang="zh-CN" altLang="en-US" dirty="0">
                <a:latin typeface="Times" pitchFamily="2" charset="0"/>
              </a:rPr>
              <a:t>允许一个以上的结点无双亲</a:t>
            </a:r>
            <a:endParaRPr lang="en-US" altLang="zh-CN" dirty="0">
              <a:latin typeface="Times" pitchFamily="2" charset="0"/>
            </a:endParaRPr>
          </a:p>
          <a:p>
            <a:pPr lvl="1"/>
            <a:r>
              <a:rPr lang="zh-CN" altLang="en-US" dirty="0">
                <a:latin typeface="Times" pitchFamily="2" charset="0"/>
              </a:rPr>
              <a:t>一个结点可以有多于一个的双亲</a:t>
            </a:r>
            <a:r>
              <a:rPr lang="zh-CN" altLang="zh-CN" dirty="0">
                <a:latin typeface="Times" pitchFamily="2" charset="0"/>
              </a:rPr>
              <a:t> </a:t>
            </a:r>
            <a:endParaRPr lang="en-US" altLang="zh-CN" dirty="0">
              <a:latin typeface="Times" pitchFamily="2" charset="0"/>
              <a:cs typeface="Arial" panose="020B0604020202020204" pitchFamily="34" charset="0"/>
            </a:endParaRPr>
          </a:p>
          <a:p>
            <a:endParaRPr lang="en-US" altLang="zh-CN" sz="2400" dirty="0">
              <a:latin typeface="Times" pitchFamily="2" charset="0"/>
              <a:cs typeface="Arial" panose="020B0604020202020204" pitchFamily="34" charset="0"/>
            </a:endParaRPr>
          </a:p>
        </p:txBody>
      </p:sp>
      <p:pic>
        <p:nvPicPr>
          <p:cNvPr id="7170" name="Picture 2">
            <a:extLst>
              <a:ext uri="{FF2B5EF4-FFF2-40B4-BE49-F238E27FC236}">
                <a16:creationId xmlns:a16="http://schemas.microsoft.com/office/drawing/2014/main" id="{896402A2-BC9F-93DE-1DD7-A8B94DCC63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77452" y="2838657"/>
            <a:ext cx="1905000" cy="2921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CA03B630-4D9E-A2A2-C2EF-0D8EDA175985}"/>
              </a:ext>
            </a:extLst>
          </p:cNvPr>
          <p:cNvSpPr txBox="1"/>
          <p:nvPr/>
        </p:nvSpPr>
        <p:spPr>
          <a:xfrm>
            <a:off x="7394028" y="5880918"/>
            <a:ext cx="4671848" cy="923330"/>
          </a:xfrm>
          <a:prstGeom prst="rect">
            <a:avLst/>
          </a:prstGeom>
          <a:noFill/>
        </p:spPr>
        <p:txBody>
          <a:bodyPr wrap="square">
            <a:spAutoFit/>
          </a:bodyPr>
          <a:lstStyle/>
          <a:p>
            <a:pPr algn="ctr"/>
            <a:r>
              <a:rPr lang="zh-CN" altLang="zh-CN" sz="1800" dirty="0">
                <a:effectLst/>
                <a:latin typeface="Times" pitchFamily="2" charset="0"/>
                <a:ea typeface="SimHei" panose="02010609060101010101" pitchFamily="49" charset="-122"/>
                <a:cs typeface="Times New Roman" panose="02020603050405020304" pitchFamily="18" charset="0"/>
              </a:rPr>
              <a:t>查理士</a:t>
            </a:r>
            <a:r>
              <a:rPr lang="en-US" altLang="zh-CN" sz="1800" dirty="0">
                <a:effectLst/>
                <a:latin typeface="Times" pitchFamily="2" charset="0"/>
                <a:ea typeface="SimHei" panose="02010609060101010101" pitchFamily="49" charset="-122"/>
                <a:cs typeface="Times New Roman" panose="02020603050405020304" pitchFamily="18" charset="0"/>
              </a:rPr>
              <a:t>·</a:t>
            </a:r>
            <a:r>
              <a:rPr lang="zh-CN" altLang="zh-CN" sz="1800" dirty="0">
                <a:effectLst/>
                <a:latin typeface="Times" pitchFamily="2" charset="0"/>
                <a:ea typeface="SimHei" panose="02010609060101010101" pitchFamily="49" charset="-122"/>
                <a:cs typeface="Times New Roman" panose="02020603050405020304" pitchFamily="18" charset="0"/>
              </a:rPr>
              <a:t>巴赫曼（</a:t>
            </a:r>
            <a:r>
              <a:rPr lang="en-US" altLang="zh-CN" sz="1800" dirty="0">
                <a:effectLst/>
                <a:latin typeface="Times" pitchFamily="2" charset="0"/>
                <a:ea typeface="SimHei" panose="02010609060101010101" pitchFamily="49" charset="-122"/>
                <a:cs typeface="Times New Roman" panose="02020603050405020304" pitchFamily="18" charset="0"/>
              </a:rPr>
              <a:t>Charles W. Bachman</a:t>
            </a:r>
            <a:r>
              <a:rPr lang="zh-CN" altLang="zh-CN" sz="1800" dirty="0">
                <a:effectLst/>
                <a:latin typeface="Times" pitchFamily="2" charset="0"/>
                <a:ea typeface="SimHei" panose="02010609060101010101" pitchFamily="49" charset="-122"/>
                <a:cs typeface="Times New Roman" panose="02020603050405020304" pitchFamily="18" charset="0"/>
              </a:rPr>
              <a:t>）</a:t>
            </a:r>
            <a:endParaRPr lang="en-US" altLang="zh-CN" sz="1800" dirty="0">
              <a:effectLst/>
              <a:latin typeface="Times" pitchFamily="2" charset="0"/>
              <a:ea typeface="SimHei" panose="02010609060101010101" pitchFamily="49" charset="-122"/>
              <a:cs typeface="Times New Roman" panose="02020603050405020304" pitchFamily="18" charset="0"/>
            </a:endParaRPr>
          </a:p>
          <a:p>
            <a:pPr algn="ctr"/>
            <a:r>
              <a:rPr lang="en-US" altLang="zh-CN" dirty="0">
                <a:latin typeface="Times" pitchFamily="2" charset="0"/>
                <a:ea typeface="SimHei" panose="02010609060101010101" pitchFamily="49" charset="-122"/>
                <a:cs typeface="Times New Roman" panose="02020603050405020304" pitchFamily="18" charset="0"/>
              </a:rPr>
              <a:t>1973</a:t>
            </a:r>
            <a:r>
              <a:rPr lang="zh-CN" altLang="en-US" dirty="0">
                <a:latin typeface="Times" pitchFamily="2" charset="0"/>
                <a:ea typeface="SimHei" panose="02010609060101010101" pitchFamily="49" charset="-122"/>
                <a:cs typeface="Times New Roman" panose="02020603050405020304" pitchFamily="18" charset="0"/>
              </a:rPr>
              <a:t>年获得图灵奖，以</a:t>
            </a:r>
            <a:r>
              <a:rPr lang="zh-CN" altLang="zh-CN" dirty="0">
                <a:latin typeface="Times" pitchFamily="2" charset="0"/>
                <a:ea typeface="SimHei" panose="02010609060101010101" pitchFamily="49" charset="-122"/>
                <a:cs typeface="Times New Roman" panose="02020603050405020304" pitchFamily="18" charset="0"/>
              </a:rPr>
              <a:t>表彰他在数据库领域，尤其是网状数据库系统方面的杰出贡献。</a:t>
            </a:r>
            <a:r>
              <a:rPr lang="zh-CN" altLang="zh-CN" dirty="0">
                <a:latin typeface="Times" pitchFamily="2" charset="0"/>
                <a:ea typeface="SimHei" panose="02010609060101010101" pitchFamily="49" charset="-122"/>
              </a:rPr>
              <a:t> </a:t>
            </a:r>
            <a:endParaRPr lang="zh-CN" altLang="en-US" dirty="0">
              <a:latin typeface="Times" pitchFamily="2" charset="0"/>
              <a:ea typeface="SimHei" panose="02010609060101010101" pitchFamily="49" charset="-122"/>
            </a:endParaRPr>
          </a:p>
        </p:txBody>
      </p:sp>
      <p:sp>
        <p:nvSpPr>
          <p:cNvPr id="6" name="灯片编号占位符 1">
            <a:extLst>
              <a:ext uri="{FF2B5EF4-FFF2-40B4-BE49-F238E27FC236}">
                <a16:creationId xmlns:a16="http://schemas.microsoft.com/office/drawing/2014/main" id="{0B3C8CEF-54AC-9574-EE8B-F5F2534D7359}"/>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42</a:t>
            </a:fld>
            <a:endParaRPr lang="zh-CN" altLang="en-US" dirty="0"/>
          </a:p>
        </p:txBody>
      </p:sp>
    </p:spTree>
    <p:extLst>
      <p:ext uri="{BB962C8B-B14F-4D97-AF65-F5344CB8AC3E}">
        <p14:creationId xmlns:p14="http://schemas.microsoft.com/office/powerpoint/2010/main" val="39904597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p:txBody>
          <a:bodyPr/>
          <a:lstStyle/>
          <a:p>
            <a:pPr>
              <a:buFont typeface="Wingdings" pitchFamily="2" charset="2"/>
              <a:buChar char="l"/>
            </a:pPr>
            <a:r>
              <a:rPr lang="zh-CN" altLang="en-US" sz="2800" dirty="0">
                <a:solidFill>
                  <a:schemeClr val="tx1">
                    <a:lumMod val="50000"/>
                    <a:lumOff val="50000"/>
                  </a:schemeClr>
                </a:solidFill>
                <a:latin typeface="Times" pitchFamily="2" charset="0"/>
              </a:rPr>
              <a:t>层次和网状数据库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latin typeface="Times" pitchFamily="2" charset="0"/>
              </a:rPr>
              <a:t>关系数据库</a:t>
            </a:r>
            <a:endParaRPr lang="en-US" altLang="zh-CN" sz="2800" dirty="0">
              <a:latin typeface="Times" pitchFamily="2" charset="0"/>
            </a:endParaRPr>
          </a:p>
          <a:p>
            <a:pPr>
              <a:buFont typeface="Wingdings" pitchFamily="2" charset="2"/>
              <a:buChar char="l"/>
            </a:pPr>
            <a:r>
              <a:rPr lang="en-US" altLang="zh-CN" sz="2800" dirty="0">
                <a:solidFill>
                  <a:schemeClr val="tx1">
                    <a:lumMod val="50000"/>
                    <a:lumOff val="50000"/>
                  </a:schemeClr>
                </a:solidFill>
                <a:latin typeface="Times" pitchFamily="2" charset="0"/>
              </a:rPr>
              <a:t>OLTP</a:t>
            </a:r>
            <a:r>
              <a:rPr lang="zh-CN" altLang="en-US" sz="2800" dirty="0">
                <a:solidFill>
                  <a:schemeClr val="tx1">
                    <a:lumMod val="50000"/>
                    <a:lumOff val="50000"/>
                  </a:schemeClr>
                </a:solidFill>
                <a:latin typeface="Times" pitchFamily="2" charset="0"/>
              </a:rPr>
              <a:t>、</a:t>
            </a:r>
            <a:r>
              <a:rPr lang="en-US" altLang="zh-CN" sz="2800" dirty="0">
                <a:solidFill>
                  <a:schemeClr val="tx1">
                    <a:lumMod val="50000"/>
                    <a:lumOff val="50000"/>
                  </a:schemeClr>
                </a:solidFill>
                <a:latin typeface="Times" pitchFamily="2" charset="0"/>
              </a:rPr>
              <a:t>OLAP</a:t>
            </a:r>
            <a:r>
              <a:rPr lang="zh-CN" altLang="en-US" sz="2800" dirty="0">
                <a:solidFill>
                  <a:schemeClr val="tx1">
                    <a:lumMod val="50000"/>
                    <a:lumOff val="50000"/>
                  </a:schemeClr>
                </a:solidFill>
                <a:latin typeface="Times" pitchFamily="2" charset="0"/>
              </a:rPr>
              <a:t>与</a:t>
            </a:r>
            <a:r>
              <a:rPr lang="en-US" altLang="zh-CN" sz="2800" dirty="0">
                <a:solidFill>
                  <a:schemeClr val="tx1">
                    <a:lumMod val="50000"/>
                    <a:lumOff val="50000"/>
                  </a:schemeClr>
                </a:solidFill>
                <a:latin typeface="Times" pitchFamily="2" charset="0"/>
              </a:rPr>
              <a:t>HTAP</a:t>
            </a:r>
            <a:r>
              <a:rPr lang="zh-CN" altLang="en-US" sz="2800" dirty="0">
                <a:solidFill>
                  <a:schemeClr val="tx1">
                    <a:lumMod val="50000"/>
                    <a:lumOff val="50000"/>
                  </a:schemeClr>
                </a:solidFill>
                <a:latin typeface="Times" pitchFamily="2" charset="0"/>
              </a:rPr>
              <a:t>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en-US" altLang="zh-CN" sz="2800" dirty="0">
                <a:solidFill>
                  <a:schemeClr val="tx1">
                    <a:lumMod val="50000"/>
                    <a:lumOff val="50000"/>
                  </a:schemeClr>
                </a:solidFill>
                <a:latin typeface="Times" pitchFamily="2" charset="0"/>
              </a:rPr>
              <a:t>NoSQL</a:t>
            </a:r>
            <a:r>
              <a:rPr lang="zh-CN" altLang="en-US" sz="2800" dirty="0">
                <a:solidFill>
                  <a:schemeClr val="tx1">
                    <a:lumMod val="50000"/>
                    <a:lumOff val="50000"/>
                  </a:schemeClr>
                </a:solidFill>
                <a:latin typeface="Times" pitchFamily="2" charset="0"/>
              </a:rPr>
              <a:t>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分布式数据库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内存数据库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云数据库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其它类型数据库</a:t>
            </a:r>
            <a:endParaRPr lang="en-US" altLang="zh-CN" sz="28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实时数据库</a:t>
            </a:r>
            <a:endParaRPr lang="en-US" altLang="zh-CN" sz="24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并行数据库</a:t>
            </a:r>
            <a:endParaRPr lang="en-US" altLang="zh-CN" sz="24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终端数据库</a:t>
            </a: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数据库发展史概览</a:t>
            </a:r>
          </a:p>
        </p:txBody>
      </p:sp>
      <p:pic>
        <p:nvPicPr>
          <p:cNvPr id="4" name="图片 3">
            <a:extLst>
              <a:ext uri="{FF2B5EF4-FFF2-40B4-BE49-F238E27FC236}">
                <a16:creationId xmlns:a16="http://schemas.microsoft.com/office/drawing/2014/main" id="{60ED12C6-759A-07BF-765A-0E56422F1245}"/>
              </a:ext>
            </a:extLst>
          </p:cNvPr>
          <p:cNvPicPr>
            <a:picLocks noChangeAspect="1"/>
          </p:cNvPicPr>
          <p:nvPr/>
        </p:nvPicPr>
        <p:blipFill>
          <a:blip r:embed="rId2"/>
          <a:stretch>
            <a:fillRect/>
          </a:stretch>
        </p:blipFill>
        <p:spPr>
          <a:xfrm>
            <a:off x="8859520" y="4958475"/>
            <a:ext cx="2810510" cy="1689950"/>
          </a:xfrm>
          <a:prstGeom prst="rect">
            <a:avLst/>
          </a:prstGeom>
        </p:spPr>
      </p:pic>
      <p:pic>
        <p:nvPicPr>
          <p:cNvPr id="5" name="Picture 2" descr="PostgreSQL Elephant Logo">
            <a:extLst>
              <a:ext uri="{FF2B5EF4-FFF2-40B4-BE49-F238E27FC236}">
                <a16:creationId xmlns:a16="http://schemas.microsoft.com/office/drawing/2014/main" id="{9AC9BF95-67D0-3871-2C06-C04A69BB7E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4420" y="5212823"/>
            <a:ext cx="1353185" cy="139583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Neo4j logo">
            <a:extLst>
              <a:ext uri="{FF2B5EF4-FFF2-40B4-BE49-F238E27FC236}">
                <a16:creationId xmlns:a16="http://schemas.microsoft.com/office/drawing/2014/main" id="{AC77A613-3452-5ABC-28EB-2F46994549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8536" y="3913744"/>
            <a:ext cx="2004954" cy="72907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dis logo">
            <a:extLst>
              <a:ext uri="{FF2B5EF4-FFF2-40B4-BE49-F238E27FC236}">
                <a16:creationId xmlns:a16="http://schemas.microsoft.com/office/drawing/2014/main" id="{81A7B719-CB14-88EE-04D2-C8D2E405DF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84080" y="3914046"/>
            <a:ext cx="1977614" cy="729074"/>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6" descr="MongoDB logo">
            <a:extLst>
              <a:ext uri="{FF2B5EF4-FFF2-40B4-BE49-F238E27FC236}">
                <a16:creationId xmlns:a16="http://schemas.microsoft.com/office/drawing/2014/main" id="{7E40835E-5FB1-2417-933C-90BE3DA644F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 name="图片 9">
            <a:extLst>
              <a:ext uri="{FF2B5EF4-FFF2-40B4-BE49-F238E27FC236}">
                <a16:creationId xmlns:a16="http://schemas.microsoft.com/office/drawing/2014/main" id="{21B986D6-51FA-D013-EC20-2DE64654C4CD}"/>
              </a:ext>
            </a:extLst>
          </p:cNvPr>
          <p:cNvPicPr>
            <a:picLocks noChangeAspect="1"/>
          </p:cNvPicPr>
          <p:nvPr/>
        </p:nvPicPr>
        <p:blipFill>
          <a:blip r:embed="rId6"/>
          <a:stretch>
            <a:fillRect/>
          </a:stretch>
        </p:blipFill>
        <p:spPr>
          <a:xfrm>
            <a:off x="9293317" y="2845968"/>
            <a:ext cx="2356393" cy="833554"/>
          </a:xfrm>
          <a:prstGeom prst="rect">
            <a:avLst/>
          </a:prstGeom>
        </p:spPr>
      </p:pic>
      <p:pic>
        <p:nvPicPr>
          <p:cNvPr id="2058" name="Picture 10" descr="MongoDB gets a data lake, new security features and more | TechCrunch">
            <a:extLst>
              <a:ext uri="{FF2B5EF4-FFF2-40B4-BE49-F238E27FC236}">
                <a16:creationId xmlns:a16="http://schemas.microsoft.com/office/drawing/2014/main" id="{FD4466B4-BF39-EAA2-C477-E8091C6F4AB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69070" y="2037705"/>
            <a:ext cx="2580640" cy="696907"/>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SQLite - Wikipedia">
            <a:extLst>
              <a:ext uri="{FF2B5EF4-FFF2-40B4-BE49-F238E27FC236}">
                <a16:creationId xmlns:a16="http://schemas.microsoft.com/office/drawing/2014/main" id="{365E81DD-E7AB-75AF-5379-4DFAFB0D03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34246" y="2759489"/>
            <a:ext cx="1613535" cy="765169"/>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Oracle Database : Fujitsu EMEIA">
            <a:extLst>
              <a:ext uri="{FF2B5EF4-FFF2-40B4-BE49-F238E27FC236}">
                <a16:creationId xmlns:a16="http://schemas.microsoft.com/office/drawing/2014/main" id="{7D5D036E-43D5-4753-B5F9-A452DE0CD62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38536" y="1751328"/>
            <a:ext cx="1981244" cy="76517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1">
            <a:extLst>
              <a:ext uri="{FF2B5EF4-FFF2-40B4-BE49-F238E27FC236}">
                <a16:creationId xmlns:a16="http://schemas.microsoft.com/office/drawing/2014/main" id="{E6D16C8F-20E1-7F11-61FA-DF84F1BBFBC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43</a:t>
            </a:fld>
            <a:endParaRPr lang="zh-CN" altLang="en-US"/>
          </a:p>
        </p:txBody>
      </p:sp>
    </p:spTree>
    <p:extLst>
      <p:ext uri="{BB962C8B-B14F-4D97-AF65-F5344CB8AC3E}">
        <p14:creationId xmlns:p14="http://schemas.microsoft.com/office/powerpoint/2010/main" val="26923793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关系数据库</a:t>
            </a:r>
          </a:p>
        </p:txBody>
      </p:sp>
      <p:sp>
        <p:nvSpPr>
          <p:cNvPr id="4" name="内容占位符 2">
            <a:extLst>
              <a:ext uri="{FF2B5EF4-FFF2-40B4-BE49-F238E27FC236}">
                <a16:creationId xmlns:a16="http://schemas.microsoft.com/office/drawing/2014/main" id="{99E90919-814E-29FD-7353-AFE98BE01B5D}"/>
              </a:ext>
            </a:extLst>
          </p:cNvPr>
          <p:cNvSpPr>
            <a:spLocks noGrp="1"/>
          </p:cNvSpPr>
          <p:nvPr>
            <p:ph idx="1"/>
          </p:nvPr>
        </p:nvSpPr>
        <p:spPr>
          <a:xfrm>
            <a:off x="73572" y="1217036"/>
            <a:ext cx="12118428" cy="5587212"/>
          </a:xfrm>
        </p:spPr>
        <p:txBody>
          <a:bodyPr/>
          <a:lstStyle/>
          <a:p>
            <a:r>
              <a:rPr lang="zh-CN" altLang="en-US" sz="3600" dirty="0">
                <a:latin typeface="Times" pitchFamily="2" charset="0"/>
              </a:rPr>
              <a:t>关系数据库</a:t>
            </a:r>
            <a:endParaRPr lang="en-US" altLang="zh-CN" sz="3600" dirty="0">
              <a:latin typeface="Times" pitchFamily="2" charset="0"/>
            </a:endParaRPr>
          </a:p>
          <a:p>
            <a:pPr lvl="1"/>
            <a:r>
              <a:rPr lang="zh-CN" altLang="en-US" dirty="0">
                <a:latin typeface="Times" pitchFamily="2" charset="0"/>
              </a:rPr>
              <a:t>关系数据库是表的集合：</a:t>
            </a:r>
            <a:endParaRPr lang="en-US" altLang="zh-CN" dirty="0">
              <a:latin typeface="Times" pitchFamily="2" charset="0"/>
            </a:endParaRPr>
          </a:p>
          <a:p>
            <a:pPr lvl="2"/>
            <a:r>
              <a:rPr lang="zh-CN" altLang="en-US" dirty="0">
                <a:latin typeface="Times" pitchFamily="2" charset="0"/>
              </a:rPr>
              <a:t>每个表有唯一的名字</a:t>
            </a:r>
            <a:endParaRPr lang="en-US" altLang="zh-CN" dirty="0">
              <a:latin typeface="Times" pitchFamily="2" charset="0"/>
            </a:endParaRPr>
          </a:p>
          <a:p>
            <a:pPr lvl="2"/>
            <a:r>
              <a:rPr lang="zh-CN" altLang="en-US" dirty="0">
                <a:latin typeface="Times" pitchFamily="2" charset="0"/>
              </a:rPr>
              <a:t>每个表可以有多个列</a:t>
            </a:r>
          </a:p>
          <a:p>
            <a:pPr lvl="2"/>
            <a:r>
              <a:rPr lang="zh-CN" altLang="en-US" dirty="0">
                <a:latin typeface="Times" pitchFamily="2" charset="0"/>
              </a:rPr>
              <a:t>每个列有唯一的名字</a:t>
            </a:r>
          </a:p>
          <a:p>
            <a:pPr lvl="2"/>
            <a:r>
              <a:rPr lang="zh-CN" altLang="en-US" dirty="0">
                <a:latin typeface="Times" pitchFamily="2" charset="0"/>
              </a:rPr>
              <a:t>表中的一行代表的是一系列值之间的联系，即表是关系的集合</a:t>
            </a:r>
            <a:endParaRPr lang="en-US" altLang="zh-CN" sz="2800" dirty="0">
              <a:latin typeface="Times" pitchFamily="2" charset="0"/>
            </a:endParaRPr>
          </a:p>
          <a:p>
            <a:pPr lvl="1"/>
            <a:r>
              <a:rPr lang="zh-CN" altLang="en-US" b="1" u="sng" dirty="0">
                <a:latin typeface="Times" pitchFamily="2" charset="0"/>
              </a:rPr>
              <a:t>表</a:t>
            </a:r>
            <a:r>
              <a:rPr lang="zh-CN" altLang="en-US" dirty="0">
                <a:latin typeface="Times" pitchFamily="2" charset="0"/>
              </a:rPr>
              <a:t>的概念和数学上</a:t>
            </a:r>
            <a:r>
              <a:rPr lang="zh-CN" altLang="en-US" b="1" u="sng" dirty="0">
                <a:latin typeface="Times" pitchFamily="2" charset="0"/>
              </a:rPr>
              <a:t>关系</a:t>
            </a:r>
            <a:r>
              <a:rPr lang="zh-CN" altLang="en-US" dirty="0">
                <a:latin typeface="Times" pitchFamily="2" charset="0"/>
              </a:rPr>
              <a:t>的概念密切相关，这正是关系数据库名称的由来</a:t>
            </a:r>
            <a:endParaRPr lang="en-US" altLang="zh-CN" dirty="0">
              <a:latin typeface="Times" pitchFamily="2" charset="0"/>
            </a:endParaRPr>
          </a:p>
          <a:p>
            <a:r>
              <a:rPr lang="zh-CN" altLang="zh-CN" dirty="0">
                <a:latin typeface="Times" pitchFamily="2" charset="0"/>
              </a:rPr>
              <a:t>常见的关系数据库</a:t>
            </a:r>
            <a:endParaRPr lang="en-US" altLang="zh-CN" dirty="0">
              <a:latin typeface="Times" pitchFamily="2" charset="0"/>
            </a:endParaRPr>
          </a:p>
          <a:p>
            <a:pPr lvl="1"/>
            <a:r>
              <a:rPr lang="en-US" altLang="zh-CN" sz="2400" dirty="0">
                <a:latin typeface="Times" pitchFamily="2" charset="0"/>
              </a:rPr>
              <a:t>Oracle</a:t>
            </a:r>
            <a:r>
              <a:rPr lang="zh-CN" altLang="zh-CN" sz="2400" dirty="0">
                <a:latin typeface="Times" pitchFamily="2" charset="0"/>
              </a:rPr>
              <a:t> </a:t>
            </a:r>
            <a:r>
              <a:rPr lang="zh-CN" altLang="en-US" sz="2400" dirty="0">
                <a:latin typeface="Times" pitchFamily="2" charset="0"/>
              </a:rPr>
              <a:t>、</a:t>
            </a:r>
            <a:r>
              <a:rPr lang="en-US" altLang="zh-CN" sz="2400" dirty="0">
                <a:latin typeface="Times" pitchFamily="2" charset="0"/>
              </a:rPr>
              <a:t>Microsoft SQL Server</a:t>
            </a:r>
            <a:r>
              <a:rPr lang="zh-CN" altLang="zh-CN" sz="2400" dirty="0">
                <a:latin typeface="Times" pitchFamily="2" charset="0"/>
              </a:rPr>
              <a:t>、</a:t>
            </a:r>
            <a:r>
              <a:rPr lang="en-US" altLang="zh-CN" sz="2400" dirty="0">
                <a:latin typeface="Times" pitchFamily="2" charset="0"/>
              </a:rPr>
              <a:t>IBM DB2</a:t>
            </a:r>
            <a:r>
              <a:rPr lang="zh-CN" altLang="zh-CN" sz="2400" dirty="0">
                <a:latin typeface="Times" pitchFamily="2" charset="0"/>
              </a:rPr>
              <a:t>、 </a:t>
            </a:r>
            <a:r>
              <a:rPr lang="en-US" altLang="zh-CN" sz="2400" dirty="0">
                <a:latin typeface="Times" pitchFamily="2" charset="0"/>
              </a:rPr>
              <a:t>Microsoft Access</a:t>
            </a:r>
            <a:r>
              <a:rPr lang="zh-CN" altLang="zh-CN" sz="2400" dirty="0">
                <a:latin typeface="Times" pitchFamily="2" charset="0"/>
              </a:rPr>
              <a:t>、</a:t>
            </a:r>
            <a:r>
              <a:rPr lang="en-US" altLang="zh-CN" sz="2400" dirty="0">
                <a:latin typeface="Times" pitchFamily="2" charset="0"/>
              </a:rPr>
              <a:t>MySQL</a:t>
            </a:r>
            <a:r>
              <a:rPr lang="zh-CN" altLang="en-US" sz="2400" dirty="0">
                <a:latin typeface="Times" pitchFamily="2" charset="0"/>
              </a:rPr>
              <a:t>、</a:t>
            </a:r>
            <a:r>
              <a:rPr lang="en-US" altLang="zh-CN" sz="2400" dirty="0">
                <a:latin typeface="Times" pitchFamily="2" charset="0"/>
              </a:rPr>
              <a:t>SQLite</a:t>
            </a:r>
          </a:p>
          <a:p>
            <a:pPr lvl="1"/>
            <a:endParaRPr lang="en-US" altLang="zh-CN" sz="2400" dirty="0">
              <a:latin typeface="Times" pitchFamily="2" charset="0"/>
            </a:endParaRPr>
          </a:p>
          <a:p>
            <a:r>
              <a:rPr lang="zh-CN" altLang="en-US" b="1" dirty="0">
                <a:latin typeface="Times" pitchFamily="2" charset="0"/>
              </a:rPr>
              <a:t>关系数据库</a:t>
            </a:r>
            <a:r>
              <a:rPr lang="zh-CN" altLang="en-US" dirty="0">
                <a:latin typeface="Times" pitchFamily="2" charset="0"/>
              </a:rPr>
              <a:t>采用</a:t>
            </a:r>
            <a:r>
              <a:rPr lang="zh-CN" altLang="en-US" b="1" dirty="0">
                <a:latin typeface="Times" pitchFamily="2" charset="0"/>
              </a:rPr>
              <a:t>关系模型</a:t>
            </a:r>
            <a:r>
              <a:rPr lang="zh-CN" altLang="en-US" dirty="0">
                <a:latin typeface="Times" pitchFamily="2" charset="0"/>
              </a:rPr>
              <a:t>作为数据的组织方式</a:t>
            </a:r>
            <a:endParaRPr lang="en-US" altLang="zh-CN" dirty="0">
              <a:latin typeface="Times" pitchFamily="2" charset="0"/>
            </a:endParaRPr>
          </a:p>
          <a:p>
            <a:pPr marL="0" indent="0">
              <a:buNone/>
            </a:pPr>
            <a:endParaRPr lang="zh-CN" altLang="en-US" sz="2800" dirty="0">
              <a:latin typeface="Times" pitchFamily="2" charset="0"/>
            </a:endParaRPr>
          </a:p>
          <a:p>
            <a:pPr marL="0" indent="0">
              <a:buNone/>
            </a:pPr>
            <a:endParaRPr lang="zh-CN" altLang="en-US" sz="2400" dirty="0">
              <a:latin typeface="Times" pitchFamily="2" charset="0"/>
              <a:cs typeface="Arial" panose="020B0604020202020204" pitchFamily="34" charset="0"/>
            </a:endParaRPr>
          </a:p>
          <a:p>
            <a:pPr lvl="1"/>
            <a:endParaRPr lang="en-US" altLang="zh-CN" sz="2000" dirty="0">
              <a:latin typeface="Times" pitchFamily="2" charset="0"/>
              <a:cs typeface="Arial" panose="020B0604020202020204" pitchFamily="34" charset="0"/>
            </a:endParaRPr>
          </a:p>
          <a:p>
            <a:endParaRPr lang="en-US" altLang="zh-CN" sz="2400" dirty="0">
              <a:latin typeface="Times" pitchFamily="2" charset="0"/>
              <a:cs typeface="Arial" panose="020B0604020202020204" pitchFamily="34" charset="0"/>
            </a:endParaRPr>
          </a:p>
        </p:txBody>
      </p:sp>
      <p:sp>
        <p:nvSpPr>
          <p:cNvPr id="26" name="Rectangle 5">
            <a:extLst>
              <a:ext uri="{FF2B5EF4-FFF2-40B4-BE49-F238E27FC236}">
                <a16:creationId xmlns:a16="http://schemas.microsoft.com/office/drawing/2014/main" id="{5A69CB7E-97FA-9787-234F-A92784A22B38}"/>
              </a:ext>
            </a:extLst>
          </p:cNvPr>
          <p:cNvSpPr>
            <a:spLocks noChangeArrowheads="1"/>
          </p:cNvSpPr>
          <p:nvPr/>
        </p:nvSpPr>
        <p:spPr bwMode="auto">
          <a:xfrm>
            <a:off x="3728545" y="2033752"/>
            <a:ext cx="7772400" cy="518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lgn="l">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801688" indent="-357188"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258888" indent="-277813"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2266950" indent="-228600"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686050" indent="-228600"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314325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60045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405765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51485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itchFamily="2" charset="2"/>
              <a:buChar char="Ø"/>
            </a:pPr>
            <a:endParaRPr lang="zh-CN" altLang="en-US" sz="3200" dirty="0">
              <a:latin typeface="宋体" panose="02010600030101010101" pitchFamily="2" charset="-122"/>
            </a:endParaRPr>
          </a:p>
        </p:txBody>
      </p:sp>
      <p:graphicFrame>
        <p:nvGraphicFramePr>
          <p:cNvPr id="27" name="表格 26">
            <a:extLst>
              <a:ext uri="{FF2B5EF4-FFF2-40B4-BE49-F238E27FC236}">
                <a16:creationId xmlns:a16="http://schemas.microsoft.com/office/drawing/2014/main" id="{EB9D0BF6-6349-6C97-E4E4-E96E18C14415}"/>
              </a:ext>
            </a:extLst>
          </p:cNvPr>
          <p:cNvGraphicFramePr>
            <a:graphicFrameLocks noGrp="1"/>
          </p:cNvGraphicFramePr>
          <p:nvPr/>
        </p:nvGraphicFramePr>
        <p:xfrm>
          <a:off x="6222123" y="1138935"/>
          <a:ext cx="5107460" cy="2290065"/>
        </p:xfrm>
        <a:graphic>
          <a:graphicData uri="http://schemas.openxmlformats.org/drawingml/2006/table">
            <a:tbl>
              <a:tblPr firstRow="1" firstCol="1" bandRow="1">
                <a:tableStyleId>{5940675A-B579-460E-94D1-54222C63F5DA}</a:tableStyleId>
              </a:tblPr>
              <a:tblGrid>
                <a:gridCol w="1219201">
                  <a:extLst>
                    <a:ext uri="{9D8B030D-6E8A-4147-A177-3AD203B41FA5}">
                      <a16:colId xmlns:a16="http://schemas.microsoft.com/office/drawing/2014/main" val="1565780314"/>
                    </a:ext>
                  </a:extLst>
                </a:gridCol>
                <a:gridCol w="939114">
                  <a:extLst>
                    <a:ext uri="{9D8B030D-6E8A-4147-A177-3AD203B41FA5}">
                      <a16:colId xmlns:a16="http://schemas.microsoft.com/office/drawing/2014/main" val="1474837805"/>
                    </a:ext>
                  </a:extLst>
                </a:gridCol>
                <a:gridCol w="1005016">
                  <a:extLst>
                    <a:ext uri="{9D8B030D-6E8A-4147-A177-3AD203B41FA5}">
                      <a16:colId xmlns:a16="http://schemas.microsoft.com/office/drawing/2014/main" val="1388851519"/>
                    </a:ext>
                  </a:extLst>
                </a:gridCol>
                <a:gridCol w="963827">
                  <a:extLst>
                    <a:ext uri="{9D8B030D-6E8A-4147-A177-3AD203B41FA5}">
                      <a16:colId xmlns:a16="http://schemas.microsoft.com/office/drawing/2014/main" val="2368670554"/>
                    </a:ext>
                  </a:extLst>
                </a:gridCol>
                <a:gridCol w="980302">
                  <a:extLst>
                    <a:ext uri="{9D8B030D-6E8A-4147-A177-3AD203B41FA5}">
                      <a16:colId xmlns:a16="http://schemas.microsoft.com/office/drawing/2014/main" val="3585179622"/>
                    </a:ext>
                  </a:extLst>
                </a:gridCol>
              </a:tblGrid>
              <a:tr h="647510">
                <a:tc>
                  <a:txBody>
                    <a:bodyPr/>
                    <a:lstStyle/>
                    <a:p>
                      <a:pPr indent="127000" algn="ctr">
                        <a:lnSpc>
                          <a:spcPct val="150000"/>
                        </a:lnSpc>
                      </a:pPr>
                      <a:r>
                        <a:rPr lang="en-US" sz="1400" kern="100" dirty="0" err="1">
                          <a:effectLst/>
                        </a:rPr>
                        <a:t>Sno</a:t>
                      </a:r>
                      <a:endParaRPr lang="zh-CN" sz="1400" kern="100" dirty="0">
                        <a:effectLst/>
                      </a:endParaRPr>
                    </a:p>
                    <a:p>
                      <a:pPr indent="127000" algn="ctr">
                        <a:lnSpc>
                          <a:spcPct val="150000"/>
                        </a:lnSpc>
                      </a:pPr>
                      <a:r>
                        <a:rPr lang="zh-CN" sz="1400" kern="100" dirty="0">
                          <a:effectLst/>
                        </a:rPr>
                        <a:t>（学号）</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indent="127000" algn="ctr">
                        <a:lnSpc>
                          <a:spcPct val="150000"/>
                        </a:lnSpc>
                      </a:pPr>
                      <a:r>
                        <a:rPr lang="en-US" sz="1400" kern="100" dirty="0" err="1">
                          <a:effectLst/>
                        </a:rPr>
                        <a:t>Sname</a:t>
                      </a:r>
                      <a:endParaRPr lang="zh-CN" sz="1400" kern="100" dirty="0">
                        <a:effectLst/>
                      </a:endParaRPr>
                    </a:p>
                    <a:p>
                      <a:pPr indent="127000" algn="ctr">
                        <a:lnSpc>
                          <a:spcPct val="150000"/>
                        </a:lnSpc>
                      </a:pPr>
                      <a:r>
                        <a:rPr lang="zh-CN" sz="1400" kern="100" dirty="0">
                          <a:effectLst/>
                        </a:rPr>
                        <a:t>（姓名）</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indent="127000" algn="ctr">
                        <a:lnSpc>
                          <a:spcPct val="150000"/>
                        </a:lnSpc>
                      </a:pPr>
                      <a:r>
                        <a:rPr lang="en-US" sz="1400" kern="100" dirty="0" err="1">
                          <a:effectLst/>
                        </a:rPr>
                        <a:t>Sgender</a:t>
                      </a:r>
                      <a:endParaRPr lang="zh-CN" sz="1400" kern="100" dirty="0">
                        <a:effectLst/>
                      </a:endParaRPr>
                    </a:p>
                    <a:p>
                      <a:pPr indent="127000" algn="ctr">
                        <a:lnSpc>
                          <a:spcPct val="150000"/>
                        </a:lnSpc>
                      </a:pPr>
                      <a:r>
                        <a:rPr lang="zh-CN" sz="1400" kern="100" dirty="0">
                          <a:effectLst/>
                        </a:rPr>
                        <a:t>（性别）</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indent="127000" algn="ctr">
                        <a:lnSpc>
                          <a:spcPct val="150000"/>
                        </a:lnSpc>
                      </a:pPr>
                      <a:r>
                        <a:rPr lang="en-US" sz="1400" kern="100" dirty="0">
                          <a:effectLst/>
                        </a:rPr>
                        <a:t>Sage</a:t>
                      </a:r>
                      <a:endParaRPr lang="zh-CN" sz="1400" kern="100" dirty="0">
                        <a:effectLst/>
                      </a:endParaRPr>
                    </a:p>
                    <a:p>
                      <a:pPr indent="127000" algn="ctr">
                        <a:lnSpc>
                          <a:spcPct val="150000"/>
                        </a:lnSpc>
                      </a:pPr>
                      <a:r>
                        <a:rPr lang="zh-CN" sz="1400" kern="100" dirty="0">
                          <a:effectLst/>
                        </a:rPr>
                        <a:t>（年龄）</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indent="127000" algn="ctr">
                        <a:lnSpc>
                          <a:spcPct val="150000"/>
                        </a:lnSpc>
                      </a:pPr>
                      <a:r>
                        <a:rPr lang="en-US" sz="1400" kern="100" dirty="0" err="1">
                          <a:effectLst/>
                        </a:rPr>
                        <a:t>Sdept</a:t>
                      </a:r>
                      <a:endParaRPr lang="zh-CN" sz="1400" kern="100" dirty="0">
                        <a:effectLst/>
                      </a:endParaRPr>
                    </a:p>
                    <a:p>
                      <a:pPr indent="127000" algn="ctr">
                        <a:lnSpc>
                          <a:spcPct val="150000"/>
                        </a:lnSpc>
                      </a:pPr>
                      <a:r>
                        <a:rPr lang="zh-CN" sz="1400" kern="100" dirty="0">
                          <a:effectLst/>
                        </a:rPr>
                        <a:t>（所在系）</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2420608433"/>
                  </a:ext>
                </a:extLst>
              </a:tr>
              <a:tr h="328511">
                <a:tc>
                  <a:txBody>
                    <a:bodyPr/>
                    <a:lstStyle/>
                    <a:p>
                      <a:pPr indent="127000" algn="ctr">
                        <a:lnSpc>
                          <a:spcPct val="150000"/>
                        </a:lnSpc>
                      </a:pPr>
                      <a:r>
                        <a:rPr lang="en-US" sz="1400" kern="100">
                          <a:effectLst/>
                        </a:rPr>
                        <a:t>2021310721</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indent="127000" algn="ctr">
                        <a:lnSpc>
                          <a:spcPct val="150000"/>
                        </a:lnSpc>
                      </a:pPr>
                      <a:r>
                        <a:rPr lang="zh-CN" sz="1400" kern="100" dirty="0">
                          <a:effectLst/>
                        </a:rPr>
                        <a:t>李博</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indent="127000" algn="ctr">
                        <a:lnSpc>
                          <a:spcPct val="150000"/>
                        </a:lnSpc>
                      </a:pPr>
                      <a:r>
                        <a:rPr lang="zh-CN" sz="1400" kern="100" dirty="0">
                          <a:effectLst/>
                        </a:rPr>
                        <a:t>男</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indent="127000" algn="ctr">
                        <a:lnSpc>
                          <a:spcPct val="150000"/>
                        </a:lnSpc>
                      </a:pPr>
                      <a:r>
                        <a:rPr lang="en-US" sz="1400" kern="100" dirty="0">
                          <a:effectLst/>
                        </a:rPr>
                        <a:t>17</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indent="127000" algn="ctr">
                        <a:lnSpc>
                          <a:spcPct val="150000"/>
                        </a:lnSpc>
                      </a:pPr>
                      <a:r>
                        <a:rPr lang="en-US" sz="1400" kern="100">
                          <a:effectLst/>
                        </a:rPr>
                        <a:t>CS</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64775266"/>
                  </a:ext>
                </a:extLst>
              </a:tr>
              <a:tr h="328511">
                <a:tc>
                  <a:txBody>
                    <a:bodyPr/>
                    <a:lstStyle/>
                    <a:p>
                      <a:pPr indent="127000" algn="ctr">
                        <a:lnSpc>
                          <a:spcPct val="150000"/>
                        </a:lnSpc>
                      </a:pPr>
                      <a:r>
                        <a:rPr lang="en-US" sz="1400" kern="100">
                          <a:effectLst/>
                        </a:rPr>
                        <a:t>2021310722</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zh-CN" sz="1400" kern="100">
                          <a:effectLst/>
                        </a:rPr>
                        <a:t>赵宇</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zh-CN" sz="1400" kern="100" dirty="0">
                          <a:effectLst/>
                        </a:rPr>
                        <a:t>男</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400" kern="100" dirty="0">
                          <a:effectLst/>
                        </a:rPr>
                        <a:t>19</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400" kern="100">
                          <a:effectLst/>
                        </a:rPr>
                        <a:t>CS</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18054805"/>
                  </a:ext>
                </a:extLst>
              </a:tr>
              <a:tr h="328511">
                <a:tc>
                  <a:txBody>
                    <a:bodyPr/>
                    <a:lstStyle/>
                    <a:p>
                      <a:pPr indent="127000" algn="ctr">
                        <a:lnSpc>
                          <a:spcPct val="150000"/>
                        </a:lnSpc>
                      </a:pPr>
                      <a:r>
                        <a:rPr lang="en-US" sz="1400" kern="100">
                          <a:effectLst/>
                        </a:rPr>
                        <a:t>2021310723</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zh-CN" sz="1400" kern="100">
                          <a:effectLst/>
                        </a:rPr>
                        <a:t>张敏</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zh-CN" sz="1400" kern="100">
                          <a:effectLst/>
                        </a:rPr>
                        <a:t>女</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400" kern="100" dirty="0">
                          <a:effectLst/>
                        </a:rPr>
                        <a:t>18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400" kern="100" dirty="0">
                          <a:effectLst/>
                        </a:rPr>
                        <a:t>CS</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35951013"/>
                  </a:ext>
                </a:extLst>
              </a:tr>
              <a:tr h="328511">
                <a:tc>
                  <a:txBody>
                    <a:bodyPr/>
                    <a:lstStyle/>
                    <a:p>
                      <a:pPr indent="127000" algn="ctr">
                        <a:lnSpc>
                          <a:spcPct val="150000"/>
                        </a:lnSpc>
                      </a:pPr>
                      <a:r>
                        <a:rPr lang="en-US" sz="1400" kern="100">
                          <a:effectLst/>
                        </a:rPr>
                        <a:t>2021310724</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zh-CN" sz="1400" kern="100">
                          <a:effectLst/>
                        </a:rPr>
                        <a:t>王勇</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zh-CN" sz="1400" kern="100">
                          <a:effectLst/>
                        </a:rPr>
                        <a:t>男</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400" kern="100" dirty="0">
                          <a:effectLst/>
                        </a:rPr>
                        <a:t>18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400" kern="100" dirty="0">
                          <a:effectLst/>
                        </a:rPr>
                        <a:t>MA</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2511321"/>
                  </a:ext>
                </a:extLst>
              </a:tr>
              <a:tr h="328511">
                <a:tc>
                  <a:txBody>
                    <a:bodyPr/>
                    <a:lstStyle/>
                    <a:p>
                      <a:pPr indent="127000" algn="ctr">
                        <a:lnSpc>
                          <a:spcPct val="150000"/>
                        </a:lnSpc>
                      </a:pPr>
                      <a:r>
                        <a:rPr lang="en-US" sz="1400" kern="100">
                          <a:effectLst/>
                        </a:rPr>
                        <a:t>2021310725</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zh-CN" sz="1400" kern="100" dirty="0">
                          <a:effectLst/>
                        </a:rPr>
                        <a:t>刘佳</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zh-CN" sz="1400" kern="100" dirty="0">
                          <a:effectLst/>
                        </a:rPr>
                        <a:t>女</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400" kern="100" dirty="0">
                          <a:effectLst/>
                        </a:rPr>
                        <a:t>17</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400" kern="100" dirty="0">
                          <a:effectLst/>
                        </a:rPr>
                        <a:t>MA</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91235399"/>
                  </a:ext>
                </a:extLst>
              </a:tr>
            </a:tbl>
          </a:graphicData>
        </a:graphic>
      </p:graphicFrame>
      <p:sp>
        <p:nvSpPr>
          <p:cNvPr id="28" name="文本框 27">
            <a:extLst>
              <a:ext uri="{FF2B5EF4-FFF2-40B4-BE49-F238E27FC236}">
                <a16:creationId xmlns:a16="http://schemas.microsoft.com/office/drawing/2014/main" id="{6E0A3184-6281-F607-CEE2-B23672F0490B}"/>
              </a:ext>
            </a:extLst>
          </p:cNvPr>
          <p:cNvSpPr txBox="1"/>
          <p:nvPr/>
        </p:nvSpPr>
        <p:spPr>
          <a:xfrm>
            <a:off x="8199204" y="769603"/>
            <a:ext cx="1359243" cy="369332"/>
          </a:xfrm>
          <a:prstGeom prst="rect">
            <a:avLst/>
          </a:prstGeom>
          <a:noFill/>
        </p:spPr>
        <p:txBody>
          <a:bodyPr wrap="square">
            <a:spAutoFit/>
          </a:bodyPr>
          <a:lstStyle/>
          <a:p>
            <a:r>
              <a:rPr lang="en-US" altLang="zh-CN" sz="1800" dirty="0">
                <a:latin typeface="Times New Roman" panose="02020603050405020304" pitchFamily="18" charset="0"/>
                <a:ea typeface="KaiTi" panose="02010609060101010101" pitchFamily="49" charset="-122"/>
                <a:cs typeface="Times New Roman" panose="02020603050405020304" pitchFamily="18" charset="0"/>
              </a:rPr>
              <a:t>Student</a:t>
            </a:r>
            <a:r>
              <a:rPr lang="zh-CN" altLang="en-US" sz="1800" dirty="0">
                <a:latin typeface="Times New Roman" panose="02020603050405020304" pitchFamily="18" charset="0"/>
                <a:ea typeface="KaiTi" panose="02010609060101010101" pitchFamily="49" charset="-122"/>
                <a:cs typeface="Times New Roman" panose="02020603050405020304" pitchFamily="18" charset="0"/>
              </a:rPr>
              <a:t>表</a:t>
            </a:r>
            <a:endParaRPr lang="zh-CN" altLang="en-US" dirty="0"/>
          </a:p>
        </p:txBody>
      </p:sp>
      <p:sp>
        <p:nvSpPr>
          <p:cNvPr id="7" name="灯片编号占位符 1">
            <a:extLst>
              <a:ext uri="{FF2B5EF4-FFF2-40B4-BE49-F238E27FC236}">
                <a16:creationId xmlns:a16="http://schemas.microsoft.com/office/drawing/2014/main" id="{8BC68B0C-B033-D304-A02F-70F12D9C62B9}"/>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44</a:t>
            </a:fld>
            <a:endParaRPr lang="zh-CN" altLang="en-US"/>
          </a:p>
        </p:txBody>
      </p:sp>
    </p:spTree>
    <p:extLst>
      <p:ext uri="{BB962C8B-B14F-4D97-AF65-F5344CB8AC3E}">
        <p14:creationId xmlns:p14="http://schemas.microsoft.com/office/powerpoint/2010/main" val="31161171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关系模型和关系数据库</a:t>
            </a:r>
            <a:endParaRPr kumimoji="1" lang="zh-CN" altLang="en-US" dirty="0"/>
          </a:p>
        </p:txBody>
      </p:sp>
      <p:sp>
        <p:nvSpPr>
          <p:cNvPr id="4" name="内容占位符 2">
            <a:extLst>
              <a:ext uri="{FF2B5EF4-FFF2-40B4-BE49-F238E27FC236}">
                <a16:creationId xmlns:a16="http://schemas.microsoft.com/office/drawing/2014/main" id="{99E90919-814E-29FD-7353-AFE98BE01B5D}"/>
              </a:ext>
            </a:extLst>
          </p:cNvPr>
          <p:cNvSpPr>
            <a:spLocks noGrp="1"/>
          </p:cNvSpPr>
          <p:nvPr>
            <p:ph idx="1"/>
          </p:nvPr>
        </p:nvSpPr>
        <p:spPr>
          <a:xfrm>
            <a:off x="367553" y="980553"/>
            <a:ext cx="11456894" cy="4848747"/>
          </a:xfrm>
        </p:spPr>
        <p:txBody>
          <a:bodyPr/>
          <a:lstStyle/>
          <a:p>
            <a:r>
              <a:rPr lang="en-US" altLang="zh-CN" dirty="0">
                <a:latin typeface="Times" pitchFamily="2" charset="0"/>
              </a:rPr>
              <a:t>1970</a:t>
            </a:r>
            <a:r>
              <a:rPr lang="zh-CN" altLang="zh-CN" dirty="0">
                <a:latin typeface="Times" pitchFamily="2" charset="0"/>
              </a:rPr>
              <a:t>年，</a:t>
            </a:r>
            <a:r>
              <a:rPr lang="en-US" altLang="zh-CN" dirty="0">
                <a:latin typeface="Times" pitchFamily="2" charset="0"/>
              </a:rPr>
              <a:t>IBM</a:t>
            </a:r>
            <a:r>
              <a:rPr lang="zh-CN" altLang="zh-CN" dirty="0">
                <a:latin typeface="Times" pitchFamily="2" charset="0"/>
              </a:rPr>
              <a:t>公司的埃德加</a:t>
            </a:r>
            <a:r>
              <a:rPr lang="en-US" altLang="zh-CN" dirty="0">
                <a:latin typeface="Times" pitchFamily="2" charset="0"/>
              </a:rPr>
              <a:t>·</a:t>
            </a:r>
            <a:r>
              <a:rPr lang="zh-CN" altLang="zh-CN" dirty="0">
                <a:latin typeface="Times" pitchFamily="2" charset="0"/>
              </a:rPr>
              <a:t>科德（</a:t>
            </a:r>
            <a:r>
              <a:rPr lang="en-US" altLang="zh-CN" dirty="0">
                <a:latin typeface="Times" pitchFamily="2" charset="0"/>
              </a:rPr>
              <a:t>Edgar F. Codd</a:t>
            </a:r>
            <a:r>
              <a:rPr lang="zh-CN" altLang="zh-CN" dirty="0">
                <a:latin typeface="Times" pitchFamily="2" charset="0"/>
              </a:rPr>
              <a:t>）首次提出了关系模型的概念</a:t>
            </a:r>
            <a:r>
              <a:rPr lang="zh-CN" altLang="en-US" dirty="0">
                <a:latin typeface="Times" pitchFamily="2" charset="0"/>
              </a:rPr>
              <a:t>。</a:t>
            </a:r>
            <a:endParaRPr lang="en-US" altLang="zh-CN" dirty="0">
              <a:latin typeface="Times" pitchFamily="2" charset="0"/>
            </a:endParaRPr>
          </a:p>
          <a:p>
            <a:pPr algn="just">
              <a:lnSpc>
                <a:spcPct val="140000"/>
              </a:lnSpc>
            </a:pPr>
            <a:r>
              <a:rPr lang="zh-CN" altLang="en-US" dirty="0">
                <a:latin typeface="Times" pitchFamily="2" charset="0"/>
              </a:rPr>
              <a:t>之后，提出了关系代数和关系演算的概念</a:t>
            </a:r>
          </a:p>
          <a:p>
            <a:pPr algn="just">
              <a:lnSpc>
                <a:spcPct val="140000"/>
              </a:lnSpc>
            </a:pPr>
            <a:r>
              <a:rPr lang="en-US" altLang="zh-CN" dirty="0">
                <a:latin typeface="Times" pitchFamily="2" charset="0"/>
              </a:rPr>
              <a:t>1972</a:t>
            </a:r>
            <a:r>
              <a:rPr lang="zh-CN" altLang="en-US" dirty="0">
                <a:latin typeface="Times" pitchFamily="2" charset="0"/>
              </a:rPr>
              <a:t>年提出了关系的第一、第二、第三范式</a:t>
            </a:r>
          </a:p>
          <a:p>
            <a:pPr algn="just">
              <a:lnSpc>
                <a:spcPct val="140000"/>
              </a:lnSpc>
            </a:pPr>
            <a:r>
              <a:rPr lang="en-US" altLang="zh-CN" dirty="0">
                <a:latin typeface="Times" pitchFamily="2" charset="0"/>
              </a:rPr>
              <a:t>1974</a:t>
            </a:r>
            <a:r>
              <a:rPr lang="zh-CN" altLang="en-US" dirty="0">
                <a:latin typeface="Times" pitchFamily="2" charset="0"/>
              </a:rPr>
              <a:t>年提出了关系的巴斯科德范式</a:t>
            </a:r>
            <a:endParaRPr lang="en-US" altLang="zh-CN" dirty="0">
              <a:latin typeface="Times" pitchFamily="2" charset="0"/>
            </a:endParaRPr>
          </a:p>
          <a:p>
            <a:pPr algn="just">
              <a:lnSpc>
                <a:spcPct val="140000"/>
              </a:lnSpc>
            </a:pPr>
            <a:r>
              <a:rPr lang="en-US" altLang="zh-CN" dirty="0">
                <a:latin typeface="Times" pitchFamily="2" charset="0"/>
              </a:rPr>
              <a:t>1981</a:t>
            </a:r>
            <a:r>
              <a:rPr lang="zh-CN" altLang="zh-CN" dirty="0">
                <a:latin typeface="Times" pitchFamily="2" charset="0"/>
              </a:rPr>
              <a:t>年，</a:t>
            </a:r>
            <a:r>
              <a:rPr lang="en-US" altLang="zh-CN" dirty="0">
                <a:latin typeface="Times" pitchFamily="2" charset="0"/>
              </a:rPr>
              <a:t>ACM</a:t>
            </a:r>
            <a:r>
              <a:rPr lang="zh-CN" altLang="zh-CN" dirty="0">
                <a:latin typeface="Times" pitchFamily="2" charset="0"/>
              </a:rPr>
              <a:t>授予埃德加</a:t>
            </a:r>
            <a:r>
              <a:rPr lang="en-US" altLang="zh-CN" dirty="0">
                <a:latin typeface="Times" pitchFamily="2" charset="0"/>
              </a:rPr>
              <a:t>·</a:t>
            </a:r>
            <a:r>
              <a:rPr lang="zh-CN" altLang="zh-CN" dirty="0">
                <a:latin typeface="Times" pitchFamily="2" charset="0"/>
              </a:rPr>
              <a:t>科德图灵奖，以表彰他在关系数据库研究方面的杰出贡献。</a:t>
            </a:r>
            <a:endParaRPr lang="en-US" altLang="zh-CN" dirty="0">
              <a:latin typeface="Times" pitchFamily="2" charset="0"/>
            </a:endParaRPr>
          </a:p>
          <a:p>
            <a:pPr algn="just">
              <a:lnSpc>
                <a:spcPct val="140000"/>
              </a:lnSpc>
            </a:pPr>
            <a:endParaRPr lang="zh-CN" altLang="en-US" dirty="0">
              <a:latin typeface="Times" pitchFamily="2" charset="0"/>
            </a:endParaRPr>
          </a:p>
          <a:p>
            <a:pPr lvl="1"/>
            <a:endParaRPr lang="en-US" altLang="zh-CN" sz="2000" dirty="0">
              <a:latin typeface="Times" pitchFamily="2" charset="0"/>
              <a:cs typeface="Arial" panose="020B0604020202020204" pitchFamily="34" charset="0"/>
            </a:endParaRPr>
          </a:p>
          <a:p>
            <a:endParaRPr lang="en-US" altLang="zh-CN" sz="2400" dirty="0">
              <a:latin typeface="Times" pitchFamily="2" charset="0"/>
              <a:cs typeface="Arial" panose="020B0604020202020204" pitchFamily="34" charset="0"/>
            </a:endParaRPr>
          </a:p>
        </p:txBody>
      </p:sp>
      <p:pic>
        <p:nvPicPr>
          <p:cNvPr id="8194" name="Picture 2" descr="upload.wikimedia.org/wikipedia/en/5/58/Edgar_F_...">
            <a:extLst>
              <a:ext uri="{FF2B5EF4-FFF2-40B4-BE49-F238E27FC236}">
                <a16:creationId xmlns:a16="http://schemas.microsoft.com/office/drawing/2014/main" id="{8BCB8368-B943-75C3-D973-B5E6903166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4756" y="1701175"/>
            <a:ext cx="1462118" cy="207884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23DCF512-5483-A243-002C-37A7E50046F8}"/>
              </a:ext>
            </a:extLst>
          </p:cNvPr>
          <p:cNvSpPr txBox="1"/>
          <p:nvPr/>
        </p:nvSpPr>
        <p:spPr>
          <a:xfrm>
            <a:off x="9794756" y="3843680"/>
            <a:ext cx="1789386" cy="369332"/>
          </a:xfrm>
          <a:prstGeom prst="rect">
            <a:avLst/>
          </a:prstGeom>
          <a:noFill/>
        </p:spPr>
        <p:txBody>
          <a:bodyPr wrap="square">
            <a:spAutoFit/>
          </a:bodyPr>
          <a:lstStyle/>
          <a:p>
            <a:r>
              <a:rPr lang="zh-CN" altLang="zh-CN" b="1" dirty="0">
                <a:latin typeface="SimHei" panose="02010609060101010101" pitchFamily="49" charset="-122"/>
                <a:ea typeface="SimHei" panose="02010609060101010101" pitchFamily="49" charset="-122"/>
              </a:rPr>
              <a:t>埃德加</a:t>
            </a:r>
            <a:r>
              <a:rPr lang="en-US" altLang="zh-CN" b="1" dirty="0">
                <a:latin typeface="SimHei" panose="02010609060101010101" pitchFamily="49" charset="-122"/>
                <a:ea typeface="SimHei" panose="02010609060101010101" pitchFamily="49" charset="-122"/>
              </a:rPr>
              <a:t>·</a:t>
            </a:r>
            <a:r>
              <a:rPr lang="zh-CN" altLang="zh-CN" b="1" dirty="0">
                <a:latin typeface="SimHei" panose="02010609060101010101" pitchFamily="49" charset="-122"/>
                <a:ea typeface="SimHei" panose="02010609060101010101" pitchFamily="49" charset="-122"/>
              </a:rPr>
              <a:t>科德</a:t>
            </a:r>
            <a:endParaRPr lang="zh-CN" altLang="en-US" b="1" dirty="0">
              <a:latin typeface="SimHei" panose="02010609060101010101" pitchFamily="49" charset="-122"/>
              <a:ea typeface="SimHei" panose="02010609060101010101" pitchFamily="49" charset="-122"/>
            </a:endParaRPr>
          </a:p>
        </p:txBody>
      </p:sp>
      <p:sp>
        <p:nvSpPr>
          <p:cNvPr id="7" name="灯片编号占位符 1">
            <a:extLst>
              <a:ext uri="{FF2B5EF4-FFF2-40B4-BE49-F238E27FC236}">
                <a16:creationId xmlns:a16="http://schemas.microsoft.com/office/drawing/2014/main" id="{65DBEB02-F1DF-5A23-6C7C-0D54DF86EEF6}"/>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45</a:t>
            </a:fld>
            <a:endParaRPr lang="zh-CN" altLang="en-US" dirty="0"/>
          </a:p>
        </p:txBody>
      </p:sp>
    </p:spTree>
    <p:extLst>
      <p:ext uri="{BB962C8B-B14F-4D97-AF65-F5344CB8AC3E}">
        <p14:creationId xmlns:p14="http://schemas.microsoft.com/office/powerpoint/2010/main" val="41272664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p:txBody>
          <a:bodyPr/>
          <a:lstStyle/>
          <a:p>
            <a:pPr>
              <a:buFont typeface="Wingdings" pitchFamily="2" charset="2"/>
              <a:buChar char="l"/>
            </a:pPr>
            <a:r>
              <a:rPr lang="zh-CN" altLang="en-US" sz="2800" dirty="0">
                <a:solidFill>
                  <a:schemeClr val="tx1">
                    <a:lumMod val="50000"/>
                    <a:lumOff val="50000"/>
                  </a:schemeClr>
                </a:solidFill>
                <a:latin typeface="Times" pitchFamily="2" charset="0"/>
              </a:rPr>
              <a:t>层次和网状数据库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关系数据库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en-US" altLang="zh-CN" sz="2800" dirty="0">
                <a:latin typeface="Times" pitchFamily="2" charset="0"/>
              </a:rPr>
              <a:t>OLTP</a:t>
            </a:r>
            <a:r>
              <a:rPr lang="zh-CN" altLang="en-US" sz="2800" dirty="0">
                <a:latin typeface="Times" pitchFamily="2" charset="0"/>
              </a:rPr>
              <a:t>、</a:t>
            </a:r>
            <a:r>
              <a:rPr lang="en-US" altLang="zh-CN" sz="2800" dirty="0">
                <a:latin typeface="Times" pitchFamily="2" charset="0"/>
              </a:rPr>
              <a:t>OLAP</a:t>
            </a:r>
            <a:r>
              <a:rPr lang="zh-CN" altLang="en-US" sz="2800" dirty="0">
                <a:latin typeface="Times" pitchFamily="2" charset="0"/>
              </a:rPr>
              <a:t>与</a:t>
            </a:r>
            <a:r>
              <a:rPr lang="en-US" altLang="zh-CN" sz="2800" dirty="0">
                <a:latin typeface="Times" pitchFamily="2" charset="0"/>
              </a:rPr>
              <a:t>HTAP</a:t>
            </a:r>
            <a:r>
              <a:rPr lang="zh-CN" altLang="en-US" sz="2800" dirty="0">
                <a:latin typeface="Times" pitchFamily="2" charset="0"/>
              </a:rPr>
              <a:t>数据库</a:t>
            </a:r>
            <a:endParaRPr lang="en-US" altLang="zh-CN" sz="2800" dirty="0">
              <a:latin typeface="Times" pitchFamily="2" charset="0"/>
            </a:endParaRPr>
          </a:p>
          <a:p>
            <a:pPr>
              <a:buFont typeface="Wingdings" pitchFamily="2" charset="2"/>
              <a:buChar char="l"/>
            </a:pPr>
            <a:r>
              <a:rPr lang="en-US" altLang="zh-CN" sz="2800" dirty="0">
                <a:solidFill>
                  <a:schemeClr val="tx1">
                    <a:lumMod val="50000"/>
                    <a:lumOff val="50000"/>
                  </a:schemeClr>
                </a:solidFill>
                <a:latin typeface="Times" pitchFamily="2" charset="0"/>
              </a:rPr>
              <a:t>NoSQL</a:t>
            </a:r>
            <a:r>
              <a:rPr lang="zh-CN" altLang="en-US" sz="2800" dirty="0">
                <a:solidFill>
                  <a:schemeClr val="tx1">
                    <a:lumMod val="50000"/>
                    <a:lumOff val="50000"/>
                  </a:schemeClr>
                </a:solidFill>
                <a:latin typeface="Times" pitchFamily="2" charset="0"/>
              </a:rPr>
              <a:t>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分布式数据库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内存数据库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云数据库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其它类型数据库</a:t>
            </a:r>
            <a:endParaRPr lang="en-US" altLang="zh-CN" sz="28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实时数据库</a:t>
            </a:r>
            <a:endParaRPr lang="en-US" altLang="zh-CN" sz="24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并行数据库</a:t>
            </a:r>
            <a:endParaRPr lang="en-US" altLang="zh-CN" sz="24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终端数据库</a:t>
            </a: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数据库发展史概览</a:t>
            </a:r>
          </a:p>
        </p:txBody>
      </p:sp>
      <p:pic>
        <p:nvPicPr>
          <p:cNvPr id="4" name="图片 3">
            <a:extLst>
              <a:ext uri="{FF2B5EF4-FFF2-40B4-BE49-F238E27FC236}">
                <a16:creationId xmlns:a16="http://schemas.microsoft.com/office/drawing/2014/main" id="{60ED12C6-759A-07BF-765A-0E56422F1245}"/>
              </a:ext>
            </a:extLst>
          </p:cNvPr>
          <p:cNvPicPr>
            <a:picLocks noChangeAspect="1"/>
          </p:cNvPicPr>
          <p:nvPr/>
        </p:nvPicPr>
        <p:blipFill>
          <a:blip r:embed="rId2"/>
          <a:stretch>
            <a:fillRect/>
          </a:stretch>
        </p:blipFill>
        <p:spPr>
          <a:xfrm>
            <a:off x="8859520" y="4958475"/>
            <a:ext cx="2810510" cy="1689950"/>
          </a:xfrm>
          <a:prstGeom prst="rect">
            <a:avLst/>
          </a:prstGeom>
        </p:spPr>
      </p:pic>
      <p:pic>
        <p:nvPicPr>
          <p:cNvPr id="5" name="Picture 2" descr="PostgreSQL Elephant Logo">
            <a:extLst>
              <a:ext uri="{FF2B5EF4-FFF2-40B4-BE49-F238E27FC236}">
                <a16:creationId xmlns:a16="http://schemas.microsoft.com/office/drawing/2014/main" id="{9AC9BF95-67D0-3871-2C06-C04A69BB7E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4420" y="5212823"/>
            <a:ext cx="1353185" cy="139583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Neo4j logo">
            <a:extLst>
              <a:ext uri="{FF2B5EF4-FFF2-40B4-BE49-F238E27FC236}">
                <a16:creationId xmlns:a16="http://schemas.microsoft.com/office/drawing/2014/main" id="{AC77A613-3452-5ABC-28EB-2F46994549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8536" y="3913744"/>
            <a:ext cx="2004954" cy="72907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dis logo">
            <a:extLst>
              <a:ext uri="{FF2B5EF4-FFF2-40B4-BE49-F238E27FC236}">
                <a16:creationId xmlns:a16="http://schemas.microsoft.com/office/drawing/2014/main" id="{81A7B719-CB14-88EE-04D2-C8D2E405DF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84080" y="3914046"/>
            <a:ext cx="1977614" cy="729074"/>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6" descr="MongoDB logo">
            <a:extLst>
              <a:ext uri="{FF2B5EF4-FFF2-40B4-BE49-F238E27FC236}">
                <a16:creationId xmlns:a16="http://schemas.microsoft.com/office/drawing/2014/main" id="{7E40835E-5FB1-2417-933C-90BE3DA644F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 name="图片 9">
            <a:extLst>
              <a:ext uri="{FF2B5EF4-FFF2-40B4-BE49-F238E27FC236}">
                <a16:creationId xmlns:a16="http://schemas.microsoft.com/office/drawing/2014/main" id="{21B986D6-51FA-D013-EC20-2DE64654C4CD}"/>
              </a:ext>
            </a:extLst>
          </p:cNvPr>
          <p:cNvPicPr>
            <a:picLocks noChangeAspect="1"/>
          </p:cNvPicPr>
          <p:nvPr/>
        </p:nvPicPr>
        <p:blipFill>
          <a:blip r:embed="rId6"/>
          <a:stretch>
            <a:fillRect/>
          </a:stretch>
        </p:blipFill>
        <p:spPr>
          <a:xfrm>
            <a:off x="9293317" y="2845968"/>
            <a:ext cx="2356393" cy="833554"/>
          </a:xfrm>
          <a:prstGeom prst="rect">
            <a:avLst/>
          </a:prstGeom>
        </p:spPr>
      </p:pic>
      <p:pic>
        <p:nvPicPr>
          <p:cNvPr id="2058" name="Picture 10" descr="MongoDB gets a data lake, new security features and more | TechCrunch">
            <a:extLst>
              <a:ext uri="{FF2B5EF4-FFF2-40B4-BE49-F238E27FC236}">
                <a16:creationId xmlns:a16="http://schemas.microsoft.com/office/drawing/2014/main" id="{FD4466B4-BF39-EAA2-C477-E8091C6F4AB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69070" y="2037705"/>
            <a:ext cx="2580640" cy="696907"/>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SQLite - Wikipedia">
            <a:extLst>
              <a:ext uri="{FF2B5EF4-FFF2-40B4-BE49-F238E27FC236}">
                <a16:creationId xmlns:a16="http://schemas.microsoft.com/office/drawing/2014/main" id="{365E81DD-E7AB-75AF-5379-4DFAFB0D03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34246" y="2759489"/>
            <a:ext cx="1613535" cy="765169"/>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Oracle Database : Fujitsu EMEIA">
            <a:extLst>
              <a:ext uri="{FF2B5EF4-FFF2-40B4-BE49-F238E27FC236}">
                <a16:creationId xmlns:a16="http://schemas.microsoft.com/office/drawing/2014/main" id="{7D5D036E-43D5-4753-B5F9-A452DE0CD62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38536" y="1751328"/>
            <a:ext cx="1981244" cy="76517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1">
            <a:extLst>
              <a:ext uri="{FF2B5EF4-FFF2-40B4-BE49-F238E27FC236}">
                <a16:creationId xmlns:a16="http://schemas.microsoft.com/office/drawing/2014/main" id="{E6D16C8F-20E1-7F11-61FA-DF84F1BBFBC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46</a:t>
            </a:fld>
            <a:endParaRPr lang="zh-CN" altLang="en-US"/>
          </a:p>
        </p:txBody>
      </p:sp>
    </p:spTree>
    <p:extLst>
      <p:ext uri="{BB962C8B-B14F-4D97-AF65-F5344CB8AC3E}">
        <p14:creationId xmlns:p14="http://schemas.microsoft.com/office/powerpoint/2010/main" val="19206467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latin typeface="Times" pitchFamily="2" charset="0"/>
              </a:rPr>
              <a:t>OLTP</a:t>
            </a:r>
            <a:r>
              <a:rPr lang="zh-CN" altLang="en-US" dirty="0">
                <a:latin typeface="Times" pitchFamily="2" charset="0"/>
              </a:rPr>
              <a:t>、</a:t>
            </a:r>
            <a:r>
              <a:rPr lang="en-US" altLang="zh-CN" dirty="0">
                <a:latin typeface="Times" pitchFamily="2" charset="0"/>
              </a:rPr>
              <a:t>OLAP</a:t>
            </a:r>
            <a:r>
              <a:rPr lang="zh-CN" altLang="en-US" dirty="0">
                <a:latin typeface="Times" pitchFamily="2" charset="0"/>
              </a:rPr>
              <a:t>与</a:t>
            </a:r>
            <a:r>
              <a:rPr lang="en-US" altLang="zh-CN" dirty="0">
                <a:latin typeface="Times" pitchFamily="2" charset="0"/>
              </a:rPr>
              <a:t>HTAP</a:t>
            </a:r>
            <a:r>
              <a:rPr lang="zh-CN" altLang="en-US" dirty="0">
                <a:latin typeface="Times" pitchFamily="2" charset="0"/>
              </a:rPr>
              <a:t>数据库</a:t>
            </a:r>
            <a:endParaRPr lang="en-US" altLang="zh-CN" dirty="0">
              <a:latin typeface="Times" pitchFamily="2" charset="0"/>
            </a:endParaRPr>
          </a:p>
        </p:txBody>
      </p:sp>
      <p:sp>
        <p:nvSpPr>
          <p:cNvPr id="4" name="内容占位符 2">
            <a:extLst>
              <a:ext uri="{FF2B5EF4-FFF2-40B4-BE49-F238E27FC236}">
                <a16:creationId xmlns:a16="http://schemas.microsoft.com/office/drawing/2014/main" id="{99E90919-814E-29FD-7353-AFE98BE01B5D}"/>
              </a:ext>
            </a:extLst>
          </p:cNvPr>
          <p:cNvSpPr>
            <a:spLocks noGrp="1"/>
          </p:cNvSpPr>
          <p:nvPr>
            <p:ph idx="1"/>
          </p:nvPr>
        </p:nvSpPr>
        <p:spPr>
          <a:xfrm>
            <a:off x="288551" y="947643"/>
            <a:ext cx="11456894" cy="1287930"/>
          </a:xfrm>
        </p:spPr>
        <p:txBody>
          <a:bodyPr/>
          <a:lstStyle/>
          <a:p>
            <a:r>
              <a:rPr lang="en-US" altLang="zh-CN" sz="2400" dirty="0">
                <a:latin typeface="Times" pitchFamily="2" charset="0"/>
              </a:rPr>
              <a:t>OLTP</a:t>
            </a:r>
            <a:r>
              <a:rPr lang="zh-CN" altLang="en-US" sz="2400" dirty="0">
                <a:latin typeface="Times" pitchFamily="2" charset="0"/>
              </a:rPr>
              <a:t>、</a:t>
            </a:r>
            <a:r>
              <a:rPr lang="en-US" altLang="zh-CN" sz="2400" dirty="0">
                <a:latin typeface="Times" pitchFamily="2" charset="0"/>
              </a:rPr>
              <a:t>OLAP</a:t>
            </a:r>
            <a:r>
              <a:rPr lang="zh-CN" altLang="en-US" sz="2400" dirty="0">
                <a:latin typeface="Times" pitchFamily="2" charset="0"/>
              </a:rPr>
              <a:t>与</a:t>
            </a:r>
            <a:r>
              <a:rPr lang="en-US" altLang="zh-CN" sz="2400" dirty="0">
                <a:latin typeface="Times" pitchFamily="2" charset="0"/>
              </a:rPr>
              <a:t>HTAP</a:t>
            </a:r>
            <a:r>
              <a:rPr lang="zh-CN" altLang="en-US" sz="2400" dirty="0">
                <a:latin typeface="Times" pitchFamily="2" charset="0"/>
              </a:rPr>
              <a:t>数据库发展历程（随着应用场景、数据量等特点的衍化）</a:t>
            </a:r>
            <a:endParaRPr lang="en-US" altLang="zh-CN" sz="2000" dirty="0">
              <a:latin typeface="Times" pitchFamily="2" charset="0"/>
              <a:cs typeface="Arial" panose="020B0604020202020204" pitchFamily="34" charset="0"/>
            </a:endParaRPr>
          </a:p>
          <a:p>
            <a:endParaRPr lang="en-US" altLang="zh-CN" sz="2400" dirty="0">
              <a:latin typeface="Times" pitchFamily="2" charset="0"/>
              <a:cs typeface="Arial" panose="020B0604020202020204" pitchFamily="34" charset="0"/>
            </a:endParaRPr>
          </a:p>
        </p:txBody>
      </p:sp>
      <p:sp>
        <p:nvSpPr>
          <p:cNvPr id="10" name="文本框 9">
            <a:extLst>
              <a:ext uri="{FF2B5EF4-FFF2-40B4-BE49-F238E27FC236}">
                <a16:creationId xmlns:a16="http://schemas.microsoft.com/office/drawing/2014/main" id="{9F552885-9DBC-03B3-77A7-CB791ED8CD1F}"/>
              </a:ext>
            </a:extLst>
          </p:cNvPr>
          <p:cNvSpPr txBox="1"/>
          <p:nvPr/>
        </p:nvSpPr>
        <p:spPr>
          <a:xfrm>
            <a:off x="44723" y="4118432"/>
            <a:ext cx="2156346" cy="1541448"/>
          </a:xfrm>
          <a:prstGeom prst="rect">
            <a:avLst/>
          </a:prstGeom>
          <a:noFill/>
        </p:spPr>
        <p:txBody>
          <a:bodyPr wrap="square">
            <a:spAutoFit/>
          </a:bodyPr>
          <a:lstStyle/>
          <a:p>
            <a:pPr marL="285750" indent="-285750">
              <a:spcAft>
                <a:spcPts val="500"/>
              </a:spcAft>
              <a:buFont typeface="Arial" panose="020B0604020202020204" pitchFamily="34" charset="0"/>
              <a:buChar char="•"/>
            </a:pPr>
            <a:r>
              <a:rPr lang="zh-CN" altLang="en-US" dirty="0">
                <a:solidFill>
                  <a:srgbClr val="000000"/>
                </a:solidFill>
                <a:effectLst/>
                <a:latin typeface="SimHei" panose="02010609060101010101" pitchFamily="49" charset="-122"/>
                <a:ea typeface="SimHei" panose="02010609060101010101" pitchFamily="49" charset="-122"/>
              </a:rPr>
              <a:t>动机：主要为了处理业务数据</a:t>
            </a:r>
            <a:endParaRPr lang="en-US" altLang="zh-CN" dirty="0">
              <a:solidFill>
                <a:srgbClr val="000000"/>
              </a:solidFill>
              <a:effectLst/>
              <a:latin typeface="SimHei" panose="02010609060101010101" pitchFamily="49" charset="-122"/>
              <a:ea typeface="SimHei" panose="02010609060101010101" pitchFamily="49" charset="-122"/>
            </a:endParaRPr>
          </a:p>
          <a:p>
            <a:pPr marL="285750" indent="-285750">
              <a:spcAft>
                <a:spcPts val="500"/>
              </a:spcAft>
              <a:buFont typeface="Arial" panose="020B0604020202020204" pitchFamily="34" charset="0"/>
              <a:buChar char="•"/>
            </a:pPr>
            <a:r>
              <a:rPr lang="en" altLang="zh-CN" dirty="0">
                <a:solidFill>
                  <a:srgbClr val="000000"/>
                </a:solidFill>
                <a:effectLst/>
                <a:latin typeface="SimHei" panose="02010609060101010101" pitchFamily="49" charset="-122"/>
                <a:ea typeface="SimHei" panose="02010609060101010101" pitchFamily="49" charset="-122"/>
              </a:rPr>
              <a:t>OLTP</a:t>
            </a:r>
            <a:r>
              <a:rPr lang="zh-CN" altLang="en-US" dirty="0">
                <a:solidFill>
                  <a:srgbClr val="000000"/>
                </a:solidFill>
                <a:effectLst/>
                <a:latin typeface="SimHei" panose="02010609060101010101" pitchFamily="49" charset="-122"/>
                <a:ea typeface="SimHei" panose="02010609060101010101" pitchFamily="49" charset="-122"/>
              </a:rPr>
              <a:t>每一条写入操作往往对应一条业务记录。</a:t>
            </a:r>
          </a:p>
        </p:txBody>
      </p:sp>
      <p:sp>
        <p:nvSpPr>
          <p:cNvPr id="19" name="文本框 18">
            <a:extLst>
              <a:ext uri="{FF2B5EF4-FFF2-40B4-BE49-F238E27FC236}">
                <a16:creationId xmlns:a16="http://schemas.microsoft.com/office/drawing/2014/main" id="{A64D3938-63B1-C40B-35CF-09CAFD482545}"/>
              </a:ext>
            </a:extLst>
          </p:cNvPr>
          <p:cNvSpPr txBox="1"/>
          <p:nvPr/>
        </p:nvSpPr>
        <p:spPr>
          <a:xfrm>
            <a:off x="2278607" y="4118432"/>
            <a:ext cx="3042693" cy="1541448"/>
          </a:xfrm>
          <a:prstGeom prst="rect">
            <a:avLst/>
          </a:prstGeom>
          <a:noFill/>
        </p:spPr>
        <p:txBody>
          <a:bodyPr wrap="square">
            <a:spAutoFit/>
          </a:bodyPr>
          <a:lstStyle/>
          <a:p>
            <a:pPr marL="285750" indent="-285750">
              <a:spcAft>
                <a:spcPts val="500"/>
              </a:spcAft>
              <a:buFont typeface="Arial" panose="020B0604020202020204" pitchFamily="34" charset="0"/>
              <a:buChar char="•"/>
            </a:pPr>
            <a:r>
              <a:rPr lang="zh-CN" altLang="en-US" dirty="0">
                <a:solidFill>
                  <a:srgbClr val="000000"/>
                </a:solidFill>
                <a:effectLst/>
                <a:latin typeface="SimHei" panose="02010609060101010101" pitchFamily="49" charset="-122"/>
                <a:ea typeface="SimHei" panose="02010609060101010101" pitchFamily="49" charset="-122"/>
              </a:rPr>
              <a:t>动机：如何从日积月累的大量数据中做数据分析，挖掘数据的价值</a:t>
            </a:r>
            <a:endParaRPr lang="en-US" altLang="zh-CN" dirty="0">
              <a:solidFill>
                <a:srgbClr val="000000"/>
              </a:solidFill>
              <a:effectLst/>
              <a:latin typeface="SimHei" panose="02010609060101010101" pitchFamily="49" charset="-122"/>
              <a:ea typeface="SimHei" panose="02010609060101010101" pitchFamily="49" charset="-122"/>
            </a:endParaRPr>
          </a:p>
          <a:p>
            <a:pPr marL="285750" indent="-285750">
              <a:spcAft>
                <a:spcPts val="500"/>
              </a:spcAft>
              <a:buFont typeface="Arial" panose="020B0604020202020204" pitchFamily="34" charset="0"/>
              <a:buChar char="•"/>
            </a:pPr>
            <a:r>
              <a:rPr lang="en" altLang="zh-CN" dirty="0">
                <a:solidFill>
                  <a:srgbClr val="000000"/>
                </a:solidFill>
                <a:effectLst/>
                <a:latin typeface="SimHei" panose="02010609060101010101" pitchFamily="49" charset="-122"/>
                <a:ea typeface="SimHei" panose="02010609060101010101" pitchFamily="49" charset="-122"/>
              </a:rPr>
              <a:t>OLAP</a:t>
            </a:r>
            <a:r>
              <a:rPr lang="zh-CN" altLang="en-US" dirty="0">
                <a:solidFill>
                  <a:srgbClr val="000000"/>
                </a:solidFill>
                <a:effectLst/>
                <a:latin typeface="SimHei" panose="02010609060101010101" pitchFamily="49" charset="-122"/>
                <a:ea typeface="SimHei" panose="02010609060101010101" pitchFamily="49" charset="-122"/>
              </a:rPr>
              <a:t>定期从</a:t>
            </a:r>
            <a:r>
              <a:rPr lang="en" altLang="zh-CN" dirty="0">
                <a:solidFill>
                  <a:srgbClr val="000000"/>
                </a:solidFill>
                <a:effectLst/>
                <a:latin typeface="SimHei" panose="02010609060101010101" pitchFamily="49" charset="-122"/>
                <a:ea typeface="SimHei" panose="02010609060101010101" pitchFamily="49" charset="-122"/>
              </a:rPr>
              <a:t>OLTP</a:t>
            </a:r>
            <a:r>
              <a:rPr lang="zh-CN" altLang="en-US" dirty="0">
                <a:solidFill>
                  <a:srgbClr val="000000"/>
                </a:solidFill>
                <a:effectLst/>
                <a:latin typeface="SimHei" panose="02010609060101010101" pitchFamily="49" charset="-122"/>
                <a:ea typeface="SimHei" panose="02010609060101010101" pitchFamily="49" charset="-122"/>
              </a:rPr>
              <a:t>经过</a:t>
            </a:r>
            <a:r>
              <a:rPr lang="en" altLang="zh-CN" dirty="0">
                <a:solidFill>
                  <a:srgbClr val="000000"/>
                </a:solidFill>
                <a:effectLst/>
                <a:latin typeface="SimHei" panose="02010609060101010101" pitchFamily="49" charset="-122"/>
                <a:ea typeface="SimHei" panose="02010609060101010101" pitchFamily="49" charset="-122"/>
              </a:rPr>
              <a:t>ETL</a:t>
            </a:r>
            <a:r>
              <a:rPr lang="zh-CN" altLang="en-US" dirty="0">
                <a:solidFill>
                  <a:srgbClr val="000000"/>
                </a:solidFill>
                <a:effectLst/>
                <a:latin typeface="SimHei" panose="02010609060101010101" pitchFamily="49" charset="-122"/>
                <a:ea typeface="SimHei" panose="02010609060101010101" pitchFamily="49" charset="-122"/>
              </a:rPr>
              <a:t>提取数据，用于数据分析。</a:t>
            </a:r>
          </a:p>
        </p:txBody>
      </p:sp>
      <p:sp>
        <p:nvSpPr>
          <p:cNvPr id="20" name="文本框 19">
            <a:extLst>
              <a:ext uri="{FF2B5EF4-FFF2-40B4-BE49-F238E27FC236}">
                <a16:creationId xmlns:a16="http://schemas.microsoft.com/office/drawing/2014/main" id="{AC718C44-10CE-4C28-3B3A-60267C89FF2E}"/>
              </a:ext>
            </a:extLst>
          </p:cNvPr>
          <p:cNvSpPr txBox="1"/>
          <p:nvPr/>
        </p:nvSpPr>
        <p:spPr>
          <a:xfrm>
            <a:off x="5321301" y="5316552"/>
            <a:ext cx="3206087" cy="1541448"/>
          </a:xfrm>
          <a:prstGeom prst="rect">
            <a:avLst/>
          </a:prstGeom>
          <a:noFill/>
        </p:spPr>
        <p:txBody>
          <a:bodyPr wrap="square">
            <a:spAutoFit/>
          </a:bodyPr>
          <a:lstStyle/>
          <a:p>
            <a:pPr marL="285750" indent="-285750">
              <a:spcAft>
                <a:spcPts val="500"/>
              </a:spcAft>
              <a:buFont typeface="Arial" panose="020B0604020202020204" pitchFamily="34" charset="0"/>
              <a:buChar char="•"/>
            </a:pPr>
            <a:r>
              <a:rPr lang="zh-CN" altLang="en-US" dirty="0">
                <a:solidFill>
                  <a:srgbClr val="000000"/>
                </a:solidFill>
                <a:effectLst/>
                <a:latin typeface="SimHei" panose="02010609060101010101" pitchFamily="49" charset="-122"/>
                <a:ea typeface="SimHei" panose="02010609060101010101" pitchFamily="49" charset="-122"/>
              </a:rPr>
              <a:t>动机：数据业务变得复杂，单个数据库难以满足</a:t>
            </a:r>
            <a:endParaRPr lang="en-US" altLang="zh-CN" dirty="0">
              <a:solidFill>
                <a:srgbClr val="000000"/>
              </a:solidFill>
              <a:effectLst/>
              <a:latin typeface="SimHei" panose="02010609060101010101" pitchFamily="49" charset="-122"/>
              <a:ea typeface="SimHei" panose="02010609060101010101" pitchFamily="49" charset="-122"/>
            </a:endParaRPr>
          </a:p>
          <a:p>
            <a:pPr marL="285750" indent="-285750">
              <a:spcAft>
                <a:spcPts val="500"/>
              </a:spcAft>
              <a:buFont typeface="Arial" panose="020B0604020202020204" pitchFamily="34" charset="0"/>
              <a:buChar char="•"/>
            </a:pPr>
            <a:r>
              <a:rPr lang="zh-CN" altLang="en-US" dirty="0">
                <a:solidFill>
                  <a:srgbClr val="000000"/>
                </a:solidFill>
                <a:latin typeface="SimHei" panose="02010609060101010101" pitchFamily="49" charset="-122"/>
                <a:ea typeface="SimHei" panose="02010609060101010101" pitchFamily="49" charset="-122"/>
              </a:rPr>
              <a:t>数据库厂商将原有的数据库分表，通过横向扩展来满足企业的需求。 </a:t>
            </a:r>
            <a:endParaRPr lang="zh-CN" altLang="en-US" dirty="0">
              <a:solidFill>
                <a:srgbClr val="000000"/>
              </a:solidFill>
              <a:effectLst/>
              <a:latin typeface="SimHei" panose="02010609060101010101" pitchFamily="49" charset="-122"/>
              <a:ea typeface="SimHei" panose="02010609060101010101" pitchFamily="49" charset="-122"/>
            </a:endParaRPr>
          </a:p>
        </p:txBody>
      </p:sp>
      <p:sp>
        <p:nvSpPr>
          <p:cNvPr id="21" name="文本框 20">
            <a:extLst>
              <a:ext uri="{FF2B5EF4-FFF2-40B4-BE49-F238E27FC236}">
                <a16:creationId xmlns:a16="http://schemas.microsoft.com/office/drawing/2014/main" id="{6EACF58C-05B8-53AC-D574-B7F9CBB0D315}"/>
              </a:ext>
            </a:extLst>
          </p:cNvPr>
          <p:cNvSpPr txBox="1"/>
          <p:nvPr/>
        </p:nvSpPr>
        <p:spPr>
          <a:xfrm>
            <a:off x="8268269" y="4268019"/>
            <a:ext cx="3923731" cy="2649443"/>
          </a:xfrm>
          <a:prstGeom prst="rect">
            <a:avLst/>
          </a:prstGeom>
          <a:noFill/>
        </p:spPr>
        <p:txBody>
          <a:bodyPr wrap="square">
            <a:spAutoFit/>
          </a:bodyPr>
          <a:lstStyle/>
          <a:p>
            <a:pPr marL="285750" indent="-285750">
              <a:spcAft>
                <a:spcPts val="500"/>
              </a:spcAft>
              <a:buFont typeface="Arial" panose="020B0604020202020204" pitchFamily="34" charset="0"/>
              <a:buChar char="•"/>
            </a:pPr>
            <a:r>
              <a:rPr lang="zh-CN" altLang="en-US" dirty="0">
                <a:solidFill>
                  <a:srgbClr val="000000"/>
                </a:solidFill>
                <a:effectLst/>
                <a:latin typeface="SimHei" panose="02010609060101010101" pitchFamily="49" charset="-122"/>
                <a:ea typeface="SimHei" panose="02010609060101010101" pitchFamily="49" charset="-122"/>
              </a:rPr>
              <a:t>动机</a:t>
            </a:r>
            <a:r>
              <a:rPr lang="zh-CN" altLang="en-US" dirty="0">
                <a:solidFill>
                  <a:srgbClr val="000000"/>
                </a:solidFill>
                <a:latin typeface="SimHei" panose="02010609060101010101" pitchFamily="49" charset="-122"/>
                <a:ea typeface="SimHei" panose="02010609060101010101" pitchFamily="49" charset="-122"/>
                <a:sym typeface="Wingdings" pitchFamily="2" charset="2"/>
              </a:rPr>
              <a:t>：（</a:t>
            </a:r>
            <a:r>
              <a:rPr lang="en-US" altLang="zh-CN" dirty="0">
                <a:solidFill>
                  <a:srgbClr val="000000"/>
                </a:solidFill>
                <a:latin typeface="SimHei" panose="02010609060101010101" pitchFamily="49" charset="-122"/>
                <a:ea typeface="SimHei" panose="02010609060101010101" pitchFamily="49" charset="-122"/>
                <a:sym typeface="Wingdings" pitchFamily="2" charset="2"/>
              </a:rPr>
              <a:t>1</a:t>
            </a:r>
            <a:r>
              <a:rPr lang="zh-CN" altLang="en-US" dirty="0">
                <a:solidFill>
                  <a:srgbClr val="000000"/>
                </a:solidFill>
                <a:latin typeface="SimHei" panose="02010609060101010101" pitchFamily="49" charset="-122"/>
                <a:ea typeface="SimHei" panose="02010609060101010101" pitchFamily="49" charset="-122"/>
                <a:sym typeface="Wingdings" pitchFamily="2" charset="2"/>
              </a:rPr>
              <a:t>）</a:t>
            </a:r>
            <a:r>
              <a:rPr lang="zh-CN" altLang="en-US" dirty="0">
                <a:solidFill>
                  <a:srgbClr val="000000"/>
                </a:solidFill>
                <a:latin typeface="SimHei" panose="02010609060101010101" pitchFamily="49" charset="-122"/>
                <a:ea typeface="SimHei" panose="02010609060101010101" pitchFamily="49" charset="-122"/>
              </a:rPr>
              <a:t>数据量进一步增加，通过中间件进行分布式扩展极大消耗人力物力且数据同步时延大；（</a:t>
            </a:r>
            <a:r>
              <a:rPr lang="en-US" altLang="zh-CN" dirty="0">
                <a:solidFill>
                  <a:srgbClr val="000000"/>
                </a:solidFill>
                <a:latin typeface="SimHei" panose="02010609060101010101" pitchFamily="49" charset="-122"/>
                <a:ea typeface="SimHei" panose="02010609060101010101" pitchFamily="49" charset="-122"/>
              </a:rPr>
              <a:t>2</a:t>
            </a:r>
            <a:r>
              <a:rPr lang="zh-CN" altLang="en-US" dirty="0">
                <a:solidFill>
                  <a:srgbClr val="000000"/>
                </a:solidFill>
                <a:latin typeface="SimHei" panose="02010609060101010101" pitchFamily="49" charset="-122"/>
                <a:ea typeface="SimHei" panose="02010609060101010101" pitchFamily="49" charset="-122"/>
              </a:rPr>
              <a:t>）越来越多的场景需要对最新的事务信息作出快速的分析，甚至在有的情况下，需要在处理事务的同时对数据进行分析。</a:t>
            </a:r>
            <a:endParaRPr lang="en-US" altLang="zh-CN" dirty="0">
              <a:solidFill>
                <a:srgbClr val="000000"/>
              </a:solidFill>
              <a:latin typeface="SimHei" panose="02010609060101010101" pitchFamily="49" charset="-122"/>
              <a:ea typeface="SimHei" panose="02010609060101010101" pitchFamily="49" charset="-122"/>
            </a:endParaRPr>
          </a:p>
          <a:p>
            <a:pPr marL="285750" indent="-285750">
              <a:spcAft>
                <a:spcPts val="500"/>
              </a:spcAft>
              <a:buFont typeface="Arial" panose="020B0604020202020204" pitchFamily="34" charset="0"/>
              <a:buChar char="•"/>
            </a:pPr>
            <a:r>
              <a:rPr lang="en-US" altLang="zh-CN" dirty="0">
                <a:solidFill>
                  <a:srgbClr val="000000"/>
                </a:solidFill>
                <a:latin typeface="SimHei" panose="02010609060101010101" pitchFamily="49" charset="-122"/>
                <a:ea typeface="SimHei" panose="02010609060101010101" pitchFamily="49" charset="-122"/>
              </a:rPr>
              <a:t>HTAP</a:t>
            </a:r>
            <a:r>
              <a:rPr lang="zh-CN" altLang="en-US" dirty="0">
                <a:solidFill>
                  <a:srgbClr val="000000"/>
                </a:solidFill>
                <a:latin typeface="SimHei" panose="02010609060101010101" pitchFamily="49" charset="-122"/>
                <a:ea typeface="SimHei" panose="02010609060101010101" pitchFamily="49" charset="-122"/>
              </a:rPr>
              <a:t>是一种能够同时处理并发型事务与分析型查询的数据库技术。</a:t>
            </a:r>
          </a:p>
        </p:txBody>
      </p:sp>
      <p:graphicFrame>
        <p:nvGraphicFramePr>
          <p:cNvPr id="9" name="图示 8">
            <a:extLst>
              <a:ext uri="{FF2B5EF4-FFF2-40B4-BE49-F238E27FC236}">
                <a16:creationId xmlns:a16="http://schemas.microsoft.com/office/drawing/2014/main" id="{BF48DF65-5E55-7261-553F-8A8D0F2F9663}"/>
              </a:ext>
            </a:extLst>
          </p:cNvPr>
          <p:cNvGraphicFramePr/>
          <p:nvPr>
            <p:extLst>
              <p:ext uri="{D42A27DB-BD31-4B8C-83A1-F6EECF244321}">
                <p14:modId xmlns:p14="http://schemas.microsoft.com/office/powerpoint/2010/main" val="2182959826"/>
              </p:ext>
            </p:extLst>
          </p:nvPr>
        </p:nvGraphicFramePr>
        <p:xfrm>
          <a:off x="18022" y="1370761"/>
          <a:ext cx="12155955" cy="4630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灯片编号占位符 1">
            <a:extLst>
              <a:ext uri="{FF2B5EF4-FFF2-40B4-BE49-F238E27FC236}">
                <a16:creationId xmlns:a16="http://schemas.microsoft.com/office/drawing/2014/main" id="{C6B0AA4B-2CCB-57A7-C015-59D90BDCF528}"/>
              </a:ext>
            </a:extLst>
          </p:cNvPr>
          <p:cNvSpPr txBox="1">
            <a:spLocks/>
          </p:cNvSpPr>
          <p:nvPr/>
        </p:nvSpPr>
        <p:spPr>
          <a:xfrm>
            <a:off x="11745445" y="6492197"/>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47</a:t>
            </a:fld>
            <a:endParaRPr lang="zh-CN" altLang="en-US" dirty="0"/>
          </a:p>
        </p:txBody>
      </p:sp>
      <p:pic>
        <p:nvPicPr>
          <p:cNvPr id="7" name="图片 6">
            <a:extLst>
              <a:ext uri="{FF2B5EF4-FFF2-40B4-BE49-F238E27FC236}">
                <a16:creationId xmlns:a16="http://schemas.microsoft.com/office/drawing/2014/main" id="{04C606BD-7A9F-2A11-AA37-E715D9A78F7B}"/>
              </a:ext>
            </a:extLst>
          </p:cNvPr>
          <p:cNvPicPr>
            <a:picLocks noChangeAspect="1"/>
          </p:cNvPicPr>
          <p:nvPr/>
        </p:nvPicPr>
        <p:blipFill>
          <a:blip r:embed="rId8"/>
          <a:stretch>
            <a:fillRect/>
          </a:stretch>
        </p:blipFill>
        <p:spPr>
          <a:xfrm>
            <a:off x="480707" y="1984209"/>
            <a:ext cx="1092026" cy="1892217"/>
          </a:xfrm>
          <a:prstGeom prst="rect">
            <a:avLst/>
          </a:prstGeom>
        </p:spPr>
      </p:pic>
      <p:pic>
        <p:nvPicPr>
          <p:cNvPr id="11" name="图片 10">
            <a:extLst>
              <a:ext uri="{FF2B5EF4-FFF2-40B4-BE49-F238E27FC236}">
                <a16:creationId xmlns:a16="http://schemas.microsoft.com/office/drawing/2014/main" id="{CB825CEF-14DB-4C64-D4B5-2913135D04C3}"/>
              </a:ext>
            </a:extLst>
          </p:cNvPr>
          <p:cNvPicPr>
            <a:picLocks noChangeAspect="1"/>
          </p:cNvPicPr>
          <p:nvPr/>
        </p:nvPicPr>
        <p:blipFill>
          <a:blip r:embed="rId9"/>
          <a:stretch>
            <a:fillRect/>
          </a:stretch>
        </p:blipFill>
        <p:spPr>
          <a:xfrm>
            <a:off x="2339867" y="1984209"/>
            <a:ext cx="2850223" cy="1872205"/>
          </a:xfrm>
          <a:prstGeom prst="rect">
            <a:avLst/>
          </a:prstGeom>
        </p:spPr>
      </p:pic>
      <p:pic>
        <p:nvPicPr>
          <p:cNvPr id="12" name="图片 11">
            <a:extLst>
              <a:ext uri="{FF2B5EF4-FFF2-40B4-BE49-F238E27FC236}">
                <a16:creationId xmlns:a16="http://schemas.microsoft.com/office/drawing/2014/main" id="{06464198-EBC3-ECF1-0131-20F21851C40A}"/>
              </a:ext>
            </a:extLst>
          </p:cNvPr>
          <p:cNvPicPr>
            <a:picLocks noChangeAspect="1"/>
          </p:cNvPicPr>
          <p:nvPr/>
        </p:nvPicPr>
        <p:blipFill>
          <a:blip r:embed="rId10"/>
          <a:stretch>
            <a:fillRect/>
          </a:stretch>
        </p:blipFill>
        <p:spPr>
          <a:xfrm>
            <a:off x="5980525" y="1875607"/>
            <a:ext cx="2097433" cy="3370502"/>
          </a:xfrm>
          <a:prstGeom prst="rect">
            <a:avLst/>
          </a:prstGeom>
        </p:spPr>
      </p:pic>
      <p:pic>
        <p:nvPicPr>
          <p:cNvPr id="14" name="图片 13">
            <a:extLst>
              <a:ext uri="{FF2B5EF4-FFF2-40B4-BE49-F238E27FC236}">
                <a16:creationId xmlns:a16="http://schemas.microsoft.com/office/drawing/2014/main" id="{4C8F8C41-45DC-5D2F-BC8F-9AA37AD3EBD8}"/>
              </a:ext>
            </a:extLst>
          </p:cNvPr>
          <p:cNvPicPr>
            <a:picLocks noChangeAspect="1"/>
          </p:cNvPicPr>
          <p:nvPr/>
        </p:nvPicPr>
        <p:blipFill>
          <a:blip r:embed="rId11"/>
          <a:stretch>
            <a:fillRect/>
          </a:stretch>
        </p:blipFill>
        <p:spPr>
          <a:xfrm>
            <a:off x="8910446" y="1875607"/>
            <a:ext cx="2658107" cy="2454461"/>
          </a:xfrm>
          <a:prstGeom prst="rect">
            <a:avLst/>
          </a:prstGeom>
        </p:spPr>
      </p:pic>
    </p:spTree>
    <p:extLst>
      <p:ext uri="{BB962C8B-B14F-4D97-AF65-F5344CB8AC3E}">
        <p14:creationId xmlns:p14="http://schemas.microsoft.com/office/powerpoint/2010/main" val="14709446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latin typeface="Times" pitchFamily="2" charset="0"/>
                <a:ea typeface="SimSun" panose="02010600030101010101" pitchFamily="2" charset="-122"/>
              </a:rPr>
              <a:t>OLTP</a:t>
            </a:r>
            <a:r>
              <a:rPr lang="zh-CN" altLang="en-US" dirty="0">
                <a:latin typeface="Times" pitchFamily="2" charset="0"/>
                <a:ea typeface="SimSun" panose="02010600030101010101" pitchFamily="2" charset="-122"/>
              </a:rPr>
              <a:t>、</a:t>
            </a:r>
            <a:r>
              <a:rPr lang="en-US" altLang="zh-CN" dirty="0">
                <a:latin typeface="Times" pitchFamily="2" charset="0"/>
                <a:ea typeface="SimSun" panose="02010600030101010101" pitchFamily="2" charset="-122"/>
              </a:rPr>
              <a:t>OLAP</a:t>
            </a:r>
            <a:r>
              <a:rPr lang="zh-CN" altLang="en-US" dirty="0">
                <a:latin typeface="Times" pitchFamily="2" charset="0"/>
                <a:ea typeface="SimSun" panose="02010600030101010101" pitchFamily="2" charset="-122"/>
              </a:rPr>
              <a:t>与</a:t>
            </a:r>
            <a:r>
              <a:rPr lang="en-US" altLang="zh-CN" dirty="0">
                <a:latin typeface="Times" pitchFamily="2" charset="0"/>
                <a:ea typeface="SimSun" panose="02010600030101010101" pitchFamily="2" charset="-122"/>
              </a:rPr>
              <a:t>HTAP</a:t>
            </a:r>
            <a:r>
              <a:rPr lang="zh-CN" altLang="en-US" dirty="0">
                <a:latin typeface="Times" pitchFamily="2" charset="0"/>
                <a:ea typeface="SimSun" panose="02010600030101010101" pitchFamily="2" charset="-122"/>
              </a:rPr>
              <a:t>数据库</a:t>
            </a:r>
            <a:endParaRPr lang="en-US" altLang="zh-CN" dirty="0">
              <a:latin typeface="Times" pitchFamily="2" charset="0"/>
              <a:ea typeface="SimSun" panose="02010600030101010101" pitchFamily="2" charset="-122"/>
            </a:endParaRPr>
          </a:p>
        </p:txBody>
      </p:sp>
      <p:sp>
        <p:nvSpPr>
          <p:cNvPr id="4" name="内容占位符 2">
            <a:extLst>
              <a:ext uri="{FF2B5EF4-FFF2-40B4-BE49-F238E27FC236}">
                <a16:creationId xmlns:a16="http://schemas.microsoft.com/office/drawing/2014/main" id="{99E90919-814E-29FD-7353-AFE98BE01B5D}"/>
              </a:ext>
            </a:extLst>
          </p:cNvPr>
          <p:cNvSpPr>
            <a:spLocks noGrp="1"/>
          </p:cNvSpPr>
          <p:nvPr>
            <p:ph idx="1"/>
          </p:nvPr>
        </p:nvSpPr>
        <p:spPr>
          <a:xfrm>
            <a:off x="288551" y="947643"/>
            <a:ext cx="11456894" cy="1287930"/>
          </a:xfrm>
        </p:spPr>
        <p:txBody>
          <a:bodyPr/>
          <a:lstStyle/>
          <a:p>
            <a:r>
              <a:rPr lang="en-US" altLang="zh-CN" sz="2400" dirty="0">
                <a:latin typeface="Times" pitchFamily="2" charset="0"/>
                <a:ea typeface="SimSun" panose="02010600030101010101" pitchFamily="2" charset="-122"/>
              </a:rPr>
              <a:t>OLTP</a:t>
            </a:r>
            <a:r>
              <a:rPr lang="zh-CN" altLang="en-US" sz="2400" dirty="0">
                <a:latin typeface="Times" pitchFamily="2" charset="0"/>
                <a:ea typeface="SimSun" panose="02010600030101010101" pitchFamily="2" charset="-122"/>
              </a:rPr>
              <a:t>、</a:t>
            </a:r>
            <a:r>
              <a:rPr lang="en-US" altLang="zh-CN" sz="2400" dirty="0">
                <a:latin typeface="Times" pitchFamily="2" charset="0"/>
                <a:ea typeface="SimSun" panose="02010600030101010101" pitchFamily="2" charset="-122"/>
              </a:rPr>
              <a:t>OLAP</a:t>
            </a:r>
            <a:r>
              <a:rPr lang="zh-CN" altLang="en-US" sz="2400" dirty="0">
                <a:latin typeface="Times" pitchFamily="2" charset="0"/>
                <a:ea typeface="SimSun" panose="02010600030101010101" pitchFamily="2" charset="-122"/>
              </a:rPr>
              <a:t>与</a:t>
            </a:r>
            <a:r>
              <a:rPr lang="en-US" altLang="zh-CN" sz="2400" dirty="0">
                <a:latin typeface="Times" pitchFamily="2" charset="0"/>
                <a:ea typeface="SimSun" panose="02010600030101010101" pitchFamily="2" charset="-122"/>
              </a:rPr>
              <a:t>HTAP</a:t>
            </a:r>
            <a:r>
              <a:rPr lang="zh-CN" altLang="en-US" sz="2400" dirty="0">
                <a:latin typeface="Times" pitchFamily="2" charset="0"/>
                <a:ea typeface="SimSun" panose="02010600030101010101" pitchFamily="2" charset="-122"/>
              </a:rPr>
              <a:t>数据库发展历程（随着应用场景、数据量等特点的衍化）</a:t>
            </a:r>
            <a:endParaRPr lang="en-US" altLang="zh-CN" sz="2000" dirty="0">
              <a:latin typeface="Times" pitchFamily="2" charset="0"/>
              <a:ea typeface="SimSun" panose="02010600030101010101" pitchFamily="2" charset="-122"/>
              <a:cs typeface="Arial" panose="020B0604020202020204" pitchFamily="34" charset="0"/>
            </a:endParaRPr>
          </a:p>
          <a:p>
            <a:endParaRPr lang="en-US" altLang="zh-CN" sz="2400" dirty="0">
              <a:latin typeface="Times" pitchFamily="2" charset="0"/>
              <a:ea typeface="SimSun" panose="02010600030101010101" pitchFamily="2" charset="-122"/>
              <a:cs typeface="Arial" panose="020B0604020202020204" pitchFamily="34" charset="0"/>
            </a:endParaRPr>
          </a:p>
        </p:txBody>
      </p:sp>
      <p:sp>
        <p:nvSpPr>
          <p:cNvPr id="10" name="文本框 9">
            <a:extLst>
              <a:ext uri="{FF2B5EF4-FFF2-40B4-BE49-F238E27FC236}">
                <a16:creationId xmlns:a16="http://schemas.microsoft.com/office/drawing/2014/main" id="{9F552885-9DBC-03B3-77A7-CB791ED8CD1F}"/>
              </a:ext>
            </a:extLst>
          </p:cNvPr>
          <p:cNvSpPr txBox="1"/>
          <p:nvPr/>
        </p:nvSpPr>
        <p:spPr>
          <a:xfrm>
            <a:off x="48257" y="1941458"/>
            <a:ext cx="2156346" cy="369332"/>
          </a:xfrm>
          <a:prstGeom prst="rect">
            <a:avLst/>
          </a:prstGeom>
          <a:noFill/>
        </p:spPr>
        <p:txBody>
          <a:bodyPr wrap="square">
            <a:spAutoFit/>
          </a:bodyPr>
          <a:lstStyle/>
          <a:p>
            <a:pPr>
              <a:spcAft>
                <a:spcPts val="500"/>
              </a:spcAft>
            </a:pPr>
            <a:r>
              <a:rPr lang="en-US" altLang="zh-CN" dirty="0">
                <a:solidFill>
                  <a:srgbClr val="000000"/>
                </a:solidFill>
                <a:effectLst/>
                <a:latin typeface="Times" pitchFamily="2" charset="0"/>
                <a:ea typeface="SimSun" panose="02010600030101010101" pitchFamily="2" charset="-122"/>
              </a:rPr>
              <a:t>OLTP</a:t>
            </a:r>
            <a:r>
              <a:rPr lang="zh-CN" altLang="en-US" dirty="0">
                <a:solidFill>
                  <a:srgbClr val="000000"/>
                </a:solidFill>
                <a:effectLst/>
                <a:latin typeface="Times" pitchFamily="2" charset="0"/>
                <a:ea typeface="SimSun" panose="02010600030101010101" pitchFamily="2" charset="-122"/>
              </a:rPr>
              <a:t>处理业务数据</a:t>
            </a:r>
            <a:endParaRPr lang="en-US" altLang="zh-CN" dirty="0">
              <a:solidFill>
                <a:srgbClr val="000000"/>
              </a:solidFill>
              <a:effectLst/>
              <a:latin typeface="Times" pitchFamily="2" charset="0"/>
              <a:ea typeface="SimSun" panose="02010600030101010101" pitchFamily="2" charset="-122"/>
            </a:endParaRPr>
          </a:p>
        </p:txBody>
      </p:sp>
      <p:sp>
        <p:nvSpPr>
          <p:cNvPr id="19" name="文本框 18">
            <a:extLst>
              <a:ext uri="{FF2B5EF4-FFF2-40B4-BE49-F238E27FC236}">
                <a16:creationId xmlns:a16="http://schemas.microsoft.com/office/drawing/2014/main" id="{A64D3938-63B1-C40B-35CF-09CAFD482545}"/>
              </a:ext>
            </a:extLst>
          </p:cNvPr>
          <p:cNvSpPr txBox="1"/>
          <p:nvPr/>
        </p:nvSpPr>
        <p:spPr>
          <a:xfrm>
            <a:off x="2182371" y="1943986"/>
            <a:ext cx="3042693" cy="646331"/>
          </a:xfrm>
          <a:prstGeom prst="rect">
            <a:avLst/>
          </a:prstGeom>
          <a:noFill/>
        </p:spPr>
        <p:txBody>
          <a:bodyPr wrap="square">
            <a:spAutoFit/>
          </a:bodyPr>
          <a:lstStyle/>
          <a:p>
            <a:pPr>
              <a:spcAft>
                <a:spcPts val="500"/>
              </a:spcAft>
            </a:pPr>
            <a:r>
              <a:rPr lang="en" altLang="zh-CN" dirty="0">
                <a:solidFill>
                  <a:srgbClr val="000000"/>
                </a:solidFill>
                <a:effectLst/>
                <a:latin typeface="Times" pitchFamily="2" charset="0"/>
                <a:ea typeface="SimSun" panose="02010600030101010101" pitchFamily="2" charset="-122"/>
              </a:rPr>
              <a:t>OLAP</a:t>
            </a:r>
            <a:r>
              <a:rPr lang="zh-CN" altLang="en-US" dirty="0">
                <a:solidFill>
                  <a:srgbClr val="000000"/>
                </a:solidFill>
                <a:effectLst/>
                <a:latin typeface="Times" pitchFamily="2" charset="0"/>
                <a:ea typeface="SimSun" panose="02010600030101010101" pitchFamily="2" charset="-122"/>
              </a:rPr>
              <a:t>定期从</a:t>
            </a:r>
            <a:r>
              <a:rPr lang="en" altLang="zh-CN" dirty="0">
                <a:solidFill>
                  <a:srgbClr val="000000"/>
                </a:solidFill>
                <a:effectLst/>
                <a:latin typeface="Times" pitchFamily="2" charset="0"/>
                <a:ea typeface="SimSun" panose="02010600030101010101" pitchFamily="2" charset="-122"/>
              </a:rPr>
              <a:t>OLTP</a:t>
            </a:r>
            <a:r>
              <a:rPr lang="zh-CN" altLang="en-US" dirty="0">
                <a:solidFill>
                  <a:srgbClr val="000000"/>
                </a:solidFill>
                <a:effectLst/>
                <a:latin typeface="Times" pitchFamily="2" charset="0"/>
                <a:ea typeface="SimSun" panose="02010600030101010101" pitchFamily="2" charset="-122"/>
              </a:rPr>
              <a:t>经过</a:t>
            </a:r>
            <a:r>
              <a:rPr lang="en" altLang="zh-CN" dirty="0">
                <a:solidFill>
                  <a:srgbClr val="000000"/>
                </a:solidFill>
                <a:effectLst/>
                <a:latin typeface="Times" pitchFamily="2" charset="0"/>
                <a:ea typeface="SimSun" panose="02010600030101010101" pitchFamily="2" charset="-122"/>
              </a:rPr>
              <a:t>ETL</a:t>
            </a:r>
            <a:r>
              <a:rPr lang="zh-CN" altLang="en-US" dirty="0">
                <a:solidFill>
                  <a:srgbClr val="000000"/>
                </a:solidFill>
                <a:effectLst/>
                <a:latin typeface="Times" pitchFamily="2" charset="0"/>
                <a:ea typeface="SimSun" panose="02010600030101010101" pitchFamily="2" charset="-122"/>
              </a:rPr>
              <a:t>提取数据，用于数据分析</a:t>
            </a:r>
          </a:p>
        </p:txBody>
      </p:sp>
      <p:sp>
        <p:nvSpPr>
          <p:cNvPr id="20" name="文本框 19">
            <a:extLst>
              <a:ext uri="{FF2B5EF4-FFF2-40B4-BE49-F238E27FC236}">
                <a16:creationId xmlns:a16="http://schemas.microsoft.com/office/drawing/2014/main" id="{AC718C44-10CE-4C28-3B3A-60267C89FF2E}"/>
              </a:ext>
            </a:extLst>
          </p:cNvPr>
          <p:cNvSpPr txBox="1"/>
          <p:nvPr/>
        </p:nvSpPr>
        <p:spPr>
          <a:xfrm>
            <a:off x="5447272" y="1932472"/>
            <a:ext cx="3206087" cy="646331"/>
          </a:xfrm>
          <a:prstGeom prst="rect">
            <a:avLst/>
          </a:prstGeom>
          <a:noFill/>
        </p:spPr>
        <p:txBody>
          <a:bodyPr wrap="square">
            <a:spAutoFit/>
          </a:bodyPr>
          <a:lstStyle/>
          <a:p>
            <a:pPr>
              <a:spcAft>
                <a:spcPts val="500"/>
              </a:spcAft>
            </a:pPr>
            <a:r>
              <a:rPr lang="zh-CN" altLang="en-US" dirty="0">
                <a:solidFill>
                  <a:srgbClr val="000000"/>
                </a:solidFill>
                <a:latin typeface="Times" pitchFamily="2" charset="0"/>
                <a:ea typeface="SimSun" panose="02010600030101010101" pitchFamily="2" charset="-122"/>
              </a:rPr>
              <a:t>通过中间件进行分布式扩展</a:t>
            </a:r>
            <a:r>
              <a:rPr lang="zh-CN" altLang="en-US" dirty="0">
                <a:solidFill>
                  <a:srgbClr val="000000"/>
                </a:solidFill>
                <a:effectLst/>
                <a:latin typeface="Times" pitchFamily="2" charset="0"/>
                <a:ea typeface="SimSun" panose="02010600030101010101" pitchFamily="2" charset="-122"/>
              </a:rPr>
              <a:t>，支持大规模数据的</a:t>
            </a:r>
            <a:r>
              <a:rPr lang="en-US" altLang="zh-CN" dirty="0">
                <a:solidFill>
                  <a:srgbClr val="000000"/>
                </a:solidFill>
                <a:effectLst/>
                <a:latin typeface="Times" pitchFamily="2" charset="0"/>
                <a:ea typeface="SimSun" panose="02010600030101010101" pitchFamily="2" charset="-122"/>
              </a:rPr>
              <a:t>OLAP</a:t>
            </a:r>
            <a:r>
              <a:rPr lang="zh-CN" altLang="en-US" dirty="0">
                <a:solidFill>
                  <a:srgbClr val="000000"/>
                </a:solidFill>
                <a:effectLst/>
                <a:latin typeface="Times" pitchFamily="2" charset="0"/>
                <a:ea typeface="SimSun" panose="02010600030101010101" pitchFamily="2" charset="-122"/>
              </a:rPr>
              <a:t>分析</a:t>
            </a:r>
          </a:p>
        </p:txBody>
      </p:sp>
      <p:sp>
        <p:nvSpPr>
          <p:cNvPr id="21" name="文本框 20">
            <a:extLst>
              <a:ext uri="{FF2B5EF4-FFF2-40B4-BE49-F238E27FC236}">
                <a16:creationId xmlns:a16="http://schemas.microsoft.com/office/drawing/2014/main" id="{6EACF58C-05B8-53AC-D574-B7F9CBB0D315}"/>
              </a:ext>
            </a:extLst>
          </p:cNvPr>
          <p:cNvSpPr txBox="1"/>
          <p:nvPr/>
        </p:nvSpPr>
        <p:spPr>
          <a:xfrm>
            <a:off x="8742122" y="1915348"/>
            <a:ext cx="3225531" cy="646331"/>
          </a:xfrm>
          <a:prstGeom prst="rect">
            <a:avLst/>
          </a:prstGeom>
          <a:noFill/>
        </p:spPr>
        <p:txBody>
          <a:bodyPr wrap="square">
            <a:spAutoFit/>
          </a:bodyPr>
          <a:lstStyle/>
          <a:p>
            <a:pPr>
              <a:spcAft>
                <a:spcPts val="500"/>
              </a:spcAft>
            </a:pPr>
            <a:r>
              <a:rPr lang="en-US" altLang="zh-CN" dirty="0">
                <a:solidFill>
                  <a:srgbClr val="000000"/>
                </a:solidFill>
                <a:latin typeface="Times" pitchFamily="2" charset="0"/>
                <a:ea typeface="SimSun" panose="02010600030101010101" pitchFamily="2" charset="-122"/>
              </a:rPr>
              <a:t>HTAP</a:t>
            </a:r>
            <a:r>
              <a:rPr lang="zh-CN" altLang="en-US" dirty="0">
                <a:solidFill>
                  <a:srgbClr val="000000"/>
                </a:solidFill>
                <a:latin typeface="Times" pitchFamily="2" charset="0"/>
                <a:ea typeface="SimSun" panose="02010600030101010101" pitchFamily="2" charset="-122"/>
              </a:rPr>
              <a:t>可同时处理并发型事务和分析型查询</a:t>
            </a:r>
          </a:p>
        </p:txBody>
      </p:sp>
      <p:graphicFrame>
        <p:nvGraphicFramePr>
          <p:cNvPr id="9" name="图示 8">
            <a:extLst>
              <a:ext uri="{FF2B5EF4-FFF2-40B4-BE49-F238E27FC236}">
                <a16:creationId xmlns:a16="http://schemas.microsoft.com/office/drawing/2014/main" id="{BF48DF65-5E55-7261-553F-8A8D0F2F9663}"/>
              </a:ext>
            </a:extLst>
          </p:cNvPr>
          <p:cNvGraphicFramePr/>
          <p:nvPr>
            <p:extLst>
              <p:ext uri="{D42A27DB-BD31-4B8C-83A1-F6EECF244321}">
                <p14:modId xmlns:p14="http://schemas.microsoft.com/office/powerpoint/2010/main" val="556592812"/>
              </p:ext>
            </p:extLst>
          </p:nvPr>
        </p:nvGraphicFramePr>
        <p:xfrm>
          <a:off x="18022" y="1370761"/>
          <a:ext cx="12155955" cy="4630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灯片编号占位符 1">
            <a:extLst>
              <a:ext uri="{FF2B5EF4-FFF2-40B4-BE49-F238E27FC236}">
                <a16:creationId xmlns:a16="http://schemas.microsoft.com/office/drawing/2014/main" id="{C6B0AA4B-2CCB-57A7-C015-59D90BDCF528}"/>
              </a:ext>
            </a:extLst>
          </p:cNvPr>
          <p:cNvSpPr txBox="1">
            <a:spLocks/>
          </p:cNvSpPr>
          <p:nvPr/>
        </p:nvSpPr>
        <p:spPr>
          <a:xfrm>
            <a:off x="11745445" y="6492197"/>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latin typeface="Times" pitchFamily="2" charset="0"/>
                <a:ea typeface="SimSun" panose="02010600030101010101" pitchFamily="2" charset="-122"/>
              </a:rPr>
              <a:pPr/>
              <a:t>48</a:t>
            </a:fld>
            <a:endParaRPr lang="zh-CN" altLang="en-US" dirty="0">
              <a:latin typeface="Times" pitchFamily="2" charset="0"/>
              <a:ea typeface="SimSun" panose="02010600030101010101" pitchFamily="2" charset="-122"/>
            </a:endParaRPr>
          </a:p>
        </p:txBody>
      </p:sp>
      <p:pic>
        <p:nvPicPr>
          <p:cNvPr id="7" name="图片 6">
            <a:extLst>
              <a:ext uri="{FF2B5EF4-FFF2-40B4-BE49-F238E27FC236}">
                <a16:creationId xmlns:a16="http://schemas.microsoft.com/office/drawing/2014/main" id="{04C606BD-7A9F-2A11-AA37-E715D9A78F7B}"/>
              </a:ext>
            </a:extLst>
          </p:cNvPr>
          <p:cNvPicPr>
            <a:picLocks noChangeAspect="1"/>
          </p:cNvPicPr>
          <p:nvPr/>
        </p:nvPicPr>
        <p:blipFill>
          <a:blip r:embed="rId8"/>
          <a:stretch>
            <a:fillRect/>
          </a:stretch>
        </p:blipFill>
        <p:spPr>
          <a:xfrm>
            <a:off x="425537" y="2768081"/>
            <a:ext cx="1092026" cy="1892217"/>
          </a:xfrm>
          <a:prstGeom prst="rect">
            <a:avLst/>
          </a:prstGeom>
        </p:spPr>
      </p:pic>
      <p:pic>
        <p:nvPicPr>
          <p:cNvPr id="11" name="图片 10">
            <a:extLst>
              <a:ext uri="{FF2B5EF4-FFF2-40B4-BE49-F238E27FC236}">
                <a16:creationId xmlns:a16="http://schemas.microsoft.com/office/drawing/2014/main" id="{CB825CEF-14DB-4C64-D4B5-2913135D04C3}"/>
              </a:ext>
            </a:extLst>
          </p:cNvPr>
          <p:cNvPicPr>
            <a:picLocks noChangeAspect="1"/>
          </p:cNvPicPr>
          <p:nvPr/>
        </p:nvPicPr>
        <p:blipFill>
          <a:blip r:embed="rId9"/>
          <a:stretch>
            <a:fillRect/>
          </a:stretch>
        </p:blipFill>
        <p:spPr>
          <a:xfrm>
            <a:off x="2182371" y="2788093"/>
            <a:ext cx="2850223" cy="1872205"/>
          </a:xfrm>
          <a:prstGeom prst="rect">
            <a:avLst/>
          </a:prstGeom>
        </p:spPr>
      </p:pic>
      <p:pic>
        <p:nvPicPr>
          <p:cNvPr id="12" name="图片 11">
            <a:extLst>
              <a:ext uri="{FF2B5EF4-FFF2-40B4-BE49-F238E27FC236}">
                <a16:creationId xmlns:a16="http://schemas.microsoft.com/office/drawing/2014/main" id="{06464198-EBC3-ECF1-0131-20F21851C40A}"/>
              </a:ext>
            </a:extLst>
          </p:cNvPr>
          <p:cNvPicPr>
            <a:picLocks noChangeAspect="1"/>
          </p:cNvPicPr>
          <p:nvPr/>
        </p:nvPicPr>
        <p:blipFill>
          <a:blip r:embed="rId10"/>
          <a:stretch>
            <a:fillRect/>
          </a:stretch>
        </p:blipFill>
        <p:spPr>
          <a:xfrm>
            <a:off x="5836081" y="2593947"/>
            <a:ext cx="2097433" cy="3370502"/>
          </a:xfrm>
          <a:prstGeom prst="rect">
            <a:avLst/>
          </a:prstGeom>
        </p:spPr>
      </p:pic>
      <p:pic>
        <p:nvPicPr>
          <p:cNvPr id="14" name="图片 13">
            <a:extLst>
              <a:ext uri="{FF2B5EF4-FFF2-40B4-BE49-F238E27FC236}">
                <a16:creationId xmlns:a16="http://schemas.microsoft.com/office/drawing/2014/main" id="{4C8F8C41-45DC-5D2F-BC8F-9AA37AD3EBD8}"/>
              </a:ext>
            </a:extLst>
          </p:cNvPr>
          <p:cNvPicPr>
            <a:picLocks noChangeAspect="1"/>
          </p:cNvPicPr>
          <p:nvPr/>
        </p:nvPicPr>
        <p:blipFill>
          <a:blip r:embed="rId11"/>
          <a:stretch>
            <a:fillRect/>
          </a:stretch>
        </p:blipFill>
        <p:spPr>
          <a:xfrm>
            <a:off x="8875567" y="2561679"/>
            <a:ext cx="2658107" cy="2454461"/>
          </a:xfrm>
          <a:prstGeom prst="rect">
            <a:avLst/>
          </a:prstGeom>
        </p:spPr>
      </p:pic>
    </p:spTree>
    <p:extLst>
      <p:ext uri="{BB962C8B-B14F-4D97-AF65-F5344CB8AC3E}">
        <p14:creationId xmlns:p14="http://schemas.microsoft.com/office/powerpoint/2010/main" val="24293519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latin typeface="Times" pitchFamily="2" charset="0"/>
                <a:ea typeface="SimSun" panose="02010600030101010101" pitchFamily="2" charset="-122"/>
              </a:rPr>
              <a:t>OLTP</a:t>
            </a:r>
            <a:r>
              <a:rPr lang="zh-CN" altLang="en-US" dirty="0">
                <a:latin typeface="Times" pitchFamily="2" charset="0"/>
                <a:ea typeface="SimSun" panose="02010600030101010101" pitchFamily="2" charset="-122"/>
              </a:rPr>
              <a:t>、</a:t>
            </a:r>
            <a:r>
              <a:rPr lang="en-US" altLang="zh-CN" dirty="0">
                <a:latin typeface="Times" pitchFamily="2" charset="0"/>
                <a:ea typeface="SimSun" panose="02010600030101010101" pitchFamily="2" charset="-122"/>
              </a:rPr>
              <a:t>OLAP</a:t>
            </a:r>
            <a:r>
              <a:rPr lang="zh-CN" altLang="en-US" dirty="0">
                <a:latin typeface="Times" pitchFamily="2" charset="0"/>
                <a:ea typeface="SimSun" panose="02010600030101010101" pitchFamily="2" charset="-122"/>
              </a:rPr>
              <a:t>与</a:t>
            </a:r>
            <a:r>
              <a:rPr lang="en-US" altLang="zh-CN" dirty="0">
                <a:latin typeface="Times" pitchFamily="2" charset="0"/>
                <a:ea typeface="SimSun" panose="02010600030101010101" pitchFamily="2" charset="-122"/>
              </a:rPr>
              <a:t>HTAP</a:t>
            </a:r>
            <a:r>
              <a:rPr lang="zh-CN" altLang="en-US" dirty="0">
                <a:latin typeface="Times" pitchFamily="2" charset="0"/>
                <a:ea typeface="SimSun" panose="02010600030101010101" pitchFamily="2" charset="-122"/>
              </a:rPr>
              <a:t>数据库</a:t>
            </a:r>
            <a:endParaRPr lang="en-US" altLang="zh-CN" dirty="0">
              <a:latin typeface="Times" pitchFamily="2" charset="0"/>
              <a:ea typeface="SimSun" panose="02010600030101010101" pitchFamily="2" charset="-122"/>
            </a:endParaRPr>
          </a:p>
        </p:txBody>
      </p:sp>
      <p:sp>
        <p:nvSpPr>
          <p:cNvPr id="4" name="内容占位符 2">
            <a:extLst>
              <a:ext uri="{FF2B5EF4-FFF2-40B4-BE49-F238E27FC236}">
                <a16:creationId xmlns:a16="http://schemas.microsoft.com/office/drawing/2014/main" id="{99E90919-814E-29FD-7353-AFE98BE01B5D}"/>
              </a:ext>
            </a:extLst>
          </p:cNvPr>
          <p:cNvSpPr>
            <a:spLocks noGrp="1"/>
          </p:cNvSpPr>
          <p:nvPr>
            <p:ph idx="1"/>
          </p:nvPr>
        </p:nvSpPr>
        <p:spPr>
          <a:xfrm>
            <a:off x="288551" y="947643"/>
            <a:ext cx="11456894" cy="1287930"/>
          </a:xfrm>
        </p:spPr>
        <p:txBody>
          <a:bodyPr/>
          <a:lstStyle/>
          <a:p>
            <a:r>
              <a:rPr lang="en-US" altLang="zh-CN" sz="2400" dirty="0">
                <a:latin typeface="Times" pitchFamily="2" charset="0"/>
                <a:ea typeface="SimSun" panose="02010600030101010101" pitchFamily="2" charset="-122"/>
              </a:rPr>
              <a:t>OLTP</a:t>
            </a:r>
            <a:r>
              <a:rPr lang="zh-CN" altLang="en-US" sz="2400" dirty="0">
                <a:latin typeface="Times" pitchFamily="2" charset="0"/>
                <a:ea typeface="SimSun" panose="02010600030101010101" pitchFamily="2" charset="-122"/>
              </a:rPr>
              <a:t>、</a:t>
            </a:r>
            <a:r>
              <a:rPr lang="en-US" altLang="zh-CN" sz="2400" dirty="0">
                <a:latin typeface="Times" pitchFamily="2" charset="0"/>
                <a:ea typeface="SimSun" panose="02010600030101010101" pitchFamily="2" charset="-122"/>
              </a:rPr>
              <a:t>OLAP</a:t>
            </a:r>
            <a:r>
              <a:rPr lang="zh-CN" altLang="en-US" sz="2400" dirty="0">
                <a:latin typeface="Times" pitchFamily="2" charset="0"/>
                <a:ea typeface="SimSun" panose="02010600030101010101" pitchFamily="2" charset="-122"/>
              </a:rPr>
              <a:t>与</a:t>
            </a:r>
            <a:r>
              <a:rPr lang="en-US" altLang="zh-CN" sz="2400" dirty="0">
                <a:latin typeface="Times" pitchFamily="2" charset="0"/>
                <a:ea typeface="SimSun" panose="02010600030101010101" pitchFamily="2" charset="-122"/>
              </a:rPr>
              <a:t>HTAP</a:t>
            </a:r>
            <a:r>
              <a:rPr lang="zh-CN" altLang="en-US" sz="2400" dirty="0">
                <a:latin typeface="Times" pitchFamily="2" charset="0"/>
                <a:ea typeface="SimSun" panose="02010600030101010101" pitchFamily="2" charset="-122"/>
              </a:rPr>
              <a:t>数据库发展历程（随着应用场景、数据量等特点的衍化）</a:t>
            </a:r>
            <a:endParaRPr lang="en-US" altLang="zh-CN" sz="2000" dirty="0">
              <a:latin typeface="Times" pitchFamily="2" charset="0"/>
              <a:ea typeface="SimSun" panose="02010600030101010101" pitchFamily="2" charset="-122"/>
              <a:cs typeface="Arial" panose="020B0604020202020204" pitchFamily="34" charset="0"/>
            </a:endParaRPr>
          </a:p>
          <a:p>
            <a:endParaRPr lang="en-US" altLang="zh-CN" sz="2400" dirty="0">
              <a:latin typeface="Times" pitchFamily="2" charset="0"/>
              <a:ea typeface="SimSun" panose="02010600030101010101" pitchFamily="2" charset="-122"/>
              <a:cs typeface="Arial" panose="020B0604020202020204" pitchFamily="34" charset="0"/>
            </a:endParaRPr>
          </a:p>
        </p:txBody>
      </p:sp>
      <p:sp>
        <p:nvSpPr>
          <p:cNvPr id="10" name="文本框 9">
            <a:extLst>
              <a:ext uri="{FF2B5EF4-FFF2-40B4-BE49-F238E27FC236}">
                <a16:creationId xmlns:a16="http://schemas.microsoft.com/office/drawing/2014/main" id="{9F552885-9DBC-03B3-77A7-CB791ED8CD1F}"/>
              </a:ext>
            </a:extLst>
          </p:cNvPr>
          <p:cNvSpPr txBox="1"/>
          <p:nvPr/>
        </p:nvSpPr>
        <p:spPr>
          <a:xfrm>
            <a:off x="44723" y="4118432"/>
            <a:ext cx="2156346" cy="1541448"/>
          </a:xfrm>
          <a:prstGeom prst="rect">
            <a:avLst/>
          </a:prstGeom>
          <a:noFill/>
        </p:spPr>
        <p:txBody>
          <a:bodyPr wrap="square">
            <a:spAutoFit/>
          </a:bodyPr>
          <a:lstStyle/>
          <a:p>
            <a:pPr marL="285750" indent="-285750">
              <a:spcAft>
                <a:spcPts val="500"/>
              </a:spcAft>
              <a:buFont typeface="Arial" panose="020B0604020202020204" pitchFamily="34" charset="0"/>
              <a:buChar char="•"/>
            </a:pPr>
            <a:r>
              <a:rPr lang="zh-CN" altLang="en-US" b="1" dirty="0">
                <a:solidFill>
                  <a:srgbClr val="000000"/>
                </a:solidFill>
                <a:effectLst/>
                <a:latin typeface="Times" pitchFamily="2" charset="0"/>
                <a:ea typeface="SimSun" panose="02010600030101010101" pitchFamily="2" charset="-122"/>
              </a:rPr>
              <a:t>动机</a:t>
            </a:r>
            <a:r>
              <a:rPr lang="zh-CN" altLang="en-US" dirty="0">
                <a:solidFill>
                  <a:srgbClr val="000000"/>
                </a:solidFill>
                <a:effectLst/>
                <a:latin typeface="Times" pitchFamily="2" charset="0"/>
                <a:ea typeface="SimSun" panose="02010600030101010101" pitchFamily="2" charset="-122"/>
              </a:rPr>
              <a:t>：主要为了处理业务数据。</a:t>
            </a:r>
            <a:endParaRPr lang="en-US" altLang="zh-CN" dirty="0">
              <a:solidFill>
                <a:srgbClr val="000000"/>
              </a:solidFill>
              <a:effectLst/>
              <a:latin typeface="Times" pitchFamily="2" charset="0"/>
              <a:ea typeface="SimSun" panose="02010600030101010101" pitchFamily="2" charset="-122"/>
            </a:endParaRPr>
          </a:p>
          <a:p>
            <a:pPr marL="285750" indent="-285750">
              <a:spcAft>
                <a:spcPts val="500"/>
              </a:spcAft>
              <a:buFont typeface="Arial" panose="020B0604020202020204" pitchFamily="34" charset="0"/>
              <a:buChar char="•"/>
            </a:pPr>
            <a:r>
              <a:rPr lang="en" altLang="zh-CN" dirty="0">
                <a:solidFill>
                  <a:srgbClr val="000000"/>
                </a:solidFill>
                <a:effectLst/>
                <a:latin typeface="Times" pitchFamily="2" charset="0"/>
                <a:ea typeface="SimSun" panose="02010600030101010101" pitchFamily="2" charset="-122"/>
              </a:rPr>
              <a:t>OLTP</a:t>
            </a:r>
            <a:r>
              <a:rPr lang="zh-CN" altLang="en-US" dirty="0">
                <a:solidFill>
                  <a:srgbClr val="000000"/>
                </a:solidFill>
                <a:effectLst/>
                <a:latin typeface="Times" pitchFamily="2" charset="0"/>
                <a:ea typeface="SimSun" panose="02010600030101010101" pitchFamily="2" charset="-122"/>
              </a:rPr>
              <a:t>每一条写入操作往往对应一条业务记录。</a:t>
            </a:r>
          </a:p>
        </p:txBody>
      </p:sp>
      <p:sp>
        <p:nvSpPr>
          <p:cNvPr id="19" name="文本框 18">
            <a:extLst>
              <a:ext uri="{FF2B5EF4-FFF2-40B4-BE49-F238E27FC236}">
                <a16:creationId xmlns:a16="http://schemas.microsoft.com/office/drawing/2014/main" id="{A64D3938-63B1-C40B-35CF-09CAFD482545}"/>
              </a:ext>
            </a:extLst>
          </p:cNvPr>
          <p:cNvSpPr txBox="1"/>
          <p:nvPr/>
        </p:nvSpPr>
        <p:spPr>
          <a:xfrm>
            <a:off x="2278607" y="4118432"/>
            <a:ext cx="3042693" cy="1818447"/>
          </a:xfrm>
          <a:prstGeom prst="rect">
            <a:avLst/>
          </a:prstGeom>
          <a:noFill/>
        </p:spPr>
        <p:txBody>
          <a:bodyPr wrap="square">
            <a:spAutoFit/>
          </a:bodyPr>
          <a:lstStyle/>
          <a:p>
            <a:pPr marL="285750" indent="-285750">
              <a:spcAft>
                <a:spcPts val="500"/>
              </a:spcAft>
              <a:buFont typeface="Arial" panose="020B0604020202020204" pitchFamily="34" charset="0"/>
              <a:buChar char="•"/>
            </a:pPr>
            <a:r>
              <a:rPr lang="zh-CN" altLang="en-US" b="1" dirty="0">
                <a:solidFill>
                  <a:srgbClr val="000000"/>
                </a:solidFill>
                <a:effectLst/>
                <a:latin typeface="Times" pitchFamily="2" charset="0"/>
                <a:ea typeface="SimSun" panose="02010600030101010101" pitchFamily="2" charset="-122"/>
              </a:rPr>
              <a:t>动机</a:t>
            </a:r>
            <a:r>
              <a:rPr lang="zh-CN" altLang="en-US" dirty="0">
                <a:solidFill>
                  <a:srgbClr val="000000"/>
                </a:solidFill>
                <a:effectLst/>
                <a:latin typeface="Times" pitchFamily="2" charset="0"/>
                <a:ea typeface="SimSun" panose="02010600030101010101" pitchFamily="2" charset="-122"/>
              </a:rPr>
              <a:t>：如何从日积月累的大量数据中做数据分析，挖掘数据的价值。</a:t>
            </a:r>
            <a:endParaRPr lang="en-US" altLang="zh-CN" dirty="0">
              <a:solidFill>
                <a:srgbClr val="000000"/>
              </a:solidFill>
              <a:effectLst/>
              <a:latin typeface="Times" pitchFamily="2" charset="0"/>
              <a:ea typeface="SimSun" panose="02010600030101010101" pitchFamily="2" charset="-122"/>
            </a:endParaRPr>
          </a:p>
          <a:p>
            <a:pPr marL="285750" indent="-285750">
              <a:spcAft>
                <a:spcPts val="500"/>
              </a:spcAft>
              <a:buFont typeface="Arial" panose="020B0604020202020204" pitchFamily="34" charset="0"/>
              <a:buChar char="•"/>
            </a:pPr>
            <a:r>
              <a:rPr lang="en" altLang="zh-CN" dirty="0">
                <a:solidFill>
                  <a:srgbClr val="000000"/>
                </a:solidFill>
                <a:effectLst/>
                <a:latin typeface="Times" pitchFamily="2" charset="0"/>
                <a:ea typeface="SimSun" panose="02010600030101010101" pitchFamily="2" charset="-122"/>
              </a:rPr>
              <a:t>OLAP</a:t>
            </a:r>
            <a:r>
              <a:rPr lang="zh-CN" altLang="en-US" dirty="0">
                <a:solidFill>
                  <a:srgbClr val="000000"/>
                </a:solidFill>
                <a:effectLst/>
                <a:latin typeface="Times" pitchFamily="2" charset="0"/>
                <a:ea typeface="SimSun" panose="02010600030101010101" pitchFamily="2" charset="-122"/>
              </a:rPr>
              <a:t>定期从</a:t>
            </a:r>
            <a:r>
              <a:rPr lang="en" altLang="zh-CN" dirty="0">
                <a:solidFill>
                  <a:srgbClr val="000000"/>
                </a:solidFill>
                <a:effectLst/>
                <a:latin typeface="Times" pitchFamily="2" charset="0"/>
                <a:ea typeface="SimSun" panose="02010600030101010101" pitchFamily="2" charset="-122"/>
              </a:rPr>
              <a:t>OLTP</a:t>
            </a:r>
            <a:r>
              <a:rPr lang="zh-CN" altLang="en-US" dirty="0">
                <a:solidFill>
                  <a:srgbClr val="000000"/>
                </a:solidFill>
                <a:effectLst/>
                <a:latin typeface="Times" pitchFamily="2" charset="0"/>
                <a:ea typeface="SimSun" panose="02010600030101010101" pitchFamily="2" charset="-122"/>
              </a:rPr>
              <a:t>经过</a:t>
            </a:r>
            <a:r>
              <a:rPr lang="en" altLang="zh-CN" dirty="0">
                <a:solidFill>
                  <a:srgbClr val="000000"/>
                </a:solidFill>
                <a:effectLst/>
                <a:latin typeface="Times" pitchFamily="2" charset="0"/>
                <a:ea typeface="SimSun" panose="02010600030101010101" pitchFamily="2" charset="-122"/>
              </a:rPr>
              <a:t>ETL</a:t>
            </a:r>
            <a:r>
              <a:rPr lang="zh-CN" altLang="en-US" dirty="0">
                <a:solidFill>
                  <a:srgbClr val="000000"/>
                </a:solidFill>
                <a:effectLst/>
                <a:latin typeface="Times" pitchFamily="2" charset="0"/>
                <a:ea typeface="SimSun" panose="02010600030101010101" pitchFamily="2" charset="-122"/>
              </a:rPr>
              <a:t>提取数据，用于数据分析。</a:t>
            </a:r>
          </a:p>
        </p:txBody>
      </p:sp>
      <p:sp>
        <p:nvSpPr>
          <p:cNvPr id="20" name="文本框 19">
            <a:extLst>
              <a:ext uri="{FF2B5EF4-FFF2-40B4-BE49-F238E27FC236}">
                <a16:creationId xmlns:a16="http://schemas.microsoft.com/office/drawing/2014/main" id="{AC718C44-10CE-4C28-3B3A-60267C89FF2E}"/>
              </a:ext>
            </a:extLst>
          </p:cNvPr>
          <p:cNvSpPr txBox="1"/>
          <p:nvPr/>
        </p:nvSpPr>
        <p:spPr>
          <a:xfrm>
            <a:off x="5321301" y="5316552"/>
            <a:ext cx="3206087" cy="1541448"/>
          </a:xfrm>
          <a:prstGeom prst="rect">
            <a:avLst/>
          </a:prstGeom>
          <a:noFill/>
        </p:spPr>
        <p:txBody>
          <a:bodyPr wrap="square">
            <a:spAutoFit/>
          </a:bodyPr>
          <a:lstStyle/>
          <a:p>
            <a:pPr marL="285750" indent="-285750">
              <a:spcAft>
                <a:spcPts val="500"/>
              </a:spcAft>
              <a:buFont typeface="Arial" panose="020B0604020202020204" pitchFamily="34" charset="0"/>
              <a:buChar char="•"/>
            </a:pPr>
            <a:r>
              <a:rPr lang="zh-CN" altLang="en-US" b="1" dirty="0">
                <a:solidFill>
                  <a:srgbClr val="000000"/>
                </a:solidFill>
                <a:effectLst/>
                <a:latin typeface="Times" pitchFamily="2" charset="0"/>
                <a:ea typeface="SimSun" panose="02010600030101010101" pitchFamily="2" charset="-122"/>
              </a:rPr>
              <a:t>动机</a:t>
            </a:r>
            <a:r>
              <a:rPr lang="zh-CN" altLang="en-US" dirty="0">
                <a:solidFill>
                  <a:srgbClr val="000000"/>
                </a:solidFill>
                <a:effectLst/>
                <a:latin typeface="Times" pitchFamily="2" charset="0"/>
                <a:ea typeface="SimSun" panose="02010600030101010101" pitchFamily="2" charset="-122"/>
              </a:rPr>
              <a:t>：数据业务变得复杂，单个数据库难以满足。</a:t>
            </a:r>
            <a:endParaRPr lang="en-US" altLang="zh-CN" dirty="0">
              <a:solidFill>
                <a:srgbClr val="000000"/>
              </a:solidFill>
              <a:effectLst/>
              <a:latin typeface="Times" pitchFamily="2" charset="0"/>
              <a:ea typeface="SimSun" panose="02010600030101010101" pitchFamily="2" charset="-122"/>
            </a:endParaRPr>
          </a:p>
          <a:p>
            <a:pPr marL="285750" indent="-285750">
              <a:spcAft>
                <a:spcPts val="500"/>
              </a:spcAft>
              <a:buFont typeface="Arial" panose="020B0604020202020204" pitchFamily="34" charset="0"/>
              <a:buChar char="•"/>
            </a:pPr>
            <a:r>
              <a:rPr lang="zh-CN" altLang="en-US" dirty="0">
                <a:solidFill>
                  <a:srgbClr val="000000"/>
                </a:solidFill>
                <a:latin typeface="Times" pitchFamily="2" charset="0"/>
                <a:ea typeface="SimSun" panose="02010600030101010101" pitchFamily="2" charset="-122"/>
              </a:rPr>
              <a:t>数据库厂商将原有的数据库分表，通过横向扩展来满足企业的需求。 </a:t>
            </a:r>
            <a:endParaRPr lang="zh-CN" altLang="en-US" dirty="0">
              <a:solidFill>
                <a:srgbClr val="000000"/>
              </a:solidFill>
              <a:effectLst/>
              <a:latin typeface="Times" pitchFamily="2" charset="0"/>
              <a:ea typeface="SimSun" panose="02010600030101010101" pitchFamily="2" charset="-122"/>
            </a:endParaRPr>
          </a:p>
        </p:txBody>
      </p:sp>
      <p:sp>
        <p:nvSpPr>
          <p:cNvPr id="21" name="文本框 20">
            <a:extLst>
              <a:ext uri="{FF2B5EF4-FFF2-40B4-BE49-F238E27FC236}">
                <a16:creationId xmlns:a16="http://schemas.microsoft.com/office/drawing/2014/main" id="{6EACF58C-05B8-53AC-D574-B7F9CBB0D315}"/>
              </a:ext>
            </a:extLst>
          </p:cNvPr>
          <p:cNvSpPr txBox="1"/>
          <p:nvPr/>
        </p:nvSpPr>
        <p:spPr>
          <a:xfrm>
            <a:off x="8268269" y="4268019"/>
            <a:ext cx="3923731" cy="2649443"/>
          </a:xfrm>
          <a:prstGeom prst="rect">
            <a:avLst/>
          </a:prstGeom>
          <a:noFill/>
        </p:spPr>
        <p:txBody>
          <a:bodyPr wrap="square">
            <a:spAutoFit/>
          </a:bodyPr>
          <a:lstStyle/>
          <a:p>
            <a:pPr marL="285750" indent="-285750">
              <a:spcAft>
                <a:spcPts val="500"/>
              </a:spcAft>
              <a:buFont typeface="Arial" panose="020B0604020202020204" pitchFamily="34" charset="0"/>
              <a:buChar char="•"/>
            </a:pPr>
            <a:r>
              <a:rPr lang="zh-CN" altLang="en-US" b="1" dirty="0">
                <a:solidFill>
                  <a:srgbClr val="000000"/>
                </a:solidFill>
                <a:effectLst/>
                <a:latin typeface="Times" pitchFamily="2" charset="0"/>
                <a:ea typeface="SimSun" panose="02010600030101010101" pitchFamily="2" charset="-122"/>
              </a:rPr>
              <a:t>动机</a:t>
            </a:r>
            <a:r>
              <a:rPr lang="zh-CN" altLang="en-US" dirty="0">
                <a:solidFill>
                  <a:srgbClr val="000000"/>
                </a:solidFill>
                <a:latin typeface="Times" pitchFamily="2" charset="0"/>
                <a:ea typeface="SimSun" panose="02010600030101010101" pitchFamily="2" charset="-122"/>
                <a:sym typeface="Wingdings" pitchFamily="2" charset="2"/>
              </a:rPr>
              <a:t>：（</a:t>
            </a:r>
            <a:r>
              <a:rPr lang="en-US" altLang="zh-CN" dirty="0">
                <a:solidFill>
                  <a:srgbClr val="000000"/>
                </a:solidFill>
                <a:latin typeface="Times" pitchFamily="2" charset="0"/>
                <a:ea typeface="SimSun" panose="02010600030101010101" pitchFamily="2" charset="-122"/>
                <a:sym typeface="Wingdings" pitchFamily="2" charset="2"/>
              </a:rPr>
              <a:t>1</a:t>
            </a:r>
            <a:r>
              <a:rPr lang="zh-CN" altLang="en-US" dirty="0">
                <a:solidFill>
                  <a:srgbClr val="000000"/>
                </a:solidFill>
                <a:latin typeface="Times" pitchFamily="2" charset="0"/>
                <a:ea typeface="SimSun" panose="02010600030101010101" pitchFamily="2" charset="-122"/>
                <a:sym typeface="Wingdings" pitchFamily="2" charset="2"/>
              </a:rPr>
              <a:t>）</a:t>
            </a:r>
            <a:r>
              <a:rPr lang="zh-CN" altLang="en-US" dirty="0">
                <a:solidFill>
                  <a:srgbClr val="000000"/>
                </a:solidFill>
                <a:latin typeface="Times" pitchFamily="2" charset="0"/>
                <a:ea typeface="SimSun" panose="02010600030101010101" pitchFamily="2" charset="-122"/>
              </a:rPr>
              <a:t>数据量进一步增加，通过中间件进行分布式扩展极大消耗人力物力且数据同步时延大；（</a:t>
            </a:r>
            <a:r>
              <a:rPr lang="en-US" altLang="zh-CN" dirty="0">
                <a:solidFill>
                  <a:srgbClr val="000000"/>
                </a:solidFill>
                <a:latin typeface="Times" pitchFamily="2" charset="0"/>
                <a:ea typeface="SimSun" panose="02010600030101010101" pitchFamily="2" charset="-122"/>
              </a:rPr>
              <a:t>2</a:t>
            </a:r>
            <a:r>
              <a:rPr lang="zh-CN" altLang="en-US" dirty="0">
                <a:solidFill>
                  <a:srgbClr val="000000"/>
                </a:solidFill>
                <a:latin typeface="Times" pitchFamily="2" charset="0"/>
                <a:ea typeface="SimSun" panose="02010600030101010101" pitchFamily="2" charset="-122"/>
              </a:rPr>
              <a:t>）越来越多的场景需要对最新的事务信息作出快速的分析，甚至在有的情况下，需要在处理事务的同时对数据进行分析。</a:t>
            </a:r>
            <a:endParaRPr lang="en-US" altLang="zh-CN" dirty="0">
              <a:solidFill>
                <a:srgbClr val="000000"/>
              </a:solidFill>
              <a:latin typeface="Times" pitchFamily="2" charset="0"/>
              <a:ea typeface="SimSun" panose="02010600030101010101" pitchFamily="2" charset="-122"/>
            </a:endParaRPr>
          </a:p>
          <a:p>
            <a:pPr marL="285750" indent="-285750">
              <a:spcAft>
                <a:spcPts val="500"/>
              </a:spcAft>
              <a:buFont typeface="Arial" panose="020B0604020202020204" pitchFamily="34" charset="0"/>
              <a:buChar char="•"/>
            </a:pPr>
            <a:r>
              <a:rPr lang="en-US" altLang="zh-CN" dirty="0">
                <a:solidFill>
                  <a:srgbClr val="000000"/>
                </a:solidFill>
                <a:latin typeface="Times" pitchFamily="2" charset="0"/>
                <a:ea typeface="SimSun" panose="02010600030101010101" pitchFamily="2" charset="-122"/>
              </a:rPr>
              <a:t>HTAP</a:t>
            </a:r>
            <a:r>
              <a:rPr lang="zh-CN" altLang="en-US" dirty="0">
                <a:solidFill>
                  <a:srgbClr val="000000"/>
                </a:solidFill>
                <a:latin typeface="Times" pitchFamily="2" charset="0"/>
                <a:ea typeface="SimSun" panose="02010600030101010101" pitchFamily="2" charset="-122"/>
              </a:rPr>
              <a:t>是一种能够同时处理并发型事务与分析型查询的数据库技术。</a:t>
            </a:r>
          </a:p>
        </p:txBody>
      </p:sp>
      <p:graphicFrame>
        <p:nvGraphicFramePr>
          <p:cNvPr id="9" name="图示 8">
            <a:extLst>
              <a:ext uri="{FF2B5EF4-FFF2-40B4-BE49-F238E27FC236}">
                <a16:creationId xmlns:a16="http://schemas.microsoft.com/office/drawing/2014/main" id="{BF48DF65-5E55-7261-553F-8A8D0F2F9663}"/>
              </a:ext>
            </a:extLst>
          </p:cNvPr>
          <p:cNvGraphicFramePr/>
          <p:nvPr>
            <p:extLst>
              <p:ext uri="{D42A27DB-BD31-4B8C-83A1-F6EECF244321}">
                <p14:modId xmlns:p14="http://schemas.microsoft.com/office/powerpoint/2010/main" val="2893395923"/>
              </p:ext>
            </p:extLst>
          </p:nvPr>
        </p:nvGraphicFramePr>
        <p:xfrm>
          <a:off x="18022" y="1370761"/>
          <a:ext cx="12155955" cy="4630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图片 6">
            <a:extLst>
              <a:ext uri="{FF2B5EF4-FFF2-40B4-BE49-F238E27FC236}">
                <a16:creationId xmlns:a16="http://schemas.microsoft.com/office/drawing/2014/main" id="{04C606BD-7A9F-2A11-AA37-E715D9A78F7B}"/>
              </a:ext>
            </a:extLst>
          </p:cNvPr>
          <p:cNvPicPr>
            <a:picLocks noChangeAspect="1"/>
          </p:cNvPicPr>
          <p:nvPr/>
        </p:nvPicPr>
        <p:blipFill>
          <a:blip r:embed="rId8"/>
          <a:stretch>
            <a:fillRect/>
          </a:stretch>
        </p:blipFill>
        <p:spPr>
          <a:xfrm>
            <a:off x="480707" y="1984209"/>
            <a:ext cx="1092026" cy="1892217"/>
          </a:xfrm>
          <a:prstGeom prst="rect">
            <a:avLst/>
          </a:prstGeom>
        </p:spPr>
      </p:pic>
      <p:pic>
        <p:nvPicPr>
          <p:cNvPr id="11" name="图片 10">
            <a:extLst>
              <a:ext uri="{FF2B5EF4-FFF2-40B4-BE49-F238E27FC236}">
                <a16:creationId xmlns:a16="http://schemas.microsoft.com/office/drawing/2014/main" id="{CB825CEF-14DB-4C64-D4B5-2913135D04C3}"/>
              </a:ext>
            </a:extLst>
          </p:cNvPr>
          <p:cNvPicPr>
            <a:picLocks noChangeAspect="1"/>
          </p:cNvPicPr>
          <p:nvPr/>
        </p:nvPicPr>
        <p:blipFill>
          <a:blip r:embed="rId9"/>
          <a:stretch>
            <a:fillRect/>
          </a:stretch>
        </p:blipFill>
        <p:spPr>
          <a:xfrm>
            <a:off x="2339867" y="1984209"/>
            <a:ext cx="2850223" cy="1872205"/>
          </a:xfrm>
          <a:prstGeom prst="rect">
            <a:avLst/>
          </a:prstGeom>
        </p:spPr>
      </p:pic>
      <p:pic>
        <p:nvPicPr>
          <p:cNvPr id="12" name="图片 11">
            <a:extLst>
              <a:ext uri="{FF2B5EF4-FFF2-40B4-BE49-F238E27FC236}">
                <a16:creationId xmlns:a16="http://schemas.microsoft.com/office/drawing/2014/main" id="{06464198-EBC3-ECF1-0131-20F21851C40A}"/>
              </a:ext>
            </a:extLst>
          </p:cNvPr>
          <p:cNvPicPr>
            <a:picLocks noChangeAspect="1"/>
          </p:cNvPicPr>
          <p:nvPr/>
        </p:nvPicPr>
        <p:blipFill>
          <a:blip r:embed="rId10"/>
          <a:stretch>
            <a:fillRect/>
          </a:stretch>
        </p:blipFill>
        <p:spPr>
          <a:xfrm>
            <a:off x="5980525" y="1875607"/>
            <a:ext cx="2097433" cy="3370502"/>
          </a:xfrm>
          <a:prstGeom prst="rect">
            <a:avLst/>
          </a:prstGeom>
        </p:spPr>
      </p:pic>
      <p:pic>
        <p:nvPicPr>
          <p:cNvPr id="14" name="图片 13">
            <a:extLst>
              <a:ext uri="{FF2B5EF4-FFF2-40B4-BE49-F238E27FC236}">
                <a16:creationId xmlns:a16="http://schemas.microsoft.com/office/drawing/2014/main" id="{4C8F8C41-45DC-5D2F-BC8F-9AA37AD3EBD8}"/>
              </a:ext>
            </a:extLst>
          </p:cNvPr>
          <p:cNvPicPr>
            <a:picLocks noChangeAspect="1"/>
          </p:cNvPicPr>
          <p:nvPr/>
        </p:nvPicPr>
        <p:blipFill>
          <a:blip r:embed="rId11"/>
          <a:stretch>
            <a:fillRect/>
          </a:stretch>
        </p:blipFill>
        <p:spPr>
          <a:xfrm>
            <a:off x="8910446" y="1875607"/>
            <a:ext cx="2658107" cy="2454461"/>
          </a:xfrm>
          <a:prstGeom prst="rect">
            <a:avLst/>
          </a:prstGeom>
        </p:spPr>
      </p:pic>
    </p:spTree>
    <p:extLst>
      <p:ext uri="{BB962C8B-B14F-4D97-AF65-F5344CB8AC3E}">
        <p14:creationId xmlns:p14="http://schemas.microsoft.com/office/powerpoint/2010/main" val="7266047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sz="4400" dirty="0">
                <a:latin typeface="Times" pitchFamily="2" charset="0"/>
              </a:rPr>
              <a:t>OLTP</a:t>
            </a:r>
            <a:r>
              <a:rPr lang="zh-CN" altLang="en-US" sz="4400" dirty="0">
                <a:latin typeface="Times" pitchFamily="2" charset="0"/>
              </a:rPr>
              <a:t>、</a:t>
            </a:r>
            <a:r>
              <a:rPr lang="en-US" altLang="zh-CN" sz="4400" dirty="0">
                <a:latin typeface="Times" pitchFamily="2" charset="0"/>
              </a:rPr>
              <a:t>OLAP</a:t>
            </a:r>
            <a:r>
              <a:rPr lang="zh-CN" altLang="en-US" sz="4400" dirty="0">
                <a:latin typeface="Times" pitchFamily="2" charset="0"/>
              </a:rPr>
              <a:t>与</a:t>
            </a:r>
            <a:r>
              <a:rPr lang="en-US" altLang="zh-CN" sz="4400" dirty="0">
                <a:latin typeface="Times" pitchFamily="2" charset="0"/>
              </a:rPr>
              <a:t>HTAP</a:t>
            </a:r>
            <a:r>
              <a:rPr lang="zh-CN" altLang="en-US" sz="4400" dirty="0">
                <a:latin typeface="Times" pitchFamily="2" charset="0"/>
              </a:rPr>
              <a:t>数据库主要特征</a:t>
            </a:r>
            <a:endParaRPr lang="en-US" altLang="zh-CN" sz="4400" dirty="0">
              <a:latin typeface="Times" pitchFamily="2" charset="0"/>
            </a:endParaRPr>
          </a:p>
        </p:txBody>
      </p:sp>
      <p:sp>
        <p:nvSpPr>
          <p:cNvPr id="5" name="灯片编号占位符 1">
            <a:extLst>
              <a:ext uri="{FF2B5EF4-FFF2-40B4-BE49-F238E27FC236}">
                <a16:creationId xmlns:a16="http://schemas.microsoft.com/office/drawing/2014/main" id="{E8861495-A10F-8B25-9DCC-26D03938E336}"/>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50</a:t>
            </a:fld>
            <a:endParaRPr lang="zh-CN" altLang="en-US" dirty="0"/>
          </a:p>
        </p:txBody>
      </p:sp>
      <p:pic>
        <p:nvPicPr>
          <p:cNvPr id="3" name="图片 2">
            <a:extLst>
              <a:ext uri="{FF2B5EF4-FFF2-40B4-BE49-F238E27FC236}">
                <a16:creationId xmlns:a16="http://schemas.microsoft.com/office/drawing/2014/main" id="{CF1D47C2-BD9B-B4FC-E225-11582FA27CD2}"/>
              </a:ext>
            </a:extLst>
          </p:cNvPr>
          <p:cNvPicPr>
            <a:picLocks noChangeAspect="1"/>
          </p:cNvPicPr>
          <p:nvPr/>
        </p:nvPicPr>
        <p:blipFill>
          <a:blip r:embed="rId3"/>
          <a:stretch>
            <a:fillRect/>
          </a:stretch>
        </p:blipFill>
        <p:spPr>
          <a:xfrm>
            <a:off x="2334037" y="1372964"/>
            <a:ext cx="7523925" cy="4112072"/>
          </a:xfrm>
          <a:prstGeom prst="rect">
            <a:avLst/>
          </a:prstGeom>
        </p:spPr>
      </p:pic>
    </p:spTree>
    <p:extLst>
      <p:ext uri="{BB962C8B-B14F-4D97-AF65-F5344CB8AC3E}">
        <p14:creationId xmlns:p14="http://schemas.microsoft.com/office/powerpoint/2010/main" val="2608723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sz="4400" dirty="0">
                <a:latin typeface="Times" pitchFamily="2" charset="0"/>
              </a:rPr>
              <a:t>OLTP</a:t>
            </a:r>
            <a:r>
              <a:rPr lang="zh-CN" altLang="en-US" sz="4400" dirty="0">
                <a:latin typeface="Times" pitchFamily="2" charset="0"/>
              </a:rPr>
              <a:t>数据库</a:t>
            </a:r>
            <a:endParaRPr lang="en-US" altLang="zh-CN" sz="4400" dirty="0">
              <a:latin typeface="Times" pitchFamily="2" charset="0"/>
            </a:endParaRPr>
          </a:p>
        </p:txBody>
      </p:sp>
      <p:sp>
        <p:nvSpPr>
          <p:cNvPr id="4" name="内容占位符 2">
            <a:extLst>
              <a:ext uri="{FF2B5EF4-FFF2-40B4-BE49-F238E27FC236}">
                <a16:creationId xmlns:a16="http://schemas.microsoft.com/office/drawing/2014/main" id="{99E90919-814E-29FD-7353-AFE98BE01B5D}"/>
              </a:ext>
            </a:extLst>
          </p:cNvPr>
          <p:cNvSpPr>
            <a:spLocks noGrp="1"/>
          </p:cNvSpPr>
          <p:nvPr>
            <p:ph idx="1"/>
          </p:nvPr>
        </p:nvSpPr>
        <p:spPr>
          <a:xfrm>
            <a:off x="288551" y="1206950"/>
            <a:ext cx="11456894" cy="3542472"/>
          </a:xfrm>
        </p:spPr>
        <p:txBody>
          <a:bodyPr/>
          <a:lstStyle/>
          <a:p>
            <a:r>
              <a:rPr lang="en-US" altLang="zh-CN" sz="3600" dirty="0">
                <a:latin typeface="Times" pitchFamily="2" charset="0"/>
              </a:rPr>
              <a:t>OLTP</a:t>
            </a:r>
            <a:r>
              <a:rPr lang="zh-CN" altLang="en-US" sz="3600" dirty="0">
                <a:latin typeface="Times" pitchFamily="2" charset="0"/>
              </a:rPr>
              <a:t>数据库</a:t>
            </a:r>
            <a:endParaRPr lang="en-US" altLang="zh-CN" sz="3600" dirty="0">
              <a:latin typeface="Times" pitchFamily="2" charset="0"/>
            </a:endParaRPr>
          </a:p>
          <a:p>
            <a:pPr lvl="1"/>
            <a:r>
              <a:rPr lang="en-US" altLang="zh-CN" dirty="0">
                <a:latin typeface="Times" pitchFamily="2" charset="0"/>
              </a:rPr>
              <a:t>OLTP</a:t>
            </a:r>
            <a:r>
              <a:rPr lang="zh-CN" altLang="zh-CN" dirty="0">
                <a:latin typeface="Times" pitchFamily="2" charset="0"/>
              </a:rPr>
              <a:t>数据库是关系数据库的主要应用，目标是高效地进行日常的</a:t>
            </a:r>
            <a:r>
              <a:rPr lang="zh-CN" altLang="zh-CN" b="1" u="sng" dirty="0">
                <a:latin typeface="Times" pitchFamily="2" charset="0"/>
              </a:rPr>
              <a:t>事务处理</a:t>
            </a:r>
            <a:r>
              <a:rPr lang="zh-CN" altLang="zh-CN" dirty="0">
                <a:latin typeface="Times" pitchFamily="2" charset="0"/>
              </a:rPr>
              <a:t>，通常每秒需要完成成千上万个查询处理（插入、更新、删除数据库中的数据），并在处理大量事务的同时需要维护数据的完整性和有效性。</a:t>
            </a:r>
            <a:endParaRPr lang="en-US" altLang="zh-CN" dirty="0">
              <a:latin typeface="Times" pitchFamily="2" charset="0"/>
            </a:endParaRPr>
          </a:p>
          <a:p>
            <a:pPr lvl="1"/>
            <a:r>
              <a:rPr lang="zh-CN" altLang="zh-CN" dirty="0">
                <a:latin typeface="Times" pitchFamily="2" charset="0"/>
              </a:rPr>
              <a:t>常见的</a:t>
            </a:r>
            <a:r>
              <a:rPr lang="en-US" altLang="zh-CN" dirty="0">
                <a:latin typeface="Times" pitchFamily="2" charset="0"/>
              </a:rPr>
              <a:t>OLTP</a:t>
            </a:r>
            <a:r>
              <a:rPr lang="zh-CN" altLang="zh-CN" dirty="0">
                <a:latin typeface="Times" pitchFamily="2" charset="0"/>
              </a:rPr>
              <a:t>场景包括</a:t>
            </a:r>
            <a:r>
              <a:rPr lang="zh-CN" altLang="en-US" dirty="0">
                <a:latin typeface="Times" pitchFamily="2" charset="0"/>
              </a:rPr>
              <a:t>网络</a:t>
            </a:r>
            <a:r>
              <a:rPr lang="zh-CN" altLang="zh-CN" dirty="0">
                <a:latin typeface="Times" pitchFamily="2" charset="0"/>
              </a:rPr>
              <a:t>购物、信用卡交易处理和</a:t>
            </a:r>
            <a:r>
              <a:rPr lang="en-US" altLang="zh-CN" dirty="0">
                <a:latin typeface="Times" pitchFamily="2" charset="0"/>
              </a:rPr>
              <a:t>ATM</a:t>
            </a:r>
            <a:r>
              <a:rPr lang="zh-CN" altLang="zh-CN" dirty="0">
                <a:latin typeface="Times" pitchFamily="2" charset="0"/>
              </a:rPr>
              <a:t>转账等</a:t>
            </a:r>
            <a:endParaRPr lang="en-US" altLang="zh-CN" dirty="0">
              <a:latin typeface="Times" pitchFamily="2" charset="0"/>
            </a:endParaRPr>
          </a:p>
          <a:p>
            <a:r>
              <a:rPr lang="zh-CN" altLang="en-US" dirty="0">
                <a:latin typeface="Times" pitchFamily="2" charset="0"/>
              </a:rPr>
              <a:t>事务</a:t>
            </a:r>
            <a:endParaRPr lang="en-US" altLang="zh-CN" dirty="0">
              <a:latin typeface="Times" pitchFamily="2" charset="0"/>
            </a:endParaRPr>
          </a:p>
          <a:p>
            <a:pPr lvl="1"/>
            <a:r>
              <a:rPr lang="zh-CN" altLang="zh-CN" dirty="0">
                <a:latin typeface="Times" pitchFamily="2" charset="0"/>
              </a:rPr>
              <a:t>事务是多个数据库操作组合成的一个不可分割的、同时成功或失败的工作单元</a:t>
            </a:r>
            <a:endParaRPr lang="en-US" altLang="zh-CN" dirty="0">
              <a:latin typeface="Times" pitchFamily="2" charset="0"/>
            </a:endParaRPr>
          </a:p>
        </p:txBody>
      </p:sp>
      <p:pic>
        <p:nvPicPr>
          <p:cNvPr id="5" name="图片 4">
            <a:extLst>
              <a:ext uri="{FF2B5EF4-FFF2-40B4-BE49-F238E27FC236}">
                <a16:creationId xmlns:a16="http://schemas.microsoft.com/office/drawing/2014/main" id="{E4031A80-C9D2-7FF4-8471-F314CD744267}"/>
              </a:ext>
            </a:extLst>
          </p:cNvPr>
          <p:cNvPicPr>
            <a:picLocks noChangeAspect="1"/>
          </p:cNvPicPr>
          <p:nvPr/>
        </p:nvPicPr>
        <p:blipFill>
          <a:blip r:embed="rId3"/>
          <a:stretch>
            <a:fillRect/>
          </a:stretch>
        </p:blipFill>
        <p:spPr>
          <a:xfrm>
            <a:off x="4919126" y="5407323"/>
            <a:ext cx="5984052" cy="1141598"/>
          </a:xfrm>
          <a:prstGeom prst="rect">
            <a:avLst/>
          </a:prstGeom>
        </p:spPr>
      </p:pic>
      <p:sp>
        <p:nvSpPr>
          <p:cNvPr id="6" name="灯片编号占位符 1">
            <a:extLst>
              <a:ext uri="{FF2B5EF4-FFF2-40B4-BE49-F238E27FC236}">
                <a16:creationId xmlns:a16="http://schemas.microsoft.com/office/drawing/2014/main" id="{A3D7A079-120D-761C-C2B7-06EA504391F3}"/>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51</a:t>
            </a:fld>
            <a:endParaRPr lang="zh-CN" altLang="en-US" dirty="0"/>
          </a:p>
        </p:txBody>
      </p:sp>
    </p:spTree>
    <p:extLst>
      <p:ext uri="{BB962C8B-B14F-4D97-AF65-F5344CB8AC3E}">
        <p14:creationId xmlns:p14="http://schemas.microsoft.com/office/powerpoint/2010/main" val="3938098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sz="4400" dirty="0">
                <a:latin typeface="Times" pitchFamily="2" charset="0"/>
              </a:rPr>
              <a:t>OLTP</a:t>
            </a:r>
            <a:r>
              <a:rPr lang="zh-CN" altLang="en-US" sz="4400" dirty="0">
                <a:latin typeface="Times" pitchFamily="2" charset="0"/>
              </a:rPr>
              <a:t>数据库（续）</a:t>
            </a:r>
            <a:endParaRPr lang="en-US" altLang="zh-CN" sz="4400" dirty="0">
              <a:latin typeface="Times" pitchFamily="2" charset="0"/>
            </a:endParaRPr>
          </a:p>
        </p:txBody>
      </p:sp>
      <p:sp>
        <p:nvSpPr>
          <p:cNvPr id="4" name="内容占位符 2">
            <a:extLst>
              <a:ext uri="{FF2B5EF4-FFF2-40B4-BE49-F238E27FC236}">
                <a16:creationId xmlns:a16="http://schemas.microsoft.com/office/drawing/2014/main" id="{99E90919-814E-29FD-7353-AFE98BE01B5D}"/>
              </a:ext>
            </a:extLst>
          </p:cNvPr>
          <p:cNvSpPr>
            <a:spLocks noGrp="1"/>
          </p:cNvSpPr>
          <p:nvPr>
            <p:ph idx="1"/>
          </p:nvPr>
        </p:nvSpPr>
        <p:spPr>
          <a:xfrm>
            <a:off x="288551" y="1206949"/>
            <a:ext cx="11456894" cy="5272679"/>
          </a:xfrm>
        </p:spPr>
        <p:txBody>
          <a:bodyPr/>
          <a:lstStyle/>
          <a:p>
            <a:r>
              <a:rPr lang="en-US" altLang="zh-CN" dirty="0">
                <a:latin typeface="Times" pitchFamily="2" charset="0"/>
              </a:rPr>
              <a:t>OLTP</a:t>
            </a:r>
            <a:r>
              <a:rPr lang="zh-CN" altLang="en-US" dirty="0">
                <a:latin typeface="Times" pitchFamily="2" charset="0"/>
              </a:rPr>
              <a:t>数据库特性</a:t>
            </a:r>
            <a:endParaRPr lang="en-US" altLang="zh-CN" dirty="0">
              <a:latin typeface="Times" pitchFamily="2" charset="0"/>
            </a:endParaRPr>
          </a:p>
          <a:p>
            <a:pPr lvl="1"/>
            <a:r>
              <a:rPr lang="zh-CN" altLang="zh-CN" dirty="0">
                <a:latin typeface="Times" pitchFamily="2" charset="0"/>
              </a:rPr>
              <a:t>对实时性、并发性、安全性和数据完整性的要求高</a:t>
            </a:r>
            <a:endParaRPr lang="en-US" altLang="zh-CN" dirty="0">
              <a:latin typeface="Times" pitchFamily="2" charset="0"/>
            </a:endParaRPr>
          </a:p>
          <a:p>
            <a:pPr lvl="1"/>
            <a:r>
              <a:rPr lang="zh-CN" altLang="zh-CN" dirty="0">
                <a:latin typeface="Times" pitchFamily="2" charset="0"/>
              </a:rPr>
              <a:t>单个事务处理的数据量通常不是很大</a:t>
            </a:r>
            <a:endParaRPr lang="en-US" altLang="zh-CN" dirty="0">
              <a:latin typeface="Times" pitchFamily="2" charset="0"/>
            </a:endParaRPr>
          </a:p>
          <a:p>
            <a:pPr lvl="1"/>
            <a:r>
              <a:rPr lang="en-US" altLang="zh-CN" dirty="0">
                <a:latin typeface="Times" pitchFamily="2" charset="0"/>
              </a:rPr>
              <a:t>OLTP</a:t>
            </a:r>
            <a:r>
              <a:rPr lang="zh-CN" altLang="zh-CN" dirty="0">
                <a:latin typeface="Times" pitchFamily="2" charset="0"/>
              </a:rPr>
              <a:t>数据库通常需要满足</a:t>
            </a:r>
            <a:r>
              <a:rPr lang="zh-CN" altLang="en-US" dirty="0">
                <a:latin typeface="Times" pitchFamily="2" charset="0"/>
              </a:rPr>
              <a:t>事务的</a:t>
            </a:r>
            <a:r>
              <a:rPr lang="zh-CN" altLang="zh-CN" dirty="0">
                <a:latin typeface="Times" pitchFamily="2" charset="0"/>
              </a:rPr>
              <a:t>四个特性</a:t>
            </a:r>
            <a:r>
              <a:rPr lang="zh-CN" altLang="en-US" dirty="0">
                <a:latin typeface="Times" pitchFamily="2" charset="0"/>
              </a:rPr>
              <a:t>，简称</a:t>
            </a:r>
            <a:r>
              <a:rPr lang="en-US" altLang="zh-CN" dirty="0">
                <a:latin typeface="Times" pitchFamily="2" charset="0"/>
              </a:rPr>
              <a:t>ACID</a:t>
            </a:r>
            <a:r>
              <a:rPr lang="zh-CN" altLang="en-US" dirty="0">
                <a:latin typeface="Times" pitchFamily="2" charset="0"/>
              </a:rPr>
              <a:t>特性：</a:t>
            </a:r>
            <a:endParaRPr lang="en-US" altLang="zh-CN" dirty="0">
              <a:latin typeface="Times" pitchFamily="2" charset="0"/>
            </a:endParaRPr>
          </a:p>
          <a:p>
            <a:pPr lvl="2"/>
            <a:r>
              <a:rPr lang="zh-CN" altLang="zh-CN" dirty="0">
                <a:latin typeface="Times" pitchFamily="2" charset="0"/>
              </a:rPr>
              <a:t>原子性（</a:t>
            </a:r>
            <a:r>
              <a:rPr lang="en-US" altLang="zh-CN" b="1" u="sng" dirty="0">
                <a:latin typeface="Times" pitchFamily="2" charset="0"/>
              </a:rPr>
              <a:t>A</a:t>
            </a:r>
            <a:r>
              <a:rPr lang="en-US" altLang="zh-CN" dirty="0">
                <a:latin typeface="Times" pitchFamily="2" charset="0"/>
              </a:rPr>
              <a:t>tomicity</a:t>
            </a:r>
            <a:r>
              <a:rPr lang="zh-CN" altLang="zh-CN" dirty="0">
                <a:latin typeface="Times" pitchFamily="2" charset="0"/>
              </a:rPr>
              <a:t>）</a:t>
            </a:r>
            <a:endParaRPr lang="en-US" altLang="zh-CN" dirty="0">
              <a:latin typeface="Times" pitchFamily="2" charset="0"/>
            </a:endParaRPr>
          </a:p>
          <a:p>
            <a:pPr lvl="2"/>
            <a:r>
              <a:rPr lang="zh-CN" altLang="zh-CN" dirty="0">
                <a:latin typeface="Times" pitchFamily="2" charset="0"/>
              </a:rPr>
              <a:t>一致性（</a:t>
            </a:r>
            <a:r>
              <a:rPr lang="en-US" altLang="zh-CN" b="1" u="sng" dirty="0">
                <a:latin typeface="Times" pitchFamily="2" charset="0"/>
              </a:rPr>
              <a:t>C</a:t>
            </a:r>
            <a:r>
              <a:rPr lang="en-US" altLang="zh-CN" dirty="0">
                <a:latin typeface="Times" pitchFamily="2" charset="0"/>
              </a:rPr>
              <a:t>onsistency</a:t>
            </a:r>
            <a:r>
              <a:rPr lang="zh-CN" altLang="zh-CN" dirty="0">
                <a:latin typeface="Times" pitchFamily="2" charset="0"/>
              </a:rPr>
              <a:t>）</a:t>
            </a:r>
            <a:endParaRPr lang="en-US" altLang="zh-CN" dirty="0">
              <a:latin typeface="Times" pitchFamily="2" charset="0"/>
            </a:endParaRPr>
          </a:p>
          <a:p>
            <a:pPr lvl="2"/>
            <a:r>
              <a:rPr lang="zh-CN" altLang="zh-CN" dirty="0">
                <a:latin typeface="Times" pitchFamily="2" charset="0"/>
              </a:rPr>
              <a:t>隔离性（</a:t>
            </a:r>
            <a:r>
              <a:rPr lang="en-US" altLang="zh-CN" b="1" u="sng" dirty="0">
                <a:latin typeface="Times" pitchFamily="2" charset="0"/>
              </a:rPr>
              <a:t>I</a:t>
            </a:r>
            <a:r>
              <a:rPr lang="en-US" altLang="zh-CN" dirty="0">
                <a:latin typeface="Times" pitchFamily="2" charset="0"/>
              </a:rPr>
              <a:t>solation</a:t>
            </a:r>
            <a:r>
              <a:rPr lang="zh-CN" altLang="zh-CN" dirty="0">
                <a:latin typeface="Times" pitchFamily="2" charset="0"/>
              </a:rPr>
              <a:t>）</a:t>
            </a:r>
            <a:endParaRPr lang="en-US" altLang="zh-CN" dirty="0">
              <a:latin typeface="Times" pitchFamily="2" charset="0"/>
            </a:endParaRPr>
          </a:p>
          <a:p>
            <a:pPr lvl="2"/>
            <a:r>
              <a:rPr lang="zh-CN" altLang="zh-CN" dirty="0">
                <a:latin typeface="Times" pitchFamily="2" charset="0"/>
              </a:rPr>
              <a:t>持久性（</a:t>
            </a:r>
            <a:r>
              <a:rPr lang="en-US" altLang="zh-CN" b="1" u="sng" dirty="0">
                <a:latin typeface="Times" pitchFamily="2" charset="0"/>
              </a:rPr>
              <a:t>D</a:t>
            </a:r>
            <a:r>
              <a:rPr lang="en-US" altLang="zh-CN" dirty="0">
                <a:latin typeface="Times" pitchFamily="2" charset="0"/>
              </a:rPr>
              <a:t>urability</a:t>
            </a:r>
            <a:r>
              <a:rPr lang="zh-CN" altLang="zh-CN" dirty="0">
                <a:latin typeface="Times" pitchFamily="2" charset="0"/>
              </a:rPr>
              <a:t>）   </a:t>
            </a:r>
            <a:endParaRPr lang="en-US" altLang="zh-CN" dirty="0">
              <a:latin typeface="Times" pitchFamily="2" charset="0"/>
              <a:cs typeface="Arial" panose="020B0604020202020204" pitchFamily="34" charset="0"/>
            </a:endParaRPr>
          </a:p>
        </p:txBody>
      </p:sp>
      <p:sp>
        <p:nvSpPr>
          <p:cNvPr id="5" name="灯片编号占位符 1">
            <a:extLst>
              <a:ext uri="{FF2B5EF4-FFF2-40B4-BE49-F238E27FC236}">
                <a16:creationId xmlns:a16="http://schemas.microsoft.com/office/drawing/2014/main" id="{DB5AD7DE-CF08-0D1A-6B1E-6A0CB254EDC8}"/>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52</a:t>
            </a:fld>
            <a:endParaRPr lang="zh-CN" altLang="en-US" dirty="0"/>
          </a:p>
        </p:txBody>
      </p:sp>
    </p:spTree>
    <p:extLst>
      <p:ext uri="{BB962C8B-B14F-4D97-AF65-F5344CB8AC3E}">
        <p14:creationId xmlns:p14="http://schemas.microsoft.com/office/powerpoint/2010/main" val="40432696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sz="4400" dirty="0">
                <a:latin typeface="Times" pitchFamily="2" charset="0"/>
              </a:rPr>
              <a:t>ACID</a:t>
            </a:r>
            <a:r>
              <a:rPr lang="zh-CN" altLang="en-US" sz="4400" dirty="0">
                <a:latin typeface="Times" pitchFamily="2" charset="0"/>
              </a:rPr>
              <a:t>特性</a:t>
            </a:r>
            <a:endParaRPr lang="en-US" altLang="zh-CN" sz="4400" dirty="0">
              <a:latin typeface="Times" pitchFamily="2" charset="0"/>
            </a:endParaRPr>
          </a:p>
        </p:txBody>
      </p:sp>
      <p:graphicFrame>
        <p:nvGraphicFramePr>
          <p:cNvPr id="7" name="图示 6">
            <a:extLst>
              <a:ext uri="{FF2B5EF4-FFF2-40B4-BE49-F238E27FC236}">
                <a16:creationId xmlns:a16="http://schemas.microsoft.com/office/drawing/2014/main" id="{6AC314E3-F909-B3CC-33CB-F2B7B4569C85}"/>
              </a:ext>
            </a:extLst>
          </p:cNvPr>
          <p:cNvGraphicFramePr/>
          <p:nvPr>
            <p:extLst>
              <p:ext uri="{D42A27DB-BD31-4B8C-83A1-F6EECF244321}">
                <p14:modId xmlns:p14="http://schemas.microsoft.com/office/powerpoint/2010/main" val="184854128"/>
              </p:ext>
            </p:extLst>
          </p:nvPr>
        </p:nvGraphicFramePr>
        <p:xfrm>
          <a:off x="971550" y="992621"/>
          <a:ext cx="9718722"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圆角矩形 8">
            <a:extLst>
              <a:ext uri="{FF2B5EF4-FFF2-40B4-BE49-F238E27FC236}">
                <a16:creationId xmlns:a16="http://schemas.microsoft.com/office/drawing/2014/main" id="{48F63F46-8304-6CE2-B31C-D2DB32DFC186}"/>
              </a:ext>
            </a:extLst>
          </p:cNvPr>
          <p:cNvSpPr/>
          <p:nvPr/>
        </p:nvSpPr>
        <p:spPr>
          <a:xfrm>
            <a:off x="199237" y="4540939"/>
            <a:ext cx="3840501" cy="1733973"/>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r>
              <a:rPr lang="zh-CN" altLang="en-US" sz="2000" dirty="0">
                <a:latin typeface="SimHei" panose="02010609060101010101" pitchFamily="49" charset="-122"/>
                <a:ea typeface="SimHei" panose="02010609060101010101" pitchFamily="49" charset="-122"/>
              </a:rPr>
              <a:t>多个事务在并发执行的过程中所得到的结果，和串行执行得到的结果是一致的，保证了事务并发处理中事务的正确性。并发控制是实现事务隔离性的手段。</a:t>
            </a:r>
            <a:endParaRPr lang="zh-CN" altLang="en-US" sz="4000" dirty="0">
              <a:latin typeface="SimHei" panose="02010609060101010101" pitchFamily="49" charset="-122"/>
              <a:ea typeface="SimHei" panose="02010609060101010101" pitchFamily="49" charset="-122"/>
            </a:endParaRPr>
          </a:p>
        </p:txBody>
      </p:sp>
      <p:sp>
        <p:nvSpPr>
          <p:cNvPr id="13" name="圆角矩形 12">
            <a:extLst>
              <a:ext uri="{FF2B5EF4-FFF2-40B4-BE49-F238E27FC236}">
                <a16:creationId xmlns:a16="http://schemas.microsoft.com/office/drawing/2014/main" id="{90C6CB22-6B66-1EAE-AA42-BA3D77571957}"/>
              </a:ext>
            </a:extLst>
          </p:cNvPr>
          <p:cNvSpPr/>
          <p:nvPr/>
        </p:nvSpPr>
        <p:spPr>
          <a:xfrm>
            <a:off x="199237" y="1550141"/>
            <a:ext cx="3840501" cy="1086439"/>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lvl="0"/>
            <a:r>
              <a:rPr lang="zh-CN" altLang="en-US" sz="2000" dirty="0">
                <a:latin typeface="SimHei" panose="02010609060101010101" pitchFamily="49" charset="-122"/>
                <a:ea typeface="SimHei" panose="02010609060101010101" pitchFamily="49" charset="-122"/>
              </a:rPr>
              <a:t>事务是一个不可再分的基本操作单元。事务要么全部成功要么全部失败。</a:t>
            </a:r>
          </a:p>
        </p:txBody>
      </p:sp>
      <p:sp>
        <p:nvSpPr>
          <p:cNvPr id="14" name="圆角矩形 13">
            <a:extLst>
              <a:ext uri="{FF2B5EF4-FFF2-40B4-BE49-F238E27FC236}">
                <a16:creationId xmlns:a16="http://schemas.microsoft.com/office/drawing/2014/main" id="{CB42C078-2B10-97F1-CC91-187BA92FDB1A}"/>
              </a:ext>
            </a:extLst>
          </p:cNvPr>
          <p:cNvSpPr/>
          <p:nvPr/>
        </p:nvSpPr>
        <p:spPr>
          <a:xfrm>
            <a:off x="7830610" y="1589192"/>
            <a:ext cx="3840501" cy="1086439"/>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r>
              <a:rPr lang="zh-CN" altLang="zh-CN" sz="2000" dirty="0">
                <a:latin typeface="SimHei" panose="02010609060101010101" pitchFamily="49" charset="-122"/>
                <a:ea typeface="SimHei" panose="02010609060101010101" pitchFamily="49" charset="-122"/>
              </a:rPr>
              <a:t>事务的执行会保证数据库从一个正确（一致）的状态转移到另一个正确的状态。</a:t>
            </a:r>
            <a:r>
              <a:rPr lang="en-US" altLang="zh-CN" sz="2000" dirty="0">
                <a:latin typeface="SimHei" panose="02010609060101010101" pitchFamily="49" charset="-122"/>
                <a:ea typeface="SimHei" panose="02010609060101010101" pitchFamily="49" charset="-122"/>
              </a:rPr>
              <a:t> </a:t>
            </a:r>
            <a:endParaRPr lang="zh-CN" altLang="en-US" sz="2000" dirty="0">
              <a:latin typeface="SimHei" panose="02010609060101010101" pitchFamily="49" charset="-122"/>
              <a:ea typeface="SimHei" panose="02010609060101010101" pitchFamily="49" charset="-122"/>
            </a:endParaRPr>
          </a:p>
        </p:txBody>
      </p:sp>
      <p:sp>
        <p:nvSpPr>
          <p:cNvPr id="15" name="圆角矩形 14">
            <a:extLst>
              <a:ext uri="{FF2B5EF4-FFF2-40B4-BE49-F238E27FC236}">
                <a16:creationId xmlns:a16="http://schemas.microsoft.com/office/drawing/2014/main" id="{D07DF539-9069-37AA-195A-AAF6FF124183}"/>
              </a:ext>
            </a:extLst>
          </p:cNvPr>
          <p:cNvSpPr/>
          <p:nvPr/>
        </p:nvSpPr>
        <p:spPr>
          <a:xfrm>
            <a:off x="7830609" y="4530703"/>
            <a:ext cx="3840501" cy="1426394"/>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lvl="0"/>
            <a:r>
              <a:rPr lang="zh-CN" altLang="zh-CN" sz="2000" dirty="0">
                <a:latin typeface="SimHei" panose="02010609060101010101" pitchFamily="49" charset="-122"/>
                <a:ea typeface="SimHei" panose="02010609060101010101" pitchFamily="49" charset="-122"/>
              </a:rPr>
              <a:t>一旦一个事务提交以后，即使数据库发生故障，该事务的执行结果也不会丢失，可以被正确地恢复，仍然对后续事务可见</a:t>
            </a:r>
            <a:r>
              <a:rPr lang="en-US" altLang="zh-CN" sz="2000" dirty="0">
                <a:latin typeface="SimHei" panose="02010609060101010101" pitchFamily="49" charset="-122"/>
                <a:ea typeface="SimHei" panose="02010609060101010101" pitchFamily="49" charset="-122"/>
              </a:rPr>
              <a:t> </a:t>
            </a:r>
            <a:endParaRPr lang="zh-CN" altLang="en-US" sz="2000" dirty="0">
              <a:latin typeface="SimHei" panose="02010609060101010101" pitchFamily="49" charset="-122"/>
              <a:ea typeface="SimHei" panose="02010609060101010101" pitchFamily="49" charset="-122"/>
            </a:endParaRPr>
          </a:p>
        </p:txBody>
      </p:sp>
      <p:sp>
        <p:nvSpPr>
          <p:cNvPr id="17" name="文本框 16">
            <a:extLst>
              <a:ext uri="{FF2B5EF4-FFF2-40B4-BE49-F238E27FC236}">
                <a16:creationId xmlns:a16="http://schemas.microsoft.com/office/drawing/2014/main" id="{FA3982A8-4C73-49F3-315C-9F9C6D29E8B5}"/>
              </a:ext>
            </a:extLst>
          </p:cNvPr>
          <p:cNvSpPr txBox="1"/>
          <p:nvPr/>
        </p:nvSpPr>
        <p:spPr>
          <a:xfrm>
            <a:off x="3969301" y="4221421"/>
            <a:ext cx="1685499" cy="646331"/>
          </a:xfrm>
          <a:prstGeom prst="rect">
            <a:avLst/>
          </a:prstGeom>
          <a:noFill/>
        </p:spPr>
        <p:txBody>
          <a:bodyPr wrap="square">
            <a:spAutoFit/>
          </a:bodyPr>
          <a:lstStyle/>
          <a:p>
            <a:pPr lvl="0"/>
            <a:r>
              <a:rPr lang="zh-CN" altLang="en-US" sz="3600" b="1" dirty="0">
                <a:solidFill>
                  <a:schemeClr val="bg1"/>
                </a:solidFill>
                <a:latin typeface="SimHei" panose="02010609060101010101" pitchFamily="49" charset="-122"/>
                <a:ea typeface="SimHei" panose="02010609060101010101" pitchFamily="49" charset="-122"/>
              </a:rPr>
              <a:t>隔离性</a:t>
            </a:r>
          </a:p>
        </p:txBody>
      </p:sp>
      <p:sp>
        <p:nvSpPr>
          <p:cNvPr id="18" name="文本框 17">
            <a:extLst>
              <a:ext uri="{FF2B5EF4-FFF2-40B4-BE49-F238E27FC236}">
                <a16:creationId xmlns:a16="http://schemas.microsoft.com/office/drawing/2014/main" id="{0B6348FB-E9EC-CECD-98C5-DA7D5F676700}"/>
              </a:ext>
            </a:extLst>
          </p:cNvPr>
          <p:cNvSpPr txBox="1"/>
          <p:nvPr/>
        </p:nvSpPr>
        <p:spPr>
          <a:xfrm>
            <a:off x="4039738" y="2352465"/>
            <a:ext cx="1685499" cy="646331"/>
          </a:xfrm>
          <a:prstGeom prst="rect">
            <a:avLst/>
          </a:prstGeom>
          <a:noFill/>
        </p:spPr>
        <p:txBody>
          <a:bodyPr wrap="square">
            <a:spAutoFit/>
          </a:bodyPr>
          <a:lstStyle/>
          <a:p>
            <a:pPr lvl="0"/>
            <a:r>
              <a:rPr lang="zh-CN" altLang="en-US" sz="3600" b="1" dirty="0">
                <a:solidFill>
                  <a:schemeClr val="bg1"/>
                </a:solidFill>
                <a:latin typeface="SimHei" panose="02010609060101010101" pitchFamily="49" charset="-122"/>
                <a:ea typeface="SimHei" panose="02010609060101010101" pitchFamily="49" charset="-122"/>
              </a:rPr>
              <a:t>原子性</a:t>
            </a:r>
          </a:p>
        </p:txBody>
      </p:sp>
      <p:sp>
        <p:nvSpPr>
          <p:cNvPr id="19" name="文本框 18">
            <a:extLst>
              <a:ext uri="{FF2B5EF4-FFF2-40B4-BE49-F238E27FC236}">
                <a16:creationId xmlns:a16="http://schemas.microsoft.com/office/drawing/2014/main" id="{BCAD3A3C-A699-3D99-BA2E-76C5CCA9AB92}"/>
              </a:ext>
            </a:extLst>
          </p:cNvPr>
          <p:cNvSpPr txBox="1"/>
          <p:nvPr/>
        </p:nvSpPr>
        <p:spPr>
          <a:xfrm>
            <a:off x="6145110" y="2352465"/>
            <a:ext cx="1685499" cy="646331"/>
          </a:xfrm>
          <a:prstGeom prst="rect">
            <a:avLst/>
          </a:prstGeom>
          <a:noFill/>
        </p:spPr>
        <p:txBody>
          <a:bodyPr wrap="square">
            <a:spAutoFit/>
          </a:bodyPr>
          <a:lstStyle/>
          <a:p>
            <a:pPr lvl="0"/>
            <a:r>
              <a:rPr lang="zh-CN" altLang="en-US" sz="3600" b="1" dirty="0">
                <a:solidFill>
                  <a:schemeClr val="bg1"/>
                </a:solidFill>
                <a:latin typeface="SimHei" panose="02010609060101010101" pitchFamily="49" charset="-122"/>
                <a:ea typeface="SimHei" panose="02010609060101010101" pitchFamily="49" charset="-122"/>
              </a:rPr>
              <a:t>一致性</a:t>
            </a:r>
          </a:p>
        </p:txBody>
      </p:sp>
      <p:sp>
        <p:nvSpPr>
          <p:cNvPr id="20" name="文本框 19">
            <a:extLst>
              <a:ext uri="{FF2B5EF4-FFF2-40B4-BE49-F238E27FC236}">
                <a16:creationId xmlns:a16="http://schemas.microsoft.com/office/drawing/2014/main" id="{244D99B6-D73E-02C0-6B34-9D272FB9DB3E}"/>
              </a:ext>
            </a:extLst>
          </p:cNvPr>
          <p:cNvSpPr txBox="1"/>
          <p:nvPr/>
        </p:nvSpPr>
        <p:spPr>
          <a:xfrm>
            <a:off x="6122601" y="4221421"/>
            <a:ext cx="1685499" cy="646331"/>
          </a:xfrm>
          <a:prstGeom prst="rect">
            <a:avLst/>
          </a:prstGeom>
          <a:noFill/>
        </p:spPr>
        <p:txBody>
          <a:bodyPr wrap="square">
            <a:spAutoFit/>
          </a:bodyPr>
          <a:lstStyle/>
          <a:p>
            <a:pPr lvl="0"/>
            <a:r>
              <a:rPr lang="zh-CN" altLang="en-US" sz="3600" b="1" dirty="0">
                <a:solidFill>
                  <a:schemeClr val="bg1"/>
                </a:solidFill>
                <a:latin typeface="SimHei" panose="02010609060101010101" pitchFamily="49" charset="-122"/>
                <a:ea typeface="SimHei" panose="02010609060101010101" pitchFamily="49" charset="-122"/>
              </a:rPr>
              <a:t>持久性</a:t>
            </a:r>
          </a:p>
        </p:txBody>
      </p:sp>
      <p:sp>
        <p:nvSpPr>
          <p:cNvPr id="12" name="灯片编号占位符 1">
            <a:extLst>
              <a:ext uri="{FF2B5EF4-FFF2-40B4-BE49-F238E27FC236}">
                <a16:creationId xmlns:a16="http://schemas.microsoft.com/office/drawing/2014/main" id="{99FA7D45-EE06-A605-1108-2919878BF61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53</a:t>
            </a:fld>
            <a:endParaRPr lang="zh-CN" altLang="en-US" dirty="0"/>
          </a:p>
        </p:txBody>
      </p:sp>
    </p:spTree>
    <p:extLst>
      <p:ext uri="{BB962C8B-B14F-4D97-AF65-F5344CB8AC3E}">
        <p14:creationId xmlns:p14="http://schemas.microsoft.com/office/powerpoint/2010/main" val="3914109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sz="4400" dirty="0">
                <a:latin typeface="Times" pitchFamily="2" charset="0"/>
              </a:rPr>
              <a:t>OLAP</a:t>
            </a:r>
            <a:r>
              <a:rPr lang="zh-CN" altLang="en-US" sz="4400" dirty="0">
                <a:latin typeface="Times" pitchFamily="2" charset="0"/>
              </a:rPr>
              <a:t>数据库</a:t>
            </a:r>
            <a:endParaRPr lang="en-US" altLang="zh-CN" sz="4400" dirty="0">
              <a:latin typeface="Times" pitchFamily="2" charset="0"/>
            </a:endParaRPr>
          </a:p>
        </p:txBody>
      </p:sp>
      <p:sp>
        <p:nvSpPr>
          <p:cNvPr id="4" name="内容占位符 2">
            <a:extLst>
              <a:ext uri="{FF2B5EF4-FFF2-40B4-BE49-F238E27FC236}">
                <a16:creationId xmlns:a16="http://schemas.microsoft.com/office/drawing/2014/main" id="{99E90919-814E-29FD-7353-AFE98BE01B5D}"/>
              </a:ext>
            </a:extLst>
          </p:cNvPr>
          <p:cNvSpPr>
            <a:spLocks noGrp="1"/>
          </p:cNvSpPr>
          <p:nvPr>
            <p:ph idx="1"/>
          </p:nvPr>
        </p:nvSpPr>
        <p:spPr>
          <a:xfrm>
            <a:off x="288551" y="1206950"/>
            <a:ext cx="11456894" cy="4839008"/>
          </a:xfrm>
        </p:spPr>
        <p:txBody>
          <a:bodyPr/>
          <a:lstStyle/>
          <a:p>
            <a:r>
              <a:rPr lang="en-US" altLang="zh-CN" sz="3600" dirty="0">
                <a:latin typeface="Times" pitchFamily="2" charset="0"/>
              </a:rPr>
              <a:t>OLAP</a:t>
            </a:r>
          </a:p>
          <a:p>
            <a:pPr lvl="1"/>
            <a:r>
              <a:rPr lang="zh-CN" altLang="en-US" b="1" dirty="0">
                <a:latin typeface="Times" pitchFamily="2" charset="0"/>
              </a:rPr>
              <a:t>起源</a:t>
            </a:r>
            <a:r>
              <a:rPr lang="zh-CN" altLang="en-US" dirty="0">
                <a:latin typeface="Times" pitchFamily="2" charset="0"/>
              </a:rPr>
              <a:t>：随</a:t>
            </a:r>
            <a:r>
              <a:rPr lang="zh-CN" altLang="zh-CN" dirty="0">
                <a:latin typeface="Times" pitchFamily="2" charset="0"/>
              </a:rPr>
              <a:t>着数据库的大规模应用，数据库内存储的数据量也日积月累地增长，于是人们逐渐开始</a:t>
            </a:r>
            <a:r>
              <a:rPr lang="zh-CN" altLang="zh-CN" dirty="0">
                <a:solidFill>
                  <a:srgbClr val="7030A0"/>
                </a:solidFill>
                <a:latin typeface="Times" pitchFamily="2" charset="0"/>
              </a:rPr>
              <a:t>关心</a:t>
            </a:r>
            <a:r>
              <a:rPr lang="zh-CN" altLang="zh-CN" b="1" dirty="0">
                <a:solidFill>
                  <a:srgbClr val="7030A0"/>
                </a:solidFill>
                <a:latin typeface="Times" pitchFamily="2" charset="0"/>
              </a:rPr>
              <a:t>如何从这些原始数据中挖掘出隐含的价值</a:t>
            </a:r>
            <a:r>
              <a:rPr lang="zh-CN" altLang="zh-CN" dirty="0">
                <a:latin typeface="Times" pitchFamily="2" charset="0"/>
              </a:rPr>
              <a:t>，因此，</a:t>
            </a:r>
            <a:r>
              <a:rPr lang="en-US" altLang="zh-CN" dirty="0">
                <a:latin typeface="Times" pitchFamily="2" charset="0"/>
              </a:rPr>
              <a:t>OLAP</a:t>
            </a:r>
            <a:r>
              <a:rPr lang="zh-CN" altLang="zh-CN" dirty="0">
                <a:latin typeface="Times" pitchFamily="2" charset="0"/>
              </a:rPr>
              <a:t>数据库应运而生</a:t>
            </a:r>
            <a:r>
              <a:rPr lang="zh-CN" altLang="en-US" dirty="0">
                <a:latin typeface="Times" pitchFamily="2" charset="0"/>
              </a:rPr>
              <a:t>。</a:t>
            </a:r>
            <a:endParaRPr lang="en-US" altLang="zh-CN" dirty="0">
              <a:latin typeface="Times" pitchFamily="2" charset="0"/>
            </a:endParaRPr>
          </a:p>
          <a:p>
            <a:pPr lvl="1"/>
            <a:r>
              <a:rPr lang="zh-CN" altLang="en-US" b="1" dirty="0">
                <a:latin typeface="Times" pitchFamily="2" charset="0"/>
                <a:cs typeface="Arial" panose="020B0604020202020204" pitchFamily="34" charset="0"/>
              </a:rPr>
              <a:t>用途</a:t>
            </a:r>
            <a:r>
              <a:rPr lang="zh-CN" altLang="en-US" dirty="0">
                <a:latin typeface="Times" pitchFamily="2" charset="0"/>
                <a:cs typeface="Arial" panose="020B0604020202020204" pitchFamily="34" charset="0"/>
              </a:rPr>
              <a:t>：</a:t>
            </a:r>
            <a:r>
              <a:rPr lang="en-US" altLang="zh-CN" dirty="0">
                <a:latin typeface="Times" pitchFamily="2" charset="0"/>
                <a:cs typeface="Arial" panose="020B0604020202020204" pitchFamily="34" charset="0"/>
              </a:rPr>
              <a:t>OLAP </a:t>
            </a:r>
            <a:r>
              <a:rPr lang="zh-CN" altLang="en-US" dirty="0">
                <a:latin typeface="Times" pitchFamily="2" charset="0"/>
                <a:cs typeface="Arial" panose="020B0604020202020204" pitchFamily="34" charset="0"/>
              </a:rPr>
              <a:t>的常见用途包括数据挖掘和其他商业智能应用程序、复杂的分析计算和预测场景，以及财务分析、预算和预测计划等业务报告功能。</a:t>
            </a:r>
            <a:endParaRPr lang="en-US" altLang="zh-CN" dirty="0">
              <a:latin typeface="Times" pitchFamily="2" charset="0"/>
              <a:cs typeface="Arial" panose="020B0604020202020204" pitchFamily="34" charset="0"/>
            </a:endParaRPr>
          </a:p>
          <a:p>
            <a:pPr lvl="1"/>
            <a:r>
              <a:rPr lang="zh-CN" altLang="en-US" b="1" dirty="0">
                <a:latin typeface="Times" pitchFamily="2" charset="0"/>
                <a:cs typeface="Arial" panose="020B0604020202020204" pitchFamily="34" charset="0"/>
              </a:rPr>
              <a:t>常见操作</a:t>
            </a:r>
            <a:r>
              <a:rPr lang="zh-CN" altLang="en-US" dirty="0">
                <a:latin typeface="Times" pitchFamily="2" charset="0"/>
                <a:cs typeface="Arial" panose="020B0604020202020204" pitchFamily="34" charset="0"/>
              </a:rPr>
              <a:t>：最基本的操作是对数据进行聚集和统计，这种聚集查询可能对多表进行连接并匹配和统计百万行记录 。</a:t>
            </a:r>
          </a:p>
          <a:p>
            <a:pPr lvl="1"/>
            <a:endParaRPr lang="en-US" altLang="zh-CN" sz="3600" dirty="0">
              <a:latin typeface="Times" pitchFamily="2" charset="0"/>
              <a:cs typeface="Arial" panose="020B0604020202020204" pitchFamily="34" charset="0"/>
            </a:endParaRPr>
          </a:p>
        </p:txBody>
      </p:sp>
      <p:sp>
        <p:nvSpPr>
          <p:cNvPr id="5" name="灯片编号占位符 1">
            <a:extLst>
              <a:ext uri="{FF2B5EF4-FFF2-40B4-BE49-F238E27FC236}">
                <a16:creationId xmlns:a16="http://schemas.microsoft.com/office/drawing/2014/main" id="{8FAD3933-7714-D8D7-B6B3-E2389F9B611B}"/>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54</a:t>
            </a:fld>
            <a:endParaRPr lang="zh-CN" altLang="en-US" dirty="0"/>
          </a:p>
        </p:txBody>
      </p:sp>
    </p:spTree>
    <p:extLst>
      <p:ext uri="{BB962C8B-B14F-4D97-AF65-F5344CB8AC3E}">
        <p14:creationId xmlns:p14="http://schemas.microsoft.com/office/powerpoint/2010/main" val="1402136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latin typeface="Times" pitchFamily="2" charset="0"/>
              </a:rPr>
              <a:t>OLTP</a:t>
            </a:r>
            <a:r>
              <a:rPr lang="zh-CN" altLang="en-US" dirty="0">
                <a:latin typeface="Times" pitchFamily="2" charset="0"/>
              </a:rPr>
              <a:t>数据库 和 </a:t>
            </a:r>
            <a:r>
              <a:rPr lang="en-US" altLang="zh-CN" dirty="0">
                <a:latin typeface="Times" pitchFamily="2" charset="0"/>
              </a:rPr>
              <a:t>OLAP</a:t>
            </a:r>
            <a:r>
              <a:rPr lang="zh-CN" altLang="en-US" dirty="0">
                <a:latin typeface="Times" pitchFamily="2" charset="0"/>
              </a:rPr>
              <a:t>数据库</a:t>
            </a:r>
            <a:endParaRPr lang="en-US" altLang="zh-CN" dirty="0">
              <a:latin typeface="Times" pitchFamily="2" charset="0"/>
            </a:endParaRPr>
          </a:p>
        </p:txBody>
      </p:sp>
      <p:graphicFrame>
        <p:nvGraphicFramePr>
          <p:cNvPr id="6" name="内容占位符 5">
            <a:extLst>
              <a:ext uri="{FF2B5EF4-FFF2-40B4-BE49-F238E27FC236}">
                <a16:creationId xmlns:a16="http://schemas.microsoft.com/office/drawing/2014/main" id="{E891C6DB-C5D3-4639-5E5C-C30219E59C52}"/>
              </a:ext>
            </a:extLst>
          </p:cNvPr>
          <p:cNvGraphicFramePr>
            <a:graphicFrameLocks noGrp="1"/>
          </p:cNvGraphicFramePr>
          <p:nvPr>
            <p:ph idx="1"/>
            <p:extLst>
              <p:ext uri="{D42A27DB-BD31-4B8C-83A1-F6EECF244321}">
                <p14:modId xmlns:p14="http://schemas.microsoft.com/office/powerpoint/2010/main" val="2232842322"/>
              </p:ext>
            </p:extLst>
          </p:nvPr>
        </p:nvGraphicFramePr>
        <p:xfrm>
          <a:off x="151262" y="1097019"/>
          <a:ext cx="11889475" cy="5670971"/>
        </p:xfrm>
        <a:graphic>
          <a:graphicData uri="http://schemas.openxmlformats.org/drawingml/2006/table">
            <a:tbl>
              <a:tblPr firstRow="1" firstCol="1" bandRow="1">
                <a:tableStyleId>{5C22544A-7EE6-4342-B048-85BDC9FD1C3A}</a:tableStyleId>
              </a:tblPr>
              <a:tblGrid>
                <a:gridCol w="1533770">
                  <a:extLst>
                    <a:ext uri="{9D8B030D-6E8A-4147-A177-3AD203B41FA5}">
                      <a16:colId xmlns:a16="http://schemas.microsoft.com/office/drawing/2014/main" val="3882288939"/>
                    </a:ext>
                  </a:extLst>
                </a:gridCol>
                <a:gridCol w="5370812">
                  <a:extLst>
                    <a:ext uri="{9D8B030D-6E8A-4147-A177-3AD203B41FA5}">
                      <a16:colId xmlns:a16="http://schemas.microsoft.com/office/drawing/2014/main" val="634631656"/>
                    </a:ext>
                  </a:extLst>
                </a:gridCol>
                <a:gridCol w="4984893">
                  <a:extLst>
                    <a:ext uri="{9D8B030D-6E8A-4147-A177-3AD203B41FA5}">
                      <a16:colId xmlns:a16="http://schemas.microsoft.com/office/drawing/2014/main" val="4076139625"/>
                    </a:ext>
                  </a:extLst>
                </a:gridCol>
              </a:tblGrid>
              <a:tr h="192565">
                <a:tc>
                  <a:txBody>
                    <a:bodyPr/>
                    <a:lstStyle/>
                    <a:p>
                      <a:pPr indent="127000" algn="ctr">
                        <a:lnSpc>
                          <a:spcPct val="150000"/>
                        </a:lnSpc>
                      </a:pPr>
                      <a:r>
                        <a:rPr lang="zh-CN" sz="2400" kern="100" dirty="0">
                          <a:effectLst/>
                          <a:latin typeface="Times" pitchFamily="2" charset="0"/>
                          <a:ea typeface="SimHei" panose="02010609060101010101" pitchFamily="49" charset="-122"/>
                        </a:rPr>
                        <a:t>维度</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2800" kern="100" dirty="0">
                          <a:effectLst/>
                          <a:latin typeface="Times" pitchFamily="2" charset="0"/>
                          <a:ea typeface="SimHei" panose="02010609060101010101" pitchFamily="49" charset="-122"/>
                        </a:rPr>
                        <a:t>OLTP</a:t>
                      </a:r>
                      <a:endParaRPr lang="zh-CN" sz="28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2800" kern="100" dirty="0">
                          <a:effectLst/>
                          <a:latin typeface="Times" pitchFamily="2" charset="0"/>
                          <a:ea typeface="SimHei" panose="02010609060101010101" pitchFamily="49" charset="-122"/>
                        </a:rPr>
                        <a:t>OLAP</a:t>
                      </a:r>
                      <a:endParaRPr lang="zh-CN" sz="28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18700097"/>
                  </a:ext>
                </a:extLst>
              </a:tr>
              <a:tr h="526031">
                <a:tc>
                  <a:txBody>
                    <a:bodyPr/>
                    <a:lstStyle/>
                    <a:p>
                      <a:pPr indent="127000" algn="just">
                        <a:lnSpc>
                          <a:spcPct val="150000"/>
                        </a:lnSpc>
                      </a:pPr>
                      <a:r>
                        <a:rPr lang="zh-CN" sz="2400" kern="100" dirty="0">
                          <a:effectLst/>
                          <a:latin typeface="Times" pitchFamily="2" charset="0"/>
                          <a:ea typeface="SimHei" panose="02010609060101010101" pitchFamily="49" charset="-122"/>
                        </a:rPr>
                        <a:t>主要用途</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tc>
                <a:tc>
                  <a:txBody>
                    <a:bodyPr/>
                    <a:lstStyle/>
                    <a:p>
                      <a:pPr indent="127000" algn="just">
                        <a:lnSpc>
                          <a:spcPct val="150000"/>
                        </a:lnSpc>
                      </a:pPr>
                      <a:r>
                        <a:rPr lang="zh-CN" sz="2100" kern="100" dirty="0">
                          <a:effectLst/>
                          <a:latin typeface="Times" pitchFamily="2" charset="0"/>
                          <a:ea typeface="SimHei" panose="02010609060101010101" pitchFamily="49" charset="-122"/>
                        </a:rPr>
                        <a:t>支持实时交易数据的存储、更新和共享</a:t>
                      </a:r>
                      <a:endParaRPr lang="zh-CN" sz="21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tc>
                <a:tc>
                  <a:txBody>
                    <a:bodyPr/>
                    <a:lstStyle/>
                    <a:p>
                      <a:pPr indent="127000" algn="just">
                        <a:lnSpc>
                          <a:spcPct val="150000"/>
                        </a:lnSpc>
                      </a:pPr>
                      <a:r>
                        <a:rPr lang="zh-CN" sz="2100" kern="100">
                          <a:effectLst/>
                          <a:latin typeface="Times" pitchFamily="2" charset="0"/>
                          <a:ea typeface="SimHei" panose="02010609060101010101" pitchFamily="49" charset="-122"/>
                        </a:rPr>
                        <a:t>基于历史数据进行分析，发现知识和规律</a:t>
                      </a:r>
                      <a:endParaRPr lang="zh-CN" sz="2100" kern="100">
                        <a:effectLst/>
                        <a:latin typeface="Times" pitchFamily="2" charset="0"/>
                        <a:ea typeface="SimHei"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1271616525"/>
                  </a:ext>
                </a:extLst>
              </a:tr>
              <a:tr h="526031">
                <a:tc>
                  <a:txBody>
                    <a:bodyPr/>
                    <a:lstStyle/>
                    <a:p>
                      <a:pPr indent="127000" algn="just">
                        <a:lnSpc>
                          <a:spcPct val="150000"/>
                        </a:lnSpc>
                      </a:pPr>
                      <a:r>
                        <a:rPr lang="zh-CN" sz="2400" kern="100" dirty="0">
                          <a:effectLst/>
                          <a:latin typeface="Times" pitchFamily="2" charset="0"/>
                          <a:ea typeface="SimHei" panose="02010609060101010101" pitchFamily="49" charset="-122"/>
                        </a:rPr>
                        <a:t>典型场景</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tc>
                <a:tc>
                  <a:txBody>
                    <a:bodyPr/>
                    <a:lstStyle/>
                    <a:p>
                      <a:pPr indent="127000" algn="just">
                        <a:lnSpc>
                          <a:spcPct val="150000"/>
                        </a:lnSpc>
                      </a:pPr>
                      <a:r>
                        <a:rPr lang="zh-CN" sz="2100" kern="100" dirty="0">
                          <a:effectLst/>
                          <a:latin typeface="Times" pitchFamily="2" charset="0"/>
                          <a:ea typeface="SimHei" panose="02010609060101010101" pitchFamily="49" charset="-122"/>
                        </a:rPr>
                        <a:t>快速处理高并发、小批量的数据</a:t>
                      </a:r>
                      <a:endParaRPr lang="zh-CN" sz="21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tc>
                <a:tc>
                  <a:txBody>
                    <a:bodyPr/>
                    <a:lstStyle/>
                    <a:p>
                      <a:pPr indent="127000" algn="just">
                        <a:lnSpc>
                          <a:spcPct val="150000"/>
                        </a:lnSpc>
                      </a:pPr>
                      <a:r>
                        <a:rPr lang="zh-CN" sz="2100" kern="100">
                          <a:effectLst/>
                          <a:latin typeface="Times" pitchFamily="2" charset="0"/>
                          <a:ea typeface="SimHei" panose="02010609060101010101" pitchFamily="49" charset="-122"/>
                        </a:rPr>
                        <a:t>使用复杂的查询处理大量数据</a:t>
                      </a:r>
                      <a:endParaRPr lang="zh-CN" sz="2100" kern="100">
                        <a:effectLst/>
                        <a:latin typeface="Times" pitchFamily="2" charset="0"/>
                        <a:ea typeface="SimHei"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4194671572"/>
                  </a:ext>
                </a:extLst>
              </a:tr>
              <a:tr h="526031">
                <a:tc>
                  <a:txBody>
                    <a:bodyPr/>
                    <a:lstStyle/>
                    <a:p>
                      <a:pPr indent="127000" algn="just">
                        <a:lnSpc>
                          <a:spcPct val="150000"/>
                        </a:lnSpc>
                      </a:pPr>
                      <a:r>
                        <a:rPr lang="zh-CN" sz="2400" kern="100" dirty="0">
                          <a:effectLst/>
                          <a:latin typeface="Times" pitchFamily="2" charset="0"/>
                          <a:ea typeface="SimHei" panose="02010609060101010101" pitchFamily="49" charset="-122"/>
                        </a:rPr>
                        <a:t>主要用户</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tc>
                <a:tc>
                  <a:txBody>
                    <a:bodyPr/>
                    <a:lstStyle/>
                    <a:p>
                      <a:pPr indent="127000" algn="just">
                        <a:lnSpc>
                          <a:spcPct val="150000"/>
                        </a:lnSpc>
                      </a:pPr>
                      <a:r>
                        <a:rPr lang="zh-CN" sz="2100" kern="100">
                          <a:effectLst/>
                          <a:latin typeface="Times" pitchFamily="2" charset="0"/>
                          <a:ea typeface="SimHei" panose="02010609060101010101" pitchFamily="49" charset="-122"/>
                        </a:rPr>
                        <a:t>银行柜员、收银员、仓库管理员等</a:t>
                      </a:r>
                      <a:endParaRPr lang="zh-CN" sz="2100" kern="100">
                        <a:effectLst/>
                        <a:latin typeface="Times" pitchFamily="2" charset="0"/>
                        <a:ea typeface="SimHei" panose="02010609060101010101" pitchFamily="49" charset="-122"/>
                        <a:cs typeface="Times New Roman" panose="02020603050405020304" pitchFamily="18" charset="0"/>
                      </a:endParaRPr>
                    </a:p>
                  </a:txBody>
                  <a:tcPr marL="68580" marR="68580" marT="0" marB="0"/>
                </a:tc>
                <a:tc>
                  <a:txBody>
                    <a:bodyPr/>
                    <a:lstStyle/>
                    <a:p>
                      <a:pPr indent="127000" algn="just">
                        <a:lnSpc>
                          <a:spcPct val="150000"/>
                        </a:lnSpc>
                      </a:pPr>
                      <a:r>
                        <a:rPr lang="zh-CN" sz="2100" kern="100">
                          <a:effectLst/>
                          <a:latin typeface="Times" pitchFamily="2" charset="0"/>
                          <a:ea typeface="SimHei" panose="02010609060101010101" pitchFamily="49" charset="-122"/>
                        </a:rPr>
                        <a:t>数据分析师、业务分析师等</a:t>
                      </a:r>
                      <a:endParaRPr lang="zh-CN" sz="2100" kern="100">
                        <a:effectLst/>
                        <a:latin typeface="Times" pitchFamily="2" charset="0"/>
                        <a:ea typeface="SimHei"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974311426"/>
                  </a:ext>
                </a:extLst>
              </a:tr>
              <a:tr h="526031">
                <a:tc>
                  <a:txBody>
                    <a:bodyPr/>
                    <a:lstStyle/>
                    <a:p>
                      <a:pPr indent="127000" algn="just">
                        <a:lnSpc>
                          <a:spcPct val="150000"/>
                        </a:lnSpc>
                      </a:pPr>
                      <a:r>
                        <a:rPr lang="zh-CN" sz="2400" kern="100" dirty="0">
                          <a:effectLst/>
                          <a:latin typeface="Times" pitchFamily="2" charset="0"/>
                          <a:ea typeface="SimHei" panose="02010609060101010101" pitchFamily="49" charset="-122"/>
                        </a:rPr>
                        <a:t>主要操作</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tc>
                <a:tc>
                  <a:txBody>
                    <a:bodyPr/>
                    <a:lstStyle/>
                    <a:p>
                      <a:pPr indent="127000" algn="just">
                        <a:lnSpc>
                          <a:spcPct val="150000"/>
                        </a:lnSpc>
                      </a:pPr>
                      <a:r>
                        <a:rPr lang="zh-CN" sz="2100" kern="100" dirty="0">
                          <a:effectLst/>
                          <a:latin typeface="Times" pitchFamily="2" charset="0"/>
                          <a:ea typeface="SimHei" panose="02010609060101010101" pitchFamily="49" charset="-122"/>
                        </a:rPr>
                        <a:t>基于</a:t>
                      </a:r>
                      <a:r>
                        <a:rPr lang="en-US" sz="2100" kern="100" dirty="0">
                          <a:effectLst/>
                          <a:latin typeface="Times" pitchFamily="2" charset="0"/>
                          <a:ea typeface="SimHei" panose="02010609060101010101" pitchFamily="49" charset="-122"/>
                        </a:rPr>
                        <a:t>INSERT</a:t>
                      </a:r>
                      <a:r>
                        <a:rPr lang="zh-CN" sz="2100" kern="100" dirty="0">
                          <a:effectLst/>
                          <a:latin typeface="Times" pitchFamily="2" charset="0"/>
                          <a:ea typeface="SimHei" panose="02010609060101010101" pitchFamily="49" charset="-122"/>
                        </a:rPr>
                        <a:t>、</a:t>
                      </a:r>
                      <a:r>
                        <a:rPr lang="en-US" sz="2100" kern="100" dirty="0">
                          <a:effectLst/>
                          <a:latin typeface="Times" pitchFamily="2" charset="0"/>
                          <a:ea typeface="SimHei" panose="02010609060101010101" pitchFamily="49" charset="-122"/>
                        </a:rPr>
                        <a:t>UPDATE</a:t>
                      </a:r>
                      <a:r>
                        <a:rPr lang="zh-CN" sz="2100" kern="100" dirty="0">
                          <a:effectLst/>
                          <a:latin typeface="Times" pitchFamily="2" charset="0"/>
                          <a:ea typeface="SimHei" panose="02010609060101010101" pitchFamily="49" charset="-122"/>
                        </a:rPr>
                        <a:t>、</a:t>
                      </a:r>
                      <a:r>
                        <a:rPr lang="en-US" sz="2100" kern="100" dirty="0">
                          <a:effectLst/>
                          <a:latin typeface="Times" pitchFamily="2" charset="0"/>
                          <a:ea typeface="SimHei" panose="02010609060101010101" pitchFamily="49" charset="-122"/>
                        </a:rPr>
                        <a:t>DELETE</a:t>
                      </a:r>
                      <a:r>
                        <a:rPr lang="zh-CN" sz="2100" kern="100" dirty="0">
                          <a:effectLst/>
                          <a:latin typeface="Times" pitchFamily="2" charset="0"/>
                          <a:ea typeface="SimHei" panose="02010609060101010101" pitchFamily="49" charset="-122"/>
                        </a:rPr>
                        <a:t>命令</a:t>
                      </a:r>
                      <a:endParaRPr lang="zh-CN" sz="21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tc>
                <a:tc>
                  <a:txBody>
                    <a:bodyPr/>
                    <a:lstStyle/>
                    <a:p>
                      <a:pPr indent="127000" algn="just">
                        <a:lnSpc>
                          <a:spcPct val="150000"/>
                        </a:lnSpc>
                      </a:pPr>
                      <a:r>
                        <a:rPr lang="zh-CN" sz="2100" kern="100">
                          <a:effectLst/>
                          <a:latin typeface="Times" pitchFamily="2" charset="0"/>
                          <a:ea typeface="SimHei" panose="02010609060101010101" pitchFamily="49" charset="-122"/>
                        </a:rPr>
                        <a:t>基于</a:t>
                      </a:r>
                      <a:r>
                        <a:rPr lang="en-US" sz="2100" kern="100">
                          <a:effectLst/>
                          <a:latin typeface="Times" pitchFamily="2" charset="0"/>
                          <a:ea typeface="SimHei" panose="02010609060101010101" pitchFamily="49" charset="-122"/>
                        </a:rPr>
                        <a:t>SELECT</a:t>
                      </a:r>
                      <a:r>
                        <a:rPr lang="zh-CN" sz="2100" kern="100">
                          <a:effectLst/>
                          <a:latin typeface="Times" pitchFamily="2" charset="0"/>
                          <a:ea typeface="SimHei" panose="02010609060101010101" pitchFamily="49" charset="-122"/>
                        </a:rPr>
                        <a:t>命令聚合数据用以分析</a:t>
                      </a:r>
                      <a:endParaRPr lang="zh-CN" sz="2100" kern="100">
                        <a:effectLst/>
                        <a:latin typeface="Times" pitchFamily="2" charset="0"/>
                        <a:ea typeface="SimHei"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2424501817"/>
                  </a:ext>
                </a:extLst>
              </a:tr>
              <a:tr h="526031">
                <a:tc>
                  <a:txBody>
                    <a:bodyPr/>
                    <a:lstStyle/>
                    <a:p>
                      <a:pPr indent="127000" algn="just">
                        <a:lnSpc>
                          <a:spcPct val="150000"/>
                        </a:lnSpc>
                      </a:pPr>
                      <a:r>
                        <a:rPr lang="zh-CN" sz="2400" kern="100" dirty="0">
                          <a:effectLst/>
                          <a:latin typeface="Times" pitchFamily="2" charset="0"/>
                          <a:ea typeface="SimHei" panose="02010609060101010101" pitchFamily="49" charset="-122"/>
                        </a:rPr>
                        <a:t>数据规模</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tc>
                <a:tc>
                  <a:txBody>
                    <a:bodyPr/>
                    <a:lstStyle/>
                    <a:p>
                      <a:pPr indent="127000" algn="just">
                        <a:lnSpc>
                          <a:spcPct val="150000"/>
                        </a:lnSpc>
                      </a:pPr>
                      <a:r>
                        <a:rPr lang="zh-CN" sz="2100" kern="100">
                          <a:effectLst/>
                          <a:latin typeface="Times" pitchFamily="2" charset="0"/>
                          <a:ea typeface="SimHei" panose="02010609060101010101" pitchFamily="49" charset="-122"/>
                        </a:rPr>
                        <a:t>实时数据、通常较小</a:t>
                      </a:r>
                      <a:endParaRPr lang="zh-CN" sz="2100" kern="100">
                        <a:effectLst/>
                        <a:latin typeface="Times" pitchFamily="2" charset="0"/>
                        <a:ea typeface="SimHei" panose="02010609060101010101" pitchFamily="49" charset="-122"/>
                        <a:cs typeface="Times New Roman" panose="02020603050405020304" pitchFamily="18" charset="0"/>
                      </a:endParaRPr>
                    </a:p>
                  </a:txBody>
                  <a:tcPr marL="68580" marR="68580" marT="0" marB="0"/>
                </a:tc>
                <a:tc>
                  <a:txBody>
                    <a:bodyPr/>
                    <a:lstStyle/>
                    <a:p>
                      <a:pPr indent="127000" algn="just">
                        <a:lnSpc>
                          <a:spcPct val="150000"/>
                        </a:lnSpc>
                      </a:pPr>
                      <a:r>
                        <a:rPr lang="zh-CN" sz="2100" kern="100">
                          <a:effectLst/>
                          <a:latin typeface="Times" pitchFamily="2" charset="0"/>
                          <a:ea typeface="SimHei" panose="02010609060101010101" pitchFamily="49" charset="-122"/>
                        </a:rPr>
                        <a:t>聚合历史数据，通常较大</a:t>
                      </a:r>
                      <a:endParaRPr lang="zh-CN" sz="2100" kern="100">
                        <a:effectLst/>
                        <a:latin typeface="Times" pitchFamily="2" charset="0"/>
                        <a:ea typeface="SimHei"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4128317898"/>
                  </a:ext>
                </a:extLst>
              </a:tr>
              <a:tr h="526031">
                <a:tc>
                  <a:txBody>
                    <a:bodyPr/>
                    <a:lstStyle/>
                    <a:p>
                      <a:pPr indent="127000" algn="just">
                        <a:lnSpc>
                          <a:spcPct val="150000"/>
                        </a:lnSpc>
                      </a:pPr>
                      <a:r>
                        <a:rPr lang="zh-CN" sz="2400" kern="100" dirty="0">
                          <a:effectLst/>
                          <a:latin typeface="Times" pitchFamily="2" charset="0"/>
                          <a:ea typeface="SimHei" panose="02010609060101010101" pitchFamily="49" charset="-122"/>
                        </a:rPr>
                        <a:t>并发访问</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tc>
                <a:tc>
                  <a:txBody>
                    <a:bodyPr/>
                    <a:lstStyle/>
                    <a:p>
                      <a:pPr indent="127000" algn="just">
                        <a:lnSpc>
                          <a:spcPct val="150000"/>
                        </a:lnSpc>
                      </a:pPr>
                      <a:r>
                        <a:rPr lang="zh-CN" sz="2100" kern="100">
                          <a:effectLst/>
                          <a:latin typeface="Times" pitchFamily="2" charset="0"/>
                          <a:ea typeface="SimHei" panose="02010609060101010101" pitchFamily="49" charset="-122"/>
                        </a:rPr>
                        <a:t>高</a:t>
                      </a:r>
                      <a:endParaRPr lang="zh-CN" sz="2100" kern="100">
                        <a:effectLst/>
                        <a:latin typeface="Times" pitchFamily="2" charset="0"/>
                        <a:ea typeface="SimHei" panose="02010609060101010101" pitchFamily="49" charset="-122"/>
                        <a:cs typeface="Times New Roman" panose="02020603050405020304" pitchFamily="18" charset="0"/>
                      </a:endParaRPr>
                    </a:p>
                  </a:txBody>
                  <a:tcPr marL="68580" marR="68580" marT="0" marB="0"/>
                </a:tc>
                <a:tc>
                  <a:txBody>
                    <a:bodyPr/>
                    <a:lstStyle/>
                    <a:p>
                      <a:pPr indent="127000" algn="just">
                        <a:lnSpc>
                          <a:spcPct val="150000"/>
                        </a:lnSpc>
                      </a:pPr>
                      <a:r>
                        <a:rPr lang="zh-CN" sz="2100" kern="100">
                          <a:effectLst/>
                          <a:latin typeface="Times" pitchFamily="2" charset="0"/>
                          <a:ea typeface="SimHei" panose="02010609060101010101" pitchFamily="49" charset="-122"/>
                        </a:rPr>
                        <a:t>低</a:t>
                      </a:r>
                      <a:endParaRPr lang="zh-CN" sz="2100" kern="100">
                        <a:effectLst/>
                        <a:latin typeface="Times" pitchFamily="2" charset="0"/>
                        <a:ea typeface="SimHei"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2804696831"/>
                  </a:ext>
                </a:extLst>
              </a:tr>
              <a:tr h="526031">
                <a:tc>
                  <a:txBody>
                    <a:bodyPr/>
                    <a:lstStyle/>
                    <a:p>
                      <a:pPr indent="127000" algn="just">
                        <a:lnSpc>
                          <a:spcPct val="150000"/>
                        </a:lnSpc>
                      </a:pPr>
                      <a:r>
                        <a:rPr lang="zh-CN" sz="2400" kern="100" dirty="0">
                          <a:effectLst/>
                          <a:latin typeface="Times" pitchFamily="2" charset="0"/>
                          <a:ea typeface="SimHei" panose="02010609060101010101" pitchFamily="49" charset="-122"/>
                        </a:rPr>
                        <a:t>响应时间</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tc>
                <a:tc>
                  <a:txBody>
                    <a:bodyPr/>
                    <a:lstStyle/>
                    <a:p>
                      <a:pPr indent="127000" algn="just">
                        <a:lnSpc>
                          <a:spcPct val="150000"/>
                        </a:lnSpc>
                      </a:pPr>
                      <a:r>
                        <a:rPr lang="zh-CN" sz="2100" kern="100">
                          <a:effectLst/>
                          <a:latin typeface="Times" pitchFamily="2" charset="0"/>
                          <a:ea typeface="SimHei" panose="02010609060101010101" pitchFamily="49" charset="-122"/>
                        </a:rPr>
                        <a:t>毫秒</a:t>
                      </a:r>
                      <a:endParaRPr lang="zh-CN" sz="2100" kern="100">
                        <a:effectLst/>
                        <a:latin typeface="Times" pitchFamily="2" charset="0"/>
                        <a:ea typeface="SimHei" panose="02010609060101010101" pitchFamily="49" charset="-122"/>
                        <a:cs typeface="Times New Roman" panose="02020603050405020304" pitchFamily="18" charset="0"/>
                      </a:endParaRPr>
                    </a:p>
                  </a:txBody>
                  <a:tcPr marL="68580" marR="68580" marT="0" marB="0"/>
                </a:tc>
                <a:tc>
                  <a:txBody>
                    <a:bodyPr/>
                    <a:lstStyle/>
                    <a:p>
                      <a:pPr indent="127000" algn="just">
                        <a:lnSpc>
                          <a:spcPct val="150000"/>
                        </a:lnSpc>
                      </a:pPr>
                      <a:r>
                        <a:rPr lang="zh-CN" sz="2100" kern="100">
                          <a:effectLst/>
                          <a:latin typeface="Times" pitchFamily="2" charset="0"/>
                          <a:ea typeface="SimHei" panose="02010609060101010101" pitchFamily="49" charset="-122"/>
                        </a:rPr>
                        <a:t>秒，分钟或者小时（基于场景和数据量）</a:t>
                      </a:r>
                      <a:endParaRPr lang="zh-CN" sz="2100" kern="100">
                        <a:effectLst/>
                        <a:latin typeface="Times" pitchFamily="2" charset="0"/>
                        <a:ea typeface="SimHei"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1563850208"/>
                  </a:ext>
                </a:extLst>
              </a:tr>
              <a:tr h="526031">
                <a:tc>
                  <a:txBody>
                    <a:bodyPr/>
                    <a:lstStyle/>
                    <a:p>
                      <a:pPr indent="127000" algn="just">
                        <a:lnSpc>
                          <a:spcPct val="150000"/>
                        </a:lnSpc>
                      </a:pPr>
                      <a:r>
                        <a:rPr lang="zh-CN" sz="2400" kern="100" dirty="0">
                          <a:effectLst/>
                          <a:latin typeface="Times" pitchFamily="2" charset="0"/>
                          <a:ea typeface="SimHei" panose="02010609060101010101" pitchFamily="49" charset="-122"/>
                        </a:rPr>
                        <a:t>存储结构</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tc>
                <a:tc>
                  <a:txBody>
                    <a:bodyPr/>
                    <a:lstStyle/>
                    <a:p>
                      <a:pPr indent="127000" algn="just">
                        <a:lnSpc>
                          <a:spcPct val="150000"/>
                        </a:lnSpc>
                      </a:pPr>
                      <a:r>
                        <a:rPr lang="zh-CN" sz="2100" kern="100">
                          <a:effectLst/>
                          <a:latin typeface="Times" pitchFamily="2" charset="0"/>
                          <a:ea typeface="SimHei" panose="02010609060101010101" pitchFamily="49" charset="-122"/>
                        </a:rPr>
                        <a:t>通常为行存储</a:t>
                      </a:r>
                      <a:endParaRPr lang="zh-CN" sz="2100" kern="100">
                        <a:effectLst/>
                        <a:latin typeface="Times" pitchFamily="2" charset="0"/>
                        <a:ea typeface="SimHei" panose="02010609060101010101" pitchFamily="49" charset="-122"/>
                        <a:cs typeface="Times New Roman" panose="02020603050405020304" pitchFamily="18" charset="0"/>
                      </a:endParaRPr>
                    </a:p>
                  </a:txBody>
                  <a:tcPr marL="68580" marR="68580" marT="0" marB="0"/>
                </a:tc>
                <a:tc>
                  <a:txBody>
                    <a:bodyPr/>
                    <a:lstStyle/>
                    <a:p>
                      <a:pPr indent="127000" algn="just">
                        <a:lnSpc>
                          <a:spcPct val="150000"/>
                        </a:lnSpc>
                      </a:pPr>
                      <a:r>
                        <a:rPr lang="zh-CN" sz="2100" kern="100">
                          <a:effectLst/>
                          <a:latin typeface="Times" pitchFamily="2" charset="0"/>
                          <a:ea typeface="SimHei" panose="02010609060101010101" pitchFamily="49" charset="-122"/>
                        </a:rPr>
                        <a:t>通常为列存储</a:t>
                      </a:r>
                      <a:endParaRPr lang="zh-CN" sz="2100" kern="100">
                        <a:effectLst/>
                        <a:latin typeface="Times" pitchFamily="2" charset="0"/>
                        <a:ea typeface="SimHei"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2618202770"/>
                  </a:ext>
                </a:extLst>
              </a:tr>
              <a:tr h="526031">
                <a:tc>
                  <a:txBody>
                    <a:bodyPr/>
                    <a:lstStyle/>
                    <a:p>
                      <a:pPr indent="127000" algn="just">
                        <a:lnSpc>
                          <a:spcPct val="150000"/>
                        </a:lnSpc>
                      </a:pPr>
                      <a:r>
                        <a:rPr lang="zh-CN" sz="2400" kern="100" dirty="0">
                          <a:effectLst/>
                          <a:latin typeface="Times" pitchFamily="2" charset="0"/>
                          <a:ea typeface="SimHei" panose="02010609060101010101" pitchFamily="49" charset="-122"/>
                        </a:rPr>
                        <a:t>备份模式</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tc>
                <a:tc>
                  <a:txBody>
                    <a:bodyPr/>
                    <a:lstStyle/>
                    <a:p>
                      <a:pPr indent="127000" algn="just">
                        <a:lnSpc>
                          <a:spcPct val="150000"/>
                        </a:lnSpc>
                      </a:pPr>
                      <a:r>
                        <a:rPr lang="zh-CN" sz="2100" kern="100">
                          <a:effectLst/>
                          <a:latin typeface="Times" pitchFamily="2" charset="0"/>
                          <a:ea typeface="SimHei" panose="02010609060101010101" pitchFamily="49" charset="-122"/>
                        </a:rPr>
                        <a:t>需要定期备份以确保业务连续性</a:t>
                      </a:r>
                      <a:endParaRPr lang="zh-CN" sz="2100" kern="100">
                        <a:effectLst/>
                        <a:latin typeface="Times" pitchFamily="2" charset="0"/>
                        <a:ea typeface="SimHei" panose="02010609060101010101" pitchFamily="49" charset="-122"/>
                        <a:cs typeface="Times New Roman" panose="02020603050405020304" pitchFamily="18" charset="0"/>
                      </a:endParaRPr>
                    </a:p>
                  </a:txBody>
                  <a:tcPr marL="68580" marR="68580" marT="0" marB="0"/>
                </a:tc>
                <a:tc>
                  <a:txBody>
                    <a:bodyPr/>
                    <a:lstStyle/>
                    <a:p>
                      <a:pPr indent="127000" algn="just">
                        <a:lnSpc>
                          <a:spcPct val="150000"/>
                        </a:lnSpc>
                      </a:pPr>
                      <a:r>
                        <a:rPr lang="zh-CN" sz="2100" kern="100" dirty="0">
                          <a:effectLst/>
                          <a:latin typeface="Times" pitchFamily="2" charset="0"/>
                          <a:ea typeface="SimHei" panose="02010609060101010101" pitchFamily="49" charset="-122"/>
                        </a:rPr>
                        <a:t>可以从</a:t>
                      </a:r>
                      <a:r>
                        <a:rPr lang="en-US" sz="2100" kern="100" dirty="0">
                          <a:effectLst/>
                          <a:latin typeface="Times" pitchFamily="2" charset="0"/>
                          <a:ea typeface="SimHei" panose="02010609060101010101" pitchFamily="49" charset="-122"/>
                        </a:rPr>
                        <a:t>OLTP</a:t>
                      </a:r>
                      <a:r>
                        <a:rPr lang="zh-CN" sz="2100" kern="100" dirty="0">
                          <a:effectLst/>
                          <a:latin typeface="Times" pitchFamily="2" charset="0"/>
                          <a:ea typeface="SimHei" panose="02010609060101010101" pitchFamily="49" charset="-122"/>
                        </a:rPr>
                        <a:t>数据库重新加载丢失的数据</a:t>
                      </a:r>
                      <a:endParaRPr lang="zh-CN" sz="21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3142848222"/>
                  </a:ext>
                </a:extLst>
              </a:tr>
            </a:tbl>
          </a:graphicData>
        </a:graphic>
      </p:graphicFrame>
    </p:spTree>
    <p:extLst>
      <p:ext uri="{BB962C8B-B14F-4D97-AF65-F5344CB8AC3E}">
        <p14:creationId xmlns:p14="http://schemas.microsoft.com/office/powerpoint/2010/main" val="30901100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E2F431B-481E-1246-A05F-30B91D644DCC}"/>
              </a:ext>
            </a:extLst>
          </p:cNvPr>
          <p:cNvSpPr>
            <a:spLocks noGrp="1"/>
          </p:cNvSpPr>
          <p:nvPr>
            <p:ph type="sldNum" sz="quarter" idx="10"/>
          </p:nvPr>
        </p:nvSpPr>
        <p:spPr/>
        <p:txBody>
          <a:bodyPr/>
          <a:lstStyle/>
          <a:p>
            <a:fld id="{87BBDC00-B9E2-4EFD-9306-2934E87247C6}" type="slidenum">
              <a:rPr lang="zh-CN" altLang="en-US" smtClean="0"/>
              <a:pPr/>
              <a:t>56</a:t>
            </a:fld>
            <a:endParaRPr lang="zh-CN" altLang="en-US"/>
          </a:p>
        </p:txBody>
      </p:sp>
      <p:sp>
        <p:nvSpPr>
          <p:cNvPr id="4" name="内容占位符 3">
            <a:extLst>
              <a:ext uri="{FF2B5EF4-FFF2-40B4-BE49-F238E27FC236}">
                <a16:creationId xmlns:a16="http://schemas.microsoft.com/office/drawing/2014/main" id="{E66D5A6B-292A-D74C-A485-2919D5A4AE50}"/>
              </a:ext>
            </a:extLst>
          </p:cNvPr>
          <p:cNvSpPr>
            <a:spLocks noGrp="1"/>
          </p:cNvSpPr>
          <p:nvPr>
            <p:ph idx="1"/>
          </p:nvPr>
        </p:nvSpPr>
        <p:spPr>
          <a:xfrm>
            <a:off x="622237" y="940977"/>
            <a:ext cx="10789521" cy="4176933"/>
          </a:xfrm>
        </p:spPr>
        <p:txBody>
          <a:bodyPr/>
          <a:lstStyle/>
          <a:p>
            <a:r>
              <a:rPr kumimoji="1" lang="zh-CN" altLang="en-US" dirty="0">
                <a:latin typeface="Times" pitchFamily="2" charset="0"/>
              </a:rPr>
              <a:t> </a:t>
            </a:r>
            <a:r>
              <a:rPr kumimoji="1" lang="zh-CN" altLang="en-US" b="1" dirty="0">
                <a:latin typeface="Times" pitchFamily="2" charset="0"/>
              </a:rPr>
              <a:t>端到端</a:t>
            </a:r>
            <a:r>
              <a:rPr lang="zh-CN" altLang="en-US" b="1" dirty="0">
                <a:latin typeface="Times" pitchFamily="2" charset="0"/>
              </a:rPr>
              <a:t>的</a:t>
            </a:r>
            <a:r>
              <a:rPr lang="en-US" altLang="zh-CN" b="1" dirty="0">
                <a:latin typeface="Times" pitchFamily="2" charset="0"/>
              </a:rPr>
              <a:t>OLAP</a:t>
            </a:r>
            <a:r>
              <a:rPr lang="zh-CN" altLang="en-US" b="1" dirty="0">
                <a:latin typeface="Times" pitchFamily="2" charset="0"/>
              </a:rPr>
              <a:t>部署</a:t>
            </a:r>
            <a:endParaRPr lang="en-US" altLang="zh-CN" b="1" dirty="0">
              <a:latin typeface="Times" pitchFamily="2" charset="0"/>
            </a:endParaRPr>
          </a:p>
          <a:p>
            <a:pPr lvl="1"/>
            <a:r>
              <a:rPr lang="zh-CN" altLang="en-US" sz="2400" b="1" dirty="0">
                <a:solidFill>
                  <a:srgbClr val="7030A0"/>
                </a:solidFill>
                <a:latin typeface="Times" pitchFamily="2" charset="0"/>
              </a:rPr>
              <a:t>在</a:t>
            </a:r>
            <a:r>
              <a:rPr lang="en-US" altLang="zh-CN" sz="2400" b="1" dirty="0">
                <a:solidFill>
                  <a:srgbClr val="7030A0"/>
                </a:solidFill>
                <a:latin typeface="Times" pitchFamily="2" charset="0"/>
              </a:rPr>
              <a:t>OLTP</a:t>
            </a:r>
            <a:r>
              <a:rPr lang="zh-CN" altLang="en-US" sz="2400" b="1" dirty="0">
                <a:solidFill>
                  <a:srgbClr val="7030A0"/>
                </a:solidFill>
                <a:latin typeface="Times" pitchFamily="2" charset="0"/>
              </a:rPr>
              <a:t>场景下</a:t>
            </a:r>
            <a:r>
              <a:rPr lang="zh-CN" altLang="en-US" sz="2400" dirty="0">
                <a:latin typeface="Times" pitchFamily="2" charset="0"/>
              </a:rPr>
              <a:t>，用户在不同的业务系统中产生业务数据；</a:t>
            </a:r>
            <a:endParaRPr lang="en-US" altLang="zh-CN" sz="2400" dirty="0">
              <a:latin typeface="Times" pitchFamily="2" charset="0"/>
            </a:endParaRPr>
          </a:p>
          <a:p>
            <a:pPr lvl="1"/>
            <a:r>
              <a:rPr lang="zh-CN" altLang="en-US" sz="2400" b="1" dirty="0">
                <a:solidFill>
                  <a:srgbClr val="7030A0"/>
                </a:solidFill>
                <a:latin typeface="Times" pitchFamily="2" charset="0"/>
              </a:rPr>
              <a:t>数据仓库</a:t>
            </a:r>
            <a:r>
              <a:rPr lang="zh-CN" altLang="en-US" sz="2400" dirty="0">
                <a:latin typeface="Times" pitchFamily="2" charset="0"/>
              </a:rPr>
              <a:t>收集整合不同源的数据进行统一存储；</a:t>
            </a:r>
            <a:endParaRPr lang="en-US" altLang="zh-CN" sz="2400" dirty="0">
              <a:latin typeface="Times" pitchFamily="2" charset="0"/>
            </a:endParaRPr>
          </a:p>
          <a:p>
            <a:pPr lvl="1"/>
            <a:r>
              <a:rPr lang="en-US" altLang="zh-CN" sz="2400" b="1" dirty="0">
                <a:solidFill>
                  <a:srgbClr val="7030A0"/>
                </a:solidFill>
                <a:latin typeface="Times" pitchFamily="2" charset="0"/>
                <a:cs typeface="Times New Roman" panose="02020603050405020304" pitchFamily="18" charset="0"/>
              </a:rPr>
              <a:t>OLAP</a:t>
            </a:r>
            <a:r>
              <a:rPr lang="zh-CN" altLang="en-US" sz="2400" b="1" dirty="0">
                <a:solidFill>
                  <a:srgbClr val="7030A0"/>
                </a:solidFill>
                <a:latin typeface="Times" pitchFamily="2" charset="0"/>
              </a:rPr>
              <a:t>服务器</a:t>
            </a:r>
            <a:r>
              <a:rPr lang="zh-CN" altLang="en-US" sz="2400" dirty="0">
                <a:latin typeface="Times" pitchFamily="2" charset="0"/>
              </a:rPr>
              <a:t>这些数据进行统一管理并支持上层分析操作</a:t>
            </a:r>
            <a:endParaRPr lang="en-US" altLang="zh-CN" sz="2400" dirty="0">
              <a:latin typeface="Times" pitchFamily="2" charset="0"/>
            </a:endParaRPr>
          </a:p>
          <a:p>
            <a:pPr lvl="2"/>
            <a:r>
              <a:rPr lang="en-US" altLang="zh-CN" sz="2000" dirty="0">
                <a:latin typeface="Times" pitchFamily="2" charset="0"/>
                <a:cs typeface="Times New Roman" panose="02020603050405020304" pitchFamily="18" charset="0"/>
              </a:rPr>
              <a:t>MOLAP</a:t>
            </a:r>
          </a:p>
          <a:p>
            <a:pPr lvl="2"/>
            <a:r>
              <a:rPr lang="en-US" altLang="zh-CN" sz="2000" dirty="0">
                <a:latin typeface="Times" pitchFamily="2" charset="0"/>
                <a:cs typeface="Times New Roman" panose="02020603050405020304" pitchFamily="18" charset="0"/>
              </a:rPr>
              <a:t>ROLAP</a:t>
            </a:r>
          </a:p>
          <a:p>
            <a:pPr lvl="2"/>
            <a:r>
              <a:rPr lang="en-US" altLang="zh-CN" sz="2000" dirty="0">
                <a:latin typeface="Times" pitchFamily="2" charset="0"/>
                <a:cs typeface="Times New Roman" panose="02020603050405020304" pitchFamily="18" charset="0"/>
              </a:rPr>
              <a:t>HOLAP</a:t>
            </a:r>
          </a:p>
          <a:p>
            <a:pPr lvl="1"/>
            <a:r>
              <a:rPr lang="zh-CN" altLang="en-US" sz="2400" dirty="0">
                <a:latin typeface="Times" pitchFamily="2" charset="0"/>
              </a:rPr>
              <a:t>最终这些分析结果将用于公司决策。</a:t>
            </a:r>
            <a:endParaRPr lang="en-US" altLang="zh-CN" sz="2400" dirty="0">
              <a:latin typeface="Times" pitchFamily="2" charset="0"/>
            </a:endParaRPr>
          </a:p>
          <a:p>
            <a:pPr lvl="1"/>
            <a:endParaRPr lang="en-US" altLang="zh-CN" sz="2400" dirty="0">
              <a:latin typeface="Times" pitchFamily="2" charset="0"/>
            </a:endParaRPr>
          </a:p>
          <a:p>
            <a:pPr marL="0" indent="0">
              <a:buNone/>
            </a:pPr>
            <a:endParaRPr kumimoji="1" lang="en-US" altLang="zh-CN" dirty="0">
              <a:latin typeface="Times" pitchFamily="2" charset="0"/>
            </a:endParaRPr>
          </a:p>
        </p:txBody>
      </p:sp>
      <p:sp useBgFill="1">
        <p:nvSpPr>
          <p:cNvPr id="14" name="标题 5">
            <a:extLst>
              <a:ext uri="{FF2B5EF4-FFF2-40B4-BE49-F238E27FC236}">
                <a16:creationId xmlns:a16="http://schemas.microsoft.com/office/drawing/2014/main" id="{45545C99-D11C-5542-925F-470EB13197AE}"/>
              </a:ext>
            </a:extLst>
          </p:cNvPr>
          <p:cNvSpPr txBox="1">
            <a:spLocks/>
          </p:cNvSpPr>
          <p:nvPr/>
        </p:nvSpPr>
        <p:spPr bwMode="auto">
          <a:xfrm>
            <a:off x="971550" y="53752"/>
            <a:ext cx="10090897" cy="678470"/>
          </a:xfrm>
          <a:prstGeom prst="rect">
            <a:avLst/>
          </a:prstGeom>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kumimoji="1" sz="4800" b="1" i="0">
                <a:solidFill>
                  <a:schemeClr val="tx2"/>
                </a:solidFill>
                <a:effectLst/>
                <a:latin typeface="Arial"/>
                <a:ea typeface="黑体"/>
                <a:cs typeface="Arial"/>
              </a:defRPr>
            </a:lvl1pPr>
            <a:lvl2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2pPr>
            <a:lvl3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3pPr>
            <a:lvl4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4pPr>
            <a:lvl5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5pPr>
            <a:lvl6pPr marL="422041"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6pPr>
            <a:lvl7pPr marL="844083"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7pPr>
            <a:lvl8pPr marL="1266124"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8pPr>
            <a:lvl9pPr marL="1688165"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9pPr>
          </a:lstStyle>
          <a:p>
            <a:r>
              <a:rPr lang="en-US" altLang="zh-CN" kern="0" dirty="0">
                <a:latin typeface="Times" pitchFamily="2" charset="0"/>
                <a:ea typeface="SimHei" panose="02010609060101010101" pitchFamily="49" charset="-122"/>
                <a:cs typeface="Times New Roman" panose="02020603050405020304" pitchFamily="18" charset="0"/>
              </a:rPr>
              <a:t>OLTP—</a:t>
            </a:r>
            <a:r>
              <a:rPr lang="zh-CN" altLang="en-US" kern="0" dirty="0">
                <a:latin typeface="Times" pitchFamily="2" charset="0"/>
                <a:ea typeface="SimHei" panose="02010609060101010101" pitchFamily="49" charset="-122"/>
                <a:cs typeface="Times New Roman" panose="02020603050405020304" pitchFamily="18" charset="0"/>
              </a:rPr>
              <a:t>数据仓库</a:t>
            </a:r>
            <a:r>
              <a:rPr lang="en-US" altLang="zh-CN" kern="0" dirty="0">
                <a:latin typeface="Times" pitchFamily="2" charset="0"/>
                <a:ea typeface="SimHei" panose="02010609060101010101" pitchFamily="49" charset="-122"/>
                <a:cs typeface="Times New Roman" panose="02020603050405020304" pitchFamily="18" charset="0"/>
              </a:rPr>
              <a:t>—OLAP</a:t>
            </a:r>
            <a:endParaRPr lang="zh-CN" altLang="en-US" kern="0" dirty="0">
              <a:latin typeface="Times" pitchFamily="2" charset="0"/>
              <a:ea typeface="SimHei" panose="02010609060101010101" pitchFamily="49" charset="-122"/>
            </a:endParaRPr>
          </a:p>
        </p:txBody>
      </p:sp>
      <p:pic>
        <p:nvPicPr>
          <p:cNvPr id="35" name="图片 34">
            <a:extLst>
              <a:ext uri="{FF2B5EF4-FFF2-40B4-BE49-F238E27FC236}">
                <a16:creationId xmlns:a16="http://schemas.microsoft.com/office/drawing/2014/main" id="{C3CCB047-6DE3-134D-B281-7F3928028FA5}"/>
              </a:ext>
            </a:extLst>
          </p:cNvPr>
          <p:cNvPicPr>
            <a:picLocks noChangeAspect="1"/>
          </p:cNvPicPr>
          <p:nvPr/>
        </p:nvPicPr>
        <p:blipFill>
          <a:blip r:embed="rId3"/>
          <a:stretch>
            <a:fillRect/>
          </a:stretch>
        </p:blipFill>
        <p:spPr>
          <a:xfrm>
            <a:off x="2607751" y="4328232"/>
            <a:ext cx="6818492" cy="2476016"/>
          </a:xfrm>
          <a:prstGeom prst="rect">
            <a:avLst/>
          </a:prstGeom>
        </p:spPr>
      </p:pic>
    </p:spTree>
    <p:extLst>
      <p:ext uri="{BB962C8B-B14F-4D97-AF65-F5344CB8AC3E}">
        <p14:creationId xmlns:p14="http://schemas.microsoft.com/office/powerpoint/2010/main" val="28732347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数据仓库 和</a:t>
            </a:r>
            <a:r>
              <a:rPr lang="zh-CN" altLang="en-US" i="1" dirty="0"/>
              <a:t> </a:t>
            </a:r>
            <a:r>
              <a:rPr lang="zh-CN" altLang="en-US" dirty="0"/>
              <a:t>数据库</a:t>
            </a:r>
            <a:endParaRPr lang="en-US" altLang="zh-CN" dirty="0"/>
          </a:p>
        </p:txBody>
      </p:sp>
      <p:graphicFrame>
        <p:nvGraphicFramePr>
          <p:cNvPr id="12" name="表格 11">
            <a:extLst>
              <a:ext uri="{FF2B5EF4-FFF2-40B4-BE49-F238E27FC236}">
                <a16:creationId xmlns:a16="http://schemas.microsoft.com/office/drawing/2014/main" id="{B7213338-BF80-FD50-9F65-F46271F04918}"/>
              </a:ext>
            </a:extLst>
          </p:cNvPr>
          <p:cNvGraphicFramePr>
            <a:graphicFrameLocks noGrp="1"/>
          </p:cNvGraphicFramePr>
          <p:nvPr>
            <p:extLst>
              <p:ext uri="{D42A27DB-BD31-4B8C-83A1-F6EECF244321}">
                <p14:modId xmlns:p14="http://schemas.microsoft.com/office/powerpoint/2010/main" val="869194768"/>
              </p:ext>
            </p:extLst>
          </p:nvPr>
        </p:nvGraphicFramePr>
        <p:xfrm>
          <a:off x="288551" y="2415084"/>
          <a:ext cx="11577852" cy="3790102"/>
        </p:xfrm>
        <a:graphic>
          <a:graphicData uri="http://schemas.openxmlformats.org/drawingml/2006/table">
            <a:tbl>
              <a:tblPr firstRow="1" firstCol="1" bandRow="1">
                <a:tableStyleId>{5C22544A-7EE6-4342-B048-85BDC9FD1C3A}</a:tableStyleId>
              </a:tblPr>
              <a:tblGrid>
                <a:gridCol w="1999398">
                  <a:extLst>
                    <a:ext uri="{9D8B030D-6E8A-4147-A177-3AD203B41FA5}">
                      <a16:colId xmlns:a16="http://schemas.microsoft.com/office/drawing/2014/main" val="3601117442"/>
                    </a:ext>
                  </a:extLst>
                </a:gridCol>
                <a:gridCol w="5113428">
                  <a:extLst>
                    <a:ext uri="{9D8B030D-6E8A-4147-A177-3AD203B41FA5}">
                      <a16:colId xmlns:a16="http://schemas.microsoft.com/office/drawing/2014/main" val="1939825746"/>
                    </a:ext>
                  </a:extLst>
                </a:gridCol>
                <a:gridCol w="4465026">
                  <a:extLst>
                    <a:ext uri="{9D8B030D-6E8A-4147-A177-3AD203B41FA5}">
                      <a16:colId xmlns:a16="http://schemas.microsoft.com/office/drawing/2014/main" val="103048801"/>
                    </a:ext>
                  </a:extLst>
                </a:gridCol>
              </a:tblGrid>
              <a:tr h="267915">
                <a:tc>
                  <a:txBody>
                    <a:bodyPr/>
                    <a:lstStyle/>
                    <a:p>
                      <a:pPr indent="127000" algn="l">
                        <a:lnSpc>
                          <a:spcPct val="150000"/>
                        </a:lnSpc>
                      </a:pPr>
                      <a:r>
                        <a:rPr lang="zh-CN" sz="2400" kern="100" dirty="0">
                          <a:effectLst/>
                          <a:latin typeface="Times" pitchFamily="2" charset="0"/>
                          <a:ea typeface="SimHei" panose="02010609060101010101" pitchFamily="49" charset="-122"/>
                        </a:rPr>
                        <a:t>维度</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ctr">
                        <a:lnSpc>
                          <a:spcPct val="150000"/>
                        </a:lnSpc>
                      </a:pPr>
                      <a:r>
                        <a:rPr lang="zh-CN" sz="2800" kern="100" dirty="0">
                          <a:effectLst/>
                          <a:latin typeface="Times" pitchFamily="2" charset="0"/>
                          <a:ea typeface="SimHei" panose="02010609060101010101" pitchFamily="49" charset="-122"/>
                        </a:rPr>
                        <a:t>数据仓库</a:t>
                      </a:r>
                      <a:endParaRPr lang="zh-CN" sz="28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ctr">
                        <a:lnSpc>
                          <a:spcPct val="150000"/>
                        </a:lnSpc>
                      </a:pPr>
                      <a:r>
                        <a:rPr lang="zh-CN" sz="2800" kern="100" dirty="0">
                          <a:effectLst/>
                          <a:latin typeface="Times" pitchFamily="2" charset="0"/>
                          <a:ea typeface="SimHei" panose="02010609060101010101" pitchFamily="49" charset="-122"/>
                        </a:rPr>
                        <a:t>数据库</a:t>
                      </a:r>
                      <a:endParaRPr lang="zh-CN" sz="28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55679570"/>
                  </a:ext>
                </a:extLst>
              </a:tr>
              <a:tr h="574646">
                <a:tc>
                  <a:txBody>
                    <a:bodyPr/>
                    <a:lstStyle/>
                    <a:p>
                      <a:pPr indent="127000" algn="l">
                        <a:lnSpc>
                          <a:spcPct val="150000"/>
                        </a:lnSpc>
                      </a:pPr>
                      <a:r>
                        <a:rPr lang="zh-CN" sz="2400" kern="100" dirty="0">
                          <a:effectLst/>
                          <a:latin typeface="Times" pitchFamily="2" charset="0"/>
                          <a:ea typeface="SimHei" panose="02010609060101010101" pitchFamily="49" charset="-122"/>
                        </a:rPr>
                        <a:t>主要场景</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just">
                        <a:lnSpc>
                          <a:spcPct val="150000"/>
                        </a:lnSpc>
                      </a:pPr>
                      <a:r>
                        <a:rPr lang="en-US" sz="2400" kern="100" dirty="0">
                          <a:effectLst/>
                          <a:latin typeface="Times" pitchFamily="2" charset="0"/>
                          <a:ea typeface="SimHei" panose="02010609060101010101" pitchFamily="49" charset="-122"/>
                        </a:rPr>
                        <a:t>OLAP</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just">
                        <a:lnSpc>
                          <a:spcPct val="150000"/>
                        </a:lnSpc>
                      </a:pPr>
                      <a:r>
                        <a:rPr lang="en-US" sz="2400" kern="100">
                          <a:effectLst/>
                          <a:latin typeface="Times" pitchFamily="2" charset="0"/>
                          <a:ea typeface="SimHei" panose="02010609060101010101" pitchFamily="49" charset="-122"/>
                        </a:rPr>
                        <a:t>OLTP</a:t>
                      </a:r>
                      <a:endParaRPr lang="zh-CN" sz="2400" kern="10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18561756"/>
                  </a:ext>
                </a:extLst>
              </a:tr>
              <a:tr h="399955">
                <a:tc>
                  <a:txBody>
                    <a:bodyPr/>
                    <a:lstStyle/>
                    <a:p>
                      <a:pPr indent="127000" algn="l">
                        <a:lnSpc>
                          <a:spcPct val="150000"/>
                        </a:lnSpc>
                      </a:pPr>
                      <a:r>
                        <a:rPr lang="zh-CN" sz="2400" kern="100" dirty="0">
                          <a:effectLst/>
                          <a:latin typeface="Times" pitchFamily="2" charset="0"/>
                          <a:ea typeface="SimHei" panose="02010609060101010101" pitchFamily="49" charset="-122"/>
                        </a:rPr>
                        <a:t>数据源</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just">
                        <a:lnSpc>
                          <a:spcPct val="150000"/>
                        </a:lnSpc>
                      </a:pPr>
                      <a:r>
                        <a:rPr lang="zh-CN" sz="2400" kern="100" dirty="0">
                          <a:effectLst/>
                          <a:latin typeface="Times" pitchFamily="2" charset="0"/>
                          <a:ea typeface="SimHei" panose="02010609060101010101" pitchFamily="49" charset="-122"/>
                        </a:rPr>
                        <a:t>多数据源：异构或标准化数据</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just">
                        <a:lnSpc>
                          <a:spcPct val="150000"/>
                        </a:lnSpc>
                      </a:pPr>
                      <a:r>
                        <a:rPr lang="zh-CN" sz="2400" kern="100" dirty="0">
                          <a:effectLst/>
                          <a:latin typeface="Times" pitchFamily="2" charset="0"/>
                          <a:ea typeface="SimHei" panose="02010609060101010101" pitchFamily="49" charset="-122"/>
                        </a:rPr>
                        <a:t>单数据源：事务系统</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08744320"/>
                  </a:ext>
                </a:extLst>
              </a:tr>
              <a:tr h="916861">
                <a:tc>
                  <a:txBody>
                    <a:bodyPr/>
                    <a:lstStyle/>
                    <a:p>
                      <a:pPr indent="127000" algn="l">
                        <a:lnSpc>
                          <a:spcPct val="150000"/>
                        </a:lnSpc>
                      </a:pPr>
                      <a:r>
                        <a:rPr lang="zh-CN" sz="2400" kern="100" dirty="0">
                          <a:effectLst/>
                          <a:latin typeface="Times" pitchFamily="2" charset="0"/>
                          <a:ea typeface="SimHei" panose="02010609060101010101" pitchFamily="49" charset="-122"/>
                        </a:rPr>
                        <a:t>数据获取</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just">
                        <a:lnSpc>
                          <a:spcPct val="150000"/>
                        </a:lnSpc>
                      </a:pPr>
                      <a:r>
                        <a:rPr lang="zh-CN" sz="2400" kern="100" dirty="0">
                          <a:effectLst/>
                          <a:latin typeface="Times" pitchFamily="2" charset="0"/>
                          <a:ea typeface="SimHei" panose="02010609060101010101" pitchFamily="49" charset="-122"/>
                        </a:rPr>
                        <a:t>通常按照预定的批处理计划</a:t>
                      </a:r>
                      <a:endParaRPr lang="en-US" altLang="zh-CN" sz="2400" kern="100" dirty="0">
                        <a:effectLst/>
                        <a:latin typeface="Times" pitchFamily="2" charset="0"/>
                        <a:ea typeface="SimHei" panose="02010609060101010101" pitchFamily="49" charset="-122"/>
                      </a:endParaRPr>
                    </a:p>
                    <a:p>
                      <a:pPr indent="127000" algn="just">
                        <a:lnSpc>
                          <a:spcPct val="150000"/>
                        </a:lnSpc>
                      </a:pPr>
                      <a:r>
                        <a:rPr lang="zh-CN" sz="2400" kern="100" dirty="0">
                          <a:effectLst/>
                          <a:latin typeface="Times" pitchFamily="2" charset="0"/>
                          <a:ea typeface="SimHei" panose="02010609060101010101" pitchFamily="49" charset="-122"/>
                        </a:rPr>
                        <a:t>执行批量写入操作</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just">
                        <a:lnSpc>
                          <a:spcPct val="150000"/>
                        </a:lnSpc>
                      </a:pPr>
                      <a:r>
                        <a:rPr lang="zh-CN" sz="2400" kern="100" dirty="0">
                          <a:effectLst/>
                          <a:latin typeface="Times" pitchFamily="2" charset="0"/>
                          <a:ea typeface="SimHei" panose="02010609060101010101" pitchFamily="49" charset="-122"/>
                        </a:rPr>
                        <a:t>根据工作负载动态连续</a:t>
                      </a:r>
                      <a:endParaRPr lang="en-US" altLang="zh-CN" sz="2400" kern="100" dirty="0">
                        <a:effectLst/>
                        <a:latin typeface="Times" pitchFamily="2" charset="0"/>
                        <a:ea typeface="SimHei" panose="02010609060101010101" pitchFamily="49" charset="-122"/>
                      </a:endParaRPr>
                    </a:p>
                    <a:p>
                      <a:pPr indent="127000" algn="just">
                        <a:lnSpc>
                          <a:spcPct val="150000"/>
                        </a:lnSpc>
                      </a:pPr>
                      <a:r>
                        <a:rPr lang="zh-CN" sz="2400" kern="100" dirty="0">
                          <a:effectLst/>
                          <a:latin typeface="Times" pitchFamily="2" charset="0"/>
                          <a:ea typeface="SimHei" panose="02010609060101010101" pitchFamily="49" charset="-122"/>
                        </a:rPr>
                        <a:t>写入操作数据</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55799766"/>
                  </a:ext>
                </a:extLst>
              </a:tr>
              <a:tr h="574646">
                <a:tc>
                  <a:txBody>
                    <a:bodyPr/>
                    <a:lstStyle/>
                    <a:p>
                      <a:pPr indent="127000" algn="l">
                        <a:lnSpc>
                          <a:spcPct val="150000"/>
                        </a:lnSpc>
                      </a:pPr>
                      <a:r>
                        <a:rPr lang="zh-CN" sz="2400" kern="100" dirty="0">
                          <a:effectLst/>
                          <a:latin typeface="Times" pitchFamily="2" charset="0"/>
                          <a:ea typeface="SimHei" panose="02010609060101010101" pitchFamily="49" charset="-122"/>
                        </a:rPr>
                        <a:t>数据标准化</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just">
                        <a:lnSpc>
                          <a:spcPct val="150000"/>
                        </a:lnSpc>
                      </a:pPr>
                      <a:r>
                        <a:rPr lang="zh-CN" sz="2400" kern="100">
                          <a:effectLst/>
                          <a:latin typeface="Times" pitchFamily="2" charset="0"/>
                          <a:ea typeface="SimHei" panose="02010609060101010101" pitchFamily="49" charset="-122"/>
                        </a:rPr>
                        <a:t>非标准化模式</a:t>
                      </a:r>
                      <a:endParaRPr lang="zh-CN" sz="2400" kern="10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just">
                        <a:lnSpc>
                          <a:spcPct val="150000"/>
                        </a:lnSpc>
                      </a:pPr>
                      <a:r>
                        <a:rPr lang="zh-CN" sz="2400" kern="100">
                          <a:effectLst/>
                          <a:latin typeface="Times" pitchFamily="2" charset="0"/>
                          <a:ea typeface="SimHei" panose="02010609060101010101" pitchFamily="49" charset="-122"/>
                        </a:rPr>
                        <a:t>高度标准化的静态模式</a:t>
                      </a:r>
                      <a:endParaRPr lang="zh-CN" sz="2400" kern="10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13016115"/>
                  </a:ext>
                </a:extLst>
              </a:tr>
              <a:tr h="574646">
                <a:tc>
                  <a:txBody>
                    <a:bodyPr/>
                    <a:lstStyle/>
                    <a:p>
                      <a:pPr indent="127000" algn="l">
                        <a:lnSpc>
                          <a:spcPct val="150000"/>
                        </a:lnSpc>
                      </a:pPr>
                      <a:r>
                        <a:rPr lang="zh-CN" sz="2400" kern="100" dirty="0">
                          <a:effectLst/>
                          <a:latin typeface="Times" pitchFamily="2" charset="0"/>
                          <a:ea typeface="SimHei" panose="02010609060101010101" pitchFamily="49" charset="-122"/>
                        </a:rPr>
                        <a:t>数据存储</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just">
                        <a:lnSpc>
                          <a:spcPct val="150000"/>
                        </a:lnSpc>
                      </a:pPr>
                      <a:r>
                        <a:rPr lang="zh-CN" sz="2400" kern="100" dirty="0">
                          <a:effectLst/>
                          <a:latin typeface="Times" pitchFamily="2" charset="0"/>
                          <a:ea typeface="SimHei" panose="02010609060101010101" pitchFamily="49" charset="-122"/>
                        </a:rPr>
                        <a:t>使用列式存储，优化读操作</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just">
                        <a:lnSpc>
                          <a:spcPct val="150000"/>
                        </a:lnSpc>
                      </a:pPr>
                      <a:r>
                        <a:rPr lang="zh-CN" sz="2400" kern="100" dirty="0">
                          <a:effectLst/>
                          <a:latin typeface="Times" pitchFamily="2" charset="0"/>
                          <a:ea typeface="SimHei" panose="02010609060101010101" pitchFamily="49" charset="-122"/>
                        </a:rPr>
                        <a:t>优化写操作</a:t>
                      </a:r>
                      <a:endParaRPr lang="zh-CN" sz="24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589180083"/>
                  </a:ext>
                </a:extLst>
              </a:tr>
            </a:tbl>
          </a:graphicData>
        </a:graphic>
      </p:graphicFrame>
      <p:sp>
        <p:nvSpPr>
          <p:cNvPr id="6" name="内容占位符 2">
            <a:extLst>
              <a:ext uri="{FF2B5EF4-FFF2-40B4-BE49-F238E27FC236}">
                <a16:creationId xmlns:a16="http://schemas.microsoft.com/office/drawing/2014/main" id="{A7459584-26AD-0CC1-4542-7CFB4DA989BC}"/>
              </a:ext>
            </a:extLst>
          </p:cNvPr>
          <p:cNvSpPr>
            <a:spLocks noGrp="1"/>
          </p:cNvSpPr>
          <p:nvPr>
            <p:ph idx="1"/>
          </p:nvPr>
        </p:nvSpPr>
        <p:spPr>
          <a:xfrm>
            <a:off x="288551" y="1206950"/>
            <a:ext cx="11456894" cy="923330"/>
          </a:xfrm>
        </p:spPr>
        <p:txBody>
          <a:bodyPr/>
          <a:lstStyle/>
          <a:p>
            <a:pPr marL="0" indent="0">
              <a:buNone/>
            </a:pPr>
            <a:r>
              <a:rPr lang="zh-CN" altLang="en-US" sz="2800" b="1" dirty="0">
                <a:solidFill>
                  <a:srgbClr val="7030A0"/>
                </a:solidFill>
              </a:rPr>
              <a:t>数据仓库</a:t>
            </a:r>
            <a:r>
              <a:rPr lang="zh-CN" altLang="en-US" sz="2800" dirty="0"/>
              <a:t>的主要功能是从事务系统、数据库和其它数据源定期进行数据的集成、转换和管理，为上层的</a:t>
            </a:r>
            <a:r>
              <a:rPr lang="en" altLang="zh-CN" sz="2800" dirty="0"/>
              <a:t>OLAP</a:t>
            </a:r>
            <a:r>
              <a:rPr lang="zh-CN" altLang="en-US" sz="2800" dirty="0"/>
              <a:t>等数据分析任务提供支持 </a:t>
            </a:r>
          </a:p>
          <a:p>
            <a:endParaRPr lang="en-US" altLang="zh-CN" sz="2800" dirty="0">
              <a:latin typeface="Arial" panose="020B0604020202020204" pitchFamily="34" charset="0"/>
              <a:cs typeface="Arial" panose="020B0604020202020204" pitchFamily="34" charset="0"/>
            </a:endParaRPr>
          </a:p>
        </p:txBody>
      </p:sp>
      <p:sp>
        <p:nvSpPr>
          <p:cNvPr id="5" name="灯片编号占位符 1">
            <a:extLst>
              <a:ext uri="{FF2B5EF4-FFF2-40B4-BE49-F238E27FC236}">
                <a16:creationId xmlns:a16="http://schemas.microsoft.com/office/drawing/2014/main" id="{833C0B1C-5CB0-0315-D60E-134379215C77}"/>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57</a:t>
            </a:fld>
            <a:endParaRPr lang="zh-CN" altLang="en-US"/>
          </a:p>
        </p:txBody>
      </p:sp>
    </p:spTree>
    <p:extLst>
      <p:ext uri="{BB962C8B-B14F-4D97-AF65-F5344CB8AC3E}">
        <p14:creationId xmlns:p14="http://schemas.microsoft.com/office/powerpoint/2010/main" val="16084803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数据仓库 和 数据湖</a:t>
            </a:r>
            <a:endParaRPr lang="en-US" altLang="zh-CN" dirty="0"/>
          </a:p>
        </p:txBody>
      </p:sp>
      <p:graphicFrame>
        <p:nvGraphicFramePr>
          <p:cNvPr id="3" name="表格 2">
            <a:extLst>
              <a:ext uri="{FF2B5EF4-FFF2-40B4-BE49-F238E27FC236}">
                <a16:creationId xmlns:a16="http://schemas.microsoft.com/office/drawing/2014/main" id="{A55B2FF8-28E2-9387-E6D3-5D8424717E14}"/>
              </a:ext>
            </a:extLst>
          </p:cNvPr>
          <p:cNvGraphicFramePr>
            <a:graphicFrameLocks noGrp="1"/>
          </p:cNvGraphicFramePr>
          <p:nvPr>
            <p:extLst>
              <p:ext uri="{D42A27DB-BD31-4B8C-83A1-F6EECF244321}">
                <p14:modId xmlns:p14="http://schemas.microsoft.com/office/powerpoint/2010/main" val="4090340786"/>
              </p:ext>
            </p:extLst>
          </p:nvPr>
        </p:nvGraphicFramePr>
        <p:xfrm>
          <a:off x="118281" y="3068735"/>
          <a:ext cx="11955438" cy="3378869"/>
        </p:xfrm>
        <a:graphic>
          <a:graphicData uri="http://schemas.openxmlformats.org/drawingml/2006/table">
            <a:tbl>
              <a:tblPr firstRow="1" firstCol="1" bandRow="1">
                <a:tableStyleId>{5C22544A-7EE6-4342-B048-85BDC9FD1C3A}</a:tableStyleId>
              </a:tblPr>
              <a:tblGrid>
                <a:gridCol w="1505567">
                  <a:extLst>
                    <a:ext uri="{9D8B030D-6E8A-4147-A177-3AD203B41FA5}">
                      <a16:colId xmlns:a16="http://schemas.microsoft.com/office/drawing/2014/main" val="862304862"/>
                    </a:ext>
                  </a:extLst>
                </a:gridCol>
                <a:gridCol w="5281449">
                  <a:extLst>
                    <a:ext uri="{9D8B030D-6E8A-4147-A177-3AD203B41FA5}">
                      <a16:colId xmlns:a16="http://schemas.microsoft.com/office/drawing/2014/main" val="2572113185"/>
                    </a:ext>
                  </a:extLst>
                </a:gridCol>
                <a:gridCol w="5168422">
                  <a:extLst>
                    <a:ext uri="{9D8B030D-6E8A-4147-A177-3AD203B41FA5}">
                      <a16:colId xmlns:a16="http://schemas.microsoft.com/office/drawing/2014/main" val="4224913983"/>
                    </a:ext>
                  </a:extLst>
                </a:gridCol>
              </a:tblGrid>
              <a:tr h="410541">
                <a:tc>
                  <a:txBody>
                    <a:bodyPr/>
                    <a:lstStyle/>
                    <a:p>
                      <a:pPr indent="127000" algn="ctr">
                        <a:lnSpc>
                          <a:spcPct val="150000"/>
                        </a:lnSpc>
                      </a:pPr>
                      <a:r>
                        <a:rPr lang="zh-CN" sz="2400" kern="100" dirty="0">
                          <a:effectLst/>
                          <a:latin typeface="SimHei" panose="02010609060101010101" pitchFamily="49" charset="-122"/>
                          <a:ea typeface="SimHei" panose="02010609060101010101" pitchFamily="49" charset="-122"/>
                        </a:rPr>
                        <a:t>维度</a:t>
                      </a:r>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ctr">
                        <a:lnSpc>
                          <a:spcPct val="150000"/>
                        </a:lnSpc>
                      </a:pPr>
                      <a:r>
                        <a:rPr lang="zh-CN" sz="2800" kern="100" dirty="0">
                          <a:effectLst/>
                          <a:latin typeface="SimHei" panose="02010609060101010101" pitchFamily="49" charset="-122"/>
                          <a:ea typeface="SimHei" panose="02010609060101010101" pitchFamily="49" charset="-122"/>
                        </a:rPr>
                        <a:t>数据湖</a:t>
                      </a:r>
                      <a:endParaRPr lang="zh-CN" sz="28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ctr">
                        <a:lnSpc>
                          <a:spcPct val="150000"/>
                        </a:lnSpc>
                      </a:pPr>
                      <a:r>
                        <a:rPr lang="zh-CN" sz="2800" kern="100" dirty="0">
                          <a:effectLst/>
                          <a:latin typeface="SimHei" panose="02010609060101010101" pitchFamily="49" charset="-122"/>
                          <a:ea typeface="SimHei" panose="02010609060101010101" pitchFamily="49" charset="-122"/>
                        </a:rPr>
                        <a:t>数据仓库</a:t>
                      </a:r>
                      <a:endParaRPr lang="zh-CN" sz="28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68765904"/>
                  </a:ext>
                </a:extLst>
              </a:tr>
              <a:tr h="644241">
                <a:tc>
                  <a:txBody>
                    <a:bodyPr/>
                    <a:lstStyle/>
                    <a:p>
                      <a:pPr indent="127000" algn="just">
                        <a:lnSpc>
                          <a:spcPct val="150000"/>
                        </a:lnSpc>
                      </a:pPr>
                      <a:r>
                        <a:rPr lang="zh-CN" sz="2400" kern="100" dirty="0">
                          <a:effectLst/>
                          <a:latin typeface="SimHei" panose="02010609060101010101" pitchFamily="49" charset="-122"/>
                          <a:ea typeface="SimHei" panose="02010609060101010101" pitchFamily="49" charset="-122"/>
                        </a:rPr>
                        <a:t>应用场景</a:t>
                      </a:r>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tc>
                <a:tc>
                  <a:txBody>
                    <a:bodyPr/>
                    <a:lstStyle/>
                    <a:p>
                      <a:pPr indent="127000" algn="l">
                        <a:lnSpc>
                          <a:spcPct val="100000"/>
                        </a:lnSpc>
                      </a:pPr>
                      <a:r>
                        <a:rPr lang="zh-CN" sz="2400" kern="100" dirty="0">
                          <a:effectLst/>
                          <a:latin typeface="SimHei" panose="02010609060101010101" pitchFamily="49" charset="-122"/>
                          <a:ea typeface="SimHei" panose="02010609060101010101" pitchFamily="49" charset="-122"/>
                        </a:rPr>
                        <a:t>数据发现、探索性分析</a:t>
                      </a:r>
                      <a:endParaRPr lang="en-US" altLang="zh-CN" sz="2400" kern="100" dirty="0">
                        <a:effectLst/>
                        <a:latin typeface="SimHei" panose="02010609060101010101" pitchFamily="49" charset="-122"/>
                        <a:ea typeface="SimHei" panose="02010609060101010101" pitchFamily="49" charset="-122"/>
                      </a:endParaRPr>
                    </a:p>
                    <a:p>
                      <a:pPr indent="127000" algn="l">
                        <a:lnSpc>
                          <a:spcPct val="100000"/>
                        </a:lnSpc>
                      </a:pPr>
                      <a:r>
                        <a:rPr lang="zh-CN" sz="2400" kern="100" dirty="0">
                          <a:effectLst/>
                          <a:latin typeface="SimHei" panose="02010609060101010101" pitchFamily="49" charset="-122"/>
                          <a:ea typeface="SimHei" panose="02010609060101010101" pitchFamily="49" charset="-122"/>
                        </a:rPr>
                        <a:t>机器学习、大数据分析</a:t>
                      </a:r>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tc>
                <a:tc>
                  <a:txBody>
                    <a:bodyPr/>
                    <a:lstStyle/>
                    <a:p>
                      <a:pPr indent="127000" algn="l">
                        <a:lnSpc>
                          <a:spcPct val="100000"/>
                        </a:lnSpc>
                      </a:pPr>
                      <a:r>
                        <a:rPr lang="zh-CN" sz="2400" kern="100" dirty="0">
                          <a:effectLst/>
                          <a:latin typeface="SimHei" panose="02010609060101010101" pitchFamily="49" charset="-122"/>
                          <a:ea typeface="SimHei" panose="02010609060101010101" pitchFamily="49" charset="-122"/>
                        </a:rPr>
                        <a:t>基于结构化数据的数据分析</a:t>
                      </a:r>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3060213098"/>
                  </a:ext>
                </a:extLst>
              </a:tr>
              <a:tr h="644241">
                <a:tc>
                  <a:txBody>
                    <a:bodyPr/>
                    <a:lstStyle/>
                    <a:p>
                      <a:pPr indent="127000" algn="just">
                        <a:lnSpc>
                          <a:spcPct val="150000"/>
                        </a:lnSpc>
                      </a:pPr>
                      <a:r>
                        <a:rPr lang="zh-CN" sz="2400" kern="100" dirty="0">
                          <a:effectLst/>
                          <a:latin typeface="SimHei" panose="02010609060101010101" pitchFamily="49" charset="-122"/>
                          <a:ea typeface="SimHei" panose="02010609060101010101" pitchFamily="49" charset="-122"/>
                        </a:rPr>
                        <a:t>数据来源</a:t>
                      </a:r>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tc>
                <a:tc>
                  <a:txBody>
                    <a:bodyPr/>
                    <a:lstStyle/>
                    <a:p>
                      <a:pPr indent="127000" algn="l">
                        <a:lnSpc>
                          <a:spcPct val="100000"/>
                        </a:lnSpc>
                      </a:pPr>
                      <a:r>
                        <a:rPr lang="zh-CN" sz="2400" kern="100" dirty="0">
                          <a:effectLst/>
                          <a:latin typeface="SimHei" panose="02010609060101010101" pitchFamily="49" charset="-122"/>
                          <a:ea typeface="SimHei" panose="02010609060101010101" pitchFamily="49" charset="-122"/>
                        </a:rPr>
                        <a:t>所有原始数据</a:t>
                      </a:r>
                      <a:endParaRPr lang="en-US" altLang="zh-CN" sz="2400" kern="100" dirty="0">
                        <a:effectLst/>
                        <a:latin typeface="SimHei" panose="02010609060101010101" pitchFamily="49" charset="-122"/>
                        <a:ea typeface="SimHei" panose="02010609060101010101" pitchFamily="49" charset="-122"/>
                      </a:endParaRPr>
                    </a:p>
                    <a:p>
                      <a:pPr indent="127000" algn="l">
                        <a:lnSpc>
                          <a:spcPct val="100000"/>
                        </a:lnSpc>
                      </a:pPr>
                      <a:r>
                        <a:rPr lang="zh-CN" sz="2400" kern="100" dirty="0">
                          <a:effectLst/>
                          <a:latin typeface="SimHei" panose="02010609060101010101" pitchFamily="49" charset="-122"/>
                          <a:ea typeface="SimHei" panose="02010609060101010101" pitchFamily="49" charset="-122"/>
                        </a:rPr>
                        <a:t>（含结构化、半结构化和非结构化）</a:t>
                      </a:r>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tc>
                <a:tc>
                  <a:txBody>
                    <a:bodyPr/>
                    <a:lstStyle/>
                    <a:p>
                      <a:pPr indent="127000" algn="l">
                        <a:lnSpc>
                          <a:spcPct val="100000"/>
                        </a:lnSpc>
                      </a:pPr>
                      <a:r>
                        <a:rPr lang="zh-CN" sz="2400" kern="100" dirty="0">
                          <a:effectLst/>
                          <a:latin typeface="SimHei" panose="02010609060101010101" pitchFamily="49" charset="-122"/>
                          <a:ea typeface="SimHei" panose="02010609060101010101" pitchFamily="49" charset="-122"/>
                        </a:rPr>
                        <a:t>来自事务系统、数据库</a:t>
                      </a:r>
                      <a:r>
                        <a:rPr lang="zh-CN" altLang="en-US" sz="2400" kern="100" dirty="0">
                          <a:effectLst/>
                          <a:latin typeface="SimHei" panose="02010609060101010101" pitchFamily="49" charset="-122"/>
                          <a:ea typeface="SimHei" panose="02010609060101010101" pitchFamily="49" charset="-122"/>
                        </a:rPr>
                        <a:t>、</a:t>
                      </a:r>
                      <a:endParaRPr lang="en-US" altLang="zh-CN" sz="2400" kern="100" dirty="0">
                        <a:effectLst/>
                        <a:latin typeface="SimHei" panose="02010609060101010101" pitchFamily="49" charset="-122"/>
                        <a:ea typeface="SimHei" panose="02010609060101010101" pitchFamily="49" charset="-122"/>
                      </a:endParaRPr>
                    </a:p>
                    <a:p>
                      <a:pPr indent="127000" algn="l">
                        <a:lnSpc>
                          <a:spcPct val="100000"/>
                        </a:lnSpc>
                      </a:pPr>
                      <a:r>
                        <a:rPr lang="zh-CN" sz="2400" kern="100" dirty="0">
                          <a:effectLst/>
                          <a:latin typeface="SimHei" panose="02010609060101010101" pitchFamily="49" charset="-122"/>
                          <a:ea typeface="SimHei" panose="02010609060101010101" pitchFamily="49" charset="-122"/>
                        </a:rPr>
                        <a:t>业务程序的数据</a:t>
                      </a:r>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2584353844"/>
                  </a:ext>
                </a:extLst>
              </a:tr>
              <a:tr h="644241">
                <a:tc>
                  <a:txBody>
                    <a:bodyPr/>
                    <a:lstStyle/>
                    <a:p>
                      <a:pPr indent="127000" algn="just">
                        <a:lnSpc>
                          <a:spcPct val="150000"/>
                        </a:lnSpc>
                      </a:pPr>
                      <a:r>
                        <a:rPr lang="zh-CN" sz="2400" kern="100" dirty="0">
                          <a:effectLst/>
                          <a:latin typeface="SimHei" panose="02010609060101010101" pitchFamily="49" charset="-122"/>
                          <a:ea typeface="SimHei" panose="02010609060101010101" pitchFamily="49" charset="-122"/>
                        </a:rPr>
                        <a:t>数据质量</a:t>
                      </a:r>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tc>
                <a:tc>
                  <a:txBody>
                    <a:bodyPr/>
                    <a:lstStyle/>
                    <a:p>
                      <a:pPr indent="127000" algn="l">
                        <a:lnSpc>
                          <a:spcPct val="100000"/>
                        </a:lnSpc>
                      </a:pPr>
                      <a:r>
                        <a:rPr lang="zh-CN" sz="2400" kern="100" dirty="0">
                          <a:effectLst/>
                          <a:latin typeface="SimHei" panose="02010609060101010101" pitchFamily="49" charset="-122"/>
                          <a:ea typeface="SimHei" panose="02010609060101010101" pitchFamily="49" charset="-122"/>
                        </a:rPr>
                        <a:t>包含大量原始数据，</a:t>
                      </a:r>
                      <a:endParaRPr lang="en-US" altLang="zh-CN" sz="2400" kern="100" dirty="0">
                        <a:effectLst/>
                        <a:latin typeface="SimHei" panose="02010609060101010101" pitchFamily="49" charset="-122"/>
                        <a:ea typeface="SimHei" panose="02010609060101010101" pitchFamily="49" charset="-122"/>
                      </a:endParaRPr>
                    </a:p>
                    <a:p>
                      <a:pPr indent="127000" algn="l">
                        <a:lnSpc>
                          <a:spcPct val="100000"/>
                        </a:lnSpc>
                      </a:pPr>
                      <a:r>
                        <a:rPr lang="zh-CN" sz="2400" kern="100" dirty="0">
                          <a:effectLst/>
                          <a:latin typeface="SimHei" panose="02010609060101010101" pitchFamily="49" charset="-122"/>
                          <a:ea typeface="SimHei" panose="02010609060101010101" pitchFamily="49" charset="-122"/>
                        </a:rPr>
                        <a:t>使用前需要清洗和标准化</a:t>
                      </a:r>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tc>
                <a:tc>
                  <a:txBody>
                    <a:bodyPr/>
                    <a:lstStyle/>
                    <a:p>
                      <a:pPr indent="127000" algn="l">
                        <a:lnSpc>
                          <a:spcPct val="100000"/>
                        </a:lnSpc>
                      </a:pPr>
                      <a:r>
                        <a:rPr lang="zh-CN" sz="2400" kern="100" dirty="0">
                          <a:effectLst/>
                          <a:latin typeface="SimHei" panose="02010609060101010101" pitchFamily="49" charset="-122"/>
                          <a:ea typeface="SimHei" panose="02010609060101010101" pitchFamily="49" charset="-122"/>
                        </a:rPr>
                        <a:t>数据质量高，可作为事实依据</a:t>
                      </a:r>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321008992"/>
                  </a:ext>
                </a:extLst>
              </a:tr>
              <a:tr h="644241">
                <a:tc>
                  <a:txBody>
                    <a:bodyPr/>
                    <a:lstStyle/>
                    <a:p>
                      <a:pPr indent="127000" algn="just">
                        <a:lnSpc>
                          <a:spcPct val="150000"/>
                        </a:lnSpc>
                      </a:pPr>
                      <a:r>
                        <a:rPr lang="zh-CN" sz="2400" kern="100" dirty="0">
                          <a:effectLst/>
                          <a:latin typeface="SimHei" panose="02010609060101010101" pitchFamily="49" charset="-122"/>
                          <a:ea typeface="SimHei" panose="02010609060101010101" pitchFamily="49" charset="-122"/>
                        </a:rPr>
                        <a:t>适用对象</a:t>
                      </a:r>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tc>
                <a:tc>
                  <a:txBody>
                    <a:bodyPr/>
                    <a:lstStyle/>
                    <a:p>
                      <a:pPr indent="127000" algn="l">
                        <a:lnSpc>
                          <a:spcPct val="100000"/>
                        </a:lnSpc>
                      </a:pPr>
                      <a:r>
                        <a:rPr lang="zh-CN" sz="2400" kern="100" dirty="0">
                          <a:effectLst/>
                          <a:latin typeface="SimHei" panose="02010609060101010101" pitchFamily="49" charset="-122"/>
                          <a:ea typeface="SimHei" panose="02010609060101010101" pitchFamily="49" charset="-122"/>
                        </a:rPr>
                        <a:t>数据科学家、数据开发人员为主</a:t>
                      </a:r>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tc>
                <a:tc>
                  <a:txBody>
                    <a:bodyPr/>
                    <a:lstStyle/>
                    <a:p>
                      <a:pPr indent="127000" algn="l">
                        <a:lnSpc>
                          <a:spcPct val="100000"/>
                        </a:lnSpc>
                      </a:pPr>
                      <a:r>
                        <a:rPr lang="zh-CN" sz="2400" kern="100" dirty="0">
                          <a:effectLst/>
                          <a:latin typeface="SimHei" panose="02010609060101010101" pitchFamily="49" charset="-122"/>
                          <a:ea typeface="SimHei" panose="02010609060101010101" pitchFamily="49" charset="-122"/>
                        </a:rPr>
                        <a:t>业务分析师为主</a:t>
                      </a:r>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3303908832"/>
                  </a:ext>
                </a:extLst>
              </a:tr>
            </a:tbl>
          </a:graphicData>
        </a:graphic>
      </p:graphicFrame>
      <p:sp>
        <p:nvSpPr>
          <p:cNvPr id="4" name="内容占位符 2">
            <a:extLst>
              <a:ext uri="{FF2B5EF4-FFF2-40B4-BE49-F238E27FC236}">
                <a16:creationId xmlns:a16="http://schemas.microsoft.com/office/drawing/2014/main" id="{4D4FC824-135C-937F-ED3E-5451E70D1018}"/>
              </a:ext>
            </a:extLst>
          </p:cNvPr>
          <p:cNvSpPr>
            <a:spLocks noGrp="1"/>
          </p:cNvSpPr>
          <p:nvPr>
            <p:ph idx="1"/>
          </p:nvPr>
        </p:nvSpPr>
        <p:spPr>
          <a:xfrm>
            <a:off x="288551" y="1206950"/>
            <a:ext cx="11456894" cy="1549898"/>
          </a:xfrm>
        </p:spPr>
        <p:txBody>
          <a:bodyPr/>
          <a:lstStyle/>
          <a:p>
            <a:pPr marL="0" indent="0">
              <a:buNone/>
            </a:pPr>
            <a:r>
              <a:rPr lang="zh-CN" altLang="en-US" sz="2800" b="1" dirty="0">
                <a:solidFill>
                  <a:srgbClr val="7030A0"/>
                </a:solidFill>
              </a:rPr>
              <a:t>数据仓库</a:t>
            </a:r>
            <a:r>
              <a:rPr lang="zh-CN" altLang="en-US" sz="2800" dirty="0">
                <a:solidFill>
                  <a:srgbClr val="7030A0"/>
                </a:solidFill>
              </a:rPr>
              <a:t>：</a:t>
            </a:r>
            <a:r>
              <a:rPr lang="zh-CN" altLang="en-US" sz="2800" dirty="0"/>
              <a:t>多源数据进行加工后集中存储的一个“仓库”。</a:t>
            </a:r>
            <a:endParaRPr lang="en-US" altLang="zh-CN" sz="2800" dirty="0"/>
          </a:p>
          <a:p>
            <a:pPr marL="0" indent="0">
              <a:buNone/>
            </a:pPr>
            <a:r>
              <a:rPr lang="zh-CN" altLang="en-US" sz="2800" b="1" dirty="0">
                <a:solidFill>
                  <a:srgbClr val="7030A0"/>
                </a:solidFill>
              </a:rPr>
              <a:t>数据湖</a:t>
            </a:r>
            <a:r>
              <a:rPr lang="zh-CN" altLang="en-US" sz="2800" dirty="0"/>
              <a:t>：汇集并存储多个来源的原始数据的“湖泊”，是一个集中存储和管理来自多个数据源的结构化、半结构化和非结构化数据的大型系统。 </a:t>
            </a:r>
          </a:p>
        </p:txBody>
      </p:sp>
      <p:sp>
        <p:nvSpPr>
          <p:cNvPr id="5" name="灯片编号占位符 1">
            <a:extLst>
              <a:ext uri="{FF2B5EF4-FFF2-40B4-BE49-F238E27FC236}">
                <a16:creationId xmlns:a16="http://schemas.microsoft.com/office/drawing/2014/main" id="{33BC399C-56D6-14CB-0CC8-47153EE72822}"/>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58</a:t>
            </a:fld>
            <a:endParaRPr lang="zh-CN" altLang="en-US" dirty="0"/>
          </a:p>
        </p:txBody>
      </p:sp>
    </p:spTree>
    <p:extLst>
      <p:ext uri="{BB962C8B-B14F-4D97-AF65-F5344CB8AC3E}">
        <p14:creationId xmlns:p14="http://schemas.microsoft.com/office/powerpoint/2010/main" val="36500573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en-US" altLang="zh-CN" dirty="0">
                <a:latin typeface="Times" pitchFamily="2" charset="0"/>
              </a:rPr>
              <a:t>HTAP</a:t>
            </a:r>
            <a:r>
              <a:rPr kumimoji="1" lang="zh-CN" altLang="en-US" dirty="0">
                <a:latin typeface="Times" pitchFamily="2" charset="0"/>
              </a:rPr>
              <a:t>的</a:t>
            </a:r>
            <a:r>
              <a:rPr lang="zh-CN" altLang="en-US" dirty="0">
                <a:latin typeface="Times" pitchFamily="2" charset="0"/>
              </a:rPr>
              <a:t>产生背景</a:t>
            </a:r>
            <a:endParaRPr kumimoji="1" lang="zh-CN" altLang="en-US" dirty="0">
              <a:latin typeface="Times" pitchFamily="2" charset="0"/>
            </a:endParaRP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p:txBody>
          <a:bodyPr/>
          <a:lstStyle/>
          <a:p>
            <a:r>
              <a:rPr lang="zh-CN" altLang="en-US" sz="2800" dirty="0">
                <a:latin typeface="Times" pitchFamily="2" charset="0"/>
              </a:rPr>
              <a:t>混合事务与分析处理</a:t>
            </a:r>
            <a:r>
              <a:rPr lang="en-US" altLang="zh-CN" sz="2800" dirty="0">
                <a:latin typeface="Times" pitchFamily="2" charset="0"/>
                <a:cs typeface="Arial" panose="020B0604020202020204" pitchFamily="34" charset="0"/>
              </a:rPr>
              <a:t>(Hybrid Transactional and Analytical Processing)</a:t>
            </a:r>
          </a:p>
          <a:p>
            <a:pPr lvl="1">
              <a:buFont typeface="Arial" panose="020B0604020202020204" pitchFamily="34" charset="0"/>
              <a:buChar char="•"/>
            </a:pPr>
            <a:r>
              <a:rPr lang="zh-CN" altLang="en-US" sz="2400" dirty="0">
                <a:latin typeface="Times" pitchFamily="2" charset="0"/>
                <a:cs typeface="Arial" panose="020B0604020202020204" pitchFamily="34" charset="0"/>
              </a:rPr>
              <a:t>著名咨询公司</a:t>
            </a:r>
            <a:r>
              <a:rPr lang="en-US" altLang="zh-CN" sz="2400" dirty="0">
                <a:latin typeface="Times" pitchFamily="2" charset="0"/>
                <a:cs typeface="Arial" panose="020B0604020202020204" pitchFamily="34" charset="0"/>
              </a:rPr>
              <a:t>Gartner</a:t>
            </a:r>
            <a:r>
              <a:rPr lang="zh-CN" altLang="en-US" sz="2400" dirty="0">
                <a:latin typeface="Times" pitchFamily="2" charset="0"/>
                <a:cs typeface="Arial" panose="020B0604020202020204" pitchFamily="34" charset="0"/>
              </a:rPr>
              <a:t>于</a:t>
            </a:r>
            <a:r>
              <a:rPr lang="en-US" altLang="zh-CN" sz="2400" dirty="0">
                <a:latin typeface="Times" pitchFamily="2" charset="0"/>
                <a:cs typeface="Arial" panose="020B0604020202020204" pitchFamily="34" charset="0"/>
              </a:rPr>
              <a:t>2014</a:t>
            </a:r>
            <a:r>
              <a:rPr lang="zh-CN" altLang="en-US" sz="2400" dirty="0">
                <a:latin typeface="Times" pitchFamily="2" charset="0"/>
                <a:cs typeface="Arial" panose="020B0604020202020204" pitchFamily="34" charset="0"/>
              </a:rPr>
              <a:t>年正式定义</a:t>
            </a:r>
            <a:r>
              <a:rPr lang="en-US" altLang="zh-CN" sz="2400" dirty="0">
                <a:latin typeface="Times" pitchFamily="2" charset="0"/>
                <a:cs typeface="Arial" panose="020B0604020202020204" pitchFamily="34" charset="0"/>
              </a:rPr>
              <a:t>HTAP</a:t>
            </a:r>
            <a:r>
              <a:rPr lang="zh-CN" altLang="en-US" sz="2400" dirty="0">
                <a:latin typeface="Times" pitchFamily="2" charset="0"/>
                <a:cs typeface="Arial" panose="020B0604020202020204" pitchFamily="34" charset="0"/>
              </a:rPr>
              <a:t>为</a:t>
            </a:r>
            <a:r>
              <a:rPr lang="en-US" altLang="zh-CN" sz="2400" dirty="0">
                <a:latin typeface="Times" pitchFamily="2" charset="0"/>
                <a:cs typeface="Arial" panose="020B0604020202020204" pitchFamily="34" charset="0"/>
              </a:rPr>
              <a:t>: </a:t>
            </a:r>
            <a:r>
              <a:rPr lang="zh-CN" altLang="en-US" sz="2400" u="sng" dirty="0">
                <a:latin typeface="Times" pitchFamily="2" charset="0"/>
                <a:cs typeface="Arial" panose="020B0604020202020204" pitchFamily="34" charset="0"/>
              </a:rPr>
              <a:t>基于内存计算技术并发地支持查询分析处理与事务处理，并且能够实时分析最新的事务数据</a:t>
            </a:r>
            <a:endParaRPr lang="en-US" altLang="zh-CN" sz="2400" u="sng" dirty="0">
              <a:latin typeface="Times" pitchFamily="2" charset="0"/>
              <a:cs typeface="Arial" panose="020B0604020202020204" pitchFamily="34" charset="0"/>
            </a:endParaRPr>
          </a:p>
          <a:p>
            <a:pPr lvl="1"/>
            <a:endParaRPr lang="zh-CN" altLang="en-US" sz="2400" dirty="0">
              <a:latin typeface="Times" pitchFamily="2" charset="0"/>
              <a:cs typeface="Arial" panose="020B0604020202020204" pitchFamily="34" charset="0"/>
            </a:endParaRPr>
          </a:p>
          <a:p>
            <a:pPr lvl="1"/>
            <a:endParaRPr lang="en-US" altLang="zh-CN" sz="2000" dirty="0">
              <a:latin typeface="Times" pitchFamily="2" charset="0"/>
              <a:cs typeface="Arial" panose="020B0604020202020204" pitchFamily="34" charset="0"/>
            </a:endParaRPr>
          </a:p>
          <a:p>
            <a:endParaRPr lang="en-US" altLang="zh-CN" sz="2400" dirty="0">
              <a:latin typeface="Times" pitchFamily="2" charset="0"/>
              <a:cs typeface="Arial" panose="020B0604020202020204" pitchFamily="34" charset="0"/>
            </a:endParaRPr>
          </a:p>
        </p:txBody>
      </p:sp>
      <p:pic>
        <p:nvPicPr>
          <p:cNvPr id="6" name="Picture 5">
            <a:extLst>
              <a:ext uri="{FF2B5EF4-FFF2-40B4-BE49-F238E27FC236}">
                <a16:creationId xmlns:a16="http://schemas.microsoft.com/office/drawing/2014/main" id="{AD518323-57BD-81D1-F833-4FF36F59DD88}"/>
              </a:ext>
            </a:extLst>
          </p:cNvPr>
          <p:cNvPicPr>
            <a:picLocks noChangeAspect="1"/>
          </p:cNvPicPr>
          <p:nvPr/>
        </p:nvPicPr>
        <p:blipFill>
          <a:blip r:embed="rId3"/>
          <a:stretch>
            <a:fillRect/>
          </a:stretch>
        </p:blipFill>
        <p:spPr>
          <a:xfrm>
            <a:off x="1943100" y="2953188"/>
            <a:ext cx="8305800" cy="3263900"/>
          </a:xfrm>
          <a:prstGeom prst="rect">
            <a:avLst/>
          </a:prstGeom>
        </p:spPr>
      </p:pic>
      <p:sp>
        <p:nvSpPr>
          <p:cNvPr id="5" name="灯片编号占位符 1">
            <a:extLst>
              <a:ext uri="{FF2B5EF4-FFF2-40B4-BE49-F238E27FC236}">
                <a16:creationId xmlns:a16="http://schemas.microsoft.com/office/drawing/2014/main" id="{600E520A-2E6C-1AB1-3E23-A90C3792833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59</a:t>
            </a:fld>
            <a:endParaRPr lang="zh-CN" altLang="en-US" dirty="0"/>
          </a:p>
        </p:txBody>
      </p:sp>
    </p:spTree>
    <p:extLst>
      <p:ext uri="{BB962C8B-B14F-4D97-AF65-F5344CB8AC3E}">
        <p14:creationId xmlns:p14="http://schemas.microsoft.com/office/powerpoint/2010/main" val="16021778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en-US" altLang="zh-CN" dirty="0">
                <a:latin typeface="Times" pitchFamily="2" charset="0"/>
              </a:rPr>
              <a:t>HTAP</a:t>
            </a:r>
            <a:r>
              <a:rPr kumimoji="1" lang="zh-CN" altLang="en-US" dirty="0">
                <a:latin typeface="Times" pitchFamily="2" charset="0"/>
              </a:rPr>
              <a:t>的</a:t>
            </a:r>
            <a:r>
              <a:rPr lang="zh-CN" altLang="en-US" dirty="0">
                <a:latin typeface="Times" pitchFamily="2" charset="0"/>
              </a:rPr>
              <a:t>相关应用</a:t>
            </a:r>
            <a:endParaRPr kumimoji="1" lang="zh-CN" altLang="en-US" dirty="0">
              <a:latin typeface="Times" pitchFamily="2" charset="0"/>
            </a:endParaRP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p:txBody>
          <a:bodyPr/>
          <a:lstStyle/>
          <a:p>
            <a:r>
              <a:rPr lang="en-US" altLang="zh-CN" dirty="0">
                <a:solidFill>
                  <a:srgbClr val="000000"/>
                </a:solidFill>
                <a:latin typeface="Times" pitchFamily="2" charset="0"/>
                <a:cs typeface="Arial" panose="020B0604020202020204" pitchFamily="34" charset="0"/>
              </a:rPr>
              <a:t>Gartner</a:t>
            </a:r>
            <a:r>
              <a:rPr lang="zh-CN" altLang="en-US" dirty="0">
                <a:solidFill>
                  <a:srgbClr val="000000"/>
                </a:solidFill>
                <a:latin typeface="Times" pitchFamily="2" charset="0"/>
              </a:rPr>
              <a:t>预测在</a:t>
            </a:r>
            <a:r>
              <a:rPr lang="en-US" altLang="zh-CN" dirty="0">
                <a:solidFill>
                  <a:srgbClr val="000000"/>
                </a:solidFill>
                <a:latin typeface="Times" pitchFamily="2" charset="0"/>
              </a:rPr>
              <a:t>2024</a:t>
            </a:r>
            <a:r>
              <a:rPr lang="zh-CN" altLang="en-US" dirty="0">
                <a:solidFill>
                  <a:srgbClr val="000000"/>
                </a:solidFill>
                <a:latin typeface="Times" pitchFamily="2" charset="0"/>
              </a:rPr>
              <a:t>前，</a:t>
            </a:r>
            <a:r>
              <a:rPr lang="en-US" altLang="zh-CN" dirty="0">
                <a:solidFill>
                  <a:srgbClr val="000000"/>
                </a:solidFill>
                <a:latin typeface="Times" pitchFamily="2" charset="0"/>
                <a:cs typeface="Arial" panose="020B0604020202020204" pitchFamily="34" charset="0"/>
              </a:rPr>
              <a:t>HTAP</a:t>
            </a:r>
            <a:r>
              <a:rPr lang="zh-CN" altLang="en-US" dirty="0">
                <a:solidFill>
                  <a:srgbClr val="000000"/>
                </a:solidFill>
                <a:latin typeface="Times" pitchFamily="2" charset="0"/>
              </a:rPr>
              <a:t>技术将</a:t>
            </a:r>
            <a:endParaRPr lang="en-US" altLang="zh-CN" dirty="0">
              <a:solidFill>
                <a:srgbClr val="000000"/>
              </a:solidFill>
              <a:latin typeface="Times" pitchFamily="2" charset="0"/>
            </a:endParaRPr>
          </a:p>
          <a:p>
            <a:pPr marL="0" indent="0">
              <a:buNone/>
            </a:pPr>
            <a:r>
              <a:rPr lang="zh-CN" altLang="en-US" dirty="0">
                <a:solidFill>
                  <a:srgbClr val="000000"/>
                </a:solidFill>
                <a:latin typeface="Times" pitchFamily="2" charset="0"/>
              </a:rPr>
              <a:t>实时数据分析型应用领域被广泛采用</a:t>
            </a:r>
            <a:endParaRPr lang="en-US" altLang="zh-CN" dirty="0">
              <a:solidFill>
                <a:srgbClr val="000000"/>
              </a:solidFill>
              <a:latin typeface="Times" pitchFamily="2" charset="0"/>
            </a:endParaRPr>
          </a:p>
          <a:p>
            <a:pPr marL="0" indent="0">
              <a:buNone/>
            </a:pPr>
            <a:endParaRPr lang="en-US" altLang="zh-CN" dirty="0">
              <a:solidFill>
                <a:srgbClr val="000000"/>
              </a:solidFill>
              <a:latin typeface="Times" pitchFamily="2" charset="0"/>
            </a:endParaRPr>
          </a:p>
          <a:p>
            <a:r>
              <a:rPr lang="zh-CN" altLang="en-US" dirty="0">
                <a:solidFill>
                  <a:srgbClr val="000000"/>
                </a:solidFill>
                <a:latin typeface="Times" pitchFamily="2" charset="0"/>
                <a:cs typeface="Arial" panose="020B0604020202020204" pitchFamily="34" charset="0"/>
              </a:rPr>
              <a:t> </a:t>
            </a:r>
            <a:r>
              <a:rPr lang="en-US" altLang="zh-CN" dirty="0">
                <a:solidFill>
                  <a:srgbClr val="000000"/>
                </a:solidFill>
                <a:latin typeface="Times" pitchFamily="2" charset="0"/>
                <a:cs typeface="Arial" panose="020B0604020202020204" pitchFamily="34" charset="0"/>
              </a:rPr>
              <a:t>HTAP</a:t>
            </a:r>
            <a:r>
              <a:rPr lang="zh-CN" altLang="en-US" dirty="0">
                <a:solidFill>
                  <a:srgbClr val="000000"/>
                </a:solidFill>
                <a:latin typeface="Times" pitchFamily="2" charset="0"/>
              </a:rPr>
              <a:t>技术适用于</a:t>
            </a:r>
            <a:r>
              <a:rPr lang="zh-CN" altLang="en-US" dirty="0">
                <a:latin typeface="Times" pitchFamily="2" charset="0"/>
              </a:rPr>
              <a:t>需要同时保证高性能的</a:t>
            </a:r>
            <a:endParaRPr lang="en-US" altLang="zh-CN" dirty="0">
              <a:latin typeface="Times" pitchFamily="2" charset="0"/>
            </a:endParaRPr>
          </a:p>
          <a:p>
            <a:pPr marL="0" indent="0">
              <a:buNone/>
            </a:pPr>
            <a:r>
              <a:rPr lang="zh-CN" altLang="en-US" dirty="0">
                <a:latin typeface="Times" pitchFamily="2" charset="0"/>
              </a:rPr>
              <a:t>事务处理与高度实时性的数据分析的应用</a:t>
            </a:r>
            <a:endParaRPr lang="en-US" altLang="zh-CN" dirty="0">
              <a:latin typeface="Times" pitchFamily="2" charset="0"/>
            </a:endParaRPr>
          </a:p>
          <a:p>
            <a:pPr marL="0" indent="0">
              <a:buNone/>
            </a:pPr>
            <a:endParaRPr lang="en-US" dirty="0">
              <a:latin typeface="Times" pitchFamily="2" charset="0"/>
            </a:endParaRPr>
          </a:p>
          <a:p>
            <a:r>
              <a:rPr lang="en-CN" dirty="0">
                <a:latin typeface="Times" pitchFamily="2" charset="0"/>
              </a:rPr>
              <a:t> 例如</a:t>
            </a:r>
            <a:r>
              <a:rPr lang="zh-CN" altLang="en-US" dirty="0">
                <a:latin typeface="Times" pitchFamily="2" charset="0"/>
              </a:rPr>
              <a:t>，在电子商务应用中需要在线分析</a:t>
            </a:r>
            <a:endParaRPr lang="en-US" altLang="zh-CN" dirty="0">
              <a:latin typeface="Times" pitchFamily="2" charset="0"/>
            </a:endParaRPr>
          </a:p>
          <a:p>
            <a:pPr marL="0" indent="0">
              <a:buNone/>
            </a:pPr>
            <a:r>
              <a:rPr lang="zh-CN" altLang="en-US" dirty="0">
                <a:latin typeface="Times" pitchFamily="2" charset="0"/>
              </a:rPr>
              <a:t>销售趋势的场景；在欺诈识别应用中需要在</a:t>
            </a:r>
            <a:endParaRPr lang="en-US" altLang="zh-CN" dirty="0">
              <a:latin typeface="Times" pitchFamily="2" charset="0"/>
            </a:endParaRPr>
          </a:p>
          <a:p>
            <a:pPr marL="0" indent="0">
              <a:buNone/>
            </a:pPr>
            <a:r>
              <a:rPr lang="zh-CN" altLang="en-US" dirty="0">
                <a:latin typeface="Times" pitchFamily="2" charset="0"/>
              </a:rPr>
              <a:t>处理不同客户事务的同时识别出欺诈行为 </a:t>
            </a:r>
            <a:endParaRPr lang="en-US" altLang="zh-CN" dirty="0">
              <a:solidFill>
                <a:srgbClr val="000000"/>
              </a:solidFill>
              <a:latin typeface="Times" pitchFamily="2" charset="0"/>
            </a:endParaRPr>
          </a:p>
          <a:p>
            <a:endParaRPr kumimoji="1" lang="zh-CN" altLang="en-US" dirty="0">
              <a:latin typeface="Times" pitchFamily="2" charset="0"/>
            </a:endParaRPr>
          </a:p>
        </p:txBody>
      </p:sp>
      <p:pic>
        <p:nvPicPr>
          <p:cNvPr id="4" name="Picture 3">
            <a:extLst>
              <a:ext uri="{FF2B5EF4-FFF2-40B4-BE49-F238E27FC236}">
                <a16:creationId xmlns:a16="http://schemas.microsoft.com/office/drawing/2014/main" id="{4082025F-7FA9-F702-F1CE-4151BB6A4F6E}"/>
              </a:ext>
            </a:extLst>
          </p:cNvPr>
          <p:cNvPicPr>
            <a:picLocks noChangeAspect="1"/>
          </p:cNvPicPr>
          <p:nvPr/>
        </p:nvPicPr>
        <p:blipFill>
          <a:blip r:embed="rId3"/>
          <a:stretch>
            <a:fillRect/>
          </a:stretch>
        </p:blipFill>
        <p:spPr>
          <a:xfrm>
            <a:off x="9132286" y="1557878"/>
            <a:ext cx="660722" cy="610856"/>
          </a:xfrm>
          <a:prstGeom prst="rect">
            <a:avLst/>
          </a:prstGeom>
        </p:spPr>
      </p:pic>
      <p:sp>
        <p:nvSpPr>
          <p:cNvPr id="5" name="TextBox 4">
            <a:extLst>
              <a:ext uri="{FF2B5EF4-FFF2-40B4-BE49-F238E27FC236}">
                <a16:creationId xmlns:a16="http://schemas.microsoft.com/office/drawing/2014/main" id="{3C32F898-C1DD-D654-849C-F135F2AF0951}"/>
              </a:ext>
            </a:extLst>
          </p:cNvPr>
          <p:cNvSpPr txBox="1"/>
          <p:nvPr/>
        </p:nvSpPr>
        <p:spPr>
          <a:xfrm>
            <a:off x="9353161" y="2207371"/>
            <a:ext cx="1415772" cy="461665"/>
          </a:xfrm>
          <a:prstGeom prst="rect">
            <a:avLst/>
          </a:prstGeom>
          <a:noFill/>
        </p:spPr>
        <p:txBody>
          <a:bodyPr wrap="none" rtlCol="0">
            <a:spAutoFit/>
          </a:bodyPr>
          <a:lstStyle/>
          <a:p>
            <a:r>
              <a:rPr lang="en-CN" sz="2400" dirty="0">
                <a:solidFill>
                  <a:srgbClr val="0070C0"/>
                </a:solidFill>
              </a:rPr>
              <a:t>电子商务</a:t>
            </a:r>
          </a:p>
        </p:txBody>
      </p:sp>
      <p:pic>
        <p:nvPicPr>
          <p:cNvPr id="6" name="Picture 5">
            <a:extLst>
              <a:ext uri="{FF2B5EF4-FFF2-40B4-BE49-F238E27FC236}">
                <a16:creationId xmlns:a16="http://schemas.microsoft.com/office/drawing/2014/main" id="{1274D530-2D6D-0DDF-8E2D-1B7D79956595}"/>
              </a:ext>
            </a:extLst>
          </p:cNvPr>
          <p:cNvPicPr>
            <a:picLocks noChangeAspect="1"/>
          </p:cNvPicPr>
          <p:nvPr/>
        </p:nvPicPr>
        <p:blipFill>
          <a:blip r:embed="rId3"/>
          <a:stretch>
            <a:fillRect/>
          </a:stretch>
        </p:blipFill>
        <p:spPr>
          <a:xfrm>
            <a:off x="10530064" y="1635515"/>
            <a:ext cx="660722" cy="610856"/>
          </a:xfrm>
          <a:prstGeom prst="rect">
            <a:avLst/>
          </a:prstGeom>
        </p:spPr>
      </p:pic>
      <p:pic>
        <p:nvPicPr>
          <p:cNvPr id="7" name="Picture 6">
            <a:extLst>
              <a:ext uri="{FF2B5EF4-FFF2-40B4-BE49-F238E27FC236}">
                <a16:creationId xmlns:a16="http://schemas.microsoft.com/office/drawing/2014/main" id="{F582CBC5-28C3-2306-26B2-3A40329D2D15}"/>
              </a:ext>
            </a:extLst>
          </p:cNvPr>
          <p:cNvPicPr>
            <a:picLocks noChangeAspect="1"/>
          </p:cNvPicPr>
          <p:nvPr/>
        </p:nvPicPr>
        <p:blipFill>
          <a:blip r:embed="rId3"/>
          <a:stretch>
            <a:fillRect/>
          </a:stretch>
        </p:blipFill>
        <p:spPr>
          <a:xfrm>
            <a:off x="9810794" y="1098114"/>
            <a:ext cx="660722" cy="610856"/>
          </a:xfrm>
          <a:prstGeom prst="rect">
            <a:avLst/>
          </a:prstGeom>
        </p:spPr>
      </p:pic>
      <p:sp>
        <p:nvSpPr>
          <p:cNvPr id="8" name="Oval 7">
            <a:extLst>
              <a:ext uri="{FF2B5EF4-FFF2-40B4-BE49-F238E27FC236}">
                <a16:creationId xmlns:a16="http://schemas.microsoft.com/office/drawing/2014/main" id="{AF470D7B-B763-A5C3-7FC7-5C80FC23FB4A}"/>
              </a:ext>
            </a:extLst>
          </p:cNvPr>
          <p:cNvSpPr/>
          <p:nvPr/>
        </p:nvSpPr>
        <p:spPr>
          <a:xfrm>
            <a:off x="8899300" y="1004254"/>
            <a:ext cx="2440981" cy="244098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solidFill>
                <a:schemeClr val="tx1"/>
              </a:solidFill>
            </a:endParaRPr>
          </a:p>
        </p:txBody>
      </p:sp>
      <p:sp>
        <p:nvSpPr>
          <p:cNvPr id="9" name="Oval 8">
            <a:extLst>
              <a:ext uri="{FF2B5EF4-FFF2-40B4-BE49-F238E27FC236}">
                <a16:creationId xmlns:a16="http://schemas.microsoft.com/office/drawing/2014/main" id="{CFC5AB1B-A472-79A6-DE7D-54334EE9F773}"/>
              </a:ext>
            </a:extLst>
          </p:cNvPr>
          <p:cNvSpPr/>
          <p:nvPr/>
        </p:nvSpPr>
        <p:spPr>
          <a:xfrm>
            <a:off x="8950817" y="3904999"/>
            <a:ext cx="2440981" cy="244098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 name="TextBox 9">
            <a:extLst>
              <a:ext uri="{FF2B5EF4-FFF2-40B4-BE49-F238E27FC236}">
                <a16:creationId xmlns:a16="http://schemas.microsoft.com/office/drawing/2014/main" id="{D2ED337B-0FA2-CD45-2243-FF1F7BB3BDC6}"/>
              </a:ext>
            </a:extLst>
          </p:cNvPr>
          <p:cNvSpPr txBox="1"/>
          <p:nvPr/>
        </p:nvSpPr>
        <p:spPr>
          <a:xfrm>
            <a:off x="9461734" y="5004058"/>
            <a:ext cx="1415772" cy="461665"/>
          </a:xfrm>
          <a:prstGeom prst="rect">
            <a:avLst/>
          </a:prstGeom>
          <a:noFill/>
        </p:spPr>
        <p:txBody>
          <a:bodyPr wrap="none" rtlCol="0">
            <a:spAutoFit/>
          </a:bodyPr>
          <a:lstStyle/>
          <a:p>
            <a:r>
              <a:rPr lang="zh-CN" altLang="en-US" sz="2400" dirty="0">
                <a:solidFill>
                  <a:srgbClr val="FF9300"/>
                </a:solidFill>
              </a:rPr>
              <a:t>欺诈识别</a:t>
            </a:r>
            <a:endParaRPr lang="en-CN" sz="2400" dirty="0">
              <a:solidFill>
                <a:srgbClr val="FF9300"/>
              </a:solidFill>
            </a:endParaRPr>
          </a:p>
        </p:txBody>
      </p:sp>
      <p:pic>
        <p:nvPicPr>
          <p:cNvPr id="11" name="Picture 10">
            <a:extLst>
              <a:ext uri="{FF2B5EF4-FFF2-40B4-BE49-F238E27FC236}">
                <a16:creationId xmlns:a16="http://schemas.microsoft.com/office/drawing/2014/main" id="{6E3CEB3E-7C9A-D1BF-452F-9A978CEEAA8D}"/>
              </a:ext>
            </a:extLst>
          </p:cNvPr>
          <p:cNvPicPr>
            <a:picLocks noChangeAspect="1"/>
          </p:cNvPicPr>
          <p:nvPr/>
        </p:nvPicPr>
        <p:blipFill>
          <a:blip r:embed="rId4"/>
          <a:stretch>
            <a:fillRect/>
          </a:stretch>
        </p:blipFill>
        <p:spPr>
          <a:xfrm>
            <a:off x="9251954" y="4450546"/>
            <a:ext cx="585269" cy="553511"/>
          </a:xfrm>
          <a:prstGeom prst="rect">
            <a:avLst/>
          </a:prstGeom>
        </p:spPr>
      </p:pic>
      <p:pic>
        <p:nvPicPr>
          <p:cNvPr id="12" name="Picture 11">
            <a:extLst>
              <a:ext uri="{FF2B5EF4-FFF2-40B4-BE49-F238E27FC236}">
                <a16:creationId xmlns:a16="http://schemas.microsoft.com/office/drawing/2014/main" id="{10AD9703-ACED-3FD6-69FD-F17D2AFED50C}"/>
              </a:ext>
            </a:extLst>
          </p:cNvPr>
          <p:cNvPicPr>
            <a:picLocks noChangeAspect="1"/>
          </p:cNvPicPr>
          <p:nvPr/>
        </p:nvPicPr>
        <p:blipFill>
          <a:blip r:embed="rId4"/>
          <a:stretch>
            <a:fillRect/>
          </a:stretch>
        </p:blipFill>
        <p:spPr>
          <a:xfrm>
            <a:off x="10505267" y="4450545"/>
            <a:ext cx="585269" cy="553511"/>
          </a:xfrm>
          <a:prstGeom prst="rect">
            <a:avLst/>
          </a:prstGeom>
        </p:spPr>
      </p:pic>
      <p:pic>
        <p:nvPicPr>
          <p:cNvPr id="13" name="Picture 12">
            <a:extLst>
              <a:ext uri="{FF2B5EF4-FFF2-40B4-BE49-F238E27FC236}">
                <a16:creationId xmlns:a16="http://schemas.microsoft.com/office/drawing/2014/main" id="{6DBC87D1-84EF-D897-9A21-14D971D2399F}"/>
              </a:ext>
            </a:extLst>
          </p:cNvPr>
          <p:cNvPicPr>
            <a:picLocks noChangeAspect="1"/>
          </p:cNvPicPr>
          <p:nvPr/>
        </p:nvPicPr>
        <p:blipFill>
          <a:blip r:embed="rId4"/>
          <a:stretch>
            <a:fillRect/>
          </a:stretch>
        </p:blipFill>
        <p:spPr>
          <a:xfrm>
            <a:off x="9871483" y="4015458"/>
            <a:ext cx="585269" cy="553511"/>
          </a:xfrm>
          <a:prstGeom prst="rect">
            <a:avLst/>
          </a:prstGeom>
        </p:spPr>
      </p:pic>
      <p:pic>
        <p:nvPicPr>
          <p:cNvPr id="14" name="Picture 13">
            <a:extLst>
              <a:ext uri="{FF2B5EF4-FFF2-40B4-BE49-F238E27FC236}">
                <a16:creationId xmlns:a16="http://schemas.microsoft.com/office/drawing/2014/main" id="{92D9E2C2-C091-BABB-B529-5ACF73C9096B}"/>
              </a:ext>
            </a:extLst>
          </p:cNvPr>
          <p:cNvPicPr>
            <a:picLocks noChangeAspect="1"/>
          </p:cNvPicPr>
          <p:nvPr/>
        </p:nvPicPr>
        <p:blipFill>
          <a:blip r:embed="rId5"/>
          <a:stretch>
            <a:fillRect/>
          </a:stretch>
        </p:blipFill>
        <p:spPr>
          <a:xfrm>
            <a:off x="9833185" y="2893804"/>
            <a:ext cx="461665" cy="461665"/>
          </a:xfrm>
          <a:prstGeom prst="rect">
            <a:avLst/>
          </a:prstGeom>
        </p:spPr>
      </p:pic>
      <p:cxnSp>
        <p:nvCxnSpPr>
          <p:cNvPr id="15" name="Straight Arrow Connector 14">
            <a:extLst>
              <a:ext uri="{FF2B5EF4-FFF2-40B4-BE49-F238E27FC236}">
                <a16:creationId xmlns:a16="http://schemas.microsoft.com/office/drawing/2014/main" id="{2FAE7275-41BE-5D64-0C23-871BF578A56D}"/>
              </a:ext>
            </a:extLst>
          </p:cNvPr>
          <p:cNvCxnSpPr>
            <a:stCxn id="5" idx="2"/>
            <a:endCxn id="14" idx="0"/>
          </p:cNvCxnSpPr>
          <p:nvPr/>
        </p:nvCxnSpPr>
        <p:spPr>
          <a:xfrm>
            <a:off x="10061047" y="2669036"/>
            <a:ext cx="2971" cy="224768"/>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FE72B75B-AE50-D6E6-158A-3367CB9D36DB}"/>
              </a:ext>
            </a:extLst>
          </p:cNvPr>
          <p:cNvPicPr>
            <a:picLocks noChangeAspect="1"/>
          </p:cNvPicPr>
          <p:nvPr/>
        </p:nvPicPr>
        <p:blipFill>
          <a:blip r:embed="rId6"/>
          <a:stretch>
            <a:fillRect/>
          </a:stretch>
        </p:blipFill>
        <p:spPr>
          <a:xfrm>
            <a:off x="9932437" y="5772450"/>
            <a:ext cx="500645" cy="500645"/>
          </a:xfrm>
          <a:prstGeom prst="rect">
            <a:avLst/>
          </a:prstGeom>
        </p:spPr>
      </p:pic>
      <p:cxnSp>
        <p:nvCxnSpPr>
          <p:cNvPr id="17" name="Straight Arrow Connector 16">
            <a:extLst>
              <a:ext uri="{FF2B5EF4-FFF2-40B4-BE49-F238E27FC236}">
                <a16:creationId xmlns:a16="http://schemas.microsoft.com/office/drawing/2014/main" id="{0F5D5ACB-D3F8-3ABB-9EAC-ADF1278D5901}"/>
              </a:ext>
            </a:extLst>
          </p:cNvPr>
          <p:cNvCxnSpPr>
            <a:stCxn id="10" idx="2"/>
            <a:endCxn id="16" idx="0"/>
          </p:cNvCxnSpPr>
          <p:nvPr/>
        </p:nvCxnSpPr>
        <p:spPr>
          <a:xfrm>
            <a:off x="10169620" y="5465723"/>
            <a:ext cx="13140" cy="306727"/>
          </a:xfrm>
          <a:prstGeom prst="straightConnector1">
            <a:avLst/>
          </a:prstGeom>
          <a:ln>
            <a:solidFill>
              <a:srgbClr val="FF9300"/>
            </a:solidFill>
            <a:tailEnd type="triangle"/>
          </a:ln>
        </p:spPr>
        <p:style>
          <a:lnRef idx="1">
            <a:schemeClr val="accent1"/>
          </a:lnRef>
          <a:fillRef idx="0">
            <a:schemeClr val="accent1"/>
          </a:fillRef>
          <a:effectRef idx="0">
            <a:schemeClr val="accent1"/>
          </a:effectRef>
          <a:fontRef idx="minor">
            <a:schemeClr val="tx1"/>
          </a:fontRef>
        </p:style>
      </p:cxnSp>
      <p:sp>
        <p:nvSpPr>
          <p:cNvPr id="18" name="灯片编号占位符 1">
            <a:extLst>
              <a:ext uri="{FF2B5EF4-FFF2-40B4-BE49-F238E27FC236}">
                <a16:creationId xmlns:a16="http://schemas.microsoft.com/office/drawing/2014/main" id="{736723AF-98F2-4666-04D5-97A7489F89D7}"/>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60</a:t>
            </a:fld>
            <a:endParaRPr lang="zh-CN" altLang="en-US" dirty="0"/>
          </a:p>
        </p:txBody>
      </p:sp>
    </p:spTree>
    <p:extLst>
      <p:ext uri="{BB962C8B-B14F-4D97-AF65-F5344CB8AC3E}">
        <p14:creationId xmlns:p14="http://schemas.microsoft.com/office/powerpoint/2010/main" val="11535869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1"/>
          <p:cNvSpPr txBox="1"/>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t>61</a:t>
            </a:fld>
            <a:endParaRPr lang="zh-CN" altLang="en-US"/>
          </a:p>
        </p:txBody>
      </p:sp>
      <p:sp>
        <p:nvSpPr>
          <p:cNvPr id="7" name="Content Placeholder 2">
            <a:extLst>
              <a:ext uri="{FF2B5EF4-FFF2-40B4-BE49-F238E27FC236}">
                <a16:creationId xmlns:a16="http://schemas.microsoft.com/office/drawing/2014/main" id="{215D4F4A-6312-4B4A-BA40-7D9EBBCF0DDB}"/>
              </a:ext>
            </a:extLst>
          </p:cNvPr>
          <p:cNvSpPr txBox="1"/>
          <p:nvPr/>
        </p:nvSpPr>
        <p:spPr bwMode="auto">
          <a:xfrm>
            <a:off x="439841" y="1089673"/>
            <a:ext cx="11770094" cy="4386154"/>
          </a:xfrm>
          <a:prstGeom prst="rect">
            <a:avLst/>
          </a:prstGeom>
          <a:noFill/>
          <a:ln>
            <a:noFill/>
          </a:ln>
          <a:effectLst/>
        </p:spPr>
        <p:txBody>
          <a:bodyPr vert="horz" wrap="square" lIns="91440" tIns="45720" rIns="91440" bIns="45720" numCol="1" anchor="t" anchorCtr="0" compatLnSpc="1"/>
          <a:lstStyle>
            <a:lvl1pPr marL="316230" indent="-316230" algn="l" rtl="0" eaLnBrk="1" fontAlgn="base" hangingPunct="1">
              <a:spcBef>
                <a:spcPct val="20000"/>
              </a:spcBef>
              <a:spcAft>
                <a:spcPct val="0"/>
              </a:spcAft>
              <a:buFont typeface="Wingdings" panose="05000000000000000000" pitchFamily="2" charset="2"/>
              <a:buChar char="p"/>
              <a:defRPr kumimoji="1" sz="3200" b="1">
                <a:solidFill>
                  <a:schemeClr val="tx1"/>
                </a:solidFill>
                <a:effectLst/>
                <a:latin typeface="Arial" panose="020B0604020202090204"/>
                <a:ea typeface="黑体"/>
                <a:cs typeface="Arial" panose="020B0604020202090204"/>
              </a:defRPr>
            </a:lvl1pPr>
            <a:lvl2pPr marL="685800" indent="-263525" algn="l" rtl="0" eaLnBrk="1" fontAlgn="base" hangingPunct="1">
              <a:spcBef>
                <a:spcPct val="20000"/>
              </a:spcBef>
              <a:spcAft>
                <a:spcPct val="0"/>
              </a:spcAft>
              <a:buChar char="–"/>
              <a:defRPr kumimoji="1" sz="2800" b="1">
                <a:solidFill>
                  <a:schemeClr val="tx1"/>
                </a:solidFill>
                <a:effectLst/>
                <a:latin typeface="Arial" panose="020B0604020202090204"/>
                <a:ea typeface="黑体"/>
                <a:cs typeface="Arial" panose="020B0604020202090204"/>
              </a:defRPr>
            </a:lvl2pPr>
            <a:lvl3pPr marL="1055370" indent="-210820" algn="l" rtl="0" eaLnBrk="1" fontAlgn="base" hangingPunct="1">
              <a:spcBef>
                <a:spcPct val="20000"/>
              </a:spcBef>
              <a:spcAft>
                <a:spcPct val="0"/>
              </a:spcAft>
              <a:buChar char="•"/>
              <a:defRPr kumimoji="1" sz="2400" b="1">
                <a:solidFill>
                  <a:schemeClr val="tx1"/>
                </a:solidFill>
                <a:effectLst/>
                <a:latin typeface="Arial" panose="020B0604020202090204"/>
                <a:ea typeface="黑体"/>
                <a:cs typeface="Arial" panose="020B0604020202090204"/>
              </a:defRPr>
            </a:lvl3pPr>
            <a:lvl4pPr marL="1477010" indent="-210820" algn="l" rtl="0" eaLnBrk="1" fontAlgn="base" hangingPunct="1">
              <a:spcBef>
                <a:spcPct val="20000"/>
              </a:spcBef>
              <a:spcAft>
                <a:spcPct val="0"/>
              </a:spcAft>
              <a:buChar char="–"/>
              <a:defRPr kumimoji="1" sz="2000">
                <a:solidFill>
                  <a:schemeClr val="tx1"/>
                </a:solidFill>
                <a:effectLst/>
                <a:latin typeface="+mn-lt"/>
                <a:ea typeface="+mn-ea"/>
              </a:defRPr>
            </a:lvl4pPr>
            <a:lvl5pPr marL="1899285" indent="-210820" algn="l" rtl="0" eaLnBrk="1" fontAlgn="base" hangingPunct="1">
              <a:spcBef>
                <a:spcPct val="20000"/>
              </a:spcBef>
              <a:spcAft>
                <a:spcPct val="0"/>
              </a:spcAft>
              <a:buChar char="»"/>
              <a:defRPr kumimoji="1" sz="2000">
                <a:solidFill>
                  <a:schemeClr val="tx1"/>
                </a:solidFill>
                <a:effectLst/>
                <a:latin typeface="+mn-lt"/>
                <a:ea typeface="+mn-ea"/>
              </a:defRPr>
            </a:lvl5pPr>
            <a:lvl6pPr marL="232092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6pPr>
            <a:lvl7pPr marL="274320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7pPr>
            <a:lvl8pPr marL="316547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8pPr>
            <a:lvl9pPr marL="358711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9pPr>
          </a:lstStyle>
          <a:p>
            <a:pPr>
              <a:lnSpc>
                <a:spcPct val="120000"/>
              </a:lnSpc>
              <a:defRPr/>
            </a:pPr>
            <a:r>
              <a:rPr lang="zh-CN" altLang="en-US" sz="2800" kern="0" dirty="0">
                <a:solidFill>
                  <a:srgbClr val="000000"/>
                </a:solidFill>
                <a:latin typeface="Times" pitchFamily="2" charset="0"/>
              </a:rPr>
              <a:t>在过去的十多年里</a:t>
            </a:r>
            <a:r>
              <a:rPr lang="en-US" altLang="zh-CN" sz="2800" kern="0" dirty="0">
                <a:solidFill>
                  <a:srgbClr val="000000"/>
                </a:solidFill>
                <a:latin typeface="Times" pitchFamily="2" charset="0"/>
              </a:rPr>
              <a:t>, </a:t>
            </a:r>
            <a:r>
              <a:rPr lang="zh-CN" altLang="en-US" sz="2800" kern="0" dirty="0">
                <a:solidFill>
                  <a:srgbClr val="000000"/>
                </a:solidFill>
                <a:latin typeface="Times" pitchFamily="2" charset="0"/>
              </a:rPr>
              <a:t>已经出现了许多的</a:t>
            </a:r>
            <a:r>
              <a:rPr lang="en-US" altLang="zh-CN" sz="2800" kern="0" dirty="0">
                <a:solidFill>
                  <a:srgbClr val="0070C0"/>
                </a:solidFill>
                <a:latin typeface="Times" pitchFamily="2" charset="0"/>
              </a:rPr>
              <a:t>HTAP</a:t>
            </a:r>
            <a:r>
              <a:rPr lang="zh-CN" altLang="en-US" sz="2800" kern="0" dirty="0">
                <a:solidFill>
                  <a:srgbClr val="0070C0"/>
                </a:solidFill>
                <a:latin typeface="Times" pitchFamily="2" charset="0"/>
              </a:rPr>
              <a:t>数据库</a:t>
            </a:r>
            <a:endParaRPr lang="en-US" altLang="zh-CN" sz="2800" kern="0" dirty="0">
              <a:solidFill>
                <a:srgbClr val="000000"/>
              </a:solidFill>
              <a:latin typeface="Times" pitchFamily="2" charset="0"/>
            </a:endParaRPr>
          </a:p>
          <a:p>
            <a:pPr>
              <a:lnSpc>
                <a:spcPct val="120000"/>
              </a:lnSpc>
              <a:defRPr/>
            </a:pPr>
            <a:r>
              <a:rPr lang="zh-CN" altLang="en-US" sz="2800" kern="0" dirty="0">
                <a:solidFill>
                  <a:srgbClr val="000000"/>
                </a:solidFill>
                <a:latin typeface="Times" pitchFamily="2" charset="0"/>
              </a:rPr>
              <a:t>总体来说，</a:t>
            </a:r>
            <a:r>
              <a:rPr lang="en-US" altLang="zh-CN" sz="2800" dirty="0">
                <a:latin typeface="Times" pitchFamily="2" charset="0"/>
              </a:rPr>
              <a:t>HTAP</a:t>
            </a:r>
            <a:r>
              <a:rPr lang="zh-CN" altLang="en-US" sz="2800" dirty="0">
                <a:latin typeface="Times" pitchFamily="2" charset="0"/>
              </a:rPr>
              <a:t>数据库的发展历程可分为以下三个阶段</a:t>
            </a:r>
            <a:r>
              <a:rPr lang="en-US" altLang="zh-CN" sz="2800" kern="0" dirty="0">
                <a:solidFill>
                  <a:srgbClr val="000000"/>
                </a:solidFill>
                <a:latin typeface="Times" pitchFamily="2" charset="0"/>
              </a:rPr>
              <a:t>:</a:t>
            </a:r>
          </a:p>
          <a:p>
            <a:pPr lvl="1">
              <a:lnSpc>
                <a:spcPct val="120000"/>
              </a:lnSpc>
              <a:defRPr/>
            </a:pPr>
            <a:r>
              <a:rPr lang="zh-CN" altLang="en-US" sz="2400" kern="0" dirty="0">
                <a:solidFill>
                  <a:srgbClr val="0070C0"/>
                </a:solidFill>
                <a:latin typeface="Times" pitchFamily="2" charset="0"/>
              </a:rPr>
              <a:t>第一阶段</a:t>
            </a:r>
            <a:r>
              <a:rPr lang="en-US" altLang="zh-CN" sz="2400" kern="0" dirty="0">
                <a:solidFill>
                  <a:srgbClr val="0070C0"/>
                </a:solidFill>
                <a:latin typeface="Times" pitchFamily="2" charset="0"/>
              </a:rPr>
              <a:t> </a:t>
            </a:r>
            <a:r>
              <a:rPr lang="en-US" altLang="zh-CN" sz="2400" kern="0" dirty="0">
                <a:solidFill>
                  <a:srgbClr val="000000"/>
                </a:solidFill>
                <a:latin typeface="Times" pitchFamily="2" charset="0"/>
              </a:rPr>
              <a:t>(2010-2014): HTAP</a:t>
            </a:r>
            <a:r>
              <a:rPr lang="zh-CN" altLang="en-US" sz="2400" kern="0" dirty="0">
                <a:solidFill>
                  <a:srgbClr val="000000"/>
                </a:solidFill>
                <a:latin typeface="Times" pitchFamily="2" charset="0"/>
              </a:rPr>
              <a:t>数据库</a:t>
            </a:r>
            <a:r>
              <a:rPr lang="zh-CN" altLang="en-CN" sz="2400" kern="0" dirty="0">
                <a:solidFill>
                  <a:srgbClr val="000000"/>
                </a:solidFill>
                <a:latin typeface="Times" pitchFamily="2" charset="0"/>
              </a:rPr>
              <a:t>主要</a:t>
            </a:r>
            <a:r>
              <a:rPr lang="zh-CN" altLang="en-US" sz="2400" kern="0" dirty="0">
                <a:solidFill>
                  <a:srgbClr val="000000"/>
                </a:solidFill>
                <a:latin typeface="Times" pitchFamily="2" charset="0"/>
              </a:rPr>
              <a:t>采取基于单机的主列存储</a:t>
            </a:r>
            <a:endParaRPr lang="en-US" altLang="zh-CN" sz="2400" kern="0" dirty="0">
              <a:solidFill>
                <a:srgbClr val="000000"/>
              </a:solidFill>
              <a:latin typeface="Times" pitchFamily="2" charset="0"/>
            </a:endParaRPr>
          </a:p>
          <a:p>
            <a:pPr lvl="1">
              <a:lnSpc>
                <a:spcPct val="120000"/>
              </a:lnSpc>
              <a:defRPr/>
            </a:pPr>
            <a:r>
              <a:rPr lang="zh-CN" altLang="en-US" sz="2400" kern="0" dirty="0">
                <a:solidFill>
                  <a:srgbClr val="0070C0"/>
                </a:solidFill>
                <a:latin typeface="Times" pitchFamily="2" charset="0"/>
              </a:rPr>
              <a:t>第二阶段 </a:t>
            </a:r>
            <a:r>
              <a:rPr lang="en-US" altLang="zh-CN" sz="2400" kern="0" dirty="0">
                <a:solidFill>
                  <a:srgbClr val="000000"/>
                </a:solidFill>
                <a:latin typeface="Times" pitchFamily="2" charset="0"/>
              </a:rPr>
              <a:t>(2014-2020): HTAP</a:t>
            </a:r>
            <a:r>
              <a:rPr lang="zh-CN" altLang="en-US" sz="2400" kern="0" dirty="0">
                <a:solidFill>
                  <a:srgbClr val="000000"/>
                </a:solidFill>
                <a:latin typeface="Times" pitchFamily="2" charset="0"/>
              </a:rPr>
              <a:t>数据库</a:t>
            </a:r>
            <a:r>
              <a:rPr lang="zh-CN" altLang="en-CN" sz="2400" kern="0" dirty="0">
                <a:solidFill>
                  <a:srgbClr val="000000"/>
                </a:solidFill>
                <a:latin typeface="Times" pitchFamily="2" charset="0"/>
              </a:rPr>
              <a:t>主要</a:t>
            </a:r>
            <a:r>
              <a:rPr lang="zh-CN" altLang="en-US" sz="2400" kern="0" dirty="0">
                <a:solidFill>
                  <a:srgbClr val="000000"/>
                </a:solidFill>
                <a:latin typeface="Times" pitchFamily="2" charset="0"/>
              </a:rPr>
              <a:t>在单机行存储的基础上扩展列存储</a:t>
            </a:r>
            <a:endParaRPr lang="en-US" altLang="zh-CN" sz="2400" kern="0" dirty="0">
              <a:solidFill>
                <a:srgbClr val="000000"/>
              </a:solidFill>
              <a:latin typeface="Times" pitchFamily="2" charset="0"/>
            </a:endParaRPr>
          </a:p>
          <a:p>
            <a:pPr lvl="1">
              <a:lnSpc>
                <a:spcPct val="120000"/>
              </a:lnSpc>
              <a:defRPr/>
            </a:pPr>
            <a:r>
              <a:rPr lang="zh-CN" altLang="en-US" sz="2400" kern="0" dirty="0">
                <a:solidFill>
                  <a:srgbClr val="0070C0"/>
                </a:solidFill>
                <a:latin typeface="Times" pitchFamily="2" charset="0"/>
              </a:rPr>
              <a:t>第三阶段 </a:t>
            </a:r>
            <a:r>
              <a:rPr lang="en-US" altLang="zh-CN" sz="2400" kern="0" dirty="0">
                <a:solidFill>
                  <a:srgbClr val="000000"/>
                </a:solidFill>
                <a:latin typeface="Times" pitchFamily="2" charset="0"/>
              </a:rPr>
              <a:t>(2020-</a:t>
            </a:r>
            <a:r>
              <a:rPr lang="zh-CN" altLang="en-US" sz="2400" kern="0" dirty="0">
                <a:solidFill>
                  <a:srgbClr val="000000"/>
                </a:solidFill>
                <a:latin typeface="Times" pitchFamily="2" charset="0"/>
              </a:rPr>
              <a:t>目前</a:t>
            </a:r>
            <a:r>
              <a:rPr lang="en-US" altLang="zh-CN" sz="2400" kern="0" dirty="0">
                <a:solidFill>
                  <a:srgbClr val="000000"/>
                </a:solidFill>
                <a:latin typeface="Times" pitchFamily="2" charset="0"/>
              </a:rPr>
              <a:t>): HTAP</a:t>
            </a:r>
            <a:r>
              <a:rPr lang="zh-CN" altLang="en-US" sz="2400" kern="0" dirty="0">
                <a:solidFill>
                  <a:srgbClr val="000000"/>
                </a:solidFill>
                <a:latin typeface="Times" pitchFamily="2" charset="0"/>
              </a:rPr>
              <a:t>数据库</a:t>
            </a:r>
            <a:r>
              <a:rPr lang="zh-CN" altLang="en-CN" sz="2400" kern="0" dirty="0">
                <a:solidFill>
                  <a:srgbClr val="000000"/>
                </a:solidFill>
                <a:latin typeface="Times" pitchFamily="2" charset="0"/>
              </a:rPr>
              <a:t>主要</a:t>
            </a:r>
            <a:r>
              <a:rPr lang="zh-CN" altLang="en-US" sz="2400" kern="0" dirty="0">
                <a:solidFill>
                  <a:srgbClr val="000000"/>
                </a:solidFill>
                <a:latin typeface="Times" pitchFamily="2" charset="0"/>
              </a:rPr>
              <a:t>在分布式行存储的基础上扩展列存储</a:t>
            </a:r>
            <a:endParaRPr lang="en-US" altLang="zh-CN" sz="2000" kern="0" dirty="0">
              <a:solidFill>
                <a:srgbClr val="000000"/>
              </a:solidFill>
              <a:latin typeface="Times" pitchFamily="2" charset="0"/>
            </a:endParaRPr>
          </a:p>
        </p:txBody>
      </p:sp>
      <p:pic>
        <p:nvPicPr>
          <p:cNvPr id="8" name="Picture 7">
            <a:extLst>
              <a:ext uri="{FF2B5EF4-FFF2-40B4-BE49-F238E27FC236}">
                <a16:creationId xmlns:a16="http://schemas.microsoft.com/office/drawing/2014/main" id="{E387E0DA-4BFE-6943-A102-1B3B1A5A297E}"/>
              </a:ext>
            </a:extLst>
          </p:cNvPr>
          <p:cNvPicPr>
            <a:picLocks noChangeAspect="1"/>
          </p:cNvPicPr>
          <p:nvPr/>
        </p:nvPicPr>
        <p:blipFill>
          <a:blip r:embed="rId3"/>
          <a:stretch>
            <a:fillRect/>
          </a:stretch>
        </p:blipFill>
        <p:spPr>
          <a:xfrm>
            <a:off x="668538" y="3826226"/>
            <a:ext cx="10854921" cy="2829145"/>
          </a:xfrm>
          <a:prstGeom prst="rect">
            <a:avLst/>
          </a:prstGeom>
        </p:spPr>
      </p:pic>
      <p:sp>
        <p:nvSpPr>
          <p:cNvPr id="9" name="标题 1">
            <a:extLst>
              <a:ext uri="{FF2B5EF4-FFF2-40B4-BE49-F238E27FC236}">
                <a16:creationId xmlns:a16="http://schemas.microsoft.com/office/drawing/2014/main" id="{90845BF8-D31D-80DB-6981-1CC3F837A25E}"/>
              </a:ext>
            </a:extLst>
          </p:cNvPr>
          <p:cNvSpPr>
            <a:spLocks noGrp="1"/>
          </p:cNvSpPr>
          <p:nvPr>
            <p:ph type="title"/>
          </p:nvPr>
        </p:nvSpPr>
        <p:spPr>
          <a:xfrm>
            <a:off x="971550" y="53752"/>
            <a:ext cx="10090897" cy="678470"/>
          </a:xfrm>
        </p:spPr>
        <p:txBody>
          <a:bodyPr/>
          <a:lstStyle/>
          <a:p>
            <a:r>
              <a:rPr kumimoji="1" lang="en-US" altLang="zh-CN" dirty="0">
                <a:latin typeface="Times" pitchFamily="2" charset="0"/>
              </a:rPr>
              <a:t>HTAP</a:t>
            </a:r>
            <a:r>
              <a:rPr kumimoji="1" lang="zh-CN" altLang="en-US" dirty="0">
                <a:latin typeface="Times" pitchFamily="2" charset="0"/>
              </a:rPr>
              <a:t>数据库的发展历程</a:t>
            </a:r>
          </a:p>
        </p:txBody>
      </p:sp>
    </p:spTree>
    <p:extLst>
      <p:ext uri="{BB962C8B-B14F-4D97-AF65-F5344CB8AC3E}">
        <p14:creationId xmlns:p14="http://schemas.microsoft.com/office/powerpoint/2010/main" val="19862528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p:txBody>
          <a:bodyPr/>
          <a:lstStyle/>
          <a:p>
            <a:pPr>
              <a:buFont typeface="Wingdings" pitchFamily="2" charset="2"/>
              <a:buChar char="l"/>
            </a:pPr>
            <a:r>
              <a:rPr lang="zh-CN" altLang="en-US" sz="2800" dirty="0">
                <a:solidFill>
                  <a:schemeClr val="tx1">
                    <a:lumMod val="50000"/>
                    <a:lumOff val="50000"/>
                  </a:schemeClr>
                </a:solidFill>
                <a:latin typeface="Times" pitchFamily="2" charset="0"/>
              </a:rPr>
              <a:t>层次和网状数据库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关系数据库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en-US" altLang="zh-CN" sz="2800" dirty="0">
                <a:solidFill>
                  <a:schemeClr val="tx1">
                    <a:lumMod val="50000"/>
                    <a:lumOff val="50000"/>
                  </a:schemeClr>
                </a:solidFill>
                <a:latin typeface="Times" pitchFamily="2" charset="0"/>
              </a:rPr>
              <a:t>OLTP</a:t>
            </a:r>
            <a:r>
              <a:rPr lang="zh-CN" altLang="en-US" sz="2800" dirty="0">
                <a:solidFill>
                  <a:schemeClr val="tx1">
                    <a:lumMod val="50000"/>
                    <a:lumOff val="50000"/>
                  </a:schemeClr>
                </a:solidFill>
                <a:latin typeface="Times" pitchFamily="2" charset="0"/>
              </a:rPr>
              <a:t>、</a:t>
            </a:r>
            <a:r>
              <a:rPr lang="en-US" altLang="zh-CN" sz="2800" dirty="0">
                <a:solidFill>
                  <a:schemeClr val="tx1">
                    <a:lumMod val="50000"/>
                    <a:lumOff val="50000"/>
                  </a:schemeClr>
                </a:solidFill>
                <a:latin typeface="Times" pitchFamily="2" charset="0"/>
              </a:rPr>
              <a:t>OLAP</a:t>
            </a:r>
            <a:r>
              <a:rPr lang="zh-CN" altLang="en-US" sz="2800" dirty="0">
                <a:solidFill>
                  <a:schemeClr val="tx1">
                    <a:lumMod val="50000"/>
                    <a:lumOff val="50000"/>
                  </a:schemeClr>
                </a:solidFill>
                <a:latin typeface="Times" pitchFamily="2" charset="0"/>
              </a:rPr>
              <a:t>与</a:t>
            </a:r>
            <a:r>
              <a:rPr lang="en-US" altLang="zh-CN" sz="2800" dirty="0">
                <a:solidFill>
                  <a:schemeClr val="tx1">
                    <a:lumMod val="50000"/>
                    <a:lumOff val="50000"/>
                  </a:schemeClr>
                </a:solidFill>
                <a:latin typeface="Times" pitchFamily="2" charset="0"/>
              </a:rPr>
              <a:t>HTAP</a:t>
            </a:r>
            <a:r>
              <a:rPr lang="zh-CN" altLang="en-US" sz="2800" dirty="0">
                <a:solidFill>
                  <a:schemeClr val="tx1">
                    <a:lumMod val="50000"/>
                    <a:lumOff val="50000"/>
                  </a:schemeClr>
                </a:solidFill>
                <a:latin typeface="Times" pitchFamily="2" charset="0"/>
              </a:rPr>
              <a:t>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en-US" altLang="zh-CN" sz="2800" dirty="0">
                <a:latin typeface="Times" pitchFamily="2" charset="0"/>
              </a:rPr>
              <a:t>NoSQL</a:t>
            </a:r>
            <a:r>
              <a:rPr lang="zh-CN" altLang="en-US" sz="2800" dirty="0">
                <a:latin typeface="Times" pitchFamily="2" charset="0"/>
              </a:rPr>
              <a:t>数据库</a:t>
            </a:r>
            <a:endParaRPr lang="en-US" altLang="zh-CN" sz="2800" dirty="0">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分布式数据库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内存数据库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云数据库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其它类型数据库</a:t>
            </a:r>
            <a:endParaRPr lang="en-US" altLang="zh-CN" sz="28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实时数据库</a:t>
            </a:r>
            <a:endParaRPr lang="en-US" altLang="zh-CN" sz="24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并行数据库</a:t>
            </a:r>
            <a:endParaRPr lang="en-US" altLang="zh-CN" sz="24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终端数据库</a:t>
            </a: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数据库发展史概览</a:t>
            </a:r>
          </a:p>
        </p:txBody>
      </p:sp>
      <p:pic>
        <p:nvPicPr>
          <p:cNvPr id="4" name="图片 3">
            <a:extLst>
              <a:ext uri="{FF2B5EF4-FFF2-40B4-BE49-F238E27FC236}">
                <a16:creationId xmlns:a16="http://schemas.microsoft.com/office/drawing/2014/main" id="{60ED12C6-759A-07BF-765A-0E56422F1245}"/>
              </a:ext>
            </a:extLst>
          </p:cNvPr>
          <p:cNvPicPr>
            <a:picLocks noChangeAspect="1"/>
          </p:cNvPicPr>
          <p:nvPr/>
        </p:nvPicPr>
        <p:blipFill>
          <a:blip r:embed="rId2"/>
          <a:stretch>
            <a:fillRect/>
          </a:stretch>
        </p:blipFill>
        <p:spPr>
          <a:xfrm>
            <a:off x="8859520" y="4958475"/>
            <a:ext cx="2810510" cy="1689950"/>
          </a:xfrm>
          <a:prstGeom prst="rect">
            <a:avLst/>
          </a:prstGeom>
        </p:spPr>
      </p:pic>
      <p:pic>
        <p:nvPicPr>
          <p:cNvPr id="5" name="Picture 2" descr="PostgreSQL Elephant Logo">
            <a:extLst>
              <a:ext uri="{FF2B5EF4-FFF2-40B4-BE49-F238E27FC236}">
                <a16:creationId xmlns:a16="http://schemas.microsoft.com/office/drawing/2014/main" id="{9AC9BF95-67D0-3871-2C06-C04A69BB7E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4420" y="5212823"/>
            <a:ext cx="1353185" cy="139583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Neo4j logo">
            <a:extLst>
              <a:ext uri="{FF2B5EF4-FFF2-40B4-BE49-F238E27FC236}">
                <a16:creationId xmlns:a16="http://schemas.microsoft.com/office/drawing/2014/main" id="{AC77A613-3452-5ABC-28EB-2F46994549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8536" y="3913744"/>
            <a:ext cx="2004954" cy="72907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dis logo">
            <a:extLst>
              <a:ext uri="{FF2B5EF4-FFF2-40B4-BE49-F238E27FC236}">
                <a16:creationId xmlns:a16="http://schemas.microsoft.com/office/drawing/2014/main" id="{81A7B719-CB14-88EE-04D2-C8D2E405DF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84080" y="3914046"/>
            <a:ext cx="1977614" cy="729074"/>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6" descr="MongoDB logo">
            <a:extLst>
              <a:ext uri="{FF2B5EF4-FFF2-40B4-BE49-F238E27FC236}">
                <a16:creationId xmlns:a16="http://schemas.microsoft.com/office/drawing/2014/main" id="{7E40835E-5FB1-2417-933C-90BE3DA644F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 name="图片 9">
            <a:extLst>
              <a:ext uri="{FF2B5EF4-FFF2-40B4-BE49-F238E27FC236}">
                <a16:creationId xmlns:a16="http://schemas.microsoft.com/office/drawing/2014/main" id="{21B986D6-51FA-D013-EC20-2DE64654C4CD}"/>
              </a:ext>
            </a:extLst>
          </p:cNvPr>
          <p:cNvPicPr>
            <a:picLocks noChangeAspect="1"/>
          </p:cNvPicPr>
          <p:nvPr/>
        </p:nvPicPr>
        <p:blipFill>
          <a:blip r:embed="rId6"/>
          <a:stretch>
            <a:fillRect/>
          </a:stretch>
        </p:blipFill>
        <p:spPr>
          <a:xfrm>
            <a:off x="9293317" y="2845968"/>
            <a:ext cx="2356393" cy="833554"/>
          </a:xfrm>
          <a:prstGeom prst="rect">
            <a:avLst/>
          </a:prstGeom>
        </p:spPr>
      </p:pic>
      <p:pic>
        <p:nvPicPr>
          <p:cNvPr id="2058" name="Picture 10" descr="MongoDB gets a data lake, new security features and more | TechCrunch">
            <a:extLst>
              <a:ext uri="{FF2B5EF4-FFF2-40B4-BE49-F238E27FC236}">
                <a16:creationId xmlns:a16="http://schemas.microsoft.com/office/drawing/2014/main" id="{FD4466B4-BF39-EAA2-C477-E8091C6F4AB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69070" y="2037705"/>
            <a:ext cx="2580640" cy="696907"/>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SQLite - Wikipedia">
            <a:extLst>
              <a:ext uri="{FF2B5EF4-FFF2-40B4-BE49-F238E27FC236}">
                <a16:creationId xmlns:a16="http://schemas.microsoft.com/office/drawing/2014/main" id="{365E81DD-E7AB-75AF-5379-4DFAFB0D03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34246" y="2759489"/>
            <a:ext cx="1613535" cy="765169"/>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Oracle Database : Fujitsu EMEIA">
            <a:extLst>
              <a:ext uri="{FF2B5EF4-FFF2-40B4-BE49-F238E27FC236}">
                <a16:creationId xmlns:a16="http://schemas.microsoft.com/office/drawing/2014/main" id="{7D5D036E-43D5-4753-B5F9-A452DE0CD62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38536" y="1751328"/>
            <a:ext cx="1981244" cy="76517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1">
            <a:extLst>
              <a:ext uri="{FF2B5EF4-FFF2-40B4-BE49-F238E27FC236}">
                <a16:creationId xmlns:a16="http://schemas.microsoft.com/office/drawing/2014/main" id="{E6D16C8F-20E1-7F11-61FA-DF84F1BBFBC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62</a:t>
            </a:fld>
            <a:endParaRPr lang="zh-CN" altLang="en-US"/>
          </a:p>
        </p:txBody>
      </p:sp>
    </p:spTree>
    <p:extLst>
      <p:ext uri="{BB962C8B-B14F-4D97-AF65-F5344CB8AC3E}">
        <p14:creationId xmlns:p14="http://schemas.microsoft.com/office/powerpoint/2010/main" val="19521993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B73A1A-1E7B-A05C-E2C0-A52AA872BEAA}"/>
              </a:ext>
            </a:extLst>
          </p:cNvPr>
          <p:cNvSpPr>
            <a:spLocks noGrp="1"/>
          </p:cNvSpPr>
          <p:nvPr>
            <p:ph type="sldNum" sz="quarter" idx="10"/>
          </p:nvPr>
        </p:nvSpPr>
        <p:spPr/>
        <p:txBody>
          <a:bodyPr/>
          <a:lstStyle/>
          <a:p>
            <a:fld id="{87BBDC00-B9E2-4EFD-9306-2934E87247C6}" type="slidenum">
              <a:rPr lang="zh-CN" altLang="en-US" smtClean="0"/>
              <a:pPr/>
              <a:t>63</a:t>
            </a:fld>
            <a:endParaRPr lang="zh-CN" altLang="en-US"/>
          </a:p>
        </p:txBody>
      </p:sp>
      <p:sp>
        <p:nvSpPr>
          <p:cNvPr id="3" name="Title 2">
            <a:extLst>
              <a:ext uri="{FF2B5EF4-FFF2-40B4-BE49-F238E27FC236}">
                <a16:creationId xmlns:a16="http://schemas.microsoft.com/office/drawing/2014/main" id="{DAAAC62C-78F9-3FB3-FA1B-EC002F6D0679}"/>
              </a:ext>
            </a:extLst>
          </p:cNvPr>
          <p:cNvSpPr>
            <a:spLocks noGrp="1"/>
          </p:cNvSpPr>
          <p:nvPr>
            <p:ph type="title"/>
          </p:nvPr>
        </p:nvSpPr>
        <p:spPr/>
        <p:txBody>
          <a:bodyPr/>
          <a:lstStyle/>
          <a:p>
            <a:r>
              <a:rPr kumimoji="1" lang="en-US" altLang="zh-CN" dirty="0"/>
              <a:t>NoSQL</a:t>
            </a:r>
            <a:r>
              <a:rPr kumimoji="1" lang="zh-CN" altLang="en-US" dirty="0"/>
              <a:t>数据库</a:t>
            </a:r>
            <a:r>
              <a:rPr lang="zh-CN" altLang="en-US" dirty="0"/>
              <a:t>的产生背景</a:t>
            </a:r>
            <a:endParaRPr kumimoji="1" lang="zh-CN" altLang="en-US" dirty="0"/>
          </a:p>
        </p:txBody>
      </p:sp>
      <p:sp>
        <p:nvSpPr>
          <p:cNvPr id="4" name="Content Placeholder 3">
            <a:extLst>
              <a:ext uri="{FF2B5EF4-FFF2-40B4-BE49-F238E27FC236}">
                <a16:creationId xmlns:a16="http://schemas.microsoft.com/office/drawing/2014/main" id="{469141E3-A344-66F3-64FF-59DAEBFCEE30}"/>
              </a:ext>
            </a:extLst>
          </p:cNvPr>
          <p:cNvSpPr>
            <a:spLocks noGrp="1"/>
          </p:cNvSpPr>
          <p:nvPr>
            <p:ph idx="1"/>
          </p:nvPr>
        </p:nvSpPr>
        <p:spPr/>
        <p:txBody>
          <a:bodyPr/>
          <a:lstStyle/>
          <a:p>
            <a:r>
              <a:rPr lang="zh-CN" altLang="en-US" dirty="0"/>
              <a:t>互联网时代以来，数据指数级爆炸性增长</a:t>
            </a:r>
            <a:endParaRPr lang="en-US" altLang="zh-CN" dirty="0"/>
          </a:p>
          <a:p>
            <a:r>
              <a:rPr lang="zh-CN" altLang="en-US" dirty="0"/>
              <a:t>半结构化、非结构化等异构数据处理需求增长</a:t>
            </a:r>
            <a:endParaRPr lang="en-US" altLang="zh-CN" dirty="0"/>
          </a:p>
          <a:p>
            <a:r>
              <a:rPr lang="zh-CN" altLang="en-US" dirty="0"/>
              <a:t>关系型数据库的强一致性并非所有场景的刚需</a:t>
            </a:r>
            <a:endParaRPr lang="en-US" altLang="zh-CN" dirty="0"/>
          </a:p>
          <a:p>
            <a:endParaRPr kumimoji="1" lang="zh-CN" altLang="en-US" dirty="0"/>
          </a:p>
        </p:txBody>
      </p:sp>
      <p:pic>
        <p:nvPicPr>
          <p:cNvPr id="1026" name="Picture 2" descr="2022 – the year the industry tackles the data explosion">
            <a:extLst>
              <a:ext uri="{FF2B5EF4-FFF2-40B4-BE49-F238E27FC236}">
                <a16:creationId xmlns:a16="http://schemas.microsoft.com/office/drawing/2014/main" id="{7EC4AD6F-4A44-E2CC-D14D-6DEF3A904C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437" y="3715907"/>
            <a:ext cx="5126279" cy="233245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llustration of heterogeneous data sources for sensor and timeseries... |  Download Scientific Diagram">
            <a:extLst>
              <a:ext uri="{FF2B5EF4-FFF2-40B4-BE49-F238E27FC236}">
                <a16:creationId xmlns:a16="http://schemas.microsoft.com/office/drawing/2014/main" id="{2E7C9BCB-CFF4-FCF7-4D7C-8A894A87E3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2882" y="3424591"/>
            <a:ext cx="5481918" cy="29150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8395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B2BCFE-1A4D-229F-4D2C-07299AC0CE42}"/>
              </a:ext>
            </a:extLst>
          </p:cNvPr>
          <p:cNvSpPr>
            <a:spLocks noGrp="1"/>
          </p:cNvSpPr>
          <p:nvPr>
            <p:ph type="sldNum" sz="quarter" idx="10"/>
          </p:nvPr>
        </p:nvSpPr>
        <p:spPr/>
        <p:txBody>
          <a:bodyPr/>
          <a:lstStyle/>
          <a:p>
            <a:fld id="{87BBDC00-B9E2-4EFD-9306-2934E87247C6}" type="slidenum">
              <a:rPr lang="zh-CN" altLang="en-US" smtClean="0"/>
              <a:pPr/>
              <a:t>64</a:t>
            </a:fld>
            <a:endParaRPr lang="zh-CN" altLang="en-US"/>
          </a:p>
        </p:txBody>
      </p:sp>
      <p:sp>
        <p:nvSpPr>
          <p:cNvPr id="3" name="Title 2">
            <a:extLst>
              <a:ext uri="{FF2B5EF4-FFF2-40B4-BE49-F238E27FC236}">
                <a16:creationId xmlns:a16="http://schemas.microsoft.com/office/drawing/2014/main" id="{A9A8DB76-E022-ED55-3171-D29A1B72769B}"/>
              </a:ext>
            </a:extLst>
          </p:cNvPr>
          <p:cNvSpPr>
            <a:spLocks noGrp="1"/>
          </p:cNvSpPr>
          <p:nvPr>
            <p:ph type="title"/>
          </p:nvPr>
        </p:nvSpPr>
        <p:spPr/>
        <p:txBody>
          <a:bodyPr/>
          <a:lstStyle/>
          <a:p>
            <a:r>
              <a:rPr kumimoji="1" lang="en-US" altLang="zh-CN" dirty="0"/>
              <a:t>NoSQL</a:t>
            </a:r>
            <a:r>
              <a:rPr lang="zh-CN" altLang="en-US" dirty="0"/>
              <a:t>数据库主要</a:t>
            </a:r>
            <a:r>
              <a:rPr kumimoji="1" lang="zh-CN" altLang="en-US" dirty="0"/>
              <a:t>特点</a:t>
            </a:r>
          </a:p>
        </p:txBody>
      </p:sp>
      <p:sp>
        <p:nvSpPr>
          <p:cNvPr id="4" name="Content Placeholder 3">
            <a:extLst>
              <a:ext uri="{FF2B5EF4-FFF2-40B4-BE49-F238E27FC236}">
                <a16:creationId xmlns:a16="http://schemas.microsoft.com/office/drawing/2014/main" id="{4CECD18B-46D3-E743-3998-69079E63B091}"/>
              </a:ext>
            </a:extLst>
          </p:cNvPr>
          <p:cNvSpPr>
            <a:spLocks noGrp="1"/>
          </p:cNvSpPr>
          <p:nvPr>
            <p:ph idx="1"/>
          </p:nvPr>
        </p:nvSpPr>
        <p:spPr/>
        <p:txBody>
          <a:bodyPr/>
          <a:lstStyle/>
          <a:p>
            <a:r>
              <a:rPr kumimoji="1" lang="zh-CN" altLang="en-US" dirty="0"/>
              <a:t>模式灵活</a:t>
            </a:r>
            <a:endParaRPr kumimoji="1" lang="en-US" altLang="zh-CN" dirty="0"/>
          </a:p>
          <a:p>
            <a:pPr lvl="1"/>
            <a:r>
              <a:rPr lang="en-US" altLang="zh-CN" dirty="0"/>
              <a:t>NoSQL</a:t>
            </a:r>
            <a:r>
              <a:rPr lang="zh-CN" altLang="en-US" dirty="0"/>
              <a:t>数据库无需预先指定数据的模式，并支持混合数据类型</a:t>
            </a:r>
            <a:endParaRPr lang="en-US" altLang="zh-CN" dirty="0"/>
          </a:p>
          <a:p>
            <a:r>
              <a:rPr kumimoji="1" lang="zh-CN" altLang="en-US" dirty="0"/>
              <a:t>高可扩展</a:t>
            </a:r>
            <a:endParaRPr kumimoji="1" lang="en-US" altLang="zh-CN" dirty="0"/>
          </a:p>
          <a:p>
            <a:pPr lvl="1"/>
            <a:r>
              <a:rPr kumimoji="1" lang="zh-CN" altLang="en-US" dirty="0"/>
              <a:t>摆脱关系模型约束，</a:t>
            </a:r>
            <a:r>
              <a:rPr lang="en-US" altLang="zh-CN" dirty="0"/>
              <a:t>NoSQL</a:t>
            </a:r>
            <a:r>
              <a:rPr lang="zh-CN" altLang="en-US" dirty="0"/>
              <a:t>简化提升了数据水平扩展能力</a:t>
            </a:r>
            <a:endParaRPr lang="en-US" altLang="zh-CN" dirty="0"/>
          </a:p>
          <a:p>
            <a:r>
              <a:rPr kumimoji="1" lang="zh-CN" altLang="en-US" dirty="0"/>
              <a:t>高可用</a:t>
            </a:r>
            <a:endParaRPr kumimoji="1" lang="en-US" altLang="zh-CN" dirty="0"/>
          </a:p>
          <a:p>
            <a:pPr lvl="1"/>
            <a:r>
              <a:rPr kumimoji="1" lang="zh-CN" altLang="en-US" dirty="0"/>
              <a:t>基于主主或主从集群模式，支持用户从不同数据节点查询数据</a:t>
            </a:r>
          </a:p>
        </p:txBody>
      </p:sp>
      <p:pic>
        <p:nvPicPr>
          <p:cNvPr id="2050" name="Picture 2" descr="NoSQL Tutorial: What is, Types of NoSQL Databases &amp; Example">
            <a:extLst>
              <a:ext uri="{FF2B5EF4-FFF2-40B4-BE49-F238E27FC236}">
                <a16:creationId xmlns:a16="http://schemas.microsoft.com/office/drawing/2014/main" id="{6100172C-BD31-D4AD-8EA2-B9004B2267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329" y="4656540"/>
            <a:ext cx="3852863" cy="1864621"/>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4" descr="Introduction to NoSQL | T2">
            <a:extLst>
              <a:ext uri="{FF2B5EF4-FFF2-40B4-BE49-F238E27FC236}">
                <a16:creationId xmlns:a16="http://schemas.microsoft.com/office/drawing/2014/main" id="{EE3EF6E9-25FC-90C4-08B7-2ADFEECE1E0A}"/>
              </a:ext>
            </a:extLst>
          </p:cNvPr>
          <p:cNvSpPr>
            <a:spLocks noChangeAspect="1" noChangeArrowheads="1"/>
          </p:cNvSpPr>
          <p:nvPr/>
        </p:nvSpPr>
        <p:spPr bwMode="auto">
          <a:xfrm>
            <a:off x="5943599" y="3276599"/>
            <a:ext cx="2881601" cy="2881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 name="Picture 9">
            <a:extLst>
              <a:ext uri="{FF2B5EF4-FFF2-40B4-BE49-F238E27FC236}">
                <a16:creationId xmlns:a16="http://schemas.microsoft.com/office/drawing/2014/main" id="{2A20AE6D-2B3D-92A2-F7CE-08B4A09D97E1}"/>
              </a:ext>
            </a:extLst>
          </p:cNvPr>
          <p:cNvPicPr>
            <a:picLocks noChangeAspect="1"/>
          </p:cNvPicPr>
          <p:nvPr/>
        </p:nvPicPr>
        <p:blipFill>
          <a:blip r:embed="rId4"/>
          <a:stretch>
            <a:fillRect/>
          </a:stretch>
        </p:blipFill>
        <p:spPr>
          <a:xfrm>
            <a:off x="4840932" y="4670178"/>
            <a:ext cx="3410892" cy="1864621"/>
          </a:xfrm>
          <a:prstGeom prst="rect">
            <a:avLst/>
          </a:prstGeom>
        </p:spPr>
      </p:pic>
      <p:pic>
        <p:nvPicPr>
          <p:cNvPr id="2062" name="Picture 14" descr="Clustering in NoSQL: Cassandra x MongoDB | by Rafael Dalsenter | Medium">
            <a:extLst>
              <a:ext uri="{FF2B5EF4-FFF2-40B4-BE49-F238E27FC236}">
                <a16:creationId xmlns:a16="http://schemas.microsoft.com/office/drawing/2014/main" id="{E801DE2E-08F9-1D69-B8D6-9B57EA9275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96243" y="4681423"/>
            <a:ext cx="3357647" cy="1835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60506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98938C-B586-2403-431F-BA05B78004FF}"/>
              </a:ext>
            </a:extLst>
          </p:cNvPr>
          <p:cNvSpPr>
            <a:spLocks noGrp="1"/>
          </p:cNvSpPr>
          <p:nvPr>
            <p:ph type="sldNum" sz="quarter" idx="10"/>
          </p:nvPr>
        </p:nvSpPr>
        <p:spPr/>
        <p:txBody>
          <a:bodyPr/>
          <a:lstStyle/>
          <a:p>
            <a:fld id="{87BBDC00-B9E2-4EFD-9306-2934E87247C6}" type="slidenum">
              <a:rPr lang="zh-CN" altLang="en-US" smtClean="0"/>
              <a:pPr/>
              <a:t>65</a:t>
            </a:fld>
            <a:endParaRPr lang="zh-CN" altLang="en-US"/>
          </a:p>
        </p:txBody>
      </p:sp>
      <p:sp>
        <p:nvSpPr>
          <p:cNvPr id="3" name="Title 2">
            <a:extLst>
              <a:ext uri="{FF2B5EF4-FFF2-40B4-BE49-F238E27FC236}">
                <a16:creationId xmlns:a16="http://schemas.microsoft.com/office/drawing/2014/main" id="{B5912113-F2FE-CA98-4049-720460198A29}"/>
              </a:ext>
            </a:extLst>
          </p:cNvPr>
          <p:cNvSpPr>
            <a:spLocks noGrp="1"/>
          </p:cNvSpPr>
          <p:nvPr>
            <p:ph type="title"/>
          </p:nvPr>
        </p:nvSpPr>
        <p:spPr/>
        <p:txBody>
          <a:bodyPr/>
          <a:lstStyle/>
          <a:p>
            <a:r>
              <a:rPr kumimoji="1" lang="en-US" altLang="zh-CN" dirty="0"/>
              <a:t>NoSQL</a:t>
            </a:r>
            <a:r>
              <a:rPr kumimoji="1" lang="zh-CN" altLang="en-US" dirty="0"/>
              <a:t>数据库类型</a:t>
            </a:r>
          </a:p>
        </p:txBody>
      </p:sp>
      <p:sp>
        <p:nvSpPr>
          <p:cNvPr id="4" name="Content Placeholder 3">
            <a:extLst>
              <a:ext uri="{FF2B5EF4-FFF2-40B4-BE49-F238E27FC236}">
                <a16:creationId xmlns:a16="http://schemas.microsoft.com/office/drawing/2014/main" id="{DB9F242C-3D8B-4F1B-8E55-524257D7B8AA}"/>
              </a:ext>
            </a:extLst>
          </p:cNvPr>
          <p:cNvSpPr>
            <a:spLocks noGrp="1"/>
          </p:cNvSpPr>
          <p:nvPr>
            <p:ph idx="1"/>
          </p:nvPr>
        </p:nvSpPr>
        <p:spPr/>
        <p:txBody>
          <a:bodyPr/>
          <a:lstStyle/>
          <a:p>
            <a:r>
              <a:rPr kumimoji="1" lang="zh-CN" altLang="en-US" dirty="0"/>
              <a:t>键值数据库</a:t>
            </a:r>
            <a:endParaRPr kumimoji="1" lang="en-US" altLang="zh-CN" dirty="0"/>
          </a:p>
          <a:p>
            <a:pPr lvl="1"/>
            <a:r>
              <a:rPr lang="zh-CN" altLang="en-US" dirty="0"/>
              <a:t>以键值对格式存储数据的数据库，数据访问简单高效</a:t>
            </a:r>
            <a:endParaRPr lang="en-US" altLang="zh-CN" dirty="0"/>
          </a:p>
          <a:p>
            <a:r>
              <a:rPr kumimoji="1" lang="zh-CN" altLang="en-US" dirty="0"/>
              <a:t>列族数据库</a:t>
            </a:r>
            <a:endParaRPr kumimoji="1" lang="en-US" altLang="zh-CN" dirty="0"/>
          </a:p>
          <a:p>
            <a:pPr lvl="1"/>
            <a:r>
              <a:rPr kumimoji="1" lang="zh-CN" altLang="en-US" dirty="0"/>
              <a:t>数据列按访问关联性划分成不同族，一个族可视为关系表</a:t>
            </a:r>
            <a:endParaRPr kumimoji="1" lang="en-US" altLang="zh-CN" dirty="0"/>
          </a:p>
          <a:p>
            <a:r>
              <a:rPr lang="zh-CN" altLang="en-US" dirty="0"/>
              <a:t>文档数据库</a:t>
            </a:r>
            <a:endParaRPr lang="en-US" altLang="zh-CN" dirty="0"/>
          </a:p>
          <a:p>
            <a:pPr lvl="1"/>
            <a:r>
              <a:rPr kumimoji="1" lang="zh-CN" altLang="en-US" dirty="0"/>
              <a:t>以</a:t>
            </a:r>
            <a:r>
              <a:rPr kumimoji="1" lang="en-US" altLang="zh-CN" dirty="0"/>
              <a:t>JSON</a:t>
            </a:r>
            <a:r>
              <a:rPr lang="zh-CN" altLang="en-US" dirty="0"/>
              <a:t>等文档格式存取数据，避免应用中数据转换的代价</a:t>
            </a:r>
            <a:endParaRPr lang="en-US" altLang="zh-CN" dirty="0"/>
          </a:p>
          <a:p>
            <a:r>
              <a:rPr lang="zh-CN" altLang="en-US" dirty="0"/>
              <a:t>图数据库</a:t>
            </a:r>
            <a:endParaRPr lang="en-US" altLang="zh-CN" dirty="0"/>
          </a:p>
          <a:p>
            <a:pPr lvl="1"/>
            <a:r>
              <a:rPr kumimoji="1" lang="zh-CN" altLang="en-US" dirty="0"/>
              <a:t>以包含边、节点及属性的图结构来存储数据和建模关联</a:t>
            </a:r>
            <a:r>
              <a:rPr lang="zh-CN" altLang="en-US" dirty="0"/>
              <a:t>信息</a:t>
            </a:r>
            <a:endParaRPr kumimoji="1" lang="en-US" altLang="zh-CN" dirty="0"/>
          </a:p>
        </p:txBody>
      </p:sp>
      <p:pic>
        <p:nvPicPr>
          <p:cNvPr id="3074" name="Picture 2">
            <a:extLst>
              <a:ext uri="{FF2B5EF4-FFF2-40B4-BE49-F238E27FC236}">
                <a16:creationId xmlns:a16="http://schemas.microsoft.com/office/drawing/2014/main" id="{5AD07D38-5D9A-43FF-F172-A357C25311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4495" b="54413"/>
          <a:stretch/>
        </p:blipFill>
        <p:spPr bwMode="auto">
          <a:xfrm>
            <a:off x="242312" y="5545650"/>
            <a:ext cx="4068852" cy="131235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A88E3A3E-33C2-5120-0420-E178FB85387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5008"/>
          <a:stretch/>
        </p:blipFill>
        <p:spPr bwMode="auto">
          <a:xfrm>
            <a:off x="6720032" y="5485898"/>
            <a:ext cx="4638250" cy="1362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16905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B46921-29E1-2A39-F715-19BE372B3229}"/>
              </a:ext>
            </a:extLst>
          </p:cNvPr>
          <p:cNvSpPr>
            <a:spLocks noGrp="1"/>
          </p:cNvSpPr>
          <p:nvPr>
            <p:ph type="sldNum" sz="quarter" idx="10"/>
          </p:nvPr>
        </p:nvSpPr>
        <p:spPr/>
        <p:txBody>
          <a:bodyPr/>
          <a:lstStyle/>
          <a:p>
            <a:fld id="{87BBDC00-B9E2-4EFD-9306-2934E87247C6}" type="slidenum">
              <a:rPr lang="zh-CN" altLang="en-US" smtClean="0"/>
              <a:pPr/>
              <a:t>66</a:t>
            </a:fld>
            <a:endParaRPr lang="zh-CN" altLang="en-US"/>
          </a:p>
        </p:txBody>
      </p:sp>
      <p:sp>
        <p:nvSpPr>
          <p:cNvPr id="3" name="Title 2">
            <a:extLst>
              <a:ext uri="{FF2B5EF4-FFF2-40B4-BE49-F238E27FC236}">
                <a16:creationId xmlns:a16="http://schemas.microsoft.com/office/drawing/2014/main" id="{80C64E22-14C6-00C1-641D-AADE608F4AD1}"/>
              </a:ext>
            </a:extLst>
          </p:cNvPr>
          <p:cNvSpPr>
            <a:spLocks noGrp="1"/>
          </p:cNvSpPr>
          <p:nvPr>
            <p:ph type="title"/>
          </p:nvPr>
        </p:nvSpPr>
        <p:spPr/>
        <p:txBody>
          <a:bodyPr/>
          <a:lstStyle/>
          <a:p>
            <a:r>
              <a:rPr lang="en-US" altLang="zh-CN" dirty="0"/>
              <a:t>NoSQL</a:t>
            </a:r>
            <a:r>
              <a:rPr lang="zh-CN" altLang="en-US" dirty="0"/>
              <a:t>数据库类型（续）</a:t>
            </a:r>
            <a:endParaRPr kumimoji="1" lang="zh-CN" altLang="en-US" dirty="0"/>
          </a:p>
        </p:txBody>
      </p:sp>
      <p:sp>
        <p:nvSpPr>
          <p:cNvPr id="4" name="Content Placeholder 3">
            <a:extLst>
              <a:ext uri="{FF2B5EF4-FFF2-40B4-BE49-F238E27FC236}">
                <a16:creationId xmlns:a16="http://schemas.microsoft.com/office/drawing/2014/main" id="{3F79785C-F25A-00A4-62DE-A3C0E1217552}"/>
              </a:ext>
            </a:extLst>
          </p:cNvPr>
          <p:cNvSpPr>
            <a:spLocks noGrp="1"/>
          </p:cNvSpPr>
          <p:nvPr>
            <p:ph idx="1"/>
          </p:nvPr>
        </p:nvSpPr>
        <p:spPr/>
        <p:txBody>
          <a:bodyPr/>
          <a:lstStyle/>
          <a:p>
            <a:r>
              <a:rPr kumimoji="1" lang="zh-CN" altLang="en-US" dirty="0"/>
              <a:t>时序数据库</a:t>
            </a:r>
            <a:endParaRPr kumimoji="1" lang="en-US" altLang="zh-CN" dirty="0"/>
          </a:p>
          <a:p>
            <a:pPr lvl="1"/>
            <a:r>
              <a:rPr lang="zh-CN" altLang="en-US" dirty="0"/>
              <a:t>优化存储和处理时序数据，设计对时序数据的压缩与查询算法</a:t>
            </a:r>
            <a:endParaRPr lang="en-US" altLang="zh-CN" dirty="0"/>
          </a:p>
          <a:p>
            <a:r>
              <a:rPr kumimoji="1" lang="zh-CN" altLang="en-US" dirty="0"/>
              <a:t>多模数据库</a:t>
            </a:r>
            <a:endParaRPr kumimoji="1" lang="en-US" altLang="zh-CN" dirty="0"/>
          </a:p>
          <a:p>
            <a:pPr lvl="1"/>
            <a:r>
              <a:rPr lang="zh-CN" altLang="en-US" dirty="0"/>
              <a:t>指同时支持上述多种数据模型的数据库，以实现多种特性支持</a:t>
            </a:r>
            <a:endParaRPr lang="en-US" altLang="zh-CN" dirty="0"/>
          </a:p>
          <a:p>
            <a:endParaRPr kumimoji="1" lang="zh-CN" altLang="en-US" dirty="0"/>
          </a:p>
        </p:txBody>
      </p:sp>
      <p:pic>
        <p:nvPicPr>
          <p:cNvPr id="4098" name="Picture 2" descr="Creating synthetic time series data">
            <a:extLst>
              <a:ext uri="{FF2B5EF4-FFF2-40B4-BE49-F238E27FC236}">
                <a16:creationId xmlns:a16="http://schemas.microsoft.com/office/drawing/2014/main" id="{792BA574-EFB1-C557-3F2F-EF36B158A7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785674"/>
            <a:ext cx="4594700" cy="255400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What Is a Multi-Model Database? {How They Work, Examples &amp; Use Cases}">
            <a:extLst>
              <a:ext uri="{FF2B5EF4-FFF2-40B4-BE49-F238E27FC236}">
                <a16:creationId xmlns:a16="http://schemas.microsoft.com/office/drawing/2014/main" id="{A16ECCBB-C04A-C825-CF44-6E46B968EE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8959" y="3785674"/>
            <a:ext cx="5492489" cy="2554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94050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0E4D68-8025-3289-77C0-2897982DFDD3}"/>
              </a:ext>
            </a:extLst>
          </p:cNvPr>
          <p:cNvSpPr>
            <a:spLocks noGrp="1"/>
          </p:cNvSpPr>
          <p:nvPr>
            <p:ph type="sldNum" sz="quarter" idx="10"/>
          </p:nvPr>
        </p:nvSpPr>
        <p:spPr/>
        <p:txBody>
          <a:bodyPr/>
          <a:lstStyle/>
          <a:p>
            <a:fld id="{87BBDC00-B9E2-4EFD-9306-2934E87247C6}" type="slidenum">
              <a:rPr lang="zh-CN" altLang="en-US" smtClean="0"/>
              <a:pPr/>
              <a:t>67</a:t>
            </a:fld>
            <a:endParaRPr lang="zh-CN" altLang="en-US"/>
          </a:p>
        </p:txBody>
      </p:sp>
      <p:sp>
        <p:nvSpPr>
          <p:cNvPr id="3" name="Title 2">
            <a:extLst>
              <a:ext uri="{FF2B5EF4-FFF2-40B4-BE49-F238E27FC236}">
                <a16:creationId xmlns:a16="http://schemas.microsoft.com/office/drawing/2014/main" id="{B3CC0100-D7A1-B441-45D2-4E90573F9282}"/>
              </a:ext>
            </a:extLst>
          </p:cNvPr>
          <p:cNvSpPr>
            <a:spLocks noGrp="1"/>
          </p:cNvSpPr>
          <p:nvPr>
            <p:ph type="title"/>
          </p:nvPr>
        </p:nvSpPr>
        <p:spPr/>
        <p:txBody>
          <a:bodyPr/>
          <a:lstStyle/>
          <a:p>
            <a:r>
              <a:rPr lang="zh-CN" altLang="en-US" dirty="0"/>
              <a:t>键值数据库</a:t>
            </a:r>
            <a:r>
              <a:rPr lang="en-US" altLang="zh-CN" dirty="0"/>
              <a:t>——</a:t>
            </a:r>
            <a:r>
              <a:rPr lang="zh-CN" altLang="en-US" dirty="0"/>
              <a:t>定义</a:t>
            </a:r>
            <a:endParaRPr kumimoji="1" lang="zh-CN" altLang="en-US" dirty="0"/>
          </a:p>
        </p:txBody>
      </p:sp>
      <p:sp>
        <p:nvSpPr>
          <p:cNvPr id="4" name="Content Placeholder 3">
            <a:extLst>
              <a:ext uri="{FF2B5EF4-FFF2-40B4-BE49-F238E27FC236}">
                <a16:creationId xmlns:a16="http://schemas.microsoft.com/office/drawing/2014/main" id="{ABDE4335-3AC6-9CAF-7ECF-639E828719E8}"/>
              </a:ext>
            </a:extLst>
          </p:cNvPr>
          <p:cNvSpPr>
            <a:spLocks noGrp="1"/>
          </p:cNvSpPr>
          <p:nvPr>
            <p:ph idx="1"/>
          </p:nvPr>
        </p:nvSpPr>
        <p:spPr>
          <a:xfrm>
            <a:off x="457200" y="1125538"/>
            <a:ext cx="6481482" cy="5005387"/>
          </a:xfrm>
        </p:spPr>
        <p:txBody>
          <a:bodyPr/>
          <a:lstStyle/>
          <a:p>
            <a:r>
              <a:rPr lang="zh-CN" altLang="en-US" dirty="0"/>
              <a:t>键值数据库是用键值对结构去存储数据的</a:t>
            </a:r>
            <a:r>
              <a:rPr lang="en-US" dirty="0"/>
              <a:t>NoSQL</a:t>
            </a:r>
            <a:r>
              <a:rPr lang="zh-CN" altLang="en-US" dirty="0"/>
              <a:t>数据库</a:t>
            </a:r>
            <a:endParaRPr lang="en-CN" dirty="0"/>
          </a:p>
          <a:p>
            <a:r>
              <a:rPr lang="zh-CN" altLang="en-US" dirty="0"/>
              <a:t>键和值均可以是任何对象，如简单的数值和包含多个属性的复杂类的对象</a:t>
            </a:r>
            <a:endParaRPr lang="en-CN" altLang="zh-CN" dirty="0"/>
          </a:p>
          <a:p>
            <a:r>
              <a:rPr lang="zh-CN" altLang="en-US" dirty="0"/>
              <a:t>值作为二进制大对象存储，值的语义解析需读取数据后自行解码</a:t>
            </a:r>
            <a:r>
              <a:rPr lang="en-CN" dirty="0"/>
              <a:t> </a:t>
            </a:r>
          </a:p>
          <a:p>
            <a:pPr lvl="1"/>
            <a:r>
              <a:rPr lang="zh-CN" altLang="en-US" dirty="0"/>
              <a:t>例：键 </a:t>
            </a:r>
            <a:r>
              <a:rPr lang="en-US" altLang="zh-CN" dirty="0"/>
              <a:t>=</a:t>
            </a:r>
            <a:r>
              <a:rPr lang="zh-CN" altLang="en-US" dirty="0"/>
              <a:t> “用户</a:t>
            </a:r>
            <a:r>
              <a:rPr lang="en-US" altLang="zh-CN" dirty="0"/>
              <a:t>1</a:t>
            </a:r>
            <a:r>
              <a:rPr lang="zh-CN" altLang="en-US" dirty="0"/>
              <a:t>：姓名”</a:t>
            </a:r>
            <a:endParaRPr lang="en-US" altLang="zh-CN" dirty="0"/>
          </a:p>
          <a:p>
            <a:pPr marL="422041" lvl="1" indent="0">
              <a:buNone/>
            </a:pPr>
            <a:r>
              <a:rPr lang="zh-CN" altLang="en-US" dirty="0"/>
              <a:t>      值 </a:t>
            </a:r>
            <a:r>
              <a:rPr lang="en-US" altLang="zh-CN" dirty="0"/>
              <a:t>=</a:t>
            </a:r>
            <a:r>
              <a:rPr lang="zh-CN" altLang="en-US" dirty="0"/>
              <a:t> “秦小迪”</a:t>
            </a:r>
            <a:endParaRPr lang="en-US" dirty="0"/>
          </a:p>
          <a:p>
            <a:endParaRPr lang="en-CN" dirty="0"/>
          </a:p>
          <a:p>
            <a:endParaRPr kumimoji="1" lang="zh-CN" altLang="en-US" dirty="0"/>
          </a:p>
        </p:txBody>
      </p:sp>
      <p:sp>
        <p:nvSpPr>
          <p:cNvPr id="5" name="Footer Placeholder 4">
            <a:extLst>
              <a:ext uri="{FF2B5EF4-FFF2-40B4-BE49-F238E27FC236}">
                <a16:creationId xmlns:a16="http://schemas.microsoft.com/office/drawing/2014/main" id="{51758CB4-29D6-C694-294E-2B7D10EB28C0}"/>
              </a:ext>
            </a:extLst>
          </p:cNvPr>
          <p:cNvSpPr>
            <a:spLocks noGrp="1"/>
          </p:cNvSpPr>
          <p:nvPr>
            <p:ph type="ftr" sz="quarter" idx="3"/>
          </p:nvPr>
        </p:nvSpPr>
        <p:spPr/>
        <p:txBody>
          <a:bodyPr/>
          <a:lstStyle/>
          <a:p>
            <a:pPr>
              <a:defRPr/>
            </a:pPr>
            <a:r>
              <a:rPr lang="zh-CN" altLang="en-US"/>
              <a:t>数据库系统</a:t>
            </a:r>
            <a:r>
              <a:rPr lang="en-US" altLang="zh-CN"/>
              <a:t>—</a:t>
            </a:r>
            <a:endParaRPr lang="en-US" altLang="zh-CN" sz="1200" dirty="0"/>
          </a:p>
        </p:txBody>
      </p:sp>
      <p:pic>
        <p:nvPicPr>
          <p:cNvPr id="6" name="Picture 5">
            <a:extLst>
              <a:ext uri="{FF2B5EF4-FFF2-40B4-BE49-F238E27FC236}">
                <a16:creationId xmlns:a16="http://schemas.microsoft.com/office/drawing/2014/main" id="{0607B70C-9BBD-183C-4CF7-0BB169384816}"/>
              </a:ext>
            </a:extLst>
          </p:cNvPr>
          <p:cNvPicPr>
            <a:picLocks noChangeAspect="1"/>
          </p:cNvPicPr>
          <p:nvPr/>
        </p:nvPicPr>
        <p:blipFill>
          <a:blip r:embed="rId3"/>
          <a:stretch>
            <a:fillRect/>
          </a:stretch>
        </p:blipFill>
        <p:spPr>
          <a:xfrm>
            <a:off x="7103348" y="1568023"/>
            <a:ext cx="4897038" cy="3721954"/>
          </a:xfrm>
          <a:prstGeom prst="rect">
            <a:avLst/>
          </a:prstGeom>
        </p:spPr>
      </p:pic>
    </p:spTree>
    <p:extLst>
      <p:ext uri="{BB962C8B-B14F-4D97-AF65-F5344CB8AC3E}">
        <p14:creationId xmlns:p14="http://schemas.microsoft.com/office/powerpoint/2010/main" val="36664615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4B895D-4131-6C4B-94A5-63B7F350D3E6}"/>
              </a:ext>
            </a:extLst>
          </p:cNvPr>
          <p:cNvSpPr>
            <a:spLocks noGrp="1"/>
          </p:cNvSpPr>
          <p:nvPr>
            <p:ph type="sldNum" sz="quarter" idx="10"/>
          </p:nvPr>
        </p:nvSpPr>
        <p:spPr/>
        <p:txBody>
          <a:bodyPr/>
          <a:lstStyle/>
          <a:p>
            <a:fld id="{87BBDC00-B9E2-4EFD-9306-2934E87247C6}" type="slidenum">
              <a:rPr lang="zh-CN" altLang="en-US" smtClean="0"/>
              <a:pPr/>
              <a:t>68</a:t>
            </a:fld>
            <a:endParaRPr lang="zh-CN" altLang="en-US"/>
          </a:p>
        </p:txBody>
      </p:sp>
      <p:sp>
        <p:nvSpPr>
          <p:cNvPr id="3" name="Title 2">
            <a:extLst>
              <a:ext uri="{FF2B5EF4-FFF2-40B4-BE49-F238E27FC236}">
                <a16:creationId xmlns:a16="http://schemas.microsoft.com/office/drawing/2014/main" id="{3824CEDE-E82F-966D-CEE9-FE28C401481B}"/>
              </a:ext>
            </a:extLst>
          </p:cNvPr>
          <p:cNvSpPr>
            <a:spLocks noGrp="1"/>
          </p:cNvSpPr>
          <p:nvPr>
            <p:ph type="title"/>
          </p:nvPr>
        </p:nvSpPr>
        <p:spPr/>
        <p:txBody>
          <a:bodyPr/>
          <a:lstStyle/>
          <a:p>
            <a:r>
              <a:rPr kumimoji="1" lang="zh-CN" altLang="en-US" dirty="0"/>
              <a:t>键值数据库</a:t>
            </a:r>
            <a:r>
              <a:rPr kumimoji="1" lang="en-US" altLang="zh-CN" dirty="0"/>
              <a:t>——</a:t>
            </a:r>
            <a:r>
              <a:rPr kumimoji="1" lang="zh-CN" altLang="en-US" dirty="0"/>
              <a:t>应用场景</a:t>
            </a:r>
          </a:p>
        </p:txBody>
      </p:sp>
      <p:sp>
        <p:nvSpPr>
          <p:cNvPr id="4" name="Content Placeholder 3">
            <a:extLst>
              <a:ext uri="{FF2B5EF4-FFF2-40B4-BE49-F238E27FC236}">
                <a16:creationId xmlns:a16="http://schemas.microsoft.com/office/drawing/2014/main" id="{5B899DB0-919F-F5CE-53BD-7A69FB230D93}"/>
              </a:ext>
            </a:extLst>
          </p:cNvPr>
          <p:cNvSpPr>
            <a:spLocks noGrp="1"/>
          </p:cNvSpPr>
          <p:nvPr>
            <p:ph idx="1"/>
          </p:nvPr>
        </p:nvSpPr>
        <p:spPr/>
        <p:txBody>
          <a:bodyPr/>
          <a:lstStyle/>
          <a:p>
            <a:r>
              <a:rPr lang="zh-CN" altLang="en-US" dirty="0"/>
              <a:t>互联网应用会话缓存</a:t>
            </a:r>
            <a:endParaRPr lang="en-CN" altLang="zh-CN" dirty="0"/>
          </a:p>
          <a:p>
            <a:pPr lvl="1"/>
            <a:r>
              <a:rPr lang="zh-CN" altLang="en-US" dirty="0"/>
              <a:t>每个互联网应用的会话会被赋予一个唯一的会话</a:t>
            </a:r>
            <a:r>
              <a:rPr lang="en-US" dirty="0"/>
              <a:t>ID</a:t>
            </a:r>
            <a:r>
              <a:rPr lang="zh-CN" altLang="en-US" dirty="0"/>
              <a:t>，关于一个会话的信息以二进制整体存于会话</a:t>
            </a:r>
            <a:r>
              <a:rPr lang="en-US" dirty="0"/>
              <a:t>ID</a:t>
            </a:r>
            <a:r>
              <a:rPr lang="zh-CN" altLang="en-US" dirty="0"/>
              <a:t>键对应的值中，通过键索引值的会话信息读操作有极快的访问速度</a:t>
            </a:r>
            <a:endParaRPr lang="en-CN" altLang="zh-CN" dirty="0"/>
          </a:p>
          <a:p>
            <a:r>
              <a:rPr lang="zh-CN" altLang="en-US" dirty="0"/>
              <a:t>频繁用户</a:t>
            </a:r>
            <a:r>
              <a:rPr lang="en-US" altLang="zh-CN" dirty="0"/>
              <a:t>/</a:t>
            </a:r>
            <a:r>
              <a:rPr lang="zh-CN" altLang="en-US" dirty="0"/>
              <a:t>购物车缓存</a:t>
            </a:r>
            <a:endParaRPr lang="en-US" altLang="zh-CN" dirty="0"/>
          </a:p>
          <a:p>
            <a:pPr lvl="1"/>
            <a:r>
              <a:rPr lang="zh-CN" altLang="en-US" dirty="0"/>
              <a:t>每个用户</a:t>
            </a:r>
            <a:r>
              <a:rPr lang="en-US" altLang="zh-CN" dirty="0"/>
              <a:t>/</a:t>
            </a:r>
            <a:r>
              <a:rPr lang="zh-CN" altLang="en-US" dirty="0"/>
              <a:t>购物车拥有唯一的标识符，包含地址、收藏等个性信息，是高频访问信息，通过键值数据库缓存以提高速度体验</a:t>
            </a:r>
            <a:endParaRPr lang="en-US" altLang="zh-CN" dirty="0"/>
          </a:p>
          <a:p>
            <a:r>
              <a:rPr lang="zh-CN" altLang="en-US" dirty="0"/>
              <a:t>不适用场景</a:t>
            </a:r>
            <a:endParaRPr lang="en-US" altLang="zh-CN" dirty="0"/>
          </a:p>
          <a:p>
            <a:pPr lvl="1"/>
            <a:r>
              <a:rPr lang="zh-CN" altLang="en-US" dirty="0"/>
              <a:t>数据间存在关联信息的场景不适合使用键值数据库，比如多个键关联查询的场景，这些场景需要完成数据或键之间的关联操作</a:t>
            </a:r>
            <a:r>
              <a:rPr lang="en-CN" dirty="0"/>
              <a:t> </a:t>
            </a:r>
            <a:endParaRPr lang="en-US" altLang="zh-CN" dirty="0"/>
          </a:p>
          <a:p>
            <a:pPr lvl="1"/>
            <a:endParaRPr kumimoji="1" lang="zh-CN" altLang="en-US" dirty="0"/>
          </a:p>
        </p:txBody>
      </p:sp>
      <p:sp>
        <p:nvSpPr>
          <p:cNvPr id="5" name="Footer Placeholder 4">
            <a:extLst>
              <a:ext uri="{FF2B5EF4-FFF2-40B4-BE49-F238E27FC236}">
                <a16:creationId xmlns:a16="http://schemas.microsoft.com/office/drawing/2014/main" id="{271DE53C-89BC-1F7A-343C-672ACA180962}"/>
              </a:ext>
            </a:extLst>
          </p:cNvPr>
          <p:cNvSpPr>
            <a:spLocks noGrp="1"/>
          </p:cNvSpPr>
          <p:nvPr>
            <p:ph type="ftr" sz="quarter" idx="3"/>
          </p:nvPr>
        </p:nvSpPr>
        <p:spPr/>
        <p:txBody>
          <a:bodyPr/>
          <a:lstStyle/>
          <a:p>
            <a:pPr>
              <a:defRPr/>
            </a:pPr>
            <a:r>
              <a:rPr lang="zh-CN" altLang="en-US"/>
              <a:t>数据库系统</a:t>
            </a:r>
            <a:r>
              <a:rPr lang="en-US" altLang="zh-CN"/>
              <a:t>—</a:t>
            </a:r>
            <a:endParaRPr lang="en-US" altLang="zh-CN" sz="1200" dirty="0"/>
          </a:p>
        </p:txBody>
      </p:sp>
    </p:spTree>
    <p:extLst>
      <p:ext uri="{BB962C8B-B14F-4D97-AF65-F5344CB8AC3E}">
        <p14:creationId xmlns:p14="http://schemas.microsoft.com/office/powerpoint/2010/main" val="4984737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323C5A-7225-C476-E0C8-55478225EE49}"/>
              </a:ext>
            </a:extLst>
          </p:cNvPr>
          <p:cNvSpPr>
            <a:spLocks noGrp="1"/>
          </p:cNvSpPr>
          <p:nvPr>
            <p:ph type="sldNum" sz="quarter" idx="10"/>
          </p:nvPr>
        </p:nvSpPr>
        <p:spPr/>
        <p:txBody>
          <a:bodyPr/>
          <a:lstStyle/>
          <a:p>
            <a:fld id="{87BBDC00-B9E2-4EFD-9306-2934E87247C6}" type="slidenum">
              <a:rPr lang="zh-CN" altLang="en-US" smtClean="0"/>
              <a:pPr/>
              <a:t>69</a:t>
            </a:fld>
            <a:endParaRPr lang="zh-CN" altLang="en-US"/>
          </a:p>
        </p:txBody>
      </p:sp>
      <p:sp>
        <p:nvSpPr>
          <p:cNvPr id="3" name="Title 2">
            <a:extLst>
              <a:ext uri="{FF2B5EF4-FFF2-40B4-BE49-F238E27FC236}">
                <a16:creationId xmlns:a16="http://schemas.microsoft.com/office/drawing/2014/main" id="{8E6DACAB-E4BC-C8FF-73FE-3D8602394F83}"/>
              </a:ext>
            </a:extLst>
          </p:cNvPr>
          <p:cNvSpPr>
            <a:spLocks noGrp="1"/>
          </p:cNvSpPr>
          <p:nvPr>
            <p:ph type="title"/>
          </p:nvPr>
        </p:nvSpPr>
        <p:spPr/>
        <p:txBody>
          <a:bodyPr/>
          <a:lstStyle/>
          <a:p>
            <a:r>
              <a:rPr lang="zh-CN" altLang="en-US" dirty="0"/>
              <a:t>列族数据库</a:t>
            </a:r>
            <a:r>
              <a:rPr lang="en-US" altLang="zh-CN" dirty="0"/>
              <a:t>——</a:t>
            </a:r>
            <a:r>
              <a:rPr lang="zh-CN" altLang="en-US" dirty="0"/>
              <a:t>定义</a:t>
            </a:r>
            <a:endParaRPr kumimoji="1" lang="zh-CN" altLang="en-US" dirty="0"/>
          </a:p>
        </p:txBody>
      </p:sp>
      <p:sp>
        <p:nvSpPr>
          <p:cNvPr id="4" name="Content Placeholder 3">
            <a:extLst>
              <a:ext uri="{FF2B5EF4-FFF2-40B4-BE49-F238E27FC236}">
                <a16:creationId xmlns:a16="http://schemas.microsoft.com/office/drawing/2014/main" id="{54B49B2B-5281-40C3-7555-8B3B12514C45}"/>
              </a:ext>
            </a:extLst>
          </p:cNvPr>
          <p:cNvSpPr>
            <a:spLocks noGrp="1"/>
          </p:cNvSpPr>
          <p:nvPr>
            <p:ph idx="1"/>
          </p:nvPr>
        </p:nvSpPr>
        <p:spPr>
          <a:xfrm>
            <a:off x="457200" y="1125538"/>
            <a:ext cx="6424863" cy="5005387"/>
          </a:xfrm>
        </p:spPr>
        <p:txBody>
          <a:bodyPr/>
          <a:lstStyle/>
          <a:p>
            <a:r>
              <a:rPr lang="zh-CN" altLang="en-US" dirty="0"/>
              <a:t>列族数据库按查询需求组织数据列，由一到多个列族组成，每个列族可视为一个关系表</a:t>
            </a:r>
            <a:endParaRPr lang="en-US" altLang="zh-CN" dirty="0"/>
          </a:p>
          <a:p>
            <a:endParaRPr lang="en-US" altLang="zh-CN" dirty="0"/>
          </a:p>
          <a:p>
            <a:r>
              <a:rPr lang="zh-CN" altLang="en-US" dirty="0"/>
              <a:t>列族数据库避免了分析等查询加载不相关列数据，有效提升性能</a:t>
            </a:r>
            <a:endParaRPr lang="en-US" altLang="zh-CN" dirty="0"/>
          </a:p>
          <a:p>
            <a:pPr lvl="1"/>
            <a:r>
              <a:rPr lang="zh-CN" altLang="en-US" dirty="0"/>
              <a:t>例：列族数据库中，学生的姓名列和成绩列是分属于两个不同列族的，因此存储不相邻。</a:t>
            </a:r>
            <a:endParaRPr lang="en-CN" altLang="zh-CN" dirty="0"/>
          </a:p>
        </p:txBody>
      </p:sp>
      <p:sp>
        <p:nvSpPr>
          <p:cNvPr id="5" name="Footer Placeholder 4">
            <a:extLst>
              <a:ext uri="{FF2B5EF4-FFF2-40B4-BE49-F238E27FC236}">
                <a16:creationId xmlns:a16="http://schemas.microsoft.com/office/drawing/2014/main" id="{59143F1A-12AE-A3DE-02D5-5326A4627DC3}"/>
              </a:ext>
            </a:extLst>
          </p:cNvPr>
          <p:cNvSpPr>
            <a:spLocks noGrp="1"/>
          </p:cNvSpPr>
          <p:nvPr>
            <p:ph type="ftr" sz="quarter" idx="3"/>
          </p:nvPr>
        </p:nvSpPr>
        <p:spPr/>
        <p:txBody>
          <a:bodyPr/>
          <a:lstStyle/>
          <a:p>
            <a:pPr>
              <a:defRPr/>
            </a:pPr>
            <a:r>
              <a:rPr lang="zh-CN" altLang="en-US"/>
              <a:t>数据库系统</a:t>
            </a:r>
            <a:r>
              <a:rPr lang="en-US" altLang="zh-CN"/>
              <a:t>—</a:t>
            </a:r>
            <a:endParaRPr lang="en-US" altLang="zh-CN" sz="1200" dirty="0"/>
          </a:p>
        </p:txBody>
      </p:sp>
      <p:pic>
        <p:nvPicPr>
          <p:cNvPr id="6" name="Picture 5">
            <a:extLst>
              <a:ext uri="{FF2B5EF4-FFF2-40B4-BE49-F238E27FC236}">
                <a16:creationId xmlns:a16="http://schemas.microsoft.com/office/drawing/2014/main" id="{37A555AD-864E-0935-5A79-3446FDE425AA}"/>
              </a:ext>
            </a:extLst>
          </p:cNvPr>
          <p:cNvPicPr>
            <a:picLocks noChangeAspect="1"/>
          </p:cNvPicPr>
          <p:nvPr/>
        </p:nvPicPr>
        <p:blipFill>
          <a:blip r:embed="rId3"/>
          <a:stretch>
            <a:fillRect/>
          </a:stretch>
        </p:blipFill>
        <p:spPr>
          <a:xfrm>
            <a:off x="6839533" y="1692525"/>
            <a:ext cx="5308802" cy="4144039"/>
          </a:xfrm>
          <a:prstGeom prst="rect">
            <a:avLst/>
          </a:prstGeom>
        </p:spPr>
      </p:pic>
    </p:spTree>
    <p:extLst>
      <p:ext uri="{BB962C8B-B14F-4D97-AF65-F5344CB8AC3E}">
        <p14:creationId xmlns:p14="http://schemas.microsoft.com/office/powerpoint/2010/main" val="22520111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8C601F-43DD-AD0B-5A24-E382B6DEEA21}"/>
              </a:ext>
            </a:extLst>
          </p:cNvPr>
          <p:cNvSpPr>
            <a:spLocks noGrp="1"/>
          </p:cNvSpPr>
          <p:nvPr>
            <p:ph type="sldNum" sz="quarter" idx="10"/>
          </p:nvPr>
        </p:nvSpPr>
        <p:spPr/>
        <p:txBody>
          <a:bodyPr/>
          <a:lstStyle/>
          <a:p>
            <a:fld id="{87BBDC00-B9E2-4EFD-9306-2934E87247C6}" type="slidenum">
              <a:rPr lang="zh-CN" altLang="en-US" smtClean="0"/>
              <a:pPr/>
              <a:t>70</a:t>
            </a:fld>
            <a:endParaRPr lang="zh-CN" altLang="en-US"/>
          </a:p>
        </p:txBody>
      </p:sp>
      <p:sp>
        <p:nvSpPr>
          <p:cNvPr id="3" name="Title 2">
            <a:extLst>
              <a:ext uri="{FF2B5EF4-FFF2-40B4-BE49-F238E27FC236}">
                <a16:creationId xmlns:a16="http://schemas.microsoft.com/office/drawing/2014/main" id="{7CC3C531-CF8D-C586-DFED-D80AD1D20A69}"/>
              </a:ext>
            </a:extLst>
          </p:cNvPr>
          <p:cNvSpPr>
            <a:spLocks noGrp="1"/>
          </p:cNvSpPr>
          <p:nvPr>
            <p:ph type="title"/>
          </p:nvPr>
        </p:nvSpPr>
        <p:spPr/>
        <p:txBody>
          <a:bodyPr/>
          <a:lstStyle/>
          <a:p>
            <a:r>
              <a:rPr kumimoji="1" lang="zh-CN" altLang="en-US" dirty="0"/>
              <a:t>列族数据库</a:t>
            </a:r>
            <a:r>
              <a:rPr kumimoji="1" lang="en-US" altLang="zh-CN" dirty="0"/>
              <a:t>——</a:t>
            </a:r>
            <a:r>
              <a:rPr kumimoji="1" lang="zh-CN" altLang="en-US" dirty="0"/>
              <a:t>应用场景</a:t>
            </a:r>
          </a:p>
        </p:txBody>
      </p:sp>
      <p:sp>
        <p:nvSpPr>
          <p:cNvPr id="4" name="Content Placeholder 3">
            <a:extLst>
              <a:ext uri="{FF2B5EF4-FFF2-40B4-BE49-F238E27FC236}">
                <a16:creationId xmlns:a16="http://schemas.microsoft.com/office/drawing/2014/main" id="{CB3FFA03-80AB-0228-E6AF-AFAEDB64B367}"/>
              </a:ext>
            </a:extLst>
          </p:cNvPr>
          <p:cNvSpPr>
            <a:spLocks noGrp="1"/>
          </p:cNvSpPr>
          <p:nvPr>
            <p:ph idx="1"/>
          </p:nvPr>
        </p:nvSpPr>
        <p:spPr/>
        <p:txBody>
          <a:bodyPr/>
          <a:lstStyle/>
          <a:p>
            <a:r>
              <a:rPr lang="zh-CN" altLang="en-US" dirty="0"/>
              <a:t>互联网应用事件日志</a:t>
            </a:r>
            <a:endParaRPr lang="en-US" altLang="zh-CN" dirty="0"/>
          </a:p>
          <a:p>
            <a:pPr lvl="1"/>
            <a:r>
              <a:rPr lang="zh-CN" altLang="en-US" dirty="0"/>
              <a:t>列族数据库常被用来存储应用的事件日志信息，它能够支持存储任何数据结构形式的时间日志信息，比如企业所有应用的状态信息、错误日志等存储到列族数据库中，实现写高可扩展性</a:t>
            </a:r>
            <a:endParaRPr lang="en-US" altLang="zh-CN" dirty="0"/>
          </a:p>
          <a:p>
            <a:r>
              <a:rPr lang="zh-CN" altLang="en-US" dirty="0"/>
              <a:t>博客平台数据存储</a:t>
            </a:r>
            <a:endParaRPr lang="en-US" altLang="zh-CN" dirty="0"/>
          </a:p>
          <a:p>
            <a:pPr lvl="1"/>
            <a:r>
              <a:rPr lang="zh-CN" altLang="en-US" dirty="0"/>
              <a:t>列族数据库适合博客等内容管理与存储，通过访问需求来划分列族存储用户信息（账号、姓名、年龄等）、博客信息（标签、类别、链接和引用等）和评论信息（文本、点赞、回复等）。</a:t>
            </a:r>
            <a:endParaRPr lang="en-CN" dirty="0"/>
          </a:p>
          <a:p>
            <a:r>
              <a:rPr lang="zh-CN" altLang="en-US" dirty="0"/>
              <a:t>不适用场景</a:t>
            </a:r>
            <a:endParaRPr lang="en-US" altLang="zh-CN" dirty="0"/>
          </a:p>
          <a:p>
            <a:pPr lvl="1"/>
            <a:r>
              <a:rPr lang="zh-CN" altLang="en-US" dirty="0"/>
              <a:t>不适合读写操作需要满足</a:t>
            </a:r>
            <a:r>
              <a:rPr lang="en-US" dirty="0"/>
              <a:t>ACID</a:t>
            </a:r>
            <a:r>
              <a:rPr lang="zh-CN" altLang="en-US" dirty="0"/>
              <a:t>特性的应用场景，不适用对业务频繁查询、列关联访问情况了解不充分的情况</a:t>
            </a:r>
            <a:endParaRPr lang="en-CN" dirty="0"/>
          </a:p>
          <a:p>
            <a:endParaRPr kumimoji="1" lang="zh-CN" altLang="en-US" dirty="0"/>
          </a:p>
        </p:txBody>
      </p:sp>
      <p:sp>
        <p:nvSpPr>
          <p:cNvPr id="5" name="Footer Placeholder 4">
            <a:extLst>
              <a:ext uri="{FF2B5EF4-FFF2-40B4-BE49-F238E27FC236}">
                <a16:creationId xmlns:a16="http://schemas.microsoft.com/office/drawing/2014/main" id="{DD7B494E-70DC-C8A9-6420-8D3EA1B49D1B}"/>
              </a:ext>
            </a:extLst>
          </p:cNvPr>
          <p:cNvSpPr>
            <a:spLocks noGrp="1"/>
          </p:cNvSpPr>
          <p:nvPr>
            <p:ph type="ftr" sz="quarter" idx="3"/>
          </p:nvPr>
        </p:nvSpPr>
        <p:spPr/>
        <p:txBody>
          <a:bodyPr/>
          <a:lstStyle/>
          <a:p>
            <a:pPr>
              <a:defRPr/>
            </a:pPr>
            <a:r>
              <a:rPr lang="zh-CN" altLang="en-US" dirty="0"/>
              <a:t>数据库系统</a:t>
            </a:r>
            <a:r>
              <a:rPr lang="en-US" altLang="zh-CN" dirty="0"/>
              <a:t>—</a:t>
            </a:r>
            <a:endParaRPr lang="en-US" altLang="zh-CN" sz="1200" dirty="0"/>
          </a:p>
        </p:txBody>
      </p:sp>
    </p:spTree>
    <p:extLst>
      <p:ext uri="{BB962C8B-B14F-4D97-AF65-F5344CB8AC3E}">
        <p14:creationId xmlns:p14="http://schemas.microsoft.com/office/powerpoint/2010/main" val="115788646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8F4742-C080-65C4-42A4-FB3DBDF29F58}"/>
              </a:ext>
            </a:extLst>
          </p:cNvPr>
          <p:cNvSpPr>
            <a:spLocks noGrp="1"/>
          </p:cNvSpPr>
          <p:nvPr>
            <p:ph type="sldNum" sz="quarter" idx="10"/>
          </p:nvPr>
        </p:nvSpPr>
        <p:spPr/>
        <p:txBody>
          <a:bodyPr/>
          <a:lstStyle/>
          <a:p>
            <a:fld id="{87BBDC00-B9E2-4EFD-9306-2934E87247C6}" type="slidenum">
              <a:rPr lang="zh-CN" altLang="en-US" smtClean="0"/>
              <a:pPr/>
              <a:t>71</a:t>
            </a:fld>
            <a:endParaRPr lang="zh-CN" altLang="en-US"/>
          </a:p>
        </p:txBody>
      </p:sp>
      <p:sp>
        <p:nvSpPr>
          <p:cNvPr id="3" name="Title 2">
            <a:extLst>
              <a:ext uri="{FF2B5EF4-FFF2-40B4-BE49-F238E27FC236}">
                <a16:creationId xmlns:a16="http://schemas.microsoft.com/office/drawing/2014/main" id="{5FBAB6ED-FACF-75C8-5E51-9C76752F6904}"/>
              </a:ext>
            </a:extLst>
          </p:cNvPr>
          <p:cNvSpPr>
            <a:spLocks noGrp="1"/>
          </p:cNvSpPr>
          <p:nvPr>
            <p:ph type="title"/>
          </p:nvPr>
        </p:nvSpPr>
        <p:spPr/>
        <p:txBody>
          <a:bodyPr/>
          <a:lstStyle/>
          <a:p>
            <a:r>
              <a:rPr kumimoji="1" lang="zh-CN" altLang="en-US" dirty="0"/>
              <a:t>文档数据库</a:t>
            </a:r>
            <a:r>
              <a:rPr kumimoji="1" lang="en-US" altLang="zh-CN" dirty="0"/>
              <a:t>——</a:t>
            </a:r>
            <a:r>
              <a:rPr kumimoji="1" lang="zh-CN" altLang="en-US" dirty="0"/>
              <a:t>定义</a:t>
            </a:r>
          </a:p>
        </p:txBody>
      </p:sp>
      <p:sp>
        <p:nvSpPr>
          <p:cNvPr id="4" name="Content Placeholder 3">
            <a:extLst>
              <a:ext uri="{FF2B5EF4-FFF2-40B4-BE49-F238E27FC236}">
                <a16:creationId xmlns:a16="http://schemas.microsoft.com/office/drawing/2014/main" id="{613980E3-D851-8F2F-8254-1821FAC9166E}"/>
              </a:ext>
            </a:extLst>
          </p:cNvPr>
          <p:cNvSpPr>
            <a:spLocks noGrp="1"/>
          </p:cNvSpPr>
          <p:nvPr>
            <p:ph idx="1"/>
          </p:nvPr>
        </p:nvSpPr>
        <p:spPr/>
        <p:txBody>
          <a:bodyPr/>
          <a:lstStyle/>
          <a:p>
            <a:r>
              <a:rPr lang="zh-CN" altLang="en-US" dirty="0"/>
              <a:t>文档数据库是将数据作为类</a:t>
            </a:r>
            <a:r>
              <a:rPr lang="en-US" dirty="0"/>
              <a:t>JSON</a:t>
            </a:r>
            <a:r>
              <a:rPr lang="zh-CN" altLang="en-US" dirty="0"/>
              <a:t>数据存储和查询的数据库，简而言之即层次化的键值对结构</a:t>
            </a:r>
            <a:r>
              <a:rPr lang="en-CN" dirty="0"/>
              <a:t> </a:t>
            </a:r>
          </a:p>
          <a:p>
            <a:r>
              <a:rPr lang="zh-CN" altLang="en-US" dirty="0"/>
              <a:t>类</a:t>
            </a:r>
            <a:r>
              <a:rPr lang="en-US" dirty="0"/>
              <a:t>JSON</a:t>
            </a:r>
            <a:r>
              <a:rPr lang="zh-CN" altLang="en-US" dirty="0"/>
              <a:t>格式优点</a:t>
            </a:r>
            <a:endParaRPr lang="en-US" altLang="zh-CN" dirty="0"/>
          </a:p>
          <a:p>
            <a:pPr lvl="1"/>
            <a:r>
              <a:rPr lang="zh-CN" altLang="en-US" dirty="0"/>
              <a:t>数据存储与应用程序中对象结构一致，大大减轻了应用开发过程中数据建设的工作</a:t>
            </a:r>
            <a:endParaRPr lang="en-CN" altLang="zh-CN" dirty="0"/>
          </a:p>
          <a:p>
            <a:r>
              <a:rPr lang="zh-CN" altLang="en-US" dirty="0"/>
              <a:t>与键值数据库的关系</a:t>
            </a:r>
            <a:endParaRPr lang="en-US" altLang="zh-CN" dirty="0"/>
          </a:p>
          <a:p>
            <a:pPr lvl="1"/>
            <a:r>
              <a:rPr lang="zh-CN" altLang="en-US" dirty="0"/>
              <a:t>文档数据库可视为键值数据库的扩展，使其可部分获取层级嵌套子对象，随应用需求灵活变化存取的内容</a:t>
            </a:r>
            <a:endParaRPr kumimoji="1" lang="zh-CN" altLang="en-US" dirty="0"/>
          </a:p>
        </p:txBody>
      </p:sp>
      <p:sp>
        <p:nvSpPr>
          <p:cNvPr id="5" name="Footer Placeholder 4">
            <a:extLst>
              <a:ext uri="{FF2B5EF4-FFF2-40B4-BE49-F238E27FC236}">
                <a16:creationId xmlns:a16="http://schemas.microsoft.com/office/drawing/2014/main" id="{200C429B-7B19-A3AC-5919-A06EFC59D01B}"/>
              </a:ext>
            </a:extLst>
          </p:cNvPr>
          <p:cNvSpPr>
            <a:spLocks noGrp="1"/>
          </p:cNvSpPr>
          <p:nvPr>
            <p:ph type="ftr" sz="quarter" idx="3"/>
          </p:nvPr>
        </p:nvSpPr>
        <p:spPr/>
        <p:txBody>
          <a:bodyPr/>
          <a:lstStyle/>
          <a:p>
            <a:pPr>
              <a:defRPr/>
            </a:pPr>
            <a:r>
              <a:rPr lang="zh-CN" altLang="en-US"/>
              <a:t>数据库系统</a:t>
            </a:r>
            <a:r>
              <a:rPr lang="en-US" altLang="zh-CN"/>
              <a:t>—</a:t>
            </a:r>
            <a:endParaRPr lang="en-US" altLang="zh-CN" sz="1200" dirty="0"/>
          </a:p>
        </p:txBody>
      </p:sp>
      <p:pic>
        <p:nvPicPr>
          <p:cNvPr id="11" name="Picture 10">
            <a:extLst>
              <a:ext uri="{FF2B5EF4-FFF2-40B4-BE49-F238E27FC236}">
                <a16:creationId xmlns:a16="http://schemas.microsoft.com/office/drawing/2014/main" id="{0999775A-14E7-B5F9-A8A8-9EBD905ABED7}"/>
              </a:ext>
            </a:extLst>
          </p:cNvPr>
          <p:cNvPicPr>
            <a:picLocks noChangeAspect="1"/>
          </p:cNvPicPr>
          <p:nvPr/>
        </p:nvPicPr>
        <p:blipFill>
          <a:blip r:embed="rId3"/>
          <a:stretch>
            <a:fillRect/>
          </a:stretch>
        </p:blipFill>
        <p:spPr>
          <a:xfrm>
            <a:off x="8648014" y="4880826"/>
            <a:ext cx="2218489" cy="1874445"/>
          </a:xfrm>
          <a:prstGeom prst="rect">
            <a:avLst/>
          </a:prstGeom>
        </p:spPr>
      </p:pic>
    </p:spTree>
    <p:extLst>
      <p:ext uri="{BB962C8B-B14F-4D97-AF65-F5344CB8AC3E}">
        <p14:creationId xmlns:p14="http://schemas.microsoft.com/office/powerpoint/2010/main" val="5024250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6E6B58-0E92-2070-35EB-BF73690B56A4}"/>
              </a:ext>
            </a:extLst>
          </p:cNvPr>
          <p:cNvSpPr>
            <a:spLocks noGrp="1"/>
          </p:cNvSpPr>
          <p:nvPr>
            <p:ph type="sldNum" sz="quarter" idx="10"/>
          </p:nvPr>
        </p:nvSpPr>
        <p:spPr/>
        <p:txBody>
          <a:bodyPr/>
          <a:lstStyle/>
          <a:p>
            <a:fld id="{87BBDC00-B9E2-4EFD-9306-2934E87247C6}" type="slidenum">
              <a:rPr lang="zh-CN" altLang="en-US" smtClean="0"/>
              <a:pPr/>
              <a:t>72</a:t>
            </a:fld>
            <a:endParaRPr lang="zh-CN" altLang="en-US"/>
          </a:p>
        </p:txBody>
      </p:sp>
      <p:sp>
        <p:nvSpPr>
          <p:cNvPr id="3" name="Title 2">
            <a:extLst>
              <a:ext uri="{FF2B5EF4-FFF2-40B4-BE49-F238E27FC236}">
                <a16:creationId xmlns:a16="http://schemas.microsoft.com/office/drawing/2014/main" id="{D376B6C6-820F-F0AB-CEA1-6144F83A5319}"/>
              </a:ext>
            </a:extLst>
          </p:cNvPr>
          <p:cNvSpPr>
            <a:spLocks noGrp="1"/>
          </p:cNvSpPr>
          <p:nvPr>
            <p:ph type="title"/>
          </p:nvPr>
        </p:nvSpPr>
        <p:spPr/>
        <p:txBody>
          <a:bodyPr/>
          <a:lstStyle/>
          <a:p>
            <a:r>
              <a:rPr kumimoji="1" lang="zh-CN" altLang="en-US" dirty="0"/>
              <a:t>文档数据库</a:t>
            </a:r>
            <a:r>
              <a:rPr kumimoji="1" lang="en-US" altLang="zh-CN" dirty="0"/>
              <a:t>——</a:t>
            </a:r>
            <a:r>
              <a:rPr kumimoji="1" lang="zh-CN" altLang="en-US" dirty="0"/>
              <a:t>对比关系数据库</a:t>
            </a:r>
          </a:p>
        </p:txBody>
      </p:sp>
      <p:sp>
        <p:nvSpPr>
          <p:cNvPr id="4" name="Content Placeholder 3">
            <a:extLst>
              <a:ext uri="{FF2B5EF4-FFF2-40B4-BE49-F238E27FC236}">
                <a16:creationId xmlns:a16="http://schemas.microsoft.com/office/drawing/2014/main" id="{BAAE74A8-C5C9-D7CD-C81C-24762EEC5809}"/>
              </a:ext>
            </a:extLst>
          </p:cNvPr>
          <p:cNvSpPr>
            <a:spLocks noGrp="1"/>
          </p:cNvSpPr>
          <p:nvPr>
            <p:ph idx="1"/>
          </p:nvPr>
        </p:nvSpPr>
        <p:spPr>
          <a:xfrm>
            <a:off x="457199" y="1125538"/>
            <a:ext cx="4618653" cy="5005387"/>
          </a:xfrm>
        </p:spPr>
        <p:txBody>
          <a:bodyPr/>
          <a:lstStyle/>
          <a:p>
            <a:r>
              <a:rPr kumimoji="1" lang="zh-CN" altLang="en-US" dirty="0"/>
              <a:t>一个文档数据库实例可包含多个文档数据库</a:t>
            </a:r>
            <a:endParaRPr kumimoji="1" lang="en-US" altLang="zh-CN" dirty="0"/>
          </a:p>
          <a:p>
            <a:r>
              <a:rPr lang="zh-CN" altLang="en-US" dirty="0"/>
              <a:t>一个文档数据库可包含多个数据集合</a:t>
            </a:r>
            <a:endParaRPr lang="en-US" altLang="zh-CN" dirty="0"/>
          </a:p>
          <a:p>
            <a:r>
              <a:rPr kumimoji="1" lang="zh-CN" altLang="en-US" dirty="0"/>
              <a:t>一个数据集合可包含多个文档</a:t>
            </a:r>
          </a:p>
        </p:txBody>
      </p:sp>
      <p:sp>
        <p:nvSpPr>
          <p:cNvPr id="5" name="Footer Placeholder 4">
            <a:extLst>
              <a:ext uri="{FF2B5EF4-FFF2-40B4-BE49-F238E27FC236}">
                <a16:creationId xmlns:a16="http://schemas.microsoft.com/office/drawing/2014/main" id="{2ADB1351-1E16-8AB4-33CF-D8C9A3A64791}"/>
              </a:ext>
            </a:extLst>
          </p:cNvPr>
          <p:cNvSpPr>
            <a:spLocks noGrp="1"/>
          </p:cNvSpPr>
          <p:nvPr>
            <p:ph type="ftr" sz="quarter" idx="3"/>
          </p:nvPr>
        </p:nvSpPr>
        <p:spPr/>
        <p:txBody>
          <a:bodyPr/>
          <a:lstStyle/>
          <a:p>
            <a:pPr>
              <a:defRPr/>
            </a:pPr>
            <a:r>
              <a:rPr lang="zh-CN" altLang="en-US"/>
              <a:t>数据库系统</a:t>
            </a:r>
            <a:r>
              <a:rPr lang="en-US" altLang="zh-CN"/>
              <a:t>—</a:t>
            </a:r>
            <a:endParaRPr lang="en-US" altLang="zh-CN" sz="1200" dirty="0"/>
          </a:p>
        </p:txBody>
      </p:sp>
      <p:pic>
        <p:nvPicPr>
          <p:cNvPr id="6" name="Picture 5">
            <a:extLst>
              <a:ext uri="{FF2B5EF4-FFF2-40B4-BE49-F238E27FC236}">
                <a16:creationId xmlns:a16="http://schemas.microsoft.com/office/drawing/2014/main" id="{714697BB-4744-E249-7E9C-53917FCD8886}"/>
              </a:ext>
            </a:extLst>
          </p:cNvPr>
          <p:cNvPicPr>
            <a:picLocks noChangeAspect="1"/>
          </p:cNvPicPr>
          <p:nvPr/>
        </p:nvPicPr>
        <p:blipFill>
          <a:blip r:embed="rId2"/>
          <a:stretch>
            <a:fillRect/>
          </a:stretch>
        </p:blipFill>
        <p:spPr>
          <a:xfrm>
            <a:off x="5321600" y="1039458"/>
            <a:ext cx="6632290" cy="5091467"/>
          </a:xfrm>
          <a:prstGeom prst="rect">
            <a:avLst/>
          </a:prstGeom>
        </p:spPr>
      </p:pic>
      <p:pic>
        <p:nvPicPr>
          <p:cNvPr id="7" name="Picture 2" descr="What is MongoDB? The NoSQL database explained to you easily">
            <a:extLst>
              <a:ext uri="{FF2B5EF4-FFF2-40B4-BE49-F238E27FC236}">
                <a16:creationId xmlns:a16="http://schemas.microsoft.com/office/drawing/2014/main" id="{B76E4FBA-2620-8127-E90A-6A83BB08BB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845" y="4893033"/>
            <a:ext cx="1075592" cy="144664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descr="An Introduction to Couchbase | LaptrinhX">
            <a:extLst>
              <a:ext uri="{FF2B5EF4-FFF2-40B4-BE49-F238E27FC236}">
                <a16:creationId xmlns:a16="http://schemas.microsoft.com/office/drawing/2014/main" id="{D0BE66C7-0AF3-00C7-020D-B7B913F153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9549" y="3926284"/>
            <a:ext cx="1806178" cy="180617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descr="7 Mistakes I Made In DynamoDB - Coder Diaries">
            <a:extLst>
              <a:ext uri="{FF2B5EF4-FFF2-40B4-BE49-F238E27FC236}">
                <a16:creationId xmlns:a16="http://schemas.microsoft.com/office/drawing/2014/main" id="{43076D8E-5563-D665-AAE4-8E7F72D615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3373" y="5601663"/>
            <a:ext cx="2650290" cy="1325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58958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5D603B-1097-A5EC-49BF-CB1A0BD5D9ED}"/>
              </a:ext>
            </a:extLst>
          </p:cNvPr>
          <p:cNvSpPr>
            <a:spLocks noGrp="1"/>
          </p:cNvSpPr>
          <p:nvPr>
            <p:ph type="sldNum" sz="quarter" idx="10"/>
          </p:nvPr>
        </p:nvSpPr>
        <p:spPr/>
        <p:txBody>
          <a:bodyPr/>
          <a:lstStyle/>
          <a:p>
            <a:fld id="{87BBDC00-B9E2-4EFD-9306-2934E87247C6}" type="slidenum">
              <a:rPr lang="zh-CN" altLang="en-US" smtClean="0"/>
              <a:pPr/>
              <a:t>73</a:t>
            </a:fld>
            <a:endParaRPr lang="zh-CN" altLang="en-US"/>
          </a:p>
        </p:txBody>
      </p:sp>
      <p:sp>
        <p:nvSpPr>
          <p:cNvPr id="3" name="Title 2">
            <a:extLst>
              <a:ext uri="{FF2B5EF4-FFF2-40B4-BE49-F238E27FC236}">
                <a16:creationId xmlns:a16="http://schemas.microsoft.com/office/drawing/2014/main" id="{84073504-D4AB-0520-7F8A-40B0BB40E646}"/>
              </a:ext>
            </a:extLst>
          </p:cNvPr>
          <p:cNvSpPr>
            <a:spLocks noGrp="1"/>
          </p:cNvSpPr>
          <p:nvPr>
            <p:ph type="title"/>
          </p:nvPr>
        </p:nvSpPr>
        <p:spPr/>
        <p:txBody>
          <a:bodyPr/>
          <a:lstStyle/>
          <a:p>
            <a:r>
              <a:rPr kumimoji="1" lang="zh-CN" altLang="en-US" dirty="0"/>
              <a:t>文档数据库</a:t>
            </a:r>
            <a:r>
              <a:rPr kumimoji="1" lang="en-US" altLang="zh-CN" dirty="0"/>
              <a:t>——</a:t>
            </a:r>
            <a:r>
              <a:rPr kumimoji="1" lang="zh-CN" altLang="en-US" dirty="0"/>
              <a:t>应用场景</a:t>
            </a:r>
          </a:p>
        </p:txBody>
      </p:sp>
      <p:sp>
        <p:nvSpPr>
          <p:cNvPr id="4" name="Content Placeholder 3">
            <a:extLst>
              <a:ext uri="{FF2B5EF4-FFF2-40B4-BE49-F238E27FC236}">
                <a16:creationId xmlns:a16="http://schemas.microsoft.com/office/drawing/2014/main" id="{52FBE6FA-3217-4ED9-491C-4FF9805DD141}"/>
              </a:ext>
            </a:extLst>
          </p:cNvPr>
          <p:cNvSpPr>
            <a:spLocks noGrp="1"/>
          </p:cNvSpPr>
          <p:nvPr>
            <p:ph idx="1"/>
          </p:nvPr>
        </p:nvSpPr>
        <p:spPr/>
        <p:txBody>
          <a:bodyPr/>
          <a:lstStyle/>
          <a:p>
            <a:r>
              <a:rPr lang="zh-CN" altLang="en-US" dirty="0"/>
              <a:t>用户个人信息存储维护</a:t>
            </a:r>
            <a:endParaRPr lang="en-US" altLang="zh-CN" dirty="0"/>
          </a:p>
          <a:p>
            <a:pPr lvl="1"/>
            <a:r>
              <a:rPr lang="zh-CN" altLang="en-US" dirty="0"/>
              <a:t>文档数据库有灵活可变的数据模式，它适合不同用户提供不同类型信息的在线用户画像场景，而无需存储空值字段</a:t>
            </a:r>
            <a:endParaRPr lang="en-US" altLang="zh-CN" dirty="0"/>
          </a:p>
          <a:p>
            <a:r>
              <a:rPr lang="zh-CN" altLang="en-US" dirty="0"/>
              <a:t>异构业务内容管理</a:t>
            </a:r>
            <a:endParaRPr lang="en-US" altLang="zh-CN" dirty="0"/>
          </a:p>
          <a:p>
            <a:pPr lvl="1"/>
            <a:r>
              <a:rPr lang="zh-CN" altLang="en-US" dirty="0"/>
              <a:t>由于文档数据库的模式灵活性，它非常适合异构业务发展，用来融入新的内容类型，比如图片、评论和视频等用户生产的内容</a:t>
            </a:r>
            <a:endParaRPr lang="en-US" altLang="zh-CN" dirty="0"/>
          </a:p>
          <a:p>
            <a:r>
              <a:rPr lang="zh-CN" altLang="en-US" dirty="0"/>
              <a:t>不适用场景</a:t>
            </a:r>
            <a:endParaRPr lang="en-US" altLang="zh-CN" dirty="0"/>
          </a:p>
          <a:p>
            <a:pPr lvl="1"/>
            <a:r>
              <a:rPr lang="zh-CN" altLang="en-US" dirty="0"/>
              <a:t>不适合需要较多涉及多个文档的复杂事务查询的业务</a:t>
            </a:r>
            <a:endParaRPr lang="en-US" altLang="zh-CN" dirty="0"/>
          </a:p>
          <a:p>
            <a:pPr lvl="1"/>
            <a:r>
              <a:rPr lang="zh-CN" altLang="en-US" dirty="0"/>
              <a:t>不适合属性列一直变化情况，因为查询字段也需要不断变化</a:t>
            </a:r>
            <a:endParaRPr lang="en-CN" dirty="0"/>
          </a:p>
          <a:p>
            <a:pPr lvl="1"/>
            <a:endParaRPr lang="en-US" altLang="zh-CN" dirty="0"/>
          </a:p>
        </p:txBody>
      </p:sp>
      <p:sp>
        <p:nvSpPr>
          <p:cNvPr id="5" name="Footer Placeholder 4">
            <a:extLst>
              <a:ext uri="{FF2B5EF4-FFF2-40B4-BE49-F238E27FC236}">
                <a16:creationId xmlns:a16="http://schemas.microsoft.com/office/drawing/2014/main" id="{625119F2-934C-9CFF-1143-A789842B6965}"/>
              </a:ext>
            </a:extLst>
          </p:cNvPr>
          <p:cNvSpPr>
            <a:spLocks noGrp="1"/>
          </p:cNvSpPr>
          <p:nvPr>
            <p:ph type="ftr" sz="quarter" idx="3"/>
          </p:nvPr>
        </p:nvSpPr>
        <p:spPr/>
        <p:txBody>
          <a:bodyPr/>
          <a:lstStyle/>
          <a:p>
            <a:pPr>
              <a:defRPr/>
            </a:pPr>
            <a:r>
              <a:rPr lang="zh-CN" altLang="en-US"/>
              <a:t>数据库系统</a:t>
            </a:r>
            <a:r>
              <a:rPr lang="en-US" altLang="zh-CN"/>
              <a:t>—</a:t>
            </a:r>
            <a:endParaRPr lang="en-US" altLang="zh-CN" sz="1200" dirty="0"/>
          </a:p>
        </p:txBody>
      </p:sp>
    </p:spTree>
    <p:extLst>
      <p:ext uri="{BB962C8B-B14F-4D97-AF65-F5344CB8AC3E}">
        <p14:creationId xmlns:p14="http://schemas.microsoft.com/office/powerpoint/2010/main" val="31935548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931503-3C17-D7EC-EE5B-3D31ABED0825}"/>
              </a:ext>
            </a:extLst>
          </p:cNvPr>
          <p:cNvSpPr>
            <a:spLocks noGrp="1"/>
          </p:cNvSpPr>
          <p:nvPr>
            <p:ph type="sldNum" sz="quarter" idx="10"/>
          </p:nvPr>
        </p:nvSpPr>
        <p:spPr/>
        <p:txBody>
          <a:bodyPr/>
          <a:lstStyle/>
          <a:p>
            <a:fld id="{87BBDC00-B9E2-4EFD-9306-2934E87247C6}" type="slidenum">
              <a:rPr lang="zh-CN" altLang="en-US" smtClean="0"/>
              <a:pPr/>
              <a:t>74</a:t>
            </a:fld>
            <a:endParaRPr lang="zh-CN" altLang="en-US"/>
          </a:p>
        </p:txBody>
      </p:sp>
      <p:sp>
        <p:nvSpPr>
          <p:cNvPr id="3" name="Title 2">
            <a:extLst>
              <a:ext uri="{FF2B5EF4-FFF2-40B4-BE49-F238E27FC236}">
                <a16:creationId xmlns:a16="http://schemas.microsoft.com/office/drawing/2014/main" id="{0A6F6ED6-C304-4EAF-D44D-C20EA981C53B}"/>
              </a:ext>
            </a:extLst>
          </p:cNvPr>
          <p:cNvSpPr>
            <a:spLocks noGrp="1"/>
          </p:cNvSpPr>
          <p:nvPr>
            <p:ph type="title"/>
          </p:nvPr>
        </p:nvSpPr>
        <p:spPr/>
        <p:txBody>
          <a:bodyPr/>
          <a:lstStyle/>
          <a:p>
            <a:r>
              <a:rPr kumimoji="1" lang="zh-CN" altLang="en-US" dirty="0"/>
              <a:t>图数据库</a:t>
            </a:r>
            <a:r>
              <a:rPr kumimoji="1" lang="en-US" altLang="zh-CN" dirty="0"/>
              <a:t>——</a:t>
            </a:r>
            <a:r>
              <a:rPr kumimoji="1" lang="zh-CN" altLang="en-US" dirty="0"/>
              <a:t>定义</a:t>
            </a:r>
          </a:p>
        </p:txBody>
      </p:sp>
      <p:sp>
        <p:nvSpPr>
          <p:cNvPr id="4" name="Content Placeholder 3">
            <a:extLst>
              <a:ext uri="{FF2B5EF4-FFF2-40B4-BE49-F238E27FC236}">
                <a16:creationId xmlns:a16="http://schemas.microsoft.com/office/drawing/2014/main" id="{FE116D16-659B-5BDC-008B-BA0FBEA257D1}"/>
              </a:ext>
            </a:extLst>
          </p:cNvPr>
          <p:cNvSpPr>
            <a:spLocks noGrp="1"/>
          </p:cNvSpPr>
          <p:nvPr>
            <p:ph idx="1"/>
          </p:nvPr>
        </p:nvSpPr>
        <p:spPr/>
        <p:txBody>
          <a:bodyPr/>
          <a:lstStyle/>
          <a:p>
            <a:r>
              <a:rPr lang="zh-CN" altLang="en-US" dirty="0"/>
              <a:t>图数据库存储实体之间的关系，其中实体是图的节点，实体之间的关系是边，节点和边拥有属性信息</a:t>
            </a:r>
            <a:endParaRPr lang="en-US" altLang="zh-CN" dirty="0"/>
          </a:p>
          <a:p>
            <a:pPr lvl="1"/>
            <a:r>
              <a:rPr lang="zh-CN" altLang="en-US" dirty="0"/>
              <a:t>节点代表的应用的对象实例，边代表的是应用对象之间的关联，关联有着方向性</a:t>
            </a:r>
            <a:endParaRPr lang="en-CN" dirty="0"/>
          </a:p>
          <a:p>
            <a:r>
              <a:rPr lang="zh-CN" altLang="en-US" dirty="0"/>
              <a:t>用途：图数据库主要用于基于关联信息挖掘有价值的规律</a:t>
            </a:r>
            <a:endParaRPr lang="en-US" altLang="zh-CN" dirty="0"/>
          </a:p>
          <a:p>
            <a:pPr lvl="1"/>
            <a:r>
              <a:rPr lang="zh-CN" altLang="en-US" dirty="0"/>
              <a:t>节点：“人”和“话题讨论”</a:t>
            </a:r>
            <a:r>
              <a:rPr lang="en-CN" dirty="0"/>
              <a:t> </a:t>
            </a:r>
          </a:p>
          <a:p>
            <a:pPr lvl="1"/>
            <a:r>
              <a:rPr lang="zh-CN" altLang="en-CN" dirty="0"/>
              <a:t>边</a:t>
            </a:r>
            <a:r>
              <a:rPr lang="zh-CN" altLang="en-US" dirty="0"/>
              <a:t>：“同学”和“活跃用户”</a:t>
            </a:r>
            <a:endParaRPr lang="en-US" altLang="zh-CN" dirty="0"/>
          </a:p>
          <a:p>
            <a:pPr lvl="1"/>
            <a:r>
              <a:rPr lang="en-CN" dirty="0"/>
              <a:t>属性</a:t>
            </a:r>
            <a:r>
              <a:rPr lang="zh-CN" altLang="en-US" dirty="0"/>
              <a:t>：“姓名”、“主题”</a:t>
            </a:r>
            <a:endParaRPr lang="en-CN" altLang="zh-CN" dirty="0"/>
          </a:p>
        </p:txBody>
      </p:sp>
      <p:sp>
        <p:nvSpPr>
          <p:cNvPr id="5" name="Footer Placeholder 4">
            <a:extLst>
              <a:ext uri="{FF2B5EF4-FFF2-40B4-BE49-F238E27FC236}">
                <a16:creationId xmlns:a16="http://schemas.microsoft.com/office/drawing/2014/main" id="{C1A5CBEA-25A4-E913-9CBC-0780B575B65E}"/>
              </a:ext>
            </a:extLst>
          </p:cNvPr>
          <p:cNvSpPr>
            <a:spLocks noGrp="1"/>
          </p:cNvSpPr>
          <p:nvPr>
            <p:ph type="ftr" sz="quarter" idx="3"/>
          </p:nvPr>
        </p:nvSpPr>
        <p:spPr/>
        <p:txBody>
          <a:bodyPr/>
          <a:lstStyle/>
          <a:p>
            <a:pPr>
              <a:defRPr/>
            </a:pPr>
            <a:r>
              <a:rPr lang="zh-CN" altLang="en-US"/>
              <a:t>数据库系统</a:t>
            </a:r>
            <a:r>
              <a:rPr lang="en-US" altLang="zh-CN"/>
              <a:t>—</a:t>
            </a:r>
            <a:endParaRPr lang="en-US" altLang="zh-CN" sz="1200" dirty="0"/>
          </a:p>
        </p:txBody>
      </p:sp>
      <p:pic>
        <p:nvPicPr>
          <p:cNvPr id="6" name="Picture 5">
            <a:extLst>
              <a:ext uri="{FF2B5EF4-FFF2-40B4-BE49-F238E27FC236}">
                <a16:creationId xmlns:a16="http://schemas.microsoft.com/office/drawing/2014/main" id="{9833815A-7025-3903-97DB-6067950BCF57}"/>
              </a:ext>
            </a:extLst>
          </p:cNvPr>
          <p:cNvPicPr>
            <a:picLocks noChangeAspect="1"/>
          </p:cNvPicPr>
          <p:nvPr/>
        </p:nvPicPr>
        <p:blipFill>
          <a:blip r:embed="rId3"/>
          <a:stretch>
            <a:fillRect/>
          </a:stretch>
        </p:blipFill>
        <p:spPr>
          <a:xfrm>
            <a:off x="6096001" y="3785384"/>
            <a:ext cx="5235388" cy="3072616"/>
          </a:xfrm>
          <a:prstGeom prst="rect">
            <a:avLst/>
          </a:prstGeom>
        </p:spPr>
      </p:pic>
    </p:spTree>
    <p:extLst>
      <p:ext uri="{BB962C8B-B14F-4D97-AF65-F5344CB8AC3E}">
        <p14:creationId xmlns:p14="http://schemas.microsoft.com/office/powerpoint/2010/main" val="35387346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EFB568-15A1-1BB6-377E-540D6737BA69}"/>
              </a:ext>
            </a:extLst>
          </p:cNvPr>
          <p:cNvSpPr>
            <a:spLocks noGrp="1"/>
          </p:cNvSpPr>
          <p:nvPr>
            <p:ph type="sldNum" sz="quarter" idx="10"/>
          </p:nvPr>
        </p:nvSpPr>
        <p:spPr/>
        <p:txBody>
          <a:bodyPr/>
          <a:lstStyle/>
          <a:p>
            <a:fld id="{87BBDC00-B9E2-4EFD-9306-2934E87247C6}" type="slidenum">
              <a:rPr lang="zh-CN" altLang="en-US" smtClean="0"/>
              <a:pPr/>
              <a:t>75</a:t>
            </a:fld>
            <a:endParaRPr lang="zh-CN" altLang="en-US"/>
          </a:p>
        </p:txBody>
      </p:sp>
      <p:sp>
        <p:nvSpPr>
          <p:cNvPr id="3" name="Title 2">
            <a:extLst>
              <a:ext uri="{FF2B5EF4-FFF2-40B4-BE49-F238E27FC236}">
                <a16:creationId xmlns:a16="http://schemas.microsoft.com/office/drawing/2014/main" id="{4911F70C-D0D1-E01B-E10F-9AABDB779343}"/>
              </a:ext>
            </a:extLst>
          </p:cNvPr>
          <p:cNvSpPr>
            <a:spLocks noGrp="1"/>
          </p:cNvSpPr>
          <p:nvPr>
            <p:ph type="title"/>
          </p:nvPr>
        </p:nvSpPr>
        <p:spPr/>
        <p:txBody>
          <a:bodyPr/>
          <a:lstStyle/>
          <a:p>
            <a:r>
              <a:rPr kumimoji="1" lang="zh-CN" altLang="en-US" dirty="0"/>
              <a:t>图数据库</a:t>
            </a:r>
            <a:r>
              <a:rPr kumimoji="1" lang="en-US" altLang="zh-CN" dirty="0"/>
              <a:t>——</a:t>
            </a:r>
            <a:r>
              <a:rPr lang="zh-CN" altLang="en-US" dirty="0"/>
              <a:t>应用场景</a:t>
            </a:r>
            <a:endParaRPr kumimoji="1" lang="zh-CN" altLang="en-US" dirty="0"/>
          </a:p>
        </p:txBody>
      </p:sp>
      <p:sp>
        <p:nvSpPr>
          <p:cNvPr id="4" name="Content Placeholder 3">
            <a:extLst>
              <a:ext uri="{FF2B5EF4-FFF2-40B4-BE49-F238E27FC236}">
                <a16:creationId xmlns:a16="http://schemas.microsoft.com/office/drawing/2014/main" id="{128B8B14-458D-446E-C1B9-793148278832}"/>
              </a:ext>
            </a:extLst>
          </p:cNvPr>
          <p:cNvSpPr>
            <a:spLocks noGrp="1"/>
          </p:cNvSpPr>
          <p:nvPr>
            <p:ph idx="1"/>
          </p:nvPr>
        </p:nvSpPr>
        <p:spPr/>
        <p:txBody>
          <a:bodyPr/>
          <a:lstStyle/>
          <a:p>
            <a:r>
              <a:rPr lang="zh-CN" altLang="en-US" dirty="0"/>
              <a:t>社交网络</a:t>
            </a:r>
            <a:endParaRPr lang="en-US" altLang="zh-CN" dirty="0"/>
          </a:p>
          <a:p>
            <a:pPr lvl="1"/>
            <a:r>
              <a:rPr lang="zh-CN" altLang="en-US" dirty="0"/>
              <a:t>图数据库是有效部署社交网络数据的方式，社交网络数据不只是包含朋友关系，还包含雇佣关系，亲属关系等等关联</a:t>
            </a:r>
            <a:endParaRPr lang="en-US" altLang="zh-CN" dirty="0"/>
          </a:p>
          <a:p>
            <a:r>
              <a:rPr lang="zh-CN" altLang="en-US" dirty="0"/>
              <a:t>时空信息</a:t>
            </a:r>
            <a:endParaRPr lang="en-US" altLang="zh-CN" dirty="0"/>
          </a:p>
          <a:p>
            <a:pPr lvl="1"/>
            <a:r>
              <a:rPr lang="zh-CN" altLang="en-US" dirty="0"/>
              <a:t>对于空间路由和快递场景，图数据库可以用于查找和优化路径，存储历史结果。对于基于位置的服务，图数据库可以用于查询推荐用户感兴趣的内容，比如附近的餐馆、娱乐设施等</a:t>
            </a:r>
            <a:endParaRPr lang="en-CN" altLang="zh-CN" dirty="0"/>
          </a:p>
          <a:p>
            <a:r>
              <a:rPr kumimoji="1" lang="zh-CN" altLang="en-US" dirty="0"/>
              <a:t>不适用场景</a:t>
            </a:r>
            <a:endParaRPr kumimoji="1" lang="en-US" altLang="zh-CN" dirty="0"/>
          </a:p>
          <a:p>
            <a:pPr lvl="1"/>
            <a:r>
              <a:rPr lang="zh-CN" altLang="en-US" dirty="0"/>
              <a:t>图数据库面向关联查询，未针对数据存取优化，不适合用于业务数据的场景，这其中会有大量的事务查询操作</a:t>
            </a:r>
            <a:endParaRPr lang="en-CN" dirty="0"/>
          </a:p>
          <a:p>
            <a:pPr lvl="1"/>
            <a:endParaRPr kumimoji="1" lang="zh-CN" altLang="en-US" dirty="0"/>
          </a:p>
        </p:txBody>
      </p:sp>
      <p:sp>
        <p:nvSpPr>
          <p:cNvPr id="5" name="Footer Placeholder 4">
            <a:extLst>
              <a:ext uri="{FF2B5EF4-FFF2-40B4-BE49-F238E27FC236}">
                <a16:creationId xmlns:a16="http://schemas.microsoft.com/office/drawing/2014/main" id="{451685CD-12EC-E61B-CC52-CFFFCFBD61B5}"/>
              </a:ext>
            </a:extLst>
          </p:cNvPr>
          <p:cNvSpPr>
            <a:spLocks noGrp="1"/>
          </p:cNvSpPr>
          <p:nvPr>
            <p:ph type="ftr" sz="quarter" idx="3"/>
          </p:nvPr>
        </p:nvSpPr>
        <p:spPr/>
        <p:txBody>
          <a:bodyPr/>
          <a:lstStyle/>
          <a:p>
            <a:pPr>
              <a:defRPr/>
            </a:pPr>
            <a:r>
              <a:rPr lang="zh-CN" altLang="en-US" dirty="0"/>
              <a:t>数据库系统</a:t>
            </a:r>
            <a:r>
              <a:rPr lang="en-US" altLang="zh-CN" dirty="0"/>
              <a:t>—</a:t>
            </a:r>
            <a:endParaRPr lang="en-US" altLang="zh-CN" sz="1200" dirty="0"/>
          </a:p>
        </p:txBody>
      </p:sp>
    </p:spTree>
    <p:extLst>
      <p:ext uri="{BB962C8B-B14F-4D97-AF65-F5344CB8AC3E}">
        <p14:creationId xmlns:p14="http://schemas.microsoft.com/office/powerpoint/2010/main" val="5946249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5BEDBB-0C12-2954-E033-CD8B26EE550C}"/>
              </a:ext>
            </a:extLst>
          </p:cNvPr>
          <p:cNvSpPr>
            <a:spLocks noGrp="1"/>
          </p:cNvSpPr>
          <p:nvPr>
            <p:ph type="sldNum" sz="quarter" idx="10"/>
          </p:nvPr>
        </p:nvSpPr>
        <p:spPr/>
        <p:txBody>
          <a:bodyPr/>
          <a:lstStyle/>
          <a:p>
            <a:fld id="{87BBDC00-B9E2-4EFD-9306-2934E87247C6}" type="slidenum">
              <a:rPr lang="zh-CN" altLang="en-US" smtClean="0"/>
              <a:pPr/>
              <a:t>76</a:t>
            </a:fld>
            <a:endParaRPr lang="zh-CN" altLang="en-US"/>
          </a:p>
        </p:txBody>
      </p:sp>
      <p:sp>
        <p:nvSpPr>
          <p:cNvPr id="3" name="Title 2">
            <a:extLst>
              <a:ext uri="{FF2B5EF4-FFF2-40B4-BE49-F238E27FC236}">
                <a16:creationId xmlns:a16="http://schemas.microsoft.com/office/drawing/2014/main" id="{F32DB03A-57C6-58FF-612F-5C4408193475}"/>
              </a:ext>
            </a:extLst>
          </p:cNvPr>
          <p:cNvSpPr>
            <a:spLocks noGrp="1"/>
          </p:cNvSpPr>
          <p:nvPr>
            <p:ph type="title"/>
          </p:nvPr>
        </p:nvSpPr>
        <p:spPr/>
        <p:txBody>
          <a:bodyPr/>
          <a:lstStyle/>
          <a:p>
            <a:r>
              <a:rPr kumimoji="1" lang="zh-CN" altLang="en-US" dirty="0"/>
              <a:t>时序数据库</a:t>
            </a:r>
            <a:r>
              <a:rPr kumimoji="1" lang="en-US" altLang="zh-CN" dirty="0"/>
              <a:t>——</a:t>
            </a:r>
            <a:r>
              <a:rPr kumimoji="1" lang="zh-CN" altLang="en-US" dirty="0"/>
              <a:t>定义</a:t>
            </a:r>
          </a:p>
        </p:txBody>
      </p:sp>
      <p:sp>
        <p:nvSpPr>
          <p:cNvPr id="4" name="Content Placeholder 3">
            <a:extLst>
              <a:ext uri="{FF2B5EF4-FFF2-40B4-BE49-F238E27FC236}">
                <a16:creationId xmlns:a16="http://schemas.microsoft.com/office/drawing/2014/main" id="{17978011-E4D0-F92F-6C7B-6DC24125D8A5}"/>
              </a:ext>
            </a:extLst>
          </p:cNvPr>
          <p:cNvSpPr>
            <a:spLocks noGrp="1"/>
          </p:cNvSpPr>
          <p:nvPr>
            <p:ph idx="1"/>
          </p:nvPr>
        </p:nvSpPr>
        <p:spPr/>
        <p:txBody>
          <a:bodyPr/>
          <a:lstStyle/>
          <a:p>
            <a:r>
              <a:rPr lang="zh-CN" altLang="en-US" dirty="0"/>
              <a:t>时序数据库是针对时序数据的存储和查询进行优化的数据库，其中时序数据指的是伴随有时间戳的数据</a:t>
            </a:r>
            <a:endParaRPr lang="en-US" altLang="zh-CN" dirty="0"/>
          </a:p>
          <a:p>
            <a:r>
              <a:rPr lang="zh-CN" altLang="en-US" dirty="0"/>
              <a:t>时序数据库特性</a:t>
            </a:r>
            <a:endParaRPr lang="en-US" altLang="zh-CN" dirty="0"/>
          </a:p>
          <a:p>
            <a:pPr lvl="1"/>
            <a:r>
              <a:rPr lang="zh-CN" altLang="en-US" dirty="0"/>
              <a:t>基于时序数据均匀分布的特点去设计专用高效的数据压缩算法，实现比通用压缩算法对非均匀数据更高的性能</a:t>
            </a:r>
            <a:endParaRPr lang="en-US" altLang="zh-CN" dirty="0"/>
          </a:p>
          <a:p>
            <a:pPr lvl="1"/>
            <a:r>
              <a:rPr lang="zh-CN" altLang="en-US" dirty="0"/>
              <a:t>基于时序数据均以时间戳索引的特点，可实现更高查询性能</a:t>
            </a:r>
            <a:endParaRPr kumimoji="1" lang="zh-CN" altLang="en-US" dirty="0"/>
          </a:p>
        </p:txBody>
      </p:sp>
      <p:sp>
        <p:nvSpPr>
          <p:cNvPr id="5" name="Footer Placeholder 4">
            <a:extLst>
              <a:ext uri="{FF2B5EF4-FFF2-40B4-BE49-F238E27FC236}">
                <a16:creationId xmlns:a16="http://schemas.microsoft.com/office/drawing/2014/main" id="{E4EAD4C7-583E-35CA-1A44-8994FD17F819}"/>
              </a:ext>
            </a:extLst>
          </p:cNvPr>
          <p:cNvSpPr>
            <a:spLocks noGrp="1"/>
          </p:cNvSpPr>
          <p:nvPr>
            <p:ph type="ftr" sz="quarter" idx="3"/>
          </p:nvPr>
        </p:nvSpPr>
        <p:spPr/>
        <p:txBody>
          <a:bodyPr/>
          <a:lstStyle/>
          <a:p>
            <a:pPr>
              <a:defRPr/>
            </a:pPr>
            <a:r>
              <a:rPr lang="zh-CN" altLang="en-US"/>
              <a:t>数据库系统</a:t>
            </a:r>
            <a:r>
              <a:rPr lang="en-US" altLang="zh-CN"/>
              <a:t>—</a:t>
            </a:r>
            <a:endParaRPr lang="en-US" altLang="zh-CN" sz="1200" dirty="0"/>
          </a:p>
        </p:txBody>
      </p:sp>
      <p:pic>
        <p:nvPicPr>
          <p:cNvPr id="11266" name="Picture 2" descr="Time series data - Azure Architecture Center | Microsoft Docs">
            <a:extLst>
              <a:ext uri="{FF2B5EF4-FFF2-40B4-BE49-F238E27FC236}">
                <a16:creationId xmlns:a16="http://schemas.microsoft.com/office/drawing/2014/main" id="{3DEEAD32-1132-FAFE-A362-DE9D8DF728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9185" y="4406425"/>
            <a:ext cx="6273627" cy="2341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233699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A9A66-E5CC-313A-96FB-BCA791D4BDA1}"/>
              </a:ext>
            </a:extLst>
          </p:cNvPr>
          <p:cNvSpPr>
            <a:spLocks noGrp="1"/>
          </p:cNvSpPr>
          <p:nvPr>
            <p:ph type="sldNum" sz="quarter" idx="10"/>
          </p:nvPr>
        </p:nvSpPr>
        <p:spPr/>
        <p:txBody>
          <a:bodyPr/>
          <a:lstStyle/>
          <a:p>
            <a:fld id="{87BBDC00-B9E2-4EFD-9306-2934E87247C6}" type="slidenum">
              <a:rPr lang="zh-CN" altLang="en-US" smtClean="0"/>
              <a:pPr/>
              <a:t>77</a:t>
            </a:fld>
            <a:endParaRPr lang="zh-CN" altLang="en-US"/>
          </a:p>
        </p:txBody>
      </p:sp>
      <p:sp>
        <p:nvSpPr>
          <p:cNvPr id="3" name="Title 2">
            <a:extLst>
              <a:ext uri="{FF2B5EF4-FFF2-40B4-BE49-F238E27FC236}">
                <a16:creationId xmlns:a16="http://schemas.microsoft.com/office/drawing/2014/main" id="{B5814D20-7853-4EB2-DE12-A46625A26DD7}"/>
              </a:ext>
            </a:extLst>
          </p:cNvPr>
          <p:cNvSpPr>
            <a:spLocks noGrp="1"/>
          </p:cNvSpPr>
          <p:nvPr>
            <p:ph type="title"/>
          </p:nvPr>
        </p:nvSpPr>
        <p:spPr/>
        <p:txBody>
          <a:bodyPr/>
          <a:lstStyle/>
          <a:p>
            <a:r>
              <a:rPr kumimoji="1" lang="zh-CN" altLang="en-US" dirty="0"/>
              <a:t>时序数据库</a:t>
            </a:r>
            <a:r>
              <a:rPr kumimoji="1" lang="en-US" altLang="zh-CN" dirty="0"/>
              <a:t>——</a:t>
            </a:r>
            <a:r>
              <a:rPr kumimoji="1" lang="zh-CN" altLang="en-US" dirty="0"/>
              <a:t>应用场景</a:t>
            </a:r>
          </a:p>
        </p:txBody>
      </p:sp>
      <p:sp>
        <p:nvSpPr>
          <p:cNvPr id="4" name="Content Placeholder 3">
            <a:extLst>
              <a:ext uri="{FF2B5EF4-FFF2-40B4-BE49-F238E27FC236}">
                <a16:creationId xmlns:a16="http://schemas.microsoft.com/office/drawing/2014/main" id="{DEF85934-1CDD-9F9A-53B4-46F6BF18C9A0}"/>
              </a:ext>
            </a:extLst>
          </p:cNvPr>
          <p:cNvSpPr>
            <a:spLocks noGrp="1"/>
          </p:cNvSpPr>
          <p:nvPr>
            <p:ph idx="1"/>
          </p:nvPr>
        </p:nvSpPr>
        <p:spPr/>
        <p:txBody>
          <a:bodyPr/>
          <a:lstStyle/>
          <a:p>
            <a:r>
              <a:rPr lang="zh-CN" altLang="en-US" dirty="0"/>
              <a:t>物联网传感器数据</a:t>
            </a:r>
            <a:endParaRPr lang="en-US" altLang="zh-CN" dirty="0"/>
          </a:p>
          <a:p>
            <a:pPr lvl="1"/>
            <a:r>
              <a:rPr lang="zh-CN" altLang="en-US" dirty="0"/>
              <a:t>比如水、能源和温度数据的采集和异常值监控。时序数据库可以支持高效的时序数据分析，识别季节性、均值等数据统计特性</a:t>
            </a:r>
            <a:endParaRPr lang="en-US" altLang="zh-CN" dirty="0"/>
          </a:p>
          <a:p>
            <a:r>
              <a:rPr lang="zh-CN" altLang="en-US" dirty="0"/>
              <a:t>监控互联网服务</a:t>
            </a:r>
            <a:endParaRPr lang="en-US" altLang="zh-CN" dirty="0"/>
          </a:p>
          <a:p>
            <a:pPr lvl="1"/>
            <a:r>
              <a:rPr lang="zh-CN" altLang="en-US" dirty="0"/>
              <a:t>监控互联网服务、应用及部署的基础设施的性能和服务状态等信息。比如监测分布式业务的异常流量，节点故障等关键信息，以实现对异常问题的快速响应</a:t>
            </a:r>
            <a:endParaRPr lang="en-US" altLang="zh-CN" dirty="0"/>
          </a:p>
          <a:p>
            <a:r>
              <a:rPr lang="zh-CN" altLang="en-US" dirty="0"/>
              <a:t>不适用场景</a:t>
            </a:r>
            <a:endParaRPr lang="en-US" altLang="zh-CN" dirty="0"/>
          </a:p>
          <a:p>
            <a:pPr lvl="1"/>
            <a:r>
              <a:rPr lang="zh-CN" altLang="en-US" dirty="0"/>
              <a:t>不具备时序特性或者时序信息非数据关键特征的数据场景不适合使用时序数据库</a:t>
            </a:r>
            <a:endParaRPr kumimoji="1" lang="zh-CN" altLang="en-US" dirty="0"/>
          </a:p>
        </p:txBody>
      </p:sp>
      <p:sp>
        <p:nvSpPr>
          <p:cNvPr id="5" name="Footer Placeholder 4">
            <a:extLst>
              <a:ext uri="{FF2B5EF4-FFF2-40B4-BE49-F238E27FC236}">
                <a16:creationId xmlns:a16="http://schemas.microsoft.com/office/drawing/2014/main" id="{B58A5AD1-DBDD-30B3-FFBA-13E40E47EAF8}"/>
              </a:ext>
            </a:extLst>
          </p:cNvPr>
          <p:cNvSpPr>
            <a:spLocks noGrp="1"/>
          </p:cNvSpPr>
          <p:nvPr>
            <p:ph type="ftr" sz="quarter" idx="3"/>
          </p:nvPr>
        </p:nvSpPr>
        <p:spPr/>
        <p:txBody>
          <a:bodyPr/>
          <a:lstStyle/>
          <a:p>
            <a:pPr>
              <a:defRPr/>
            </a:pPr>
            <a:r>
              <a:rPr lang="zh-CN" altLang="en-US"/>
              <a:t>数据库系统</a:t>
            </a:r>
            <a:r>
              <a:rPr lang="en-US" altLang="zh-CN"/>
              <a:t>—</a:t>
            </a:r>
            <a:endParaRPr lang="en-US" altLang="zh-CN" sz="1200" dirty="0"/>
          </a:p>
        </p:txBody>
      </p:sp>
    </p:spTree>
    <p:extLst>
      <p:ext uri="{BB962C8B-B14F-4D97-AF65-F5344CB8AC3E}">
        <p14:creationId xmlns:p14="http://schemas.microsoft.com/office/powerpoint/2010/main" val="89900254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44F0F1-A447-EC8D-3B05-4C3669AAB7A5}"/>
              </a:ext>
            </a:extLst>
          </p:cNvPr>
          <p:cNvSpPr>
            <a:spLocks noGrp="1"/>
          </p:cNvSpPr>
          <p:nvPr>
            <p:ph type="sldNum" sz="quarter" idx="10"/>
          </p:nvPr>
        </p:nvSpPr>
        <p:spPr/>
        <p:txBody>
          <a:bodyPr/>
          <a:lstStyle/>
          <a:p>
            <a:fld id="{87BBDC00-B9E2-4EFD-9306-2934E87247C6}" type="slidenum">
              <a:rPr lang="zh-CN" altLang="en-US" smtClean="0"/>
              <a:pPr/>
              <a:t>78</a:t>
            </a:fld>
            <a:endParaRPr lang="zh-CN" altLang="en-US"/>
          </a:p>
        </p:txBody>
      </p:sp>
      <p:sp>
        <p:nvSpPr>
          <p:cNvPr id="3" name="Title 2">
            <a:extLst>
              <a:ext uri="{FF2B5EF4-FFF2-40B4-BE49-F238E27FC236}">
                <a16:creationId xmlns:a16="http://schemas.microsoft.com/office/drawing/2014/main" id="{E615EF41-7C5E-90EB-3A58-DBED6B33E07A}"/>
              </a:ext>
            </a:extLst>
          </p:cNvPr>
          <p:cNvSpPr>
            <a:spLocks noGrp="1"/>
          </p:cNvSpPr>
          <p:nvPr>
            <p:ph type="title"/>
          </p:nvPr>
        </p:nvSpPr>
        <p:spPr/>
        <p:txBody>
          <a:bodyPr/>
          <a:lstStyle/>
          <a:p>
            <a:r>
              <a:rPr kumimoji="1" lang="zh-CN" altLang="en-US" dirty="0"/>
              <a:t>多模数据库</a:t>
            </a:r>
            <a:r>
              <a:rPr kumimoji="1" lang="en-US" altLang="zh-CN" dirty="0"/>
              <a:t>——</a:t>
            </a:r>
            <a:r>
              <a:rPr kumimoji="1" lang="zh-CN" altLang="en-US" dirty="0"/>
              <a:t>定义</a:t>
            </a:r>
          </a:p>
        </p:txBody>
      </p:sp>
      <p:sp>
        <p:nvSpPr>
          <p:cNvPr id="4" name="Content Placeholder 3">
            <a:extLst>
              <a:ext uri="{FF2B5EF4-FFF2-40B4-BE49-F238E27FC236}">
                <a16:creationId xmlns:a16="http://schemas.microsoft.com/office/drawing/2014/main" id="{50A61B17-F16C-9F98-C629-8020C7FD6123}"/>
              </a:ext>
            </a:extLst>
          </p:cNvPr>
          <p:cNvSpPr>
            <a:spLocks noGrp="1"/>
          </p:cNvSpPr>
          <p:nvPr>
            <p:ph idx="1"/>
          </p:nvPr>
        </p:nvSpPr>
        <p:spPr/>
        <p:txBody>
          <a:bodyPr/>
          <a:lstStyle/>
          <a:p>
            <a:r>
              <a:rPr lang="zh-CN" altLang="en-US" dirty="0"/>
              <a:t>多模数据库</a:t>
            </a:r>
            <a:r>
              <a:rPr lang="zh-CN" altLang="en-US"/>
              <a:t>是集成同时支持</a:t>
            </a:r>
            <a:r>
              <a:rPr lang="zh-CN" altLang="en-US" dirty="0"/>
              <a:t>多种数据模型的数据库系统</a:t>
            </a:r>
            <a:endParaRPr lang="en-US" altLang="zh-CN" dirty="0"/>
          </a:p>
          <a:p>
            <a:pPr lvl="1"/>
            <a:r>
              <a:rPr lang="zh-CN" altLang="en-US" dirty="0"/>
              <a:t>支持多种数据类型具体包含文档、图、关系数据和键值数据等</a:t>
            </a:r>
            <a:endParaRPr lang="en-US" altLang="zh-CN" dirty="0"/>
          </a:p>
          <a:p>
            <a:endParaRPr lang="en-US" altLang="zh-CN" dirty="0"/>
          </a:p>
          <a:p>
            <a:r>
              <a:rPr lang="zh-CN" altLang="en-US" dirty="0"/>
              <a:t>多模</a:t>
            </a:r>
            <a:r>
              <a:rPr lang="zh-CN" altLang="en-CN" dirty="0"/>
              <a:t>构建</a:t>
            </a:r>
            <a:r>
              <a:rPr lang="zh-CN" altLang="en-US" dirty="0"/>
              <a:t>方式</a:t>
            </a:r>
            <a:endParaRPr lang="en-US" altLang="zh-CN" dirty="0"/>
          </a:p>
          <a:p>
            <a:pPr lvl="1"/>
            <a:r>
              <a:rPr lang="zh-CN" altLang="en-US" dirty="0"/>
              <a:t>深度集成：在同一个数据查询引擎上支持多个数据模型</a:t>
            </a:r>
            <a:endParaRPr lang="en-US" altLang="zh-CN" dirty="0"/>
          </a:p>
          <a:p>
            <a:pPr lvl="1"/>
            <a:r>
              <a:rPr lang="zh-CN" altLang="en-US" dirty="0"/>
              <a:t>中间件集成：支持的不同数据模型的查询引擎基础上建设通用的查询支持接口，不同数据模型的查询服务由相应的引擎支持</a:t>
            </a:r>
            <a:endParaRPr lang="en-CN" dirty="0"/>
          </a:p>
          <a:p>
            <a:endParaRPr kumimoji="1" lang="zh-CN" altLang="en-US" dirty="0"/>
          </a:p>
        </p:txBody>
      </p:sp>
      <p:sp>
        <p:nvSpPr>
          <p:cNvPr id="5" name="Footer Placeholder 4">
            <a:extLst>
              <a:ext uri="{FF2B5EF4-FFF2-40B4-BE49-F238E27FC236}">
                <a16:creationId xmlns:a16="http://schemas.microsoft.com/office/drawing/2014/main" id="{ED49A440-67C0-E32C-EB66-3516CB7846BF}"/>
              </a:ext>
            </a:extLst>
          </p:cNvPr>
          <p:cNvSpPr>
            <a:spLocks noGrp="1"/>
          </p:cNvSpPr>
          <p:nvPr>
            <p:ph type="ftr" sz="quarter" idx="3"/>
          </p:nvPr>
        </p:nvSpPr>
        <p:spPr/>
        <p:txBody>
          <a:bodyPr/>
          <a:lstStyle/>
          <a:p>
            <a:pPr>
              <a:defRPr/>
            </a:pPr>
            <a:r>
              <a:rPr lang="zh-CN" altLang="en-US"/>
              <a:t>数据库系统</a:t>
            </a:r>
            <a:r>
              <a:rPr lang="en-US" altLang="zh-CN"/>
              <a:t>—</a:t>
            </a:r>
            <a:endParaRPr lang="en-US" altLang="zh-CN" sz="1200" dirty="0"/>
          </a:p>
        </p:txBody>
      </p:sp>
    </p:spTree>
    <p:extLst>
      <p:ext uri="{BB962C8B-B14F-4D97-AF65-F5344CB8AC3E}">
        <p14:creationId xmlns:p14="http://schemas.microsoft.com/office/powerpoint/2010/main" val="14961364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EBE369-7FBE-F084-2327-13C1B6A1A270}"/>
              </a:ext>
            </a:extLst>
          </p:cNvPr>
          <p:cNvSpPr>
            <a:spLocks noGrp="1"/>
          </p:cNvSpPr>
          <p:nvPr>
            <p:ph type="sldNum" sz="quarter" idx="10"/>
          </p:nvPr>
        </p:nvSpPr>
        <p:spPr/>
        <p:txBody>
          <a:bodyPr/>
          <a:lstStyle/>
          <a:p>
            <a:fld id="{87BBDC00-B9E2-4EFD-9306-2934E87247C6}" type="slidenum">
              <a:rPr lang="zh-CN" altLang="en-US" smtClean="0"/>
              <a:pPr/>
              <a:t>79</a:t>
            </a:fld>
            <a:endParaRPr lang="zh-CN" altLang="en-US"/>
          </a:p>
        </p:txBody>
      </p:sp>
      <p:sp>
        <p:nvSpPr>
          <p:cNvPr id="3" name="Title 2">
            <a:extLst>
              <a:ext uri="{FF2B5EF4-FFF2-40B4-BE49-F238E27FC236}">
                <a16:creationId xmlns:a16="http://schemas.microsoft.com/office/drawing/2014/main" id="{5CD80559-BEE7-4F83-2255-1F99A5B724D8}"/>
              </a:ext>
            </a:extLst>
          </p:cNvPr>
          <p:cNvSpPr>
            <a:spLocks noGrp="1"/>
          </p:cNvSpPr>
          <p:nvPr>
            <p:ph type="title"/>
          </p:nvPr>
        </p:nvSpPr>
        <p:spPr/>
        <p:txBody>
          <a:bodyPr/>
          <a:lstStyle/>
          <a:p>
            <a:r>
              <a:rPr kumimoji="1" lang="zh-CN" altLang="en-US" dirty="0"/>
              <a:t>多模数据库</a:t>
            </a:r>
            <a:r>
              <a:rPr kumimoji="1" lang="en-US" altLang="zh-CN" dirty="0"/>
              <a:t>——</a:t>
            </a:r>
            <a:r>
              <a:rPr kumimoji="1" lang="zh-CN" altLang="en-US" dirty="0"/>
              <a:t>应用场景</a:t>
            </a:r>
          </a:p>
        </p:txBody>
      </p:sp>
      <p:sp>
        <p:nvSpPr>
          <p:cNvPr id="4" name="Content Placeholder 3">
            <a:extLst>
              <a:ext uri="{FF2B5EF4-FFF2-40B4-BE49-F238E27FC236}">
                <a16:creationId xmlns:a16="http://schemas.microsoft.com/office/drawing/2014/main" id="{BE6EEABB-79F0-E82D-FD41-ACA02012DCF4}"/>
              </a:ext>
            </a:extLst>
          </p:cNvPr>
          <p:cNvSpPr>
            <a:spLocks noGrp="1"/>
          </p:cNvSpPr>
          <p:nvPr>
            <p:ph idx="1"/>
          </p:nvPr>
        </p:nvSpPr>
        <p:spPr/>
        <p:txBody>
          <a:bodyPr/>
          <a:lstStyle/>
          <a:p>
            <a:r>
              <a:rPr lang="zh-CN" altLang="en-US" dirty="0"/>
              <a:t>统一管理多种异构数据</a:t>
            </a:r>
            <a:endParaRPr lang="en-US" altLang="zh-CN" dirty="0"/>
          </a:p>
          <a:p>
            <a:pPr lvl="1"/>
            <a:r>
              <a:rPr lang="zh-CN" altLang="en-US" dirty="0"/>
              <a:t>多模数据库实现在单个数据库中存储多种数据模型的异构数据。比如，需要同时支持有关系数据、</a:t>
            </a:r>
            <a:r>
              <a:rPr lang="en-US" dirty="0"/>
              <a:t>JSON</a:t>
            </a:r>
            <a:r>
              <a:rPr lang="zh-CN" altLang="en-US" dirty="0"/>
              <a:t>数据和图数据搜索的应用场景</a:t>
            </a:r>
            <a:endParaRPr lang="en-US" altLang="zh-CN" dirty="0"/>
          </a:p>
          <a:p>
            <a:r>
              <a:rPr lang="zh-CN" altLang="en-US" dirty="0"/>
              <a:t>实现多种</a:t>
            </a:r>
            <a:r>
              <a:rPr lang="en-US" dirty="0"/>
              <a:t>NoSQL</a:t>
            </a:r>
            <a:r>
              <a:rPr lang="zh-CN" altLang="en-US" dirty="0"/>
              <a:t>数据库特性支持</a:t>
            </a:r>
            <a:endParaRPr lang="en-US" altLang="zh-CN" dirty="0"/>
          </a:p>
          <a:p>
            <a:pPr lvl="1"/>
            <a:r>
              <a:rPr lang="zh-CN" altLang="en-US" dirty="0"/>
              <a:t>比如给</a:t>
            </a:r>
            <a:r>
              <a:rPr lang="en-US" dirty="0"/>
              <a:t>JSON</a:t>
            </a:r>
            <a:r>
              <a:rPr lang="zh-CN" altLang="en-US" dirty="0"/>
              <a:t>数据提供</a:t>
            </a:r>
            <a:r>
              <a:rPr lang="en-US" dirty="0"/>
              <a:t>SQL</a:t>
            </a:r>
            <a:r>
              <a:rPr lang="zh-CN" altLang="en-US" dirty="0"/>
              <a:t>查询接口支持，再比如对</a:t>
            </a:r>
            <a:r>
              <a:rPr lang="en-US" dirty="0"/>
              <a:t>XML</a:t>
            </a:r>
            <a:r>
              <a:rPr lang="zh-CN" altLang="en-US" dirty="0"/>
              <a:t>数据通过</a:t>
            </a:r>
            <a:r>
              <a:rPr lang="en-US" dirty="0"/>
              <a:t>JSON</a:t>
            </a:r>
            <a:r>
              <a:rPr lang="zh-CN" altLang="en-US" dirty="0"/>
              <a:t>格式访问等类似需求</a:t>
            </a:r>
            <a:endParaRPr lang="en-US" altLang="zh-CN" dirty="0"/>
          </a:p>
          <a:p>
            <a:r>
              <a:rPr kumimoji="1" lang="zh-CN" altLang="en-US" dirty="0"/>
              <a:t>不适用场景</a:t>
            </a:r>
            <a:endParaRPr kumimoji="1" lang="en-US" altLang="zh-CN" dirty="0"/>
          </a:p>
          <a:p>
            <a:pPr lvl="1"/>
            <a:r>
              <a:rPr lang="zh-CN" altLang="en-US" dirty="0"/>
              <a:t>单一简单数据源应用场景，使用多模数据库只会增加复杂度，而使用专用数据模型数据库有更多特性支持，有更好性能优化</a:t>
            </a:r>
            <a:endParaRPr kumimoji="1" lang="zh-CN" altLang="en-US" dirty="0"/>
          </a:p>
        </p:txBody>
      </p:sp>
      <p:sp>
        <p:nvSpPr>
          <p:cNvPr id="5" name="Footer Placeholder 4">
            <a:extLst>
              <a:ext uri="{FF2B5EF4-FFF2-40B4-BE49-F238E27FC236}">
                <a16:creationId xmlns:a16="http://schemas.microsoft.com/office/drawing/2014/main" id="{AE2E40E1-42DB-4EE0-3B4C-BF9B13E1FA83}"/>
              </a:ext>
            </a:extLst>
          </p:cNvPr>
          <p:cNvSpPr>
            <a:spLocks noGrp="1"/>
          </p:cNvSpPr>
          <p:nvPr>
            <p:ph type="ftr" sz="quarter" idx="3"/>
          </p:nvPr>
        </p:nvSpPr>
        <p:spPr/>
        <p:txBody>
          <a:bodyPr/>
          <a:lstStyle/>
          <a:p>
            <a:pPr>
              <a:defRPr/>
            </a:pPr>
            <a:r>
              <a:rPr lang="zh-CN" altLang="en-US"/>
              <a:t>数据库系统</a:t>
            </a:r>
            <a:r>
              <a:rPr lang="en-US" altLang="zh-CN"/>
              <a:t>—</a:t>
            </a:r>
            <a:endParaRPr lang="en-US" altLang="zh-CN" sz="1200" dirty="0"/>
          </a:p>
        </p:txBody>
      </p:sp>
    </p:spTree>
    <p:extLst>
      <p:ext uri="{BB962C8B-B14F-4D97-AF65-F5344CB8AC3E}">
        <p14:creationId xmlns:p14="http://schemas.microsoft.com/office/powerpoint/2010/main" val="330287018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latin typeface="Times" pitchFamily="2" charset="0"/>
              </a:rPr>
              <a:t>常见的</a:t>
            </a:r>
            <a:r>
              <a:rPr kumimoji="1" lang="en-US" altLang="zh-CN" dirty="0">
                <a:latin typeface="Times" pitchFamily="2" charset="0"/>
              </a:rPr>
              <a:t>NoSQL</a:t>
            </a:r>
            <a:r>
              <a:rPr kumimoji="1" lang="zh-CN" altLang="en-US" dirty="0">
                <a:latin typeface="Times" pitchFamily="2" charset="0"/>
              </a:rPr>
              <a:t>数据库</a:t>
            </a:r>
          </a:p>
        </p:txBody>
      </p:sp>
      <p:graphicFrame>
        <p:nvGraphicFramePr>
          <p:cNvPr id="20" name="表格 19">
            <a:extLst>
              <a:ext uri="{FF2B5EF4-FFF2-40B4-BE49-F238E27FC236}">
                <a16:creationId xmlns:a16="http://schemas.microsoft.com/office/drawing/2014/main" id="{1BA4AEAE-BCF4-D8C4-2DE0-2465637F4BCD}"/>
              </a:ext>
            </a:extLst>
          </p:cNvPr>
          <p:cNvGraphicFramePr>
            <a:graphicFrameLocks noGrp="1"/>
          </p:cNvGraphicFramePr>
          <p:nvPr>
            <p:extLst>
              <p:ext uri="{D42A27DB-BD31-4B8C-83A1-F6EECF244321}">
                <p14:modId xmlns:p14="http://schemas.microsoft.com/office/powerpoint/2010/main" val="3084549922"/>
              </p:ext>
            </p:extLst>
          </p:nvPr>
        </p:nvGraphicFramePr>
        <p:xfrm>
          <a:off x="441800" y="1787858"/>
          <a:ext cx="11295275" cy="3799668"/>
        </p:xfrm>
        <a:graphic>
          <a:graphicData uri="http://schemas.openxmlformats.org/drawingml/2006/table">
            <a:tbl>
              <a:tblPr firstRow="1" firstCol="1" bandRow="1">
                <a:tableStyleId>{5C22544A-7EE6-4342-B048-85BDC9FD1C3A}</a:tableStyleId>
              </a:tblPr>
              <a:tblGrid>
                <a:gridCol w="2123979">
                  <a:extLst>
                    <a:ext uri="{9D8B030D-6E8A-4147-A177-3AD203B41FA5}">
                      <a16:colId xmlns:a16="http://schemas.microsoft.com/office/drawing/2014/main" val="3695984029"/>
                    </a:ext>
                  </a:extLst>
                </a:gridCol>
                <a:gridCol w="3111690">
                  <a:extLst>
                    <a:ext uri="{9D8B030D-6E8A-4147-A177-3AD203B41FA5}">
                      <a16:colId xmlns:a16="http://schemas.microsoft.com/office/drawing/2014/main" val="112659021"/>
                    </a:ext>
                  </a:extLst>
                </a:gridCol>
                <a:gridCol w="6059606">
                  <a:extLst>
                    <a:ext uri="{9D8B030D-6E8A-4147-A177-3AD203B41FA5}">
                      <a16:colId xmlns:a16="http://schemas.microsoft.com/office/drawing/2014/main" val="547222671"/>
                    </a:ext>
                  </a:extLst>
                </a:gridCol>
              </a:tblGrid>
              <a:tr h="615288">
                <a:tc gridSpan="2">
                  <a:txBody>
                    <a:bodyPr/>
                    <a:lstStyle/>
                    <a:p>
                      <a:pPr indent="127000" algn="ctr">
                        <a:lnSpc>
                          <a:spcPct val="150000"/>
                        </a:lnSpc>
                      </a:pPr>
                      <a:r>
                        <a:rPr lang="zh-CN" altLang="en-US" sz="2800" kern="100" dirty="0">
                          <a:effectLst/>
                          <a:latin typeface="Times" pitchFamily="2" charset="0"/>
                          <a:ea typeface="SimHei" panose="02010609060101010101" pitchFamily="49" charset="-122"/>
                        </a:rPr>
                        <a:t>主要</a:t>
                      </a:r>
                      <a:r>
                        <a:rPr lang="zh-CN" sz="2800" kern="100" dirty="0">
                          <a:effectLst/>
                          <a:latin typeface="Times" pitchFamily="2" charset="0"/>
                          <a:ea typeface="SimHei" panose="02010609060101010101" pitchFamily="49" charset="-122"/>
                        </a:rPr>
                        <a:t>类型</a:t>
                      </a:r>
                      <a:endParaRPr lang="zh-CN" sz="28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hMerge="1">
                  <a:txBody>
                    <a:bodyPr/>
                    <a:lstStyle/>
                    <a:p>
                      <a:endParaRPr lang="zh-CN" altLang="en-US"/>
                    </a:p>
                  </a:txBody>
                  <a:tcPr/>
                </a:tc>
                <a:tc>
                  <a:txBody>
                    <a:bodyPr/>
                    <a:lstStyle/>
                    <a:p>
                      <a:pPr indent="127000" algn="ctr">
                        <a:lnSpc>
                          <a:spcPct val="150000"/>
                        </a:lnSpc>
                      </a:pPr>
                      <a:r>
                        <a:rPr lang="en-US" sz="2800" kern="100" dirty="0">
                          <a:effectLst/>
                          <a:latin typeface="Times" pitchFamily="2" charset="0"/>
                          <a:ea typeface="SimHei" panose="02010609060101010101" pitchFamily="49" charset="-122"/>
                        </a:rPr>
                        <a:t>NoSQL</a:t>
                      </a:r>
                      <a:r>
                        <a:rPr lang="zh-CN" sz="2800" kern="100" dirty="0">
                          <a:effectLst/>
                          <a:latin typeface="Times" pitchFamily="2" charset="0"/>
                          <a:ea typeface="SimHei" panose="02010609060101010101" pitchFamily="49" charset="-122"/>
                        </a:rPr>
                        <a:t>数据库产品（示例）</a:t>
                      </a:r>
                      <a:endParaRPr lang="zh-CN" sz="28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70049251"/>
                  </a:ext>
                </a:extLst>
              </a:tr>
              <a:tr h="289094">
                <a:tc rowSpan="3">
                  <a:txBody>
                    <a:bodyPr/>
                    <a:lstStyle/>
                    <a:p>
                      <a:pPr indent="127000" algn="just">
                        <a:lnSpc>
                          <a:spcPct val="150000"/>
                        </a:lnSpc>
                      </a:pPr>
                      <a:r>
                        <a:rPr lang="zh-CN" sz="2800" kern="100" dirty="0">
                          <a:effectLst/>
                          <a:latin typeface="Times" pitchFamily="2" charset="0"/>
                          <a:ea typeface="SimHei" panose="02010609060101010101" pitchFamily="49" charset="-122"/>
                        </a:rPr>
                        <a:t>键值数据库</a:t>
                      </a:r>
                      <a:endParaRPr lang="zh-CN" sz="28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just">
                        <a:lnSpc>
                          <a:spcPct val="150000"/>
                        </a:lnSpc>
                      </a:pPr>
                      <a:r>
                        <a:rPr lang="zh-CN" sz="2400" b="1" kern="100" dirty="0">
                          <a:effectLst/>
                          <a:latin typeface="Times" pitchFamily="2" charset="0"/>
                          <a:ea typeface="SimHei" panose="02010609060101010101" pitchFamily="49" charset="-122"/>
                        </a:rPr>
                        <a:t>内存键值存储</a:t>
                      </a:r>
                      <a:endParaRPr lang="zh-CN" sz="2400" b="1"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just">
                        <a:lnSpc>
                          <a:spcPct val="150000"/>
                        </a:lnSpc>
                      </a:pPr>
                      <a:r>
                        <a:rPr lang="en-US" sz="2400" b="1" kern="100">
                          <a:effectLst/>
                          <a:latin typeface="Times" pitchFamily="2" charset="0"/>
                          <a:ea typeface="SimHei" panose="02010609060101010101" pitchFamily="49" charset="-122"/>
                        </a:rPr>
                        <a:t>Redis, Memcached</a:t>
                      </a:r>
                      <a:endParaRPr lang="zh-CN" sz="2400" b="1" kern="10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7267641"/>
                  </a:ext>
                </a:extLst>
              </a:tr>
              <a:tr h="289094">
                <a:tc vMerge="1">
                  <a:txBody>
                    <a:bodyPr/>
                    <a:lstStyle/>
                    <a:p>
                      <a:endParaRPr lang="zh-CN" altLang="en-US"/>
                    </a:p>
                  </a:txBody>
                  <a:tcPr/>
                </a:tc>
                <a:tc>
                  <a:txBody>
                    <a:bodyPr/>
                    <a:lstStyle/>
                    <a:p>
                      <a:pPr indent="127000" algn="just">
                        <a:lnSpc>
                          <a:spcPct val="150000"/>
                        </a:lnSpc>
                      </a:pPr>
                      <a:r>
                        <a:rPr lang="zh-CN" sz="2400" b="1" kern="100" dirty="0">
                          <a:effectLst/>
                          <a:latin typeface="Times" pitchFamily="2" charset="0"/>
                          <a:ea typeface="SimHei" panose="02010609060101010101" pitchFamily="49" charset="-122"/>
                        </a:rPr>
                        <a:t>最终一致性键值存储</a:t>
                      </a:r>
                      <a:endParaRPr lang="zh-CN" sz="2400" b="1"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just">
                        <a:lnSpc>
                          <a:spcPct val="150000"/>
                        </a:lnSpc>
                      </a:pPr>
                      <a:r>
                        <a:rPr lang="en-US" sz="2400" b="1" kern="100" dirty="0">
                          <a:effectLst/>
                          <a:latin typeface="Times" pitchFamily="2" charset="0"/>
                          <a:ea typeface="SimHei" panose="02010609060101010101" pitchFamily="49" charset="-122"/>
                        </a:rPr>
                        <a:t>Dynamo, </a:t>
                      </a:r>
                      <a:r>
                        <a:rPr lang="en-US" sz="2400" b="1" kern="100" dirty="0" err="1">
                          <a:effectLst/>
                          <a:latin typeface="Times" pitchFamily="2" charset="0"/>
                          <a:ea typeface="SimHei" panose="02010609060101010101" pitchFamily="49" charset="-122"/>
                        </a:rPr>
                        <a:t>Riak</a:t>
                      </a:r>
                      <a:r>
                        <a:rPr lang="en-US" sz="2400" b="1" kern="100" dirty="0">
                          <a:effectLst/>
                          <a:latin typeface="Times" pitchFamily="2" charset="0"/>
                          <a:ea typeface="SimHei" panose="02010609060101010101" pitchFamily="49" charset="-122"/>
                        </a:rPr>
                        <a:t> KV</a:t>
                      </a:r>
                      <a:endParaRPr lang="zh-CN" sz="2400" b="1"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05919548"/>
                  </a:ext>
                </a:extLst>
              </a:tr>
              <a:tr h="289094">
                <a:tc vMerge="1">
                  <a:txBody>
                    <a:bodyPr/>
                    <a:lstStyle/>
                    <a:p>
                      <a:endParaRPr lang="zh-CN" altLang="en-US"/>
                    </a:p>
                  </a:txBody>
                  <a:tcPr/>
                </a:tc>
                <a:tc>
                  <a:txBody>
                    <a:bodyPr/>
                    <a:lstStyle/>
                    <a:p>
                      <a:pPr indent="127000" algn="just">
                        <a:lnSpc>
                          <a:spcPct val="150000"/>
                        </a:lnSpc>
                      </a:pPr>
                      <a:r>
                        <a:rPr lang="zh-CN" sz="2400" b="1" kern="100" dirty="0">
                          <a:effectLst/>
                          <a:latin typeface="Times" pitchFamily="2" charset="0"/>
                          <a:ea typeface="SimHei" panose="02010609060101010101" pitchFamily="49" charset="-122"/>
                        </a:rPr>
                        <a:t>持久化键值存储</a:t>
                      </a:r>
                      <a:endParaRPr lang="zh-CN" sz="2400" b="1"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a:txBody>
                    <a:bodyPr/>
                    <a:lstStyle/>
                    <a:p>
                      <a:pPr indent="127000" algn="just">
                        <a:lnSpc>
                          <a:spcPct val="150000"/>
                        </a:lnSpc>
                      </a:pPr>
                      <a:r>
                        <a:rPr lang="en-US" sz="2400" b="1" kern="100" dirty="0" err="1">
                          <a:effectLst/>
                          <a:latin typeface="Times" pitchFamily="2" charset="0"/>
                          <a:ea typeface="SimHei" panose="02010609060101010101" pitchFamily="49" charset="-122"/>
                        </a:rPr>
                        <a:t>LevelDB</a:t>
                      </a:r>
                      <a:r>
                        <a:rPr lang="en-US" sz="2400" b="1" kern="100" dirty="0">
                          <a:effectLst/>
                          <a:latin typeface="Times" pitchFamily="2" charset="0"/>
                          <a:ea typeface="SimHei" panose="02010609060101010101" pitchFamily="49" charset="-122"/>
                        </a:rPr>
                        <a:t>, </a:t>
                      </a:r>
                      <a:r>
                        <a:rPr lang="en-US" sz="2400" b="1" kern="100" dirty="0" err="1">
                          <a:effectLst/>
                          <a:latin typeface="Times" pitchFamily="2" charset="0"/>
                          <a:ea typeface="SimHei" panose="02010609060101010101" pitchFamily="49" charset="-122"/>
                        </a:rPr>
                        <a:t>Tarantool</a:t>
                      </a:r>
                      <a:endParaRPr lang="zh-CN" sz="2400" b="1"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7880299"/>
                  </a:ext>
                </a:extLst>
              </a:tr>
              <a:tr h="617518">
                <a:tc gridSpan="2">
                  <a:txBody>
                    <a:bodyPr/>
                    <a:lstStyle/>
                    <a:p>
                      <a:pPr indent="127000" algn="just">
                        <a:lnSpc>
                          <a:spcPct val="150000"/>
                        </a:lnSpc>
                      </a:pPr>
                      <a:r>
                        <a:rPr lang="zh-CN" sz="2800" kern="100" dirty="0">
                          <a:effectLst/>
                          <a:latin typeface="Times" pitchFamily="2" charset="0"/>
                          <a:ea typeface="SimHei" panose="02010609060101010101" pitchFamily="49" charset="-122"/>
                        </a:rPr>
                        <a:t>列族数据库</a:t>
                      </a:r>
                      <a:endParaRPr lang="zh-CN" sz="28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hMerge="1">
                  <a:txBody>
                    <a:bodyPr/>
                    <a:lstStyle/>
                    <a:p>
                      <a:endParaRPr lang="zh-CN" altLang="en-US"/>
                    </a:p>
                  </a:txBody>
                  <a:tcPr/>
                </a:tc>
                <a:tc>
                  <a:txBody>
                    <a:bodyPr/>
                    <a:lstStyle/>
                    <a:p>
                      <a:pPr indent="127000" algn="just">
                        <a:lnSpc>
                          <a:spcPct val="150000"/>
                        </a:lnSpc>
                      </a:pPr>
                      <a:r>
                        <a:rPr lang="en-US" sz="2400" b="1" kern="100" dirty="0">
                          <a:effectLst/>
                          <a:latin typeface="Times" pitchFamily="2" charset="0"/>
                          <a:ea typeface="SimHei" panose="02010609060101010101" pitchFamily="49" charset="-122"/>
                        </a:rPr>
                        <a:t>Cassandra, </a:t>
                      </a:r>
                      <a:r>
                        <a:rPr lang="en-US" sz="2400" b="1" kern="100" dirty="0" err="1">
                          <a:effectLst/>
                          <a:latin typeface="Times" pitchFamily="2" charset="0"/>
                          <a:ea typeface="SimHei" panose="02010609060101010101" pitchFamily="49" charset="-122"/>
                        </a:rPr>
                        <a:t>Hbase</a:t>
                      </a:r>
                      <a:r>
                        <a:rPr lang="en-US" sz="2400" b="1" kern="100" dirty="0">
                          <a:effectLst/>
                          <a:latin typeface="Times" pitchFamily="2" charset="0"/>
                          <a:ea typeface="SimHei" panose="02010609060101010101" pitchFamily="49" charset="-122"/>
                        </a:rPr>
                        <a:t>, Google </a:t>
                      </a:r>
                      <a:r>
                        <a:rPr lang="en-US" sz="2400" b="1" kern="100" dirty="0" err="1">
                          <a:effectLst/>
                          <a:latin typeface="Times" pitchFamily="2" charset="0"/>
                          <a:ea typeface="SimHei" panose="02010609060101010101" pitchFamily="49" charset="-122"/>
                        </a:rPr>
                        <a:t>BigTable</a:t>
                      </a:r>
                      <a:endParaRPr lang="zh-CN" sz="2400" b="1"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62627019"/>
                  </a:ext>
                </a:extLst>
              </a:tr>
              <a:tr h="289094">
                <a:tc gridSpan="2">
                  <a:txBody>
                    <a:bodyPr/>
                    <a:lstStyle/>
                    <a:p>
                      <a:pPr indent="127000" algn="just">
                        <a:lnSpc>
                          <a:spcPct val="150000"/>
                        </a:lnSpc>
                      </a:pPr>
                      <a:r>
                        <a:rPr lang="zh-CN" sz="2800" kern="100" dirty="0">
                          <a:effectLst/>
                          <a:latin typeface="Times" pitchFamily="2" charset="0"/>
                          <a:ea typeface="SimHei" panose="02010609060101010101" pitchFamily="49" charset="-122"/>
                        </a:rPr>
                        <a:t>文档数据库</a:t>
                      </a:r>
                      <a:endParaRPr lang="zh-CN" sz="28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hMerge="1">
                  <a:txBody>
                    <a:bodyPr/>
                    <a:lstStyle/>
                    <a:p>
                      <a:endParaRPr lang="zh-CN" altLang="en-US"/>
                    </a:p>
                  </a:txBody>
                  <a:tcPr/>
                </a:tc>
                <a:tc>
                  <a:txBody>
                    <a:bodyPr/>
                    <a:lstStyle/>
                    <a:p>
                      <a:pPr indent="127000" algn="just">
                        <a:lnSpc>
                          <a:spcPct val="150000"/>
                        </a:lnSpc>
                      </a:pPr>
                      <a:r>
                        <a:rPr lang="en-US" sz="2400" b="1" kern="100" dirty="0">
                          <a:effectLst/>
                          <a:latin typeface="Times" pitchFamily="2" charset="0"/>
                          <a:ea typeface="SimHei" panose="02010609060101010101" pitchFamily="49" charset="-122"/>
                        </a:rPr>
                        <a:t>MongoDB, CouchDB</a:t>
                      </a:r>
                      <a:endParaRPr lang="zh-CN" sz="2400" b="1"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8643525"/>
                  </a:ext>
                </a:extLst>
              </a:tr>
              <a:tr h="289094">
                <a:tc gridSpan="2">
                  <a:txBody>
                    <a:bodyPr/>
                    <a:lstStyle/>
                    <a:p>
                      <a:pPr indent="127000" algn="just">
                        <a:lnSpc>
                          <a:spcPct val="150000"/>
                        </a:lnSpc>
                      </a:pPr>
                      <a:r>
                        <a:rPr lang="zh-CN" sz="2800" kern="100" dirty="0">
                          <a:effectLst/>
                          <a:latin typeface="Times" pitchFamily="2" charset="0"/>
                          <a:ea typeface="SimHei" panose="02010609060101010101" pitchFamily="49" charset="-122"/>
                        </a:rPr>
                        <a:t>图数据库</a:t>
                      </a:r>
                      <a:endParaRPr lang="zh-CN" sz="2800"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tc hMerge="1">
                  <a:txBody>
                    <a:bodyPr/>
                    <a:lstStyle/>
                    <a:p>
                      <a:endParaRPr lang="zh-CN" altLang="en-US"/>
                    </a:p>
                  </a:txBody>
                  <a:tcPr/>
                </a:tc>
                <a:tc>
                  <a:txBody>
                    <a:bodyPr/>
                    <a:lstStyle/>
                    <a:p>
                      <a:pPr indent="127000" algn="just">
                        <a:lnSpc>
                          <a:spcPct val="150000"/>
                        </a:lnSpc>
                      </a:pPr>
                      <a:r>
                        <a:rPr lang="en-US" sz="2400" b="1" kern="100" dirty="0">
                          <a:effectLst/>
                          <a:latin typeface="Times" pitchFamily="2" charset="0"/>
                          <a:ea typeface="SimHei" panose="02010609060101010101" pitchFamily="49" charset="-122"/>
                        </a:rPr>
                        <a:t>Neo4J, </a:t>
                      </a:r>
                      <a:r>
                        <a:rPr lang="en-US" sz="2400" b="1" kern="100" dirty="0" err="1">
                          <a:effectLst/>
                          <a:latin typeface="Times" pitchFamily="2" charset="0"/>
                          <a:ea typeface="SimHei" panose="02010609060101010101" pitchFamily="49" charset="-122"/>
                        </a:rPr>
                        <a:t>FlockDB</a:t>
                      </a:r>
                      <a:endParaRPr lang="zh-CN" sz="2400" b="1" kern="100" dirty="0">
                        <a:effectLst/>
                        <a:latin typeface="Times" pitchFamily="2" charset="0"/>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8617397"/>
                  </a:ext>
                </a:extLst>
              </a:tr>
            </a:tbl>
          </a:graphicData>
        </a:graphic>
      </p:graphicFrame>
      <p:sp>
        <p:nvSpPr>
          <p:cNvPr id="4" name="灯片编号占位符 1">
            <a:extLst>
              <a:ext uri="{FF2B5EF4-FFF2-40B4-BE49-F238E27FC236}">
                <a16:creationId xmlns:a16="http://schemas.microsoft.com/office/drawing/2014/main" id="{B86BA425-213D-7855-45D4-6EC1AE8450CD}"/>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latin typeface="Times" pitchFamily="2" charset="0"/>
              </a:rPr>
              <a:pPr/>
              <a:t>80</a:t>
            </a:fld>
            <a:endParaRPr lang="zh-CN" altLang="en-US" dirty="0">
              <a:latin typeface="Times" pitchFamily="2" charset="0"/>
            </a:endParaRPr>
          </a:p>
        </p:txBody>
      </p:sp>
    </p:spTree>
    <p:extLst>
      <p:ext uri="{BB962C8B-B14F-4D97-AF65-F5344CB8AC3E}">
        <p14:creationId xmlns:p14="http://schemas.microsoft.com/office/powerpoint/2010/main" val="38570327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p:txBody>
          <a:bodyPr/>
          <a:lstStyle/>
          <a:p>
            <a:pPr>
              <a:buFont typeface="Wingdings" pitchFamily="2" charset="2"/>
              <a:buChar char="l"/>
            </a:pPr>
            <a:r>
              <a:rPr lang="zh-CN" altLang="en-US" sz="2800" dirty="0">
                <a:solidFill>
                  <a:schemeClr val="tx1">
                    <a:lumMod val="50000"/>
                    <a:lumOff val="50000"/>
                  </a:schemeClr>
                </a:solidFill>
                <a:latin typeface="Times" pitchFamily="2" charset="0"/>
              </a:rPr>
              <a:t>层次和网状数据库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关系数据库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en-US" altLang="zh-CN" sz="2800" dirty="0">
                <a:solidFill>
                  <a:schemeClr val="tx1">
                    <a:lumMod val="50000"/>
                    <a:lumOff val="50000"/>
                  </a:schemeClr>
                </a:solidFill>
                <a:latin typeface="Times" pitchFamily="2" charset="0"/>
              </a:rPr>
              <a:t>OLTP</a:t>
            </a:r>
            <a:r>
              <a:rPr lang="zh-CN" altLang="en-US" sz="2800" dirty="0">
                <a:solidFill>
                  <a:schemeClr val="tx1">
                    <a:lumMod val="50000"/>
                    <a:lumOff val="50000"/>
                  </a:schemeClr>
                </a:solidFill>
                <a:latin typeface="Times" pitchFamily="2" charset="0"/>
              </a:rPr>
              <a:t>、</a:t>
            </a:r>
            <a:r>
              <a:rPr lang="en-US" altLang="zh-CN" sz="2800" dirty="0">
                <a:solidFill>
                  <a:schemeClr val="tx1">
                    <a:lumMod val="50000"/>
                    <a:lumOff val="50000"/>
                  </a:schemeClr>
                </a:solidFill>
                <a:latin typeface="Times" pitchFamily="2" charset="0"/>
              </a:rPr>
              <a:t>OLAP</a:t>
            </a:r>
            <a:r>
              <a:rPr lang="zh-CN" altLang="en-US" sz="2800" dirty="0">
                <a:solidFill>
                  <a:schemeClr val="tx1">
                    <a:lumMod val="50000"/>
                    <a:lumOff val="50000"/>
                  </a:schemeClr>
                </a:solidFill>
                <a:latin typeface="Times" pitchFamily="2" charset="0"/>
              </a:rPr>
              <a:t>与</a:t>
            </a:r>
            <a:r>
              <a:rPr lang="en-US" altLang="zh-CN" sz="2800" dirty="0">
                <a:solidFill>
                  <a:schemeClr val="tx1">
                    <a:lumMod val="50000"/>
                    <a:lumOff val="50000"/>
                  </a:schemeClr>
                </a:solidFill>
                <a:latin typeface="Times" pitchFamily="2" charset="0"/>
              </a:rPr>
              <a:t>HTAP</a:t>
            </a:r>
            <a:r>
              <a:rPr lang="zh-CN" altLang="en-US" sz="2800" dirty="0">
                <a:solidFill>
                  <a:schemeClr val="tx1">
                    <a:lumMod val="50000"/>
                    <a:lumOff val="50000"/>
                  </a:schemeClr>
                </a:solidFill>
                <a:latin typeface="Times" pitchFamily="2" charset="0"/>
              </a:rPr>
              <a:t>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en-US" altLang="zh-CN" sz="2800" dirty="0">
                <a:solidFill>
                  <a:schemeClr val="tx1">
                    <a:lumMod val="50000"/>
                    <a:lumOff val="50000"/>
                  </a:schemeClr>
                </a:solidFill>
                <a:latin typeface="Times" pitchFamily="2" charset="0"/>
              </a:rPr>
              <a:t>NoSQL</a:t>
            </a:r>
            <a:r>
              <a:rPr lang="zh-CN" altLang="en-US" sz="2800" dirty="0">
                <a:solidFill>
                  <a:schemeClr val="tx1">
                    <a:lumMod val="50000"/>
                    <a:lumOff val="50000"/>
                  </a:schemeClr>
                </a:solidFill>
                <a:latin typeface="Times" pitchFamily="2" charset="0"/>
              </a:rPr>
              <a:t>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latin typeface="Times" pitchFamily="2" charset="0"/>
              </a:rPr>
              <a:t>分布式数据库</a:t>
            </a:r>
            <a:endParaRPr lang="en-US" altLang="zh-CN" sz="2800" dirty="0">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内存数据库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云数据库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其它类型数据库</a:t>
            </a:r>
            <a:endParaRPr lang="en-US" altLang="zh-CN" sz="28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实时数据库</a:t>
            </a:r>
            <a:endParaRPr lang="en-US" altLang="zh-CN" sz="24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并行数据库</a:t>
            </a:r>
            <a:endParaRPr lang="en-US" altLang="zh-CN" sz="24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终端数据库</a:t>
            </a: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数据库发展史概览</a:t>
            </a:r>
          </a:p>
        </p:txBody>
      </p:sp>
      <p:pic>
        <p:nvPicPr>
          <p:cNvPr id="4" name="图片 3">
            <a:extLst>
              <a:ext uri="{FF2B5EF4-FFF2-40B4-BE49-F238E27FC236}">
                <a16:creationId xmlns:a16="http://schemas.microsoft.com/office/drawing/2014/main" id="{60ED12C6-759A-07BF-765A-0E56422F1245}"/>
              </a:ext>
            </a:extLst>
          </p:cNvPr>
          <p:cNvPicPr>
            <a:picLocks noChangeAspect="1"/>
          </p:cNvPicPr>
          <p:nvPr/>
        </p:nvPicPr>
        <p:blipFill>
          <a:blip r:embed="rId2"/>
          <a:stretch>
            <a:fillRect/>
          </a:stretch>
        </p:blipFill>
        <p:spPr>
          <a:xfrm>
            <a:off x="8859520" y="4958475"/>
            <a:ext cx="2810510" cy="1689950"/>
          </a:xfrm>
          <a:prstGeom prst="rect">
            <a:avLst/>
          </a:prstGeom>
        </p:spPr>
      </p:pic>
      <p:pic>
        <p:nvPicPr>
          <p:cNvPr id="5" name="Picture 2" descr="PostgreSQL Elephant Logo">
            <a:extLst>
              <a:ext uri="{FF2B5EF4-FFF2-40B4-BE49-F238E27FC236}">
                <a16:creationId xmlns:a16="http://schemas.microsoft.com/office/drawing/2014/main" id="{9AC9BF95-67D0-3871-2C06-C04A69BB7E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4420" y="5212823"/>
            <a:ext cx="1353185" cy="139583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Neo4j logo">
            <a:extLst>
              <a:ext uri="{FF2B5EF4-FFF2-40B4-BE49-F238E27FC236}">
                <a16:creationId xmlns:a16="http://schemas.microsoft.com/office/drawing/2014/main" id="{AC77A613-3452-5ABC-28EB-2F46994549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8536" y="3913744"/>
            <a:ext cx="2004954" cy="72907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dis logo">
            <a:extLst>
              <a:ext uri="{FF2B5EF4-FFF2-40B4-BE49-F238E27FC236}">
                <a16:creationId xmlns:a16="http://schemas.microsoft.com/office/drawing/2014/main" id="{81A7B719-CB14-88EE-04D2-C8D2E405DF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84080" y="3914046"/>
            <a:ext cx="1977614" cy="729074"/>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6" descr="MongoDB logo">
            <a:extLst>
              <a:ext uri="{FF2B5EF4-FFF2-40B4-BE49-F238E27FC236}">
                <a16:creationId xmlns:a16="http://schemas.microsoft.com/office/drawing/2014/main" id="{7E40835E-5FB1-2417-933C-90BE3DA644F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 name="图片 9">
            <a:extLst>
              <a:ext uri="{FF2B5EF4-FFF2-40B4-BE49-F238E27FC236}">
                <a16:creationId xmlns:a16="http://schemas.microsoft.com/office/drawing/2014/main" id="{21B986D6-51FA-D013-EC20-2DE64654C4CD}"/>
              </a:ext>
            </a:extLst>
          </p:cNvPr>
          <p:cNvPicPr>
            <a:picLocks noChangeAspect="1"/>
          </p:cNvPicPr>
          <p:nvPr/>
        </p:nvPicPr>
        <p:blipFill>
          <a:blip r:embed="rId6"/>
          <a:stretch>
            <a:fillRect/>
          </a:stretch>
        </p:blipFill>
        <p:spPr>
          <a:xfrm>
            <a:off x="9293317" y="2845968"/>
            <a:ext cx="2356393" cy="833554"/>
          </a:xfrm>
          <a:prstGeom prst="rect">
            <a:avLst/>
          </a:prstGeom>
        </p:spPr>
      </p:pic>
      <p:pic>
        <p:nvPicPr>
          <p:cNvPr id="2058" name="Picture 10" descr="MongoDB gets a data lake, new security features and more | TechCrunch">
            <a:extLst>
              <a:ext uri="{FF2B5EF4-FFF2-40B4-BE49-F238E27FC236}">
                <a16:creationId xmlns:a16="http://schemas.microsoft.com/office/drawing/2014/main" id="{FD4466B4-BF39-EAA2-C477-E8091C6F4AB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69070" y="2037705"/>
            <a:ext cx="2580640" cy="696907"/>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SQLite - Wikipedia">
            <a:extLst>
              <a:ext uri="{FF2B5EF4-FFF2-40B4-BE49-F238E27FC236}">
                <a16:creationId xmlns:a16="http://schemas.microsoft.com/office/drawing/2014/main" id="{365E81DD-E7AB-75AF-5379-4DFAFB0D03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34246" y="2759489"/>
            <a:ext cx="1613535" cy="765169"/>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Oracle Database : Fujitsu EMEIA">
            <a:extLst>
              <a:ext uri="{FF2B5EF4-FFF2-40B4-BE49-F238E27FC236}">
                <a16:creationId xmlns:a16="http://schemas.microsoft.com/office/drawing/2014/main" id="{7D5D036E-43D5-4753-B5F9-A452DE0CD62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38536" y="1751328"/>
            <a:ext cx="1981244" cy="76517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1">
            <a:extLst>
              <a:ext uri="{FF2B5EF4-FFF2-40B4-BE49-F238E27FC236}">
                <a16:creationId xmlns:a16="http://schemas.microsoft.com/office/drawing/2014/main" id="{E6D16C8F-20E1-7F11-61FA-DF84F1BBFBC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81</a:t>
            </a:fld>
            <a:endParaRPr lang="zh-CN" altLang="en-US"/>
          </a:p>
        </p:txBody>
      </p:sp>
    </p:spTree>
    <p:extLst>
      <p:ext uri="{BB962C8B-B14F-4D97-AF65-F5344CB8AC3E}">
        <p14:creationId xmlns:p14="http://schemas.microsoft.com/office/powerpoint/2010/main" val="113840850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分布式数据库</a:t>
            </a:r>
          </a:p>
        </p:txBody>
      </p:sp>
      <p:pic>
        <p:nvPicPr>
          <p:cNvPr id="3" name="图片 2">
            <a:extLst>
              <a:ext uri="{FF2B5EF4-FFF2-40B4-BE49-F238E27FC236}">
                <a16:creationId xmlns:a16="http://schemas.microsoft.com/office/drawing/2014/main" id="{27F83263-55A2-461A-9137-B6D6A699592B}"/>
              </a:ext>
            </a:extLst>
          </p:cNvPr>
          <p:cNvPicPr>
            <a:picLocks noChangeAspect="1"/>
          </p:cNvPicPr>
          <p:nvPr/>
        </p:nvPicPr>
        <p:blipFill>
          <a:blip r:embed="rId3"/>
          <a:stretch>
            <a:fillRect/>
          </a:stretch>
        </p:blipFill>
        <p:spPr>
          <a:xfrm>
            <a:off x="4374017" y="1727053"/>
            <a:ext cx="7502673" cy="4797188"/>
          </a:xfrm>
          <a:prstGeom prst="rect">
            <a:avLst/>
          </a:prstGeom>
        </p:spPr>
      </p:pic>
      <p:sp>
        <p:nvSpPr>
          <p:cNvPr id="4" name="内容占位符 3">
            <a:extLst>
              <a:ext uri="{FF2B5EF4-FFF2-40B4-BE49-F238E27FC236}">
                <a16:creationId xmlns:a16="http://schemas.microsoft.com/office/drawing/2014/main" id="{48004551-DBB4-68E4-7841-3B5966C2D833}"/>
              </a:ext>
            </a:extLst>
          </p:cNvPr>
          <p:cNvSpPr>
            <a:spLocks noGrp="1"/>
          </p:cNvSpPr>
          <p:nvPr>
            <p:ph idx="1"/>
          </p:nvPr>
        </p:nvSpPr>
        <p:spPr>
          <a:xfrm>
            <a:off x="457200" y="1125538"/>
            <a:ext cx="10874188" cy="5005387"/>
          </a:xfrm>
        </p:spPr>
        <p:txBody>
          <a:bodyPr/>
          <a:lstStyle/>
          <a:p>
            <a:r>
              <a:rPr lang="zh-CN" altLang="en-US" dirty="0"/>
              <a:t>产生背景</a:t>
            </a:r>
            <a:endParaRPr lang="en-US" altLang="zh-CN" dirty="0"/>
          </a:p>
          <a:p>
            <a:pPr lvl="1"/>
            <a:r>
              <a:rPr lang="zh-CN" altLang="en-US" dirty="0"/>
              <a:t>海量</a:t>
            </a:r>
            <a:r>
              <a:rPr kumimoji="1" lang="zh-CN" altLang="en-US" dirty="0"/>
              <a:t>数据存储</a:t>
            </a:r>
            <a:endParaRPr kumimoji="1" lang="en-US" altLang="zh-CN" dirty="0"/>
          </a:p>
          <a:p>
            <a:pPr lvl="2"/>
            <a:r>
              <a:rPr lang="en-US" altLang="zh-CN" dirty="0"/>
              <a:t>TB</a:t>
            </a:r>
            <a:r>
              <a:rPr lang="zh-CN" altLang="en-US" dirty="0"/>
              <a:t>、</a:t>
            </a:r>
            <a:r>
              <a:rPr lang="en-US" altLang="zh-CN" dirty="0"/>
              <a:t>PB</a:t>
            </a:r>
            <a:r>
              <a:rPr lang="zh-CN" altLang="en-US" dirty="0"/>
              <a:t>级数据</a:t>
            </a:r>
            <a:endParaRPr lang="en-US" altLang="zh-CN" dirty="0"/>
          </a:p>
          <a:p>
            <a:pPr lvl="1"/>
            <a:r>
              <a:rPr kumimoji="1" lang="zh-CN" altLang="en-US" dirty="0"/>
              <a:t>高可用应用需求</a:t>
            </a:r>
            <a:endParaRPr kumimoji="1" lang="en-US" altLang="zh-CN" dirty="0"/>
          </a:p>
          <a:p>
            <a:pPr lvl="2"/>
            <a:r>
              <a:rPr lang="zh-CN" altLang="en-US" dirty="0"/>
              <a:t>电商、通信、金融应用</a:t>
            </a:r>
            <a:endParaRPr lang="en-US" altLang="zh-CN" dirty="0"/>
          </a:p>
          <a:p>
            <a:pPr lvl="1"/>
            <a:r>
              <a:rPr lang="zh-CN" altLang="en-US" dirty="0"/>
              <a:t>分布式数据库</a:t>
            </a:r>
            <a:endParaRPr lang="en-US" altLang="zh-CN" dirty="0"/>
          </a:p>
          <a:p>
            <a:pPr lvl="2"/>
            <a:r>
              <a:rPr kumimoji="1" lang="zh-CN" altLang="en-US" dirty="0"/>
              <a:t>高性能</a:t>
            </a:r>
            <a:endParaRPr kumimoji="1" lang="en-US" altLang="zh-CN" dirty="0"/>
          </a:p>
          <a:p>
            <a:pPr lvl="2"/>
            <a:r>
              <a:rPr lang="zh-CN" altLang="en-US" dirty="0"/>
              <a:t>高可用</a:t>
            </a:r>
            <a:endParaRPr lang="en-US" altLang="zh-CN" dirty="0"/>
          </a:p>
          <a:p>
            <a:pPr lvl="2"/>
            <a:r>
              <a:rPr kumimoji="1" lang="zh-CN" altLang="en-US" dirty="0"/>
              <a:t>高可扩展</a:t>
            </a:r>
          </a:p>
        </p:txBody>
      </p:sp>
      <p:sp>
        <p:nvSpPr>
          <p:cNvPr id="5" name="灯片编号占位符 1">
            <a:extLst>
              <a:ext uri="{FF2B5EF4-FFF2-40B4-BE49-F238E27FC236}">
                <a16:creationId xmlns:a16="http://schemas.microsoft.com/office/drawing/2014/main" id="{1FC81C47-C913-7D75-B8A6-201E7AF494A3}"/>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82</a:t>
            </a:fld>
            <a:endParaRPr lang="zh-CN" altLang="en-US" dirty="0"/>
          </a:p>
        </p:txBody>
      </p:sp>
    </p:spTree>
    <p:extLst>
      <p:ext uri="{BB962C8B-B14F-4D97-AF65-F5344CB8AC3E}">
        <p14:creationId xmlns:p14="http://schemas.microsoft.com/office/powerpoint/2010/main" val="12670454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393BF4C-039D-A62A-E187-D8E0090FE74F}"/>
              </a:ext>
            </a:extLst>
          </p:cNvPr>
          <p:cNvSpPr>
            <a:spLocks noGrp="1"/>
          </p:cNvSpPr>
          <p:nvPr>
            <p:ph type="sldNum" sz="quarter" idx="10"/>
          </p:nvPr>
        </p:nvSpPr>
        <p:spPr/>
        <p:txBody>
          <a:bodyPr/>
          <a:lstStyle/>
          <a:p>
            <a:fld id="{87BBDC00-B9E2-4EFD-9306-2934E87247C6}" type="slidenum">
              <a:rPr lang="zh-CN" altLang="en-US" smtClean="0"/>
              <a:pPr/>
              <a:t>83</a:t>
            </a:fld>
            <a:endParaRPr lang="zh-CN" altLang="en-US"/>
          </a:p>
        </p:txBody>
      </p:sp>
      <p:sp>
        <p:nvSpPr>
          <p:cNvPr id="3" name="标题 2">
            <a:extLst>
              <a:ext uri="{FF2B5EF4-FFF2-40B4-BE49-F238E27FC236}">
                <a16:creationId xmlns:a16="http://schemas.microsoft.com/office/drawing/2014/main" id="{851D6C2C-28C0-0A38-7B09-55E0EFF38CE6}"/>
              </a:ext>
            </a:extLst>
          </p:cNvPr>
          <p:cNvSpPr>
            <a:spLocks noGrp="1"/>
          </p:cNvSpPr>
          <p:nvPr>
            <p:ph type="title"/>
          </p:nvPr>
        </p:nvSpPr>
        <p:spPr/>
        <p:txBody>
          <a:bodyPr/>
          <a:lstStyle/>
          <a:p>
            <a:r>
              <a:rPr lang="zh-CN" altLang="en-US" dirty="0"/>
              <a:t>分布式数据库</a:t>
            </a:r>
            <a:r>
              <a:rPr lang="en-US" altLang="zh-CN" dirty="0"/>
              <a:t>—</a:t>
            </a:r>
            <a:r>
              <a:rPr lang="zh-CN" altLang="en-US" dirty="0"/>
              <a:t>常见架构</a:t>
            </a:r>
            <a:endParaRPr kumimoji="1" lang="zh-CN" altLang="en-US" dirty="0"/>
          </a:p>
        </p:txBody>
      </p:sp>
      <p:sp>
        <p:nvSpPr>
          <p:cNvPr id="4" name="内容占位符 3">
            <a:extLst>
              <a:ext uri="{FF2B5EF4-FFF2-40B4-BE49-F238E27FC236}">
                <a16:creationId xmlns:a16="http://schemas.microsoft.com/office/drawing/2014/main" id="{5373A75A-14FA-C094-51C7-4064C3C396DD}"/>
              </a:ext>
            </a:extLst>
          </p:cNvPr>
          <p:cNvSpPr>
            <a:spLocks noGrp="1"/>
          </p:cNvSpPr>
          <p:nvPr>
            <p:ph idx="1"/>
          </p:nvPr>
        </p:nvSpPr>
        <p:spPr>
          <a:xfrm>
            <a:off x="457199" y="1125538"/>
            <a:ext cx="3852861" cy="2870195"/>
          </a:xfrm>
        </p:spPr>
        <p:txBody>
          <a:bodyPr/>
          <a:lstStyle/>
          <a:p>
            <a:r>
              <a:rPr kumimoji="1" lang="zh-CN" altLang="en-US" sz="2800" dirty="0"/>
              <a:t>一主多备，读写分离</a:t>
            </a:r>
            <a:endParaRPr kumimoji="1" lang="en-US" altLang="zh-CN" sz="2800" dirty="0"/>
          </a:p>
          <a:p>
            <a:pPr lvl="1"/>
            <a:r>
              <a:rPr lang="zh-CN" altLang="en-US" sz="2400" dirty="0"/>
              <a:t>主节点提供读写服务</a:t>
            </a:r>
            <a:endParaRPr lang="en-US" altLang="zh-CN" sz="2400" dirty="0"/>
          </a:p>
          <a:p>
            <a:pPr lvl="1"/>
            <a:r>
              <a:rPr lang="zh-CN" altLang="en-US" sz="2400" dirty="0"/>
              <a:t>备节点只提供读取功能，不提供写入服务</a:t>
            </a:r>
            <a:endParaRPr lang="en-US" altLang="zh-CN" sz="2400" dirty="0"/>
          </a:p>
        </p:txBody>
      </p:sp>
      <p:pic>
        <p:nvPicPr>
          <p:cNvPr id="7" name="图片 6">
            <a:extLst>
              <a:ext uri="{FF2B5EF4-FFF2-40B4-BE49-F238E27FC236}">
                <a16:creationId xmlns:a16="http://schemas.microsoft.com/office/drawing/2014/main" id="{C9D9E533-8810-659D-8289-884215F0A6EC}"/>
              </a:ext>
            </a:extLst>
          </p:cNvPr>
          <p:cNvPicPr>
            <a:picLocks noChangeAspect="1"/>
          </p:cNvPicPr>
          <p:nvPr/>
        </p:nvPicPr>
        <p:blipFill>
          <a:blip r:embed="rId3"/>
          <a:stretch>
            <a:fillRect/>
          </a:stretch>
        </p:blipFill>
        <p:spPr>
          <a:xfrm>
            <a:off x="540529" y="3429000"/>
            <a:ext cx="3871130" cy="2193150"/>
          </a:xfrm>
          <a:prstGeom prst="rect">
            <a:avLst/>
          </a:prstGeom>
        </p:spPr>
      </p:pic>
      <p:pic>
        <p:nvPicPr>
          <p:cNvPr id="8" name="图片 7">
            <a:extLst>
              <a:ext uri="{FF2B5EF4-FFF2-40B4-BE49-F238E27FC236}">
                <a16:creationId xmlns:a16="http://schemas.microsoft.com/office/drawing/2014/main" id="{18664261-CDD9-BCF3-8885-244665CDB7D8}"/>
              </a:ext>
            </a:extLst>
          </p:cNvPr>
          <p:cNvPicPr>
            <a:picLocks noChangeAspect="1"/>
          </p:cNvPicPr>
          <p:nvPr/>
        </p:nvPicPr>
        <p:blipFill>
          <a:blip r:embed="rId4"/>
          <a:stretch>
            <a:fillRect/>
          </a:stretch>
        </p:blipFill>
        <p:spPr>
          <a:xfrm>
            <a:off x="8324352" y="3341242"/>
            <a:ext cx="2817096" cy="3172791"/>
          </a:xfrm>
          <a:prstGeom prst="rect">
            <a:avLst/>
          </a:prstGeom>
        </p:spPr>
      </p:pic>
      <p:pic>
        <p:nvPicPr>
          <p:cNvPr id="9" name="图片 8">
            <a:extLst>
              <a:ext uri="{FF2B5EF4-FFF2-40B4-BE49-F238E27FC236}">
                <a16:creationId xmlns:a16="http://schemas.microsoft.com/office/drawing/2014/main" id="{34129EDA-DF03-24B7-7496-AD758D28EB27}"/>
              </a:ext>
            </a:extLst>
          </p:cNvPr>
          <p:cNvPicPr>
            <a:picLocks noChangeAspect="1"/>
          </p:cNvPicPr>
          <p:nvPr/>
        </p:nvPicPr>
        <p:blipFill>
          <a:blip r:embed="rId5"/>
          <a:stretch>
            <a:fillRect/>
          </a:stretch>
        </p:blipFill>
        <p:spPr>
          <a:xfrm>
            <a:off x="4523594" y="3429000"/>
            <a:ext cx="3560230" cy="2609024"/>
          </a:xfrm>
          <a:prstGeom prst="rect">
            <a:avLst/>
          </a:prstGeom>
        </p:spPr>
      </p:pic>
      <p:sp>
        <p:nvSpPr>
          <p:cNvPr id="10" name="内容占位符 3">
            <a:extLst>
              <a:ext uri="{FF2B5EF4-FFF2-40B4-BE49-F238E27FC236}">
                <a16:creationId xmlns:a16="http://schemas.microsoft.com/office/drawing/2014/main" id="{6A417A0E-6E28-5962-E35C-67785AE00C48}"/>
              </a:ext>
            </a:extLst>
          </p:cNvPr>
          <p:cNvSpPr txBox="1">
            <a:spLocks/>
          </p:cNvSpPr>
          <p:nvPr/>
        </p:nvSpPr>
        <p:spPr bwMode="auto">
          <a:xfrm>
            <a:off x="4424431" y="1116007"/>
            <a:ext cx="3651272" cy="26716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r>
              <a:rPr lang="zh-CN" altLang="en-US" sz="2800" kern="0" dirty="0"/>
              <a:t>分库分表中间件</a:t>
            </a:r>
            <a:endParaRPr lang="en-US" altLang="zh-CN" sz="2800" kern="0" dirty="0"/>
          </a:p>
          <a:p>
            <a:pPr lvl="1"/>
            <a:r>
              <a:rPr lang="zh-CN" altLang="en-US" sz="2400" kern="0" dirty="0"/>
              <a:t>搭建于多台单机数据库上层</a:t>
            </a:r>
            <a:endParaRPr lang="en-US" altLang="zh-CN" sz="2400" kern="0" dirty="0"/>
          </a:p>
          <a:p>
            <a:pPr lvl="1"/>
            <a:r>
              <a:rPr lang="zh-CN" altLang="en-US" sz="2400" kern="0" dirty="0"/>
              <a:t>负责</a:t>
            </a:r>
            <a:r>
              <a:rPr lang="en-US" altLang="zh-CN" sz="2400" kern="0" dirty="0"/>
              <a:t>SQL</a:t>
            </a:r>
            <a:r>
              <a:rPr lang="zh-CN" altLang="en-US" sz="2400" kern="0" dirty="0"/>
              <a:t>的转发</a:t>
            </a:r>
            <a:endParaRPr lang="en-US" altLang="zh-CN" sz="2400" kern="0" dirty="0"/>
          </a:p>
        </p:txBody>
      </p:sp>
      <p:sp>
        <p:nvSpPr>
          <p:cNvPr id="11" name="内容占位符 3">
            <a:extLst>
              <a:ext uri="{FF2B5EF4-FFF2-40B4-BE49-F238E27FC236}">
                <a16:creationId xmlns:a16="http://schemas.microsoft.com/office/drawing/2014/main" id="{73B52C3C-9E8C-614D-E5FC-6DCB4BC618FC}"/>
              </a:ext>
            </a:extLst>
          </p:cNvPr>
          <p:cNvSpPr txBox="1">
            <a:spLocks/>
          </p:cNvSpPr>
          <p:nvPr/>
        </p:nvSpPr>
        <p:spPr bwMode="auto">
          <a:xfrm>
            <a:off x="7786895" y="1116007"/>
            <a:ext cx="3564317" cy="25987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r>
              <a:rPr lang="zh-CN" altLang="en-US" sz="2800" kern="0" dirty="0"/>
              <a:t>原生分布式数据库</a:t>
            </a:r>
            <a:endParaRPr lang="en-US" altLang="zh-CN" sz="2800" kern="0" dirty="0"/>
          </a:p>
          <a:p>
            <a:pPr lvl="1"/>
            <a:r>
              <a:rPr lang="zh-CN" altLang="en-US" sz="2400" kern="0" dirty="0"/>
              <a:t>重新设计数据库架构</a:t>
            </a:r>
            <a:endParaRPr lang="en-US" altLang="zh-CN" sz="2400" kern="0" dirty="0"/>
          </a:p>
          <a:p>
            <a:pPr lvl="1"/>
            <a:r>
              <a:rPr lang="zh-CN" altLang="en-US" sz="2400" kern="0" dirty="0"/>
              <a:t>对上层应用透明</a:t>
            </a:r>
          </a:p>
        </p:txBody>
      </p:sp>
    </p:spTree>
    <p:extLst>
      <p:ext uri="{BB962C8B-B14F-4D97-AF65-F5344CB8AC3E}">
        <p14:creationId xmlns:p14="http://schemas.microsoft.com/office/powerpoint/2010/main" val="405365454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p:txBody>
          <a:bodyPr/>
          <a:lstStyle/>
          <a:p>
            <a:pPr>
              <a:buFont typeface="Wingdings" pitchFamily="2" charset="2"/>
              <a:buChar char="l"/>
            </a:pPr>
            <a:r>
              <a:rPr lang="zh-CN" altLang="en-US" sz="2800" dirty="0">
                <a:solidFill>
                  <a:schemeClr val="tx1">
                    <a:lumMod val="50000"/>
                    <a:lumOff val="50000"/>
                  </a:schemeClr>
                </a:solidFill>
                <a:latin typeface="Times" pitchFamily="2" charset="0"/>
              </a:rPr>
              <a:t>层次和网状数据库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关系数据库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en-US" altLang="zh-CN" sz="2800" dirty="0">
                <a:solidFill>
                  <a:schemeClr val="tx1">
                    <a:lumMod val="50000"/>
                    <a:lumOff val="50000"/>
                  </a:schemeClr>
                </a:solidFill>
                <a:latin typeface="Times" pitchFamily="2" charset="0"/>
              </a:rPr>
              <a:t>OLTP</a:t>
            </a:r>
            <a:r>
              <a:rPr lang="zh-CN" altLang="en-US" sz="2800" dirty="0">
                <a:solidFill>
                  <a:schemeClr val="tx1">
                    <a:lumMod val="50000"/>
                    <a:lumOff val="50000"/>
                  </a:schemeClr>
                </a:solidFill>
                <a:latin typeface="Times" pitchFamily="2" charset="0"/>
              </a:rPr>
              <a:t>、</a:t>
            </a:r>
            <a:r>
              <a:rPr lang="en-US" altLang="zh-CN" sz="2800" dirty="0">
                <a:solidFill>
                  <a:schemeClr val="tx1">
                    <a:lumMod val="50000"/>
                    <a:lumOff val="50000"/>
                  </a:schemeClr>
                </a:solidFill>
                <a:latin typeface="Times" pitchFamily="2" charset="0"/>
              </a:rPr>
              <a:t>OLAP</a:t>
            </a:r>
            <a:r>
              <a:rPr lang="zh-CN" altLang="en-US" sz="2800" dirty="0">
                <a:solidFill>
                  <a:schemeClr val="tx1">
                    <a:lumMod val="50000"/>
                    <a:lumOff val="50000"/>
                  </a:schemeClr>
                </a:solidFill>
                <a:latin typeface="Times" pitchFamily="2" charset="0"/>
              </a:rPr>
              <a:t>与</a:t>
            </a:r>
            <a:r>
              <a:rPr lang="en-US" altLang="zh-CN" sz="2800" dirty="0">
                <a:solidFill>
                  <a:schemeClr val="tx1">
                    <a:lumMod val="50000"/>
                    <a:lumOff val="50000"/>
                  </a:schemeClr>
                </a:solidFill>
                <a:latin typeface="Times" pitchFamily="2" charset="0"/>
              </a:rPr>
              <a:t>HTAP</a:t>
            </a:r>
            <a:r>
              <a:rPr lang="zh-CN" altLang="en-US" sz="2800" dirty="0">
                <a:solidFill>
                  <a:schemeClr val="tx1">
                    <a:lumMod val="50000"/>
                    <a:lumOff val="50000"/>
                  </a:schemeClr>
                </a:solidFill>
                <a:latin typeface="Times" pitchFamily="2" charset="0"/>
              </a:rPr>
              <a:t>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en-US" altLang="zh-CN" sz="2800" dirty="0">
                <a:solidFill>
                  <a:schemeClr val="tx1">
                    <a:lumMod val="50000"/>
                    <a:lumOff val="50000"/>
                  </a:schemeClr>
                </a:solidFill>
                <a:latin typeface="Times" pitchFamily="2" charset="0"/>
              </a:rPr>
              <a:t>NoSQL</a:t>
            </a:r>
            <a:r>
              <a:rPr lang="zh-CN" altLang="en-US" sz="2800" dirty="0">
                <a:solidFill>
                  <a:schemeClr val="tx1">
                    <a:lumMod val="50000"/>
                    <a:lumOff val="50000"/>
                  </a:schemeClr>
                </a:solidFill>
                <a:latin typeface="Times" pitchFamily="2" charset="0"/>
              </a:rPr>
              <a:t>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分布式数据库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latin typeface="Times" pitchFamily="2" charset="0"/>
              </a:rPr>
              <a:t>内存数据库</a:t>
            </a:r>
            <a:endParaRPr lang="en-US" altLang="zh-CN" sz="2800" dirty="0">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云数据库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其它类型数据库</a:t>
            </a:r>
            <a:endParaRPr lang="en-US" altLang="zh-CN" sz="28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实时数据库</a:t>
            </a:r>
            <a:endParaRPr lang="en-US" altLang="zh-CN" sz="24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并行数据库</a:t>
            </a:r>
            <a:endParaRPr lang="en-US" altLang="zh-CN" sz="24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终端数据库</a:t>
            </a: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数据库发展史概览</a:t>
            </a:r>
          </a:p>
        </p:txBody>
      </p:sp>
      <p:pic>
        <p:nvPicPr>
          <p:cNvPr id="4" name="图片 3">
            <a:extLst>
              <a:ext uri="{FF2B5EF4-FFF2-40B4-BE49-F238E27FC236}">
                <a16:creationId xmlns:a16="http://schemas.microsoft.com/office/drawing/2014/main" id="{60ED12C6-759A-07BF-765A-0E56422F1245}"/>
              </a:ext>
            </a:extLst>
          </p:cNvPr>
          <p:cNvPicPr>
            <a:picLocks noChangeAspect="1"/>
          </p:cNvPicPr>
          <p:nvPr/>
        </p:nvPicPr>
        <p:blipFill>
          <a:blip r:embed="rId2"/>
          <a:stretch>
            <a:fillRect/>
          </a:stretch>
        </p:blipFill>
        <p:spPr>
          <a:xfrm>
            <a:off x="8859520" y="4958475"/>
            <a:ext cx="2810510" cy="1689950"/>
          </a:xfrm>
          <a:prstGeom prst="rect">
            <a:avLst/>
          </a:prstGeom>
        </p:spPr>
      </p:pic>
      <p:pic>
        <p:nvPicPr>
          <p:cNvPr id="5" name="Picture 2" descr="PostgreSQL Elephant Logo">
            <a:extLst>
              <a:ext uri="{FF2B5EF4-FFF2-40B4-BE49-F238E27FC236}">
                <a16:creationId xmlns:a16="http://schemas.microsoft.com/office/drawing/2014/main" id="{9AC9BF95-67D0-3871-2C06-C04A69BB7E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4420" y="5212823"/>
            <a:ext cx="1353185" cy="139583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Neo4j logo">
            <a:extLst>
              <a:ext uri="{FF2B5EF4-FFF2-40B4-BE49-F238E27FC236}">
                <a16:creationId xmlns:a16="http://schemas.microsoft.com/office/drawing/2014/main" id="{AC77A613-3452-5ABC-28EB-2F46994549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8536" y="3913744"/>
            <a:ext cx="2004954" cy="72907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dis logo">
            <a:extLst>
              <a:ext uri="{FF2B5EF4-FFF2-40B4-BE49-F238E27FC236}">
                <a16:creationId xmlns:a16="http://schemas.microsoft.com/office/drawing/2014/main" id="{81A7B719-CB14-88EE-04D2-C8D2E405DF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84080" y="3914046"/>
            <a:ext cx="1977614" cy="729074"/>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6" descr="MongoDB logo">
            <a:extLst>
              <a:ext uri="{FF2B5EF4-FFF2-40B4-BE49-F238E27FC236}">
                <a16:creationId xmlns:a16="http://schemas.microsoft.com/office/drawing/2014/main" id="{7E40835E-5FB1-2417-933C-90BE3DA644F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 name="图片 9">
            <a:extLst>
              <a:ext uri="{FF2B5EF4-FFF2-40B4-BE49-F238E27FC236}">
                <a16:creationId xmlns:a16="http://schemas.microsoft.com/office/drawing/2014/main" id="{21B986D6-51FA-D013-EC20-2DE64654C4CD}"/>
              </a:ext>
            </a:extLst>
          </p:cNvPr>
          <p:cNvPicPr>
            <a:picLocks noChangeAspect="1"/>
          </p:cNvPicPr>
          <p:nvPr/>
        </p:nvPicPr>
        <p:blipFill>
          <a:blip r:embed="rId6"/>
          <a:stretch>
            <a:fillRect/>
          </a:stretch>
        </p:blipFill>
        <p:spPr>
          <a:xfrm>
            <a:off x="9293317" y="2845968"/>
            <a:ext cx="2356393" cy="833554"/>
          </a:xfrm>
          <a:prstGeom prst="rect">
            <a:avLst/>
          </a:prstGeom>
        </p:spPr>
      </p:pic>
      <p:pic>
        <p:nvPicPr>
          <p:cNvPr id="2058" name="Picture 10" descr="MongoDB gets a data lake, new security features and more | TechCrunch">
            <a:extLst>
              <a:ext uri="{FF2B5EF4-FFF2-40B4-BE49-F238E27FC236}">
                <a16:creationId xmlns:a16="http://schemas.microsoft.com/office/drawing/2014/main" id="{FD4466B4-BF39-EAA2-C477-E8091C6F4AB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69070" y="2037705"/>
            <a:ext cx="2580640" cy="696907"/>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SQLite - Wikipedia">
            <a:extLst>
              <a:ext uri="{FF2B5EF4-FFF2-40B4-BE49-F238E27FC236}">
                <a16:creationId xmlns:a16="http://schemas.microsoft.com/office/drawing/2014/main" id="{365E81DD-E7AB-75AF-5379-4DFAFB0D03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34246" y="2759489"/>
            <a:ext cx="1613535" cy="765169"/>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Oracle Database : Fujitsu EMEIA">
            <a:extLst>
              <a:ext uri="{FF2B5EF4-FFF2-40B4-BE49-F238E27FC236}">
                <a16:creationId xmlns:a16="http://schemas.microsoft.com/office/drawing/2014/main" id="{7D5D036E-43D5-4753-B5F9-A452DE0CD62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38536" y="1751328"/>
            <a:ext cx="1981244" cy="76517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1">
            <a:extLst>
              <a:ext uri="{FF2B5EF4-FFF2-40B4-BE49-F238E27FC236}">
                <a16:creationId xmlns:a16="http://schemas.microsoft.com/office/drawing/2014/main" id="{E6D16C8F-20E1-7F11-61FA-DF84F1BBFBC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84</a:t>
            </a:fld>
            <a:endParaRPr lang="zh-CN" altLang="en-US"/>
          </a:p>
        </p:txBody>
      </p:sp>
    </p:spTree>
    <p:extLst>
      <p:ext uri="{BB962C8B-B14F-4D97-AF65-F5344CB8AC3E}">
        <p14:creationId xmlns:p14="http://schemas.microsoft.com/office/powerpoint/2010/main" val="408924687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内存数据库</a:t>
            </a:r>
          </a:p>
        </p:txBody>
      </p:sp>
      <p:sp>
        <p:nvSpPr>
          <p:cNvPr id="5" name="Content Placeholder 3">
            <a:extLst>
              <a:ext uri="{FF2B5EF4-FFF2-40B4-BE49-F238E27FC236}">
                <a16:creationId xmlns:a16="http://schemas.microsoft.com/office/drawing/2014/main" id="{1631E35E-06A7-9D70-E5CE-B260DB981224}"/>
              </a:ext>
            </a:extLst>
          </p:cNvPr>
          <p:cNvSpPr>
            <a:spLocks noGrp="1"/>
          </p:cNvSpPr>
          <p:nvPr>
            <p:ph idx="1"/>
          </p:nvPr>
        </p:nvSpPr>
        <p:spPr>
          <a:xfrm>
            <a:off x="457200" y="1125538"/>
            <a:ext cx="10874188" cy="5732462"/>
          </a:xfrm>
        </p:spPr>
        <p:txBody>
          <a:bodyPr/>
          <a:lstStyle/>
          <a:p>
            <a:r>
              <a:rPr lang="zh-CN" altLang="en-US" dirty="0">
                <a:latin typeface="Times" pitchFamily="2" charset="0"/>
              </a:rPr>
              <a:t>起源</a:t>
            </a:r>
            <a:endParaRPr lang="en-US" altLang="zh-CN" dirty="0">
              <a:latin typeface="Times" pitchFamily="2" charset="0"/>
            </a:endParaRPr>
          </a:p>
          <a:p>
            <a:pPr lvl="1"/>
            <a:r>
              <a:rPr lang="zh-CN" altLang="en-US" dirty="0">
                <a:latin typeface="Times" pitchFamily="2" charset="0"/>
              </a:rPr>
              <a:t>磁盘数据库</a:t>
            </a:r>
            <a:r>
              <a:rPr lang="en-US" altLang="zh-CN" dirty="0">
                <a:latin typeface="Times" pitchFamily="2" charset="0"/>
              </a:rPr>
              <a:t>I/O</a:t>
            </a:r>
            <a:r>
              <a:rPr lang="zh-CN" altLang="en-US" dirty="0">
                <a:latin typeface="Times" pitchFamily="2" charset="0"/>
              </a:rPr>
              <a:t>效率低。</a:t>
            </a:r>
            <a:endParaRPr lang="en-US" altLang="zh-CN" dirty="0">
              <a:latin typeface="Times" pitchFamily="2" charset="0"/>
            </a:endParaRPr>
          </a:p>
          <a:p>
            <a:pPr lvl="2"/>
            <a:r>
              <a:rPr lang="zh-CN" altLang="en-US" dirty="0">
                <a:latin typeface="Times" pitchFamily="2" charset="0"/>
              </a:rPr>
              <a:t>传统数据库系统通常是基于价格便宜磁盘进行设计，大量数据存储在磁盘中。这类数据库在进行事务处理等操作时，往往需要涉及磁盘</a:t>
            </a:r>
            <a:r>
              <a:rPr lang="en" altLang="zh-CN" dirty="0">
                <a:latin typeface="Times" pitchFamily="2" charset="0"/>
              </a:rPr>
              <a:t>I/O</a:t>
            </a:r>
            <a:r>
              <a:rPr lang="zh-CN" altLang="en-US" dirty="0">
                <a:latin typeface="Times" pitchFamily="2" charset="0"/>
              </a:rPr>
              <a:t>操作，很难满足实时应用系统的性能需求。</a:t>
            </a:r>
            <a:endParaRPr lang="en-US" altLang="zh-CN" dirty="0">
              <a:latin typeface="Times" pitchFamily="2" charset="0"/>
            </a:endParaRPr>
          </a:p>
          <a:p>
            <a:pPr lvl="1"/>
            <a:r>
              <a:rPr lang="zh-CN" altLang="en-US" dirty="0">
                <a:latin typeface="Times" pitchFamily="2" charset="0"/>
              </a:rPr>
              <a:t>近年来，内存容量变得越来越大并且价格也越来越便宜。</a:t>
            </a:r>
            <a:endParaRPr lang="en-US" altLang="zh-CN" dirty="0">
              <a:latin typeface="Times" pitchFamily="2" charset="0"/>
            </a:endParaRPr>
          </a:p>
          <a:p>
            <a:r>
              <a:rPr lang="zh-CN" altLang="en-US" dirty="0">
                <a:latin typeface="Times" pitchFamily="2" charset="0"/>
              </a:rPr>
              <a:t>特点</a:t>
            </a:r>
            <a:endParaRPr lang="en-US" altLang="zh-CN" dirty="0">
              <a:latin typeface="Times" pitchFamily="2" charset="0"/>
            </a:endParaRPr>
          </a:p>
          <a:p>
            <a:pPr lvl="1"/>
            <a:r>
              <a:rPr lang="zh-CN" altLang="en-US" dirty="0">
                <a:latin typeface="Times" pitchFamily="2" charset="0"/>
              </a:rPr>
              <a:t>内存数据库是一种在内存中进行数据存储以及数据访问控制的数据库管理系统。</a:t>
            </a:r>
            <a:endParaRPr lang="en-US" altLang="zh-CN" dirty="0">
              <a:latin typeface="Times" pitchFamily="2" charset="0"/>
            </a:endParaRPr>
          </a:p>
          <a:p>
            <a:pPr lvl="1"/>
            <a:r>
              <a:rPr lang="zh-CN" altLang="en-US" dirty="0">
                <a:latin typeface="Times" pitchFamily="2" charset="0"/>
              </a:rPr>
              <a:t>内存数据库将数据存储在内存中，使用磁盘进行数据恢复，受益于内存在性能以及访问速度上的巨大优势，内存数据库具有高吞吐率、低延迟以及高并发的特点。</a:t>
            </a:r>
            <a:endParaRPr lang="en-US" altLang="zh-CN" dirty="0">
              <a:latin typeface="Times" pitchFamily="2" charset="0"/>
            </a:endParaRPr>
          </a:p>
        </p:txBody>
      </p:sp>
      <p:sp>
        <p:nvSpPr>
          <p:cNvPr id="4" name="灯片编号占位符 1">
            <a:extLst>
              <a:ext uri="{FF2B5EF4-FFF2-40B4-BE49-F238E27FC236}">
                <a16:creationId xmlns:a16="http://schemas.microsoft.com/office/drawing/2014/main" id="{91456598-4FAA-DF15-7E5B-9E1FB1BDC357}"/>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85</a:t>
            </a:fld>
            <a:endParaRPr lang="zh-CN" altLang="en-US" dirty="0"/>
          </a:p>
        </p:txBody>
      </p:sp>
    </p:spTree>
    <p:extLst>
      <p:ext uri="{BB962C8B-B14F-4D97-AF65-F5344CB8AC3E}">
        <p14:creationId xmlns:p14="http://schemas.microsoft.com/office/powerpoint/2010/main" val="277557602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圆角矩形 15">
            <a:extLst>
              <a:ext uri="{FF2B5EF4-FFF2-40B4-BE49-F238E27FC236}">
                <a16:creationId xmlns:a16="http://schemas.microsoft.com/office/drawing/2014/main" id="{0FD9DECD-0DCA-0123-CC6C-76100AB43F64}"/>
              </a:ext>
            </a:extLst>
          </p:cNvPr>
          <p:cNvSpPr/>
          <p:nvPr/>
        </p:nvSpPr>
        <p:spPr>
          <a:xfrm>
            <a:off x="655519" y="2254811"/>
            <a:ext cx="2571750" cy="70432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lnSpc>
                <a:spcPct val="150000"/>
              </a:lnSpc>
            </a:pPr>
            <a:r>
              <a:rPr lang="en-US" altLang="zh-CN" sz="2400" b="1" dirty="0">
                <a:latin typeface="Times" pitchFamily="2" charset="0"/>
                <a:ea typeface="SimHei" panose="02010609060101010101" pitchFamily="49" charset="-122"/>
              </a:rPr>
              <a:t>1984</a:t>
            </a:r>
            <a:r>
              <a:rPr lang="zh-CN" altLang="zh-CN" sz="2400" b="1" dirty="0">
                <a:latin typeface="Times" pitchFamily="2" charset="0"/>
                <a:ea typeface="SimHei" panose="02010609060101010101" pitchFamily="49" charset="-122"/>
              </a:rPr>
              <a:t>年到</a:t>
            </a:r>
            <a:r>
              <a:rPr lang="en-US" altLang="zh-CN" sz="2400" b="1" dirty="0">
                <a:latin typeface="Times" pitchFamily="2" charset="0"/>
                <a:ea typeface="SimHei" panose="02010609060101010101" pitchFamily="49" charset="-122"/>
              </a:rPr>
              <a:t>1994</a:t>
            </a:r>
            <a:r>
              <a:rPr lang="zh-CN" altLang="en-US" sz="2400" b="1" dirty="0">
                <a:latin typeface="Times" pitchFamily="2" charset="0"/>
                <a:ea typeface="SimHei" panose="02010609060101010101" pitchFamily="49" charset="-122"/>
              </a:rPr>
              <a:t>年</a:t>
            </a:r>
          </a:p>
        </p:txBody>
      </p:sp>
      <p:grpSp>
        <p:nvGrpSpPr>
          <p:cNvPr id="19" name="组合 18">
            <a:extLst>
              <a:ext uri="{FF2B5EF4-FFF2-40B4-BE49-F238E27FC236}">
                <a16:creationId xmlns:a16="http://schemas.microsoft.com/office/drawing/2014/main" id="{5EA2C6FA-E948-23EA-D504-CF29CCD80C98}"/>
              </a:ext>
            </a:extLst>
          </p:cNvPr>
          <p:cNvGrpSpPr/>
          <p:nvPr/>
        </p:nvGrpSpPr>
        <p:grpSpPr>
          <a:xfrm>
            <a:off x="3425588" y="2335624"/>
            <a:ext cx="1050500" cy="542697"/>
            <a:chOff x="4455371" y="139200"/>
            <a:chExt cx="1242136" cy="962262"/>
          </a:xfrm>
        </p:grpSpPr>
        <p:sp>
          <p:nvSpPr>
            <p:cNvPr id="20" name="右箭头 19">
              <a:extLst>
                <a:ext uri="{FF2B5EF4-FFF2-40B4-BE49-F238E27FC236}">
                  <a16:creationId xmlns:a16="http://schemas.microsoft.com/office/drawing/2014/main" id="{D3C38F02-B0A7-8EB3-9C44-DB40DB0ACACC}"/>
                </a:ext>
              </a:extLst>
            </p:cNvPr>
            <p:cNvSpPr/>
            <p:nvPr/>
          </p:nvSpPr>
          <p:spPr>
            <a:xfrm>
              <a:off x="4455371" y="139200"/>
              <a:ext cx="1242136" cy="962262"/>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21" name="右箭头 4">
              <a:extLst>
                <a:ext uri="{FF2B5EF4-FFF2-40B4-BE49-F238E27FC236}">
                  <a16:creationId xmlns:a16="http://schemas.microsoft.com/office/drawing/2014/main" id="{0AC55219-0DB6-0EAD-AA52-F0151C724C58}"/>
                </a:ext>
              </a:extLst>
            </p:cNvPr>
            <p:cNvSpPr txBox="1"/>
            <p:nvPr/>
          </p:nvSpPr>
          <p:spPr>
            <a:xfrm>
              <a:off x="4455371" y="331652"/>
              <a:ext cx="953457" cy="57735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endParaRPr lang="zh-CN" altLang="en-US" sz="3400" kern="1200">
                <a:latin typeface="Times" pitchFamily="2" charset="0"/>
                <a:ea typeface="SimHei" panose="02010609060101010101" pitchFamily="49" charset="-122"/>
              </a:endParaRPr>
            </a:p>
          </p:txBody>
        </p:sp>
      </p:grpSp>
      <p:sp>
        <p:nvSpPr>
          <p:cNvPr id="25" name="圆角矩形 24">
            <a:extLst>
              <a:ext uri="{FF2B5EF4-FFF2-40B4-BE49-F238E27FC236}">
                <a16:creationId xmlns:a16="http://schemas.microsoft.com/office/drawing/2014/main" id="{01A5C0E7-600A-57F4-A434-61D29E6D2857}"/>
              </a:ext>
            </a:extLst>
          </p:cNvPr>
          <p:cNvSpPr/>
          <p:nvPr/>
        </p:nvSpPr>
        <p:spPr>
          <a:xfrm>
            <a:off x="8693295" y="2245423"/>
            <a:ext cx="2571750" cy="70432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lnSpc>
                <a:spcPct val="150000"/>
              </a:lnSpc>
            </a:pPr>
            <a:r>
              <a:rPr lang="en-US" altLang="zh-CN" sz="2400" b="1" dirty="0">
                <a:latin typeface="Times" pitchFamily="2" charset="0"/>
                <a:ea typeface="SimHei" panose="02010609060101010101" pitchFamily="49" charset="-122"/>
              </a:rPr>
              <a:t>1994</a:t>
            </a:r>
            <a:r>
              <a:rPr lang="zh-CN" altLang="zh-CN" sz="2400" b="1" dirty="0">
                <a:latin typeface="Times" pitchFamily="2" charset="0"/>
                <a:ea typeface="SimHei" panose="02010609060101010101" pitchFamily="49" charset="-122"/>
              </a:rPr>
              <a:t>年到</a:t>
            </a:r>
            <a:r>
              <a:rPr lang="en-US" altLang="zh-CN" sz="2400" b="1" dirty="0">
                <a:latin typeface="Times" pitchFamily="2" charset="0"/>
                <a:ea typeface="SimHei" panose="02010609060101010101" pitchFamily="49" charset="-122"/>
              </a:rPr>
              <a:t>2005</a:t>
            </a:r>
            <a:r>
              <a:rPr lang="zh-CN" altLang="en-US" sz="2400" b="1" dirty="0">
                <a:latin typeface="Times" pitchFamily="2" charset="0"/>
                <a:ea typeface="SimHei" panose="02010609060101010101" pitchFamily="49" charset="-122"/>
              </a:rPr>
              <a:t>年</a:t>
            </a:r>
          </a:p>
        </p:txBody>
      </p:sp>
      <p:sp>
        <p:nvSpPr>
          <p:cNvPr id="26" name="圆角矩形 25">
            <a:extLst>
              <a:ext uri="{FF2B5EF4-FFF2-40B4-BE49-F238E27FC236}">
                <a16:creationId xmlns:a16="http://schemas.microsoft.com/office/drawing/2014/main" id="{367DB7BE-2A8F-795C-AA42-8C13D521B6FD}"/>
              </a:ext>
            </a:extLst>
          </p:cNvPr>
          <p:cNvSpPr/>
          <p:nvPr/>
        </p:nvSpPr>
        <p:spPr>
          <a:xfrm>
            <a:off x="4674407" y="2273497"/>
            <a:ext cx="2571750" cy="70432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lnSpc>
                <a:spcPct val="150000"/>
              </a:lnSpc>
            </a:pPr>
            <a:r>
              <a:rPr lang="en-US" altLang="zh-CN" sz="2400" b="1" dirty="0">
                <a:latin typeface="Times" pitchFamily="2" charset="0"/>
                <a:ea typeface="SimHei" panose="02010609060101010101" pitchFamily="49" charset="-122"/>
              </a:rPr>
              <a:t>2005</a:t>
            </a:r>
            <a:r>
              <a:rPr lang="zh-CN" altLang="en-US" sz="2400" b="1" dirty="0">
                <a:latin typeface="Times" pitchFamily="2" charset="0"/>
                <a:ea typeface="SimHei" panose="02010609060101010101" pitchFamily="49" charset="-122"/>
              </a:rPr>
              <a:t>年至今</a:t>
            </a:r>
          </a:p>
        </p:txBody>
      </p:sp>
      <p:grpSp>
        <p:nvGrpSpPr>
          <p:cNvPr id="27" name="组合 26">
            <a:extLst>
              <a:ext uri="{FF2B5EF4-FFF2-40B4-BE49-F238E27FC236}">
                <a16:creationId xmlns:a16="http://schemas.microsoft.com/office/drawing/2014/main" id="{9D9E3D15-657A-86D9-799C-AB684D0CC2F4}"/>
              </a:ext>
            </a:extLst>
          </p:cNvPr>
          <p:cNvGrpSpPr/>
          <p:nvPr/>
        </p:nvGrpSpPr>
        <p:grpSpPr>
          <a:xfrm>
            <a:off x="7447695" y="2326237"/>
            <a:ext cx="1050500" cy="542697"/>
            <a:chOff x="4455371" y="139200"/>
            <a:chExt cx="1242136" cy="962262"/>
          </a:xfrm>
        </p:grpSpPr>
        <p:sp>
          <p:nvSpPr>
            <p:cNvPr id="28" name="右箭头 27">
              <a:extLst>
                <a:ext uri="{FF2B5EF4-FFF2-40B4-BE49-F238E27FC236}">
                  <a16:creationId xmlns:a16="http://schemas.microsoft.com/office/drawing/2014/main" id="{41CC9756-5B67-B559-14DC-1E87369B1E35}"/>
                </a:ext>
              </a:extLst>
            </p:cNvPr>
            <p:cNvSpPr/>
            <p:nvPr/>
          </p:nvSpPr>
          <p:spPr>
            <a:xfrm>
              <a:off x="4455371" y="139200"/>
              <a:ext cx="1242136" cy="962262"/>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29" name="右箭头 4">
              <a:extLst>
                <a:ext uri="{FF2B5EF4-FFF2-40B4-BE49-F238E27FC236}">
                  <a16:creationId xmlns:a16="http://schemas.microsoft.com/office/drawing/2014/main" id="{B8DD6C52-BB3E-5641-3613-60BC09B4F5E3}"/>
                </a:ext>
              </a:extLst>
            </p:cNvPr>
            <p:cNvSpPr txBox="1"/>
            <p:nvPr/>
          </p:nvSpPr>
          <p:spPr>
            <a:xfrm>
              <a:off x="4455371" y="331652"/>
              <a:ext cx="953457" cy="57735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endParaRPr lang="zh-CN" altLang="en-US" sz="3400" kern="1200">
                <a:latin typeface="Times" pitchFamily="2" charset="0"/>
                <a:ea typeface="SimHei" panose="02010609060101010101" pitchFamily="49" charset="-122"/>
              </a:endParaRPr>
            </a:p>
          </p:txBody>
        </p:sp>
      </p:gr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内存数据库（续）</a:t>
            </a:r>
          </a:p>
        </p:txBody>
      </p:sp>
      <p:sp>
        <p:nvSpPr>
          <p:cNvPr id="9" name="Content Placeholder 3">
            <a:extLst>
              <a:ext uri="{FF2B5EF4-FFF2-40B4-BE49-F238E27FC236}">
                <a16:creationId xmlns:a16="http://schemas.microsoft.com/office/drawing/2014/main" id="{A007F39B-729D-4BE6-BEF5-3B4C09B3F0E0}"/>
              </a:ext>
            </a:extLst>
          </p:cNvPr>
          <p:cNvSpPr>
            <a:spLocks noGrp="1"/>
          </p:cNvSpPr>
          <p:nvPr>
            <p:ph idx="1"/>
          </p:nvPr>
        </p:nvSpPr>
        <p:spPr>
          <a:xfrm>
            <a:off x="457200" y="1125537"/>
            <a:ext cx="2968388" cy="389363"/>
          </a:xfrm>
        </p:spPr>
        <p:txBody>
          <a:bodyPr/>
          <a:lstStyle/>
          <a:p>
            <a:r>
              <a:rPr lang="zh-CN" altLang="en-US" dirty="0"/>
              <a:t>发展历程</a:t>
            </a:r>
            <a:endParaRPr lang="en-US" altLang="zh-CN" dirty="0"/>
          </a:p>
        </p:txBody>
      </p:sp>
      <p:grpSp>
        <p:nvGrpSpPr>
          <p:cNvPr id="8" name="组合 7">
            <a:extLst>
              <a:ext uri="{FF2B5EF4-FFF2-40B4-BE49-F238E27FC236}">
                <a16:creationId xmlns:a16="http://schemas.microsoft.com/office/drawing/2014/main" id="{F4C03B5E-CB52-3572-8D40-0431906F8294}"/>
              </a:ext>
            </a:extLst>
          </p:cNvPr>
          <p:cNvGrpSpPr/>
          <p:nvPr/>
        </p:nvGrpSpPr>
        <p:grpSpPr>
          <a:xfrm>
            <a:off x="4813153" y="2816640"/>
            <a:ext cx="3071353" cy="3471460"/>
            <a:chOff x="4460873" y="982686"/>
            <a:chExt cx="2454723" cy="2677176"/>
          </a:xfrm>
        </p:grpSpPr>
        <p:sp>
          <p:nvSpPr>
            <p:cNvPr id="10" name="圆角矩形 9">
              <a:extLst>
                <a:ext uri="{FF2B5EF4-FFF2-40B4-BE49-F238E27FC236}">
                  <a16:creationId xmlns:a16="http://schemas.microsoft.com/office/drawing/2014/main" id="{8318938B-CFC8-C196-A52B-23838AC7BE61}"/>
                </a:ext>
              </a:extLst>
            </p:cNvPr>
            <p:cNvSpPr/>
            <p:nvPr/>
          </p:nvSpPr>
          <p:spPr>
            <a:xfrm>
              <a:off x="4460873" y="982686"/>
              <a:ext cx="2454723" cy="2677176"/>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1" name="圆角矩形 4">
              <a:extLst>
                <a:ext uri="{FF2B5EF4-FFF2-40B4-BE49-F238E27FC236}">
                  <a16:creationId xmlns:a16="http://schemas.microsoft.com/office/drawing/2014/main" id="{00D8BE53-B3B0-099E-BAE8-BD4AE7FC412C}"/>
                </a:ext>
              </a:extLst>
            </p:cNvPr>
            <p:cNvSpPr txBox="1"/>
            <p:nvPr/>
          </p:nvSpPr>
          <p:spPr>
            <a:xfrm>
              <a:off x="4532769" y="1054582"/>
              <a:ext cx="2310931" cy="253338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zh-CN" altLang="en-US" sz="1800" kern="1200" dirty="0">
                  <a:latin typeface="Times" pitchFamily="2" charset="0"/>
                  <a:ea typeface="SimHei" panose="02010609060101010101" pitchFamily="49" charset="-122"/>
                </a:rPr>
                <a:t>这十年陆陆续续出现了一些商用的内存数据库。早期的内存数据库主要是为了满足金融以及电信领域对数据库系统的性能需求。</a:t>
              </a:r>
            </a:p>
            <a:p>
              <a:pPr marL="171450" lvl="1" indent="-171450" algn="l" defTabSz="800100">
                <a:lnSpc>
                  <a:spcPct val="90000"/>
                </a:lnSpc>
                <a:spcBef>
                  <a:spcPct val="0"/>
                </a:spcBef>
                <a:spcAft>
                  <a:spcPct val="15000"/>
                </a:spcAft>
                <a:buChar char="•"/>
              </a:pPr>
              <a:r>
                <a:rPr lang="zh-CN" sz="1800" kern="1200" dirty="0">
                  <a:latin typeface="Times" pitchFamily="2" charset="0"/>
                  <a:ea typeface="SimHei" panose="02010609060101010101" pitchFamily="49" charset="-122"/>
                </a:rPr>
                <a:t>美国贝尔实验室研制了</a:t>
              </a:r>
              <a:r>
                <a:rPr lang="en-US" sz="1800" kern="1200" dirty="0" err="1">
                  <a:latin typeface="Times" pitchFamily="2" charset="0"/>
                  <a:ea typeface="SimHei" panose="02010609060101010101" pitchFamily="49" charset="-122"/>
                </a:rPr>
                <a:t>DataBlitz</a:t>
              </a:r>
              <a:r>
                <a:rPr lang="zh-CN" sz="1800" kern="1200" dirty="0">
                  <a:latin typeface="Times" pitchFamily="2" charset="0"/>
                  <a:ea typeface="SimHei" panose="02010609060101010101" pitchFamily="49" charset="-122"/>
                </a:rPr>
                <a:t>内存数据库</a:t>
              </a:r>
              <a:endParaRPr lang="zh-CN" altLang="en-US" sz="1800" kern="1200" dirty="0">
                <a:latin typeface="Times" pitchFamily="2" charset="0"/>
                <a:ea typeface="SimHei" panose="02010609060101010101" pitchFamily="49" charset="-122"/>
              </a:endParaRPr>
            </a:p>
            <a:p>
              <a:pPr marL="171450" lvl="1" indent="-171450" algn="l" defTabSz="800100">
                <a:lnSpc>
                  <a:spcPct val="90000"/>
                </a:lnSpc>
                <a:spcBef>
                  <a:spcPct val="0"/>
                </a:spcBef>
                <a:spcAft>
                  <a:spcPct val="15000"/>
                </a:spcAft>
                <a:buChar char="•"/>
              </a:pPr>
              <a:r>
                <a:rPr lang="en-US" sz="1800" kern="1200" dirty="0">
                  <a:latin typeface="Times" pitchFamily="2" charset="0"/>
                  <a:ea typeface="SimHei" panose="02010609060101010101" pitchFamily="49" charset="-122"/>
                </a:rPr>
                <a:t>1996</a:t>
              </a:r>
              <a:r>
                <a:rPr lang="zh-CN" sz="1800" kern="1200" dirty="0">
                  <a:latin typeface="Times" pitchFamily="2" charset="0"/>
                  <a:ea typeface="SimHei" panose="02010609060101010101" pitchFamily="49" charset="-122"/>
                </a:rPr>
                <a:t>年，</a:t>
              </a:r>
              <a:r>
                <a:rPr lang="en-US" sz="1800" kern="1200" dirty="0">
                  <a:latin typeface="Times" pitchFamily="2" charset="0"/>
                  <a:ea typeface="SimHei" panose="02010609060101010101" pitchFamily="49" charset="-122"/>
                </a:rPr>
                <a:t>Oracle</a:t>
              </a:r>
              <a:r>
                <a:rPr lang="zh-CN" sz="1800" kern="1200" dirty="0">
                  <a:latin typeface="Times" pitchFamily="2" charset="0"/>
                  <a:ea typeface="SimHei" panose="02010609060101010101" pitchFamily="49" charset="-122"/>
                </a:rPr>
                <a:t>发布了</a:t>
              </a:r>
              <a:r>
                <a:rPr lang="en-US" sz="1800" kern="1200" dirty="0" err="1">
                  <a:latin typeface="Times" pitchFamily="2" charset="0"/>
                  <a:ea typeface="SimHei" panose="02010609060101010101" pitchFamily="49" charset="-122"/>
                </a:rPr>
                <a:t>TimesTen</a:t>
              </a:r>
              <a:r>
                <a:rPr lang="zh-CN" sz="1800" kern="1200" dirty="0">
                  <a:latin typeface="Times" pitchFamily="2" charset="0"/>
                  <a:ea typeface="SimHei" panose="02010609060101010101" pitchFamily="49" charset="-122"/>
                </a:rPr>
                <a:t>内存数据库。</a:t>
              </a:r>
              <a:endParaRPr lang="zh-CN" altLang="en-US" sz="1800" kern="1200" dirty="0">
                <a:latin typeface="Times" pitchFamily="2" charset="0"/>
                <a:ea typeface="SimHei" panose="02010609060101010101" pitchFamily="49" charset="-122"/>
              </a:endParaRPr>
            </a:p>
          </p:txBody>
        </p:sp>
      </p:grpSp>
      <p:grpSp>
        <p:nvGrpSpPr>
          <p:cNvPr id="12" name="组合 11">
            <a:extLst>
              <a:ext uri="{FF2B5EF4-FFF2-40B4-BE49-F238E27FC236}">
                <a16:creationId xmlns:a16="http://schemas.microsoft.com/office/drawing/2014/main" id="{ACEDD76F-EEBA-CE29-90F7-9653B9FB0F27}"/>
              </a:ext>
            </a:extLst>
          </p:cNvPr>
          <p:cNvGrpSpPr/>
          <p:nvPr/>
        </p:nvGrpSpPr>
        <p:grpSpPr>
          <a:xfrm>
            <a:off x="8827113" y="2816640"/>
            <a:ext cx="3071353" cy="3471460"/>
            <a:chOff x="8403452" y="982686"/>
            <a:chExt cx="2454723" cy="2677176"/>
          </a:xfrm>
        </p:grpSpPr>
        <p:sp>
          <p:nvSpPr>
            <p:cNvPr id="13" name="圆角矩形 12">
              <a:extLst>
                <a:ext uri="{FF2B5EF4-FFF2-40B4-BE49-F238E27FC236}">
                  <a16:creationId xmlns:a16="http://schemas.microsoft.com/office/drawing/2014/main" id="{7CAD76D4-FC38-EBDB-8D6F-7046D5DE9FDD}"/>
                </a:ext>
              </a:extLst>
            </p:cNvPr>
            <p:cNvSpPr/>
            <p:nvPr/>
          </p:nvSpPr>
          <p:spPr>
            <a:xfrm>
              <a:off x="8403452" y="982686"/>
              <a:ext cx="2454723" cy="2677176"/>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4" name="圆角矩形 4">
              <a:extLst>
                <a:ext uri="{FF2B5EF4-FFF2-40B4-BE49-F238E27FC236}">
                  <a16:creationId xmlns:a16="http://schemas.microsoft.com/office/drawing/2014/main" id="{5ED046BA-E715-E06A-35C1-4B65960B4195}"/>
                </a:ext>
              </a:extLst>
            </p:cNvPr>
            <p:cNvSpPr txBox="1"/>
            <p:nvPr/>
          </p:nvSpPr>
          <p:spPr>
            <a:xfrm>
              <a:off x="8475348" y="1054582"/>
              <a:ext cx="2310931" cy="253338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zh-CN" altLang="en-US" sz="1800" kern="1200" dirty="0">
                  <a:latin typeface="Times" pitchFamily="2" charset="0"/>
                  <a:ea typeface="SimHei" panose="02010609060101010101" pitchFamily="49" charset="-122"/>
                </a:rPr>
                <a:t>随着计算机硬件的进步，在内存容量增加且价格便宜，奠定了硬件基础</a:t>
              </a:r>
            </a:p>
            <a:p>
              <a:pPr marL="171450" lvl="1" indent="-171450" algn="l" defTabSz="800100">
                <a:lnSpc>
                  <a:spcPct val="90000"/>
                </a:lnSpc>
                <a:spcBef>
                  <a:spcPct val="0"/>
                </a:spcBef>
                <a:spcAft>
                  <a:spcPct val="15000"/>
                </a:spcAft>
                <a:buChar char="•"/>
              </a:pPr>
              <a:r>
                <a:rPr lang="zh-CN" altLang="en-US" sz="1800" kern="1200" dirty="0">
                  <a:latin typeface="Times" pitchFamily="2" charset="0"/>
                  <a:ea typeface="SimHei" panose="02010609060101010101" pitchFamily="49" charset="-122"/>
                </a:rPr>
                <a:t>随着互联网的发展，涌现出大量的应用场景需要高性能内存数据库的支持。</a:t>
              </a:r>
            </a:p>
            <a:p>
              <a:pPr marL="171450" lvl="1" indent="-171450" algn="l" defTabSz="800100">
                <a:lnSpc>
                  <a:spcPct val="90000"/>
                </a:lnSpc>
                <a:spcBef>
                  <a:spcPct val="0"/>
                </a:spcBef>
                <a:spcAft>
                  <a:spcPct val="15000"/>
                </a:spcAft>
                <a:buChar char="•"/>
              </a:pPr>
              <a:r>
                <a:rPr lang="zh-CN" altLang="en-US" sz="1800" kern="1200" dirty="0">
                  <a:latin typeface="Times" pitchFamily="2" charset="0"/>
                  <a:ea typeface="SimHei" panose="02010609060101010101" pitchFamily="49" charset="-122"/>
                </a:rPr>
                <a:t>研发</a:t>
              </a:r>
              <a:r>
                <a:rPr lang="zh-CN" sz="1800" kern="1200" dirty="0">
                  <a:latin typeface="Times" pitchFamily="2" charset="0"/>
                  <a:ea typeface="SimHei" panose="02010609060101010101" pitchFamily="49" charset="-122"/>
                </a:rPr>
                <a:t>出了</a:t>
              </a:r>
              <a:r>
                <a:rPr lang="en-US" sz="1800" kern="1200" dirty="0">
                  <a:latin typeface="Times" pitchFamily="2" charset="0"/>
                  <a:ea typeface="SimHei" panose="02010609060101010101" pitchFamily="49" charset="-122"/>
                </a:rPr>
                <a:t>Redis</a:t>
              </a:r>
              <a:r>
                <a:rPr lang="zh-CN" sz="1800" kern="1200" dirty="0">
                  <a:latin typeface="Times" pitchFamily="2" charset="0"/>
                  <a:ea typeface="SimHei" panose="02010609060101010101" pitchFamily="49" charset="-122"/>
                </a:rPr>
                <a:t>、</a:t>
              </a:r>
              <a:r>
                <a:rPr lang="en-US" sz="1800" kern="1200" dirty="0">
                  <a:latin typeface="Times" pitchFamily="2" charset="0"/>
                  <a:ea typeface="SimHei" panose="02010609060101010101" pitchFamily="49" charset="-122"/>
                </a:rPr>
                <a:t>SAP HANA</a:t>
              </a:r>
              <a:r>
                <a:rPr lang="zh-CN" sz="1800" kern="1200" dirty="0">
                  <a:latin typeface="Times" pitchFamily="2" charset="0"/>
                  <a:ea typeface="SimHei" panose="02010609060101010101" pitchFamily="49" charset="-122"/>
                </a:rPr>
                <a:t>、</a:t>
              </a:r>
              <a:r>
                <a:rPr lang="en-US" sz="1800" kern="1200" dirty="0" err="1">
                  <a:latin typeface="Times" pitchFamily="2" charset="0"/>
                  <a:ea typeface="SimHei" panose="02010609060101010101" pitchFamily="49" charset="-122"/>
                </a:rPr>
                <a:t>VoltDB</a:t>
              </a:r>
              <a:r>
                <a:rPr lang="zh-CN" sz="1800" kern="1200" dirty="0">
                  <a:latin typeface="Times" pitchFamily="2" charset="0"/>
                  <a:ea typeface="SimHei" panose="02010609060101010101" pitchFamily="49" charset="-122"/>
                </a:rPr>
                <a:t>、</a:t>
              </a:r>
              <a:r>
                <a:rPr lang="en-US" sz="1800" kern="1200" dirty="0">
                  <a:latin typeface="Times" pitchFamily="2" charset="0"/>
                  <a:ea typeface="SimHei" panose="02010609060101010101" pitchFamily="49" charset="-122"/>
                </a:rPr>
                <a:t>Hekaton</a:t>
              </a:r>
              <a:r>
                <a:rPr lang="zh-CN" sz="1800" kern="1200" dirty="0">
                  <a:latin typeface="Times" pitchFamily="2" charset="0"/>
                  <a:ea typeface="SimHei" panose="02010609060101010101" pitchFamily="49" charset="-122"/>
                </a:rPr>
                <a:t>和</a:t>
              </a:r>
              <a:r>
                <a:rPr lang="en-US" sz="1800" kern="1200" dirty="0">
                  <a:latin typeface="Times" pitchFamily="2" charset="0"/>
                  <a:ea typeface="SimHei" panose="02010609060101010101" pitchFamily="49" charset="-122"/>
                </a:rPr>
                <a:t>Hyper</a:t>
              </a:r>
              <a:r>
                <a:rPr lang="zh-CN" sz="1800" kern="1200" dirty="0">
                  <a:latin typeface="Times" pitchFamily="2" charset="0"/>
                  <a:ea typeface="SimHei" panose="02010609060101010101" pitchFamily="49" charset="-122"/>
                </a:rPr>
                <a:t>等内存数据库，这些数据库在商业市场中得到了广泛的应用。</a:t>
              </a:r>
              <a:endParaRPr lang="zh-CN" altLang="en-US" sz="1800" kern="1200" dirty="0">
                <a:latin typeface="Times" pitchFamily="2" charset="0"/>
                <a:ea typeface="SimHei" panose="02010609060101010101" pitchFamily="49" charset="-122"/>
              </a:endParaRPr>
            </a:p>
          </p:txBody>
        </p:sp>
      </p:grpSp>
      <p:grpSp>
        <p:nvGrpSpPr>
          <p:cNvPr id="5" name="组合 4">
            <a:extLst>
              <a:ext uri="{FF2B5EF4-FFF2-40B4-BE49-F238E27FC236}">
                <a16:creationId xmlns:a16="http://schemas.microsoft.com/office/drawing/2014/main" id="{824C7A14-64DC-E535-64BB-3CBB109E54C1}"/>
              </a:ext>
            </a:extLst>
          </p:cNvPr>
          <p:cNvGrpSpPr/>
          <p:nvPr/>
        </p:nvGrpSpPr>
        <p:grpSpPr>
          <a:xfrm>
            <a:off x="759679" y="2863414"/>
            <a:ext cx="3071353" cy="3471461"/>
            <a:chOff x="518295" y="982686"/>
            <a:chExt cx="2454723" cy="2677176"/>
          </a:xfrm>
        </p:grpSpPr>
        <p:sp>
          <p:nvSpPr>
            <p:cNvPr id="6" name="圆角矩形 5">
              <a:extLst>
                <a:ext uri="{FF2B5EF4-FFF2-40B4-BE49-F238E27FC236}">
                  <a16:creationId xmlns:a16="http://schemas.microsoft.com/office/drawing/2014/main" id="{3AF3331F-A323-C54E-E473-8F26B240FEEE}"/>
                </a:ext>
              </a:extLst>
            </p:cNvPr>
            <p:cNvSpPr/>
            <p:nvPr/>
          </p:nvSpPr>
          <p:spPr>
            <a:xfrm>
              <a:off x="518295" y="982686"/>
              <a:ext cx="2454723" cy="2677176"/>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7" name="圆角矩形 4">
              <a:extLst>
                <a:ext uri="{FF2B5EF4-FFF2-40B4-BE49-F238E27FC236}">
                  <a16:creationId xmlns:a16="http://schemas.microsoft.com/office/drawing/2014/main" id="{FF0EABBB-8A14-501D-DE60-F9DEC294B60A}"/>
                </a:ext>
              </a:extLst>
            </p:cNvPr>
            <p:cNvSpPr txBox="1"/>
            <p:nvPr/>
          </p:nvSpPr>
          <p:spPr>
            <a:xfrm>
              <a:off x="590191" y="1054582"/>
              <a:ext cx="2310931" cy="253338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zh-CN" altLang="en-US" sz="1800" kern="1200" dirty="0">
                  <a:latin typeface="Times" pitchFamily="2" charset="0"/>
                  <a:ea typeface="SimHei" panose="02010609060101010101" pitchFamily="49" charset="-122"/>
                </a:rPr>
                <a:t>内存数据库发展的萌芽期</a:t>
              </a:r>
            </a:p>
            <a:p>
              <a:pPr marL="171450" lvl="1" indent="-171450" algn="l" defTabSz="800100">
                <a:lnSpc>
                  <a:spcPct val="90000"/>
                </a:lnSpc>
                <a:spcBef>
                  <a:spcPct val="0"/>
                </a:spcBef>
                <a:spcAft>
                  <a:spcPct val="15000"/>
                </a:spcAft>
                <a:buChar char="•"/>
              </a:pPr>
              <a:r>
                <a:rPr lang="zh-CN" altLang="en-US" sz="1800" kern="1200" dirty="0">
                  <a:latin typeface="Times" pitchFamily="2" charset="0"/>
                  <a:ea typeface="SimHei" panose="02010609060101010101" pitchFamily="49" charset="-122"/>
                </a:rPr>
                <a:t>学术界开始构思如何基于内存进行数据管理</a:t>
              </a:r>
            </a:p>
            <a:p>
              <a:pPr marL="171450" lvl="1" indent="-171450" algn="l" defTabSz="800100">
                <a:lnSpc>
                  <a:spcPct val="90000"/>
                </a:lnSpc>
                <a:spcBef>
                  <a:spcPct val="0"/>
                </a:spcBef>
                <a:spcAft>
                  <a:spcPct val="15000"/>
                </a:spcAft>
                <a:buChar char="•"/>
              </a:pPr>
              <a:r>
                <a:rPr lang="zh-CN" altLang="en-US" sz="1800" kern="1200" dirty="0">
                  <a:latin typeface="Times" pitchFamily="2" charset="0"/>
                  <a:ea typeface="SimHei" panose="02010609060101010101" pitchFamily="49" charset="-122"/>
                </a:rPr>
                <a:t>受限于当时的计算机硬件水平，内存数据库并没有得到大规模的应用。</a:t>
              </a:r>
            </a:p>
          </p:txBody>
        </p:sp>
      </p:grpSp>
      <p:sp>
        <p:nvSpPr>
          <p:cNvPr id="22" name="灯片编号占位符 1">
            <a:extLst>
              <a:ext uri="{FF2B5EF4-FFF2-40B4-BE49-F238E27FC236}">
                <a16:creationId xmlns:a16="http://schemas.microsoft.com/office/drawing/2014/main" id="{9CF7C789-8DCB-AC66-7C8B-AF86A25811EC}"/>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86</a:t>
            </a:fld>
            <a:endParaRPr lang="zh-CN" altLang="en-US" dirty="0"/>
          </a:p>
        </p:txBody>
      </p:sp>
    </p:spTree>
    <p:extLst>
      <p:ext uri="{BB962C8B-B14F-4D97-AF65-F5344CB8AC3E}">
        <p14:creationId xmlns:p14="http://schemas.microsoft.com/office/powerpoint/2010/main" val="194138542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p:txBody>
          <a:bodyPr/>
          <a:lstStyle/>
          <a:p>
            <a:pPr>
              <a:buFont typeface="Wingdings" pitchFamily="2" charset="2"/>
              <a:buChar char="l"/>
            </a:pPr>
            <a:r>
              <a:rPr lang="zh-CN" altLang="en-US" sz="2800" dirty="0">
                <a:solidFill>
                  <a:schemeClr val="tx1">
                    <a:lumMod val="50000"/>
                    <a:lumOff val="50000"/>
                  </a:schemeClr>
                </a:solidFill>
                <a:latin typeface="Times" pitchFamily="2" charset="0"/>
              </a:rPr>
              <a:t>层次和网状数据库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关系数据库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en-US" altLang="zh-CN" sz="2800" dirty="0">
                <a:solidFill>
                  <a:schemeClr val="tx1">
                    <a:lumMod val="50000"/>
                    <a:lumOff val="50000"/>
                  </a:schemeClr>
                </a:solidFill>
                <a:latin typeface="Times" pitchFamily="2" charset="0"/>
              </a:rPr>
              <a:t>OLTP</a:t>
            </a:r>
            <a:r>
              <a:rPr lang="zh-CN" altLang="en-US" sz="2800" dirty="0">
                <a:solidFill>
                  <a:schemeClr val="tx1">
                    <a:lumMod val="50000"/>
                    <a:lumOff val="50000"/>
                  </a:schemeClr>
                </a:solidFill>
                <a:latin typeface="Times" pitchFamily="2" charset="0"/>
              </a:rPr>
              <a:t>、</a:t>
            </a:r>
            <a:r>
              <a:rPr lang="en-US" altLang="zh-CN" sz="2800" dirty="0">
                <a:solidFill>
                  <a:schemeClr val="tx1">
                    <a:lumMod val="50000"/>
                    <a:lumOff val="50000"/>
                  </a:schemeClr>
                </a:solidFill>
                <a:latin typeface="Times" pitchFamily="2" charset="0"/>
              </a:rPr>
              <a:t>OLAP</a:t>
            </a:r>
            <a:r>
              <a:rPr lang="zh-CN" altLang="en-US" sz="2800" dirty="0">
                <a:solidFill>
                  <a:schemeClr val="tx1">
                    <a:lumMod val="50000"/>
                    <a:lumOff val="50000"/>
                  </a:schemeClr>
                </a:solidFill>
                <a:latin typeface="Times" pitchFamily="2" charset="0"/>
              </a:rPr>
              <a:t>与</a:t>
            </a:r>
            <a:r>
              <a:rPr lang="en-US" altLang="zh-CN" sz="2800" dirty="0">
                <a:solidFill>
                  <a:schemeClr val="tx1">
                    <a:lumMod val="50000"/>
                    <a:lumOff val="50000"/>
                  </a:schemeClr>
                </a:solidFill>
                <a:latin typeface="Times" pitchFamily="2" charset="0"/>
              </a:rPr>
              <a:t>HTAP</a:t>
            </a:r>
            <a:r>
              <a:rPr lang="zh-CN" altLang="en-US" sz="2800" dirty="0">
                <a:solidFill>
                  <a:schemeClr val="tx1">
                    <a:lumMod val="50000"/>
                    <a:lumOff val="50000"/>
                  </a:schemeClr>
                </a:solidFill>
                <a:latin typeface="Times" pitchFamily="2" charset="0"/>
              </a:rPr>
              <a:t>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en-US" altLang="zh-CN" sz="2800" dirty="0">
                <a:solidFill>
                  <a:schemeClr val="tx1">
                    <a:lumMod val="50000"/>
                    <a:lumOff val="50000"/>
                  </a:schemeClr>
                </a:solidFill>
                <a:latin typeface="Times" pitchFamily="2" charset="0"/>
              </a:rPr>
              <a:t>NoSQL</a:t>
            </a:r>
            <a:r>
              <a:rPr lang="zh-CN" altLang="en-US" sz="2800" dirty="0">
                <a:solidFill>
                  <a:schemeClr val="tx1">
                    <a:lumMod val="50000"/>
                    <a:lumOff val="50000"/>
                  </a:schemeClr>
                </a:solidFill>
                <a:latin typeface="Times" pitchFamily="2" charset="0"/>
              </a:rPr>
              <a:t>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分布式数据库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内存数据库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latin typeface="Times" pitchFamily="2" charset="0"/>
              </a:rPr>
              <a:t>云数据库</a:t>
            </a:r>
            <a:endParaRPr lang="en-US" altLang="zh-CN" sz="2800" dirty="0">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其它类型数据库</a:t>
            </a:r>
            <a:endParaRPr lang="en-US" altLang="zh-CN" sz="28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实时数据库</a:t>
            </a:r>
            <a:endParaRPr lang="en-US" altLang="zh-CN" sz="24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并行数据库</a:t>
            </a:r>
            <a:endParaRPr lang="en-US" altLang="zh-CN" sz="2400" dirty="0">
              <a:solidFill>
                <a:schemeClr val="tx1">
                  <a:lumMod val="50000"/>
                  <a:lumOff val="50000"/>
                </a:schemeClr>
              </a:solidFill>
              <a:latin typeface="Times" pitchFamily="2" charset="0"/>
            </a:endParaRPr>
          </a:p>
          <a:p>
            <a:pPr lvl="1">
              <a:buFont typeface="Wingdings" pitchFamily="2" charset="2"/>
              <a:buChar char="l"/>
            </a:pPr>
            <a:r>
              <a:rPr lang="zh-CN" altLang="en-US" sz="2400" dirty="0">
                <a:solidFill>
                  <a:schemeClr val="tx1">
                    <a:lumMod val="50000"/>
                    <a:lumOff val="50000"/>
                  </a:schemeClr>
                </a:solidFill>
                <a:latin typeface="Times" pitchFamily="2" charset="0"/>
              </a:rPr>
              <a:t>终端数据库</a:t>
            </a: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数据库发展史概览</a:t>
            </a:r>
          </a:p>
        </p:txBody>
      </p:sp>
      <p:pic>
        <p:nvPicPr>
          <p:cNvPr id="4" name="图片 3">
            <a:extLst>
              <a:ext uri="{FF2B5EF4-FFF2-40B4-BE49-F238E27FC236}">
                <a16:creationId xmlns:a16="http://schemas.microsoft.com/office/drawing/2014/main" id="{60ED12C6-759A-07BF-765A-0E56422F1245}"/>
              </a:ext>
            </a:extLst>
          </p:cNvPr>
          <p:cNvPicPr>
            <a:picLocks noChangeAspect="1"/>
          </p:cNvPicPr>
          <p:nvPr/>
        </p:nvPicPr>
        <p:blipFill>
          <a:blip r:embed="rId2"/>
          <a:stretch>
            <a:fillRect/>
          </a:stretch>
        </p:blipFill>
        <p:spPr>
          <a:xfrm>
            <a:off x="8859520" y="4958475"/>
            <a:ext cx="2810510" cy="1689950"/>
          </a:xfrm>
          <a:prstGeom prst="rect">
            <a:avLst/>
          </a:prstGeom>
        </p:spPr>
      </p:pic>
      <p:pic>
        <p:nvPicPr>
          <p:cNvPr id="5" name="Picture 2" descr="PostgreSQL Elephant Logo">
            <a:extLst>
              <a:ext uri="{FF2B5EF4-FFF2-40B4-BE49-F238E27FC236}">
                <a16:creationId xmlns:a16="http://schemas.microsoft.com/office/drawing/2014/main" id="{9AC9BF95-67D0-3871-2C06-C04A69BB7E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4420" y="5212823"/>
            <a:ext cx="1353185" cy="139583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Neo4j logo">
            <a:extLst>
              <a:ext uri="{FF2B5EF4-FFF2-40B4-BE49-F238E27FC236}">
                <a16:creationId xmlns:a16="http://schemas.microsoft.com/office/drawing/2014/main" id="{AC77A613-3452-5ABC-28EB-2F46994549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8536" y="3913744"/>
            <a:ext cx="2004954" cy="72907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dis logo">
            <a:extLst>
              <a:ext uri="{FF2B5EF4-FFF2-40B4-BE49-F238E27FC236}">
                <a16:creationId xmlns:a16="http://schemas.microsoft.com/office/drawing/2014/main" id="{81A7B719-CB14-88EE-04D2-C8D2E405DF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84080" y="3914046"/>
            <a:ext cx="1977614" cy="729074"/>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6" descr="MongoDB logo">
            <a:extLst>
              <a:ext uri="{FF2B5EF4-FFF2-40B4-BE49-F238E27FC236}">
                <a16:creationId xmlns:a16="http://schemas.microsoft.com/office/drawing/2014/main" id="{7E40835E-5FB1-2417-933C-90BE3DA644F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 name="图片 9">
            <a:extLst>
              <a:ext uri="{FF2B5EF4-FFF2-40B4-BE49-F238E27FC236}">
                <a16:creationId xmlns:a16="http://schemas.microsoft.com/office/drawing/2014/main" id="{21B986D6-51FA-D013-EC20-2DE64654C4CD}"/>
              </a:ext>
            </a:extLst>
          </p:cNvPr>
          <p:cNvPicPr>
            <a:picLocks noChangeAspect="1"/>
          </p:cNvPicPr>
          <p:nvPr/>
        </p:nvPicPr>
        <p:blipFill>
          <a:blip r:embed="rId6"/>
          <a:stretch>
            <a:fillRect/>
          </a:stretch>
        </p:blipFill>
        <p:spPr>
          <a:xfrm>
            <a:off x="9293317" y="2845968"/>
            <a:ext cx="2356393" cy="833554"/>
          </a:xfrm>
          <a:prstGeom prst="rect">
            <a:avLst/>
          </a:prstGeom>
        </p:spPr>
      </p:pic>
      <p:pic>
        <p:nvPicPr>
          <p:cNvPr id="2058" name="Picture 10" descr="MongoDB gets a data lake, new security features and more | TechCrunch">
            <a:extLst>
              <a:ext uri="{FF2B5EF4-FFF2-40B4-BE49-F238E27FC236}">
                <a16:creationId xmlns:a16="http://schemas.microsoft.com/office/drawing/2014/main" id="{FD4466B4-BF39-EAA2-C477-E8091C6F4AB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69070" y="2037705"/>
            <a:ext cx="2580640" cy="696907"/>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SQLite - Wikipedia">
            <a:extLst>
              <a:ext uri="{FF2B5EF4-FFF2-40B4-BE49-F238E27FC236}">
                <a16:creationId xmlns:a16="http://schemas.microsoft.com/office/drawing/2014/main" id="{365E81DD-E7AB-75AF-5379-4DFAFB0D03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34246" y="2759489"/>
            <a:ext cx="1613535" cy="765169"/>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Oracle Database : Fujitsu EMEIA">
            <a:extLst>
              <a:ext uri="{FF2B5EF4-FFF2-40B4-BE49-F238E27FC236}">
                <a16:creationId xmlns:a16="http://schemas.microsoft.com/office/drawing/2014/main" id="{7D5D036E-43D5-4753-B5F9-A452DE0CD62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38536" y="1751328"/>
            <a:ext cx="1981244" cy="76517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1">
            <a:extLst>
              <a:ext uri="{FF2B5EF4-FFF2-40B4-BE49-F238E27FC236}">
                <a16:creationId xmlns:a16="http://schemas.microsoft.com/office/drawing/2014/main" id="{E6D16C8F-20E1-7F11-61FA-DF84F1BBFBC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87</a:t>
            </a:fld>
            <a:endParaRPr lang="zh-CN" altLang="en-US"/>
          </a:p>
        </p:txBody>
      </p:sp>
    </p:spTree>
    <p:extLst>
      <p:ext uri="{BB962C8B-B14F-4D97-AF65-F5344CB8AC3E}">
        <p14:creationId xmlns:p14="http://schemas.microsoft.com/office/powerpoint/2010/main" val="50639181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CC82552-2542-1ED5-482E-9D46D5E3595F}"/>
              </a:ext>
            </a:extLst>
          </p:cNvPr>
          <p:cNvSpPr>
            <a:spLocks noGrp="1"/>
          </p:cNvSpPr>
          <p:nvPr>
            <p:ph type="sldNum" sz="quarter" idx="10"/>
          </p:nvPr>
        </p:nvSpPr>
        <p:spPr/>
        <p:txBody>
          <a:bodyPr/>
          <a:lstStyle/>
          <a:p>
            <a:fld id="{87BBDC00-B9E2-4EFD-9306-2934E87247C6}" type="slidenum">
              <a:rPr lang="zh-CN" altLang="en-US" smtClean="0"/>
              <a:pPr/>
              <a:t>88</a:t>
            </a:fld>
            <a:endParaRPr lang="zh-CN" altLang="en-US"/>
          </a:p>
        </p:txBody>
      </p:sp>
      <p:sp>
        <p:nvSpPr>
          <p:cNvPr id="3" name="标题 2">
            <a:extLst>
              <a:ext uri="{FF2B5EF4-FFF2-40B4-BE49-F238E27FC236}">
                <a16:creationId xmlns:a16="http://schemas.microsoft.com/office/drawing/2014/main" id="{42663AAF-5F2A-8FC2-46A5-FA4DA6C37BF6}"/>
              </a:ext>
            </a:extLst>
          </p:cNvPr>
          <p:cNvSpPr>
            <a:spLocks noGrp="1"/>
          </p:cNvSpPr>
          <p:nvPr>
            <p:ph type="title"/>
          </p:nvPr>
        </p:nvSpPr>
        <p:spPr/>
        <p:txBody>
          <a:bodyPr/>
          <a:lstStyle/>
          <a:p>
            <a:r>
              <a:rPr lang="zh-CN" altLang="en-US" dirty="0"/>
              <a:t>云数据库</a:t>
            </a:r>
          </a:p>
        </p:txBody>
      </p:sp>
      <p:sp>
        <p:nvSpPr>
          <p:cNvPr id="4" name="内容占位符 3">
            <a:extLst>
              <a:ext uri="{FF2B5EF4-FFF2-40B4-BE49-F238E27FC236}">
                <a16:creationId xmlns:a16="http://schemas.microsoft.com/office/drawing/2014/main" id="{6AD3DF2A-8281-B05A-1C95-178D0AB1A05F}"/>
              </a:ext>
            </a:extLst>
          </p:cNvPr>
          <p:cNvSpPr>
            <a:spLocks noGrp="1"/>
          </p:cNvSpPr>
          <p:nvPr>
            <p:ph idx="1"/>
          </p:nvPr>
        </p:nvSpPr>
        <p:spPr/>
        <p:txBody>
          <a:bodyPr/>
          <a:lstStyle/>
          <a:p>
            <a:r>
              <a:rPr lang="zh-CN" altLang="en-US" dirty="0">
                <a:latin typeface="Times" pitchFamily="2" charset="0"/>
              </a:rPr>
              <a:t>核心：数据库即服务</a:t>
            </a:r>
            <a:endParaRPr lang="en-US" altLang="zh-CN" dirty="0">
              <a:latin typeface="Times" pitchFamily="2" charset="0"/>
            </a:endParaRPr>
          </a:p>
          <a:p>
            <a:r>
              <a:rPr lang="en-US" altLang="zh-CN" dirty="0">
                <a:latin typeface="Times" pitchFamily="2" charset="0"/>
              </a:rPr>
              <a:t>2</a:t>
            </a:r>
            <a:r>
              <a:rPr lang="zh-CN" altLang="en-US" dirty="0">
                <a:latin typeface="Times" pitchFamily="2" charset="0"/>
              </a:rPr>
              <a:t>个角度</a:t>
            </a:r>
            <a:endParaRPr lang="en-US" altLang="zh-CN" dirty="0">
              <a:latin typeface="Times" pitchFamily="2" charset="0"/>
            </a:endParaRPr>
          </a:p>
          <a:p>
            <a:pPr lvl="1"/>
            <a:r>
              <a:rPr lang="zh-CN" altLang="en-US" dirty="0">
                <a:latin typeface="Times" pitchFamily="2" charset="0"/>
              </a:rPr>
              <a:t>提供商：规模效应</a:t>
            </a:r>
            <a:endParaRPr lang="en-US" altLang="zh-CN" dirty="0">
              <a:latin typeface="Times" pitchFamily="2" charset="0"/>
            </a:endParaRPr>
          </a:p>
          <a:p>
            <a:pPr lvl="1"/>
            <a:r>
              <a:rPr lang="zh-CN" altLang="en-US" dirty="0">
                <a:latin typeface="Times" pitchFamily="2" charset="0"/>
              </a:rPr>
              <a:t>使用者：</a:t>
            </a:r>
            <a:r>
              <a:rPr lang="en-US" altLang="zh-CN" dirty="0">
                <a:latin typeface="Times" pitchFamily="2" charset="0"/>
              </a:rPr>
              <a:t>3</a:t>
            </a:r>
            <a:r>
              <a:rPr lang="zh-CN" altLang="en-US" dirty="0">
                <a:latin typeface="Times" pitchFamily="2" charset="0"/>
              </a:rPr>
              <a:t>大优势</a:t>
            </a:r>
            <a:endParaRPr lang="en-US" altLang="zh-CN" dirty="0">
              <a:latin typeface="Times" pitchFamily="2" charset="0"/>
            </a:endParaRPr>
          </a:p>
          <a:p>
            <a:r>
              <a:rPr lang="en-US" altLang="zh-CN" dirty="0">
                <a:latin typeface="Times" pitchFamily="2" charset="0"/>
              </a:rPr>
              <a:t>3</a:t>
            </a:r>
            <a:r>
              <a:rPr lang="zh-CN" altLang="en-US" dirty="0">
                <a:latin typeface="Times" pitchFamily="2" charset="0"/>
              </a:rPr>
              <a:t>大优势</a:t>
            </a:r>
            <a:endParaRPr lang="en-US" altLang="zh-CN" dirty="0">
              <a:latin typeface="Times" pitchFamily="2" charset="0"/>
            </a:endParaRPr>
          </a:p>
          <a:p>
            <a:pPr lvl="1"/>
            <a:r>
              <a:rPr lang="zh-CN" altLang="zh-CN" dirty="0">
                <a:latin typeface="Times" pitchFamily="2" charset="0"/>
              </a:rPr>
              <a:t>高可用，强容灾</a:t>
            </a:r>
          </a:p>
          <a:p>
            <a:pPr lvl="1"/>
            <a:r>
              <a:rPr lang="zh-CN" altLang="zh-CN" dirty="0">
                <a:latin typeface="Times" pitchFamily="2" charset="0"/>
              </a:rPr>
              <a:t>弹性扩容，按需计费</a:t>
            </a:r>
          </a:p>
          <a:p>
            <a:pPr lvl="1"/>
            <a:r>
              <a:rPr lang="zh-CN" altLang="zh-CN" dirty="0">
                <a:latin typeface="Times" pitchFamily="2" charset="0"/>
              </a:rPr>
              <a:t>智能运维，自动优化</a:t>
            </a:r>
          </a:p>
          <a:p>
            <a:pPr lvl="1"/>
            <a:endParaRPr lang="zh-CN" altLang="en-US" dirty="0">
              <a:latin typeface="Times" pitchFamily="2" charset="0"/>
            </a:endParaRPr>
          </a:p>
        </p:txBody>
      </p:sp>
      <p:pic>
        <p:nvPicPr>
          <p:cNvPr id="8" name="图片 7">
            <a:extLst>
              <a:ext uri="{FF2B5EF4-FFF2-40B4-BE49-F238E27FC236}">
                <a16:creationId xmlns:a16="http://schemas.microsoft.com/office/drawing/2014/main" id="{1F6D04A6-51FB-689C-6795-85CBF265346F}"/>
              </a:ext>
            </a:extLst>
          </p:cNvPr>
          <p:cNvPicPr>
            <a:picLocks noChangeAspect="1"/>
          </p:cNvPicPr>
          <p:nvPr/>
        </p:nvPicPr>
        <p:blipFill>
          <a:blip r:embed="rId3"/>
          <a:stretch>
            <a:fillRect/>
          </a:stretch>
        </p:blipFill>
        <p:spPr>
          <a:xfrm>
            <a:off x="5064498" y="788054"/>
            <a:ext cx="6076950" cy="5438775"/>
          </a:xfrm>
          <a:prstGeom prst="rect">
            <a:avLst/>
          </a:prstGeom>
        </p:spPr>
      </p:pic>
    </p:spTree>
    <p:extLst>
      <p:ext uri="{BB962C8B-B14F-4D97-AF65-F5344CB8AC3E}">
        <p14:creationId xmlns:p14="http://schemas.microsoft.com/office/powerpoint/2010/main" val="34362991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F201705-0925-BE68-4807-57C835637374}"/>
              </a:ext>
            </a:extLst>
          </p:cNvPr>
          <p:cNvSpPr>
            <a:spLocks noGrp="1"/>
          </p:cNvSpPr>
          <p:nvPr>
            <p:ph type="sldNum" sz="quarter" idx="10"/>
          </p:nvPr>
        </p:nvSpPr>
        <p:spPr/>
        <p:txBody>
          <a:bodyPr/>
          <a:lstStyle/>
          <a:p>
            <a:fld id="{87BBDC00-B9E2-4EFD-9306-2934E87247C6}" type="slidenum">
              <a:rPr lang="zh-CN" altLang="en-US" smtClean="0"/>
              <a:pPr/>
              <a:t>89</a:t>
            </a:fld>
            <a:endParaRPr lang="zh-CN" altLang="en-US"/>
          </a:p>
        </p:txBody>
      </p:sp>
      <p:sp>
        <p:nvSpPr>
          <p:cNvPr id="3" name="标题 2">
            <a:extLst>
              <a:ext uri="{FF2B5EF4-FFF2-40B4-BE49-F238E27FC236}">
                <a16:creationId xmlns:a16="http://schemas.microsoft.com/office/drawing/2014/main" id="{A4E72866-A431-A42E-8575-000FEB288B52}"/>
              </a:ext>
            </a:extLst>
          </p:cNvPr>
          <p:cNvSpPr>
            <a:spLocks noGrp="1"/>
          </p:cNvSpPr>
          <p:nvPr>
            <p:ph type="title"/>
          </p:nvPr>
        </p:nvSpPr>
        <p:spPr/>
        <p:txBody>
          <a:bodyPr/>
          <a:lstStyle/>
          <a:p>
            <a:r>
              <a:rPr lang="zh-CN" altLang="en-US" dirty="0"/>
              <a:t>云服务简介</a:t>
            </a:r>
          </a:p>
        </p:txBody>
      </p:sp>
      <p:sp>
        <p:nvSpPr>
          <p:cNvPr id="4" name="内容占位符 3">
            <a:extLst>
              <a:ext uri="{FF2B5EF4-FFF2-40B4-BE49-F238E27FC236}">
                <a16:creationId xmlns:a16="http://schemas.microsoft.com/office/drawing/2014/main" id="{592867F9-F91F-BCAB-EAD9-AAE4195D0D21}"/>
              </a:ext>
            </a:extLst>
          </p:cNvPr>
          <p:cNvSpPr>
            <a:spLocks noGrp="1"/>
          </p:cNvSpPr>
          <p:nvPr>
            <p:ph idx="1"/>
          </p:nvPr>
        </p:nvSpPr>
        <p:spPr/>
        <p:txBody>
          <a:bodyPr/>
          <a:lstStyle/>
          <a:p>
            <a:r>
              <a:rPr lang="zh-CN" altLang="en-US" dirty="0">
                <a:latin typeface="Times" pitchFamily="2" charset="0"/>
              </a:rPr>
              <a:t>云服务的背景：动态工作负载</a:t>
            </a:r>
            <a:endParaRPr lang="en-US" altLang="zh-CN" dirty="0">
              <a:latin typeface="Times" pitchFamily="2" charset="0"/>
            </a:endParaRPr>
          </a:p>
          <a:p>
            <a:r>
              <a:rPr lang="zh-CN" altLang="en-US" dirty="0">
                <a:latin typeface="Times" pitchFamily="2" charset="0"/>
              </a:rPr>
              <a:t>云服务的层级：</a:t>
            </a:r>
            <a:r>
              <a:rPr lang="en-US" altLang="zh-CN" dirty="0">
                <a:latin typeface="Times" pitchFamily="2" charset="0"/>
              </a:rPr>
              <a:t>IaaS, PaaS, SaaS</a:t>
            </a:r>
          </a:p>
          <a:p>
            <a:r>
              <a:rPr lang="zh-CN" altLang="en-US" dirty="0">
                <a:latin typeface="Times" pitchFamily="2" charset="0"/>
              </a:rPr>
              <a:t>云服务的特性：</a:t>
            </a:r>
          </a:p>
          <a:p>
            <a:pPr lvl="1"/>
            <a:r>
              <a:rPr lang="zh-CN" altLang="en-US" dirty="0">
                <a:latin typeface="Times" pitchFamily="2" charset="0"/>
              </a:rPr>
              <a:t>兼容异构的基础资源（虚拟化）</a:t>
            </a:r>
          </a:p>
          <a:p>
            <a:pPr lvl="1"/>
            <a:r>
              <a:rPr lang="zh-CN" altLang="en-US" dirty="0">
                <a:latin typeface="Times" pitchFamily="2" charset="0"/>
              </a:rPr>
              <a:t>支持异构的业务体系（容器化）</a:t>
            </a:r>
          </a:p>
          <a:p>
            <a:pPr lvl="1"/>
            <a:r>
              <a:rPr lang="zh-CN" altLang="en-US" dirty="0">
                <a:latin typeface="Times" pitchFamily="2" charset="0"/>
              </a:rPr>
              <a:t>支持动态的资源扩展（容灾能力）</a:t>
            </a:r>
          </a:p>
          <a:p>
            <a:pPr lvl="1"/>
            <a:r>
              <a:rPr lang="zh-CN" altLang="en-US" dirty="0">
                <a:latin typeface="Times" pitchFamily="2" charset="0"/>
              </a:rPr>
              <a:t>超大规模的业务支持（无限资源）</a:t>
            </a:r>
          </a:p>
          <a:p>
            <a:pPr lvl="1"/>
            <a:r>
              <a:rPr lang="zh-CN" altLang="en-US" dirty="0">
                <a:latin typeface="Times" pitchFamily="2" charset="0"/>
              </a:rPr>
              <a:t>弹性的按需计费机制（弹性计费）</a:t>
            </a:r>
          </a:p>
          <a:p>
            <a:endParaRPr lang="zh-CN" altLang="en-US" dirty="0">
              <a:latin typeface="Times" pitchFamily="2" charset="0"/>
            </a:endParaRPr>
          </a:p>
        </p:txBody>
      </p:sp>
      <p:pic>
        <p:nvPicPr>
          <p:cNvPr id="7" name="图片 6">
            <a:extLst>
              <a:ext uri="{FF2B5EF4-FFF2-40B4-BE49-F238E27FC236}">
                <a16:creationId xmlns:a16="http://schemas.microsoft.com/office/drawing/2014/main" id="{1A38FF1F-7B2D-BDD5-948F-4EED017C700F}"/>
              </a:ext>
            </a:extLst>
          </p:cNvPr>
          <p:cNvPicPr>
            <a:picLocks noChangeAspect="1"/>
          </p:cNvPicPr>
          <p:nvPr/>
        </p:nvPicPr>
        <p:blipFill rotWithShape="1">
          <a:blip r:embed="rId2">
            <a:extLst>
              <a:ext uri="{28A0092B-C50C-407E-A947-70E740481C1C}">
                <a14:useLocalDpi xmlns:a14="http://schemas.microsoft.com/office/drawing/2010/main" val="0"/>
              </a:ext>
            </a:extLst>
          </a:blip>
          <a:srcRect r="15036"/>
          <a:stretch/>
        </p:blipFill>
        <p:spPr>
          <a:xfrm>
            <a:off x="6605752" y="3966792"/>
            <a:ext cx="5586248" cy="2660838"/>
          </a:xfrm>
          <a:prstGeom prst="rect">
            <a:avLst/>
          </a:prstGeom>
        </p:spPr>
      </p:pic>
      <p:pic>
        <p:nvPicPr>
          <p:cNvPr id="8" name="图片 7">
            <a:extLst>
              <a:ext uri="{FF2B5EF4-FFF2-40B4-BE49-F238E27FC236}">
                <a16:creationId xmlns:a16="http://schemas.microsoft.com/office/drawing/2014/main" id="{CAD5B8FB-4EC8-B885-62F4-1EE96C74DE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8849" y="2304482"/>
            <a:ext cx="6013151" cy="1772793"/>
          </a:xfrm>
          <a:prstGeom prst="rect">
            <a:avLst/>
          </a:prstGeom>
        </p:spPr>
      </p:pic>
    </p:spTree>
    <p:extLst>
      <p:ext uri="{BB962C8B-B14F-4D97-AF65-F5344CB8AC3E}">
        <p14:creationId xmlns:p14="http://schemas.microsoft.com/office/powerpoint/2010/main" val="36345257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6CE1860-8F1C-6DB6-8C28-536BCC2114E4}"/>
              </a:ext>
            </a:extLst>
          </p:cNvPr>
          <p:cNvSpPr>
            <a:spLocks noGrp="1"/>
          </p:cNvSpPr>
          <p:nvPr>
            <p:ph type="sldNum" sz="quarter" idx="10"/>
          </p:nvPr>
        </p:nvSpPr>
        <p:spPr/>
        <p:txBody>
          <a:bodyPr/>
          <a:lstStyle/>
          <a:p>
            <a:fld id="{87BBDC00-B9E2-4EFD-9306-2934E87247C6}" type="slidenum">
              <a:rPr lang="zh-CN" altLang="en-US" smtClean="0"/>
              <a:pPr/>
              <a:t>90</a:t>
            </a:fld>
            <a:endParaRPr lang="zh-CN" altLang="en-US"/>
          </a:p>
        </p:txBody>
      </p:sp>
      <p:sp>
        <p:nvSpPr>
          <p:cNvPr id="3" name="标题 2">
            <a:extLst>
              <a:ext uri="{FF2B5EF4-FFF2-40B4-BE49-F238E27FC236}">
                <a16:creationId xmlns:a16="http://schemas.microsoft.com/office/drawing/2014/main" id="{AE79331F-20F5-5F07-33B3-FC00520D5E55}"/>
              </a:ext>
            </a:extLst>
          </p:cNvPr>
          <p:cNvSpPr>
            <a:spLocks noGrp="1"/>
          </p:cNvSpPr>
          <p:nvPr>
            <p:ph type="title"/>
          </p:nvPr>
        </p:nvSpPr>
        <p:spPr/>
        <p:txBody>
          <a:bodyPr/>
          <a:lstStyle/>
          <a:p>
            <a:r>
              <a:rPr lang="zh-CN" altLang="en-US" dirty="0"/>
              <a:t>云托管数据库</a:t>
            </a:r>
          </a:p>
        </p:txBody>
      </p:sp>
      <p:sp>
        <p:nvSpPr>
          <p:cNvPr id="4" name="内容占位符 3">
            <a:extLst>
              <a:ext uri="{FF2B5EF4-FFF2-40B4-BE49-F238E27FC236}">
                <a16:creationId xmlns:a16="http://schemas.microsoft.com/office/drawing/2014/main" id="{D02C066C-BC91-C4F1-9700-FA50069E7CB6}"/>
              </a:ext>
            </a:extLst>
          </p:cNvPr>
          <p:cNvSpPr>
            <a:spLocks noGrp="1"/>
          </p:cNvSpPr>
          <p:nvPr>
            <p:ph idx="1"/>
          </p:nvPr>
        </p:nvSpPr>
        <p:spPr/>
        <p:txBody>
          <a:bodyPr/>
          <a:lstStyle/>
          <a:p>
            <a:r>
              <a:rPr kumimoji="1" lang="zh-CN" altLang="en-US" dirty="0">
                <a:latin typeface="Times" pitchFamily="2" charset="0"/>
              </a:rPr>
              <a:t>云托管数据库系统特点：</a:t>
            </a:r>
            <a:endParaRPr kumimoji="1" lang="en-US" altLang="zh-CN" dirty="0">
              <a:latin typeface="Times" pitchFamily="2" charset="0"/>
            </a:endParaRPr>
          </a:p>
          <a:p>
            <a:pPr lvl="1"/>
            <a:r>
              <a:rPr kumimoji="1" lang="zh-CN" altLang="en-US" dirty="0">
                <a:latin typeface="Times" pitchFamily="2" charset="0"/>
              </a:rPr>
              <a:t>多个数据库实例</a:t>
            </a:r>
            <a:endParaRPr kumimoji="1" lang="en-US" altLang="zh-CN" dirty="0">
              <a:latin typeface="Times" pitchFamily="2" charset="0"/>
            </a:endParaRPr>
          </a:p>
          <a:p>
            <a:pPr lvl="1"/>
            <a:r>
              <a:rPr kumimoji="1" lang="zh-CN" altLang="en-US" dirty="0">
                <a:latin typeface="Times" pitchFamily="2" charset="0"/>
              </a:rPr>
              <a:t>总体为</a:t>
            </a:r>
            <a:r>
              <a:rPr kumimoji="1" lang="en-US" altLang="zh-CN" dirty="0">
                <a:latin typeface="Times" pitchFamily="2" charset="0"/>
              </a:rPr>
              <a:t>Shared</a:t>
            </a:r>
            <a:r>
              <a:rPr kumimoji="1" lang="zh-CN" altLang="en-US" dirty="0">
                <a:latin typeface="Times" pitchFamily="2" charset="0"/>
              </a:rPr>
              <a:t> </a:t>
            </a:r>
            <a:r>
              <a:rPr kumimoji="1" lang="en-US" altLang="zh-CN" dirty="0">
                <a:latin typeface="Times" pitchFamily="2" charset="0"/>
              </a:rPr>
              <a:t>Everything</a:t>
            </a:r>
            <a:r>
              <a:rPr kumimoji="1" lang="zh-CN" altLang="en-US" dirty="0">
                <a:latin typeface="Times" pitchFamily="2" charset="0"/>
              </a:rPr>
              <a:t>结构</a:t>
            </a:r>
            <a:endParaRPr kumimoji="1" lang="en-US" altLang="zh-CN" dirty="0">
              <a:latin typeface="Times" pitchFamily="2" charset="0"/>
            </a:endParaRPr>
          </a:p>
          <a:p>
            <a:r>
              <a:rPr kumimoji="1" lang="zh-CN" altLang="en-US" dirty="0">
                <a:latin typeface="Times" pitchFamily="2" charset="0"/>
              </a:rPr>
              <a:t>优势：</a:t>
            </a:r>
            <a:endParaRPr kumimoji="1" lang="en-US" altLang="zh-CN" dirty="0">
              <a:latin typeface="Times" pitchFamily="2" charset="0"/>
            </a:endParaRPr>
          </a:p>
          <a:p>
            <a:pPr lvl="1"/>
            <a:r>
              <a:rPr kumimoji="1" lang="zh-CN" altLang="en-US" dirty="0">
                <a:latin typeface="Times" pitchFamily="2" charset="0"/>
              </a:rPr>
              <a:t>易于实现，完全兼容</a:t>
            </a:r>
            <a:endParaRPr kumimoji="1" lang="en-US" altLang="zh-CN" dirty="0">
              <a:latin typeface="Times" pitchFamily="2" charset="0"/>
            </a:endParaRPr>
          </a:p>
          <a:p>
            <a:r>
              <a:rPr kumimoji="1" lang="zh-CN" altLang="en-US" dirty="0">
                <a:latin typeface="Times" pitchFamily="2" charset="0"/>
              </a:rPr>
              <a:t>缺陷：</a:t>
            </a:r>
            <a:endParaRPr kumimoji="1" lang="en-US" altLang="zh-CN" dirty="0">
              <a:latin typeface="Times" pitchFamily="2" charset="0"/>
            </a:endParaRPr>
          </a:p>
          <a:p>
            <a:pPr lvl="1"/>
            <a:r>
              <a:rPr kumimoji="1" lang="zh-CN" altLang="en-US" dirty="0">
                <a:latin typeface="Times" pitchFamily="2" charset="0"/>
              </a:rPr>
              <a:t>本机存储容量</a:t>
            </a:r>
            <a:endParaRPr kumimoji="1" lang="en-US" altLang="zh-CN" dirty="0">
              <a:latin typeface="Times" pitchFamily="2" charset="0"/>
            </a:endParaRPr>
          </a:p>
          <a:p>
            <a:pPr lvl="1"/>
            <a:r>
              <a:rPr kumimoji="1" lang="zh-CN" altLang="en-US" dirty="0">
                <a:latin typeface="Times" pitchFamily="2" charset="0"/>
              </a:rPr>
              <a:t>冗余的数据副本</a:t>
            </a:r>
            <a:endParaRPr kumimoji="1" lang="en-US" altLang="zh-CN" dirty="0">
              <a:latin typeface="Times" pitchFamily="2" charset="0"/>
            </a:endParaRPr>
          </a:p>
          <a:p>
            <a:pPr lvl="1"/>
            <a:r>
              <a:rPr kumimoji="1" lang="zh-CN" altLang="en-US" dirty="0">
                <a:latin typeface="Times" pitchFamily="2" charset="0"/>
              </a:rPr>
              <a:t>高</a:t>
            </a:r>
            <a:r>
              <a:rPr kumimoji="1" lang="en-US" altLang="zh-CN" dirty="0">
                <a:latin typeface="Times" pitchFamily="2" charset="0"/>
              </a:rPr>
              <a:t>RTO</a:t>
            </a:r>
            <a:r>
              <a:rPr kumimoji="1" lang="zh-CN" altLang="en-US" dirty="0">
                <a:latin typeface="Times" pitchFamily="2" charset="0"/>
              </a:rPr>
              <a:t>，数据滞后</a:t>
            </a:r>
            <a:endParaRPr kumimoji="1" lang="en-US" altLang="zh-CN" dirty="0">
              <a:latin typeface="Times" pitchFamily="2" charset="0"/>
            </a:endParaRPr>
          </a:p>
          <a:p>
            <a:pPr lvl="1"/>
            <a:r>
              <a:rPr kumimoji="1" lang="zh-CN" altLang="en-US" dirty="0">
                <a:latin typeface="Times" pitchFamily="2" charset="0"/>
              </a:rPr>
              <a:t>网络瓶颈</a:t>
            </a:r>
            <a:endParaRPr kumimoji="1" lang="en-US" altLang="zh-CN" dirty="0">
              <a:latin typeface="Times" pitchFamily="2" charset="0"/>
            </a:endParaRPr>
          </a:p>
          <a:p>
            <a:endParaRPr lang="zh-CN" altLang="en-US" dirty="0">
              <a:latin typeface="Times" pitchFamily="2" charset="0"/>
            </a:endParaRPr>
          </a:p>
        </p:txBody>
      </p:sp>
      <p:pic>
        <p:nvPicPr>
          <p:cNvPr id="6" name="图片 5">
            <a:extLst>
              <a:ext uri="{FF2B5EF4-FFF2-40B4-BE49-F238E27FC236}">
                <a16:creationId xmlns:a16="http://schemas.microsoft.com/office/drawing/2014/main" id="{52872994-A126-62E4-AA1A-287EAC8E26B4}"/>
              </a:ext>
            </a:extLst>
          </p:cNvPr>
          <p:cNvPicPr>
            <a:picLocks noChangeAspect="1"/>
          </p:cNvPicPr>
          <p:nvPr/>
        </p:nvPicPr>
        <p:blipFill>
          <a:blip r:embed="rId2"/>
          <a:stretch>
            <a:fillRect/>
          </a:stretch>
        </p:blipFill>
        <p:spPr>
          <a:xfrm>
            <a:off x="6155369" y="1461009"/>
            <a:ext cx="5798521" cy="4334443"/>
          </a:xfrm>
          <a:prstGeom prst="rect">
            <a:avLst/>
          </a:prstGeom>
        </p:spPr>
      </p:pic>
    </p:spTree>
    <p:extLst>
      <p:ext uri="{BB962C8B-B14F-4D97-AF65-F5344CB8AC3E}">
        <p14:creationId xmlns:p14="http://schemas.microsoft.com/office/powerpoint/2010/main" val="278047024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0A09013-5B02-8E42-9A9F-9393D5E272C3}"/>
              </a:ext>
            </a:extLst>
          </p:cNvPr>
          <p:cNvSpPr>
            <a:spLocks noGrp="1"/>
          </p:cNvSpPr>
          <p:nvPr>
            <p:ph type="sldNum" sz="quarter" idx="10"/>
          </p:nvPr>
        </p:nvSpPr>
        <p:spPr/>
        <p:txBody>
          <a:bodyPr/>
          <a:lstStyle/>
          <a:p>
            <a:fld id="{87BBDC00-B9E2-4EFD-9306-2934E87247C6}" type="slidenum">
              <a:rPr lang="zh-CN" altLang="en-US" smtClean="0"/>
              <a:pPr/>
              <a:t>91</a:t>
            </a:fld>
            <a:endParaRPr lang="zh-CN" altLang="en-US"/>
          </a:p>
        </p:txBody>
      </p:sp>
      <p:sp>
        <p:nvSpPr>
          <p:cNvPr id="3" name="标题 2">
            <a:extLst>
              <a:ext uri="{FF2B5EF4-FFF2-40B4-BE49-F238E27FC236}">
                <a16:creationId xmlns:a16="http://schemas.microsoft.com/office/drawing/2014/main" id="{25D63459-380C-9C01-C7D9-52EA876170C6}"/>
              </a:ext>
            </a:extLst>
          </p:cNvPr>
          <p:cNvSpPr>
            <a:spLocks noGrp="1"/>
          </p:cNvSpPr>
          <p:nvPr>
            <p:ph type="title"/>
          </p:nvPr>
        </p:nvSpPr>
        <p:spPr/>
        <p:txBody>
          <a:bodyPr/>
          <a:lstStyle/>
          <a:p>
            <a:r>
              <a:rPr lang="zh-CN" altLang="en-US" dirty="0"/>
              <a:t>云原生数据库</a:t>
            </a:r>
          </a:p>
        </p:txBody>
      </p:sp>
      <p:sp>
        <p:nvSpPr>
          <p:cNvPr id="4" name="内容占位符 3">
            <a:extLst>
              <a:ext uri="{FF2B5EF4-FFF2-40B4-BE49-F238E27FC236}">
                <a16:creationId xmlns:a16="http://schemas.microsoft.com/office/drawing/2014/main" id="{AFC8A520-411B-E8B9-2D4E-3D2935AEFA52}"/>
              </a:ext>
            </a:extLst>
          </p:cNvPr>
          <p:cNvSpPr>
            <a:spLocks noGrp="1"/>
          </p:cNvSpPr>
          <p:nvPr>
            <p:ph idx="1"/>
          </p:nvPr>
        </p:nvSpPr>
        <p:spPr/>
        <p:txBody>
          <a:bodyPr/>
          <a:lstStyle/>
          <a:p>
            <a:r>
              <a:rPr lang="zh-CN" altLang="en-US" dirty="0">
                <a:latin typeface="Times" pitchFamily="2" charset="0"/>
              </a:rPr>
              <a:t>核心区别：架构设计上的计算存储分离</a:t>
            </a:r>
            <a:endParaRPr lang="en-US" altLang="zh-CN" dirty="0">
              <a:latin typeface="Times" pitchFamily="2" charset="0"/>
            </a:endParaRPr>
          </a:p>
          <a:p>
            <a:pPr lvl="1"/>
            <a:r>
              <a:rPr lang="en-US" altLang="zh-CN" dirty="0">
                <a:latin typeface="Times" pitchFamily="2" charset="0"/>
              </a:rPr>
              <a:t>OLTP:</a:t>
            </a:r>
            <a:r>
              <a:rPr lang="zh-CN" altLang="en-US" dirty="0">
                <a:latin typeface="Times" pitchFamily="2" charset="0"/>
              </a:rPr>
              <a:t>注重事务处理，日志为核心</a:t>
            </a:r>
            <a:endParaRPr lang="en-US" altLang="zh-CN" dirty="0">
              <a:latin typeface="Times" pitchFamily="2" charset="0"/>
            </a:endParaRPr>
          </a:p>
          <a:p>
            <a:pPr lvl="1"/>
            <a:r>
              <a:rPr lang="en-US" altLang="zh-CN" dirty="0">
                <a:latin typeface="Times" pitchFamily="2" charset="0"/>
              </a:rPr>
              <a:t>OLAP:</a:t>
            </a:r>
            <a:r>
              <a:rPr lang="zh-CN" altLang="en-US" dirty="0">
                <a:latin typeface="Times" pitchFamily="2" charset="0"/>
              </a:rPr>
              <a:t>强调数据分析，分片为核心</a:t>
            </a:r>
            <a:endParaRPr lang="en-US" altLang="zh-CN" dirty="0">
              <a:latin typeface="Times" pitchFamily="2" charset="0"/>
            </a:endParaRPr>
          </a:p>
          <a:p>
            <a:r>
              <a:rPr lang="zh-CN" altLang="en-US" dirty="0">
                <a:latin typeface="Times" pitchFamily="2" charset="0"/>
              </a:rPr>
              <a:t>关键技术：</a:t>
            </a:r>
            <a:endParaRPr lang="en-US" altLang="zh-CN" dirty="0">
              <a:latin typeface="Times" pitchFamily="2" charset="0"/>
            </a:endParaRPr>
          </a:p>
          <a:p>
            <a:pPr lvl="1"/>
            <a:r>
              <a:rPr lang="zh-CN" altLang="en-US" dirty="0">
                <a:latin typeface="Times" pitchFamily="2" charset="0"/>
              </a:rPr>
              <a:t>事务处理</a:t>
            </a:r>
            <a:endParaRPr lang="en-US" altLang="zh-CN" dirty="0">
              <a:latin typeface="Times" pitchFamily="2" charset="0"/>
            </a:endParaRPr>
          </a:p>
          <a:p>
            <a:pPr lvl="1"/>
            <a:r>
              <a:rPr lang="zh-CN" altLang="en-US" dirty="0">
                <a:latin typeface="Times" pitchFamily="2" charset="0"/>
              </a:rPr>
              <a:t>数据副本</a:t>
            </a:r>
            <a:endParaRPr lang="en-US" altLang="zh-CN" dirty="0">
              <a:latin typeface="Times" pitchFamily="2" charset="0"/>
            </a:endParaRPr>
          </a:p>
          <a:p>
            <a:pPr lvl="1"/>
            <a:r>
              <a:rPr lang="zh-CN" altLang="en-US" dirty="0">
                <a:latin typeface="Times" pitchFamily="2" charset="0"/>
              </a:rPr>
              <a:t>异步更新</a:t>
            </a:r>
            <a:endParaRPr lang="en-US" altLang="zh-CN" dirty="0">
              <a:latin typeface="Times" pitchFamily="2" charset="0"/>
            </a:endParaRPr>
          </a:p>
          <a:p>
            <a:pPr lvl="1"/>
            <a:r>
              <a:rPr lang="zh-CN" altLang="en-US" dirty="0">
                <a:latin typeface="Times" pitchFamily="2" charset="0"/>
              </a:rPr>
              <a:t>故障恢复</a:t>
            </a:r>
            <a:endParaRPr lang="en-US" altLang="zh-CN" dirty="0">
              <a:latin typeface="Times" pitchFamily="2" charset="0"/>
            </a:endParaRPr>
          </a:p>
          <a:p>
            <a:pPr lvl="1"/>
            <a:r>
              <a:rPr lang="zh-CN" altLang="en-US" dirty="0">
                <a:latin typeface="Times" pitchFamily="2" charset="0"/>
              </a:rPr>
              <a:t>分析处理</a:t>
            </a:r>
            <a:endParaRPr lang="en-US" altLang="zh-CN" dirty="0">
              <a:latin typeface="Times" pitchFamily="2" charset="0"/>
            </a:endParaRPr>
          </a:p>
          <a:p>
            <a:endParaRPr lang="en-US" altLang="zh-CN" dirty="0">
              <a:latin typeface="Times" pitchFamily="2" charset="0"/>
            </a:endParaRPr>
          </a:p>
        </p:txBody>
      </p:sp>
      <p:sp>
        <p:nvSpPr>
          <p:cNvPr id="6" name="三角形 3">
            <a:extLst>
              <a:ext uri="{FF2B5EF4-FFF2-40B4-BE49-F238E27FC236}">
                <a16:creationId xmlns:a16="http://schemas.microsoft.com/office/drawing/2014/main" id="{B6FDD6A8-0ED4-A8CD-7616-2B6F0108ABBC}"/>
              </a:ext>
            </a:extLst>
          </p:cNvPr>
          <p:cNvSpPr/>
          <p:nvPr/>
        </p:nvSpPr>
        <p:spPr>
          <a:xfrm>
            <a:off x="6613847" y="3429000"/>
            <a:ext cx="2408422" cy="2076226"/>
          </a:xfrm>
          <a:prstGeom prst="triangl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7" name="云形 6">
            <a:extLst>
              <a:ext uri="{FF2B5EF4-FFF2-40B4-BE49-F238E27FC236}">
                <a16:creationId xmlns:a16="http://schemas.microsoft.com/office/drawing/2014/main" id="{9D6E51BC-35E7-1660-1083-4A4886097391}"/>
              </a:ext>
            </a:extLst>
          </p:cNvPr>
          <p:cNvSpPr/>
          <p:nvPr/>
        </p:nvSpPr>
        <p:spPr>
          <a:xfrm>
            <a:off x="7479192" y="4570263"/>
            <a:ext cx="677732" cy="548640"/>
          </a:xfrm>
          <a:prstGeom prst="cloud">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1BEA9C4A-84D1-D104-D0DB-AF2DC99179D6}"/>
              </a:ext>
            </a:extLst>
          </p:cNvPr>
          <p:cNvSpPr txBox="1"/>
          <p:nvPr/>
        </p:nvSpPr>
        <p:spPr>
          <a:xfrm>
            <a:off x="7094943" y="2898304"/>
            <a:ext cx="1446230" cy="369332"/>
          </a:xfrm>
          <a:prstGeom prst="rect">
            <a:avLst/>
          </a:prstGeom>
          <a:noFill/>
        </p:spPr>
        <p:txBody>
          <a:bodyPr wrap="none" rtlCol="0">
            <a:spAutoFit/>
          </a:bodyPr>
          <a:lstStyle/>
          <a:p>
            <a:r>
              <a:rPr kumimoji="1" lang="en-US" altLang="zh-CN" dirty="0">
                <a:solidFill>
                  <a:srgbClr val="0070C0"/>
                </a:solidFill>
              </a:rPr>
              <a:t>Performance</a:t>
            </a:r>
            <a:endParaRPr kumimoji="1" lang="zh-CN" altLang="en-US" dirty="0">
              <a:solidFill>
                <a:srgbClr val="0070C0"/>
              </a:solidFill>
            </a:endParaRPr>
          </a:p>
        </p:txBody>
      </p:sp>
      <p:sp>
        <p:nvSpPr>
          <p:cNvPr id="9" name="文本框 8">
            <a:extLst>
              <a:ext uri="{FF2B5EF4-FFF2-40B4-BE49-F238E27FC236}">
                <a16:creationId xmlns:a16="http://schemas.microsoft.com/office/drawing/2014/main" id="{61408AFA-47D6-445C-E346-C0A60818B99C}"/>
              </a:ext>
            </a:extLst>
          </p:cNvPr>
          <p:cNvSpPr txBox="1"/>
          <p:nvPr/>
        </p:nvSpPr>
        <p:spPr>
          <a:xfrm>
            <a:off x="5967492" y="5505226"/>
            <a:ext cx="663964" cy="369332"/>
          </a:xfrm>
          <a:prstGeom prst="rect">
            <a:avLst/>
          </a:prstGeom>
          <a:noFill/>
        </p:spPr>
        <p:txBody>
          <a:bodyPr wrap="none" rtlCol="0">
            <a:spAutoFit/>
          </a:bodyPr>
          <a:lstStyle/>
          <a:p>
            <a:r>
              <a:rPr kumimoji="1" lang="en-US" altLang="zh-CN" dirty="0">
                <a:solidFill>
                  <a:srgbClr val="0070C0"/>
                </a:solidFill>
              </a:rPr>
              <a:t>Price</a:t>
            </a:r>
            <a:endParaRPr kumimoji="1" lang="zh-CN" altLang="en-US" dirty="0">
              <a:solidFill>
                <a:srgbClr val="0070C0"/>
              </a:solidFill>
            </a:endParaRPr>
          </a:p>
        </p:txBody>
      </p:sp>
      <p:sp>
        <p:nvSpPr>
          <p:cNvPr id="10" name="文本框 9">
            <a:extLst>
              <a:ext uri="{FF2B5EF4-FFF2-40B4-BE49-F238E27FC236}">
                <a16:creationId xmlns:a16="http://schemas.microsoft.com/office/drawing/2014/main" id="{A4F87A1C-8B7B-9060-7852-F8E0960D6BF2}"/>
              </a:ext>
            </a:extLst>
          </p:cNvPr>
          <p:cNvSpPr txBox="1"/>
          <p:nvPr/>
        </p:nvSpPr>
        <p:spPr>
          <a:xfrm>
            <a:off x="8945509" y="5505226"/>
            <a:ext cx="1016625" cy="369332"/>
          </a:xfrm>
          <a:prstGeom prst="rect">
            <a:avLst/>
          </a:prstGeom>
          <a:noFill/>
        </p:spPr>
        <p:txBody>
          <a:bodyPr wrap="none" rtlCol="0">
            <a:spAutoFit/>
          </a:bodyPr>
          <a:lstStyle/>
          <a:p>
            <a:r>
              <a:rPr kumimoji="1" lang="en-US" altLang="zh-CN" dirty="0">
                <a:solidFill>
                  <a:srgbClr val="0070C0"/>
                </a:solidFill>
              </a:rPr>
              <a:t>Usability</a:t>
            </a:r>
            <a:endParaRPr kumimoji="1" lang="zh-CN" altLang="en-US" dirty="0">
              <a:solidFill>
                <a:srgbClr val="0070C0"/>
              </a:solidFill>
            </a:endParaRPr>
          </a:p>
        </p:txBody>
      </p:sp>
    </p:spTree>
    <p:extLst>
      <p:ext uri="{BB962C8B-B14F-4D97-AF65-F5344CB8AC3E}">
        <p14:creationId xmlns:p14="http://schemas.microsoft.com/office/powerpoint/2010/main" val="267389699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p:txBody>
          <a:bodyPr/>
          <a:lstStyle/>
          <a:p>
            <a:pPr>
              <a:buFont typeface="Wingdings" pitchFamily="2" charset="2"/>
              <a:buChar char="l"/>
            </a:pPr>
            <a:r>
              <a:rPr lang="zh-CN" altLang="en-US" sz="2800" dirty="0">
                <a:solidFill>
                  <a:schemeClr val="tx1">
                    <a:lumMod val="50000"/>
                    <a:lumOff val="50000"/>
                  </a:schemeClr>
                </a:solidFill>
                <a:latin typeface="Times" pitchFamily="2" charset="0"/>
              </a:rPr>
              <a:t>层次和网状数据库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关系数据库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en-US" altLang="zh-CN" sz="2800" dirty="0">
                <a:solidFill>
                  <a:schemeClr val="tx1">
                    <a:lumMod val="50000"/>
                    <a:lumOff val="50000"/>
                  </a:schemeClr>
                </a:solidFill>
                <a:latin typeface="Times" pitchFamily="2" charset="0"/>
              </a:rPr>
              <a:t>OLTP</a:t>
            </a:r>
            <a:r>
              <a:rPr lang="zh-CN" altLang="en-US" sz="2800" dirty="0">
                <a:solidFill>
                  <a:schemeClr val="tx1">
                    <a:lumMod val="50000"/>
                    <a:lumOff val="50000"/>
                  </a:schemeClr>
                </a:solidFill>
                <a:latin typeface="Times" pitchFamily="2" charset="0"/>
              </a:rPr>
              <a:t>、</a:t>
            </a:r>
            <a:r>
              <a:rPr lang="en-US" altLang="zh-CN" sz="2800" dirty="0">
                <a:solidFill>
                  <a:schemeClr val="tx1">
                    <a:lumMod val="50000"/>
                    <a:lumOff val="50000"/>
                  </a:schemeClr>
                </a:solidFill>
                <a:latin typeface="Times" pitchFamily="2" charset="0"/>
              </a:rPr>
              <a:t>OLAP</a:t>
            </a:r>
            <a:r>
              <a:rPr lang="zh-CN" altLang="en-US" sz="2800" dirty="0">
                <a:solidFill>
                  <a:schemeClr val="tx1">
                    <a:lumMod val="50000"/>
                    <a:lumOff val="50000"/>
                  </a:schemeClr>
                </a:solidFill>
                <a:latin typeface="Times" pitchFamily="2" charset="0"/>
              </a:rPr>
              <a:t>与</a:t>
            </a:r>
            <a:r>
              <a:rPr lang="en-US" altLang="zh-CN" sz="2800" dirty="0">
                <a:solidFill>
                  <a:schemeClr val="tx1">
                    <a:lumMod val="50000"/>
                    <a:lumOff val="50000"/>
                  </a:schemeClr>
                </a:solidFill>
                <a:latin typeface="Times" pitchFamily="2" charset="0"/>
              </a:rPr>
              <a:t>HTAP</a:t>
            </a:r>
            <a:r>
              <a:rPr lang="zh-CN" altLang="en-US" sz="2800" dirty="0">
                <a:solidFill>
                  <a:schemeClr val="tx1">
                    <a:lumMod val="50000"/>
                    <a:lumOff val="50000"/>
                  </a:schemeClr>
                </a:solidFill>
                <a:latin typeface="Times" pitchFamily="2" charset="0"/>
              </a:rPr>
              <a:t>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en-US" altLang="zh-CN" sz="2800" dirty="0">
                <a:solidFill>
                  <a:schemeClr val="tx1">
                    <a:lumMod val="50000"/>
                    <a:lumOff val="50000"/>
                  </a:schemeClr>
                </a:solidFill>
                <a:latin typeface="Times" pitchFamily="2" charset="0"/>
              </a:rPr>
              <a:t>NoSQL</a:t>
            </a:r>
            <a:r>
              <a:rPr lang="zh-CN" altLang="en-US" sz="2800" dirty="0">
                <a:solidFill>
                  <a:schemeClr val="tx1">
                    <a:lumMod val="50000"/>
                    <a:lumOff val="50000"/>
                  </a:schemeClr>
                </a:solidFill>
                <a:latin typeface="Times" pitchFamily="2" charset="0"/>
              </a:rPr>
              <a:t>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分布式数据库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内存数据库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solidFill>
                  <a:schemeClr val="tx1">
                    <a:lumMod val="50000"/>
                    <a:lumOff val="50000"/>
                  </a:schemeClr>
                </a:solidFill>
                <a:latin typeface="Times" pitchFamily="2" charset="0"/>
              </a:rPr>
              <a:t>云数据库</a:t>
            </a:r>
            <a:endParaRPr lang="en-US" altLang="zh-CN" sz="2800" dirty="0">
              <a:solidFill>
                <a:schemeClr val="tx1">
                  <a:lumMod val="50000"/>
                  <a:lumOff val="50000"/>
                </a:schemeClr>
              </a:solidFill>
              <a:latin typeface="Times" pitchFamily="2" charset="0"/>
            </a:endParaRPr>
          </a:p>
          <a:p>
            <a:pPr>
              <a:buFont typeface="Wingdings" pitchFamily="2" charset="2"/>
              <a:buChar char="l"/>
            </a:pPr>
            <a:r>
              <a:rPr lang="zh-CN" altLang="en-US" sz="2800" dirty="0">
                <a:latin typeface="Times" pitchFamily="2" charset="0"/>
              </a:rPr>
              <a:t>其它类型数据库</a:t>
            </a:r>
            <a:endParaRPr lang="en-US" altLang="zh-CN" sz="2800" dirty="0">
              <a:latin typeface="Times" pitchFamily="2" charset="0"/>
            </a:endParaRPr>
          </a:p>
          <a:p>
            <a:pPr lvl="1">
              <a:buFont typeface="Wingdings" pitchFamily="2" charset="2"/>
              <a:buChar char="l"/>
            </a:pPr>
            <a:r>
              <a:rPr lang="zh-CN" altLang="en-US" sz="2400" dirty="0">
                <a:latin typeface="Times" pitchFamily="2" charset="0"/>
              </a:rPr>
              <a:t>实时数据库</a:t>
            </a:r>
            <a:endParaRPr lang="en-US" altLang="zh-CN" sz="2400" dirty="0">
              <a:latin typeface="Times" pitchFamily="2" charset="0"/>
            </a:endParaRPr>
          </a:p>
          <a:p>
            <a:pPr lvl="1">
              <a:buFont typeface="Wingdings" pitchFamily="2" charset="2"/>
              <a:buChar char="l"/>
            </a:pPr>
            <a:r>
              <a:rPr lang="zh-CN" altLang="en-US" sz="2400" dirty="0">
                <a:latin typeface="Times" pitchFamily="2" charset="0"/>
              </a:rPr>
              <a:t>并行数据库</a:t>
            </a:r>
            <a:endParaRPr lang="en-US" altLang="zh-CN" sz="2400" dirty="0">
              <a:latin typeface="Times" pitchFamily="2" charset="0"/>
            </a:endParaRPr>
          </a:p>
          <a:p>
            <a:pPr lvl="1">
              <a:buFont typeface="Wingdings" pitchFamily="2" charset="2"/>
              <a:buChar char="l"/>
            </a:pPr>
            <a:r>
              <a:rPr lang="zh-CN" altLang="en-US" sz="2400" dirty="0">
                <a:latin typeface="Times" pitchFamily="2" charset="0"/>
              </a:rPr>
              <a:t>终端数据库</a:t>
            </a: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数据库发展史概览</a:t>
            </a:r>
          </a:p>
        </p:txBody>
      </p:sp>
      <p:pic>
        <p:nvPicPr>
          <p:cNvPr id="4" name="图片 3">
            <a:extLst>
              <a:ext uri="{FF2B5EF4-FFF2-40B4-BE49-F238E27FC236}">
                <a16:creationId xmlns:a16="http://schemas.microsoft.com/office/drawing/2014/main" id="{60ED12C6-759A-07BF-765A-0E56422F1245}"/>
              </a:ext>
            </a:extLst>
          </p:cNvPr>
          <p:cNvPicPr>
            <a:picLocks noChangeAspect="1"/>
          </p:cNvPicPr>
          <p:nvPr/>
        </p:nvPicPr>
        <p:blipFill>
          <a:blip r:embed="rId2"/>
          <a:stretch>
            <a:fillRect/>
          </a:stretch>
        </p:blipFill>
        <p:spPr>
          <a:xfrm>
            <a:off x="8859520" y="4958475"/>
            <a:ext cx="2810510" cy="1689950"/>
          </a:xfrm>
          <a:prstGeom prst="rect">
            <a:avLst/>
          </a:prstGeom>
        </p:spPr>
      </p:pic>
      <p:pic>
        <p:nvPicPr>
          <p:cNvPr id="5" name="Picture 2" descr="PostgreSQL Elephant Logo">
            <a:extLst>
              <a:ext uri="{FF2B5EF4-FFF2-40B4-BE49-F238E27FC236}">
                <a16:creationId xmlns:a16="http://schemas.microsoft.com/office/drawing/2014/main" id="{9AC9BF95-67D0-3871-2C06-C04A69BB7E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4420" y="5212823"/>
            <a:ext cx="1353185" cy="139583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Neo4j logo">
            <a:extLst>
              <a:ext uri="{FF2B5EF4-FFF2-40B4-BE49-F238E27FC236}">
                <a16:creationId xmlns:a16="http://schemas.microsoft.com/office/drawing/2014/main" id="{AC77A613-3452-5ABC-28EB-2F46994549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8536" y="3913744"/>
            <a:ext cx="2004954" cy="72907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dis logo">
            <a:extLst>
              <a:ext uri="{FF2B5EF4-FFF2-40B4-BE49-F238E27FC236}">
                <a16:creationId xmlns:a16="http://schemas.microsoft.com/office/drawing/2014/main" id="{81A7B719-CB14-88EE-04D2-C8D2E405DF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84080" y="3914046"/>
            <a:ext cx="1977614" cy="729074"/>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6" descr="MongoDB logo">
            <a:extLst>
              <a:ext uri="{FF2B5EF4-FFF2-40B4-BE49-F238E27FC236}">
                <a16:creationId xmlns:a16="http://schemas.microsoft.com/office/drawing/2014/main" id="{7E40835E-5FB1-2417-933C-90BE3DA644F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 name="图片 9">
            <a:extLst>
              <a:ext uri="{FF2B5EF4-FFF2-40B4-BE49-F238E27FC236}">
                <a16:creationId xmlns:a16="http://schemas.microsoft.com/office/drawing/2014/main" id="{21B986D6-51FA-D013-EC20-2DE64654C4CD}"/>
              </a:ext>
            </a:extLst>
          </p:cNvPr>
          <p:cNvPicPr>
            <a:picLocks noChangeAspect="1"/>
          </p:cNvPicPr>
          <p:nvPr/>
        </p:nvPicPr>
        <p:blipFill>
          <a:blip r:embed="rId6"/>
          <a:stretch>
            <a:fillRect/>
          </a:stretch>
        </p:blipFill>
        <p:spPr>
          <a:xfrm>
            <a:off x="9293317" y="2845968"/>
            <a:ext cx="2356393" cy="833554"/>
          </a:xfrm>
          <a:prstGeom prst="rect">
            <a:avLst/>
          </a:prstGeom>
        </p:spPr>
      </p:pic>
      <p:pic>
        <p:nvPicPr>
          <p:cNvPr id="2058" name="Picture 10" descr="MongoDB gets a data lake, new security features and more | TechCrunch">
            <a:extLst>
              <a:ext uri="{FF2B5EF4-FFF2-40B4-BE49-F238E27FC236}">
                <a16:creationId xmlns:a16="http://schemas.microsoft.com/office/drawing/2014/main" id="{FD4466B4-BF39-EAA2-C477-E8091C6F4AB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69070" y="2037705"/>
            <a:ext cx="2580640" cy="696907"/>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SQLite - Wikipedia">
            <a:extLst>
              <a:ext uri="{FF2B5EF4-FFF2-40B4-BE49-F238E27FC236}">
                <a16:creationId xmlns:a16="http://schemas.microsoft.com/office/drawing/2014/main" id="{365E81DD-E7AB-75AF-5379-4DFAFB0D03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34246" y="2759489"/>
            <a:ext cx="1613535" cy="765169"/>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Oracle Database : Fujitsu EMEIA">
            <a:extLst>
              <a:ext uri="{FF2B5EF4-FFF2-40B4-BE49-F238E27FC236}">
                <a16:creationId xmlns:a16="http://schemas.microsoft.com/office/drawing/2014/main" id="{7D5D036E-43D5-4753-B5F9-A452DE0CD62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38536" y="1751328"/>
            <a:ext cx="1981244" cy="76517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1">
            <a:extLst>
              <a:ext uri="{FF2B5EF4-FFF2-40B4-BE49-F238E27FC236}">
                <a16:creationId xmlns:a16="http://schemas.microsoft.com/office/drawing/2014/main" id="{E6D16C8F-20E1-7F11-61FA-DF84F1BBFBCF}"/>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92</a:t>
            </a:fld>
            <a:endParaRPr lang="zh-CN" altLang="en-US"/>
          </a:p>
        </p:txBody>
      </p:sp>
    </p:spTree>
    <p:extLst>
      <p:ext uri="{BB962C8B-B14F-4D97-AF65-F5344CB8AC3E}">
        <p14:creationId xmlns:p14="http://schemas.microsoft.com/office/powerpoint/2010/main" val="180992952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实时数据库</a:t>
            </a:r>
            <a:endParaRPr kumimoji="1" lang="zh-CN" altLang="en-US" dirty="0"/>
          </a:p>
        </p:txBody>
      </p:sp>
      <p:sp>
        <p:nvSpPr>
          <p:cNvPr id="3" name="内容占位符 3">
            <a:extLst>
              <a:ext uri="{FF2B5EF4-FFF2-40B4-BE49-F238E27FC236}">
                <a16:creationId xmlns:a16="http://schemas.microsoft.com/office/drawing/2014/main" id="{2A45EACA-0719-8857-1D7E-A1FEA81B992C}"/>
              </a:ext>
            </a:extLst>
          </p:cNvPr>
          <p:cNvSpPr>
            <a:spLocks noGrp="1"/>
          </p:cNvSpPr>
          <p:nvPr>
            <p:ph idx="1"/>
          </p:nvPr>
        </p:nvSpPr>
        <p:spPr>
          <a:xfrm>
            <a:off x="457200" y="1125538"/>
            <a:ext cx="10874188" cy="5005387"/>
          </a:xfrm>
        </p:spPr>
        <p:txBody>
          <a:bodyPr/>
          <a:lstStyle/>
          <a:p>
            <a:r>
              <a:rPr lang="zh-CN" altLang="en-US" dirty="0">
                <a:latin typeface="Times" pitchFamily="2" charset="0"/>
              </a:rPr>
              <a:t>动机</a:t>
            </a:r>
            <a:endParaRPr lang="en-US" altLang="zh-CN" dirty="0">
              <a:latin typeface="Times" pitchFamily="2" charset="0"/>
            </a:endParaRPr>
          </a:p>
          <a:p>
            <a:pPr lvl="1"/>
            <a:r>
              <a:rPr lang="zh-CN" altLang="en-US" dirty="0">
                <a:latin typeface="Times" pitchFamily="2" charset="0"/>
              </a:rPr>
              <a:t>在现实生活中，有许多场景要求数据库系统能够实时处理不断变化的数据信息。</a:t>
            </a:r>
            <a:endParaRPr lang="en-US" altLang="zh-CN" dirty="0">
              <a:latin typeface="Times" pitchFamily="2" charset="0"/>
            </a:endParaRPr>
          </a:p>
          <a:p>
            <a:pPr lvl="1"/>
            <a:r>
              <a:rPr lang="zh-CN" altLang="en-US" dirty="0">
                <a:latin typeface="Times" pitchFamily="2" charset="0"/>
              </a:rPr>
              <a:t>例如，股市中每个股票的价格变动是十分快递的，这就需要数据库实时处理不同时间戳的股票交易价格。</a:t>
            </a:r>
            <a:endParaRPr lang="en-US" altLang="zh-CN" dirty="0">
              <a:latin typeface="Times" pitchFamily="2" charset="0"/>
            </a:endParaRPr>
          </a:p>
          <a:p>
            <a:r>
              <a:rPr lang="zh-CN" altLang="en-US" dirty="0">
                <a:latin typeface="Times" pitchFamily="2" charset="0"/>
              </a:rPr>
              <a:t>定义</a:t>
            </a:r>
            <a:endParaRPr lang="en-US" altLang="zh-CN" dirty="0">
              <a:latin typeface="Times" pitchFamily="2" charset="0"/>
            </a:endParaRPr>
          </a:p>
          <a:p>
            <a:pPr lvl="1"/>
            <a:r>
              <a:rPr lang="zh-CN" altLang="en-US" dirty="0">
                <a:latin typeface="Times" pitchFamily="2" charset="0"/>
              </a:rPr>
              <a:t>实时数据库是实时系统和数据库技术相结合的数据库系统，主要面向处理快速变化的数据及具有时间限制的事务处理 </a:t>
            </a:r>
            <a:endParaRPr lang="en-US" altLang="zh-CN" dirty="0">
              <a:latin typeface="Times" pitchFamily="2" charset="0"/>
            </a:endParaRPr>
          </a:p>
          <a:p>
            <a:r>
              <a:rPr lang="zh-CN" altLang="en-US" dirty="0">
                <a:latin typeface="Times" pitchFamily="2" charset="0"/>
              </a:rPr>
              <a:t>常见的实时数据库</a:t>
            </a:r>
            <a:endParaRPr lang="en-US" altLang="zh-CN" dirty="0">
              <a:latin typeface="Times" pitchFamily="2" charset="0"/>
            </a:endParaRPr>
          </a:p>
          <a:p>
            <a:pPr lvl="1"/>
            <a:r>
              <a:rPr lang="en-US" altLang="zh-CN" dirty="0">
                <a:latin typeface="Times" pitchFamily="2" charset="0"/>
              </a:rPr>
              <a:t>Apache Storm</a:t>
            </a:r>
            <a:r>
              <a:rPr lang="zh-CN" altLang="zh-CN" dirty="0">
                <a:latin typeface="Times" pitchFamily="2" charset="0"/>
              </a:rPr>
              <a:t>、</a:t>
            </a:r>
            <a:r>
              <a:rPr lang="en-US" altLang="zh-CN" dirty="0" err="1">
                <a:latin typeface="Times" pitchFamily="2" charset="0"/>
              </a:rPr>
              <a:t>PipelineDB</a:t>
            </a:r>
            <a:r>
              <a:rPr lang="zh-CN" altLang="zh-CN" dirty="0">
                <a:latin typeface="Times" pitchFamily="2" charset="0"/>
              </a:rPr>
              <a:t>、</a:t>
            </a:r>
            <a:r>
              <a:rPr lang="en-US" altLang="zh-CN" dirty="0">
                <a:latin typeface="Times" pitchFamily="2" charset="0"/>
              </a:rPr>
              <a:t>Heron</a:t>
            </a:r>
            <a:r>
              <a:rPr lang="zh-CN" altLang="zh-CN" dirty="0">
                <a:latin typeface="Times" pitchFamily="2" charset="0"/>
              </a:rPr>
              <a:t>和</a:t>
            </a:r>
            <a:r>
              <a:rPr lang="en-US" altLang="zh-CN" dirty="0">
                <a:latin typeface="Times" pitchFamily="2" charset="0"/>
              </a:rPr>
              <a:t>Google</a:t>
            </a:r>
            <a:r>
              <a:rPr lang="zh-CN" altLang="zh-CN" dirty="0">
                <a:latin typeface="Times" pitchFamily="2" charset="0"/>
              </a:rPr>
              <a:t>的</a:t>
            </a:r>
            <a:r>
              <a:rPr lang="en-US" altLang="zh-CN" dirty="0">
                <a:latin typeface="Times" pitchFamily="2" charset="0"/>
              </a:rPr>
              <a:t>Dataflow</a:t>
            </a:r>
            <a:r>
              <a:rPr lang="zh-CN" altLang="zh-CN" dirty="0">
                <a:latin typeface="Times" pitchFamily="2" charset="0"/>
              </a:rPr>
              <a:t> </a:t>
            </a:r>
            <a:r>
              <a:rPr lang="zh-CN" altLang="en-US" dirty="0">
                <a:latin typeface="Times" pitchFamily="2" charset="0"/>
              </a:rPr>
              <a:t>等</a:t>
            </a:r>
          </a:p>
        </p:txBody>
      </p:sp>
      <p:sp>
        <p:nvSpPr>
          <p:cNvPr id="4" name="灯片编号占位符 1">
            <a:extLst>
              <a:ext uri="{FF2B5EF4-FFF2-40B4-BE49-F238E27FC236}">
                <a16:creationId xmlns:a16="http://schemas.microsoft.com/office/drawing/2014/main" id="{986F5C7F-EAA3-BA7D-D453-7DC06A46DCC2}"/>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93</a:t>
            </a:fld>
            <a:endParaRPr lang="zh-CN" altLang="en-US" dirty="0"/>
          </a:p>
        </p:txBody>
      </p:sp>
    </p:spTree>
    <p:extLst>
      <p:ext uri="{BB962C8B-B14F-4D97-AF65-F5344CB8AC3E}">
        <p14:creationId xmlns:p14="http://schemas.microsoft.com/office/powerpoint/2010/main" val="261240541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实时数据库（续）</a:t>
            </a:r>
            <a:endParaRPr kumimoji="1" lang="zh-CN" altLang="en-US" dirty="0"/>
          </a:p>
        </p:txBody>
      </p:sp>
      <p:sp>
        <p:nvSpPr>
          <p:cNvPr id="3" name="内容占位符 3">
            <a:extLst>
              <a:ext uri="{FF2B5EF4-FFF2-40B4-BE49-F238E27FC236}">
                <a16:creationId xmlns:a16="http://schemas.microsoft.com/office/drawing/2014/main" id="{2A45EACA-0719-8857-1D7E-A1FEA81B992C}"/>
              </a:ext>
            </a:extLst>
          </p:cNvPr>
          <p:cNvSpPr>
            <a:spLocks noGrp="1"/>
          </p:cNvSpPr>
          <p:nvPr>
            <p:ph idx="1"/>
          </p:nvPr>
        </p:nvSpPr>
        <p:spPr>
          <a:xfrm>
            <a:off x="457200" y="1125538"/>
            <a:ext cx="10874188" cy="5005387"/>
          </a:xfrm>
        </p:spPr>
        <p:txBody>
          <a:bodyPr/>
          <a:lstStyle/>
          <a:p>
            <a:r>
              <a:rPr lang="zh-CN" altLang="en-US" dirty="0"/>
              <a:t>主要特点</a:t>
            </a:r>
            <a:endParaRPr lang="en-US" altLang="zh-CN" dirty="0"/>
          </a:p>
          <a:p>
            <a:pPr lvl="1"/>
            <a:r>
              <a:rPr lang="zh-CN" altLang="zh-CN" dirty="0"/>
              <a:t>如何正确有效地表示时间</a:t>
            </a:r>
            <a:r>
              <a:rPr lang="zh-CN" altLang="en-US" dirty="0"/>
              <a:t>？</a:t>
            </a:r>
            <a:endParaRPr lang="en-US" altLang="zh-CN" dirty="0"/>
          </a:p>
          <a:p>
            <a:pPr lvl="2"/>
            <a:r>
              <a:rPr lang="zh-CN" altLang="zh-CN" dirty="0"/>
              <a:t>将现实世界的时间概念与实时系统的时间概念相关联</a:t>
            </a:r>
            <a:endParaRPr lang="en-US" altLang="zh-CN" dirty="0"/>
          </a:p>
          <a:p>
            <a:pPr lvl="2"/>
            <a:endParaRPr lang="en-US" altLang="zh-CN" dirty="0"/>
          </a:p>
          <a:p>
            <a:pPr lvl="1"/>
            <a:r>
              <a:rPr lang="zh-CN" altLang="zh-CN" dirty="0"/>
              <a:t>如何有效表示数据库中的属性值</a:t>
            </a:r>
            <a:r>
              <a:rPr lang="zh-CN" altLang="en-US" dirty="0"/>
              <a:t>？</a:t>
            </a:r>
            <a:endParaRPr lang="en-US" altLang="zh-CN" dirty="0"/>
          </a:p>
          <a:p>
            <a:pPr lvl="2"/>
            <a:r>
              <a:rPr lang="zh-CN" altLang="zh-CN" dirty="0"/>
              <a:t>使得数据一致性和流程事务不冲突 </a:t>
            </a:r>
            <a:endParaRPr lang="en-US" altLang="zh-CN" dirty="0"/>
          </a:p>
          <a:p>
            <a:pPr lvl="2"/>
            <a:endParaRPr lang="en-US" altLang="zh-CN" dirty="0"/>
          </a:p>
          <a:p>
            <a:pPr lvl="1"/>
            <a:r>
              <a:rPr lang="zh-CN" altLang="zh-CN" dirty="0"/>
              <a:t>实时数据库的事务处理既要考虑事务的执行时间，也要考虑事务的截止时间和紧迫程度 </a:t>
            </a:r>
            <a:endParaRPr lang="zh-CN" altLang="en-US" dirty="0"/>
          </a:p>
        </p:txBody>
      </p:sp>
      <p:sp>
        <p:nvSpPr>
          <p:cNvPr id="7" name="Rectangle 4">
            <a:extLst>
              <a:ext uri="{FF2B5EF4-FFF2-40B4-BE49-F238E27FC236}">
                <a16:creationId xmlns:a16="http://schemas.microsoft.com/office/drawing/2014/main" id="{E848E775-7C1F-B748-816C-01BB15017931}"/>
              </a:ext>
            </a:extLst>
          </p:cNvPr>
          <p:cNvSpPr>
            <a:spLocks noChangeArrowheads="1"/>
          </p:cNvSpPr>
          <p:nvPr/>
        </p:nvSpPr>
        <p:spPr bwMode="auto">
          <a:xfrm>
            <a:off x="152400" y="-322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5" name="灯片编号占位符 1">
            <a:extLst>
              <a:ext uri="{FF2B5EF4-FFF2-40B4-BE49-F238E27FC236}">
                <a16:creationId xmlns:a16="http://schemas.microsoft.com/office/drawing/2014/main" id="{01DF2775-A074-AC51-4A58-E52962B25D05}"/>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94</a:t>
            </a:fld>
            <a:endParaRPr lang="zh-CN" altLang="en-US" dirty="0"/>
          </a:p>
        </p:txBody>
      </p:sp>
    </p:spTree>
    <p:extLst>
      <p:ext uri="{BB962C8B-B14F-4D97-AF65-F5344CB8AC3E}">
        <p14:creationId xmlns:p14="http://schemas.microsoft.com/office/powerpoint/2010/main" val="147303820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并行数据库</a:t>
            </a:r>
            <a:endParaRPr kumimoji="1" lang="zh-CN" altLang="en-US" dirty="0"/>
          </a:p>
        </p:txBody>
      </p:sp>
      <p:sp>
        <p:nvSpPr>
          <p:cNvPr id="3" name="内容占位符 3">
            <a:extLst>
              <a:ext uri="{FF2B5EF4-FFF2-40B4-BE49-F238E27FC236}">
                <a16:creationId xmlns:a16="http://schemas.microsoft.com/office/drawing/2014/main" id="{42F3A5A2-674A-067A-2D65-E8E90B7C98F8}"/>
              </a:ext>
            </a:extLst>
          </p:cNvPr>
          <p:cNvSpPr>
            <a:spLocks noGrp="1"/>
          </p:cNvSpPr>
          <p:nvPr>
            <p:ph idx="1"/>
          </p:nvPr>
        </p:nvSpPr>
        <p:spPr>
          <a:xfrm>
            <a:off x="457200" y="1125538"/>
            <a:ext cx="10874188" cy="5005387"/>
          </a:xfrm>
        </p:spPr>
        <p:txBody>
          <a:bodyPr/>
          <a:lstStyle/>
          <a:p>
            <a:r>
              <a:rPr lang="zh-CN" altLang="en-US" dirty="0">
                <a:latin typeface="Times" pitchFamily="2" charset="0"/>
              </a:rPr>
              <a:t>动机</a:t>
            </a:r>
            <a:endParaRPr lang="en-US" altLang="zh-CN" dirty="0">
              <a:latin typeface="Times" pitchFamily="2" charset="0"/>
            </a:endParaRPr>
          </a:p>
          <a:p>
            <a:pPr lvl="1"/>
            <a:r>
              <a:rPr lang="zh-CN" altLang="zh-CN" dirty="0">
                <a:latin typeface="Times" pitchFamily="2" charset="0"/>
              </a:rPr>
              <a:t>提高数据库的性能和可用性</a:t>
            </a:r>
            <a:endParaRPr lang="en-US" altLang="zh-CN" dirty="0">
              <a:latin typeface="Times" pitchFamily="2" charset="0"/>
            </a:endParaRPr>
          </a:p>
          <a:p>
            <a:r>
              <a:rPr lang="zh-CN" altLang="en-US" dirty="0">
                <a:latin typeface="Times" pitchFamily="2" charset="0"/>
              </a:rPr>
              <a:t>历史</a:t>
            </a:r>
            <a:endParaRPr lang="en-US" altLang="zh-CN" dirty="0">
              <a:latin typeface="Times" pitchFamily="2" charset="0"/>
            </a:endParaRPr>
          </a:p>
          <a:p>
            <a:pPr lvl="1"/>
            <a:r>
              <a:rPr lang="zh-CN" altLang="zh-CN" dirty="0">
                <a:latin typeface="Times" pitchFamily="2" charset="0"/>
              </a:rPr>
              <a:t>对并行数据库的研究可以追溯到</a:t>
            </a:r>
            <a:r>
              <a:rPr lang="en-US" altLang="zh-CN" dirty="0">
                <a:latin typeface="Times" pitchFamily="2" charset="0"/>
              </a:rPr>
              <a:t>20</a:t>
            </a:r>
            <a:r>
              <a:rPr lang="zh-CN" altLang="zh-CN" dirty="0">
                <a:latin typeface="Times" pitchFamily="2" charset="0"/>
              </a:rPr>
              <a:t>世纪</a:t>
            </a:r>
            <a:r>
              <a:rPr lang="en-US" altLang="zh-CN" dirty="0">
                <a:latin typeface="Times" pitchFamily="2" charset="0"/>
              </a:rPr>
              <a:t>70</a:t>
            </a:r>
            <a:r>
              <a:rPr lang="zh-CN" altLang="zh-CN" dirty="0">
                <a:latin typeface="Times" pitchFamily="2" charset="0"/>
              </a:rPr>
              <a:t>年代中后期的数据库机（</a:t>
            </a:r>
            <a:r>
              <a:rPr lang="en-US" altLang="zh-CN" dirty="0">
                <a:latin typeface="Times" pitchFamily="2" charset="0"/>
              </a:rPr>
              <a:t>database machine</a:t>
            </a:r>
            <a:r>
              <a:rPr lang="zh-CN" altLang="zh-CN" dirty="0">
                <a:latin typeface="Times" pitchFamily="2" charset="0"/>
              </a:rPr>
              <a:t>），数据库机可以存储和分析数据</a:t>
            </a:r>
            <a:endParaRPr lang="en-US" altLang="zh-CN" dirty="0">
              <a:latin typeface="Times" pitchFamily="2" charset="0"/>
            </a:endParaRPr>
          </a:p>
          <a:p>
            <a:pPr lvl="1"/>
            <a:r>
              <a:rPr lang="zh-CN" altLang="zh-CN" dirty="0">
                <a:latin typeface="Times" pitchFamily="2" charset="0"/>
              </a:rPr>
              <a:t>随着数据量的增加，单机已经很难处理更大的数据集，因此研究者们想通过并行计算技术来提高单机的处理能力。 </a:t>
            </a:r>
            <a:endParaRPr lang="en-US" altLang="zh-CN" dirty="0">
              <a:latin typeface="Times" pitchFamily="2" charset="0"/>
            </a:endParaRPr>
          </a:p>
          <a:p>
            <a:r>
              <a:rPr lang="zh-CN" altLang="en-US" dirty="0">
                <a:latin typeface="Times" pitchFamily="2" charset="0"/>
              </a:rPr>
              <a:t>定义</a:t>
            </a:r>
            <a:endParaRPr lang="en-US" altLang="zh-CN" dirty="0">
              <a:latin typeface="Times" pitchFamily="2" charset="0"/>
            </a:endParaRPr>
          </a:p>
          <a:p>
            <a:pPr lvl="1"/>
            <a:r>
              <a:rPr lang="zh-CN" altLang="zh-CN" dirty="0">
                <a:latin typeface="Times" pitchFamily="2" charset="0"/>
              </a:rPr>
              <a:t>研究者提出利用并行处理的方法，通过多个处理节点以并行执行数据库任务，以提高整个数据库系统的性能和可用性，这类基于并行计算技术来提高数据库性能的数据库是并行数据库</a:t>
            </a:r>
            <a:r>
              <a:rPr lang="zh-CN" altLang="en-US" dirty="0">
                <a:latin typeface="Times" pitchFamily="2" charset="0"/>
              </a:rPr>
              <a:t>。</a:t>
            </a:r>
            <a:endParaRPr lang="en-US" altLang="zh-CN" dirty="0">
              <a:latin typeface="Times" pitchFamily="2" charset="0"/>
            </a:endParaRPr>
          </a:p>
        </p:txBody>
      </p:sp>
    </p:spTree>
    <p:extLst>
      <p:ext uri="{BB962C8B-B14F-4D97-AF65-F5344CB8AC3E}">
        <p14:creationId xmlns:p14="http://schemas.microsoft.com/office/powerpoint/2010/main" val="255705520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并行数据库（续）</a:t>
            </a:r>
            <a:endParaRPr kumimoji="1" lang="zh-CN" altLang="en-US" dirty="0"/>
          </a:p>
        </p:txBody>
      </p:sp>
      <p:sp>
        <p:nvSpPr>
          <p:cNvPr id="3" name="内容占位符 3">
            <a:extLst>
              <a:ext uri="{FF2B5EF4-FFF2-40B4-BE49-F238E27FC236}">
                <a16:creationId xmlns:a16="http://schemas.microsoft.com/office/drawing/2014/main" id="{42F3A5A2-674A-067A-2D65-E8E90B7C98F8}"/>
              </a:ext>
            </a:extLst>
          </p:cNvPr>
          <p:cNvSpPr>
            <a:spLocks noGrp="1"/>
          </p:cNvSpPr>
          <p:nvPr>
            <p:ph idx="1"/>
          </p:nvPr>
        </p:nvSpPr>
        <p:spPr>
          <a:xfrm>
            <a:off x="457200" y="1125538"/>
            <a:ext cx="11734800" cy="5005387"/>
          </a:xfrm>
        </p:spPr>
        <p:txBody>
          <a:bodyPr/>
          <a:lstStyle/>
          <a:p>
            <a:r>
              <a:rPr lang="zh-CN" altLang="en-US" dirty="0">
                <a:latin typeface="Times" pitchFamily="2" charset="0"/>
              </a:rPr>
              <a:t>常见的并行数据库</a:t>
            </a:r>
            <a:endParaRPr lang="en-US" altLang="zh-CN" dirty="0">
              <a:latin typeface="Times" pitchFamily="2" charset="0"/>
            </a:endParaRPr>
          </a:p>
          <a:p>
            <a:pPr lvl="1"/>
            <a:r>
              <a:rPr lang="en-US" altLang="zh-CN" dirty="0">
                <a:latin typeface="Times" pitchFamily="2" charset="0"/>
              </a:rPr>
              <a:t>Teradata</a:t>
            </a:r>
            <a:r>
              <a:rPr lang="zh-CN" altLang="en-US" dirty="0">
                <a:latin typeface="Times" pitchFamily="2" charset="0"/>
              </a:rPr>
              <a:t>、</a:t>
            </a:r>
            <a:r>
              <a:rPr lang="en-US" altLang="zh-CN" dirty="0">
                <a:latin typeface="Times" pitchFamily="2" charset="0"/>
              </a:rPr>
              <a:t>VMware Tanzu Greenplum</a:t>
            </a:r>
            <a:r>
              <a:rPr lang="zh-CN" altLang="en-US" dirty="0">
                <a:latin typeface="Times" pitchFamily="2" charset="0"/>
              </a:rPr>
              <a:t>等</a:t>
            </a:r>
            <a:endParaRPr lang="en-US" altLang="zh-CN" dirty="0">
              <a:latin typeface="Times" pitchFamily="2" charset="0"/>
            </a:endParaRPr>
          </a:p>
          <a:p>
            <a:pPr lvl="1"/>
            <a:r>
              <a:rPr lang="en-US" altLang="zh-CN" dirty="0">
                <a:latin typeface="Times" pitchFamily="2" charset="0"/>
              </a:rPr>
              <a:t>Teradata</a:t>
            </a:r>
          </a:p>
          <a:p>
            <a:pPr lvl="2"/>
            <a:r>
              <a:rPr lang="en-US" altLang="zh-CN" dirty="0">
                <a:latin typeface="Times" pitchFamily="2" charset="0"/>
              </a:rPr>
              <a:t>1982</a:t>
            </a:r>
            <a:r>
              <a:rPr lang="zh-CN" altLang="zh-CN" dirty="0">
                <a:latin typeface="Times" pitchFamily="2" charset="0"/>
              </a:rPr>
              <a:t>年发布</a:t>
            </a:r>
            <a:r>
              <a:rPr lang="zh-CN" altLang="en-US" dirty="0">
                <a:latin typeface="Times" pitchFamily="2" charset="0"/>
              </a:rPr>
              <a:t>，是</a:t>
            </a:r>
            <a:r>
              <a:rPr lang="zh-CN" altLang="zh-CN" dirty="0">
                <a:latin typeface="Times" pitchFamily="2" charset="0"/>
              </a:rPr>
              <a:t>第一个商用的并行数据库系统</a:t>
            </a:r>
            <a:endParaRPr lang="en-US" altLang="zh-CN" dirty="0">
              <a:latin typeface="Times" pitchFamily="2" charset="0"/>
            </a:endParaRPr>
          </a:p>
          <a:p>
            <a:pPr lvl="2"/>
            <a:r>
              <a:rPr lang="zh-CN" altLang="zh-CN" dirty="0">
                <a:latin typeface="Times" pitchFamily="2" charset="0"/>
              </a:rPr>
              <a:t>当时的存储容量可以达到</a:t>
            </a:r>
            <a:r>
              <a:rPr lang="en-US" altLang="zh-CN" dirty="0">
                <a:latin typeface="Times" pitchFamily="2" charset="0"/>
              </a:rPr>
              <a:t>1TB</a:t>
            </a:r>
          </a:p>
          <a:p>
            <a:pPr lvl="1"/>
            <a:r>
              <a:rPr lang="en-US" altLang="zh-CN" dirty="0">
                <a:latin typeface="Times" pitchFamily="2" charset="0"/>
              </a:rPr>
              <a:t>VMware Tanzu Greenplum</a:t>
            </a:r>
          </a:p>
          <a:p>
            <a:pPr lvl="2"/>
            <a:r>
              <a:rPr lang="zh-CN" altLang="zh-CN" dirty="0">
                <a:latin typeface="Times" pitchFamily="2" charset="0"/>
              </a:rPr>
              <a:t>基于大规模并行处理（</a:t>
            </a:r>
            <a:r>
              <a:rPr lang="en-US" altLang="zh-CN" dirty="0">
                <a:latin typeface="Times" pitchFamily="2" charset="0"/>
              </a:rPr>
              <a:t>massively parallel processing, MPP</a:t>
            </a:r>
            <a:r>
              <a:rPr lang="zh-CN" altLang="zh-CN" dirty="0">
                <a:latin typeface="Times" pitchFamily="2" charset="0"/>
              </a:rPr>
              <a:t>）架构</a:t>
            </a:r>
            <a:endParaRPr lang="en-US" altLang="zh-CN" dirty="0">
              <a:latin typeface="Times" pitchFamily="2" charset="0"/>
            </a:endParaRPr>
          </a:p>
          <a:p>
            <a:r>
              <a:rPr lang="zh-CN" altLang="en-US" dirty="0">
                <a:latin typeface="Times" pitchFamily="2" charset="0"/>
              </a:rPr>
              <a:t>现有挑战</a:t>
            </a:r>
            <a:endParaRPr lang="en-US" altLang="zh-CN" dirty="0">
              <a:latin typeface="Times" pitchFamily="2" charset="0"/>
            </a:endParaRPr>
          </a:p>
          <a:p>
            <a:pPr lvl="1"/>
            <a:r>
              <a:rPr lang="zh-CN" altLang="zh-CN" dirty="0">
                <a:latin typeface="Times" pitchFamily="2" charset="0"/>
              </a:rPr>
              <a:t>尽管并行数据库通过并行连接多个计算资源（如</a:t>
            </a:r>
            <a:r>
              <a:rPr lang="en-US" altLang="zh-CN" dirty="0">
                <a:latin typeface="Times" pitchFamily="2" charset="0"/>
              </a:rPr>
              <a:t> CPU </a:t>
            </a:r>
            <a:r>
              <a:rPr lang="zh-CN" altLang="zh-CN" dirty="0">
                <a:latin typeface="Times" pitchFamily="2" charset="0"/>
              </a:rPr>
              <a:t>和磁盘），可以显著提高数据库系统的性能、稳定性和高可用性</a:t>
            </a:r>
            <a:endParaRPr lang="en-US" altLang="zh-CN" dirty="0">
              <a:latin typeface="Times" pitchFamily="2" charset="0"/>
            </a:endParaRPr>
          </a:p>
          <a:p>
            <a:pPr lvl="1"/>
            <a:r>
              <a:rPr lang="zh-CN" altLang="zh-CN" dirty="0">
                <a:latin typeface="Times" pitchFamily="2" charset="0"/>
              </a:rPr>
              <a:t>依然存在并行数据库造价高昂、系统弹性较差和管理成本较大等难点</a:t>
            </a:r>
          </a:p>
          <a:p>
            <a:pPr marL="422041" lvl="1" indent="0">
              <a:buNone/>
            </a:pPr>
            <a:endParaRPr lang="zh-CN" altLang="en-US" dirty="0">
              <a:latin typeface="Times" pitchFamily="2" charset="0"/>
            </a:endParaRPr>
          </a:p>
        </p:txBody>
      </p:sp>
      <p:sp>
        <p:nvSpPr>
          <p:cNvPr id="4" name="灯片编号占位符 1">
            <a:extLst>
              <a:ext uri="{FF2B5EF4-FFF2-40B4-BE49-F238E27FC236}">
                <a16:creationId xmlns:a16="http://schemas.microsoft.com/office/drawing/2014/main" id="{62F5B720-3231-066C-9B8C-BB15AAEB6031}"/>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96</a:t>
            </a:fld>
            <a:endParaRPr lang="zh-CN" altLang="en-US" dirty="0"/>
          </a:p>
        </p:txBody>
      </p:sp>
    </p:spTree>
    <p:extLst>
      <p:ext uri="{BB962C8B-B14F-4D97-AF65-F5344CB8AC3E}">
        <p14:creationId xmlns:p14="http://schemas.microsoft.com/office/powerpoint/2010/main" val="94379988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终端数据库</a:t>
            </a:r>
            <a:endParaRPr kumimoji="1" lang="zh-CN" altLang="en-US" dirty="0"/>
          </a:p>
        </p:txBody>
      </p:sp>
      <p:sp>
        <p:nvSpPr>
          <p:cNvPr id="3" name="内容占位符 3">
            <a:extLst>
              <a:ext uri="{FF2B5EF4-FFF2-40B4-BE49-F238E27FC236}">
                <a16:creationId xmlns:a16="http://schemas.microsoft.com/office/drawing/2014/main" id="{30165BCA-9695-E04C-6B57-2917FDF89B0D}"/>
              </a:ext>
            </a:extLst>
          </p:cNvPr>
          <p:cNvSpPr>
            <a:spLocks noGrp="1"/>
          </p:cNvSpPr>
          <p:nvPr>
            <p:ph idx="1"/>
          </p:nvPr>
        </p:nvSpPr>
        <p:spPr>
          <a:xfrm>
            <a:off x="457199" y="1125538"/>
            <a:ext cx="11580125" cy="5005387"/>
          </a:xfrm>
        </p:spPr>
        <p:txBody>
          <a:bodyPr/>
          <a:lstStyle/>
          <a:p>
            <a:r>
              <a:rPr lang="zh-CN" altLang="en-US" dirty="0">
                <a:latin typeface="Times" pitchFamily="2" charset="0"/>
              </a:rPr>
              <a:t>动机</a:t>
            </a:r>
            <a:endParaRPr lang="en-US" altLang="zh-CN" dirty="0">
              <a:latin typeface="Times" pitchFamily="2" charset="0"/>
            </a:endParaRPr>
          </a:p>
          <a:p>
            <a:pPr lvl="1"/>
            <a:r>
              <a:rPr lang="zh-CN" altLang="zh-CN" dirty="0">
                <a:latin typeface="Times" pitchFamily="2" charset="0"/>
              </a:rPr>
              <a:t>为了解决终端设备小规模数据管理的需求，终端数据库应运而生</a:t>
            </a:r>
            <a:endParaRPr lang="en-US" altLang="zh-CN" dirty="0">
              <a:latin typeface="Times" pitchFamily="2" charset="0"/>
            </a:endParaRPr>
          </a:p>
          <a:p>
            <a:r>
              <a:rPr lang="zh-CN" altLang="en-US" dirty="0">
                <a:latin typeface="Times" pitchFamily="2" charset="0"/>
              </a:rPr>
              <a:t>特点</a:t>
            </a:r>
            <a:endParaRPr lang="en-US" altLang="zh-CN" dirty="0">
              <a:latin typeface="Times" pitchFamily="2" charset="0"/>
            </a:endParaRPr>
          </a:p>
          <a:p>
            <a:pPr lvl="1"/>
            <a:r>
              <a:rPr lang="zh-CN" altLang="zh-CN" dirty="0">
                <a:latin typeface="Times" pitchFamily="2" charset="0"/>
              </a:rPr>
              <a:t>结构简单，性能高，可以作为嵌入式数据库内建在应用程序或者终端设备中</a:t>
            </a:r>
            <a:endParaRPr lang="en-US" altLang="zh-CN" dirty="0">
              <a:latin typeface="Times" pitchFamily="2" charset="0"/>
            </a:endParaRPr>
          </a:p>
          <a:p>
            <a:pPr lvl="1"/>
            <a:r>
              <a:rPr lang="zh-CN" altLang="zh-CN" dirty="0">
                <a:latin typeface="Times" pitchFamily="2" charset="0"/>
              </a:rPr>
              <a:t>降低了传统数据库的</a:t>
            </a:r>
            <a:r>
              <a:rPr lang="en-US" altLang="zh-CN" dirty="0">
                <a:latin typeface="Times" pitchFamily="2" charset="0"/>
              </a:rPr>
              <a:t>“</a:t>
            </a:r>
            <a:r>
              <a:rPr lang="zh-CN" altLang="zh-CN" dirty="0">
                <a:latin typeface="Times" pitchFamily="2" charset="0"/>
              </a:rPr>
              <a:t>客户端</a:t>
            </a:r>
            <a:r>
              <a:rPr lang="en-US" altLang="zh-CN" dirty="0">
                <a:latin typeface="Times" pitchFamily="2" charset="0"/>
              </a:rPr>
              <a:t>-</a:t>
            </a:r>
            <a:r>
              <a:rPr lang="zh-CN" altLang="zh-CN" dirty="0">
                <a:latin typeface="Times" pitchFamily="2" charset="0"/>
              </a:rPr>
              <a:t>服务器</a:t>
            </a:r>
            <a:r>
              <a:rPr lang="en-US" altLang="zh-CN" dirty="0">
                <a:latin typeface="Times" pitchFamily="2" charset="0"/>
              </a:rPr>
              <a:t>”</a:t>
            </a:r>
            <a:r>
              <a:rPr lang="zh-CN" altLang="zh-CN" dirty="0">
                <a:latin typeface="Times" pitchFamily="2" charset="0"/>
              </a:rPr>
              <a:t>模式下高昂的数据通信开销。</a:t>
            </a:r>
          </a:p>
          <a:p>
            <a:r>
              <a:rPr lang="zh-CN" altLang="en-US" dirty="0">
                <a:latin typeface="Times" pitchFamily="2" charset="0"/>
              </a:rPr>
              <a:t>常见终端数据库</a:t>
            </a:r>
            <a:endParaRPr lang="en-US" altLang="zh-CN" dirty="0">
              <a:latin typeface="Times" pitchFamily="2" charset="0"/>
            </a:endParaRPr>
          </a:p>
          <a:p>
            <a:pPr lvl="1"/>
            <a:r>
              <a:rPr lang="en-US" altLang="zh-CN" dirty="0">
                <a:latin typeface="Times" pitchFamily="2" charset="0"/>
              </a:rPr>
              <a:t>SQLite</a:t>
            </a:r>
            <a:endParaRPr lang="zh-CN" altLang="en-US" dirty="0">
              <a:latin typeface="Times" pitchFamily="2" charset="0"/>
            </a:endParaRPr>
          </a:p>
        </p:txBody>
      </p:sp>
      <p:sp>
        <p:nvSpPr>
          <p:cNvPr id="4" name="灯片编号占位符 1">
            <a:extLst>
              <a:ext uri="{FF2B5EF4-FFF2-40B4-BE49-F238E27FC236}">
                <a16:creationId xmlns:a16="http://schemas.microsoft.com/office/drawing/2014/main" id="{43970131-AD16-F094-4FF8-EAF381C000E1}"/>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97</a:t>
            </a:fld>
            <a:endParaRPr lang="zh-CN" altLang="en-US" dirty="0"/>
          </a:p>
        </p:txBody>
      </p:sp>
    </p:spTree>
    <p:extLst>
      <p:ext uri="{BB962C8B-B14F-4D97-AF65-F5344CB8AC3E}">
        <p14:creationId xmlns:p14="http://schemas.microsoft.com/office/powerpoint/2010/main" val="186785078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p:txBody>
          <a:bodyPr/>
          <a:lstStyle/>
          <a:p>
            <a:pPr>
              <a:buFont typeface="Wingdings" pitchFamily="2" charset="2"/>
              <a:buChar char="l"/>
            </a:pPr>
            <a:r>
              <a:rPr lang="zh-CN" altLang="en-US" dirty="0">
                <a:solidFill>
                  <a:schemeClr val="tx1">
                    <a:lumMod val="50000"/>
                    <a:lumOff val="50000"/>
                  </a:schemeClr>
                </a:solidFill>
              </a:rPr>
              <a:t>数据库系统概述</a:t>
            </a:r>
            <a:endParaRPr lang="en-US" altLang="zh-CN" dirty="0">
              <a:solidFill>
                <a:schemeClr val="tx1">
                  <a:lumMod val="50000"/>
                  <a:lumOff val="50000"/>
                </a:schemeClr>
              </a:solidFill>
            </a:endParaRPr>
          </a:p>
          <a:p>
            <a:pPr>
              <a:buFont typeface="Wingdings" pitchFamily="2" charset="2"/>
              <a:buChar char="l"/>
            </a:pPr>
            <a:r>
              <a:rPr lang="zh-CN" altLang="en-US" dirty="0">
                <a:solidFill>
                  <a:schemeClr val="tx1">
                    <a:lumMod val="50000"/>
                    <a:lumOff val="50000"/>
                  </a:schemeClr>
                </a:solidFill>
              </a:rPr>
              <a:t>数据库发展简史</a:t>
            </a:r>
            <a:endParaRPr lang="en-US" altLang="zh-CN" dirty="0">
              <a:solidFill>
                <a:schemeClr val="tx1">
                  <a:lumMod val="50000"/>
                  <a:lumOff val="50000"/>
                </a:schemeClr>
              </a:solidFill>
            </a:endParaRPr>
          </a:p>
          <a:p>
            <a:pPr>
              <a:buFont typeface="Wingdings" pitchFamily="2" charset="2"/>
              <a:buChar char="l"/>
            </a:pPr>
            <a:r>
              <a:rPr lang="zh-CN" altLang="en-US" dirty="0"/>
              <a:t>数据库系统的应用和展望</a:t>
            </a:r>
            <a:endParaRPr lang="en-US" altLang="zh-CN" dirty="0"/>
          </a:p>
          <a:p>
            <a:pPr>
              <a:buFont typeface="Wingdings" pitchFamily="2" charset="2"/>
              <a:buChar char="l"/>
            </a:pPr>
            <a:r>
              <a:rPr lang="zh-CN" altLang="en-US" dirty="0">
                <a:solidFill>
                  <a:schemeClr val="tx1">
                    <a:lumMod val="50000"/>
                    <a:lumOff val="50000"/>
                  </a:schemeClr>
                </a:solidFill>
              </a:rPr>
              <a:t>本章小结</a:t>
            </a: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Tree>
    <p:extLst>
      <p:ext uri="{BB962C8B-B14F-4D97-AF65-F5344CB8AC3E}">
        <p14:creationId xmlns:p14="http://schemas.microsoft.com/office/powerpoint/2010/main" val="38445041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304800" y="1201271"/>
            <a:ext cx="11456894" cy="1760294"/>
          </a:xfrm>
        </p:spPr>
        <p:txBody>
          <a:bodyPr/>
          <a:lstStyle/>
          <a:p>
            <a:pPr>
              <a:buFont typeface="Wingdings" pitchFamily="2" charset="2"/>
              <a:buChar char="l"/>
            </a:pPr>
            <a:r>
              <a:rPr lang="zh-CN" altLang="en-US" dirty="0"/>
              <a:t>管理信息系统</a:t>
            </a:r>
            <a:endParaRPr lang="en-US" altLang="zh-CN" dirty="0"/>
          </a:p>
          <a:p>
            <a:pPr>
              <a:buFont typeface="Wingdings" pitchFamily="2" charset="2"/>
              <a:buChar char="l"/>
            </a:pPr>
            <a:r>
              <a:rPr lang="zh-CN" altLang="en-US" dirty="0"/>
              <a:t>事务处理系统</a:t>
            </a:r>
            <a:endParaRPr lang="en-US" altLang="zh-CN" dirty="0"/>
          </a:p>
          <a:p>
            <a:pPr>
              <a:buFont typeface="Wingdings" pitchFamily="2" charset="2"/>
              <a:buChar char="l"/>
            </a:pPr>
            <a:r>
              <a:rPr lang="zh-CN" altLang="en-US" dirty="0"/>
              <a:t>决策支持系统</a:t>
            </a: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数据库系统的应用</a:t>
            </a:r>
          </a:p>
        </p:txBody>
      </p:sp>
      <p:pic>
        <p:nvPicPr>
          <p:cNvPr id="2" name="图片 1">
            <a:extLst>
              <a:ext uri="{FF2B5EF4-FFF2-40B4-BE49-F238E27FC236}">
                <a16:creationId xmlns:a16="http://schemas.microsoft.com/office/drawing/2014/main" id="{E05D15E8-13D5-E647-E34F-405A598CA3CA}"/>
              </a:ext>
            </a:extLst>
          </p:cNvPr>
          <p:cNvPicPr>
            <a:picLocks noChangeAspect="1"/>
          </p:cNvPicPr>
          <p:nvPr/>
        </p:nvPicPr>
        <p:blipFill>
          <a:blip r:embed="rId2"/>
          <a:stretch>
            <a:fillRect/>
          </a:stretch>
        </p:blipFill>
        <p:spPr>
          <a:xfrm>
            <a:off x="3572534" y="1588461"/>
            <a:ext cx="8314666" cy="4615950"/>
          </a:xfrm>
          <a:prstGeom prst="rect">
            <a:avLst/>
          </a:prstGeom>
        </p:spPr>
      </p:pic>
      <p:sp>
        <p:nvSpPr>
          <p:cNvPr id="5" name="灯片编号占位符 1">
            <a:extLst>
              <a:ext uri="{FF2B5EF4-FFF2-40B4-BE49-F238E27FC236}">
                <a16:creationId xmlns:a16="http://schemas.microsoft.com/office/drawing/2014/main" id="{996A21D3-0A1E-EDFE-BDCF-8AB74D61367E}"/>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99</a:t>
            </a:fld>
            <a:endParaRPr lang="zh-CN" altLang="en-US" dirty="0"/>
          </a:p>
        </p:txBody>
      </p:sp>
    </p:spTree>
    <p:extLst>
      <p:ext uri="{BB962C8B-B14F-4D97-AF65-F5344CB8AC3E}">
        <p14:creationId xmlns:p14="http://schemas.microsoft.com/office/powerpoint/2010/main" val="88442832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304800" y="1201271"/>
            <a:ext cx="11456894" cy="1760294"/>
          </a:xfrm>
        </p:spPr>
        <p:txBody>
          <a:bodyPr/>
          <a:lstStyle/>
          <a:p>
            <a:pPr>
              <a:buFont typeface="Wingdings" pitchFamily="2" charset="2"/>
              <a:buChar char="l"/>
            </a:pPr>
            <a:r>
              <a:rPr lang="zh-CN" altLang="en-US" dirty="0"/>
              <a:t>人工智能与数据库</a:t>
            </a:r>
            <a:endParaRPr lang="en-US" altLang="zh-CN" dirty="0"/>
          </a:p>
          <a:p>
            <a:pPr>
              <a:buFont typeface="Wingdings" pitchFamily="2" charset="2"/>
              <a:buChar char="l"/>
            </a:pPr>
            <a:r>
              <a:rPr lang="zh-CN" altLang="en-US" dirty="0"/>
              <a:t>新硬件与数据库</a:t>
            </a:r>
            <a:endParaRPr lang="en-US" altLang="zh-CN" dirty="0"/>
          </a:p>
          <a:p>
            <a:pPr>
              <a:buFont typeface="Wingdings" pitchFamily="2" charset="2"/>
              <a:buChar char="l"/>
            </a:pPr>
            <a:r>
              <a:rPr lang="zh-CN" altLang="en-US"/>
              <a:t>区块链与数据库</a:t>
            </a:r>
            <a:endParaRPr lang="zh-CN" altLang="en-US" dirty="0"/>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数据库新发展机遇</a:t>
            </a:r>
          </a:p>
        </p:txBody>
      </p:sp>
      <p:sp>
        <p:nvSpPr>
          <p:cNvPr id="4" name="灯片编号占位符 1">
            <a:extLst>
              <a:ext uri="{FF2B5EF4-FFF2-40B4-BE49-F238E27FC236}">
                <a16:creationId xmlns:a16="http://schemas.microsoft.com/office/drawing/2014/main" id="{6796BF73-F605-80F6-96B0-F6BA40F6E26A}"/>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100</a:t>
            </a:fld>
            <a:endParaRPr lang="zh-CN" altLang="en-US" dirty="0"/>
          </a:p>
        </p:txBody>
      </p:sp>
    </p:spTree>
    <p:extLst>
      <p:ext uri="{BB962C8B-B14F-4D97-AF65-F5344CB8AC3E}">
        <p14:creationId xmlns:p14="http://schemas.microsoft.com/office/powerpoint/2010/main" val="188043249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56B0FAB-5FF6-8442-B8F5-B2983B7ECC2D}"/>
              </a:ext>
            </a:extLst>
          </p:cNvPr>
          <p:cNvSpPr/>
          <p:nvPr/>
        </p:nvSpPr>
        <p:spPr>
          <a:xfrm>
            <a:off x="1872220" y="136800"/>
            <a:ext cx="9379977" cy="677108"/>
          </a:xfrm>
          <a:prstGeom prst="rect">
            <a:avLst/>
          </a:prstGeom>
        </p:spPr>
        <p:txBody>
          <a:bodyPr wrap="square">
            <a:spAutoFit/>
          </a:bodyPr>
          <a:lstStyle/>
          <a:p>
            <a:pPr defTabSz="457200">
              <a:defRPr/>
            </a:pPr>
            <a:r>
              <a:rPr kumimoji="1" lang="zh-CN" altLang="en-US" sz="3800" b="1" kern="0" dirty="0">
                <a:solidFill>
                  <a:srgbClr val="000000"/>
                </a:solidFill>
                <a:latin typeface="Arial" panose="020B0604020202020204" pitchFamily="34" charset="0"/>
                <a:ea typeface="黑体" panose="02010609060101010101" pitchFamily="49" charset="-122"/>
                <a:cs typeface="Arial" panose="020B0604020202020204" pitchFamily="34" charset="0"/>
              </a:rPr>
              <a:t>人工智能遇见数据库，能擦出哪些火花</a:t>
            </a:r>
            <a:endParaRPr lang="zh-CN" altLang="en-US" sz="3800" dirty="0">
              <a:solidFill>
                <a:prstClr val="black"/>
              </a:solidFill>
              <a:latin typeface="Arial" panose="020B0604020202020204" pitchFamily="34" charset="0"/>
              <a:ea typeface="等线" panose="02010600030101010101" pitchFamily="2" charset="-122"/>
              <a:cs typeface="Arial" panose="020B0604020202020204" pitchFamily="34" charset="0"/>
            </a:endParaRPr>
          </a:p>
        </p:txBody>
      </p:sp>
      <p:sp>
        <p:nvSpPr>
          <p:cNvPr id="6" name="灯片编号占位符 1">
            <a:extLst>
              <a:ext uri="{FF2B5EF4-FFF2-40B4-BE49-F238E27FC236}">
                <a16:creationId xmlns:a16="http://schemas.microsoft.com/office/drawing/2014/main" id="{2F5A7494-8B7B-8045-8DCA-3A8DA4BDE19B}"/>
              </a:ext>
            </a:extLst>
          </p:cNvPr>
          <p:cNvSpPr txBox="1">
            <a:spLocks/>
          </p:cNvSpPr>
          <p:nvPr/>
        </p:nvSpPr>
        <p:spPr>
          <a:xfrm>
            <a:off x="11571088" y="6532912"/>
            <a:ext cx="765605" cy="476250"/>
          </a:xfrm>
          <a:prstGeom prst="rect">
            <a:avLst/>
          </a:prstGeom>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87BBDC00-B9E2-4EFD-9306-2934E87247C6}" type="slidenum">
              <a:rPr kumimoji="0" lang="zh-CN" altLang="en-US" sz="1800" b="0" i="0" u="none" strike="noStrike" kern="1200" cap="none" spc="0" normalizeH="0" baseline="0" noProof="0" smtClean="0">
                <a:ln>
                  <a:noFill/>
                </a:ln>
                <a:solidFill>
                  <a:prstClr val="black"/>
                </a:solidFill>
                <a:effectLst/>
                <a:uLnTx/>
                <a:uFillTx/>
                <a:latin typeface="Calibri"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101</a:t>
            </a:fld>
            <a:endParaRPr kumimoji="0" lang="zh-CN" altLang="en-US" sz="1800" b="0" i="0" u="none" strike="noStrike" kern="1200" cap="none" spc="0" normalizeH="0" baseline="0" noProof="0" dirty="0">
              <a:ln>
                <a:noFill/>
              </a:ln>
              <a:solidFill>
                <a:srgbClr val="000000"/>
              </a:solidFill>
              <a:effectLst/>
              <a:uLnTx/>
              <a:uFillTx/>
              <a:latin typeface="Times New Roman"/>
              <a:ea typeface="华文楷体"/>
              <a:cs typeface="+mn-cs"/>
            </a:endParaRPr>
          </a:p>
        </p:txBody>
      </p:sp>
      <p:sp>
        <p:nvSpPr>
          <p:cNvPr id="49" name="文本框 48">
            <a:extLst>
              <a:ext uri="{FF2B5EF4-FFF2-40B4-BE49-F238E27FC236}">
                <a16:creationId xmlns:a16="http://schemas.microsoft.com/office/drawing/2014/main" id="{D3950EED-D6DC-D14E-9742-67E0F613BC1D}"/>
              </a:ext>
            </a:extLst>
          </p:cNvPr>
          <p:cNvSpPr txBox="1"/>
          <p:nvPr/>
        </p:nvSpPr>
        <p:spPr>
          <a:xfrm>
            <a:off x="846296" y="3021932"/>
            <a:ext cx="3122137" cy="400110"/>
          </a:xfrm>
          <a:prstGeom prst="rect">
            <a:avLst/>
          </a:prstGeom>
          <a:noFill/>
        </p:spPr>
        <p:txBody>
          <a:bodyPr vert="horz" wrap="none" rtlCol="0">
            <a:spAutoFit/>
          </a:bodyPr>
          <a:lstStyle/>
          <a:p>
            <a:pPr algn="ctr" defTabSz="1218049">
              <a:defRPr/>
            </a:pPr>
            <a:r>
              <a:rPr kumimoji="0" lang="en-US" altLang="zh-CN" sz="2000" b="0" i="1"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“one-size-not-fits-all”</a:t>
            </a:r>
            <a:endParaRPr kumimoji="0" lang="zh-CN" altLang="en-US" sz="2000" b="0" i="1"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50" name="Freeform 55">
            <a:extLst>
              <a:ext uri="{FF2B5EF4-FFF2-40B4-BE49-F238E27FC236}">
                <a16:creationId xmlns:a16="http://schemas.microsoft.com/office/drawing/2014/main" id="{CBB8BFB1-1778-EA42-A970-143EDC74F3B4}"/>
              </a:ext>
            </a:extLst>
          </p:cNvPr>
          <p:cNvSpPr>
            <a:spLocks noEditPoints="1"/>
          </p:cNvSpPr>
          <p:nvPr/>
        </p:nvSpPr>
        <p:spPr bwMode="auto">
          <a:xfrm>
            <a:off x="1064550" y="2137462"/>
            <a:ext cx="775270" cy="649709"/>
          </a:xfrm>
          <a:custGeom>
            <a:avLst/>
            <a:gdLst/>
            <a:ahLst/>
            <a:cxnLst>
              <a:cxn ang="0">
                <a:pos x="6407" y="5358"/>
              </a:cxn>
              <a:cxn ang="0">
                <a:pos x="5637" y="1786"/>
              </a:cxn>
              <a:cxn ang="0">
                <a:pos x="3180" y="3331"/>
              </a:cxn>
              <a:cxn ang="0">
                <a:pos x="4914" y="3331"/>
              </a:cxn>
              <a:cxn ang="0">
                <a:pos x="0" y="16027"/>
              </a:cxn>
              <a:cxn ang="0">
                <a:pos x="4228" y="13934"/>
              </a:cxn>
              <a:cxn ang="0">
                <a:pos x="1461" y="13934"/>
              </a:cxn>
              <a:cxn ang="0">
                <a:pos x="4228" y="12950"/>
              </a:cxn>
              <a:cxn ang="0">
                <a:pos x="1461" y="10177"/>
              </a:cxn>
              <a:cxn ang="0">
                <a:pos x="1461" y="11072"/>
              </a:cxn>
              <a:cxn ang="0">
                <a:pos x="4228" y="8299"/>
              </a:cxn>
              <a:cxn ang="0">
                <a:pos x="1461" y="8299"/>
              </a:cxn>
              <a:cxn ang="0">
                <a:pos x="4228" y="7316"/>
              </a:cxn>
              <a:cxn ang="0">
                <a:pos x="1461" y="4543"/>
              </a:cxn>
              <a:cxn ang="0">
                <a:pos x="1461" y="5438"/>
              </a:cxn>
              <a:cxn ang="0">
                <a:pos x="8768" y="16075"/>
              </a:cxn>
              <a:cxn ang="0">
                <a:pos x="11899" y="7530"/>
              </a:cxn>
              <a:cxn ang="0">
                <a:pos x="10068" y="5890"/>
              </a:cxn>
              <a:cxn ang="0">
                <a:pos x="8093" y="5890"/>
              </a:cxn>
              <a:cxn ang="0">
                <a:pos x="6070" y="7530"/>
              </a:cxn>
              <a:cxn ang="0">
                <a:pos x="7574" y="8121"/>
              </a:cxn>
              <a:cxn ang="0">
                <a:pos x="6771" y="8121"/>
              </a:cxn>
              <a:cxn ang="0">
                <a:pos x="8823" y="9418"/>
              </a:cxn>
              <a:cxn ang="0">
                <a:pos x="9270" y="8121"/>
              </a:cxn>
              <a:cxn ang="0">
                <a:pos x="9270" y="9418"/>
              </a:cxn>
              <a:cxn ang="0">
                <a:pos x="11322" y="8121"/>
              </a:cxn>
              <a:cxn ang="0">
                <a:pos x="10519" y="8121"/>
              </a:cxn>
              <a:cxn ang="0">
                <a:pos x="7574" y="11027"/>
              </a:cxn>
              <a:cxn ang="0">
                <a:pos x="6771" y="11340"/>
              </a:cxn>
              <a:cxn ang="0">
                <a:pos x="6771" y="12637"/>
              </a:cxn>
              <a:cxn ang="0">
                <a:pos x="7574" y="12950"/>
              </a:cxn>
              <a:cxn ang="0">
                <a:pos x="6771" y="12950"/>
              </a:cxn>
              <a:cxn ang="0">
                <a:pos x="9586" y="11827"/>
              </a:cxn>
              <a:cxn ang="0">
                <a:pos x="10924" y="14601"/>
              </a:cxn>
              <a:cxn ang="0">
                <a:pos x="10924" y="15495"/>
              </a:cxn>
              <a:cxn ang="0">
                <a:pos x="11499" y="13417"/>
              </a:cxn>
              <a:cxn ang="0">
                <a:pos x="10924" y="13417"/>
              </a:cxn>
              <a:cxn ang="0">
                <a:pos x="10603" y="15495"/>
              </a:cxn>
              <a:cxn ang="0">
                <a:pos x="10028" y="13417"/>
              </a:cxn>
              <a:cxn ang="0">
                <a:pos x="10028" y="14312"/>
              </a:cxn>
              <a:cxn ang="0">
                <a:pos x="11499" y="12234"/>
              </a:cxn>
              <a:cxn ang="0">
                <a:pos x="10924" y="12234"/>
              </a:cxn>
              <a:cxn ang="0">
                <a:pos x="10603" y="13129"/>
              </a:cxn>
              <a:cxn ang="0">
                <a:pos x="16475" y="16027"/>
              </a:cxn>
              <a:cxn ang="0">
                <a:pos x="12910" y="11054"/>
              </a:cxn>
              <a:cxn ang="0">
                <a:pos x="16475" y="16027"/>
              </a:cxn>
              <a:cxn ang="0">
                <a:pos x="15829" y="10580"/>
              </a:cxn>
              <a:cxn ang="0">
                <a:pos x="13376" y="8479"/>
              </a:cxn>
              <a:cxn ang="0">
                <a:pos x="13376" y="9149"/>
              </a:cxn>
              <a:cxn ang="0">
                <a:pos x="15829" y="7047"/>
              </a:cxn>
              <a:cxn ang="0">
                <a:pos x="13376" y="7047"/>
              </a:cxn>
              <a:cxn ang="0">
                <a:pos x="15829" y="6287"/>
              </a:cxn>
              <a:cxn ang="0">
                <a:pos x="13376" y="4185"/>
              </a:cxn>
              <a:cxn ang="0">
                <a:pos x="13376" y="4856"/>
              </a:cxn>
              <a:cxn ang="0">
                <a:pos x="15829" y="2755"/>
              </a:cxn>
              <a:cxn ang="0">
                <a:pos x="13376" y="2755"/>
              </a:cxn>
              <a:cxn ang="0">
                <a:pos x="12466" y="1591"/>
              </a:cxn>
              <a:cxn ang="0">
                <a:pos x="10117" y="0"/>
              </a:cxn>
              <a:cxn ang="0">
                <a:pos x="9249" y="3814"/>
              </a:cxn>
              <a:cxn ang="0">
                <a:pos x="10743" y="3814"/>
              </a:cxn>
              <a:cxn ang="0">
                <a:pos x="11705" y="6179"/>
              </a:cxn>
            </a:cxnLst>
            <a:rect l="0" t="0" r="r" b="b"/>
            <a:pathLst>
              <a:path w="16475" h="16075">
                <a:moveTo>
                  <a:pt x="5637" y="6854"/>
                </a:moveTo>
                <a:lnTo>
                  <a:pt x="6407" y="6854"/>
                </a:lnTo>
                <a:lnTo>
                  <a:pt x="6407" y="5358"/>
                </a:lnTo>
                <a:lnTo>
                  <a:pt x="7371" y="5358"/>
                </a:lnTo>
                <a:lnTo>
                  <a:pt x="7371" y="1786"/>
                </a:lnTo>
                <a:lnTo>
                  <a:pt x="5637" y="1786"/>
                </a:lnTo>
                <a:lnTo>
                  <a:pt x="5637" y="6854"/>
                </a:lnTo>
                <a:close/>
                <a:moveTo>
                  <a:pt x="0" y="3331"/>
                </a:moveTo>
                <a:lnTo>
                  <a:pt x="3180" y="3331"/>
                </a:lnTo>
                <a:lnTo>
                  <a:pt x="3180" y="1207"/>
                </a:lnTo>
                <a:lnTo>
                  <a:pt x="4914" y="1207"/>
                </a:lnTo>
                <a:lnTo>
                  <a:pt x="4914" y="3331"/>
                </a:lnTo>
                <a:lnTo>
                  <a:pt x="4914" y="3765"/>
                </a:lnTo>
                <a:lnTo>
                  <a:pt x="4914" y="16027"/>
                </a:lnTo>
                <a:lnTo>
                  <a:pt x="0" y="16027"/>
                </a:lnTo>
                <a:lnTo>
                  <a:pt x="0" y="3331"/>
                </a:lnTo>
                <a:close/>
                <a:moveTo>
                  <a:pt x="1461" y="13934"/>
                </a:moveTo>
                <a:lnTo>
                  <a:pt x="4228" y="13934"/>
                </a:lnTo>
                <a:lnTo>
                  <a:pt x="4228" y="14829"/>
                </a:lnTo>
                <a:lnTo>
                  <a:pt x="1461" y="14829"/>
                </a:lnTo>
                <a:lnTo>
                  <a:pt x="1461" y="13934"/>
                </a:lnTo>
                <a:close/>
                <a:moveTo>
                  <a:pt x="1461" y="12056"/>
                </a:moveTo>
                <a:lnTo>
                  <a:pt x="4228" y="12056"/>
                </a:lnTo>
                <a:lnTo>
                  <a:pt x="4228" y="12950"/>
                </a:lnTo>
                <a:lnTo>
                  <a:pt x="1461" y="12950"/>
                </a:lnTo>
                <a:lnTo>
                  <a:pt x="1461" y="12056"/>
                </a:lnTo>
                <a:close/>
                <a:moveTo>
                  <a:pt x="1461" y="10177"/>
                </a:moveTo>
                <a:lnTo>
                  <a:pt x="4228" y="10177"/>
                </a:lnTo>
                <a:lnTo>
                  <a:pt x="4228" y="11072"/>
                </a:lnTo>
                <a:lnTo>
                  <a:pt x="1461" y="11072"/>
                </a:lnTo>
                <a:lnTo>
                  <a:pt x="1461" y="10177"/>
                </a:lnTo>
                <a:close/>
                <a:moveTo>
                  <a:pt x="1461" y="8299"/>
                </a:moveTo>
                <a:lnTo>
                  <a:pt x="4228" y="8299"/>
                </a:lnTo>
                <a:lnTo>
                  <a:pt x="4228" y="9194"/>
                </a:lnTo>
                <a:lnTo>
                  <a:pt x="1461" y="9194"/>
                </a:lnTo>
                <a:lnTo>
                  <a:pt x="1461" y="8299"/>
                </a:lnTo>
                <a:close/>
                <a:moveTo>
                  <a:pt x="1461" y="6421"/>
                </a:moveTo>
                <a:lnTo>
                  <a:pt x="4228" y="6421"/>
                </a:lnTo>
                <a:lnTo>
                  <a:pt x="4228" y="7316"/>
                </a:lnTo>
                <a:lnTo>
                  <a:pt x="1461" y="7316"/>
                </a:lnTo>
                <a:lnTo>
                  <a:pt x="1461" y="6421"/>
                </a:lnTo>
                <a:close/>
                <a:moveTo>
                  <a:pt x="1461" y="4543"/>
                </a:moveTo>
                <a:lnTo>
                  <a:pt x="4228" y="4543"/>
                </a:lnTo>
                <a:lnTo>
                  <a:pt x="4228" y="5438"/>
                </a:lnTo>
                <a:lnTo>
                  <a:pt x="1461" y="5438"/>
                </a:lnTo>
                <a:lnTo>
                  <a:pt x="1461" y="4543"/>
                </a:lnTo>
                <a:close/>
                <a:moveTo>
                  <a:pt x="6070" y="16075"/>
                </a:moveTo>
                <a:lnTo>
                  <a:pt x="8768" y="16075"/>
                </a:lnTo>
                <a:lnTo>
                  <a:pt x="8768" y="11054"/>
                </a:lnTo>
                <a:lnTo>
                  <a:pt x="11899" y="11054"/>
                </a:lnTo>
                <a:lnTo>
                  <a:pt x="11899" y="7530"/>
                </a:lnTo>
                <a:lnTo>
                  <a:pt x="11225" y="7530"/>
                </a:lnTo>
                <a:lnTo>
                  <a:pt x="11225" y="5890"/>
                </a:lnTo>
                <a:lnTo>
                  <a:pt x="10068" y="5890"/>
                </a:lnTo>
                <a:lnTo>
                  <a:pt x="10068" y="4248"/>
                </a:lnTo>
                <a:lnTo>
                  <a:pt x="8093" y="4248"/>
                </a:lnTo>
                <a:lnTo>
                  <a:pt x="8093" y="5890"/>
                </a:lnTo>
                <a:lnTo>
                  <a:pt x="6937" y="5890"/>
                </a:lnTo>
                <a:lnTo>
                  <a:pt x="6937" y="7530"/>
                </a:lnTo>
                <a:lnTo>
                  <a:pt x="6070" y="7530"/>
                </a:lnTo>
                <a:lnTo>
                  <a:pt x="6070" y="16075"/>
                </a:lnTo>
                <a:close/>
                <a:moveTo>
                  <a:pt x="6771" y="8121"/>
                </a:moveTo>
                <a:lnTo>
                  <a:pt x="7574" y="8121"/>
                </a:lnTo>
                <a:lnTo>
                  <a:pt x="7574" y="9418"/>
                </a:lnTo>
                <a:lnTo>
                  <a:pt x="6771" y="9418"/>
                </a:lnTo>
                <a:lnTo>
                  <a:pt x="6771" y="8121"/>
                </a:lnTo>
                <a:close/>
                <a:moveTo>
                  <a:pt x="8020" y="8121"/>
                </a:moveTo>
                <a:lnTo>
                  <a:pt x="8823" y="8121"/>
                </a:lnTo>
                <a:lnTo>
                  <a:pt x="8823" y="9418"/>
                </a:lnTo>
                <a:lnTo>
                  <a:pt x="8020" y="9418"/>
                </a:lnTo>
                <a:lnTo>
                  <a:pt x="8020" y="8121"/>
                </a:lnTo>
                <a:close/>
                <a:moveTo>
                  <a:pt x="9270" y="8121"/>
                </a:moveTo>
                <a:lnTo>
                  <a:pt x="10073" y="8121"/>
                </a:lnTo>
                <a:lnTo>
                  <a:pt x="10073" y="9418"/>
                </a:lnTo>
                <a:lnTo>
                  <a:pt x="9270" y="9418"/>
                </a:lnTo>
                <a:lnTo>
                  <a:pt x="9270" y="8121"/>
                </a:lnTo>
                <a:close/>
                <a:moveTo>
                  <a:pt x="10519" y="8121"/>
                </a:moveTo>
                <a:lnTo>
                  <a:pt x="11322" y="8121"/>
                </a:lnTo>
                <a:lnTo>
                  <a:pt x="11322" y="9418"/>
                </a:lnTo>
                <a:lnTo>
                  <a:pt x="10519" y="9418"/>
                </a:lnTo>
                <a:lnTo>
                  <a:pt x="10519" y="8121"/>
                </a:lnTo>
                <a:close/>
                <a:moveTo>
                  <a:pt x="6771" y="9730"/>
                </a:moveTo>
                <a:lnTo>
                  <a:pt x="7574" y="9730"/>
                </a:lnTo>
                <a:lnTo>
                  <a:pt x="7574" y="11027"/>
                </a:lnTo>
                <a:lnTo>
                  <a:pt x="6771" y="11027"/>
                </a:lnTo>
                <a:lnTo>
                  <a:pt x="6771" y="9730"/>
                </a:lnTo>
                <a:close/>
                <a:moveTo>
                  <a:pt x="6771" y="11340"/>
                </a:moveTo>
                <a:lnTo>
                  <a:pt x="7574" y="11340"/>
                </a:lnTo>
                <a:lnTo>
                  <a:pt x="7574" y="12637"/>
                </a:lnTo>
                <a:lnTo>
                  <a:pt x="6771" y="12637"/>
                </a:lnTo>
                <a:lnTo>
                  <a:pt x="6771" y="11340"/>
                </a:lnTo>
                <a:close/>
                <a:moveTo>
                  <a:pt x="6771" y="12950"/>
                </a:moveTo>
                <a:lnTo>
                  <a:pt x="7574" y="12950"/>
                </a:lnTo>
                <a:lnTo>
                  <a:pt x="7574" y="14247"/>
                </a:lnTo>
                <a:lnTo>
                  <a:pt x="6771" y="14247"/>
                </a:lnTo>
                <a:lnTo>
                  <a:pt x="6771" y="12950"/>
                </a:lnTo>
                <a:close/>
                <a:moveTo>
                  <a:pt x="13151" y="16075"/>
                </a:moveTo>
                <a:lnTo>
                  <a:pt x="9586" y="16075"/>
                </a:lnTo>
                <a:lnTo>
                  <a:pt x="9586" y="11827"/>
                </a:lnTo>
                <a:lnTo>
                  <a:pt x="13151" y="11827"/>
                </a:lnTo>
                <a:lnTo>
                  <a:pt x="13151" y="16075"/>
                </a:lnTo>
                <a:close/>
                <a:moveTo>
                  <a:pt x="10924" y="14601"/>
                </a:moveTo>
                <a:lnTo>
                  <a:pt x="11499" y="14601"/>
                </a:lnTo>
                <a:lnTo>
                  <a:pt x="11499" y="15495"/>
                </a:lnTo>
                <a:lnTo>
                  <a:pt x="10924" y="15495"/>
                </a:lnTo>
                <a:lnTo>
                  <a:pt x="10924" y="14601"/>
                </a:lnTo>
                <a:close/>
                <a:moveTo>
                  <a:pt x="10924" y="13417"/>
                </a:moveTo>
                <a:lnTo>
                  <a:pt x="11499" y="13417"/>
                </a:lnTo>
                <a:lnTo>
                  <a:pt x="11499" y="14312"/>
                </a:lnTo>
                <a:lnTo>
                  <a:pt x="10924" y="14312"/>
                </a:lnTo>
                <a:lnTo>
                  <a:pt x="10924" y="13417"/>
                </a:lnTo>
                <a:close/>
                <a:moveTo>
                  <a:pt x="10028" y="14601"/>
                </a:moveTo>
                <a:lnTo>
                  <a:pt x="10603" y="14601"/>
                </a:lnTo>
                <a:lnTo>
                  <a:pt x="10603" y="15495"/>
                </a:lnTo>
                <a:lnTo>
                  <a:pt x="10028" y="15495"/>
                </a:lnTo>
                <a:lnTo>
                  <a:pt x="10028" y="14601"/>
                </a:lnTo>
                <a:close/>
                <a:moveTo>
                  <a:pt x="10028" y="13417"/>
                </a:moveTo>
                <a:lnTo>
                  <a:pt x="10603" y="13417"/>
                </a:lnTo>
                <a:lnTo>
                  <a:pt x="10603" y="14312"/>
                </a:lnTo>
                <a:lnTo>
                  <a:pt x="10028" y="14312"/>
                </a:lnTo>
                <a:lnTo>
                  <a:pt x="10028" y="13417"/>
                </a:lnTo>
                <a:close/>
                <a:moveTo>
                  <a:pt x="10924" y="12234"/>
                </a:moveTo>
                <a:lnTo>
                  <a:pt x="11499" y="12234"/>
                </a:lnTo>
                <a:lnTo>
                  <a:pt x="11499" y="13129"/>
                </a:lnTo>
                <a:lnTo>
                  <a:pt x="10924" y="13129"/>
                </a:lnTo>
                <a:lnTo>
                  <a:pt x="10924" y="12234"/>
                </a:lnTo>
                <a:close/>
                <a:moveTo>
                  <a:pt x="10028" y="12234"/>
                </a:moveTo>
                <a:lnTo>
                  <a:pt x="10603" y="12234"/>
                </a:lnTo>
                <a:lnTo>
                  <a:pt x="10603" y="13129"/>
                </a:lnTo>
                <a:lnTo>
                  <a:pt x="10028" y="13129"/>
                </a:lnTo>
                <a:lnTo>
                  <a:pt x="10028" y="12234"/>
                </a:lnTo>
                <a:close/>
                <a:moveTo>
                  <a:pt x="16475" y="16027"/>
                </a:moveTo>
                <a:lnTo>
                  <a:pt x="13874" y="16027"/>
                </a:lnTo>
                <a:lnTo>
                  <a:pt x="13874" y="11054"/>
                </a:lnTo>
                <a:lnTo>
                  <a:pt x="12910" y="11054"/>
                </a:lnTo>
                <a:lnTo>
                  <a:pt x="12910" y="2028"/>
                </a:lnTo>
                <a:lnTo>
                  <a:pt x="16475" y="627"/>
                </a:lnTo>
                <a:lnTo>
                  <a:pt x="16475" y="16027"/>
                </a:lnTo>
                <a:close/>
                <a:moveTo>
                  <a:pt x="13376" y="9909"/>
                </a:moveTo>
                <a:lnTo>
                  <a:pt x="15829" y="9909"/>
                </a:lnTo>
                <a:lnTo>
                  <a:pt x="15829" y="10580"/>
                </a:lnTo>
                <a:lnTo>
                  <a:pt x="13376" y="10580"/>
                </a:lnTo>
                <a:lnTo>
                  <a:pt x="13376" y="9909"/>
                </a:lnTo>
                <a:close/>
                <a:moveTo>
                  <a:pt x="13376" y="8479"/>
                </a:moveTo>
                <a:lnTo>
                  <a:pt x="15829" y="8479"/>
                </a:lnTo>
                <a:lnTo>
                  <a:pt x="15829" y="9149"/>
                </a:lnTo>
                <a:lnTo>
                  <a:pt x="13376" y="9149"/>
                </a:lnTo>
                <a:lnTo>
                  <a:pt x="13376" y="8479"/>
                </a:lnTo>
                <a:close/>
                <a:moveTo>
                  <a:pt x="13376" y="7047"/>
                </a:moveTo>
                <a:lnTo>
                  <a:pt x="15829" y="7047"/>
                </a:lnTo>
                <a:lnTo>
                  <a:pt x="15829" y="7718"/>
                </a:lnTo>
                <a:lnTo>
                  <a:pt x="13376" y="7718"/>
                </a:lnTo>
                <a:lnTo>
                  <a:pt x="13376" y="7047"/>
                </a:lnTo>
                <a:close/>
                <a:moveTo>
                  <a:pt x="13376" y="5616"/>
                </a:moveTo>
                <a:lnTo>
                  <a:pt x="15829" y="5616"/>
                </a:lnTo>
                <a:lnTo>
                  <a:pt x="15829" y="6287"/>
                </a:lnTo>
                <a:lnTo>
                  <a:pt x="13376" y="6287"/>
                </a:lnTo>
                <a:lnTo>
                  <a:pt x="13376" y="5616"/>
                </a:lnTo>
                <a:close/>
                <a:moveTo>
                  <a:pt x="13376" y="4185"/>
                </a:moveTo>
                <a:lnTo>
                  <a:pt x="15829" y="4185"/>
                </a:lnTo>
                <a:lnTo>
                  <a:pt x="15829" y="4856"/>
                </a:lnTo>
                <a:lnTo>
                  <a:pt x="13376" y="4856"/>
                </a:lnTo>
                <a:lnTo>
                  <a:pt x="13376" y="4185"/>
                </a:lnTo>
                <a:close/>
                <a:moveTo>
                  <a:pt x="13376" y="2755"/>
                </a:moveTo>
                <a:lnTo>
                  <a:pt x="15829" y="2755"/>
                </a:lnTo>
                <a:lnTo>
                  <a:pt x="15829" y="3426"/>
                </a:lnTo>
                <a:lnTo>
                  <a:pt x="13376" y="3426"/>
                </a:lnTo>
                <a:lnTo>
                  <a:pt x="13376" y="2755"/>
                </a:lnTo>
                <a:close/>
                <a:moveTo>
                  <a:pt x="11705" y="6179"/>
                </a:moveTo>
                <a:lnTo>
                  <a:pt x="12466" y="6179"/>
                </a:lnTo>
                <a:lnTo>
                  <a:pt x="12466" y="1591"/>
                </a:lnTo>
                <a:lnTo>
                  <a:pt x="13921" y="897"/>
                </a:lnTo>
                <a:lnTo>
                  <a:pt x="13921" y="0"/>
                </a:lnTo>
                <a:lnTo>
                  <a:pt x="10117" y="0"/>
                </a:lnTo>
                <a:lnTo>
                  <a:pt x="10117" y="2559"/>
                </a:lnTo>
                <a:lnTo>
                  <a:pt x="9249" y="2559"/>
                </a:lnTo>
                <a:lnTo>
                  <a:pt x="9249" y="3814"/>
                </a:lnTo>
                <a:lnTo>
                  <a:pt x="10117" y="3814"/>
                </a:lnTo>
                <a:lnTo>
                  <a:pt x="10694" y="3814"/>
                </a:lnTo>
                <a:lnTo>
                  <a:pt x="10743" y="3814"/>
                </a:lnTo>
                <a:lnTo>
                  <a:pt x="10743" y="5310"/>
                </a:lnTo>
                <a:lnTo>
                  <a:pt x="11705" y="5310"/>
                </a:lnTo>
                <a:lnTo>
                  <a:pt x="11705" y="6179"/>
                </a:lnTo>
                <a:close/>
              </a:path>
            </a:pathLst>
          </a:custGeom>
          <a:solidFill>
            <a:srgbClr val="00B0F0"/>
          </a:solidFill>
          <a:ln w="9525">
            <a:noFill/>
            <a:round/>
            <a:headEnd/>
            <a:tailEnd/>
          </a:ln>
        </p:spPr>
        <p:txBody>
          <a:bodyP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1" name="组合 251">
            <a:extLst>
              <a:ext uri="{FF2B5EF4-FFF2-40B4-BE49-F238E27FC236}">
                <a16:creationId xmlns:a16="http://schemas.microsoft.com/office/drawing/2014/main" id="{10C92034-A35C-614A-956C-38CD0C5035B3}"/>
              </a:ext>
            </a:extLst>
          </p:cNvPr>
          <p:cNvGrpSpPr/>
          <p:nvPr/>
        </p:nvGrpSpPr>
        <p:grpSpPr>
          <a:xfrm>
            <a:off x="2088765" y="2057482"/>
            <a:ext cx="825654" cy="718654"/>
            <a:chOff x="13801722" y="3422650"/>
            <a:chExt cx="1525589" cy="984243"/>
          </a:xfrm>
          <a:solidFill>
            <a:srgbClr val="00B0F0"/>
          </a:solidFill>
        </p:grpSpPr>
        <p:sp>
          <p:nvSpPr>
            <p:cNvPr id="52" name="Freeform 76">
              <a:extLst>
                <a:ext uri="{FF2B5EF4-FFF2-40B4-BE49-F238E27FC236}">
                  <a16:creationId xmlns:a16="http://schemas.microsoft.com/office/drawing/2014/main" id="{D9CF85BC-311D-2442-8EF6-828408FF47BB}"/>
                </a:ext>
              </a:extLst>
            </p:cNvPr>
            <p:cNvSpPr>
              <a:spLocks/>
            </p:cNvSpPr>
            <p:nvPr/>
          </p:nvSpPr>
          <p:spPr bwMode="auto">
            <a:xfrm>
              <a:off x="14293850" y="3422650"/>
              <a:ext cx="401638" cy="141288"/>
            </a:xfrm>
            <a:custGeom>
              <a:avLst/>
              <a:gdLst/>
              <a:ahLst/>
              <a:cxnLst>
                <a:cxn ang="0">
                  <a:pos x="439" y="172"/>
                </a:cxn>
                <a:cxn ang="0">
                  <a:pos x="452" y="179"/>
                </a:cxn>
                <a:cxn ang="0">
                  <a:pos x="459" y="177"/>
                </a:cxn>
                <a:cxn ang="0">
                  <a:pos x="501" y="143"/>
                </a:cxn>
                <a:cxn ang="0">
                  <a:pos x="504" y="138"/>
                </a:cxn>
                <a:cxn ang="0">
                  <a:pos x="506" y="132"/>
                </a:cxn>
                <a:cxn ang="0">
                  <a:pos x="501" y="118"/>
                </a:cxn>
                <a:cxn ang="0">
                  <a:pos x="477" y="93"/>
                </a:cxn>
                <a:cxn ang="0">
                  <a:pos x="423" y="52"/>
                </a:cxn>
                <a:cxn ang="0">
                  <a:pos x="363" y="22"/>
                </a:cxn>
                <a:cxn ang="0">
                  <a:pos x="297" y="5"/>
                </a:cxn>
                <a:cxn ang="0">
                  <a:pos x="262" y="0"/>
                </a:cxn>
                <a:cxn ang="0">
                  <a:pos x="241" y="0"/>
                </a:cxn>
                <a:cxn ang="0">
                  <a:pos x="177" y="7"/>
                </a:cxn>
                <a:cxn ang="0">
                  <a:pos x="115" y="24"/>
                </a:cxn>
                <a:cxn ang="0">
                  <a:pos x="57" y="52"/>
                </a:cxn>
                <a:cxn ang="0">
                  <a:pos x="7" y="91"/>
                </a:cxn>
                <a:cxn ang="0">
                  <a:pos x="2" y="98"/>
                </a:cxn>
                <a:cxn ang="0">
                  <a:pos x="2" y="111"/>
                </a:cxn>
                <a:cxn ang="0">
                  <a:pos x="37" y="152"/>
                </a:cxn>
                <a:cxn ang="0">
                  <a:pos x="42" y="155"/>
                </a:cxn>
                <a:cxn ang="0">
                  <a:pos x="51" y="157"/>
                </a:cxn>
                <a:cxn ang="0">
                  <a:pos x="62" y="154"/>
                </a:cxn>
                <a:cxn ang="0">
                  <a:pos x="81" y="137"/>
                </a:cxn>
                <a:cxn ang="0">
                  <a:pos x="123" y="111"/>
                </a:cxn>
                <a:cxn ang="0">
                  <a:pos x="169" y="93"/>
                </a:cxn>
                <a:cxn ang="0">
                  <a:pos x="216" y="84"/>
                </a:cxn>
                <a:cxn ang="0">
                  <a:pos x="241" y="83"/>
                </a:cxn>
                <a:cxn ang="0">
                  <a:pos x="256" y="84"/>
                </a:cxn>
                <a:cxn ang="0">
                  <a:pos x="309" y="93"/>
                </a:cxn>
                <a:cxn ang="0">
                  <a:pos x="358" y="110"/>
                </a:cxn>
                <a:cxn ang="0">
                  <a:pos x="402" y="137"/>
                </a:cxn>
                <a:cxn ang="0">
                  <a:pos x="439" y="172"/>
                </a:cxn>
              </a:cxnLst>
              <a:rect l="0" t="0" r="r" b="b"/>
              <a:pathLst>
                <a:path w="506" h="179">
                  <a:moveTo>
                    <a:pt x="439" y="172"/>
                  </a:moveTo>
                  <a:lnTo>
                    <a:pt x="439" y="172"/>
                  </a:lnTo>
                  <a:lnTo>
                    <a:pt x="445" y="177"/>
                  </a:lnTo>
                  <a:lnTo>
                    <a:pt x="452" y="179"/>
                  </a:lnTo>
                  <a:lnTo>
                    <a:pt x="452" y="179"/>
                  </a:lnTo>
                  <a:lnTo>
                    <a:pt x="459" y="177"/>
                  </a:lnTo>
                  <a:lnTo>
                    <a:pt x="464" y="174"/>
                  </a:lnTo>
                  <a:lnTo>
                    <a:pt x="501" y="143"/>
                  </a:lnTo>
                  <a:lnTo>
                    <a:pt x="501" y="143"/>
                  </a:lnTo>
                  <a:lnTo>
                    <a:pt x="504" y="138"/>
                  </a:lnTo>
                  <a:lnTo>
                    <a:pt x="506" y="132"/>
                  </a:lnTo>
                  <a:lnTo>
                    <a:pt x="506" y="132"/>
                  </a:lnTo>
                  <a:lnTo>
                    <a:pt x="506" y="125"/>
                  </a:lnTo>
                  <a:lnTo>
                    <a:pt x="501" y="118"/>
                  </a:lnTo>
                  <a:lnTo>
                    <a:pt x="501" y="118"/>
                  </a:lnTo>
                  <a:lnTo>
                    <a:pt x="477" y="93"/>
                  </a:lnTo>
                  <a:lnTo>
                    <a:pt x="450" y="71"/>
                  </a:lnTo>
                  <a:lnTo>
                    <a:pt x="423" y="52"/>
                  </a:lnTo>
                  <a:lnTo>
                    <a:pt x="393" y="35"/>
                  </a:lnTo>
                  <a:lnTo>
                    <a:pt x="363" y="22"/>
                  </a:lnTo>
                  <a:lnTo>
                    <a:pt x="329" y="12"/>
                  </a:lnTo>
                  <a:lnTo>
                    <a:pt x="297" y="5"/>
                  </a:lnTo>
                  <a:lnTo>
                    <a:pt x="262" y="0"/>
                  </a:lnTo>
                  <a:lnTo>
                    <a:pt x="262" y="0"/>
                  </a:lnTo>
                  <a:lnTo>
                    <a:pt x="241" y="0"/>
                  </a:lnTo>
                  <a:lnTo>
                    <a:pt x="241" y="0"/>
                  </a:lnTo>
                  <a:lnTo>
                    <a:pt x="209" y="2"/>
                  </a:lnTo>
                  <a:lnTo>
                    <a:pt x="177" y="7"/>
                  </a:lnTo>
                  <a:lnTo>
                    <a:pt x="145" y="14"/>
                  </a:lnTo>
                  <a:lnTo>
                    <a:pt x="115" y="24"/>
                  </a:lnTo>
                  <a:lnTo>
                    <a:pt x="86" y="37"/>
                  </a:lnTo>
                  <a:lnTo>
                    <a:pt x="57" y="52"/>
                  </a:lnTo>
                  <a:lnTo>
                    <a:pt x="32" y="71"/>
                  </a:lnTo>
                  <a:lnTo>
                    <a:pt x="7" y="91"/>
                  </a:lnTo>
                  <a:lnTo>
                    <a:pt x="7" y="91"/>
                  </a:lnTo>
                  <a:lnTo>
                    <a:pt x="2" y="98"/>
                  </a:lnTo>
                  <a:lnTo>
                    <a:pt x="0" y="105"/>
                  </a:lnTo>
                  <a:lnTo>
                    <a:pt x="2" y="111"/>
                  </a:lnTo>
                  <a:lnTo>
                    <a:pt x="5" y="116"/>
                  </a:lnTo>
                  <a:lnTo>
                    <a:pt x="37" y="152"/>
                  </a:lnTo>
                  <a:lnTo>
                    <a:pt x="37" y="152"/>
                  </a:lnTo>
                  <a:lnTo>
                    <a:pt x="42" y="155"/>
                  </a:lnTo>
                  <a:lnTo>
                    <a:pt x="51" y="157"/>
                  </a:lnTo>
                  <a:lnTo>
                    <a:pt x="51" y="157"/>
                  </a:lnTo>
                  <a:lnTo>
                    <a:pt x="56" y="157"/>
                  </a:lnTo>
                  <a:lnTo>
                    <a:pt x="62" y="154"/>
                  </a:lnTo>
                  <a:lnTo>
                    <a:pt x="62" y="154"/>
                  </a:lnTo>
                  <a:lnTo>
                    <a:pt x="81" y="137"/>
                  </a:lnTo>
                  <a:lnTo>
                    <a:pt x="101" y="123"/>
                  </a:lnTo>
                  <a:lnTo>
                    <a:pt x="123" y="111"/>
                  </a:lnTo>
                  <a:lnTo>
                    <a:pt x="145" y="101"/>
                  </a:lnTo>
                  <a:lnTo>
                    <a:pt x="169" y="93"/>
                  </a:lnTo>
                  <a:lnTo>
                    <a:pt x="192" y="88"/>
                  </a:lnTo>
                  <a:lnTo>
                    <a:pt x="216" y="84"/>
                  </a:lnTo>
                  <a:lnTo>
                    <a:pt x="241" y="83"/>
                  </a:lnTo>
                  <a:lnTo>
                    <a:pt x="241" y="83"/>
                  </a:lnTo>
                  <a:lnTo>
                    <a:pt x="256" y="84"/>
                  </a:lnTo>
                  <a:lnTo>
                    <a:pt x="256" y="84"/>
                  </a:lnTo>
                  <a:lnTo>
                    <a:pt x="283" y="86"/>
                  </a:lnTo>
                  <a:lnTo>
                    <a:pt x="309" y="93"/>
                  </a:lnTo>
                  <a:lnTo>
                    <a:pt x="332" y="100"/>
                  </a:lnTo>
                  <a:lnTo>
                    <a:pt x="358" y="110"/>
                  </a:lnTo>
                  <a:lnTo>
                    <a:pt x="380" y="122"/>
                  </a:lnTo>
                  <a:lnTo>
                    <a:pt x="402" y="137"/>
                  </a:lnTo>
                  <a:lnTo>
                    <a:pt x="420" y="154"/>
                  </a:lnTo>
                  <a:lnTo>
                    <a:pt x="439" y="172"/>
                  </a:lnTo>
                  <a:lnTo>
                    <a:pt x="439" y="172"/>
                  </a:lnTo>
                  <a:close/>
                </a:path>
              </a:pathLst>
            </a:custGeom>
            <a:grpFill/>
            <a:ln w="9525">
              <a:noFill/>
              <a:round/>
              <a:headEnd/>
              <a:tailEnd/>
            </a:ln>
          </p:spPr>
          <p:txBody>
            <a:bodyPr vert="horz" wrap="square" lIns="91392" tIns="45696" rIns="91392" bIns="45696" numCol="1" anchor="t" anchorCtr="0" compatLnSpc="1">
              <a:prstTxWarp prst="textNoShape">
                <a:avLst/>
              </a:prstTxWarp>
            </a:bodyP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3" name="Freeform 77">
              <a:extLst>
                <a:ext uri="{FF2B5EF4-FFF2-40B4-BE49-F238E27FC236}">
                  <a16:creationId xmlns:a16="http://schemas.microsoft.com/office/drawing/2014/main" id="{EB8DEBB2-C8AF-E046-9070-FDCABF9F37FE}"/>
                </a:ext>
              </a:extLst>
            </p:cNvPr>
            <p:cNvSpPr>
              <a:spLocks/>
            </p:cNvSpPr>
            <p:nvPr/>
          </p:nvSpPr>
          <p:spPr bwMode="auto">
            <a:xfrm>
              <a:off x="14377988" y="3532188"/>
              <a:ext cx="225425" cy="100013"/>
            </a:xfrm>
            <a:custGeom>
              <a:avLst/>
              <a:gdLst/>
              <a:ahLst/>
              <a:cxnLst>
                <a:cxn ang="0">
                  <a:pos x="147" y="0"/>
                </a:cxn>
                <a:cxn ang="0">
                  <a:pos x="147" y="0"/>
                </a:cxn>
                <a:cxn ang="0">
                  <a:pos x="137" y="0"/>
                </a:cxn>
                <a:cxn ang="0">
                  <a:pos x="137" y="0"/>
                </a:cxn>
                <a:cxn ang="0">
                  <a:pos x="118" y="2"/>
                </a:cxn>
                <a:cxn ang="0">
                  <a:pos x="100" y="4"/>
                </a:cxn>
                <a:cxn ang="0">
                  <a:pos x="83" y="7"/>
                </a:cxn>
                <a:cxn ang="0">
                  <a:pos x="66" y="14"/>
                </a:cxn>
                <a:cxn ang="0">
                  <a:pos x="49" y="21"/>
                </a:cxn>
                <a:cxn ang="0">
                  <a:pos x="34" y="29"/>
                </a:cxn>
                <a:cxn ang="0">
                  <a:pos x="19" y="39"/>
                </a:cxn>
                <a:cxn ang="0">
                  <a:pos x="5" y="51"/>
                </a:cxn>
                <a:cxn ang="0">
                  <a:pos x="5" y="51"/>
                </a:cxn>
                <a:cxn ang="0">
                  <a:pos x="2" y="58"/>
                </a:cxn>
                <a:cxn ang="0">
                  <a:pos x="0" y="64"/>
                </a:cxn>
                <a:cxn ang="0">
                  <a:pos x="0" y="71"/>
                </a:cxn>
                <a:cxn ang="0">
                  <a:pos x="5" y="76"/>
                </a:cxn>
                <a:cxn ang="0">
                  <a:pos x="37" y="112"/>
                </a:cxn>
                <a:cxn ang="0">
                  <a:pos x="37" y="112"/>
                </a:cxn>
                <a:cxn ang="0">
                  <a:pos x="42" y="115"/>
                </a:cxn>
                <a:cxn ang="0">
                  <a:pos x="49" y="117"/>
                </a:cxn>
                <a:cxn ang="0">
                  <a:pos x="49" y="117"/>
                </a:cxn>
                <a:cxn ang="0">
                  <a:pos x="56" y="117"/>
                </a:cxn>
                <a:cxn ang="0">
                  <a:pos x="63" y="112"/>
                </a:cxn>
                <a:cxn ang="0">
                  <a:pos x="63" y="112"/>
                </a:cxn>
                <a:cxn ang="0">
                  <a:pos x="78" y="100"/>
                </a:cxn>
                <a:cxn ang="0">
                  <a:pos x="96" y="91"/>
                </a:cxn>
                <a:cxn ang="0">
                  <a:pos x="117" y="85"/>
                </a:cxn>
                <a:cxn ang="0">
                  <a:pos x="137" y="83"/>
                </a:cxn>
                <a:cxn ang="0">
                  <a:pos x="137" y="83"/>
                </a:cxn>
                <a:cxn ang="0">
                  <a:pos x="142" y="83"/>
                </a:cxn>
                <a:cxn ang="0">
                  <a:pos x="142" y="83"/>
                </a:cxn>
                <a:cxn ang="0">
                  <a:pos x="154" y="85"/>
                </a:cxn>
                <a:cxn ang="0">
                  <a:pos x="164" y="86"/>
                </a:cxn>
                <a:cxn ang="0">
                  <a:pos x="184" y="95"/>
                </a:cxn>
                <a:cxn ang="0">
                  <a:pos x="201" y="105"/>
                </a:cxn>
                <a:cxn ang="0">
                  <a:pos x="209" y="112"/>
                </a:cxn>
                <a:cxn ang="0">
                  <a:pos x="218" y="118"/>
                </a:cxn>
                <a:cxn ang="0">
                  <a:pos x="218" y="118"/>
                </a:cxn>
                <a:cxn ang="0">
                  <a:pos x="223" y="124"/>
                </a:cxn>
                <a:cxn ang="0">
                  <a:pos x="231" y="125"/>
                </a:cxn>
                <a:cxn ang="0">
                  <a:pos x="231" y="125"/>
                </a:cxn>
                <a:cxn ang="0">
                  <a:pos x="236" y="124"/>
                </a:cxn>
                <a:cxn ang="0">
                  <a:pos x="243" y="120"/>
                </a:cxn>
                <a:cxn ang="0">
                  <a:pos x="279" y="90"/>
                </a:cxn>
                <a:cxn ang="0">
                  <a:pos x="279" y="90"/>
                </a:cxn>
                <a:cxn ang="0">
                  <a:pos x="282" y="85"/>
                </a:cxn>
                <a:cxn ang="0">
                  <a:pos x="284" y="78"/>
                </a:cxn>
                <a:cxn ang="0">
                  <a:pos x="284" y="78"/>
                </a:cxn>
                <a:cxn ang="0">
                  <a:pos x="284" y="71"/>
                </a:cxn>
                <a:cxn ang="0">
                  <a:pos x="280" y="64"/>
                </a:cxn>
                <a:cxn ang="0">
                  <a:pos x="280" y="64"/>
                </a:cxn>
                <a:cxn ang="0">
                  <a:pos x="267" y="51"/>
                </a:cxn>
                <a:cxn ang="0">
                  <a:pos x="252" y="39"/>
                </a:cxn>
                <a:cxn ang="0">
                  <a:pos x="236" y="29"/>
                </a:cxn>
                <a:cxn ang="0">
                  <a:pos x="220" y="19"/>
                </a:cxn>
                <a:cxn ang="0">
                  <a:pos x="203" y="12"/>
                </a:cxn>
                <a:cxn ang="0">
                  <a:pos x="186" y="7"/>
                </a:cxn>
                <a:cxn ang="0">
                  <a:pos x="167" y="2"/>
                </a:cxn>
                <a:cxn ang="0">
                  <a:pos x="147" y="0"/>
                </a:cxn>
                <a:cxn ang="0">
                  <a:pos x="147" y="0"/>
                </a:cxn>
              </a:cxnLst>
              <a:rect l="0" t="0" r="r" b="b"/>
              <a:pathLst>
                <a:path w="284" h="125">
                  <a:moveTo>
                    <a:pt x="147" y="0"/>
                  </a:moveTo>
                  <a:lnTo>
                    <a:pt x="147" y="0"/>
                  </a:lnTo>
                  <a:lnTo>
                    <a:pt x="137" y="0"/>
                  </a:lnTo>
                  <a:lnTo>
                    <a:pt x="137" y="0"/>
                  </a:lnTo>
                  <a:lnTo>
                    <a:pt x="118" y="2"/>
                  </a:lnTo>
                  <a:lnTo>
                    <a:pt x="100" y="4"/>
                  </a:lnTo>
                  <a:lnTo>
                    <a:pt x="83" y="7"/>
                  </a:lnTo>
                  <a:lnTo>
                    <a:pt x="66" y="14"/>
                  </a:lnTo>
                  <a:lnTo>
                    <a:pt x="49" y="21"/>
                  </a:lnTo>
                  <a:lnTo>
                    <a:pt x="34" y="29"/>
                  </a:lnTo>
                  <a:lnTo>
                    <a:pt x="19" y="39"/>
                  </a:lnTo>
                  <a:lnTo>
                    <a:pt x="5" y="51"/>
                  </a:lnTo>
                  <a:lnTo>
                    <a:pt x="5" y="51"/>
                  </a:lnTo>
                  <a:lnTo>
                    <a:pt x="2" y="58"/>
                  </a:lnTo>
                  <a:lnTo>
                    <a:pt x="0" y="64"/>
                  </a:lnTo>
                  <a:lnTo>
                    <a:pt x="0" y="71"/>
                  </a:lnTo>
                  <a:lnTo>
                    <a:pt x="5" y="76"/>
                  </a:lnTo>
                  <a:lnTo>
                    <a:pt x="37" y="112"/>
                  </a:lnTo>
                  <a:lnTo>
                    <a:pt x="37" y="112"/>
                  </a:lnTo>
                  <a:lnTo>
                    <a:pt x="42" y="115"/>
                  </a:lnTo>
                  <a:lnTo>
                    <a:pt x="49" y="117"/>
                  </a:lnTo>
                  <a:lnTo>
                    <a:pt x="49" y="117"/>
                  </a:lnTo>
                  <a:lnTo>
                    <a:pt x="56" y="117"/>
                  </a:lnTo>
                  <a:lnTo>
                    <a:pt x="63" y="112"/>
                  </a:lnTo>
                  <a:lnTo>
                    <a:pt x="63" y="112"/>
                  </a:lnTo>
                  <a:lnTo>
                    <a:pt x="78" y="100"/>
                  </a:lnTo>
                  <a:lnTo>
                    <a:pt x="96" y="91"/>
                  </a:lnTo>
                  <a:lnTo>
                    <a:pt x="117" y="85"/>
                  </a:lnTo>
                  <a:lnTo>
                    <a:pt x="137" y="83"/>
                  </a:lnTo>
                  <a:lnTo>
                    <a:pt x="137" y="83"/>
                  </a:lnTo>
                  <a:lnTo>
                    <a:pt x="142" y="83"/>
                  </a:lnTo>
                  <a:lnTo>
                    <a:pt x="142" y="83"/>
                  </a:lnTo>
                  <a:lnTo>
                    <a:pt x="154" y="85"/>
                  </a:lnTo>
                  <a:lnTo>
                    <a:pt x="164" y="86"/>
                  </a:lnTo>
                  <a:lnTo>
                    <a:pt x="184" y="95"/>
                  </a:lnTo>
                  <a:lnTo>
                    <a:pt x="201" y="105"/>
                  </a:lnTo>
                  <a:lnTo>
                    <a:pt x="209" y="112"/>
                  </a:lnTo>
                  <a:lnTo>
                    <a:pt x="218" y="118"/>
                  </a:lnTo>
                  <a:lnTo>
                    <a:pt x="218" y="118"/>
                  </a:lnTo>
                  <a:lnTo>
                    <a:pt x="223" y="124"/>
                  </a:lnTo>
                  <a:lnTo>
                    <a:pt x="231" y="125"/>
                  </a:lnTo>
                  <a:lnTo>
                    <a:pt x="231" y="125"/>
                  </a:lnTo>
                  <a:lnTo>
                    <a:pt x="236" y="124"/>
                  </a:lnTo>
                  <a:lnTo>
                    <a:pt x="243" y="120"/>
                  </a:lnTo>
                  <a:lnTo>
                    <a:pt x="279" y="90"/>
                  </a:lnTo>
                  <a:lnTo>
                    <a:pt x="279" y="90"/>
                  </a:lnTo>
                  <a:lnTo>
                    <a:pt x="282" y="85"/>
                  </a:lnTo>
                  <a:lnTo>
                    <a:pt x="284" y="78"/>
                  </a:lnTo>
                  <a:lnTo>
                    <a:pt x="284" y="78"/>
                  </a:lnTo>
                  <a:lnTo>
                    <a:pt x="284" y="71"/>
                  </a:lnTo>
                  <a:lnTo>
                    <a:pt x="280" y="64"/>
                  </a:lnTo>
                  <a:lnTo>
                    <a:pt x="280" y="64"/>
                  </a:lnTo>
                  <a:lnTo>
                    <a:pt x="267" y="51"/>
                  </a:lnTo>
                  <a:lnTo>
                    <a:pt x="252" y="39"/>
                  </a:lnTo>
                  <a:lnTo>
                    <a:pt x="236" y="29"/>
                  </a:lnTo>
                  <a:lnTo>
                    <a:pt x="220" y="19"/>
                  </a:lnTo>
                  <a:lnTo>
                    <a:pt x="203" y="12"/>
                  </a:lnTo>
                  <a:lnTo>
                    <a:pt x="186" y="7"/>
                  </a:lnTo>
                  <a:lnTo>
                    <a:pt x="167" y="2"/>
                  </a:lnTo>
                  <a:lnTo>
                    <a:pt x="147" y="0"/>
                  </a:lnTo>
                  <a:lnTo>
                    <a:pt x="147" y="0"/>
                  </a:lnTo>
                  <a:close/>
                </a:path>
              </a:pathLst>
            </a:custGeom>
            <a:grpFill/>
            <a:ln w="9525">
              <a:noFill/>
              <a:round/>
              <a:headEnd/>
              <a:tailEnd/>
            </a:ln>
          </p:spPr>
          <p:txBody>
            <a:bodyPr vert="horz" wrap="square" lIns="91392" tIns="45696" rIns="91392" bIns="45696" numCol="1" anchor="t" anchorCtr="0" compatLnSpc="1">
              <a:prstTxWarp prst="textNoShape">
                <a:avLst/>
              </a:prstTxWarp>
            </a:bodyP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4" name="Freeform 78">
              <a:extLst>
                <a:ext uri="{FF2B5EF4-FFF2-40B4-BE49-F238E27FC236}">
                  <a16:creationId xmlns:a16="http://schemas.microsoft.com/office/drawing/2014/main" id="{A269E4F1-C122-6443-9A01-81DDD198CE13}"/>
                </a:ext>
              </a:extLst>
            </p:cNvPr>
            <p:cNvSpPr>
              <a:spLocks noEditPoints="1"/>
            </p:cNvSpPr>
            <p:nvPr/>
          </p:nvSpPr>
          <p:spPr bwMode="auto">
            <a:xfrm>
              <a:off x="13801722" y="3470269"/>
              <a:ext cx="1525589" cy="936624"/>
            </a:xfrm>
            <a:custGeom>
              <a:avLst/>
              <a:gdLst/>
              <a:ahLst/>
              <a:cxnLst>
                <a:cxn ang="0">
                  <a:pos x="1805" y="1019"/>
                </a:cxn>
                <a:cxn ang="0">
                  <a:pos x="1625" y="1019"/>
                </a:cxn>
                <a:cxn ang="0">
                  <a:pos x="1176" y="0"/>
                </a:cxn>
                <a:cxn ang="0">
                  <a:pos x="1093" y="494"/>
                </a:cxn>
                <a:cxn ang="0">
                  <a:pos x="572" y="1019"/>
                </a:cxn>
                <a:cxn ang="0">
                  <a:pos x="523" y="176"/>
                </a:cxn>
                <a:cxn ang="0">
                  <a:pos x="314" y="203"/>
                </a:cxn>
                <a:cxn ang="0">
                  <a:pos x="301" y="262"/>
                </a:cxn>
                <a:cxn ang="0">
                  <a:pos x="118" y="1019"/>
                </a:cxn>
                <a:cxn ang="0">
                  <a:pos x="2" y="1169"/>
                </a:cxn>
                <a:cxn ang="0">
                  <a:pos x="1917" y="1181"/>
                </a:cxn>
                <a:cxn ang="0">
                  <a:pos x="1922" y="1169"/>
                </a:cxn>
                <a:cxn ang="0">
                  <a:pos x="741" y="756"/>
                </a:cxn>
                <a:cxn ang="0">
                  <a:pos x="896" y="756"/>
                </a:cxn>
                <a:cxn ang="0">
                  <a:pos x="1049" y="756"/>
                </a:cxn>
                <a:cxn ang="0">
                  <a:pos x="677" y="756"/>
                </a:cxn>
                <a:cxn ang="0">
                  <a:pos x="434" y="604"/>
                </a:cxn>
                <a:cxn ang="0">
                  <a:pos x="425" y="533"/>
                </a:cxn>
                <a:cxn ang="0">
                  <a:pos x="498" y="520"/>
                </a:cxn>
                <a:cxn ang="0">
                  <a:pos x="513" y="533"/>
                </a:cxn>
                <a:cxn ang="0">
                  <a:pos x="505" y="604"/>
                </a:cxn>
                <a:cxn ang="0">
                  <a:pos x="513" y="933"/>
                </a:cxn>
                <a:cxn ang="0">
                  <a:pos x="439" y="947"/>
                </a:cxn>
                <a:cxn ang="0">
                  <a:pos x="425" y="933"/>
                </a:cxn>
                <a:cxn ang="0">
                  <a:pos x="434" y="862"/>
                </a:cxn>
                <a:cxn ang="0">
                  <a:pos x="508" y="866"/>
                </a:cxn>
                <a:cxn ang="0">
                  <a:pos x="348" y="791"/>
                </a:cxn>
                <a:cxn ang="0">
                  <a:pos x="334" y="805"/>
                </a:cxn>
                <a:cxn ang="0">
                  <a:pos x="262" y="796"/>
                </a:cxn>
                <a:cxn ang="0">
                  <a:pos x="263" y="724"/>
                </a:cxn>
                <a:cxn ang="0">
                  <a:pos x="339" y="720"/>
                </a:cxn>
                <a:cxn ang="0">
                  <a:pos x="243" y="397"/>
                </a:cxn>
                <a:cxn ang="0">
                  <a:pos x="258" y="383"/>
                </a:cxn>
                <a:cxn ang="0">
                  <a:pos x="331" y="391"/>
                </a:cxn>
                <a:cxn ang="0">
                  <a:pos x="328" y="464"/>
                </a:cxn>
                <a:cxn ang="0">
                  <a:pos x="252" y="467"/>
                </a:cxn>
                <a:cxn ang="0">
                  <a:pos x="1464" y="105"/>
                </a:cxn>
                <a:cxn ang="0">
                  <a:pos x="1471" y="96"/>
                </a:cxn>
                <a:cxn ang="0">
                  <a:pos x="1490" y="101"/>
                </a:cxn>
                <a:cxn ang="0">
                  <a:pos x="1490" y="940"/>
                </a:cxn>
                <a:cxn ang="0">
                  <a:pos x="1471" y="945"/>
                </a:cxn>
                <a:cxn ang="0">
                  <a:pos x="1464" y="105"/>
                </a:cxn>
                <a:cxn ang="0">
                  <a:pos x="1362" y="98"/>
                </a:cxn>
                <a:cxn ang="0">
                  <a:pos x="1382" y="100"/>
                </a:cxn>
                <a:cxn ang="0">
                  <a:pos x="1383" y="940"/>
                </a:cxn>
                <a:cxn ang="0">
                  <a:pos x="1363" y="945"/>
                </a:cxn>
                <a:cxn ang="0">
                  <a:pos x="1356" y="105"/>
                </a:cxn>
                <a:cxn ang="0">
                  <a:pos x="1254" y="98"/>
                </a:cxn>
                <a:cxn ang="0">
                  <a:pos x="1276" y="100"/>
                </a:cxn>
                <a:cxn ang="0">
                  <a:pos x="1277" y="940"/>
                </a:cxn>
                <a:cxn ang="0">
                  <a:pos x="1257" y="945"/>
                </a:cxn>
                <a:cxn ang="0">
                  <a:pos x="1250" y="105"/>
                </a:cxn>
              </a:cxnLst>
              <a:rect l="0" t="0" r="r" b="b"/>
              <a:pathLst>
                <a:path w="1923" h="1181">
                  <a:moveTo>
                    <a:pt x="1820" y="1029"/>
                  </a:moveTo>
                  <a:lnTo>
                    <a:pt x="1820" y="1029"/>
                  </a:lnTo>
                  <a:lnTo>
                    <a:pt x="1815" y="1024"/>
                  </a:lnTo>
                  <a:lnTo>
                    <a:pt x="1810" y="1021"/>
                  </a:lnTo>
                  <a:lnTo>
                    <a:pt x="1805" y="1019"/>
                  </a:lnTo>
                  <a:lnTo>
                    <a:pt x="1798" y="1019"/>
                  </a:lnTo>
                  <a:lnTo>
                    <a:pt x="1750" y="1019"/>
                  </a:lnTo>
                  <a:lnTo>
                    <a:pt x="1750" y="739"/>
                  </a:lnTo>
                  <a:lnTo>
                    <a:pt x="1625" y="606"/>
                  </a:lnTo>
                  <a:lnTo>
                    <a:pt x="1625" y="1019"/>
                  </a:lnTo>
                  <a:lnTo>
                    <a:pt x="1583" y="1019"/>
                  </a:lnTo>
                  <a:lnTo>
                    <a:pt x="1583" y="562"/>
                  </a:lnTo>
                  <a:lnTo>
                    <a:pt x="1583" y="0"/>
                  </a:lnTo>
                  <a:lnTo>
                    <a:pt x="1218" y="0"/>
                  </a:lnTo>
                  <a:lnTo>
                    <a:pt x="1176" y="0"/>
                  </a:lnTo>
                  <a:lnTo>
                    <a:pt x="1176" y="1019"/>
                  </a:lnTo>
                  <a:lnTo>
                    <a:pt x="1124" y="1019"/>
                  </a:lnTo>
                  <a:lnTo>
                    <a:pt x="1124" y="562"/>
                  </a:lnTo>
                  <a:lnTo>
                    <a:pt x="1093" y="562"/>
                  </a:lnTo>
                  <a:lnTo>
                    <a:pt x="1093" y="494"/>
                  </a:lnTo>
                  <a:lnTo>
                    <a:pt x="751" y="553"/>
                  </a:lnTo>
                  <a:lnTo>
                    <a:pt x="751" y="562"/>
                  </a:lnTo>
                  <a:lnTo>
                    <a:pt x="626" y="562"/>
                  </a:lnTo>
                  <a:lnTo>
                    <a:pt x="626" y="1019"/>
                  </a:lnTo>
                  <a:lnTo>
                    <a:pt x="572" y="1019"/>
                  </a:lnTo>
                  <a:lnTo>
                    <a:pt x="572" y="262"/>
                  </a:lnTo>
                  <a:lnTo>
                    <a:pt x="525" y="262"/>
                  </a:lnTo>
                  <a:lnTo>
                    <a:pt x="525" y="181"/>
                  </a:lnTo>
                  <a:lnTo>
                    <a:pt x="525" y="181"/>
                  </a:lnTo>
                  <a:lnTo>
                    <a:pt x="523" y="176"/>
                  </a:lnTo>
                  <a:lnTo>
                    <a:pt x="522" y="170"/>
                  </a:lnTo>
                  <a:lnTo>
                    <a:pt x="516" y="169"/>
                  </a:lnTo>
                  <a:lnTo>
                    <a:pt x="511" y="169"/>
                  </a:lnTo>
                  <a:lnTo>
                    <a:pt x="314" y="203"/>
                  </a:lnTo>
                  <a:lnTo>
                    <a:pt x="314" y="203"/>
                  </a:lnTo>
                  <a:lnTo>
                    <a:pt x="309" y="204"/>
                  </a:lnTo>
                  <a:lnTo>
                    <a:pt x="304" y="208"/>
                  </a:lnTo>
                  <a:lnTo>
                    <a:pt x="301" y="213"/>
                  </a:lnTo>
                  <a:lnTo>
                    <a:pt x="301" y="218"/>
                  </a:lnTo>
                  <a:lnTo>
                    <a:pt x="301" y="262"/>
                  </a:lnTo>
                  <a:lnTo>
                    <a:pt x="181" y="262"/>
                  </a:lnTo>
                  <a:lnTo>
                    <a:pt x="181" y="1019"/>
                  </a:lnTo>
                  <a:lnTo>
                    <a:pt x="125" y="1019"/>
                  </a:lnTo>
                  <a:lnTo>
                    <a:pt x="125" y="1019"/>
                  </a:lnTo>
                  <a:lnTo>
                    <a:pt x="118" y="1019"/>
                  </a:lnTo>
                  <a:lnTo>
                    <a:pt x="113" y="1021"/>
                  </a:lnTo>
                  <a:lnTo>
                    <a:pt x="108" y="1024"/>
                  </a:lnTo>
                  <a:lnTo>
                    <a:pt x="103" y="1029"/>
                  </a:lnTo>
                  <a:lnTo>
                    <a:pt x="2" y="1169"/>
                  </a:lnTo>
                  <a:lnTo>
                    <a:pt x="2" y="1169"/>
                  </a:lnTo>
                  <a:lnTo>
                    <a:pt x="0" y="1174"/>
                  </a:lnTo>
                  <a:lnTo>
                    <a:pt x="2" y="1178"/>
                  </a:lnTo>
                  <a:lnTo>
                    <a:pt x="4" y="1179"/>
                  </a:lnTo>
                  <a:lnTo>
                    <a:pt x="7" y="1181"/>
                  </a:lnTo>
                  <a:lnTo>
                    <a:pt x="1917" y="1181"/>
                  </a:lnTo>
                  <a:lnTo>
                    <a:pt x="1917" y="1181"/>
                  </a:lnTo>
                  <a:lnTo>
                    <a:pt x="1920" y="1179"/>
                  </a:lnTo>
                  <a:lnTo>
                    <a:pt x="1922" y="1178"/>
                  </a:lnTo>
                  <a:lnTo>
                    <a:pt x="1923" y="1174"/>
                  </a:lnTo>
                  <a:lnTo>
                    <a:pt x="1922" y="1169"/>
                  </a:lnTo>
                  <a:lnTo>
                    <a:pt x="1820" y="1029"/>
                  </a:lnTo>
                  <a:close/>
                  <a:moveTo>
                    <a:pt x="741" y="660"/>
                  </a:moveTo>
                  <a:lnTo>
                    <a:pt x="879" y="660"/>
                  </a:lnTo>
                  <a:lnTo>
                    <a:pt x="879" y="756"/>
                  </a:lnTo>
                  <a:lnTo>
                    <a:pt x="741" y="756"/>
                  </a:lnTo>
                  <a:lnTo>
                    <a:pt x="741" y="660"/>
                  </a:lnTo>
                  <a:close/>
                  <a:moveTo>
                    <a:pt x="896" y="660"/>
                  </a:moveTo>
                  <a:lnTo>
                    <a:pt x="1033" y="660"/>
                  </a:lnTo>
                  <a:lnTo>
                    <a:pt x="1033" y="756"/>
                  </a:lnTo>
                  <a:lnTo>
                    <a:pt x="896" y="756"/>
                  </a:lnTo>
                  <a:lnTo>
                    <a:pt x="896" y="660"/>
                  </a:lnTo>
                  <a:close/>
                  <a:moveTo>
                    <a:pt x="1049" y="660"/>
                  </a:moveTo>
                  <a:lnTo>
                    <a:pt x="1082" y="660"/>
                  </a:lnTo>
                  <a:lnTo>
                    <a:pt x="1082" y="756"/>
                  </a:lnTo>
                  <a:lnTo>
                    <a:pt x="1049" y="756"/>
                  </a:lnTo>
                  <a:lnTo>
                    <a:pt x="1049" y="660"/>
                  </a:lnTo>
                  <a:close/>
                  <a:moveTo>
                    <a:pt x="677" y="660"/>
                  </a:moveTo>
                  <a:lnTo>
                    <a:pt x="724" y="660"/>
                  </a:lnTo>
                  <a:lnTo>
                    <a:pt x="724" y="756"/>
                  </a:lnTo>
                  <a:lnTo>
                    <a:pt x="677" y="756"/>
                  </a:lnTo>
                  <a:lnTo>
                    <a:pt x="677" y="660"/>
                  </a:lnTo>
                  <a:close/>
                  <a:moveTo>
                    <a:pt x="498" y="606"/>
                  </a:moveTo>
                  <a:lnTo>
                    <a:pt x="439" y="606"/>
                  </a:lnTo>
                  <a:lnTo>
                    <a:pt x="439" y="606"/>
                  </a:lnTo>
                  <a:lnTo>
                    <a:pt x="434" y="604"/>
                  </a:lnTo>
                  <a:lnTo>
                    <a:pt x="429" y="601"/>
                  </a:lnTo>
                  <a:lnTo>
                    <a:pt x="425" y="597"/>
                  </a:lnTo>
                  <a:lnTo>
                    <a:pt x="425" y="591"/>
                  </a:lnTo>
                  <a:lnTo>
                    <a:pt x="425" y="533"/>
                  </a:lnTo>
                  <a:lnTo>
                    <a:pt x="425" y="533"/>
                  </a:lnTo>
                  <a:lnTo>
                    <a:pt x="425" y="528"/>
                  </a:lnTo>
                  <a:lnTo>
                    <a:pt x="429" y="523"/>
                  </a:lnTo>
                  <a:lnTo>
                    <a:pt x="434" y="521"/>
                  </a:lnTo>
                  <a:lnTo>
                    <a:pt x="439" y="520"/>
                  </a:lnTo>
                  <a:lnTo>
                    <a:pt x="498" y="520"/>
                  </a:lnTo>
                  <a:lnTo>
                    <a:pt x="498" y="520"/>
                  </a:lnTo>
                  <a:lnTo>
                    <a:pt x="505" y="521"/>
                  </a:lnTo>
                  <a:lnTo>
                    <a:pt x="508" y="523"/>
                  </a:lnTo>
                  <a:lnTo>
                    <a:pt x="511" y="528"/>
                  </a:lnTo>
                  <a:lnTo>
                    <a:pt x="513" y="533"/>
                  </a:lnTo>
                  <a:lnTo>
                    <a:pt x="513" y="591"/>
                  </a:lnTo>
                  <a:lnTo>
                    <a:pt x="513" y="591"/>
                  </a:lnTo>
                  <a:lnTo>
                    <a:pt x="511" y="597"/>
                  </a:lnTo>
                  <a:lnTo>
                    <a:pt x="508" y="601"/>
                  </a:lnTo>
                  <a:lnTo>
                    <a:pt x="505" y="604"/>
                  </a:lnTo>
                  <a:lnTo>
                    <a:pt x="498" y="606"/>
                  </a:lnTo>
                  <a:lnTo>
                    <a:pt x="498" y="606"/>
                  </a:lnTo>
                  <a:close/>
                  <a:moveTo>
                    <a:pt x="513" y="874"/>
                  </a:moveTo>
                  <a:lnTo>
                    <a:pt x="513" y="933"/>
                  </a:lnTo>
                  <a:lnTo>
                    <a:pt x="513" y="933"/>
                  </a:lnTo>
                  <a:lnTo>
                    <a:pt x="511" y="938"/>
                  </a:lnTo>
                  <a:lnTo>
                    <a:pt x="508" y="941"/>
                  </a:lnTo>
                  <a:lnTo>
                    <a:pt x="505" y="945"/>
                  </a:lnTo>
                  <a:lnTo>
                    <a:pt x="498" y="947"/>
                  </a:lnTo>
                  <a:lnTo>
                    <a:pt x="439" y="947"/>
                  </a:lnTo>
                  <a:lnTo>
                    <a:pt x="439" y="947"/>
                  </a:lnTo>
                  <a:lnTo>
                    <a:pt x="434" y="945"/>
                  </a:lnTo>
                  <a:lnTo>
                    <a:pt x="429" y="941"/>
                  </a:lnTo>
                  <a:lnTo>
                    <a:pt x="425" y="938"/>
                  </a:lnTo>
                  <a:lnTo>
                    <a:pt x="425" y="933"/>
                  </a:lnTo>
                  <a:lnTo>
                    <a:pt x="425" y="874"/>
                  </a:lnTo>
                  <a:lnTo>
                    <a:pt x="425" y="874"/>
                  </a:lnTo>
                  <a:lnTo>
                    <a:pt x="425" y="869"/>
                  </a:lnTo>
                  <a:lnTo>
                    <a:pt x="429" y="866"/>
                  </a:lnTo>
                  <a:lnTo>
                    <a:pt x="434" y="862"/>
                  </a:lnTo>
                  <a:lnTo>
                    <a:pt x="439" y="860"/>
                  </a:lnTo>
                  <a:lnTo>
                    <a:pt x="498" y="860"/>
                  </a:lnTo>
                  <a:lnTo>
                    <a:pt x="498" y="860"/>
                  </a:lnTo>
                  <a:lnTo>
                    <a:pt x="505" y="862"/>
                  </a:lnTo>
                  <a:lnTo>
                    <a:pt x="508" y="866"/>
                  </a:lnTo>
                  <a:lnTo>
                    <a:pt x="511" y="869"/>
                  </a:lnTo>
                  <a:lnTo>
                    <a:pt x="513" y="874"/>
                  </a:lnTo>
                  <a:lnTo>
                    <a:pt x="513" y="874"/>
                  </a:lnTo>
                  <a:close/>
                  <a:moveTo>
                    <a:pt x="348" y="734"/>
                  </a:moveTo>
                  <a:lnTo>
                    <a:pt x="348" y="791"/>
                  </a:lnTo>
                  <a:lnTo>
                    <a:pt x="348" y="791"/>
                  </a:lnTo>
                  <a:lnTo>
                    <a:pt x="346" y="796"/>
                  </a:lnTo>
                  <a:lnTo>
                    <a:pt x="343" y="801"/>
                  </a:lnTo>
                  <a:lnTo>
                    <a:pt x="339" y="805"/>
                  </a:lnTo>
                  <a:lnTo>
                    <a:pt x="334" y="805"/>
                  </a:lnTo>
                  <a:lnTo>
                    <a:pt x="274" y="805"/>
                  </a:lnTo>
                  <a:lnTo>
                    <a:pt x="274" y="805"/>
                  </a:lnTo>
                  <a:lnTo>
                    <a:pt x="269" y="805"/>
                  </a:lnTo>
                  <a:lnTo>
                    <a:pt x="263" y="801"/>
                  </a:lnTo>
                  <a:lnTo>
                    <a:pt x="262" y="796"/>
                  </a:lnTo>
                  <a:lnTo>
                    <a:pt x="260" y="791"/>
                  </a:lnTo>
                  <a:lnTo>
                    <a:pt x="260" y="734"/>
                  </a:lnTo>
                  <a:lnTo>
                    <a:pt x="260" y="734"/>
                  </a:lnTo>
                  <a:lnTo>
                    <a:pt x="262" y="729"/>
                  </a:lnTo>
                  <a:lnTo>
                    <a:pt x="263" y="724"/>
                  </a:lnTo>
                  <a:lnTo>
                    <a:pt x="269" y="720"/>
                  </a:lnTo>
                  <a:lnTo>
                    <a:pt x="274" y="720"/>
                  </a:lnTo>
                  <a:lnTo>
                    <a:pt x="334" y="720"/>
                  </a:lnTo>
                  <a:lnTo>
                    <a:pt x="334" y="720"/>
                  </a:lnTo>
                  <a:lnTo>
                    <a:pt x="339" y="720"/>
                  </a:lnTo>
                  <a:lnTo>
                    <a:pt x="343" y="724"/>
                  </a:lnTo>
                  <a:lnTo>
                    <a:pt x="346" y="729"/>
                  </a:lnTo>
                  <a:lnTo>
                    <a:pt x="348" y="734"/>
                  </a:lnTo>
                  <a:lnTo>
                    <a:pt x="348" y="734"/>
                  </a:lnTo>
                  <a:close/>
                  <a:moveTo>
                    <a:pt x="243" y="397"/>
                  </a:moveTo>
                  <a:lnTo>
                    <a:pt x="243" y="397"/>
                  </a:lnTo>
                  <a:lnTo>
                    <a:pt x="245" y="391"/>
                  </a:lnTo>
                  <a:lnTo>
                    <a:pt x="248" y="386"/>
                  </a:lnTo>
                  <a:lnTo>
                    <a:pt x="252" y="385"/>
                  </a:lnTo>
                  <a:lnTo>
                    <a:pt x="258" y="383"/>
                  </a:lnTo>
                  <a:lnTo>
                    <a:pt x="317" y="383"/>
                  </a:lnTo>
                  <a:lnTo>
                    <a:pt x="317" y="383"/>
                  </a:lnTo>
                  <a:lnTo>
                    <a:pt x="322" y="385"/>
                  </a:lnTo>
                  <a:lnTo>
                    <a:pt x="328" y="386"/>
                  </a:lnTo>
                  <a:lnTo>
                    <a:pt x="331" y="391"/>
                  </a:lnTo>
                  <a:lnTo>
                    <a:pt x="331" y="397"/>
                  </a:lnTo>
                  <a:lnTo>
                    <a:pt x="331" y="454"/>
                  </a:lnTo>
                  <a:lnTo>
                    <a:pt x="331" y="454"/>
                  </a:lnTo>
                  <a:lnTo>
                    <a:pt x="331" y="461"/>
                  </a:lnTo>
                  <a:lnTo>
                    <a:pt x="328" y="464"/>
                  </a:lnTo>
                  <a:lnTo>
                    <a:pt x="322" y="467"/>
                  </a:lnTo>
                  <a:lnTo>
                    <a:pt x="317" y="469"/>
                  </a:lnTo>
                  <a:lnTo>
                    <a:pt x="258" y="469"/>
                  </a:lnTo>
                  <a:lnTo>
                    <a:pt x="258" y="469"/>
                  </a:lnTo>
                  <a:lnTo>
                    <a:pt x="252" y="467"/>
                  </a:lnTo>
                  <a:lnTo>
                    <a:pt x="248" y="464"/>
                  </a:lnTo>
                  <a:lnTo>
                    <a:pt x="245" y="461"/>
                  </a:lnTo>
                  <a:lnTo>
                    <a:pt x="243" y="454"/>
                  </a:lnTo>
                  <a:lnTo>
                    <a:pt x="243" y="397"/>
                  </a:lnTo>
                  <a:close/>
                  <a:moveTo>
                    <a:pt x="1464" y="105"/>
                  </a:moveTo>
                  <a:lnTo>
                    <a:pt x="1464" y="105"/>
                  </a:lnTo>
                  <a:lnTo>
                    <a:pt x="1464" y="101"/>
                  </a:lnTo>
                  <a:lnTo>
                    <a:pt x="1466" y="100"/>
                  </a:lnTo>
                  <a:lnTo>
                    <a:pt x="1468" y="98"/>
                  </a:lnTo>
                  <a:lnTo>
                    <a:pt x="1471" y="96"/>
                  </a:lnTo>
                  <a:lnTo>
                    <a:pt x="1485" y="96"/>
                  </a:lnTo>
                  <a:lnTo>
                    <a:pt x="1485" y="96"/>
                  </a:lnTo>
                  <a:lnTo>
                    <a:pt x="1486" y="98"/>
                  </a:lnTo>
                  <a:lnTo>
                    <a:pt x="1490" y="100"/>
                  </a:lnTo>
                  <a:lnTo>
                    <a:pt x="1490" y="101"/>
                  </a:lnTo>
                  <a:lnTo>
                    <a:pt x="1491" y="105"/>
                  </a:lnTo>
                  <a:lnTo>
                    <a:pt x="1491" y="464"/>
                  </a:lnTo>
                  <a:lnTo>
                    <a:pt x="1491" y="938"/>
                  </a:lnTo>
                  <a:lnTo>
                    <a:pt x="1491" y="938"/>
                  </a:lnTo>
                  <a:lnTo>
                    <a:pt x="1490" y="940"/>
                  </a:lnTo>
                  <a:lnTo>
                    <a:pt x="1490" y="941"/>
                  </a:lnTo>
                  <a:lnTo>
                    <a:pt x="1486" y="943"/>
                  </a:lnTo>
                  <a:lnTo>
                    <a:pt x="1485" y="945"/>
                  </a:lnTo>
                  <a:lnTo>
                    <a:pt x="1471" y="945"/>
                  </a:lnTo>
                  <a:lnTo>
                    <a:pt x="1471" y="945"/>
                  </a:lnTo>
                  <a:lnTo>
                    <a:pt x="1466" y="943"/>
                  </a:lnTo>
                  <a:lnTo>
                    <a:pt x="1466" y="943"/>
                  </a:lnTo>
                  <a:lnTo>
                    <a:pt x="1464" y="940"/>
                  </a:lnTo>
                  <a:lnTo>
                    <a:pt x="1464" y="938"/>
                  </a:lnTo>
                  <a:lnTo>
                    <a:pt x="1464" y="105"/>
                  </a:lnTo>
                  <a:close/>
                  <a:moveTo>
                    <a:pt x="1356" y="105"/>
                  </a:moveTo>
                  <a:lnTo>
                    <a:pt x="1356" y="105"/>
                  </a:lnTo>
                  <a:lnTo>
                    <a:pt x="1358" y="101"/>
                  </a:lnTo>
                  <a:lnTo>
                    <a:pt x="1360" y="100"/>
                  </a:lnTo>
                  <a:lnTo>
                    <a:pt x="1362" y="98"/>
                  </a:lnTo>
                  <a:lnTo>
                    <a:pt x="1363" y="96"/>
                  </a:lnTo>
                  <a:lnTo>
                    <a:pt x="1377" y="96"/>
                  </a:lnTo>
                  <a:lnTo>
                    <a:pt x="1377" y="96"/>
                  </a:lnTo>
                  <a:lnTo>
                    <a:pt x="1380" y="98"/>
                  </a:lnTo>
                  <a:lnTo>
                    <a:pt x="1382" y="100"/>
                  </a:lnTo>
                  <a:lnTo>
                    <a:pt x="1383" y="101"/>
                  </a:lnTo>
                  <a:lnTo>
                    <a:pt x="1383" y="105"/>
                  </a:lnTo>
                  <a:lnTo>
                    <a:pt x="1383" y="938"/>
                  </a:lnTo>
                  <a:lnTo>
                    <a:pt x="1383" y="938"/>
                  </a:lnTo>
                  <a:lnTo>
                    <a:pt x="1383" y="940"/>
                  </a:lnTo>
                  <a:lnTo>
                    <a:pt x="1382" y="941"/>
                  </a:lnTo>
                  <a:lnTo>
                    <a:pt x="1380" y="943"/>
                  </a:lnTo>
                  <a:lnTo>
                    <a:pt x="1377" y="945"/>
                  </a:lnTo>
                  <a:lnTo>
                    <a:pt x="1363" y="945"/>
                  </a:lnTo>
                  <a:lnTo>
                    <a:pt x="1363" y="945"/>
                  </a:lnTo>
                  <a:lnTo>
                    <a:pt x="1362" y="943"/>
                  </a:lnTo>
                  <a:lnTo>
                    <a:pt x="1360" y="941"/>
                  </a:lnTo>
                  <a:lnTo>
                    <a:pt x="1358" y="940"/>
                  </a:lnTo>
                  <a:lnTo>
                    <a:pt x="1356" y="938"/>
                  </a:lnTo>
                  <a:lnTo>
                    <a:pt x="1356" y="105"/>
                  </a:lnTo>
                  <a:close/>
                  <a:moveTo>
                    <a:pt x="1250" y="105"/>
                  </a:moveTo>
                  <a:lnTo>
                    <a:pt x="1250" y="105"/>
                  </a:lnTo>
                  <a:lnTo>
                    <a:pt x="1250" y="101"/>
                  </a:lnTo>
                  <a:lnTo>
                    <a:pt x="1252" y="100"/>
                  </a:lnTo>
                  <a:lnTo>
                    <a:pt x="1254" y="98"/>
                  </a:lnTo>
                  <a:lnTo>
                    <a:pt x="1257" y="96"/>
                  </a:lnTo>
                  <a:lnTo>
                    <a:pt x="1270" y="96"/>
                  </a:lnTo>
                  <a:lnTo>
                    <a:pt x="1270" y="96"/>
                  </a:lnTo>
                  <a:lnTo>
                    <a:pt x="1274" y="98"/>
                  </a:lnTo>
                  <a:lnTo>
                    <a:pt x="1276" y="100"/>
                  </a:lnTo>
                  <a:lnTo>
                    <a:pt x="1277" y="101"/>
                  </a:lnTo>
                  <a:lnTo>
                    <a:pt x="1277" y="105"/>
                  </a:lnTo>
                  <a:lnTo>
                    <a:pt x="1277" y="938"/>
                  </a:lnTo>
                  <a:lnTo>
                    <a:pt x="1277" y="938"/>
                  </a:lnTo>
                  <a:lnTo>
                    <a:pt x="1277" y="940"/>
                  </a:lnTo>
                  <a:lnTo>
                    <a:pt x="1276" y="941"/>
                  </a:lnTo>
                  <a:lnTo>
                    <a:pt x="1274" y="943"/>
                  </a:lnTo>
                  <a:lnTo>
                    <a:pt x="1270" y="945"/>
                  </a:lnTo>
                  <a:lnTo>
                    <a:pt x="1257" y="945"/>
                  </a:lnTo>
                  <a:lnTo>
                    <a:pt x="1257" y="945"/>
                  </a:lnTo>
                  <a:lnTo>
                    <a:pt x="1254" y="943"/>
                  </a:lnTo>
                  <a:lnTo>
                    <a:pt x="1252" y="941"/>
                  </a:lnTo>
                  <a:lnTo>
                    <a:pt x="1250" y="940"/>
                  </a:lnTo>
                  <a:lnTo>
                    <a:pt x="1250" y="938"/>
                  </a:lnTo>
                  <a:lnTo>
                    <a:pt x="1250" y="105"/>
                  </a:lnTo>
                  <a:close/>
                </a:path>
              </a:pathLst>
            </a:custGeom>
            <a:grpFill/>
            <a:ln w="9525">
              <a:noFill/>
              <a:round/>
              <a:headEnd/>
              <a:tailEnd/>
            </a:ln>
          </p:spPr>
          <p:txBody>
            <a:bodyPr vert="horz" wrap="square" lIns="91392" tIns="45696" rIns="91392" bIns="45696" numCol="1" anchor="t" anchorCtr="0" compatLnSpc="1">
              <a:prstTxWarp prst="textNoShape">
                <a:avLst/>
              </a:prstTxWarp>
            </a:bodyP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5" name="Freeform 55">
            <a:extLst>
              <a:ext uri="{FF2B5EF4-FFF2-40B4-BE49-F238E27FC236}">
                <a16:creationId xmlns:a16="http://schemas.microsoft.com/office/drawing/2014/main" id="{88B70B59-592B-E94D-A5A1-CBAF3B41453C}"/>
              </a:ext>
            </a:extLst>
          </p:cNvPr>
          <p:cNvSpPr>
            <a:spLocks noEditPoints="1"/>
          </p:cNvSpPr>
          <p:nvPr/>
        </p:nvSpPr>
        <p:spPr bwMode="auto">
          <a:xfrm>
            <a:off x="3165083" y="2057482"/>
            <a:ext cx="651003" cy="718654"/>
          </a:xfrm>
          <a:custGeom>
            <a:avLst/>
            <a:gdLst/>
            <a:ahLst/>
            <a:cxnLst>
              <a:cxn ang="0">
                <a:pos x="6407" y="5358"/>
              </a:cxn>
              <a:cxn ang="0">
                <a:pos x="5637" y="1786"/>
              </a:cxn>
              <a:cxn ang="0">
                <a:pos x="3180" y="3331"/>
              </a:cxn>
              <a:cxn ang="0">
                <a:pos x="4914" y="3331"/>
              </a:cxn>
              <a:cxn ang="0">
                <a:pos x="0" y="16027"/>
              </a:cxn>
              <a:cxn ang="0">
                <a:pos x="4228" y="13934"/>
              </a:cxn>
              <a:cxn ang="0">
                <a:pos x="1461" y="13934"/>
              </a:cxn>
              <a:cxn ang="0">
                <a:pos x="4228" y="12950"/>
              </a:cxn>
              <a:cxn ang="0">
                <a:pos x="1461" y="10177"/>
              </a:cxn>
              <a:cxn ang="0">
                <a:pos x="1461" y="11072"/>
              </a:cxn>
              <a:cxn ang="0">
                <a:pos x="4228" y="8299"/>
              </a:cxn>
              <a:cxn ang="0">
                <a:pos x="1461" y="8299"/>
              </a:cxn>
              <a:cxn ang="0">
                <a:pos x="4228" y="7316"/>
              </a:cxn>
              <a:cxn ang="0">
                <a:pos x="1461" y="4543"/>
              </a:cxn>
              <a:cxn ang="0">
                <a:pos x="1461" y="5438"/>
              </a:cxn>
              <a:cxn ang="0">
                <a:pos x="8768" y="16075"/>
              </a:cxn>
              <a:cxn ang="0">
                <a:pos x="11899" y="7530"/>
              </a:cxn>
              <a:cxn ang="0">
                <a:pos x="10068" y="5890"/>
              </a:cxn>
              <a:cxn ang="0">
                <a:pos x="8093" y="5890"/>
              </a:cxn>
              <a:cxn ang="0">
                <a:pos x="6070" y="7530"/>
              </a:cxn>
              <a:cxn ang="0">
                <a:pos x="7574" y="8121"/>
              </a:cxn>
              <a:cxn ang="0">
                <a:pos x="6771" y="8121"/>
              </a:cxn>
              <a:cxn ang="0">
                <a:pos x="8823" y="9418"/>
              </a:cxn>
              <a:cxn ang="0">
                <a:pos x="9270" y="8121"/>
              </a:cxn>
              <a:cxn ang="0">
                <a:pos x="9270" y="9418"/>
              </a:cxn>
              <a:cxn ang="0">
                <a:pos x="11322" y="8121"/>
              </a:cxn>
              <a:cxn ang="0">
                <a:pos x="10519" y="8121"/>
              </a:cxn>
              <a:cxn ang="0">
                <a:pos x="7574" y="11027"/>
              </a:cxn>
              <a:cxn ang="0">
                <a:pos x="6771" y="11340"/>
              </a:cxn>
              <a:cxn ang="0">
                <a:pos x="6771" y="12637"/>
              </a:cxn>
              <a:cxn ang="0">
                <a:pos x="7574" y="12950"/>
              </a:cxn>
              <a:cxn ang="0">
                <a:pos x="6771" y="12950"/>
              </a:cxn>
              <a:cxn ang="0">
                <a:pos x="9586" y="11827"/>
              </a:cxn>
              <a:cxn ang="0">
                <a:pos x="10924" y="14601"/>
              </a:cxn>
              <a:cxn ang="0">
                <a:pos x="10924" y="15495"/>
              </a:cxn>
              <a:cxn ang="0">
                <a:pos x="11499" y="13417"/>
              </a:cxn>
              <a:cxn ang="0">
                <a:pos x="10924" y="13417"/>
              </a:cxn>
              <a:cxn ang="0">
                <a:pos x="10603" y="15495"/>
              </a:cxn>
              <a:cxn ang="0">
                <a:pos x="10028" y="13417"/>
              </a:cxn>
              <a:cxn ang="0">
                <a:pos x="10028" y="14312"/>
              </a:cxn>
              <a:cxn ang="0">
                <a:pos x="11499" y="12234"/>
              </a:cxn>
              <a:cxn ang="0">
                <a:pos x="10924" y="12234"/>
              </a:cxn>
              <a:cxn ang="0">
                <a:pos x="10603" y="13129"/>
              </a:cxn>
              <a:cxn ang="0">
                <a:pos x="16475" y="16027"/>
              </a:cxn>
              <a:cxn ang="0">
                <a:pos x="12910" y="11054"/>
              </a:cxn>
              <a:cxn ang="0">
                <a:pos x="16475" y="16027"/>
              </a:cxn>
              <a:cxn ang="0">
                <a:pos x="15829" y="10580"/>
              </a:cxn>
              <a:cxn ang="0">
                <a:pos x="13376" y="8479"/>
              </a:cxn>
              <a:cxn ang="0">
                <a:pos x="13376" y="9149"/>
              </a:cxn>
              <a:cxn ang="0">
                <a:pos x="15829" y="7047"/>
              </a:cxn>
              <a:cxn ang="0">
                <a:pos x="13376" y="7047"/>
              </a:cxn>
              <a:cxn ang="0">
                <a:pos x="15829" y="6287"/>
              </a:cxn>
              <a:cxn ang="0">
                <a:pos x="13376" y="4185"/>
              </a:cxn>
              <a:cxn ang="0">
                <a:pos x="13376" y="4856"/>
              </a:cxn>
              <a:cxn ang="0">
                <a:pos x="15829" y="2755"/>
              </a:cxn>
              <a:cxn ang="0">
                <a:pos x="13376" y="2755"/>
              </a:cxn>
              <a:cxn ang="0">
                <a:pos x="12466" y="1591"/>
              </a:cxn>
              <a:cxn ang="0">
                <a:pos x="10117" y="0"/>
              </a:cxn>
              <a:cxn ang="0">
                <a:pos x="9249" y="3814"/>
              </a:cxn>
              <a:cxn ang="0">
                <a:pos x="10743" y="3814"/>
              </a:cxn>
              <a:cxn ang="0">
                <a:pos x="11705" y="6179"/>
              </a:cxn>
            </a:cxnLst>
            <a:rect l="0" t="0" r="r" b="b"/>
            <a:pathLst>
              <a:path w="16475" h="16075">
                <a:moveTo>
                  <a:pt x="5637" y="6854"/>
                </a:moveTo>
                <a:lnTo>
                  <a:pt x="6407" y="6854"/>
                </a:lnTo>
                <a:lnTo>
                  <a:pt x="6407" y="5358"/>
                </a:lnTo>
                <a:lnTo>
                  <a:pt x="7371" y="5358"/>
                </a:lnTo>
                <a:lnTo>
                  <a:pt x="7371" y="1786"/>
                </a:lnTo>
                <a:lnTo>
                  <a:pt x="5637" y="1786"/>
                </a:lnTo>
                <a:lnTo>
                  <a:pt x="5637" y="6854"/>
                </a:lnTo>
                <a:close/>
                <a:moveTo>
                  <a:pt x="0" y="3331"/>
                </a:moveTo>
                <a:lnTo>
                  <a:pt x="3180" y="3331"/>
                </a:lnTo>
                <a:lnTo>
                  <a:pt x="3180" y="1207"/>
                </a:lnTo>
                <a:lnTo>
                  <a:pt x="4914" y="1207"/>
                </a:lnTo>
                <a:lnTo>
                  <a:pt x="4914" y="3331"/>
                </a:lnTo>
                <a:lnTo>
                  <a:pt x="4914" y="3765"/>
                </a:lnTo>
                <a:lnTo>
                  <a:pt x="4914" y="16027"/>
                </a:lnTo>
                <a:lnTo>
                  <a:pt x="0" y="16027"/>
                </a:lnTo>
                <a:lnTo>
                  <a:pt x="0" y="3331"/>
                </a:lnTo>
                <a:close/>
                <a:moveTo>
                  <a:pt x="1461" y="13934"/>
                </a:moveTo>
                <a:lnTo>
                  <a:pt x="4228" y="13934"/>
                </a:lnTo>
                <a:lnTo>
                  <a:pt x="4228" y="14829"/>
                </a:lnTo>
                <a:lnTo>
                  <a:pt x="1461" y="14829"/>
                </a:lnTo>
                <a:lnTo>
                  <a:pt x="1461" y="13934"/>
                </a:lnTo>
                <a:close/>
                <a:moveTo>
                  <a:pt x="1461" y="12056"/>
                </a:moveTo>
                <a:lnTo>
                  <a:pt x="4228" y="12056"/>
                </a:lnTo>
                <a:lnTo>
                  <a:pt x="4228" y="12950"/>
                </a:lnTo>
                <a:lnTo>
                  <a:pt x="1461" y="12950"/>
                </a:lnTo>
                <a:lnTo>
                  <a:pt x="1461" y="12056"/>
                </a:lnTo>
                <a:close/>
                <a:moveTo>
                  <a:pt x="1461" y="10177"/>
                </a:moveTo>
                <a:lnTo>
                  <a:pt x="4228" y="10177"/>
                </a:lnTo>
                <a:lnTo>
                  <a:pt x="4228" y="11072"/>
                </a:lnTo>
                <a:lnTo>
                  <a:pt x="1461" y="11072"/>
                </a:lnTo>
                <a:lnTo>
                  <a:pt x="1461" y="10177"/>
                </a:lnTo>
                <a:close/>
                <a:moveTo>
                  <a:pt x="1461" y="8299"/>
                </a:moveTo>
                <a:lnTo>
                  <a:pt x="4228" y="8299"/>
                </a:lnTo>
                <a:lnTo>
                  <a:pt x="4228" y="9194"/>
                </a:lnTo>
                <a:lnTo>
                  <a:pt x="1461" y="9194"/>
                </a:lnTo>
                <a:lnTo>
                  <a:pt x="1461" y="8299"/>
                </a:lnTo>
                <a:close/>
                <a:moveTo>
                  <a:pt x="1461" y="6421"/>
                </a:moveTo>
                <a:lnTo>
                  <a:pt x="4228" y="6421"/>
                </a:lnTo>
                <a:lnTo>
                  <a:pt x="4228" y="7316"/>
                </a:lnTo>
                <a:lnTo>
                  <a:pt x="1461" y="7316"/>
                </a:lnTo>
                <a:lnTo>
                  <a:pt x="1461" y="6421"/>
                </a:lnTo>
                <a:close/>
                <a:moveTo>
                  <a:pt x="1461" y="4543"/>
                </a:moveTo>
                <a:lnTo>
                  <a:pt x="4228" y="4543"/>
                </a:lnTo>
                <a:lnTo>
                  <a:pt x="4228" y="5438"/>
                </a:lnTo>
                <a:lnTo>
                  <a:pt x="1461" y="5438"/>
                </a:lnTo>
                <a:lnTo>
                  <a:pt x="1461" y="4543"/>
                </a:lnTo>
                <a:close/>
                <a:moveTo>
                  <a:pt x="6070" y="16075"/>
                </a:moveTo>
                <a:lnTo>
                  <a:pt x="8768" y="16075"/>
                </a:lnTo>
                <a:lnTo>
                  <a:pt x="8768" y="11054"/>
                </a:lnTo>
                <a:lnTo>
                  <a:pt x="11899" y="11054"/>
                </a:lnTo>
                <a:lnTo>
                  <a:pt x="11899" y="7530"/>
                </a:lnTo>
                <a:lnTo>
                  <a:pt x="11225" y="7530"/>
                </a:lnTo>
                <a:lnTo>
                  <a:pt x="11225" y="5890"/>
                </a:lnTo>
                <a:lnTo>
                  <a:pt x="10068" y="5890"/>
                </a:lnTo>
                <a:lnTo>
                  <a:pt x="10068" y="4248"/>
                </a:lnTo>
                <a:lnTo>
                  <a:pt x="8093" y="4248"/>
                </a:lnTo>
                <a:lnTo>
                  <a:pt x="8093" y="5890"/>
                </a:lnTo>
                <a:lnTo>
                  <a:pt x="6937" y="5890"/>
                </a:lnTo>
                <a:lnTo>
                  <a:pt x="6937" y="7530"/>
                </a:lnTo>
                <a:lnTo>
                  <a:pt x="6070" y="7530"/>
                </a:lnTo>
                <a:lnTo>
                  <a:pt x="6070" y="16075"/>
                </a:lnTo>
                <a:close/>
                <a:moveTo>
                  <a:pt x="6771" y="8121"/>
                </a:moveTo>
                <a:lnTo>
                  <a:pt x="7574" y="8121"/>
                </a:lnTo>
                <a:lnTo>
                  <a:pt x="7574" y="9418"/>
                </a:lnTo>
                <a:lnTo>
                  <a:pt x="6771" y="9418"/>
                </a:lnTo>
                <a:lnTo>
                  <a:pt x="6771" y="8121"/>
                </a:lnTo>
                <a:close/>
                <a:moveTo>
                  <a:pt x="8020" y="8121"/>
                </a:moveTo>
                <a:lnTo>
                  <a:pt x="8823" y="8121"/>
                </a:lnTo>
                <a:lnTo>
                  <a:pt x="8823" y="9418"/>
                </a:lnTo>
                <a:lnTo>
                  <a:pt x="8020" y="9418"/>
                </a:lnTo>
                <a:lnTo>
                  <a:pt x="8020" y="8121"/>
                </a:lnTo>
                <a:close/>
                <a:moveTo>
                  <a:pt x="9270" y="8121"/>
                </a:moveTo>
                <a:lnTo>
                  <a:pt x="10073" y="8121"/>
                </a:lnTo>
                <a:lnTo>
                  <a:pt x="10073" y="9418"/>
                </a:lnTo>
                <a:lnTo>
                  <a:pt x="9270" y="9418"/>
                </a:lnTo>
                <a:lnTo>
                  <a:pt x="9270" y="8121"/>
                </a:lnTo>
                <a:close/>
                <a:moveTo>
                  <a:pt x="10519" y="8121"/>
                </a:moveTo>
                <a:lnTo>
                  <a:pt x="11322" y="8121"/>
                </a:lnTo>
                <a:lnTo>
                  <a:pt x="11322" y="9418"/>
                </a:lnTo>
                <a:lnTo>
                  <a:pt x="10519" y="9418"/>
                </a:lnTo>
                <a:lnTo>
                  <a:pt x="10519" y="8121"/>
                </a:lnTo>
                <a:close/>
                <a:moveTo>
                  <a:pt x="6771" y="9730"/>
                </a:moveTo>
                <a:lnTo>
                  <a:pt x="7574" y="9730"/>
                </a:lnTo>
                <a:lnTo>
                  <a:pt x="7574" y="11027"/>
                </a:lnTo>
                <a:lnTo>
                  <a:pt x="6771" y="11027"/>
                </a:lnTo>
                <a:lnTo>
                  <a:pt x="6771" y="9730"/>
                </a:lnTo>
                <a:close/>
                <a:moveTo>
                  <a:pt x="6771" y="11340"/>
                </a:moveTo>
                <a:lnTo>
                  <a:pt x="7574" y="11340"/>
                </a:lnTo>
                <a:lnTo>
                  <a:pt x="7574" y="12637"/>
                </a:lnTo>
                <a:lnTo>
                  <a:pt x="6771" y="12637"/>
                </a:lnTo>
                <a:lnTo>
                  <a:pt x="6771" y="11340"/>
                </a:lnTo>
                <a:close/>
                <a:moveTo>
                  <a:pt x="6771" y="12950"/>
                </a:moveTo>
                <a:lnTo>
                  <a:pt x="7574" y="12950"/>
                </a:lnTo>
                <a:lnTo>
                  <a:pt x="7574" y="14247"/>
                </a:lnTo>
                <a:lnTo>
                  <a:pt x="6771" y="14247"/>
                </a:lnTo>
                <a:lnTo>
                  <a:pt x="6771" y="12950"/>
                </a:lnTo>
                <a:close/>
                <a:moveTo>
                  <a:pt x="13151" y="16075"/>
                </a:moveTo>
                <a:lnTo>
                  <a:pt x="9586" y="16075"/>
                </a:lnTo>
                <a:lnTo>
                  <a:pt x="9586" y="11827"/>
                </a:lnTo>
                <a:lnTo>
                  <a:pt x="13151" y="11827"/>
                </a:lnTo>
                <a:lnTo>
                  <a:pt x="13151" y="16075"/>
                </a:lnTo>
                <a:close/>
                <a:moveTo>
                  <a:pt x="10924" y="14601"/>
                </a:moveTo>
                <a:lnTo>
                  <a:pt x="11499" y="14601"/>
                </a:lnTo>
                <a:lnTo>
                  <a:pt x="11499" y="15495"/>
                </a:lnTo>
                <a:lnTo>
                  <a:pt x="10924" y="15495"/>
                </a:lnTo>
                <a:lnTo>
                  <a:pt x="10924" y="14601"/>
                </a:lnTo>
                <a:close/>
                <a:moveTo>
                  <a:pt x="10924" y="13417"/>
                </a:moveTo>
                <a:lnTo>
                  <a:pt x="11499" y="13417"/>
                </a:lnTo>
                <a:lnTo>
                  <a:pt x="11499" y="14312"/>
                </a:lnTo>
                <a:lnTo>
                  <a:pt x="10924" y="14312"/>
                </a:lnTo>
                <a:lnTo>
                  <a:pt x="10924" y="13417"/>
                </a:lnTo>
                <a:close/>
                <a:moveTo>
                  <a:pt x="10028" y="14601"/>
                </a:moveTo>
                <a:lnTo>
                  <a:pt x="10603" y="14601"/>
                </a:lnTo>
                <a:lnTo>
                  <a:pt x="10603" y="15495"/>
                </a:lnTo>
                <a:lnTo>
                  <a:pt x="10028" y="15495"/>
                </a:lnTo>
                <a:lnTo>
                  <a:pt x="10028" y="14601"/>
                </a:lnTo>
                <a:close/>
                <a:moveTo>
                  <a:pt x="10028" y="13417"/>
                </a:moveTo>
                <a:lnTo>
                  <a:pt x="10603" y="13417"/>
                </a:lnTo>
                <a:lnTo>
                  <a:pt x="10603" y="14312"/>
                </a:lnTo>
                <a:lnTo>
                  <a:pt x="10028" y="14312"/>
                </a:lnTo>
                <a:lnTo>
                  <a:pt x="10028" y="13417"/>
                </a:lnTo>
                <a:close/>
                <a:moveTo>
                  <a:pt x="10924" y="12234"/>
                </a:moveTo>
                <a:lnTo>
                  <a:pt x="11499" y="12234"/>
                </a:lnTo>
                <a:lnTo>
                  <a:pt x="11499" y="13129"/>
                </a:lnTo>
                <a:lnTo>
                  <a:pt x="10924" y="13129"/>
                </a:lnTo>
                <a:lnTo>
                  <a:pt x="10924" y="12234"/>
                </a:lnTo>
                <a:close/>
                <a:moveTo>
                  <a:pt x="10028" y="12234"/>
                </a:moveTo>
                <a:lnTo>
                  <a:pt x="10603" y="12234"/>
                </a:lnTo>
                <a:lnTo>
                  <a:pt x="10603" y="13129"/>
                </a:lnTo>
                <a:lnTo>
                  <a:pt x="10028" y="13129"/>
                </a:lnTo>
                <a:lnTo>
                  <a:pt x="10028" y="12234"/>
                </a:lnTo>
                <a:close/>
                <a:moveTo>
                  <a:pt x="16475" y="16027"/>
                </a:moveTo>
                <a:lnTo>
                  <a:pt x="13874" y="16027"/>
                </a:lnTo>
                <a:lnTo>
                  <a:pt x="13874" y="11054"/>
                </a:lnTo>
                <a:lnTo>
                  <a:pt x="12910" y="11054"/>
                </a:lnTo>
                <a:lnTo>
                  <a:pt x="12910" y="2028"/>
                </a:lnTo>
                <a:lnTo>
                  <a:pt x="16475" y="627"/>
                </a:lnTo>
                <a:lnTo>
                  <a:pt x="16475" y="16027"/>
                </a:lnTo>
                <a:close/>
                <a:moveTo>
                  <a:pt x="13376" y="9909"/>
                </a:moveTo>
                <a:lnTo>
                  <a:pt x="15829" y="9909"/>
                </a:lnTo>
                <a:lnTo>
                  <a:pt x="15829" y="10580"/>
                </a:lnTo>
                <a:lnTo>
                  <a:pt x="13376" y="10580"/>
                </a:lnTo>
                <a:lnTo>
                  <a:pt x="13376" y="9909"/>
                </a:lnTo>
                <a:close/>
                <a:moveTo>
                  <a:pt x="13376" y="8479"/>
                </a:moveTo>
                <a:lnTo>
                  <a:pt x="15829" y="8479"/>
                </a:lnTo>
                <a:lnTo>
                  <a:pt x="15829" y="9149"/>
                </a:lnTo>
                <a:lnTo>
                  <a:pt x="13376" y="9149"/>
                </a:lnTo>
                <a:lnTo>
                  <a:pt x="13376" y="8479"/>
                </a:lnTo>
                <a:close/>
                <a:moveTo>
                  <a:pt x="13376" y="7047"/>
                </a:moveTo>
                <a:lnTo>
                  <a:pt x="15829" y="7047"/>
                </a:lnTo>
                <a:lnTo>
                  <a:pt x="15829" y="7718"/>
                </a:lnTo>
                <a:lnTo>
                  <a:pt x="13376" y="7718"/>
                </a:lnTo>
                <a:lnTo>
                  <a:pt x="13376" y="7047"/>
                </a:lnTo>
                <a:close/>
                <a:moveTo>
                  <a:pt x="13376" y="5616"/>
                </a:moveTo>
                <a:lnTo>
                  <a:pt x="15829" y="5616"/>
                </a:lnTo>
                <a:lnTo>
                  <a:pt x="15829" y="6287"/>
                </a:lnTo>
                <a:lnTo>
                  <a:pt x="13376" y="6287"/>
                </a:lnTo>
                <a:lnTo>
                  <a:pt x="13376" y="5616"/>
                </a:lnTo>
                <a:close/>
                <a:moveTo>
                  <a:pt x="13376" y="4185"/>
                </a:moveTo>
                <a:lnTo>
                  <a:pt x="15829" y="4185"/>
                </a:lnTo>
                <a:lnTo>
                  <a:pt x="15829" y="4856"/>
                </a:lnTo>
                <a:lnTo>
                  <a:pt x="13376" y="4856"/>
                </a:lnTo>
                <a:lnTo>
                  <a:pt x="13376" y="4185"/>
                </a:lnTo>
                <a:close/>
                <a:moveTo>
                  <a:pt x="13376" y="2755"/>
                </a:moveTo>
                <a:lnTo>
                  <a:pt x="15829" y="2755"/>
                </a:lnTo>
                <a:lnTo>
                  <a:pt x="15829" y="3426"/>
                </a:lnTo>
                <a:lnTo>
                  <a:pt x="13376" y="3426"/>
                </a:lnTo>
                <a:lnTo>
                  <a:pt x="13376" y="2755"/>
                </a:lnTo>
                <a:close/>
                <a:moveTo>
                  <a:pt x="11705" y="6179"/>
                </a:moveTo>
                <a:lnTo>
                  <a:pt x="12466" y="6179"/>
                </a:lnTo>
                <a:lnTo>
                  <a:pt x="12466" y="1591"/>
                </a:lnTo>
                <a:lnTo>
                  <a:pt x="13921" y="897"/>
                </a:lnTo>
                <a:lnTo>
                  <a:pt x="13921" y="0"/>
                </a:lnTo>
                <a:lnTo>
                  <a:pt x="10117" y="0"/>
                </a:lnTo>
                <a:lnTo>
                  <a:pt x="10117" y="2559"/>
                </a:lnTo>
                <a:lnTo>
                  <a:pt x="9249" y="2559"/>
                </a:lnTo>
                <a:lnTo>
                  <a:pt x="9249" y="3814"/>
                </a:lnTo>
                <a:lnTo>
                  <a:pt x="10117" y="3814"/>
                </a:lnTo>
                <a:lnTo>
                  <a:pt x="10694" y="3814"/>
                </a:lnTo>
                <a:lnTo>
                  <a:pt x="10743" y="3814"/>
                </a:lnTo>
                <a:lnTo>
                  <a:pt x="10743" y="5310"/>
                </a:lnTo>
                <a:lnTo>
                  <a:pt x="11705" y="5310"/>
                </a:lnTo>
                <a:lnTo>
                  <a:pt x="11705" y="6179"/>
                </a:lnTo>
                <a:close/>
              </a:path>
            </a:pathLst>
          </a:custGeom>
          <a:solidFill>
            <a:srgbClr val="00B0F0"/>
          </a:solidFill>
          <a:ln w="9525">
            <a:noFill/>
            <a:round/>
            <a:headEnd/>
            <a:tailEnd/>
          </a:ln>
        </p:spPr>
        <p:txBody>
          <a:bodyP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6" name="TextBox 110">
            <a:extLst>
              <a:ext uri="{FF2B5EF4-FFF2-40B4-BE49-F238E27FC236}">
                <a16:creationId xmlns:a16="http://schemas.microsoft.com/office/drawing/2014/main" id="{AE6043A3-FACF-2149-9F33-2CF3C73F12C4}"/>
              </a:ext>
            </a:extLst>
          </p:cNvPr>
          <p:cNvSpPr txBox="1"/>
          <p:nvPr/>
        </p:nvSpPr>
        <p:spPr>
          <a:xfrm>
            <a:off x="846296" y="2282269"/>
            <a:ext cx="1158551" cy="461665"/>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pitchFamily="34" charset="-122"/>
                <a:cs typeface="Times New Roman" panose="02020603050405020304" pitchFamily="18" charset="0"/>
              </a:defRPr>
            </a:lvl1pPr>
          </a:lstStyle>
          <a:p>
            <a:pPr marL="0" marR="0" lvl="0" indent="0" algn="ctr" defTabSz="913943" rtl="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Arial" panose="020B0604020202020204" pitchFamily="34" charset="0"/>
              </a:rPr>
              <a:t>电商</a:t>
            </a:r>
          </a:p>
        </p:txBody>
      </p:sp>
      <p:sp>
        <p:nvSpPr>
          <p:cNvPr id="57" name="TextBox 135">
            <a:extLst>
              <a:ext uri="{FF2B5EF4-FFF2-40B4-BE49-F238E27FC236}">
                <a16:creationId xmlns:a16="http://schemas.microsoft.com/office/drawing/2014/main" id="{88D8BFAD-503A-F341-9B5B-EA6AF9B9F705}"/>
              </a:ext>
            </a:extLst>
          </p:cNvPr>
          <p:cNvSpPr txBox="1"/>
          <p:nvPr/>
        </p:nvSpPr>
        <p:spPr>
          <a:xfrm>
            <a:off x="1975795" y="2280742"/>
            <a:ext cx="1032817" cy="461665"/>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pitchFamily="34" charset="-122"/>
                <a:cs typeface="Times New Roman" panose="02020603050405020304" pitchFamily="18" charset="0"/>
              </a:defRPr>
            </a:lvl1pPr>
          </a:lstStyle>
          <a:p>
            <a:pPr marL="0" marR="0" lvl="0" indent="0" algn="ctr" defTabSz="913943" rtl="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Arial" panose="020B0604020202020204" pitchFamily="34" charset="0"/>
              </a:rPr>
              <a:t>车企</a:t>
            </a:r>
          </a:p>
        </p:txBody>
      </p:sp>
      <p:sp>
        <p:nvSpPr>
          <p:cNvPr id="58" name="TextBox 135">
            <a:extLst>
              <a:ext uri="{FF2B5EF4-FFF2-40B4-BE49-F238E27FC236}">
                <a16:creationId xmlns:a16="http://schemas.microsoft.com/office/drawing/2014/main" id="{5AC4FF3B-F102-F941-8E25-4D5B434BE415}"/>
              </a:ext>
            </a:extLst>
          </p:cNvPr>
          <p:cNvSpPr txBox="1"/>
          <p:nvPr/>
        </p:nvSpPr>
        <p:spPr>
          <a:xfrm>
            <a:off x="2972982" y="2278667"/>
            <a:ext cx="1032816" cy="461665"/>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pitchFamily="34" charset="-122"/>
                <a:cs typeface="Times New Roman" panose="02020603050405020304" pitchFamily="18" charset="0"/>
              </a:defRPr>
            </a:lvl1pPr>
          </a:lstStyle>
          <a:p>
            <a:pPr marL="0" marR="0" lvl="0" indent="0" algn="ctr" defTabSz="913943" rtl="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Arial" panose="020B0604020202020204" pitchFamily="34" charset="0"/>
              </a:rPr>
              <a:t>政企</a:t>
            </a:r>
          </a:p>
        </p:txBody>
      </p:sp>
      <p:grpSp>
        <p:nvGrpSpPr>
          <p:cNvPr id="59" name="组合 58">
            <a:extLst>
              <a:ext uri="{FF2B5EF4-FFF2-40B4-BE49-F238E27FC236}">
                <a16:creationId xmlns:a16="http://schemas.microsoft.com/office/drawing/2014/main" id="{B2248988-D0BD-E84A-8F6A-D74898149696}"/>
              </a:ext>
            </a:extLst>
          </p:cNvPr>
          <p:cNvGrpSpPr/>
          <p:nvPr/>
        </p:nvGrpSpPr>
        <p:grpSpPr>
          <a:xfrm>
            <a:off x="4823668" y="1818335"/>
            <a:ext cx="1967884" cy="1196947"/>
            <a:chOff x="2261078" y="3231815"/>
            <a:chExt cx="1603460" cy="732461"/>
          </a:xfrm>
        </p:grpSpPr>
        <p:grpSp>
          <p:nvGrpSpPr>
            <p:cNvPr id="60" name="Group 70">
              <a:extLst>
                <a:ext uri="{FF2B5EF4-FFF2-40B4-BE49-F238E27FC236}">
                  <a16:creationId xmlns:a16="http://schemas.microsoft.com/office/drawing/2014/main" id="{9E722231-E994-EA4A-933C-FA5ACCBAAD06}"/>
                </a:ext>
              </a:extLst>
            </p:cNvPr>
            <p:cNvGrpSpPr/>
            <p:nvPr/>
          </p:nvGrpSpPr>
          <p:grpSpPr>
            <a:xfrm>
              <a:off x="2261078" y="3231815"/>
              <a:ext cx="461195" cy="728357"/>
              <a:chOff x="4081419" y="1668171"/>
              <a:chExt cx="1025306" cy="1142361"/>
            </a:xfrm>
          </p:grpSpPr>
          <p:pic>
            <p:nvPicPr>
              <p:cNvPr id="67" name="Picture 71">
                <a:extLst>
                  <a:ext uri="{FF2B5EF4-FFF2-40B4-BE49-F238E27FC236}">
                    <a16:creationId xmlns:a16="http://schemas.microsoft.com/office/drawing/2014/main" id="{58E9ED06-AEFB-724F-A2CA-91C252F996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81419" y="1668171"/>
                <a:ext cx="1025306" cy="1136072"/>
              </a:xfrm>
              <a:prstGeom prst="rect">
                <a:avLst/>
              </a:prstGeom>
            </p:spPr>
          </p:pic>
          <p:sp>
            <p:nvSpPr>
              <p:cNvPr id="68" name="TextBox 82">
                <a:extLst>
                  <a:ext uri="{FF2B5EF4-FFF2-40B4-BE49-F238E27FC236}">
                    <a16:creationId xmlns:a16="http://schemas.microsoft.com/office/drawing/2014/main" id="{3AB1E56E-2EB3-E04E-B9CB-E593012A98E0}"/>
                  </a:ext>
                </a:extLst>
              </p:cNvPr>
              <p:cNvSpPr txBox="1"/>
              <p:nvPr/>
            </p:nvSpPr>
            <p:spPr>
              <a:xfrm>
                <a:off x="4414854" y="2460874"/>
                <a:ext cx="391594" cy="349658"/>
              </a:xfrm>
              <a:prstGeom prst="rect">
                <a:avLst/>
              </a:prstGeom>
              <a:noFill/>
            </p:spPr>
            <p:txBody>
              <a:bodyPr wrap="non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61" name="Group 70">
              <a:extLst>
                <a:ext uri="{FF2B5EF4-FFF2-40B4-BE49-F238E27FC236}">
                  <a16:creationId xmlns:a16="http://schemas.microsoft.com/office/drawing/2014/main" id="{27451577-7979-3243-86DF-9565F6850C0E}"/>
                </a:ext>
              </a:extLst>
            </p:cNvPr>
            <p:cNvGrpSpPr/>
            <p:nvPr/>
          </p:nvGrpSpPr>
          <p:grpSpPr>
            <a:xfrm>
              <a:off x="2812955" y="3235919"/>
              <a:ext cx="461195" cy="728357"/>
              <a:chOff x="4081419" y="1668171"/>
              <a:chExt cx="1025306" cy="1142361"/>
            </a:xfrm>
          </p:grpSpPr>
          <p:pic>
            <p:nvPicPr>
              <p:cNvPr id="65" name="Picture 71">
                <a:extLst>
                  <a:ext uri="{FF2B5EF4-FFF2-40B4-BE49-F238E27FC236}">
                    <a16:creationId xmlns:a16="http://schemas.microsoft.com/office/drawing/2014/main" id="{DFACF16D-C3B1-2849-B798-02883328B3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81419" y="1668171"/>
                <a:ext cx="1025306" cy="1136073"/>
              </a:xfrm>
              <a:prstGeom prst="rect">
                <a:avLst/>
              </a:prstGeom>
            </p:spPr>
          </p:pic>
          <p:sp>
            <p:nvSpPr>
              <p:cNvPr id="66" name="TextBox 82">
                <a:extLst>
                  <a:ext uri="{FF2B5EF4-FFF2-40B4-BE49-F238E27FC236}">
                    <a16:creationId xmlns:a16="http://schemas.microsoft.com/office/drawing/2014/main" id="{33C17B67-F059-2F49-95C2-05ED95BC0D0F}"/>
                  </a:ext>
                </a:extLst>
              </p:cNvPr>
              <p:cNvSpPr txBox="1"/>
              <p:nvPr/>
            </p:nvSpPr>
            <p:spPr>
              <a:xfrm>
                <a:off x="4414854" y="2460874"/>
                <a:ext cx="391594" cy="349658"/>
              </a:xfrm>
              <a:prstGeom prst="rect">
                <a:avLst/>
              </a:prstGeom>
              <a:noFill/>
            </p:spPr>
            <p:txBody>
              <a:bodyPr wrap="non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62" name="Group 70">
              <a:extLst>
                <a:ext uri="{FF2B5EF4-FFF2-40B4-BE49-F238E27FC236}">
                  <a16:creationId xmlns:a16="http://schemas.microsoft.com/office/drawing/2014/main" id="{7E2E78EE-2BD5-4142-B5D0-D7A91A263A71}"/>
                </a:ext>
              </a:extLst>
            </p:cNvPr>
            <p:cNvGrpSpPr/>
            <p:nvPr/>
          </p:nvGrpSpPr>
          <p:grpSpPr>
            <a:xfrm>
              <a:off x="3403343" y="3235919"/>
              <a:ext cx="461195" cy="728357"/>
              <a:chOff x="4081419" y="1668171"/>
              <a:chExt cx="1025306" cy="1142361"/>
            </a:xfrm>
          </p:grpSpPr>
          <p:pic>
            <p:nvPicPr>
              <p:cNvPr id="63" name="Picture 71">
                <a:extLst>
                  <a:ext uri="{FF2B5EF4-FFF2-40B4-BE49-F238E27FC236}">
                    <a16:creationId xmlns:a16="http://schemas.microsoft.com/office/drawing/2014/main" id="{F7BB2099-A9B0-C44F-A19F-95427740ED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81419" y="1668171"/>
                <a:ext cx="1025306" cy="1136072"/>
              </a:xfrm>
              <a:prstGeom prst="rect">
                <a:avLst/>
              </a:prstGeom>
            </p:spPr>
          </p:pic>
          <p:sp>
            <p:nvSpPr>
              <p:cNvPr id="64" name="TextBox 82">
                <a:extLst>
                  <a:ext uri="{FF2B5EF4-FFF2-40B4-BE49-F238E27FC236}">
                    <a16:creationId xmlns:a16="http://schemas.microsoft.com/office/drawing/2014/main" id="{F58DA331-D69C-494D-8EE1-30C1C6C6D087}"/>
                  </a:ext>
                </a:extLst>
              </p:cNvPr>
              <p:cNvSpPr txBox="1"/>
              <p:nvPr/>
            </p:nvSpPr>
            <p:spPr>
              <a:xfrm>
                <a:off x="4414854" y="2460874"/>
                <a:ext cx="391594" cy="349658"/>
              </a:xfrm>
              <a:prstGeom prst="rect">
                <a:avLst/>
              </a:prstGeom>
              <a:noFill/>
            </p:spPr>
            <p:txBody>
              <a:bodyPr wrap="non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sp>
        <p:nvSpPr>
          <p:cNvPr id="69" name="Content Placeholder 2">
            <a:extLst>
              <a:ext uri="{FF2B5EF4-FFF2-40B4-BE49-F238E27FC236}">
                <a16:creationId xmlns:a16="http://schemas.microsoft.com/office/drawing/2014/main" id="{70C5BE79-394C-6D41-B8F3-DB589AF932FC}"/>
              </a:ext>
            </a:extLst>
          </p:cNvPr>
          <p:cNvSpPr txBox="1">
            <a:spLocks/>
          </p:cNvSpPr>
          <p:nvPr/>
        </p:nvSpPr>
        <p:spPr>
          <a:xfrm>
            <a:off x="371387" y="1027361"/>
            <a:ext cx="11024915" cy="11281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Wingdings" pitchFamily="2" charset="2"/>
              <a:buChar char="p"/>
              <a:tabLst/>
              <a:defRPr/>
            </a:pPr>
            <a:r>
              <a:rPr kumimoji="0" lang="en-US" altLang="zh-CN" sz="2400" b="1" i="0" u="none" strike="noStrike" kern="1200" cap="none" spc="0" normalizeH="0" baseline="0" noProof="0" dirty="0">
                <a:ln>
                  <a:noFill/>
                </a:ln>
                <a:solidFill>
                  <a:sysClr val="windowText" lastClr="000000"/>
                </a:solidFill>
                <a:effectLst/>
                <a:uLnTx/>
                <a:uFillTx/>
                <a:latin typeface="Microsoft YaHei" panose="020B0503020204020204" pitchFamily="34" charset="-122"/>
                <a:ea typeface="Microsoft YaHei" panose="020B0503020204020204" pitchFamily="34" charset="-122"/>
                <a:cs typeface="Arial" panose="020B0604020202020204" pitchFamily="34" charset="0"/>
              </a:rPr>
              <a:t> </a:t>
            </a:r>
            <a:r>
              <a:rPr kumimoji="0" lang="zh-CN" altLang="en-US" sz="2400" b="1" i="0" u="none" strike="noStrike" kern="1200" cap="none" spc="0" normalizeH="0" baseline="0" noProof="0" dirty="0">
                <a:ln>
                  <a:noFill/>
                </a:ln>
                <a:solidFill>
                  <a:sysClr val="windowText" lastClr="000000"/>
                </a:solidFill>
                <a:effectLst/>
                <a:uLnTx/>
                <a:uFillTx/>
                <a:latin typeface="Microsoft YaHei" panose="020B0503020204020204" pitchFamily="34" charset="-122"/>
                <a:ea typeface="Microsoft YaHei" panose="020B0503020204020204" pitchFamily="34" charset="-122"/>
                <a:cs typeface="Arial" panose="020B0604020202020204" pitchFamily="34" charset="0"/>
              </a:rPr>
              <a:t>传统数据库上云，面临诸多挑战</a:t>
            </a:r>
            <a:endParaRPr kumimoji="0" lang="en-US" altLang="zh-CN" sz="2400" b="1" i="0" u="none" strike="noStrike" kern="1200" cap="none" spc="0" normalizeH="0" baseline="0" noProof="0" dirty="0">
              <a:ln>
                <a:noFill/>
              </a:ln>
              <a:solidFill>
                <a:sysClr val="windowText" lastClr="000000"/>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a:p>
            <a:pPr marL="228600" marR="0" lvl="0" indent="-228600" algn="l" defTabSz="914400" rtl="0" eaLnBrk="1" fontAlgn="auto" latinLnBrk="0" hangingPunct="1">
              <a:lnSpc>
                <a:spcPct val="90000"/>
              </a:lnSpc>
              <a:spcBef>
                <a:spcPts val="1000"/>
              </a:spcBef>
              <a:spcAft>
                <a:spcPts val="0"/>
              </a:spcAft>
              <a:buClrTx/>
              <a:buSzTx/>
              <a:buFont typeface="Wingdings" pitchFamily="2" charset="2"/>
              <a:buChar char="p"/>
              <a:tabLst/>
              <a:defRPr/>
            </a:pPr>
            <a:endParaRPr kumimoji="0" lang="en-US" altLang="zh-CN" sz="2400" b="1" i="0" u="none" strike="noStrike" kern="1200" cap="none" spc="0" normalizeH="0" baseline="0" noProof="0" dirty="0">
              <a:ln>
                <a:noFill/>
              </a:ln>
              <a:solidFill>
                <a:sysClr val="windowText" lastClr="000000"/>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70" name="Content Placeholder 2">
            <a:extLst>
              <a:ext uri="{FF2B5EF4-FFF2-40B4-BE49-F238E27FC236}">
                <a16:creationId xmlns:a16="http://schemas.microsoft.com/office/drawing/2014/main" id="{B6248D44-16F5-0649-A6CC-B49E17B8D87B}"/>
              </a:ext>
            </a:extLst>
          </p:cNvPr>
          <p:cNvSpPr txBox="1">
            <a:spLocks/>
          </p:cNvSpPr>
          <p:nvPr/>
        </p:nvSpPr>
        <p:spPr>
          <a:xfrm>
            <a:off x="371387" y="4193974"/>
            <a:ext cx="11024915" cy="11281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Wingdings" pitchFamily="2" charset="2"/>
              <a:buChar char="p"/>
              <a:tabLst/>
              <a:defRPr/>
            </a:pPr>
            <a:r>
              <a:rPr kumimoji="0" lang="en-US" altLang="zh-CN" sz="2400" b="1"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Arial" panose="020B0604020202020204" pitchFamily="34" charset="0"/>
              </a:rPr>
              <a:t> AI</a:t>
            </a:r>
            <a:r>
              <a:rPr kumimoji="0" lang="zh-CN" altLang="en-US" sz="2400" b="1"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Arial" panose="020B0604020202020204" pitchFamily="34" charset="0"/>
              </a:rPr>
              <a:t>在数据、算法、新硬件的驱动下取得突破进展</a:t>
            </a:r>
            <a:endParaRPr kumimoji="0" lang="en-US" altLang="zh-CN" sz="2400" b="1"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71" name="文本框 70">
            <a:extLst>
              <a:ext uri="{FF2B5EF4-FFF2-40B4-BE49-F238E27FC236}">
                <a16:creationId xmlns:a16="http://schemas.microsoft.com/office/drawing/2014/main" id="{47271E33-CC5E-1646-BFF5-6093B1E746B9}"/>
              </a:ext>
            </a:extLst>
          </p:cNvPr>
          <p:cNvSpPr txBox="1"/>
          <p:nvPr/>
        </p:nvSpPr>
        <p:spPr>
          <a:xfrm>
            <a:off x="983881" y="6208754"/>
            <a:ext cx="3005951" cy="430887"/>
          </a:xfrm>
          <a:prstGeom prst="rect">
            <a:avLst/>
          </a:prstGeom>
          <a:noFill/>
        </p:spPr>
        <p:txBody>
          <a:bodyPr vert="horz" wrap="none" rtlCol="0">
            <a:spAutoFit/>
          </a:bodyPr>
          <a:lstStyle/>
          <a:p>
            <a:pPr marL="0" marR="0" lvl="0" indent="0" algn="ctr" defTabSz="1218049" rtl="0" eaLnBrk="1" fontAlgn="auto" latinLnBrk="0" hangingPunct="1">
              <a:lnSpc>
                <a:spcPct val="100000"/>
              </a:lnSpc>
              <a:spcBef>
                <a:spcPts val="0"/>
              </a:spcBef>
              <a:spcAft>
                <a:spcPts val="0"/>
              </a:spcAft>
              <a:buClrTx/>
              <a:buSzTx/>
              <a:buFontTx/>
              <a:buNone/>
              <a:tabLst/>
              <a:defRPr/>
            </a:pPr>
            <a:r>
              <a:rPr kumimoji="0" lang="zh-CN" altLang="en-US" sz="22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训练数据管理，提效率</a:t>
            </a:r>
          </a:p>
        </p:txBody>
      </p:sp>
      <p:sp>
        <p:nvSpPr>
          <p:cNvPr id="72" name="文本框 71">
            <a:extLst>
              <a:ext uri="{FF2B5EF4-FFF2-40B4-BE49-F238E27FC236}">
                <a16:creationId xmlns:a16="http://schemas.microsoft.com/office/drawing/2014/main" id="{2CAF64BB-9AE0-754E-A06A-6AC4DE9395F9}"/>
              </a:ext>
            </a:extLst>
          </p:cNvPr>
          <p:cNvSpPr txBox="1"/>
          <p:nvPr/>
        </p:nvSpPr>
        <p:spPr>
          <a:xfrm>
            <a:off x="4594047" y="6220306"/>
            <a:ext cx="3570208" cy="430887"/>
          </a:xfrm>
          <a:prstGeom prst="rect">
            <a:avLst/>
          </a:prstGeom>
          <a:noFill/>
        </p:spPr>
        <p:txBody>
          <a:bodyPr vert="horz" wrap="none" rtlCol="0">
            <a:spAutoFit/>
          </a:bodyPr>
          <a:lstStyle/>
          <a:p>
            <a:pPr marL="0" marR="0" lvl="0" indent="0" algn="ctr" defTabSz="1218049" rtl="0" eaLnBrk="1" fontAlgn="auto" latinLnBrk="0" hangingPunct="1">
              <a:lnSpc>
                <a:spcPct val="100000"/>
              </a:lnSpc>
              <a:spcBef>
                <a:spcPts val="0"/>
              </a:spcBef>
              <a:spcAft>
                <a:spcPts val="0"/>
              </a:spcAft>
              <a:buClrTx/>
              <a:buSzTx/>
              <a:buFontTx/>
              <a:buNone/>
              <a:tabLst/>
              <a:defRPr/>
            </a:pPr>
            <a:r>
              <a:rPr kumimoji="0" lang="zh-CN" altLang="en-US" sz="22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多种机器学习算法，库原生</a:t>
            </a:r>
          </a:p>
        </p:txBody>
      </p:sp>
      <p:sp>
        <p:nvSpPr>
          <p:cNvPr id="73" name="文本框 72">
            <a:extLst>
              <a:ext uri="{FF2B5EF4-FFF2-40B4-BE49-F238E27FC236}">
                <a16:creationId xmlns:a16="http://schemas.microsoft.com/office/drawing/2014/main" id="{44BCF39C-CF8E-2543-8C0F-CBA66A439CA8}"/>
              </a:ext>
            </a:extLst>
          </p:cNvPr>
          <p:cNvSpPr txBox="1"/>
          <p:nvPr/>
        </p:nvSpPr>
        <p:spPr>
          <a:xfrm>
            <a:off x="8882240" y="6220306"/>
            <a:ext cx="2723823" cy="430887"/>
          </a:xfrm>
          <a:prstGeom prst="rect">
            <a:avLst/>
          </a:prstGeom>
          <a:noFill/>
        </p:spPr>
        <p:txBody>
          <a:bodyPr vert="horz" wrap="none" rtlCol="0">
            <a:spAutoFit/>
          </a:bodyPr>
          <a:lstStyle/>
          <a:p>
            <a:pPr marL="0" marR="0" lvl="0" indent="0" algn="ctr" defTabSz="1218049" rtl="0" eaLnBrk="1" fontAlgn="auto" latinLnBrk="0" hangingPunct="1">
              <a:lnSpc>
                <a:spcPct val="100000"/>
              </a:lnSpc>
              <a:spcBef>
                <a:spcPts val="0"/>
              </a:spcBef>
              <a:spcAft>
                <a:spcPts val="0"/>
              </a:spcAft>
              <a:buClrTx/>
              <a:buSzTx/>
              <a:buFontTx/>
              <a:buNone/>
              <a:tabLst/>
              <a:defRPr/>
            </a:pPr>
            <a:r>
              <a:rPr kumimoji="0" lang="zh-CN" altLang="en-US" sz="22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异构硬件，加速执行</a:t>
            </a:r>
          </a:p>
        </p:txBody>
      </p:sp>
      <p:sp>
        <p:nvSpPr>
          <p:cNvPr id="74" name="Rounded Rectangle 56">
            <a:extLst>
              <a:ext uri="{FF2B5EF4-FFF2-40B4-BE49-F238E27FC236}">
                <a16:creationId xmlns:a16="http://schemas.microsoft.com/office/drawing/2014/main" id="{3614EEC6-79A4-9648-84F6-B7EBF50FAE89}"/>
              </a:ext>
            </a:extLst>
          </p:cNvPr>
          <p:cNvSpPr/>
          <p:nvPr/>
        </p:nvSpPr>
        <p:spPr bwMode="auto">
          <a:xfrm>
            <a:off x="1064550" y="5074331"/>
            <a:ext cx="797752" cy="368687"/>
          </a:xfrm>
          <a:prstGeom prst="roundRect">
            <a:avLst>
              <a:gd name="adj" fmla="val 5791"/>
            </a:avLst>
          </a:prstGeom>
          <a:noFill/>
          <a:ln w="19050">
            <a:solidFill>
              <a:schemeClr val="tx1"/>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
                <a:srgbClr val="CC9900"/>
              </a:buClr>
              <a:buSzTx/>
              <a:buFontTx/>
              <a:buNone/>
              <a:tabLst/>
              <a:defRPr/>
            </a:pPr>
            <a:r>
              <a:rPr kumimoji="0" lang="en-US" altLang="zh-CN"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TPCH</a:t>
            </a:r>
            <a:endParaRPr kumimoji="0" lang="en-US"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75" name="Rounded Rectangle 56">
            <a:extLst>
              <a:ext uri="{FF2B5EF4-FFF2-40B4-BE49-F238E27FC236}">
                <a16:creationId xmlns:a16="http://schemas.microsoft.com/office/drawing/2014/main" id="{CE9C8C63-B4DC-D94C-8A7E-4F3E4CECD7AB}"/>
              </a:ext>
            </a:extLst>
          </p:cNvPr>
          <p:cNvSpPr/>
          <p:nvPr/>
        </p:nvSpPr>
        <p:spPr bwMode="auto">
          <a:xfrm>
            <a:off x="1938188" y="5064387"/>
            <a:ext cx="891686" cy="368687"/>
          </a:xfrm>
          <a:prstGeom prst="roundRect">
            <a:avLst>
              <a:gd name="adj" fmla="val 5791"/>
            </a:avLst>
          </a:prstGeom>
          <a:noFill/>
          <a:ln w="19050">
            <a:solidFill>
              <a:schemeClr val="tx1"/>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
                <a:srgbClr val="CC9900"/>
              </a:buClr>
              <a:buSzTx/>
              <a:buFontTx/>
              <a:buNone/>
              <a:tabLst/>
              <a:defRPr/>
            </a:pPr>
            <a:r>
              <a:rPr kumimoji="0" lang="en-US" altLang="zh-CN"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JOB</a:t>
            </a:r>
            <a:endParaRPr kumimoji="0" lang="en-US"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76" name="Rounded Rectangle 56">
            <a:extLst>
              <a:ext uri="{FF2B5EF4-FFF2-40B4-BE49-F238E27FC236}">
                <a16:creationId xmlns:a16="http://schemas.microsoft.com/office/drawing/2014/main" id="{F3B49A40-5E68-154C-A1EE-D51CEEC08C77}"/>
              </a:ext>
            </a:extLst>
          </p:cNvPr>
          <p:cNvSpPr/>
          <p:nvPr/>
        </p:nvSpPr>
        <p:spPr bwMode="auto">
          <a:xfrm>
            <a:off x="2907738" y="5073559"/>
            <a:ext cx="891686" cy="368687"/>
          </a:xfrm>
          <a:prstGeom prst="roundRect">
            <a:avLst>
              <a:gd name="adj" fmla="val 5791"/>
            </a:avLst>
          </a:prstGeom>
          <a:noFill/>
          <a:ln w="19050">
            <a:solidFill>
              <a:schemeClr val="tx1"/>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
                <a:srgbClr val="CC9900"/>
              </a:buClr>
              <a:buSzTx/>
              <a:buFontTx/>
              <a:buNone/>
              <a:tabLst/>
              <a:defRPr/>
            </a:pPr>
            <a:r>
              <a:rPr kumimoji="0" lang="en-US" altLang="zh-CN"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TPCDS</a:t>
            </a:r>
            <a:endParaRPr kumimoji="0" lang="en-US"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77" name="Rounded Rectangle 56">
            <a:extLst>
              <a:ext uri="{FF2B5EF4-FFF2-40B4-BE49-F238E27FC236}">
                <a16:creationId xmlns:a16="http://schemas.microsoft.com/office/drawing/2014/main" id="{D4A8413C-85B4-DE4E-AC6A-34F01910BDAD}"/>
              </a:ext>
            </a:extLst>
          </p:cNvPr>
          <p:cNvSpPr/>
          <p:nvPr/>
        </p:nvSpPr>
        <p:spPr bwMode="auto">
          <a:xfrm>
            <a:off x="1064550" y="5638218"/>
            <a:ext cx="797752" cy="428786"/>
          </a:xfrm>
          <a:prstGeom prst="roundRect">
            <a:avLst>
              <a:gd name="adj" fmla="val 5791"/>
            </a:avLst>
          </a:prstGeom>
          <a:noFill/>
          <a:ln w="19050">
            <a:solidFill>
              <a:schemeClr val="tx1"/>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
                <a:srgbClr val="CC9900"/>
              </a:buClr>
              <a:buSzTx/>
              <a:buFontTx/>
              <a:buNone/>
              <a:tabLst/>
              <a:defRPr/>
            </a:pPr>
            <a:r>
              <a:rPr kumimoji="0" lang="en-US" altLang="zh-CN"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TPCC</a:t>
            </a:r>
            <a:endParaRPr kumimoji="0" lang="en-US"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78" name="Rounded Rectangle 56">
            <a:extLst>
              <a:ext uri="{FF2B5EF4-FFF2-40B4-BE49-F238E27FC236}">
                <a16:creationId xmlns:a16="http://schemas.microsoft.com/office/drawing/2014/main" id="{4EEE1490-EB24-E140-B862-51EB8408054E}"/>
              </a:ext>
            </a:extLst>
          </p:cNvPr>
          <p:cNvSpPr/>
          <p:nvPr/>
        </p:nvSpPr>
        <p:spPr bwMode="auto">
          <a:xfrm>
            <a:off x="1938188" y="5640331"/>
            <a:ext cx="891686" cy="428786"/>
          </a:xfrm>
          <a:prstGeom prst="roundRect">
            <a:avLst>
              <a:gd name="adj" fmla="val 5791"/>
            </a:avLst>
          </a:prstGeom>
          <a:noFill/>
          <a:ln w="19050">
            <a:solidFill>
              <a:schemeClr val="tx1"/>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
                <a:srgbClr val="CC9900"/>
              </a:buClr>
              <a:buSzTx/>
              <a:buFontTx/>
              <a:buNone/>
              <a:tabLst/>
              <a:defRPr/>
            </a:pPr>
            <a:endParaRPr kumimoji="0" lang="en-US"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79" name="Rounded Rectangle 56">
            <a:extLst>
              <a:ext uri="{FF2B5EF4-FFF2-40B4-BE49-F238E27FC236}">
                <a16:creationId xmlns:a16="http://schemas.microsoft.com/office/drawing/2014/main" id="{BFECB7E3-F2D9-AB4A-BEC7-E9612D6ABE3C}"/>
              </a:ext>
            </a:extLst>
          </p:cNvPr>
          <p:cNvSpPr/>
          <p:nvPr/>
        </p:nvSpPr>
        <p:spPr bwMode="auto">
          <a:xfrm>
            <a:off x="2907738" y="5649503"/>
            <a:ext cx="891686" cy="428786"/>
          </a:xfrm>
          <a:prstGeom prst="roundRect">
            <a:avLst>
              <a:gd name="adj" fmla="val 5791"/>
            </a:avLst>
          </a:prstGeom>
          <a:solidFill>
            <a:schemeClr val="bg1">
              <a:lumMod val="95000"/>
            </a:schemeClr>
          </a:solidFill>
          <a:ln w="19050">
            <a:solidFill>
              <a:schemeClr val="tx1"/>
            </a:solidFill>
            <a:prstDash val="dash"/>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
                <a:srgbClr val="CC9900"/>
              </a:buClr>
              <a:buSzTx/>
              <a:buFontTx/>
              <a:buNone/>
              <a:tabLst/>
              <a:defRPr/>
            </a:pPr>
            <a:endParaRPr kumimoji="0" lang="en-US"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80" name="矩形 79">
            <a:extLst>
              <a:ext uri="{FF2B5EF4-FFF2-40B4-BE49-F238E27FC236}">
                <a16:creationId xmlns:a16="http://schemas.microsoft.com/office/drawing/2014/main" id="{6567828C-CFE2-CA4A-9349-F4EB24BD8E36}"/>
              </a:ext>
            </a:extLst>
          </p:cNvPr>
          <p:cNvSpPr/>
          <p:nvPr/>
        </p:nvSpPr>
        <p:spPr>
          <a:xfrm>
            <a:off x="1886410" y="5712777"/>
            <a:ext cx="998316" cy="276999"/>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
                <a:srgbClr val="CC9900"/>
              </a:buClr>
              <a:buSzTx/>
              <a:buFontTx/>
              <a:buNone/>
              <a:tabLst/>
              <a:defRPr/>
            </a:pPr>
            <a:r>
              <a:rPr kumimoji="0" lang="en-US" altLang="zh-CN" sz="1200" b="1" i="0" u="none" strike="noStrike" kern="1200" cap="none" spc="0" normalizeH="0" baseline="0" noProof="0" dirty="0" err="1">
                <a:ln>
                  <a:noFill/>
                </a:ln>
                <a:solidFill>
                  <a:srgbClr val="1D1D1A"/>
                </a:solidFill>
                <a:effectLst/>
                <a:uLnTx/>
                <a:uFillTx/>
                <a:latin typeface="微软雅黑" panose="020B0503020204020204" pitchFamily="34" charset="-122"/>
                <a:ea typeface="微软雅黑" panose="020B0503020204020204" pitchFamily="34" charset="-122"/>
                <a:cs typeface="+mn-cs"/>
              </a:rPr>
              <a:t>Sysbench</a:t>
            </a:r>
            <a:endPar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81" name="矩形 80">
            <a:extLst>
              <a:ext uri="{FF2B5EF4-FFF2-40B4-BE49-F238E27FC236}">
                <a16:creationId xmlns:a16="http://schemas.microsoft.com/office/drawing/2014/main" id="{764F8EE4-62DC-AB42-BC73-761D2F2B2D1B}"/>
              </a:ext>
            </a:extLst>
          </p:cNvPr>
          <p:cNvSpPr/>
          <p:nvPr/>
        </p:nvSpPr>
        <p:spPr>
          <a:xfrm>
            <a:off x="2823730" y="5711122"/>
            <a:ext cx="1034538" cy="276999"/>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
                <a:srgbClr val="CC9900"/>
              </a:buClr>
              <a:buSzTx/>
              <a:buFontTx/>
              <a:buNone/>
              <a:tabLst/>
              <a:defRPr/>
            </a:pPr>
            <a:r>
              <a:rPr kumimoji="0" lang="en-US" altLang="zh-CN" sz="1200" b="1" i="0" u="none" strike="noStrike" kern="1200" cap="none" spc="0" normalizeH="0" baseline="0" noProof="0" dirty="0" err="1">
                <a:ln>
                  <a:noFill/>
                </a:ln>
                <a:solidFill>
                  <a:srgbClr val="1D1D1A"/>
                </a:solidFill>
                <a:effectLst/>
                <a:uLnTx/>
                <a:uFillTx/>
                <a:latin typeface="微软雅黑" panose="020B0503020204020204" pitchFamily="34" charset="-122"/>
                <a:ea typeface="微软雅黑" panose="020B0503020204020204" pitchFamily="34" charset="-122"/>
                <a:cs typeface="+mn-cs"/>
              </a:rPr>
              <a:t>SQLSmith</a:t>
            </a:r>
            <a:endPar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pic>
        <p:nvPicPr>
          <p:cNvPr id="82" name="Picture 4" descr="Figure 1. Three broad categories of machine learning: unsupervised learning, supervised learning and reinforcement learning">
            <a:extLst>
              <a:ext uri="{FF2B5EF4-FFF2-40B4-BE49-F238E27FC236}">
                <a16:creationId xmlns:a16="http://schemas.microsoft.com/office/drawing/2014/main" id="{F4A742C2-5DC5-DA44-8CBA-4B1C31091A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9772" y="4632665"/>
            <a:ext cx="2903074" cy="1473209"/>
          </a:xfrm>
          <a:prstGeom prst="rect">
            <a:avLst/>
          </a:prstGeom>
          <a:noFill/>
          <a:extLst>
            <a:ext uri="{909E8E84-426E-40DD-AFC4-6F175D3DCCD1}">
              <a14:hiddenFill xmlns:a14="http://schemas.microsoft.com/office/drawing/2010/main">
                <a:solidFill>
                  <a:srgbClr val="FFFFFF"/>
                </a:solidFill>
              </a14:hiddenFill>
            </a:ext>
          </a:extLst>
        </p:spPr>
      </p:pic>
      <p:pic>
        <p:nvPicPr>
          <p:cNvPr id="83" name="图片 82" descr="CPU vs GPU: What Are the Differences?">
            <a:extLst>
              <a:ext uri="{FF2B5EF4-FFF2-40B4-BE49-F238E27FC236}">
                <a16:creationId xmlns:a16="http://schemas.microsoft.com/office/drawing/2014/main" id="{84A16AFA-422C-7F4D-8705-3F620599D6EF}"/>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10000" b="90000" l="10000" r="90000">
                        <a14:foregroundMark x1="23569" y1="25821" x2="39057" y2="57768"/>
                        <a14:foregroundMark x1="20988" y1="50328" x2="35241" y2="57987"/>
                        <a14:foregroundMark x1="35241" y1="57987" x2="38047" y2="64333"/>
                        <a14:foregroundMark x1="38047" y1="64333" x2="38159" y2="64989"/>
                        <a14:foregroundMark x1="27497" y1="81400" x2="27497" y2="81400"/>
                        <a14:foregroundMark x1="27497" y1="81400" x2="27497" y2="81400"/>
                        <a14:foregroundMark x1="27048" y1="80744" x2="27048" y2="80744"/>
                        <a14:foregroundMark x1="56566" y1="30197" x2="73850" y2="49234"/>
                      </a14:backgroundRemoval>
                    </a14:imgEffect>
                  </a14:imgLayer>
                </a14:imgProps>
              </a:ext>
              <a:ext uri="{28A0092B-C50C-407E-A947-70E740481C1C}">
                <a14:useLocalDpi xmlns:a14="http://schemas.microsoft.com/office/drawing/2010/main" val="0"/>
              </a:ext>
            </a:extLst>
          </a:blip>
          <a:srcRect l="53363" t="16839" r="20982" b="30379"/>
          <a:stretch/>
        </p:blipFill>
        <p:spPr bwMode="auto">
          <a:xfrm>
            <a:off x="10071165" y="4743877"/>
            <a:ext cx="1396095" cy="1473210"/>
          </a:xfrm>
          <a:prstGeom prst="rect">
            <a:avLst/>
          </a:prstGeom>
          <a:noFill/>
          <a:extLst>
            <a:ext uri="{909E8E84-426E-40DD-AFC4-6F175D3DCCD1}">
              <a14:hiddenFill xmlns:a14="http://schemas.microsoft.com/office/drawing/2010/main">
                <a:solidFill>
                  <a:srgbClr val="FFFFFF"/>
                </a:solidFill>
              </a14:hiddenFill>
            </a:ext>
          </a:extLst>
        </p:spPr>
      </p:pic>
      <p:pic>
        <p:nvPicPr>
          <p:cNvPr id="84" name="图片 83" descr="CPU vs GPU: What Are the Differences?">
            <a:extLst>
              <a:ext uri="{FF2B5EF4-FFF2-40B4-BE49-F238E27FC236}">
                <a16:creationId xmlns:a16="http://schemas.microsoft.com/office/drawing/2014/main" id="{2CEC4D32-0119-954C-8358-C3CEFE331BE0}"/>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10000" b="90000" l="10000" r="90000">
                        <a14:foregroundMark x1="23569" y1="25821" x2="39057" y2="57768"/>
                        <a14:foregroundMark x1="20988" y1="50328" x2="35241" y2="57987"/>
                        <a14:foregroundMark x1="35241" y1="57987" x2="38047" y2="64333"/>
                        <a14:foregroundMark x1="38047" y1="64333" x2="38159" y2="64989"/>
                        <a14:foregroundMark x1="27497" y1="81400" x2="27497" y2="81400"/>
                        <a14:foregroundMark x1="27497" y1="81400" x2="27497" y2="81400"/>
                        <a14:foregroundMark x1="27048" y1="80744" x2="27048" y2="80744"/>
                        <a14:foregroundMark x1="56566" y1="30197" x2="73850" y2="49234"/>
                      </a14:backgroundRemoval>
                    </a14:imgEffect>
                  </a14:imgLayer>
                </a14:imgProps>
              </a:ext>
              <a:ext uri="{28A0092B-C50C-407E-A947-70E740481C1C}">
                <a14:useLocalDpi xmlns:a14="http://schemas.microsoft.com/office/drawing/2010/main" val="0"/>
              </a:ext>
            </a:extLst>
          </a:blip>
          <a:srcRect l="20667" t="20117" r="59886" b="29883"/>
          <a:stretch/>
        </p:blipFill>
        <p:spPr bwMode="auto">
          <a:xfrm>
            <a:off x="8840666" y="4821127"/>
            <a:ext cx="1058579" cy="1395960"/>
          </a:xfrm>
          <a:prstGeom prst="rect">
            <a:avLst/>
          </a:prstGeom>
          <a:noFill/>
          <a:extLst>
            <a:ext uri="{909E8E84-426E-40DD-AFC4-6F175D3DCCD1}">
              <a14:hiddenFill xmlns:a14="http://schemas.microsoft.com/office/drawing/2010/main">
                <a:solidFill>
                  <a:srgbClr val="FFFFFF"/>
                </a:solidFill>
              </a14:hiddenFill>
            </a:ext>
          </a:extLst>
        </p:spPr>
      </p:pic>
      <p:sp>
        <p:nvSpPr>
          <p:cNvPr id="85" name="矩形 84">
            <a:extLst>
              <a:ext uri="{FF2B5EF4-FFF2-40B4-BE49-F238E27FC236}">
                <a16:creationId xmlns:a16="http://schemas.microsoft.com/office/drawing/2014/main" id="{3E3314F2-1083-8C4E-AFF5-1822DD7FD641}"/>
              </a:ext>
            </a:extLst>
          </p:cNvPr>
          <p:cNvSpPr/>
          <p:nvPr/>
        </p:nvSpPr>
        <p:spPr>
          <a:xfrm>
            <a:off x="9056973" y="4521461"/>
            <a:ext cx="67197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1D4C9E"/>
                </a:solidFill>
                <a:effectLst/>
                <a:uLnTx/>
                <a:uFillTx/>
                <a:latin typeface="Arial" panose="020B0604020202020204" pitchFamily="34" charset="0"/>
                <a:ea typeface="等线" panose="02010600030101010101" pitchFamily="2" charset="-122"/>
                <a:cs typeface="Arial" panose="020B0604020202020204" pitchFamily="34" charset="0"/>
              </a:rPr>
              <a:t>CPU</a:t>
            </a:r>
            <a:endParaRPr kumimoji="0" lang="zh-CN" altLang="en-US" sz="1800" b="0" i="0" u="none" strike="noStrike" kern="1200" cap="none" spc="0" normalizeH="0" baseline="0" noProof="0" dirty="0">
              <a:ln>
                <a:noFill/>
              </a:ln>
              <a:solidFill>
                <a:srgbClr val="1D4C9E"/>
              </a:solidFill>
              <a:effectLst/>
              <a:uLnTx/>
              <a:uFillTx/>
              <a:latin typeface="等线" panose="020F0502020204030204"/>
              <a:ea typeface="等线" panose="02010600030101010101" pitchFamily="2" charset="-122"/>
              <a:cs typeface="+mn-cs"/>
            </a:endParaRPr>
          </a:p>
        </p:txBody>
      </p:sp>
      <p:sp>
        <p:nvSpPr>
          <p:cNvPr id="86" name="矩形 85">
            <a:extLst>
              <a:ext uri="{FF2B5EF4-FFF2-40B4-BE49-F238E27FC236}">
                <a16:creationId xmlns:a16="http://schemas.microsoft.com/office/drawing/2014/main" id="{61369FB7-2C2C-5F43-9AB2-EBE103483582}"/>
              </a:ext>
            </a:extLst>
          </p:cNvPr>
          <p:cNvSpPr/>
          <p:nvPr/>
        </p:nvSpPr>
        <p:spPr>
          <a:xfrm>
            <a:off x="10437752" y="4495655"/>
            <a:ext cx="68480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1D4C9E"/>
                </a:solidFill>
                <a:effectLst/>
                <a:uLnTx/>
                <a:uFillTx/>
                <a:latin typeface="Arial" panose="020B0604020202020204" pitchFamily="34" charset="0"/>
                <a:ea typeface="等线" panose="02010600030101010101" pitchFamily="2" charset="-122"/>
                <a:cs typeface="Arial" panose="020B0604020202020204" pitchFamily="34" charset="0"/>
              </a:rPr>
              <a:t>GPU</a:t>
            </a:r>
            <a:endParaRPr kumimoji="0" lang="zh-CN" altLang="en-US" sz="1800" b="0" i="0" u="none" strike="noStrike" kern="1200" cap="none" spc="0" normalizeH="0" baseline="0" noProof="0" dirty="0">
              <a:ln>
                <a:noFill/>
              </a:ln>
              <a:solidFill>
                <a:srgbClr val="1D4C9E"/>
              </a:solidFill>
              <a:effectLst/>
              <a:uLnTx/>
              <a:uFillTx/>
              <a:latin typeface="等线" panose="020F0502020204030204"/>
              <a:ea typeface="等线" panose="02010600030101010101" pitchFamily="2" charset="-122"/>
              <a:cs typeface="+mn-cs"/>
            </a:endParaRPr>
          </a:p>
        </p:txBody>
      </p:sp>
      <p:graphicFrame>
        <p:nvGraphicFramePr>
          <p:cNvPr id="87" name="图表 86" descr="7b0a202020202263686172745265734964223a202234353236383334220a7d0a">
            <a:extLst>
              <a:ext uri="{FF2B5EF4-FFF2-40B4-BE49-F238E27FC236}">
                <a16:creationId xmlns:a16="http://schemas.microsoft.com/office/drawing/2014/main" id="{B85C1EBC-C19E-1B49-82AB-758FB1661731}"/>
              </a:ext>
            </a:extLst>
          </p:cNvPr>
          <p:cNvGraphicFramePr/>
          <p:nvPr/>
        </p:nvGraphicFramePr>
        <p:xfrm>
          <a:off x="7110157" y="810980"/>
          <a:ext cx="5336039" cy="2510312"/>
        </p:xfrm>
        <a:graphic>
          <a:graphicData uri="http://schemas.openxmlformats.org/drawingml/2006/chart">
            <c:chart xmlns:c="http://schemas.openxmlformats.org/drawingml/2006/chart" xmlns:r="http://schemas.openxmlformats.org/officeDocument/2006/relationships" r:id="rId7"/>
          </a:graphicData>
        </a:graphic>
      </p:graphicFrame>
      <p:sp>
        <p:nvSpPr>
          <p:cNvPr id="88" name="文本框 87">
            <a:extLst>
              <a:ext uri="{FF2B5EF4-FFF2-40B4-BE49-F238E27FC236}">
                <a16:creationId xmlns:a16="http://schemas.microsoft.com/office/drawing/2014/main" id="{EC6AF928-5025-9946-A06A-33636E00661E}"/>
              </a:ext>
            </a:extLst>
          </p:cNvPr>
          <p:cNvSpPr txBox="1"/>
          <p:nvPr/>
        </p:nvSpPr>
        <p:spPr>
          <a:xfrm>
            <a:off x="1276285" y="3409414"/>
            <a:ext cx="2262158" cy="680507"/>
          </a:xfrm>
          <a:prstGeom prst="rect">
            <a:avLst/>
          </a:prstGeom>
          <a:noFill/>
        </p:spPr>
        <p:txBody>
          <a:bodyPr vert="horz" wrap="none" rtlCol="0">
            <a:spAutoFit/>
          </a:bodyPr>
          <a:lstStyle/>
          <a:p>
            <a:pPr marL="0" marR="0" lvl="0" indent="0" algn="ctr" defTabSz="1218049" rtl="0" eaLnBrk="1" fontAlgn="auto" latinLnBrk="0" hangingPunct="1">
              <a:lnSpc>
                <a:spcPct val="110000"/>
              </a:lnSpc>
              <a:spcBef>
                <a:spcPts val="0"/>
              </a:spcBef>
              <a:spcAft>
                <a:spcPts val="0"/>
              </a:spcAft>
              <a:buClrTx/>
              <a:buSzTx/>
              <a:buFontTx/>
              <a:buNone/>
              <a:tabLst/>
              <a:defRPr/>
            </a:pPr>
            <a:r>
              <a:rPr lang="zh-CN" altLang="en-US" dirty="0">
                <a:solidFill>
                  <a:prstClr val="black"/>
                </a:solidFill>
                <a:latin typeface="Microsoft YaHei" panose="020B0503020204020204" pitchFamily="34" charset="-122"/>
                <a:ea typeface="Microsoft YaHei" panose="020B0503020204020204" pitchFamily="34" charset="-122"/>
              </a:rPr>
              <a:t>需要根据应用自适应</a:t>
            </a:r>
            <a:endParaRPr lang="en-US" altLang="zh-CN" dirty="0">
              <a:solidFill>
                <a:prstClr val="black"/>
              </a:solidFill>
              <a:latin typeface="Microsoft YaHei" panose="020B0503020204020204" pitchFamily="34" charset="-122"/>
              <a:ea typeface="Microsoft YaHei" panose="020B0503020204020204" pitchFamily="34" charset="-122"/>
            </a:endParaRPr>
          </a:p>
          <a:p>
            <a:pPr marL="0" marR="0" lvl="0" indent="0" algn="ctr" defTabSz="1218049" rtl="0" eaLnBrk="1" fontAlgn="auto" latinLnBrk="0" hangingPunct="1">
              <a:lnSpc>
                <a:spcPct val="110000"/>
              </a:lnSpc>
              <a:spcBef>
                <a:spcPts val="0"/>
              </a:spcBef>
              <a:spcAft>
                <a:spcPts val="0"/>
              </a:spcAft>
              <a:buClrTx/>
              <a:buSzTx/>
              <a:buFontTx/>
              <a:buNone/>
              <a:tabLst/>
              <a:defRPr/>
            </a:pPr>
            <a:r>
              <a:rPr lang="zh-CN" altLang="en-US" dirty="0">
                <a:solidFill>
                  <a:prstClr val="black"/>
                </a:solidFill>
                <a:latin typeface="Microsoft YaHei" panose="020B0503020204020204" pitchFamily="34" charset="-122"/>
                <a:ea typeface="Microsoft YaHei" panose="020B0503020204020204" pitchFamily="34" charset="-122"/>
              </a:rPr>
              <a:t>调整数据库配置</a:t>
            </a:r>
            <a:endParaRPr kumimoji="0" lang="en-US" altLang="zh-CN"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89" name="文本框 88">
            <a:extLst>
              <a:ext uri="{FF2B5EF4-FFF2-40B4-BE49-F238E27FC236}">
                <a16:creationId xmlns:a16="http://schemas.microsoft.com/office/drawing/2014/main" id="{D23F182E-D66E-7946-AE2D-86D245872E67}"/>
              </a:ext>
            </a:extLst>
          </p:cNvPr>
          <p:cNvSpPr txBox="1"/>
          <p:nvPr/>
        </p:nvSpPr>
        <p:spPr>
          <a:xfrm>
            <a:off x="4177222" y="3044049"/>
            <a:ext cx="3370090" cy="400110"/>
          </a:xfrm>
          <a:prstGeom prst="rect">
            <a:avLst/>
          </a:prstGeom>
          <a:noFill/>
        </p:spPr>
        <p:txBody>
          <a:bodyPr vert="horz" wrap="none" rtlCol="0">
            <a:spAutoFit/>
          </a:bodyPr>
          <a:lstStyle/>
          <a:p>
            <a:pPr algn="ctr" defTabSz="1218049">
              <a:defRPr/>
            </a:pPr>
            <a:r>
              <a:rPr kumimoji="0" lang="en-US" altLang="zh-CN" sz="2000" b="0" i="1"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“challenges</a:t>
            </a:r>
            <a:r>
              <a:rPr kumimoji="0" lang="zh-CN" altLang="en-US" sz="2000" b="0" i="1"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 </a:t>
            </a:r>
            <a:r>
              <a:rPr kumimoji="0" lang="en-US" altLang="zh-CN" sz="2000" b="0" i="1"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in</a:t>
            </a:r>
            <a:r>
              <a:rPr kumimoji="0" lang="zh-CN" altLang="en-US" sz="2000" b="0" i="1"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 </a:t>
            </a:r>
            <a:r>
              <a:rPr kumimoji="0" lang="en-US" altLang="zh-CN" sz="2000" b="0" i="1"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big</a:t>
            </a:r>
            <a:r>
              <a:rPr kumimoji="0" lang="zh-CN" altLang="en-US" sz="2000" b="0" i="1"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 </a:t>
            </a:r>
            <a:r>
              <a:rPr kumimoji="0" lang="en-US" altLang="zh-CN" sz="2000" b="0" i="1"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data”</a:t>
            </a:r>
            <a:endParaRPr kumimoji="0" lang="zh-CN" altLang="en-US" sz="2000" b="0" i="1"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90" name="文本框 89">
            <a:extLst>
              <a:ext uri="{FF2B5EF4-FFF2-40B4-BE49-F238E27FC236}">
                <a16:creationId xmlns:a16="http://schemas.microsoft.com/office/drawing/2014/main" id="{2222B6B1-13A9-C741-B666-00FA8D2EEABA}"/>
              </a:ext>
            </a:extLst>
          </p:cNvPr>
          <p:cNvSpPr txBox="1"/>
          <p:nvPr/>
        </p:nvSpPr>
        <p:spPr>
          <a:xfrm>
            <a:off x="4500362" y="3431531"/>
            <a:ext cx="2723823" cy="680507"/>
          </a:xfrm>
          <a:prstGeom prst="rect">
            <a:avLst/>
          </a:prstGeom>
          <a:noFill/>
        </p:spPr>
        <p:txBody>
          <a:bodyPr vert="horz" wrap="none" rtlCol="0">
            <a:spAutoFit/>
          </a:bodyPr>
          <a:lstStyle/>
          <a:p>
            <a:pPr marL="0" marR="0" lvl="0" indent="0" algn="ctr" defTabSz="1218049" rtl="0" eaLnBrk="1" fontAlgn="auto" latinLnBrk="0" hangingPunct="1">
              <a:lnSpc>
                <a:spcPct val="110000"/>
              </a:lnSpc>
              <a:spcBef>
                <a:spcPts val="0"/>
              </a:spcBef>
              <a:spcAft>
                <a:spcPts val="0"/>
              </a:spcAft>
              <a:buClrTx/>
              <a:buSzTx/>
              <a:buFontTx/>
              <a:buNone/>
              <a:tabLst/>
              <a:defRPr/>
            </a:pPr>
            <a:r>
              <a:rPr kumimoji="0" lang="zh-CN" altLang="en-US"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数据难划分</a:t>
            </a:r>
            <a:r>
              <a:rPr lang="zh-CN" altLang="en-US" dirty="0">
                <a:solidFill>
                  <a:prstClr val="black"/>
                </a:solidFill>
                <a:latin typeface="Microsoft YaHei" panose="020B0503020204020204" pitchFamily="34" charset="-122"/>
                <a:ea typeface="Microsoft YaHei" panose="020B0503020204020204" pitchFamily="34" charset="-122"/>
              </a:rPr>
              <a:t>，</a:t>
            </a:r>
            <a:r>
              <a:rPr kumimoji="0" lang="zh-CN" altLang="en-US"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查询难优化</a:t>
            </a:r>
            <a:endParaRPr kumimoji="0" lang="en-US" altLang="zh-CN"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a:p>
            <a:pPr lvl="0" algn="ctr" defTabSz="1218049">
              <a:lnSpc>
                <a:spcPct val="110000"/>
              </a:lnSpc>
              <a:defRPr/>
            </a:pPr>
            <a:r>
              <a:rPr lang="zh-CN" altLang="en-US" dirty="0">
                <a:solidFill>
                  <a:prstClr val="black"/>
                </a:solidFill>
                <a:latin typeface="Microsoft YaHei" panose="020B0503020204020204" pitchFamily="34" charset="-122"/>
                <a:ea typeface="Microsoft YaHei" panose="020B0503020204020204" pitchFamily="34" charset="-122"/>
              </a:rPr>
              <a:t>实时数仓 </a:t>
            </a:r>
            <a:r>
              <a:rPr lang="en-US" altLang="zh-CN" dirty="0">
                <a:solidFill>
                  <a:prstClr val="black"/>
                </a:solidFill>
                <a:latin typeface="Microsoft YaHei" panose="020B0503020204020204" pitchFamily="34" charset="-122"/>
                <a:ea typeface="Microsoft YaHei" panose="020B0503020204020204" pitchFamily="34" charset="-122"/>
              </a:rPr>
              <a:t>(</a:t>
            </a:r>
            <a:r>
              <a:rPr lang="zh-CN" altLang="en-US" dirty="0">
                <a:solidFill>
                  <a:prstClr val="black"/>
                </a:solidFill>
                <a:latin typeface="Microsoft YaHei" panose="020B0503020204020204" pitchFamily="34" charset="-122"/>
                <a:ea typeface="Microsoft YaHei" panose="020B0503020204020204" pitchFamily="34" charset="-122"/>
              </a:rPr>
              <a:t>速度；一致性</a:t>
            </a:r>
            <a:r>
              <a:rPr lang="en-US" altLang="zh-CN" dirty="0">
                <a:solidFill>
                  <a:prstClr val="black"/>
                </a:solidFill>
                <a:latin typeface="Microsoft YaHei" panose="020B0503020204020204" pitchFamily="34" charset="-122"/>
                <a:ea typeface="Microsoft YaHei" panose="020B0503020204020204" pitchFamily="34" charset="-122"/>
              </a:rPr>
              <a:t>)</a:t>
            </a:r>
            <a:endParaRPr kumimoji="0" lang="en-US" altLang="zh-CN"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91" name="文本框 90">
            <a:extLst>
              <a:ext uri="{FF2B5EF4-FFF2-40B4-BE49-F238E27FC236}">
                <a16:creationId xmlns:a16="http://schemas.microsoft.com/office/drawing/2014/main" id="{CC556FC8-F405-844A-A0C0-B5F4A72A230B}"/>
              </a:ext>
            </a:extLst>
          </p:cNvPr>
          <p:cNvSpPr txBox="1"/>
          <p:nvPr/>
        </p:nvSpPr>
        <p:spPr>
          <a:xfrm>
            <a:off x="7832231" y="3056307"/>
            <a:ext cx="3789307" cy="400110"/>
          </a:xfrm>
          <a:prstGeom prst="rect">
            <a:avLst/>
          </a:prstGeom>
          <a:noFill/>
        </p:spPr>
        <p:txBody>
          <a:bodyPr vert="horz" wrap="none" rtlCol="0">
            <a:spAutoFit/>
          </a:bodyPr>
          <a:lstStyle/>
          <a:p>
            <a:pPr algn="ctr" defTabSz="1218049">
              <a:defRPr/>
            </a:pPr>
            <a:r>
              <a:rPr kumimoji="0" lang="en-US" altLang="zh-CN" sz="2000" b="0" i="1"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“issues</a:t>
            </a:r>
            <a:r>
              <a:rPr kumimoji="0" lang="zh-CN" altLang="en-US" sz="2000" b="0" i="1"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 </a:t>
            </a:r>
            <a:r>
              <a:rPr kumimoji="0" lang="en-US" altLang="zh-CN" sz="2000" b="0" i="1"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in</a:t>
            </a:r>
            <a:r>
              <a:rPr kumimoji="0" lang="zh-CN" altLang="en-US" sz="2000" b="0" i="1"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 </a:t>
            </a:r>
            <a:r>
              <a:rPr kumimoji="0" lang="en-US" altLang="zh-CN" sz="2000" b="0" i="1" u="none" strike="noStrike" kern="1200" cap="none" spc="0" normalizeH="0" baseline="0" noProof="0" dirty="0" err="1">
                <a:ln>
                  <a:noFill/>
                </a:ln>
                <a:solidFill>
                  <a:prstClr val="black"/>
                </a:solidFill>
                <a:effectLst/>
                <a:uLnTx/>
                <a:uFillTx/>
                <a:latin typeface="Microsoft YaHei" panose="020B0503020204020204" pitchFamily="34" charset="-122"/>
                <a:ea typeface="Microsoft YaHei" panose="020B0503020204020204" pitchFamily="34" charset="-122"/>
              </a:rPr>
              <a:t>db</a:t>
            </a:r>
            <a:r>
              <a:rPr kumimoji="0" lang="zh-CN" altLang="en-US" sz="2000" b="0" i="1"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 </a:t>
            </a:r>
            <a:r>
              <a:rPr kumimoji="0" lang="en-US" altLang="zh-CN" sz="2000" b="0" i="1"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maintenance”</a:t>
            </a:r>
            <a:endParaRPr kumimoji="0" lang="zh-CN" altLang="en-US" sz="2000" b="0" i="1"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92" name="文本框 91">
            <a:extLst>
              <a:ext uri="{FF2B5EF4-FFF2-40B4-BE49-F238E27FC236}">
                <a16:creationId xmlns:a16="http://schemas.microsoft.com/office/drawing/2014/main" id="{AD9271AC-A711-AD48-BD98-2DA59E4B57C3}"/>
              </a:ext>
            </a:extLst>
          </p:cNvPr>
          <p:cNvSpPr txBox="1"/>
          <p:nvPr/>
        </p:nvSpPr>
        <p:spPr>
          <a:xfrm>
            <a:off x="8134152" y="3430910"/>
            <a:ext cx="3185487" cy="680507"/>
          </a:xfrm>
          <a:prstGeom prst="rect">
            <a:avLst/>
          </a:prstGeom>
          <a:noFill/>
        </p:spPr>
        <p:txBody>
          <a:bodyPr vert="horz" wrap="none" rtlCol="0">
            <a:spAutoFit/>
          </a:bodyPr>
          <a:lstStyle/>
          <a:p>
            <a:pPr marL="0" marR="0" lvl="0" indent="0" algn="ctr" defTabSz="1218049" rtl="0" eaLnBrk="1" fontAlgn="auto" latinLnBrk="0" hangingPunct="1">
              <a:lnSpc>
                <a:spcPct val="110000"/>
              </a:lnSpc>
              <a:spcBef>
                <a:spcPts val="0"/>
              </a:spcBef>
              <a:spcAft>
                <a:spcPts val="0"/>
              </a:spcAft>
              <a:buClrTx/>
              <a:buSzTx/>
              <a:buFontTx/>
              <a:buNone/>
              <a:tabLst/>
              <a:defRPr/>
            </a:pPr>
            <a:r>
              <a:rPr lang="zh-CN" altLang="en-US" dirty="0">
                <a:solidFill>
                  <a:prstClr val="black"/>
                </a:solidFill>
                <a:latin typeface="Microsoft YaHei" panose="020B0503020204020204" pitchFamily="34" charset="-122"/>
                <a:ea typeface="Microsoft YaHei" panose="020B0503020204020204" pitchFamily="34" charset="-122"/>
              </a:rPr>
              <a:t>人力或简单的运维工具</a:t>
            </a:r>
            <a:endParaRPr lang="en-US" altLang="zh-CN" dirty="0">
              <a:solidFill>
                <a:prstClr val="black"/>
              </a:solidFill>
              <a:latin typeface="Microsoft YaHei" panose="020B0503020204020204" pitchFamily="34" charset="-122"/>
              <a:ea typeface="Microsoft YaHei" panose="020B0503020204020204" pitchFamily="34" charset="-122"/>
            </a:endParaRPr>
          </a:p>
          <a:p>
            <a:pPr marL="0" marR="0" lvl="0" indent="0" algn="ctr" defTabSz="1218049" rtl="0" eaLnBrk="1" fontAlgn="auto" latinLnBrk="0" hangingPunct="1">
              <a:lnSpc>
                <a:spcPct val="110000"/>
              </a:lnSpc>
              <a:spcBef>
                <a:spcPts val="0"/>
              </a:spcBef>
              <a:spcAft>
                <a:spcPts val="0"/>
              </a:spcAft>
              <a:buClrTx/>
              <a:buSzTx/>
              <a:buFontTx/>
              <a:buNone/>
              <a:tabLst/>
              <a:defRPr/>
            </a:pPr>
            <a:r>
              <a:rPr lang="zh-CN" altLang="en-US" dirty="0">
                <a:solidFill>
                  <a:prstClr val="black"/>
                </a:solidFill>
                <a:latin typeface="Microsoft YaHei" panose="020B0503020204020204" pitchFamily="34" charset="-122"/>
                <a:ea typeface="Microsoft YaHei" panose="020B0503020204020204" pitchFamily="34" charset="-122"/>
              </a:rPr>
              <a:t>难以支撑云上庞杂的运维任务</a:t>
            </a:r>
            <a:endParaRPr kumimoji="0" lang="en-US" altLang="zh-CN"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94" name="页脚占位符 4">
            <a:extLst>
              <a:ext uri="{FF2B5EF4-FFF2-40B4-BE49-F238E27FC236}">
                <a16:creationId xmlns:a16="http://schemas.microsoft.com/office/drawing/2014/main" id="{1F69C6CF-9BA0-884C-8398-E52A71BF53A9}"/>
              </a:ext>
            </a:extLst>
          </p:cNvPr>
          <p:cNvSpPr txBox="1">
            <a:spLocks/>
          </p:cNvSpPr>
          <p:nvPr/>
        </p:nvSpPr>
        <p:spPr bwMode="auto">
          <a:xfrm>
            <a:off x="4090567" y="6548437"/>
            <a:ext cx="3852862" cy="3095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zh-CN"/>
            </a:defPPr>
            <a:lvl1pPr marL="0" algn="ctr" defTabSz="914400" rtl="0" eaLnBrk="1" latinLnBrk="0" hangingPunct="1">
              <a:defRPr sz="1200" kern="1200">
                <a:solidFill>
                  <a:schemeClr val="tx1"/>
                </a:solidFill>
                <a:latin typeface="SimHei" panose="02010609060101010101" pitchFamily="49" charset="-122"/>
                <a:ea typeface="SimHei"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数据库系统</a:t>
            </a:r>
            <a:r>
              <a:rPr kumimoji="0" lang="en-US" altLang="zh-CN" sz="1200" b="0" i="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a:t>
            </a:r>
            <a:r>
              <a:rPr kumimoji="0" lang="zh-CN" altLang="en-US" sz="1200" b="0" i="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rPr>
              <a:t>人工智能与数据库</a:t>
            </a:r>
            <a:endParaRPr kumimoji="0" lang="en-US" altLang="zh-CN" sz="1200" b="0" i="0" u="none" strike="noStrike" kern="1200" cap="none" spc="0" normalizeH="0" baseline="0" noProof="0" dirty="0">
              <a:ln>
                <a:noFill/>
              </a:ln>
              <a:solidFill>
                <a:srgbClr val="000000"/>
              </a:solidFill>
              <a:effectLst/>
              <a:uLnTx/>
              <a:uFillTx/>
              <a:latin typeface="SimHei" panose="02010609060101010101" pitchFamily="49" charset="-122"/>
              <a:ea typeface="SimHei" panose="02010609060101010101" pitchFamily="49" charset="-122"/>
              <a:cs typeface="+mn-cs"/>
            </a:endParaRPr>
          </a:p>
        </p:txBody>
      </p:sp>
    </p:spTree>
    <p:extLst>
      <p:ext uri="{BB962C8B-B14F-4D97-AF65-F5344CB8AC3E}">
        <p14:creationId xmlns:p14="http://schemas.microsoft.com/office/powerpoint/2010/main" val="135990972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56B0FAB-5FF6-8442-B8F5-B2983B7ECC2D}"/>
              </a:ext>
            </a:extLst>
          </p:cNvPr>
          <p:cNvSpPr/>
          <p:nvPr/>
        </p:nvSpPr>
        <p:spPr>
          <a:xfrm>
            <a:off x="3443443" y="136800"/>
            <a:ext cx="5636164" cy="677108"/>
          </a:xfrm>
          <a:prstGeom prst="rect">
            <a:avLst/>
          </a:prstGeom>
        </p:spPr>
        <p:txBody>
          <a:bodyPr wrap="square">
            <a:spAutoFit/>
          </a:bodyPr>
          <a:lstStyle/>
          <a:p>
            <a:pPr defTabSz="457200">
              <a:defRPr/>
            </a:pPr>
            <a:r>
              <a:rPr kumimoji="1" lang="zh-CN" altLang="en-US" sz="3800" b="1" kern="0" dirty="0">
                <a:solidFill>
                  <a:srgbClr val="000000"/>
                </a:solidFill>
                <a:latin typeface="Arial" panose="020B0604020202020204" pitchFamily="34" charset="0"/>
                <a:ea typeface="黑体" panose="02010609060101010101" pitchFamily="49" charset="-122"/>
                <a:cs typeface="Arial" panose="020B0604020202020204" pitchFamily="34" charset="0"/>
              </a:rPr>
              <a:t>智能数据库系统 </a:t>
            </a:r>
            <a:r>
              <a:rPr kumimoji="1" lang="en-US" altLang="zh-CN" sz="3800" b="1" kern="0" dirty="0">
                <a:solidFill>
                  <a:srgbClr val="000000"/>
                </a:solidFill>
                <a:latin typeface="Arial" panose="020B0604020202020204" pitchFamily="34" charset="0"/>
                <a:ea typeface="黑体" panose="02010609060101010101" pitchFamily="49" charset="-122"/>
                <a:cs typeface="Arial" panose="020B0604020202020204" pitchFamily="34" charset="0"/>
              </a:rPr>
              <a:t>(AI4DB)</a:t>
            </a:r>
            <a:endParaRPr lang="zh-CN" altLang="en-US" sz="3800" dirty="0">
              <a:solidFill>
                <a:prstClr val="black"/>
              </a:solidFill>
              <a:latin typeface="Arial" panose="020B0604020202020204" pitchFamily="34" charset="0"/>
              <a:ea typeface="等线" panose="02010600030101010101" pitchFamily="2" charset="-122"/>
              <a:cs typeface="Arial" panose="020B0604020202020204" pitchFamily="34" charset="0"/>
            </a:endParaRPr>
          </a:p>
        </p:txBody>
      </p:sp>
      <p:sp>
        <p:nvSpPr>
          <p:cNvPr id="6" name="灯片编号占位符 1">
            <a:extLst>
              <a:ext uri="{FF2B5EF4-FFF2-40B4-BE49-F238E27FC236}">
                <a16:creationId xmlns:a16="http://schemas.microsoft.com/office/drawing/2014/main" id="{2F5A7494-8B7B-8045-8DCA-3A8DA4BDE19B}"/>
              </a:ext>
            </a:extLst>
          </p:cNvPr>
          <p:cNvSpPr txBox="1">
            <a:spLocks/>
          </p:cNvSpPr>
          <p:nvPr/>
        </p:nvSpPr>
        <p:spPr>
          <a:xfrm>
            <a:off x="11571088" y="6532912"/>
            <a:ext cx="765605" cy="476250"/>
          </a:xfrm>
          <a:prstGeom prst="rect">
            <a:avLst/>
          </a:prstGeom>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87BBDC00-B9E2-4EFD-9306-2934E87247C6}" type="slidenum">
              <a:rPr kumimoji="0" lang="zh-CN" altLang="en-US" sz="1800" b="0" i="0" u="none" strike="noStrike" kern="1200" cap="none" spc="0" normalizeH="0" baseline="0" noProof="0" smtClean="0">
                <a:ln>
                  <a:noFill/>
                </a:ln>
                <a:solidFill>
                  <a:prstClr val="black"/>
                </a:solidFill>
                <a:effectLst/>
                <a:uLnTx/>
                <a:uFillTx/>
                <a:latin typeface="Calibri"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102</a:t>
            </a:fld>
            <a:endParaRPr kumimoji="0" lang="zh-CN" altLang="en-US" sz="1800" b="0" i="0" u="none" strike="noStrike" kern="1200" cap="none" spc="0" normalizeH="0" baseline="0" noProof="0" dirty="0">
              <a:ln>
                <a:noFill/>
              </a:ln>
              <a:solidFill>
                <a:srgbClr val="000000"/>
              </a:solidFill>
              <a:effectLst/>
              <a:uLnTx/>
              <a:uFillTx/>
              <a:latin typeface="Times New Roman"/>
              <a:ea typeface="华文楷体"/>
              <a:cs typeface="+mn-cs"/>
            </a:endParaRPr>
          </a:p>
        </p:txBody>
      </p:sp>
      <p:sp>
        <p:nvSpPr>
          <p:cNvPr id="148" name="标题 1">
            <a:extLst>
              <a:ext uri="{FF2B5EF4-FFF2-40B4-BE49-F238E27FC236}">
                <a16:creationId xmlns:a16="http://schemas.microsoft.com/office/drawing/2014/main" id="{60C1AE89-16D4-FA46-B519-D253790D8A3C}"/>
              </a:ext>
            </a:extLst>
          </p:cNvPr>
          <p:cNvSpPr txBox="1">
            <a:spLocks/>
          </p:cNvSpPr>
          <p:nvPr/>
        </p:nvSpPr>
        <p:spPr>
          <a:xfrm>
            <a:off x="876708" y="1015751"/>
            <a:ext cx="10514378" cy="718482"/>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500" b="1" kern="1200" spc="0" baseline="0">
                <a:ln w="6350" cap="flat">
                  <a:noFill/>
                  <a:miter lim="800000"/>
                </a:ln>
                <a:solidFill>
                  <a:schemeClr val="tx1"/>
                </a:solidFill>
                <a:latin typeface="KaiTi" panose="02010609060101010101" pitchFamily="49" charset="-122"/>
                <a:ea typeface="KaiTi" panose="02010609060101010101" pitchFamily="49" charset="-122"/>
                <a:cs typeface="+mj-cs"/>
              </a:defRPr>
            </a:lvl1pPr>
          </a:lstStyle>
          <a:p>
            <a:pPr algn="ctr">
              <a:lnSpc>
                <a:spcPct val="120000"/>
              </a:lnSpc>
            </a:pPr>
            <a:r>
              <a:rPr lang="zh-CN" altLang="en-US" sz="2300" dirty="0">
                <a:solidFill>
                  <a:srgbClr val="000000"/>
                </a:solidFill>
                <a:latin typeface="Arial" panose="020B0604020202020204" pitchFamily="34" charset="0"/>
                <a:ea typeface="微软雅黑" panose="020B0503020204020204" pitchFamily="34" charset="-122"/>
                <a:cs typeface="Arial" panose="020B0604020202020204" pitchFamily="34" charset="0"/>
              </a:rPr>
              <a:t>数据库性能瓶颈的成因复杂，性能优化是一项高门槛、高投入的工作，资深</a:t>
            </a:r>
            <a:r>
              <a:rPr lang="en-US" altLang="zh-CN" sz="2300" dirty="0">
                <a:solidFill>
                  <a:srgbClr val="000000"/>
                </a:solidFill>
                <a:latin typeface="Arial" panose="020B0604020202020204" pitchFamily="34" charset="0"/>
                <a:ea typeface="微软雅黑" panose="020B0503020204020204" pitchFamily="34" charset="-122"/>
                <a:cs typeface="Arial" panose="020B0604020202020204" pitchFamily="34" charset="0"/>
              </a:rPr>
              <a:t>DBA</a:t>
            </a:r>
            <a:r>
              <a:rPr lang="zh-CN" altLang="en-US" sz="2300" dirty="0">
                <a:solidFill>
                  <a:srgbClr val="000000"/>
                </a:solidFill>
                <a:latin typeface="Arial" panose="020B0604020202020204" pitchFamily="34" charset="0"/>
                <a:ea typeface="微软雅黑" panose="020B0503020204020204" pitchFamily="34" charset="-122"/>
                <a:cs typeface="Arial" panose="020B0604020202020204" pitchFamily="34" charset="0"/>
              </a:rPr>
              <a:t>也需要花费大量时间理解当前情况进行手动调整</a:t>
            </a:r>
            <a:endParaRPr lang="zh-CN" altLang="en-US" sz="2300" baseline="300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149" name="Text Placeholder 2">
            <a:extLst>
              <a:ext uri="{FF2B5EF4-FFF2-40B4-BE49-F238E27FC236}">
                <a16:creationId xmlns:a16="http://schemas.microsoft.com/office/drawing/2014/main" id="{E0697ED2-FF0A-3C4B-B1E3-0F2D4C8288EB}"/>
              </a:ext>
            </a:extLst>
          </p:cNvPr>
          <p:cNvSpPr>
            <a:spLocks noGrp="1"/>
          </p:cNvSpPr>
          <p:nvPr>
            <p:custDataLst>
              <p:tags r:id="rId1"/>
            </p:custDataLst>
          </p:nvPr>
        </p:nvSpPr>
        <p:spPr bwMode="auto">
          <a:xfrm>
            <a:off x="1627466" y="1805383"/>
            <a:ext cx="3614699" cy="718482"/>
          </a:xfrm>
          <a:prstGeom prst="rect">
            <a:avLst/>
          </a:prstGeom>
          <a:noFill/>
          <a:ln>
            <a:noFill/>
          </a:ln>
          <a:effectLst/>
        </p:spPr>
        <p:txBody>
          <a:bodyPr vert="horz" wrap="none" lIns="80963" tIns="80963" rIns="0" bIns="80963"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nSpc>
                <a:spcPct val="150000"/>
              </a:lnSpc>
              <a:spcBef>
                <a:spcPct val="0"/>
              </a:spcBef>
              <a:spcAft>
                <a:spcPct val="0"/>
              </a:spcAft>
              <a:buFont typeface="Segoe UI" panose="020B0502040204020203" pitchFamily="34" charset="0"/>
              <a:buNone/>
            </a:pPr>
            <a:r>
              <a:rPr lang="zh-CN" altLang="en-US"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数据库性能问题成因调查</a:t>
            </a:r>
            <a:endParaRPr lang="en-US" altLang="zh-CN"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endParaRPr>
          </a:p>
        </p:txBody>
      </p:sp>
      <p:graphicFrame>
        <p:nvGraphicFramePr>
          <p:cNvPr id="150" name="Chart 3">
            <a:extLst>
              <a:ext uri="{FF2B5EF4-FFF2-40B4-BE49-F238E27FC236}">
                <a16:creationId xmlns:a16="http://schemas.microsoft.com/office/drawing/2014/main" id="{06402F79-67A8-CC45-9737-3D2105091D0A}"/>
              </a:ext>
            </a:extLst>
          </p:cNvPr>
          <p:cNvGraphicFramePr/>
          <p:nvPr>
            <p:custDataLst>
              <p:tags r:id="rId2"/>
            </p:custDataLst>
          </p:nvPr>
        </p:nvGraphicFramePr>
        <p:xfrm>
          <a:off x="925199" y="2842274"/>
          <a:ext cx="4864100" cy="3022600"/>
        </p:xfrm>
        <a:graphic>
          <a:graphicData uri="http://schemas.openxmlformats.org/drawingml/2006/chart">
            <c:chart xmlns:c="http://schemas.openxmlformats.org/drawingml/2006/chart" xmlns:r="http://schemas.openxmlformats.org/officeDocument/2006/relationships" r:id="rId22"/>
          </a:graphicData>
        </a:graphic>
      </p:graphicFrame>
      <p:sp>
        <p:nvSpPr>
          <p:cNvPr id="151" name="Text Placeholder 2">
            <a:extLst>
              <a:ext uri="{FF2B5EF4-FFF2-40B4-BE49-F238E27FC236}">
                <a16:creationId xmlns:a16="http://schemas.microsoft.com/office/drawing/2014/main" id="{746388C2-B755-8F45-B039-25AA6C039745}"/>
              </a:ext>
            </a:extLst>
          </p:cNvPr>
          <p:cNvSpPr>
            <a:spLocks noGrp="1"/>
          </p:cNvSpPr>
          <p:nvPr>
            <p:custDataLst>
              <p:tags r:id="rId3"/>
            </p:custDataLst>
          </p:nvPr>
        </p:nvSpPr>
        <p:spPr bwMode="auto">
          <a:xfrm>
            <a:off x="2900049" y="2620024"/>
            <a:ext cx="914400" cy="2746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fld id="{0F265A13-FD44-4321-991F-B662A4B48056}" type="datetime'''''''''''''查''''''''''''''询''''''''''''质''''''''''''''量'''''">
              <a:rPr lang="zh-CN"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spcBef>
                  <a:spcPct val="0"/>
                </a:spcBef>
                <a:spcAft>
                  <a:spcPct val="0"/>
                </a:spcAft>
              </a:pPr>
              <a:t>查询质量</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2" name="Text Placeholder 2">
            <a:extLst>
              <a:ext uri="{FF2B5EF4-FFF2-40B4-BE49-F238E27FC236}">
                <a16:creationId xmlns:a16="http://schemas.microsoft.com/office/drawing/2014/main" id="{27A33EE1-DC54-044E-BE13-2BFEB4A46F43}"/>
              </a:ext>
            </a:extLst>
          </p:cNvPr>
          <p:cNvSpPr>
            <a:spLocks noGrp="1"/>
          </p:cNvSpPr>
          <p:nvPr>
            <p:custDataLst>
              <p:tags r:id="rId4"/>
            </p:custDataLst>
          </p:nvPr>
        </p:nvSpPr>
        <p:spPr bwMode="auto">
          <a:xfrm>
            <a:off x="4832036" y="4075761"/>
            <a:ext cx="914400" cy="2746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fld id="{1A1B9E4E-CFFD-4246-8258-F6FB3D88098C}" type="datetime'''''''''''''审''''计''''''''''''''质''''''''''量'''''''''''''''''">
              <a:rPr lang="zh-CN"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spcBef>
                  <a:spcPct val="0"/>
                </a:spcBef>
                <a:spcAft>
                  <a:spcPct val="0"/>
                </a:spcAft>
              </a:pPr>
              <a:t>审计质量</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3" name="Text Placeholder 2">
            <a:extLst>
              <a:ext uri="{FF2B5EF4-FFF2-40B4-BE49-F238E27FC236}">
                <a16:creationId xmlns:a16="http://schemas.microsoft.com/office/drawing/2014/main" id="{976BFB57-BAA2-824D-A8DF-32033EE38D15}"/>
              </a:ext>
            </a:extLst>
          </p:cNvPr>
          <p:cNvSpPr>
            <a:spLocks noGrp="1"/>
          </p:cNvSpPr>
          <p:nvPr>
            <p:custDataLst>
              <p:tags r:id="rId5"/>
            </p:custDataLst>
          </p:nvPr>
        </p:nvSpPr>
        <p:spPr bwMode="gray">
          <a:xfrm>
            <a:off x="2025336" y="3799536"/>
            <a:ext cx="725488" cy="274638"/>
          </a:xfrm>
          <a:prstGeom prst="rect">
            <a:avLst/>
          </a:prstGeom>
          <a:noFill/>
          <a:ln>
            <a:noFill/>
          </a:ln>
          <a:effectLst/>
        </p:spPr>
        <p:txBody>
          <a:bodyPr vert="horz" wrap="none" lIns="33338" tIns="0" rIns="33338"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72F1EBE6-D21F-449B-B0FC-15052DEC844E}" type="datetime'''''''''''''''''6''''''''''.''''''''''''''''''''0''''''''0%'">
              <a:rPr kumimoji="0" lang="en-US" altLang="en-US" sz="18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6.00%</a:t>
            </a:fld>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endParaRPr>
          </a:p>
        </p:txBody>
      </p:sp>
      <p:sp>
        <p:nvSpPr>
          <p:cNvPr id="154" name="Text Placeholder 2">
            <a:extLst>
              <a:ext uri="{FF2B5EF4-FFF2-40B4-BE49-F238E27FC236}">
                <a16:creationId xmlns:a16="http://schemas.microsoft.com/office/drawing/2014/main" id="{FD895A07-3672-294B-9A2A-27B354C17C05}"/>
              </a:ext>
            </a:extLst>
          </p:cNvPr>
          <p:cNvSpPr>
            <a:spLocks noGrp="1"/>
          </p:cNvSpPr>
          <p:nvPr>
            <p:custDataLst>
              <p:tags r:id="rId6"/>
            </p:custDataLst>
          </p:nvPr>
        </p:nvSpPr>
        <p:spPr bwMode="auto">
          <a:xfrm>
            <a:off x="4247836" y="5512449"/>
            <a:ext cx="914400" cy="2746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fld id="{8A79682C-D83C-4A79-AD2B-6CF6B57E0B1D}" type="datetime'''''''''''''''''''参''''''''数''''''''''配置'''''''''''''''''''">
              <a:rPr lang="zh-CN"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spcBef>
                  <a:spcPct val="0"/>
                </a:spcBef>
                <a:spcAft>
                  <a:spcPct val="0"/>
                </a:spcAft>
              </a:pPr>
              <a:t>参数配置</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5" name="Text Placeholder 2">
            <a:extLst>
              <a:ext uri="{FF2B5EF4-FFF2-40B4-BE49-F238E27FC236}">
                <a16:creationId xmlns:a16="http://schemas.microsoft.com/office/drawing/2014/main" id="{0E2F9809-BBD2-1542-B999-C3AF7BE51932}"/>
              </a:ext>
            </a:extLst>
          </p:cNvPr>
          <p:cNvSpPr>
            <a:spLocks noGrp="1"/>
          </p:cNvSpPr>
          <p:nvPr>
            <p:custDataLst>
              <p:tags r:id="rId7"/>
            </p:custDataLst>
          </p:nvPr>
        </p:nvSpPr>
        <p:spPr bwMode="auto">
          <a:xfrm>
            <a:off x="593411" y="5475936"/>
            <a:ext cx="1828800" cy="2746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r">
              <a:spcBef>
                <a:spcPct val="0"/>
              </a:spcBef>
              <a:spcAft>
                <a:spcPct val="0"/>
              </a:spcAft>
            </a:pPr>
            <a:fld id="{811FFEB8-F250-44AF-9516-D3D90D53F363}" type="datetime'执''''行''''计划''''''''''''''缓''''存''''''''不''足'">
              <a:rPr lang="zh-CN"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lgn="r">
                <a:spcBef>
                  <a:spcPct val="0"/>
                </a:spcBef>
                <a:spcAft>
                  <a:spcPct val="0"/>
                </a:spcAft>
              </a:pPr>
              <a:t>执行计划缓存不足</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6" name="Text Placeholder 2">
            <a:extLst>
              <a:ext uri="{FF2B5EF4-FFF2-40B4-BE49-F238E27FC236}">
                <a16:creationId xmlns:a16="http://schemas.microsoft.com/office/drawing/2014/main" id="{D6647D20-FDCC-6A4E-96BB-B13D9E3D38D4}"/>
              </a:ext>
            </a:extLst>
          </p:cNvPr>
          <p:cNvSpPr>
            <a:spLocks noGrp="1"/>
          </p:cNvSpPr>
          <p:nvPr>
            <p:custDataLst>
              <p:tags r:id="rId8"/>
            </p:custDataLst>
          </p:nvPr>
        </p:nvSpPr>
        <p:spPr bwMode="gray">
          <a:xfrm>
            <a:off x="1925324" y="4159899"/>
            <a:ext cx="725488" cy="274638"/>
          </a:xfrm>
          <a:prstGeom prst="rect">
            <a:avLst/>
          </a:prstGeom>
          <a:noFill/>
          <a:ln>
            <a:noFill/>
          </a:ln>
          <a:effectLst/>
        </p:spPr>
        <p:txBody>
          <a:bodyPr vert="horz" wrap="none" lIns="33338" tIns="0" rIns="33338"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pPr>
            <a:fld id="{3A4F7EC2-4549-4448-B474-98212F9429AD}" type="datetime'4''''''''''''''''''''''.''''''0''0''''%'''''''''''''''''''''">
              <a:rPr lang="en-US"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lgn="ctr">
                <a:spcBef>
                  <a:spcPct val="0"/>
                </a:spcBef>
                <a:spcAft>
                  <a:spcPct val="0"/>
                </a:spcAft>
              </a:pPr>
              <a:t>4.00%</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7" name="Text Placeholder 2">
            <a:extLst>
              <a:ext uri="{FF2B5EF4-FFF2-40B4-BE49-F238E27FC236}">
                <a16:creationId xmlns:a16="http://schemas.microsoft.com/office/drawing/2014/main" id="{EEB418CC-BC13-9042-B0E5-810D0D70F7D7}"/>
              </a:ext>
            </a:extLst>
          </p:cNvPr>
          <p:cNvSpPr>
            <a:spLocks noGrp="1"/>
          </p:cNvSpPr>
          <p:nvPr>
            <p:custDataLst>
              <p:tags r:id="rId9"/>
            </p:custDataLst>
          </p:nvPr>
        </p:nvSpPr>
        <p:spPr bwMode="auto">
          <a:xfrm>
            <a:off x="2411099" y="5814074"/>
            <a:ext cx="914400" cy="2746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r">
              <a:spcBef>
                <a:spcPct val="0"/>
              </a:spcBef>
              <a:spcAft>
                <a:spcPct val="0"/>
              </a:spcAft>
            </a:pPr>
            <a:fld id="{B6CA9F19-E7B3-4DC4-A062-BC8F3126AF93}" type="datetime'''''''''''''''''''''''''''''''''''''''''''索''''引''''问题'''''''">
              <a:rPr lang="zh-CN"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lgn="r">
                <a:spcBef>
                  <a:spcPct val="0"/>
                </a:spcBef>
                <a:spcAft>
                  <a:spcPct val="0"/>
                </a:spcAft>
              </a:pPr>
              <a:t>索引问题</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8" name="Text Placeholder 2">
            <a:extLst>
              <a:ext uri="{FF2B5EF4-FFF2-40B4-BE49-F238E27FC236}">
                <a16:creationId xmlns:a16="http://schemas.microsoft.com/office/drawing/2014/main" id="{36D918D3-72BE-124A-A579-3D0F272AC81B}"/>
              </a:ext>
            </a:extLst>
          </p:cNvPr>
          <p:cNvSpPr>
            <a:spLocks noGrp="1"/>
          </p:cNvSpPr>
          <p:nvPr>
            <p:custDataLst>
              <p:tags r:id="rId10"/>
            </p:custDataLst>
          </p:nvPr>
        </p:nvSpPr>
        <p:spPr bwMode="gray">
          <a:xfrm>
            <a:off x="2292036" y="5042549"/>
            <a:ext cx="725488" cy="274638"/>
          </a:xfrm>
          <a:prstGeom prst="rect">
            <a:avLst/>
          </a:prstGeom>
          <a:noFill/>
          <a:ln>
            <a:noFill/>
          </a:ln>
          <a:effectLst/>
        </p:spPr>
        <p:txBody>
          <a:bodyPr vert="horz" wrap="none" lIns="33338" tIns="0" rIns="33338"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pPr>
            <a:fld id="{9A1AB7B9-42B1-40E7-8601-7282700D54FE}" type="datetime'''8''''.''''0''''''''0''''''''''''''''%'''''''''''''''">
              <a:rPr lang="en-US"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lgn="ctr">
                <a:spcBef>
                  <a:spcPct val="0"/>
                </a:spcBef>
                <a:spcAft>
                  <a:spcPct val="0"/>
                </a:spcAft>
              </a:pPr>
              <a:t>8.00%</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9" name="Text Placeholder 2">
            <a:extLst>
              <a:ext uri="{FF2B5EF4-FFF2-40B4-BE49-F238E27FC236}">
                <a16:creationId xmlns:a16="http://schemas.microsoft.com/office/drawing/2014/main" id="{F492DA0C-CE2C-4F4A-88CA-38861BBBE78A}"/>
              </a:ext>
            </a:extLst>
          </p:cNvPr>
          <p:cNvSpPr>
            <a:spLocks noGrp="1"/>
          </p:cNvSpPr>
          <p:nvPr>
            <p:custDataLst>
              <p:tags r:id="rId11"/>
            </p:custDataLst>
          </p:nvPr>
        </p:nvSpPr>
        <p:spPr bwMode="auto">
          <a:xfrm>
            <a:off x="517211" y="4102749"/>
            <a:ext cx="1371600" cy="2746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r">
              <a:spcBef>
                <a:spcPct val="0"/>
              </a:spcBef>
              <a:spcAft>
                <a:spcPct val="0"/>
              </a:spcAft>
            </a:pPr>
            <a:fld id="{0D62146D-B819-4E3B-8A5D-55F79E37EAD7}" type="datetime'''''''''''''''''数据缓''''''''''''存不''足'''''''''''">
              <a:rPr lang="zh-CN"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lgn="r">
                <a:spcBef>
                  <a:spcPct val="0"/>
                </a:spcBef>
                <a:spcAft>
                  <a:spcPct val="0"/>
                </a:spcAft>
              </a:pPr>
              <a:t>数据缓存不足</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0" name="Text Placeholder 2">
            <a:extLst>
              <a:ext uri="{FF2B5EF4-FFF2-40B4-BE49-F238E27FC236}">
                <a16:creationId xmlns:a16="http://schemas.microsoft.com/office/drawing/2014/main" id="{4C9E19E1-6A4C-2B4B-B0F4-7FF3344D64D1}"/>
              </a:ext>
            </a:extLst>
          </p:cNvPr>
          <p:cNvSpPr>
            <a:spLocks noGrp="1"/>
          </p:cNvSpPr>
          <p:nvPr>
            <p:custDataLst>
              <p:tags r:id="rId12"/>
            </p:custDataLst>
          </p:nvPr>
        </p:nvSpPr>
        <p:spPr bwMode="auto">
          <a:xfrm>
            <a:off x="336236" y="4753624"/>
            <a:ext cx="1600200" cy="2746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r">
              <a:spcBef>
                <a:spcPct val="0"/>
              </a:spcBef>
              <a:spcAft>
                <a:spcPct val="0"/>
              </a:spcAft>
            </a:pPr>
            <a:fld id="{F07DBB3B-4A8E-4314-B670-1C2FF587585B}" type="datetime'''''一''''''''''''致''性''''''''''''''''''模''型''''''''问''''''题'''">
              <a:rPr lang="zh-CN"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lgn="r">
                <a:spcBef>
                  <a:spcPct val="0"/>
                </a:spcBef>
                <a:spcAft>
                  <a:spcPct val="0"/>
                </a:spcAft>
              </a:pPr>
              <a:t>一致性模型问题</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1" name="Text Placeholder 2">
            <a:extLst>
              <a:ext uri="{FF2B5EF4-FFF2-40B4-BE49-F238E27FC236}">
                <a16:creationId xmlns:a16="http://schemas.microsoft.com/office/drawing/2014/main" id="{8C4506CD-B83E-E043-98D1-08E6D43430F5}"/>
              </a:ext>
            </a:extLst>
          </p:cNvPr>
          <p:cNvSpPr>
            <a:spLocks noGrp="1"/>
          </p:cNvSpPr>
          <p:nvPr>
            <p:custDataLst>
              <p:tags r:id="rId13"/>
            </p:custDataLst>
          </p:nvPr>
        </p:nvSpPr>
        <p:spPr bwMode="auto">
          <a:xfrm>
            <a:off x="1518924" y="3569349"/>
            <a:ext cx="457200" cy="2746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r">
              <a:spcBef>
                <a:spcPct val="0"/>
              </a:spcBef>
              <a:spcAft>
                <a:spcPct val="0"/>
              </a:spcAft>
            </a:pPr>
            <a:fld id="{664ED98B-61BF-4153-B764-033404A6C1A0}" type="datetime'''''''''''''''''''''''''''''''''''''''其''''''''他'''''">
              <a:rPr lang="zh-CN"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lgn="r">
                <a:spcBef>
                  <a:spcPct val="0"/>
                </a:spcBef>
                <a:spcAft>
                  <a:spcPct val="0"/>
                </a:spcAft>
              </a:pPr>
              <a:t>其他</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2" name="Text Placeholder 2">
            <a:extLst>
              <a:ext uri="{FF2B5EF4-FFF2-40B4-BE49-F238E27FC236}">
                <a16:creationId xmlns:a16="http://schemas.microsoft.com/office/drawing/2014/main" id="{1D9677E5-B838-CA46-87F4-DDD31A9BC15C}"/>
              </a:ext>
            </a:extLst>
          </p:cNvPr>
          <p:cNvSpPr>
            <a:spLocks noGrp="1"/>
          </p:cNvSpPr>
          <p:nvPr>
            <p:custDataLst>
              <p:tags r:id="rId14"/>
            </p:custDataLst>
          </p:nvPr>
        </p:nvSpPr>
        <p:spPr bwMode="gray">
          <a:xfrm>
            <a:off x="1998349" y="4564711"/>
            <a:ext cx="725488" cy="274638"/>
          </a:xfrm>
          <a:prstGeom prst="rect">
            <a:avLst/>
          </a:prstGeom>
          <a:noFill/>
          <a:ln>
            <a:noFill/>
          </a:ln>
          <a:effectLst/>
        </p:spPr>
        <p:txBody>
          <a:bodyPr vert="horz" wrap="none" lIns="33338" tIns="0" rIns="33338"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pPr>
            <a:fld id="{32B85D9B-C580-498F-BB7B-6C9C16BD96C0}" type="datetime'7.''''0''''''''''''''''''''''''''''0''''%'''''''''''''">
              <a:rPr lang="en-US"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lgn="ctr">
                <a:spcBef>
                  <a:spcPct val="0"/>
                </a:spcBef>
                <a:spcAft>
                  <a:spcPct val="0"/>
                </a:spcAft>
              </a:pPr>
              <a:t>7.00%</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163" name="îśľîḓé">
            <a:extLst>
              <a:ext uri="{FF2B5EF4-FFF2-40B4-BE49-F238E27FC236}">
                <a16:creationId xmlns:a16="http://schemas.microsoft.com/office/drawing/2014/main" id="{47F21CDC-B143-4B4F-8ED7-26218EE6326E}"/>
              </a:ext>
            </a:extLst>
          </p:cNvPr>
          <p:cNvCxnSpPr>
            <a:cxnSpLocks/>
          </p:cNvCxnSpPr>
          <p:nvPr/>
        </p:nvCxnSpPr>
        <p:spPr>
          <a:xfrm>
            <a:off x="6555780" y="2095825"/>
            <a:ext cx="0" cy="4500000"/>
          </a:xfrm>
          <a:prstGeom prst="line">
            <a:avLst/>
          </a:prstGeom>
          <a:noFill/>
          <a:ln w="28575" cap="flat" cmpd="sng" algn="ctr">
            <a:solidFill>
              <a:srgbClr val="051C2C">
                <a:lumMod val="75000"/>
                <a:lumOff val="25000"/>
              </a:srgbClr>
            </a:solidFill>
            <a:prstDash val="solid"/>
          </a:ln>
          <a:effectLst/>
        </p:spPr>
      </p:cxnSp>
      <p:sp>
        <p:nvSpPr>
          <p:cNvPr id="164" name="Text Placeholder 2">
            <a:extLst>
              <a:ext uri="{FF2B5EF4-FFF2-40B4-BE49-F238E27FC236}">
                <a16:creationId xmlns:a16="http://schemas.microsoft.com/office/drawing/2014/main" id="{2DBDBB56-89E9-5E4A-AB5F-B31870D12720}"/>
              </a:ext>
            </a:extLst>
          </p:cNvPr>
          <p:cNvSpPr>
            <a:spLocks noGrp="1"/>
          </p:cNvSpPr>
          <p:nvPr>
            <p:custDataLst>
              <p:tags r:id="rId15"/>
            </p:custDataLst>
          </p:nvPr>
        </p:nvSpPr>
        <p:spPr bwMode="auto">
          <a:xfrm>
            <a:off x="5941365" y="3832408"/>
            <a:ext cx="412454" cy="718482"/>
          </a:xfrm>
          <a:prstGeom prst="rect">
            <a:avLst/>
          </a:prstGeom>
          <a:noFill/>
          <a:ln>
            <a:noFill/>
          </a:ln>
          <a:effectLst/>
        </p:spPr>
        <p:txBody>
          <a:bodyPr vert="horz" wrap="none" lIns="80963" tIns="80963" rIns="0" bIns="80963"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buFont typeface="Segoe UI" panose="020B0502040204020203" pitchFamily="34" charset="0"/>
              <a:buNone/>
            </a:pPr>
            <a:r>
              <a:rPr lang="zh-CN" altLang="en-US"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解</a:t>
            </a:r>
            <a:endParaRPr lang="en-US" altLang="zh-CN"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endParaRPr>
          </a:p>
          <a:p>
            <a:pPr>
              <a:spcBef>
                <a:spcPct val="0"/>
              </a:spcBef>
              <a:spcAft>
                <a:spcPct val="0"/>
              </a:spcAft>
              <a:buFont typeface="Segoe UI" panose="020B0502040204020203" pitchFamily="34" charset="0"/>
              <a:buNone/>
            </a:pPr>
            <a:r>
              <a:rPr lang="zh-CN" altLang="en-US"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决</a:t>
            </a:r>
            <a:endParaRPr lang="en-US" altLang="zh-CN"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endParaRPr>
          </a:p>
          <a:p>
            <a:pPr>
              <a:spcBef>
                <a:spcPct val="0"/>
              </a:spcBef>
              <a:spcAft>
                <a:spcPct val="0"/>
              </a:spcAft>
              <a:buFont typeface="Segoe UI" panose="020B0502040204020203" pitchFamily="34" charset="0"/>
              <a:buNone/>
            </a:pPr>
            <a:r>
              <a:rPr lang="zh-CN" altLang="en-US"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方</a:t>
            </a:r>
            <a:endParaRPr lang="en-US" altLang="zh-CN"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endParaRPr>
          </a:p>
          <a:p>
            <a:pPr>
              <a:spcBef>
                <a:spcPct val="0"/>
              </a:spcBef>
              <a:spcAft>
                <a:spcPct val="0"/>
              </a:spcAft>
              <a:buFont typeface="Segoe UI" panose="020B0502040204020203" pitchFamily="34" charset="0"/>
              <a:buNone/>
            </a:pPr>
            <a:r>
              <a:rPr lang="zh-CN" altLang="en-US"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案</a:t>
            </a:r>
            <a:endParaRPr lang="en-US" altLang="zh-CN"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endParaRPr>
          </a:p>
        </p:txBody>
      </p:sp>
      <p:sp>
        <p:nvSpPr>
          <p:cNvPr id="165" name="îsļïḑê">
            <a:extLst>
              <a:ext uri="{FF2B5EF4-FFF2-40B4-BE49-F238E27FC236}">
                <a16:creationId xmlns:a16="http://schemas.microsoft.com/office/drawing/2014/main" id="{0769CE63-B20B-FE44-8E5A-7D9BBBAEF4BD}"/>
              </a:ext>
            </a:extLst>
          </p:cNvPr>
          <p:cNvSpPr/>
          <p:nvPr/>
        </p:nvSpPr>
        <p:spPr>
          <a:xfrm>
            <a:off x="6465779" y="2475430"/>
            <a:ext cx="180002" cy="180000"/>
          </a:xfrm>
          <a:prstGeom prst="ellipse">
            <a:avLst/>
          </a:prstGeom>
          <a:solidFill>
            <a:srgbClr val="FFFFFF">
              <a:lumMod val="85000"/>
            </a:srgbClr>
          </a:solidFill>
          <a:ln w="57150" cap="rnd" cmpd="sng" algn="ctr">
            <a:noFill/>
            <a:prstDash val="solid"/>
            <a:round/>
          </a:ln>
          <a:effectLst/>
        </p:spPr>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srgbClr val="FFFFFF"/>
              </a:solidFill>
              <a:effectLst/>
              <a:uLnTx/>
              <a:uFillTx/>
              <a:latin typeface="Arial"/>
              <a:ea typeface="+mn-ea"/>
              <a:cs typeface="+mn-cs"/>
            </a:endParaRPr>
          </a:p>
        </p:txBody>
      </p:sp>
      <p:sp>
        <p:nvSpPr>
          <p:cNvPr id="166" name="îsļïḑê">
            <a:extLst>
              <a:ext uri="{FF2B5EF4-FFF2-40B4-BE49-F238E27FC236}">
                <a16:creationId xmlns:a16="http://schemas.microsoft.com/office/drawing/2014/main" id="{159B4D8E-A082-6942-AF4B-D5CBDE39C8E2}"/>
              </a:ext>
            </a:extLst>
          </p:cNvPr>
          <p:cNvSpPr/>
          <p:nvPr/>
        </p:nvSpPr>
        <p:spPr>
          <a:xfrm>
            <a:off x="6465779" y="3510186"/>
            <a:ext cx="180002" cy="180000"/>
          </a:xfrm>
          <a:prstGeom prst="ellipse">
            <a:avLst/>
          </a:prstGeom>
          <a:solidFill>
            <a:srgbClr val="051C2C">
              <a:lumMod val="25000"/>
              <a:lumOff val="75000"/>
            </a:srgbClr>
          </a:solidFill>
          <a:ln w="57150" cap="rnd" cmpd="sng" algn="ctr">
            <a:noFill/>
            <a:prstDash val="solid"/>
            <a:round/>
          </a:ln>
          <a:effectLst/>
        </p:spPr>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srgbClr val="FFFFFF"/>
              </a:solidFill>
              <a:effectLst/>
              <a:uLnTx/>
              <a:uFillTx/>
              <a:latin typeface="Arial"/>
              <a:ea typeface="+mn-ea"/>
              <a:cs typeface="+mn-cs"/>
            </a:endParaRPr>
          </a:p>
        </p:txBody>
      </p:sp>
      <p:sp>
        <p:nvSpPr>
          <p:cNvPr id="167" name="îsļïḑê">
            <a:extLst>
              <a:ext uri="{FF2B5EF4-FFF2-40B4-BE49-F238E27FC236}">
                <a16:creationId xmlns:a16="http://schemas.microsoft.com/office/drawing/2014/main" id="{EECC64B3-AFAE-CB43-B882-0B89EB46FF8F}"/>
              </a:ext>
            </a:extLst>
          </p:cNvPr>
          <p:cNvSpPr/>
          <p:nvPr/>
        </p:nvSpPr>
        <p:spPr>
          <a:xfrm>
            <a:off x="6465779" y="4618568"/>
            <a:ext cx="180002" cy="180000"/>
          </a:xfrm>
          <a:prstGeom prst="ellipse">
            <a:avLst/>
          </a:prstGeom>
          <a:solidFill>
            <a:srgbClr val="051C2C">
              <a:lumMod val="50000"/>
              <a:lumOff val="50000"/>
            </a:srgbClr>
          </a:solidFill>
          <a:ln w="57150" cap="rnd" cmpd="sng" algn="ctr">
            <a:noFill/>
            <a:prstDash val="solid"/>
            <a:round/>
          </a:ln>
          <a:effectLst/>
        </p:spPr>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srgbClr val="FFFFFF"/>
              </a:solidFill>
              <a:effectLst/>
              <a:uLnTx/>
              <a:uFillTx/>
              <a:latin typeface="Arial"/>
              <a:ea typeface="+mn-ea"/>
              <a:cs typeface="+mn-cs"/>
            </a:endParaRPr>
          </a:p>
        </p:txBody>
      </p:sp>
      <p:sp>
        <p:nvSpPr>
          <p:cNvPr id="168" name="îsļïḑê">
            <a:extLst>
              <a:ext uri="{FF2B5EF4-FFF2-40B4-BE49-F238E27FC236}">
                <a16:creationId xmlns:a16="http://schemas.microsoft.com/office/drawing/2014/main" id="{7F5FD18C-158F-7B44-BD4C-1868A44FCE4B}"/>
              </a:ext>
            </a:extLst>
          </p:cNvPr>
          <p:cNvSpPr/>
          <p:nvPr/>
        </p:nvSpPr>
        <p:spPr>
          <a:xfrm>
            <a:off x="6465779" y="5735674"/>
            <a:ext cx="180002" cy="180000"/>
          </a:xfrm>
          <a:prstGeom prst="ellipse">
            <a:avLst/>
          </a:prstGeom>
          <a:solidFill>
            <a:srgbClr val="051C2C"/>
          </a:solidFill>
          <a:ln w="57150" cap="rnd" cmpd="sng" algn="ctr">
            <a:noFill/>
            <a:prstDash val="solid"/>
            <a:round/>
          </a:ln>
          <a:effectLst/>
        </p:spPr>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srgbClr val="FFFFFF"/>
              </a:solidFill>
              <a:effectLst/>
              <a:uLnTx/>
              <a:uFillTx/>
              <a:latin typeface="Arial"/>
              <a:ea typeface="+mn-ea"/>
              <a:cs typeface="+mn-cs"/>
            </a:endParaRPr>
          </a:p>
        </p:txBody>
      </p:sp>
      <p:sp>
        <p:nvSpPr>
          <p:cNvPr id="169" name="Text Placeholder 2">
            <a:extLst>
              <a:ext uri="{FF2B5EF4-FFF2-40B4-BE49-F238E27FC236}">
                <a16:creationId xmlns:a16="http://schemas.microsoft.com/office/drawing/2014/main" id="{71F2E717-D2BA-AD41-A98D-6514572EEE8C}"/>
              </a:ext>
            </a:extLst>
          </p:cNvPr>
          <p:cNvSpPr>
            <a:spLocks noGrp="1"/>
          </p:cNvSpPr>
          <p:nvPr>
            <p:custDataLst>
              <p:tags r:id="rId16"/>
            </p:custDataLst>
          </p:nvPr>
        </p:nvSpPr>
        <p:spPr bwMode="auto">
          <a:xfrm>
            <a:off x="6932610" y="2206189"/>
            <a:ext cx="3614699" cy="718482"/>
          </a:xfrm>
          <a:prstGeom prst="rect">
            <a:avLst/>
          </a:prstGeom>
          <a:noFill/>
          <a:ln>
            <a:noFill/>
          </a:ln>
          <a:effectLst/>
        </p:spPr>
        <p:txBody>
          <a:bodyPr vert="horz" wrap="none" lIns="80963" tIns="80963" rIns="0" bIns="80963"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nSpc>
                <a:spcPct val="150000"/>
              </a:lnSpc>
              <a:spcBef>
                <a:spcPct val="0"/>
              </a:spcBef>
              <a:spcAft>
                <a:spcPct val="0"/>
              </a:spcAft>
              <a:buFont typeface="Segoe UI" panose="020B0502040204020203" pitchFamily="34" charset="0"/>
              <a:buNone/>
            </a:pPr>
            <a:r>
              <a:rPr lang="zh-CN" altLang="en-US"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粗放管理，不断扩容高性能服务器</a:t>
            </a:r>
            <a:endParaRPr lang="en-US" altLang="zh-CN"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endParaRPr>
          </a:p>
        </p:txBody>
      </p:sp>
      <p:sp>
        <p:nvSpPr>
          <p:cNvPr id="170" name="Text Placeholder 2">
            <a:extLst>
              <a:ext uri="{FF2B5EF4-FFF2-40B4-BE49-F238E27FC236}">
                <a16:creationId xmlns:a16="http://schemas.microsoft.com/office/drawing/2014/main" id="{9DB4DA1F-74AF-0049-844B-6F73FFC387E2}"/>
              </a:ext>
            </a:extLst>
          </p:cNvPr>
          <p:cNvSpPr>
            <a:spLocks noGrp="1"/>
          </p:cNvSpPr>
          <p:nvPr>
            <p:custDataLst>
              <p:tags r:id="rId17"/>
            </p:custDataLst>
          </p:nvPr>
        </p:nvSpPr>
        <p:spPr bwMode="auto">
          <a:xfrm>
            <a:off x="6932610" y="3211103"/>
            <a:ext cx="3614699" cy="718482"/>
          </a:xfrm>
          <a:prstGeom prst="rect">
            <a:avLst/>
          </a:prstGeom>
          <a:noFill/>
          <a:ln>
            <a:noFill/>
          </a:ln>
          <a:effectLst/>
        </p:spPr>
        <p:txBody>
          <a:bodyPr vert="horz" wrap="none" lIns="80963" tIns="80963" rIns="0" bIns="80963"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nSpc>
                <a:spcPct val="150000"/>
              </a:lnSpc>
              <a:spcBef>
                <a:spcPct val="0"/>
              </a:spcBef>
              <a:spcAft>
                <a:spcPct val="0"/>
              </a:spcAft>
              <a:buFont typeface="Segoe UI" panose="020B0502040204020203" pitchFamily="34" charset="0"/>
              <a:buNone/>
            </a:pPr>
            <a:r>
              <a:rPr lang="zh-CN" altLang="en-US"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高价雇佣资深</a:t>
            </a:r>
            <a:r>
              <a:rPr lang="en-US" altLang="zh-CN"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DBA</a:t>
            </a:r>
            <a:r>
              <a:rPr lang="zh-CN" altLang="en-US"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，利用经验手动控制</a:t>
            </a:r>
            <a:endParaRPr lang="en-US" altLang="zh-CN"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endParaRPr>
          </a:p>
        </p:txBody>
      </p:sp>
      <p:sp>
        <p:nvSpPr>
          <p:cNvPr id="171" name="Text Placeholder 2">
            <a:extLst>
              <a:ext uri="{FF2B5EF4-FFF2-40B4-BE49-F238E27FC236}">
                <a16:creationId xmlns:a16="http://schemas.microsoft.com/office/drawing/2014/main" id="{29212C5B-FC95-CB47-82D2-DFC253F70913}"/>
              </a:ext>
            </a:extLst>
          </p:cNvPr>
          <p:cNvSpPr>
            <a:spLocks noGrp="1"/>
          </p:cNvSpPr>
          <p:nvPr>
            <p:custDataLst>
              <p:tags r:id="rId18"/>
            </p:custDataLst>
          </p:nvPr>
        </p:nvSpPr>
        <p:spPr bwMode="auto">
          <a:xfrm>
            <a:off x="6932610" y="4338354"/>
            <a:ext cx="3614699" cy="718482"/>
          </a:xfrm>
          <a:prstGeom prst="rect">
            <a:avLst/>
          </a:prstGeom>
          <a:noFill/>
          <a:ln>
            <a:noFill/>
          </a:ln>
          <a:effectLst/>
        </p:spPr>
        <p:txBody>
          <a:bodyPr vert="horz" wrap="none" lIns="80963" tIns="80963" rIns="0" bIns="80963"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nSpc>
                <a:spcPct val="150000"/>
              </a:lnSpc>
              <a:spcBef>
                <a:spcPct val="0"/>
              </a:spcBef>
              <a:spcAft>
                <a:spcPct val="0"/>
              </a:spcAft>
              <a:buFont typeface="Segoe UI" panose="020B0502040204020203" pitchFamily="34" charset="0"/>
              <a:buNone/>
            </a:pPr>
            <a:r>
              <a:rPr lang="zh-CN" altLang="en-US"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特定场景的启发式算法优化</a:t>
            </a:r>
            <a:endParaRPr lang="en-US" altLang="zh-CN"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endParaRPr>
          </a:p>
        </p:txBody>
      </p:sp>
      <p:sp>
        <p:nvSpPr>
          <p:cNvPr id="172" name="Text Placeholder 2">
            <a:extLst>
              <a:ext uri="{FF2B5EF4-FFF2-40B4-BE49-F238E27FC236}">
                <a16:creationId xmlns:a16="http://schemas.microsoft.com/office/drawing/2014/main" id="{F12A9804-55E7-A748-8198-544C74E35695}"/>
              </a:ext>
            </a:extLst>
          </p:cNvPr>
          <p:cNvSpPr>
            <a:spLocks noGrp="1"/>
          </p:cNvSpPr>
          <p:nvPr>
            <p:custDataLst>
              <p:tags r:id="rId19"/>
            </p:custDataLst>
          </p:nvPr>
        </p:nvSpPr>
        <p:spPr bwMode="auto">
          <a:xfrm>
            <a:off x="6926315" y="5466433"/>
            <a:ext cx="3614699" cy="718482"/>
          </a:xfrm>
          <a:prstGeom prst="rect">
            <a:avLst/>
          </a:prstGeom>
          <a:noFill/>
          <a:ln>
            <a:noFill/>
          </a:ln>
          <a:effectLst/>
        </p:spPr>
        <p:txBody>
          <a:bodyPr vert="horz" wrap="none" lIns="80963" tIns="80963" rIns="0" bIns="80963"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nSpc>
                <a:spcPct val="150000"/>
              </a:lnSpc>
              <a:spcBef>
                <a:spcPct val="0"/>
              </a:spcBef>
              <a:spcAft>
                <a:spcPct val="0"/>
              </a:spcAft>
              <a:buFont typeface="Segoe UI" panose="020B0502040204020203" pitchFamily="34" charset="0"/>
              <a:buNone/>
            </a:pPr>
            <a:r>
              <a:rPr lang="zh-CN" altLang="en-US"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基于机器学习和专家经验的数据库自治服务</a:t>
            </a:r>
            <a:endParaRPr lang="en-US" altLang="zh-CN"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endParaRPr>
          </a:p>
        </p:txBody>
      </p:sp>
      <p:cxnSp>
        <p:nvCxnSpPr>
          <p:cNvPr id="173" name="直接连接符 2">
            <a:extLst>
              <a:ext uri="{FF2B5EF4-FFF2-40B4-BE49-F238E27FC236}">
                <a16:creationId xmlns:a16="http://schemas.microsoft.com/office/drawing/2014/main" id="{97B0B655-3275-CA48-B5C6-DF364B84706A}"/>
              </a:ext>
            </a:extLst>
          </p:cNvPr>
          <p:cNvCxnSpPr/>
          <p:nvPr/>
        </p:nvCxnSpPr>
        <p:spPr>
          <a:xfrm>
            <a:off x="6926315" y="3151639"/>
            <a:ext cx="4695838" cy="0"/>
          </a:xfrm>
          <a:prstGeom prst="line">
            <a:avLst/>
          </a:prstGeom>
          <a:noFill/>
          <a:ln w="6350" cap="flat" cmpd="sng" algn="ctr">
            <a:solidFill>
              <a:srgbClr val="9397BB"/>
            </a:solidFill>
            <a:prstDash val="dash"/>
            <a:miter lim="800000"/>
            <a:tailEnd type="none"/>
          </a:ln>
          <a:effectLst/>
        </p:spPr>
      </p:cxnSp>
      <p:cxnSp>
        <p:nvCxnSpPr>
          <p:cNvPr id="174" name="直接连接符 26">
            <a:extLst>
              <a:ext uri="{FF2B5EF4-FFF2-40B4-BE49-F238E27FC236}">
                <a16:creationId xmlns:a16="http://schemas.microsoft.com/office/drawing/2014/main" id="{357D0B71-496C-564A-AFD5-A1B97A92021A}"/>
              </a:ext>
            </a:extLst>
          </p:cNvPr>
          <p:cNvCxnSpPr/>
          <p:nvPr/>
        </p:nvCxnSpPr>
        <p:spPr>
          <a:xfrm>
            <a:off x="6932610" y="4172599"/>
            <a:ext cx="4695838" cy="0"/>
          </a:xfrm>
          <a:prstGeom prst="line">
            <a:avLst/>
          </a:prstGeom>
          <a:noFill/>
          <a:ln w="6350" cap="flat" cmpd="sng" algn="ctr">
            <a:solidFill>
              <a:srgbClr val="9397BB"/>
            </a:solidFill>
            <a:prstDash val="dash"/>
            <a:miter lim="800000"/>
            <a:tailEnd type="none"/>
          </a:ln>
          <a:effectLst/>
        </p:spPr>
      </p:cxnSp>
      <p:cxnSp>
        <p:nvCxnSpPr>
          <p:cNvPr id="175" name="直接连接符 27">
            <a:extLst>
              <a:ext uri="{FF2B5EF4-FFF2-40B4-BE49-F238E27FC236}">
                <a16:creationId xmlns:a16="http://schemas.microsoft.com/office/drawing/2014/main" id="{851AD3D6-DA0E-394E-8A36-53E5214B5EF2}"/>
              </a:ext>
            </a:extLst>
          </p:cNvPr>
          <p:cNvCxnSpPr/>
          <p:nvPr/>
        </p:nvCxnSpPr>
        <p:spPr>
          <a:xfrm>
            <a:off x="6932610" y="5254897"/>
            <a:ext cx="4695838" cy="0"/>
          </a:xfrm>
          <a:prstGeom prst="line">
            <a:avLst/>
          </a:prstGeom>
          <a:noFill/>
          <a:ln w="6350" cap="flat" cmpd="sng" algn="ctr">
            <a:solidFill>
              <a:srgbClr val="9397BB"/>
            </a:solidFill>
            <a:prstDash val="dash"/>
            <a:miter lim="800000"/>
            <a:tailEnd type="none"/>
          </a:ln>
          <a:effectLst/>
        </p:spPr>
      </p:cxnSp>
    </p:spTree>
    <p:extLst>
      <p:ext uri="{BB962C8B-B14F-4D97-AF65-F5344CB8AC3E}">
        <p14:creationId xmlns:p14="http://schemas.microsoft.com/office/powerpoint/2010/main" val="235329800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56B0FAB-5FF6-8442-B8F5-B2983B7ECC2D}"/>
              </a:ext>
            </a:extLst>
          </p:cNvPr>
          <p:cNvSpPr/>
          <p:nvPr/>
        </p:nvSpPr>
        <p:spPr>
          <a:xfrm>
            <a:off x="3443443" y="136800"/>
            <a:ext cx="5636164" cy="677108"/>
          </a:xfrm>
          <a:prstGeom prst="rect">
            <a:avLst/>
          </a:prstGeom>
        </p:spPr>
        <p:txBody>
          <a:bodyPr wrap="square">
            <a:spAutoFit/>
          </a:bodyPr>
          <a:lstStyle/>
          <a:p>
            <a:pPr defTabSz="457200">
              <a:defRPr/>
            </a:pPr>
            <a:r>
              <a:rPr kumimoji="1" lang="zh-CN" altLang="en-US" sz="3800" b="1" kern="0" dirty="0">
                <a:solidFill>
                  <a:srgbClr val="000000"/>
                </a:solidFill>
                <a:latin typeface="Arial" panose="020B0604020202020204" pitchFamily="34" charset="0"/>
                <a:ea typeface="黑体" panose="02010609060101010101" pitchFamily="49" charset="-122"/>
                <a:cs typeface="Arial" panose="020B0604020202020204" pitchFamily="34" charset="0"/>
              </a:rPr>
              <a:t>智能数据库系统 </a:t>
            </a:r>
            <a:r>
              <a:rPr kumimoji="1" lang="en-US" altLang="zh-CN" sz="3800" b="1" kern="0" dirty="0">
                <a:solidFill>
                  <a:srgbClr val="000000"/>
                </a:solidFill>
                <a:latin typeface="Arial" panose="020B0604020202020204" pitchFamily="34" charset="0"/>
                <a:ea typeface="黑体" panose="02010609060101010101" pitchFamily="49" charset="-122"/>
                <a:cs typeface="Arial" panose="020B0604020202020204" pitchFamily="34" charset="0"/>
              </a:rPr>
              <a:t>(AI4DB)</a:t>
            </a:r>
            <a:endParaRPr lang="zh-CN" altLang="en-US" sz="3800" dirty="0">
              <a:solidFill>
                <a:prstClr val="black"/>
              </a:solidFill>
              <a:latin typeface="Arial" panose="020B0604020202020204" pitchFamily="34" charset="0"/>
              <a:ea typeface="等线" panose="02010600030101010101" pitchFamily="2" charset="-122"/>
              <a:cs typeface="Arial" panose="020B0604020202020204" pitchFamily="34" charset="0"/>
            </a:endParaRPr>
          </a:p>
        </p:txBody>
      </p:sp>
      <p:sp>
        <p:nvSpPr>
          <p:cNvPr id="6" name="灯片编号占位符 1">
            <a:extLst>
              <a:ext uri="{FF2B5EF4-FFF2-40B4-BE49-F238E27FC236}">
                <a16:creationId xmlns:a16="http://schemas.microsoft.com/office/drawing/2014/main" id="{2F5A7494-8B7B-8045-8DCA-3A8DA4BDE19B}"/>
              </a:ext>
            </a:extLst>
          </p:cNvPr>
          <p:cNvSpPr txBox="1">
            <a:spLocks/>
          </p:cNvSpPr>
          <p:nvPr/>
        </p:nvSpPr>
        <p:spPr>
          <a:xfrm>
            <a:off x="11571088" y="6532912"/>
            <a:ext cx="765605" cy="476250"/>
          </a:xfrm>
          <a:prstGeom prst="rect">
            <a:avLst/>
          </a:prstGeom>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87BBDC00-B9E2-4EFD-9306-2934E87247C6}" type="slidenum">
              <a:rPr kumimoji="0" lang="zh-CN" altLang="en-US" sz="1800" b="0" i="0" u="none" strike="noStrike" kern="1200" cap="none" spc="0" normalizeH="0" baseline="0" noProof="0" smtClean="0">
                <a:ln>
                  <a:noFill/>
                </a:ln>
                <a:solidFill>
                  <a:prstClr val="black"/>
                </a:solidFill>
                <a:effectLst/>
                <a:uLnTx/>
                <a:uFillTx/>
                <a:latin typeface="Calibri"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103</a:t>
            </a:fld>
            <a:endParaRPr kumimoji="0" lang="zh-CN" altLang="en-US" sz="1800" b="0" i="0" u="none" strike="noStrike" kern="1200" cap="none" spc="0" normalizeH="0" baseline="0" noProof="0" dirty="0">
              <a:ln>
                <a:noFill/>
              </a:ln>
              <a:solidFill>
                <a:srgbClr val="000000"/>
              </a:solidFill>
              <a:effectLst/>
              <a:uLnTx/>
              <a:uFillTx/>
              <a:latin typeface="Times New Roman"/>
              <a:ea typeface="华文楷体"/>
              <a:cs typeface="+mn-cs"/>
            </a:endParaRPr>
          </a:p>
        </p:txBody>
      </p:sp>
      <p:sp>
        <p:nvSpPr>
          <p:cNvPr id="148" name="标题 1">
            <a:extLst>
              <a:ext uri="{FF2B5EF4-FFF2-40B4-BE49-F238E27FC236}">
                <a16:creationId xmlns:a16="http://schemas.microsoft.com/office/drawing/2014/main" id="{60C1AE89-16D4-FA46-B519-D253790D8A3C}"/>
              </a:ext>
            </a:extLst>
          </p:cNvPr>
          <p:cNvSpPr txBox="1">
            <a:spLocks/>
          </p:cNvSpPr>
          <p:nvPr/>
        </p:nvSpPr>
        <p:spPr>
          <a:xfrm>
            <a:off x="876708" y="1015751"/>
            <a:ext cx="10514378" cy="718482"/>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500" b="1" kern="1200" spc="0" baseline="0">
                <a:ln w="6350" cap="flat">
                  <a:noFill/>
                  <a:miter lim="800000"/>
                </a:ln>
                <a:solidFill>
                  <a:schemeClr val="tx1"/>
                </a:solidFill>
                <a:latin typeface="KaiTi" panose="02010609060101010101" pitchFamily="49" charset="-122"/>
                <a:ea typeface="KaiTi" panose="02010609060101010101" pitchFamily="49" charset="-122"/>
                <a:cs typeface="+mj-cs"/>
              </a:defRPr>
            </a:lvl1pPr>
          </a:lstStyle>
          <a:p>
            <a:pPr algn="ctr">
              <a:lnSpc>
                <a:spcPct val="120000"/>
              </a:lnSpc>
            </a:pPr>
            <a:r>
              <a:rPr lang="zh-CN" altLang="en-US" sz="2300" dirty="0">
                <a:solidFill>
                  <a:srgbClr val="000000"/>
                </a:solidFill>
                <a:latin typeface="Arial" panose="020B0604020202020204" pitchFamily="34" charset="0"/>
                <a:ea typeface="微软雅黑" panose="020B0503020204020204" pitchFamily="34" charset="-122"/>
                <a:cs typeface="Arial" panose="020B0604020202020204" pitchFamily="34" charset="0"/>
              </a:rPr>
              <a:t>数据库性能瓶颈的成因复杂，性能优化是一项高门槛、高投入的工作，资深</a:t>
            </a:r>
            <a:r>
              <a:rPr lang="en-US" altLang="zh-CN" sz="2300" dirty="0">
                <a:solidFill>
                  <a:srgbClr val="000000"/>
                </a:solidFill>
                <a:latin typeface="Arial" panose="020B0604020202020204" pitchFamily="34" charset="0"/>
                <a:ea typeface="微软雅黑" panose="020B0503020204020204" pitchFamily="34" charset="-122"/>
                <a:cs typeface="Arial" panose="020B0604020202020204" pitchFamily="34" charset="0"/>
              </a:rPr>
              <a:t>DBA</a:t>
            </a:r>
            <a:r>
              <a:rPr lang="zh-CN" altLang="en-US" sz="2300" dirty="0">
                <a:solidFill>
                  <a:srgbClr val="000000"/>
                </a:solidFill>
                <a:latin typeface="Arial" panose="020B0604020202020204" pitchFamily="34" charset="0"/>
                <a:ea typeface="微软雅黑" panose="020B0503020204020204" pitchFamily="34" charset="-122"/>
                <a:cs typeface="Arial" panose="020B0604020202020204" pitchFamily="34" charset="0"/>
              </a:rPr>
              <a:t>也需要花费大量时间理解当前情况进行手动调整</a:t>
            </a:r>
            <a:endParaRPr lang="zh-CN" altLang="en-US" sz="2300" baseline="3000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149" name="Text Placeholder 2">
            <a:extLst>
              <a:ext uri="{FF2B5EF4-FFF2-40B4-BE49-F238E27FC236}">
                <a16:creationId xmlns:a16="http://schemas.microsoft.com/office/drawing/2014/main" id="{E0697ED2-FF0A-3C4B-B1E3-0F2D4C8288EB}"/>
              </a:ext>
            </a:extLst>
          </p:cNvPr>
          <p:cNvSpPr>
            <a:spLocks noGrp="1"/>
          </p:cNvSpPr>
          <p:nvPr>
            <p:custDataLst>
              <p:tags r:id="rId1"/>
            </p:custDataLst>
          </p:nvPr>
        </p:nvSpPr>
        <p:spPr bwMode="auto">
          <a:xfrm>
            <a:off x="1627466" y="1805383"/>
            <a:ext cx="3614699" cy="718482"/>
          </a:xfrm>
          <a:prstGeom prst="rect">
            <a:avLst/>
          </a:prstGeom>
          <a:noFill/>
          <a:ln>
            <a:noFill/>
          </a:ln>
          <a:effectLst/>
        </p:spPr>
        <p:txBody>
          <a:bodyPr vert="horz" wrap="none" lIns="80963" tIns="80963" rIns="0" bIns="80963"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nSpc>
                <a:spcPct val="150000"/>
              </a:lnSpc>
              <a:spcBef>
                <a:spcPct val="0"/>
              </a:spcBef>
              <a:spcAft>
                <a:spcPct val="0"/>
              </a:spcAft>
              <a:buFont typeface="Segoe UI" panose="020B0502040204020203" pitchFamily="34" charset="0"/>
              <a:buNone/>
            </a:pPr>
            <a:r>
              <a:rPr lang="zh-CN" altLang="en-US"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数据库性能问题成因调查</a:t>
            </a:r>
            <a:endParaRPr lang="en-US" altLang="zh-CN"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endParaRPr>
          </a:p>
        </p:txBody>
      </p:sp>
      <p:graphicFrame>
        <p:nvGraphicFramePr>
          <p:cNvPr id="150" name="Chart 3">
            <a:extLst>
              <a:ext uri="{FF2B5EF4-FFF2-40B4-BE49-F238E27FC236}">
                <a16:creationId xmlns:a16="http://schemas.microsoft.com/office/drawing/2014/main" id="{06402F79-67A8-CC45-9737-3D2105091D0A}"/>
              </a:ext>
            </a:extLst>
          </p:cNvPr>
          <p:cNvGraphicFramePr/>
          <p:nvPr>
            <p:custDataLst>
              <p:tags r:id="rId2"/>
            </p:custDataLst>
          </p:nvPr>
        </p:nvGraphicFramePr>
        <p:xfrm>
          <a:off x="925199" y="2842274"/>
          <a:ext cx="4864100" cy="3022600"/>
        </p:xfrm>
        <a:graphic>
          <a:graphicData uri="http://schemas.openxmlformats.org/drawingml/2006/chart">
            <c:chart xmlns:c="http://schemas.openxmlformats.org/drawingml/2006/chart" xmlns:r="http://schemas.openxmlformats.org/officeDocument/2006/relationships" r:id="rId23"/>
          </a:graphicData>
        </a:graphic>
      </p:graphicFrame>
      <p:sp>
        <p:nvSpPr>
          <p:cNvPr id="151" name="Text Placeholder 2">
            <a:extLst>
              <a:ext uri="{FF2B5EF4-FFF2-40B4-BE49-F238E27FC236}">
                <a16:creationId xmlns:a16="http://schemas.microsoft.com/office/drawing/2014/main" id="{746388C2-B755-8F45-B039-25AA6C039745}"/>
              </a:ext>
            </a:extLst>
          </p:cNvPr>
          <p:cNvSpPr>
            <a:spLocks noGrp="1"/>
          </p:cNvSpPr>
          <p:nvPr>
            <p:custDataLst>
              <p:tags r:id="rId3"/>
            </p:custDataLst>
          </p:nvPr>
        </p:nvSpPr>
        <p:spPr bwMode="auto">
          <a:xfrm>
            <a:off x="2900049" y="2620024"/>
            <a:ext cx="914400" cy="2746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fld id="{0F265A13-FD44-4321-991F-B662A4B48056}" type="datetime'''''''''''''查''''''''''''''询''''''''''''质''''''''''''''量'''''">
              <a:rPr lang="zh-CN"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spcBef>
                  <a:spcPct val="0"/>
                </a:spcBef>
                <a:spcAft>
                  <a:spcPct val="0"/>
                </a:spcAft>
              </a:pPr>
              <a:t>查询质量</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2" name="Text Placeholder 2">
            <a:extLst>
              <a:ext uri="{FF2B5EF4-FFF2-40B4-BE49-F238E27FC236}">
                <a16:creationId xmlns:a16="http://schemas.microsoft.com/office/drawing/2014/main" id="{27A33EE1-DC54-044E-BE13-2BFEB4A46F43}"/>
              </a:ext>
            </a:extLst>
          </p:cNvPr>
          <p:cNvSpPr>
            <a:spLocks noGrp="1"/>
          </p:cNvSpPr>
          <p:nvPr>
            <p:custDataLst>
              <p:tags r:id="rId4"/>
            </p:custDataLst>
          </p:nvPr>
        </p:nvSpPr>
        <p:spPr bwMode="auto">
          <a:xfrm>
            <a:off x="4832036" y="4075761"/>
            <a:ext cx="914400" cy="2746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fld id="{1A1B9E4E-CFFD-4246-8258-F6FB3D88098C}" type="datetime'''''''''''''审''''计''''''''''''''质''''''''''量'''''''''''''''''">
              <a:rPr lang="zh-CN"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spcBef>
                  <a:spcPct val="0"/>
                </a:spcBef>
                <a:spcAft>
                  <a:spcPct val="0"/>
                </a:spcAft>
              </a:pPr>
              <a:t>审计质量</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3" name="Text Placeholder 2">
            <a:extLst>
              <a:ext uri="{FF2B5EF4-FFF2-40B4-BE49-F238E27FC236}">
                <a16:creationId xmlns:a16="http://schemas.microsoft.com/office/drawing/2014/main" id="{976BFB57-BAA2-824D-A8DF-32033EE38D15}"/>
              </a:ext>
            </a:extLst>
          </p:cNvPr>
          <p:cNvSpPr>
            <a:spLocks noGrp="1"/>
          </p:cNvSpPr>
          <p:nvPr>
            <p:custDataLst>
              <p:tags r:id="rId5"/>
            </p:custDataLst>
          </p:nvPr>
        </p:nvSpPr>
        <p:spPr bwMode="gray">
          <a:xfrm>
            <a:off x="2025336" y="3799536"/>
            <a:ext cx="725488" cy="274638"/>
          </a:xfrm>
          <a:prstGeom prst="rect">
            <a:avLst/>
          </a:prstGeom>
          <a:noFill/>
          <a:ln>
            <a:noFill/>
          </a:ln>
          <a:effectLst/>
        </p:spPr>
        <p:txBody>
          <a:bodyPr vert="horz" wrap="none" lIns="33338" tIns="0" rIns="33338"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72F1EBE6-D21F-449B-B0FC-15052DEC844E}" type="datetime'''''''''''''''''6''''''''''.''''''''''''''''''''0''''''''0%'">
              <a:rPr kumimoji="0" lang="en-US" altLang="en-US" sz="1800" b="0" i="0" u="none" strike="noStrike" kern="120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6.00%</a:t>
            </a:fld>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endParaRPr>
          </a:p>
        </p:txBody>
      </p:sp>
      <p:sp>
        <p:nvSpPr>
          <p:cNvPr id="154" name="Text Placeholder 2">
            <a:extLst>
              <a:ext uri="{FF2B5EF4-FFF2-40B4-BE49-F238E27FC236}">
                <a16:creationId xmlns:a16="http://schemas.microsoft.com/office/drawing/2014/main" id="{FD895A07-3672-294B-9A2A-27B354C17C05}"/>
              </a:ext>
            </a:extLst>
          </p:cNvPr>
          <p:cNvSpPr>
            <a:spLocks noGrp="1"/>
          </p:cNvSpPr>
          <p:nvPr>
            <p:custDataLst>
              <p:tags r:id="rId6"/>
            </p:custDataLst>
          </p:nvPr>
        </p:nvSpPr>
        <p:spPr bwMode="auto">
          <a:xfrm>
            <a:off x="4648385" y="5056836"/>
            <a:ext cx="914400" cy="2746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fld id="{8A79682C-D83C-4A79-AD2B-6CF6B57E0B1D}" type="datetime'''''''''''''''''''参''''''''数''''''''''配置'''''''''''''''''''">
              <a:rPr lang="zh-CN"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spcBef>
                  <a:spcPct val="0"/>
                </a:spcBef>
                <a:spcAft>
                  <a:spcPct val="0"/>
                </a:spcAft>
              </a:pPr>
              <a:t>参数配置</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5" name="Text Placeholder 2">
            <a:extLst>
              <a:ext uri="{FF2B5EF4-FFF2-40B4-BE49-F238E27FC236}">
                <a16:creationId xmlns:a16="http://schemas.microsoft.com/office/drawing/2014/main" id="{0E2F9809-BBD2-1542-B999-C3AF7BE51932}"/>
              </a:ext>
            </a:extLst>
          </p:cNvPr>
          <p:cNvSpPr>
            <a:spLocks noGrp="1"/>
          </p:cNvSpPr>
          <p:nvPr>
            <p:custDataLst>
              <p:tags r:id="rId7"/>
            </p:custDataLst>
          </p:nvPr>
        </p:nvSpPr>
        <p:spPr bwMode="auto">
          <a:xfrm>
            <a:off x="593411" y="5475936"/>
            <a:ext cx="1828800" cy="2746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r">
              <a:spcBef>
                <a:spcPct val="0"/>
              </a:spcBef>
              <a:spcAft>
                <a:spcPct val="0"/>
              </a:spcAft>
            </a:pPr>
            <a:fld id="{811FFEB8-F250-44AF-9516-D3D90D53F363}" type="datetime'执''''行''''计划''''''''''''''缓''''存''''''''不''足'">
              <a:rPr lang="zh-CN"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lgn="r">
                <a:spcBef>
                  <a:spcPct val="0"/>
                </a:spcBef>
                <a:spcAft>
                  <a:spcPct val="0"/>
                </a:spcAft>
              </a:pPr>
              <a:t>执行计划缓存不足</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6" name="Text Placeholder 2">
            <a:extLst>
              <a:ext uri="{FF2B5EF4-FFF2-40B4-BE49-F238E27FC236}">
                <a16:creationId xmlns:a16="http://schemas.microsoft.com/office/drawing/2014/main" id="{D6647D20-FDCC-6A4E-96BB-B13D9E3D38D4}"/>
              </a:ext>
            </a:extLst>
          </p:cNvPr>
          <p:cNvSpPr>
            <a:spLocks noGrp="1"/>
          </p:cNvSpPr>
          <p:nvPr>
            <p:custDataLst>
              <p:tags r:id="rId8"/>
            </p:custDataLst>
          </p:nvPr>
        </p:nvSpPr>
        <p:spPr bwMode="gray">
          <a:xfrm>
            <a:off x="1925324" y="4159899"/>
            <a:ext cx="725488" cy="274638"/>
          </a:xfrm>
          <a:prstGeom prst="rect">
            <a:avLst/>
          </a:prstGeom>
          <a:noFill/>
          <a:ln>
            <a:noFill/>
          </a:ln>
          <a:effectLst/>
        </p:spPr>
        <p:txBody>
          <a:bodyPr vert="horz" wrap="none" lIns="33338" tIns="0" rIns="33338"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pPr>
            <a:fld id="{3A4F7EC2-4549-4448-B474-98212F9429AD}" type="datetime'4''''''''''''''''''''''.''''''0''0''''%'''''''''''''''''''''">
              <a:rPr lang="en-US"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lgn="ctr">
                <a:spcBef>
                  <a:spcPct val="0"/>
                </a:spcBef>
                <a:spcAft>
                  <a:spcPct val="0"/>
                </a:spcAft>
              </a:pPr>
              <a:t>4.00%</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7" name="Text Placeholder 2">
            <a:extLst>
              <a:ext uri="{FF2B5EF4-FFF2-40B4-BE49-F238E27FC236}">
                <a16:creationId xmlns:a16="http://schemas.microsoft.com/office/drawing/2014/main" id="{EEB418CC-BC13-9042-B0E5-810D0D70F7D7}"/>
              </a:ext>
            </a:extLst>
          </p:cNvPr>
          <p:cNvSpPr>
            <a:spLocks noGrp="1"/>
          </p:cNvSpPr>
          <p:nvPr>
            <p:custDataLst>
              <p:tags r:id="rId9"/>
            </p:custDataLst>
          </p:nvPr>
        </p:nvSpPr>
        <p:spPr bwMode="auto">
          <a:xfrm>
            <a:off x="2411099" y="5814074"/>
            <a:ext cx="914400" cy="2746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r">
              <a:spcBef>
                <a:spcPct val="0"/>
              </a:spcBef>
              <a:spcAft>
                <a:spcPct val="0"/>
              </a:spcAft>
            </a:pPr>
            <a:fld id="{B6CA9F19-E7B3-4DC4-A062-BC8F3126AF93}" type="datetime'''''''''''''''''''''''''''''''''''''''''''索''''引''''问题'''''''">
              <a:rPr lang="zh-CN"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lgn="r">
                <a:spcBef>
                  <a:spcPct val="0"/>
                </a:spcBef>
                <a:spcAft>
                  <a:spcPct val="0"/>
                </a:spcAft>
              </a:pPr>
              <a:t>索引问题</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8" name="Text Placeholder 2">
            <a:extLst>
              <a:ext uri="{FF2B5EF4-FFF2-40B4-BE49-F238E27FC236}">
                <a16:creationId xmlns:a16="http://schemas.microsoft.com/office/drawing/2014/main" id="{36D918D3-72BE-124A-A579-3D0F272AC81B}"/>
              </a:ext>
            </a:extLst>
          </p:cNvPr>
          <p:cNvSpPr>
            <a:spLocks noGrp="1"/>
          </p:cNvSpPr>
          <p:nvPr>
            <p:custDataLst>
              <p:tags r:id="rId10"/>
            </p:custDataLst>
          </p:nvPr>
        </p:nvSpPr>
        <p:spPr bwMode="gray">
          <a:xfrm>
            <a:off x="2138397" y="4911580"/>
            <a:ext cx="725488" cy="274638"/>
          </a:xfrm>
          <a:prstGeom prst="rect">
            <a:avLst/>
          </a:prstGeom>
          <a:noFill/>
          <a:ln>
            <a:noFill/>
          </a:ln>
          <a:effectLst/>
        </p:spPr>
        <p:txBody>
          <a:bodyPr vert="horz" wrap="none" lIns="33338" tIns="0" rIns="33338"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pPr>
            <a:fld id="{9A1AB7B9-42B1-40E7-8601-7282700D54FE}" type="datetime'''8''''.''''0''''''''0''''''''''''''''%'''''''''''''''">
              <a:rPr lang="en-US"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lgn="ctr">
                <a:spcBef>
                  <a:spcPct val="0"/>
                </a:spcBef>
                <a:spcAft>
                  <a:spcPct val="0"/>
                </a:spcAft>
              </a:pPr>
              <a:t>8.00%</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9" name="Text Placeholder 2">
            <a:extLst>
              <a:ext uri="{FF2B5EF4-FFF2-40B4-BE49-F238E27FC236}">
                <a16:creationId xmlns:a16="http://schemas.microsoft.com/office/drawing/2014/main" id="{F492DA0C-CE2C-4F4A-88CA-38861BBBE78A}"/>
              </a:ext>
            </a:extLst>
          </p:cNvPr>
          <p:cNvSpPr>
            <a:spLocks noGrp="1"/>
          </p:cNvSpPr>
          <p:nvPr>
            <p:custDataLst>
              <p:tags r:id="rId11"/>
            </p:custDataLst>
          </p:nvPr>
        </p:nvSpPr>
        <p:spPr bwMode="auto">
          <a:xfrm>
            <a:off x="517211" y="4102749"/>
            <a:ext cx="1371600" cy="2746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r">
              <a:spcBef>
                <a:spcPct val="0"/>
              </a:spcBef>
              <a:spcAft>
                <a:spcPct val="0"/>
              </a:spcAft>
            </a:pPr>
            <a:fld id="{0D62146D-B819-4E3B-8A5D-55F79E37EAD7}" type="datetime'''''''''''''''''数据缓''''''''''''存不''足'''''''''''">
              <a:rPr lang="zh-CN"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lgn="r">
                <a:spcBef>
                  <a:spcPct val="0"/>
                </a:spcBef>
                <a:spcAft>
                  <a:spcPct val="0"/>
                </a:spcAft>
              </a:pPr>
              <a:t>数据缓存不足</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0" name="Text Placeholder 2">
            <a:extLst>
              <a:ext uri="{FF2B5EF4-FFF2-40B4-BE49-F238E27FC236}">
                <a16:creationId xmlns:a16="http://schemas.microsoft.com/office/drawing/2014/main" id="{4C9E19E1-6A4C-2B4B-B0F4-7FF3344D64D1}"/>
              </a:ext>
            </a:extLst>
          </p:cNvPr>
          <p:cNvSpPr>
            <a:spLocks noGrp="1"/>
          </p:cNvSpPr>
          <p:nvPr>
            <p:custDataLst>
              <p:tags r:id="rId12"/>
            </p:custDataLst>
          </p:nvPr>
        </p:nvSpPr>
        <p:spPr bwMode="auto">
          <a:xfrm>
            <a:off x="336236" y="4753624"/>
            <a:ext cx="1600200" cy="2746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r">
              <a:spcBef>
                <a:spcPct val="0"/>
              </a:spcBef>
              <a:spcAft>
                <a:spcPct val="0"/>
              </a:spcAft>
            </a:pPr>
            <a:fld id="{F07DBB3B-4A8E-4314-B670-1C2FF587585B}" type="datetime'''''一''''''''''''致''性''''''''''''''''''模''型''''''''问''''''题'''">
              <a:rPr lang="zh-CN"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lgn="r">
                <a:spcBef>
                  <a:spcPct val="0"/>
                </a:spcBef>
                <a:spcAft>
                  <a:spcPct val="0"/>
                </a:spcAft>
              </a:pPr>
              <a:t>一致性模型问题</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1" name="Text Placeholder 2">
            <a:extLst>
              <a:ext uri="{FF2B5EF4-FFF2-40B4-BE49-F238E27FC236}">
                <a16:creationId xmlns:a16="http://schemas.microsoft.com/office/drawing/2014/main" id="{8C4506CD-B83E-E043-98D1-08E6D43430F5}"/>
              </a:ext>
            </a:extLst>
          </p:cNvPr>
          <p:cNvSpPr>
            <a:spLocks noGrp="1"/>
          </p:cNvSpPr>
          <p:nvPr>
            <p:custDataLst>
              <p:tags r:id="rId13"/>
            </p:custDataLst>
          </p:nvPr>
        </p:nvSpPr>
        <p:spPr bwMode="auto">
          <a:xfrm>
            <a:off x="1518924" y="3569349"/>
            <a:ext cx="457200" cy="2746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r">
              <a:spcBef>
                <a:spcPct val="0"/>
              </a:spcBef>
              <a:spcAft>
                <a:spcPct val="0"/>
              </a:spcAft>
            </a:pPr>
            <a:fld id="{664ED98B-61BF-4153-B764-033404A6C1A0}" type="datetime'''''''''''''''''''''''''''''''''''''''其''''''''他'''''">
              <a:rPr lang="zh-CN"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lgn="r">
                <a:spcBef>
                  <a:spcPct val="0"/>
                </a:spcBef>
                <a:spcAft>
                  <a:spcPct val="0"/>
                </a:spcAft>
              </a:pPr>
              <a:t>其他</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2" name="Text Placeholder 2">
            <a:extLst>
              <a:ext uri="{FF2B5EF4-FFF2-40B4-BE49-F238E27FC236}">
                <a16:creationId xmlns:a16="http://schemas.microsoft.com/office/drawing/2014/main" id="{1D9677E5-B838-CA46-87F4-DDD31A9BC15C}"/>
              </a:ext>
            </a:extLst>
          </p:cNvPr>
          <p:cNvSpPr>
            <a:spLocks noGrp="1"/>
          </p:cNvSpPr>
          <p:nvPr>
            <p:custDataLst>
              <p:tags r:id="rId14"/>
            </p:custDataLst>
          </p:nvPr>
        </p:nvSpPr>
        <p:spPr bwMode="gray">
          <a:xfrm>
            <a:off x="1998349" y="4564711"/>
            <a:ext cx="725488" cy="274638"/>
          </a:xfrm>
          <a:prstGeom prst="rect">
            <a:avLst/>
          </a:prstGeom>
          <a:noFill/>
          <a:ln>
            <a:noFill/>
          </a:ln>
          <a:effectLst/>
        </p:spPr>
        <p:txBody>
          <a:bodyPr vert="horz" wrap="none" lIns="33338" tIns="0" rIns="33338"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a:spcBef>
                <a:spcPct val="0"/>
              </a:spcBef>
              <a:spcAft>
                <a:spcPct val="0"/>
              </a:spcAft>
            </a:pPr>
            <a:fld id="{32B85D9B-C580-498F-BB7B-6C9C16BD96C0}" type="datetime'7.''''0''''''''''''''''''''''''''''0''''%'''''''''''''">
              <a:rPr lang="en-US" altLang="en-US" sz="18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pPr algn="ctr">
                <a:spcBef>
                  <a:spcPct val="0"/>
                </a:spcBef>
                <a:spcAft>
                  <a:spcPct val="0"/>
                </a:spcAft>
              </a:pPr>
              <a:t>7.00%</a:t>
            </a:fld>
            <a:endPar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163" name="îśľîḓé">
            <a:extLst>
              <a:ext uri="{FF2B5EF4-FFF2-40B4-BE49-F238E27FC236}">
                <a16:creationId xmlns:a16="http://schemas.microsoft.com/office/drawing/2014/main" id="{47F21CDC-B143-4B4F-8ED7-26218EE6326E}"/>
              </a:ext>
            </a:extLst>
          </p:cNvPr>
          <p:cNvCxnSpPr>
            <a:cxnSpLocks/>
          </p:cNvCxnSpPr>
          <p:nvPr/>
        </p:nvCxnSpPr>
        <p:spPr>
          <a:xfrm>
            <a:off x="6555780" y="2095825"/>
            <a:ext cx="0" cy="4500000"/>
          </a:xfrm>
          <a:prstGeom prst="line">
            <a:avLst/>
          </a:prstGeom>
          <a:noFill/>
          <a:ln w="28575" cap="flat" cmpd="sng" algn="ctr">
            <a:solidFill>
              <a:srgbClr val="051C2C">
                <a:lumMod val="75000"/>
                <a:lumOff val="25000"/>
              </a:srgbClr>
            </a:solidFill>
            <a:prstDash val="solid"/>
          </a:ln>
          <a:effectLst/>
        </p:spPr>
      </p:cxnSp>
      <p:sp>
        <p:nvSpPr>
          <p:cNvPr id="164" name="Text Placeholder 2">
            <a:extLst>
              <a:ext uri="{FF2B5EF4-FFF2-40B4-BE49-F238E27FC236}">
                <a16:creationId xmlns:a16="http://schemas.microsoft.com/office/drawing/2014/main" id="{2DBDBB56-89E9-5E4A-AB5F-B31870D12720}"/>
              </a:ext>
            </a:extLst>
          </p:cNvPr>
          <p:cNvSpPr>
            <a:spLocks noGrp="1"/>
          </p:cNvSpPr>
          <p:nvPr>
            <p:custDataLst>
              <p:tags r:id="rId15"/>
            </p:custDataLst>
          </p:nvPr>
        </p:nvSpPr>
        <p:spPr bwMode="auto">
          <a:xfrm>
            <a:off x="5941365" y="3832408"/>
            <a:ext cx="412454" cy="718482"/>
          </a:xfrm>
          <a:prstGeom prst="rect">
            <a:avLst/>
          </a:prstGeom>
          <a:noFill/>
          <a:ln>
            <a:noFill/>
          </a:ln>
          <a:effectLst/>
        </p:spPr>
        <p:txBody>
          <a:bodyPr vert="horz" wrap="none" lIns="80963" tIns="80963" rIns="0" bIns="80963"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buFont typeface="Segoe UI" panose="020B0502040204020203" pitchFamily="34" charset="0"/>
              <a:buNone/>
            </a:pPr>
            <a:r>
              <a:rPr lang="zh-CN" altLang="en-US"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解</a:t>
            </a:r>
            <a:endParaRPr lang="en-US" altLang="zh-CN"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endParaRPr>
          </a:p>
          <a:p>
            <a:pPr>
              <a:spcBef>
                <a:spcPct val="0"/>
              </a:spcBef>
              <a:spcAft>
                <a:spcPct val="0"/>
              </a:spcAft>
              <a:buFont typeface="Segoe UI" panose="020B0502040204020203" pitchFamily="34" charset="0"/>
              <a:buNone/>
            </a:pPr>
            <a:r>
              <a:rPr lang="zh-CN" altLang="en-US"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决</a:t>
            </a:r>
            <a:endParaRPr lang="en-US" altLang="zh-CN"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endParaRPr>
          </a:p>
          <a:p>
            <a:pPr>
              <a:spcBef>
                <a:spcPct val="0"/>
              </a:spcBef>
              <a:spcAft>
                <a:spcPct val="0"/>
              </a:spcAft>
              <a:buFont typeface="Segoe UI" panose="020B0502040204020203" pitchFamily="34" charset="0"/>
              <a:buNone/>
            </a:pPr>
            <a:r>
              <a:rPr lang="zh-CN" altLang="en-US"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方</a:t>
            </a:r>
            <a:endParaRPr lang="en-US" altLang="zh-CN"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endParaRPr>
          </a:p>
          <a:p>
            <a:pPr>
              <a:spcBef>
                <a:spcPct val="0"/>
              </a:spcBef>
              <a:spcAft>
                <a:spcPct val="0"/>
              </a:spcAft>
              <a:buFont typeface="Segoe UI" panose="020B0502040204020203" pitchFamily="34" charset="0"/>
              <a:buNone/>
            </a:pPr>
            <a:r>
              <a:rPr lang="zh-CN" altLang="en-US"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案</a:t>
            </a:r>
            <a:endParaRPr lang="en-US" altLang="zh-CN"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endParaRPr>
          </a:p>
        </p:txBody>
      </p:sp>
      <p:sp>
        <p:nvSpPr>
          <p:cNvPr id="165" name="îsļïḑê">
            <a:extLst>
              <a:ext uri="{FF2B5EF4-FFF2-40B4-BE49-F238E27FC236}">
                <a16:creationId xmlns:a16="http://schemas.microsoft.com/office/drawing/2014/main" id="{0769CE63-B20B-FE44-8E5A-7D9BBBAEF4BD}"/>
              </a:ext>
            </a:extLst>
          </p:cNvPr>
          <p:cNvSpPr/>
          <p:nvPr/>
        </p:nvSpPr>
        <p:spPr>
          <a:xfrm>
            <a:off x="6465779" y="2475430"/>
            <a:ext cx="180002" cy="180000"/>
          </a:xfrm>
          <a:prstGeom prst="ellipse">
            <a:avLst/>
          </a:prstGeom>
          <a:solidFill>
            <a:srgbClr val="FFFFFF">
              <a:lumMod val="85000"/>
            </a:srgbClr>
          </a:solidFill>
          <a:ln w="57150" cap="rnd" cmpd="sng" algn="ctr">
            <a:noFill/>
            <a:prstDash val="solid"/>
            <a:round/>
          </a:ln>
          <a:effectLst/>
        </p:spPr>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srgbClr val="FFFFFF"/>
              </a:solidFill>
              <a:effectLst/>
              <a:uLnTx/>
              <a:uFillTx/>
              <a:latin typeface="Arial"/>
              <a:ea typeface="+mn-ea"/>
              <a:cs typeface="+mn-cs"/>
            </a:endParaRPr>
          </a:p>
        </p:txBody>
      </p:sp>
      <p:sp>
        <p:nvSpPr>
          <p:cNvPr id="166" name="îsļïḑê">
            <a:extLst>
              <a:ext uri="{FF2B5EF4-FFF2-40B4-BE49-F238E27FC236}">
                <a16:creationId xmlns:a16="http://schemas.microsoft.com/office/drawing/2014/main" id="{159B4D8E-A082-6942-AF4B-D5CBDE39C8E2}"/>
              </a:ext>
            </a:extLst>
          </p:cNvPr>
          <p:cNvSpPr/>
          <p:nvPr/>
        </p:nvSpPr>
        <p:spPr>
          <a:xfrm>
            <a:off x="6465779" y="3510186"/>
            <a:ext cx="180002" cy="180000"/>
          </a:xfrm>
          <a:prstGeom prst="ellipse">
            <a:avLst/>
          </a:prstGeom>
          <a:solidFill>
            <a:srgbClr val="051C2C">
              <a:lumMod val="25000"/>
              <a:lumOff val="75000"/>
            </a:srgbClr>
          </a:solidFill>
          <a:ln w="57150" cap="rnd" cmpd="sng" algn="ctr">
            <a:noFill/>
            <a:prstDash val="solid"/>
            <a:round/>
          </a:ln>
          <a:effectLst/>
        </p:spPr>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srgbClr val="FFFFFF"/>
              </a:solidFill>
              <a:effectLst/>
              <a:uLnTx/>
              <a:uFillTx/>
              <a:latin typeface="Arial"/>
              <a:ea typeface="+mn-ea"/>
              <a:cs typeface="+mn-cs"/>
            </a:endParaRPr>
          </a:p>
        </p:txBody>
      </p:sp>
      <p:sp>
        <p:nvSpPr>
          <p:cNvPr id="167" name="îsļïḑê">
            <a:extLst>
              <a:ext uri="{FF2B5EF4-FFF2-40B4-BE49-F238E27FC236}">
                <a16:creationId xmlns:a16="http://schemas.microsoft.com/office/drawing/2014/main" id="{EECC64B3-AFAE-CB43-B882-0B89EB46FF8F}"/>
              </a:ext>
            </a:extLst>
          </p:cNvPr>
          <p:cNvSpPr/>
          <p:nvPr/>
        </p:nvSpPr>
        <p:spPr>
          <a:xfrm>
            <a:off x="6465779" y="4618568"/>
            <a:ext cx="180002" cy="180000"/>
          </a:xfrm>
          <a:prstGeom prst="ellipse">
            <a:avLst/>
          </a:prstGeom>
          <a:solidFill>
            <a:srgbClr val="051C2C">
              <a:lumMod val="50000"/>
              <a:lumOff val="50000"/>
            </a:srgbClr>
          </a:solidFill>
          <a:ln w="57150" cap="rnd" cmpd="sng" algn="ctr">
            <a:noFill/>
            <a:prstDash val="solid"/>
            <a:round/>
          </a:ln>
          <a:effectLst/>
        </p:spPr>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srgbClr val="FFFFFF"/>
              </a:solidFill>
              <a:effectLst/>
              <a:uLnTx/>
              <a:uFillTx/>
              <a:latin typeface="Arial"/>
              <a:ea typeface="+mn-ea"/>
              <a:cs typeface="+mn-cs"/>
            </a:endParaRPr>
          </a:p>
        </p:txBody>
      </p:sp>
      <p:sp>
        <p:nvSpPr>
          <p:cNvPr id="168" name="îsļïḑê">
            <a:extLst>
              <a:ext uri="{FF2B5EF4-FFF2-40B4-BE49-F238E27FC236}">
                <a16:creationId xmlns:a16="http://schemas.microsoft.com/office/drawing/2014/main" id="{7F5FD18C-158F-7B44-BD4C-1868A44FCE4B}"/>
              </a:ext>
            </a:extLst>
          </p:cNvPr>
          <p:cNvSpPr/>
          <p:nvPr/>
        </p:nvSpPr>
        <p:spPr>
          <a:xfrm>
            <a:off x="6465779" y="5735674"/>
            <a:ext cx="180002" cy="180000"/>
          </a:xfrm>
          <a:prstGeom prst="ellipse">
            <a:avLst/>
          </a:prstGeom>
          <a:solidFill>
            <a:srgbClr val="C00000"/>
          </a:solidFill>
          <a:ln w="57150" cap="rnd" cmpd="sng" algn="ctr">
            <a:noFill/>
            <a:prstDash val="solid"/>
            <a:round/>
          </a:ln>
          <a:effectLst/>
        </p:spPr>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srgbClr val="FFFFFF"/>
              </a:solidFill>
              <a:effectLst/>
              <a:uLnTx/>
              <a:uFillTx/>
              <a:latin typeface="Arial"/>
              <a:ea typeface="+mn-ea"/>
              <a:cs typeface="+mn-cs"/>
            </a:endParaRPr>
          </a:p>
        </p:txBody>
      </p:sp>
      <p:sp>
        <p:nvSpPr>
          <p:cNvPr id="169" name="Text Placeholder 2">
            <a:extLst>
              <a:ext uri="{FF2B5EF4-FFF2-40B4-BE49-F238E27FC236}">
                <a16:creationId xmlns:a16="http://schemas.microsoft.com/office/drawing/2014/main" id="{71F2E717-D2BA-AD41-A98D-6514572EEE8C}"/>
              </a:ext>
            </a:extLst>
          </p:cNvPr>
          <p:cNvSpPr>
            <a:spLocks noGrp="1"/>
          </p:cNvSpPr>
          <p:nvPr>
            <p:custDataLst>
              <p:tags r:id="rId16"/>
            </p:custDataLst>
          </p:nvPr>
        </p:nvSpPr>
        <p:spPr bwMode="auto">
          <a:xfrm>
            <a:off x="6932610" y="2206189"/>
            <a:ext cx="3614699" cy="718482"/>
          </a:xfrm>
          <a:prstGeom prst="rect">
            <a:avLst/>
          </a:prstGeom>
          <a:noFill/>
          <a:ln>
            <a:noFill/>
          </a:ln>
          <a:effectLst/>
        </p:spPr>
        <p:txBody>
          <a:bodyPr vert="horz" wrap="none" lIns="80963" tIns="80963" rIns="0" bIns="80963"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nSpc>
                <a:spcPct val="150000"/>
              </a:lnSpc>
              <a:spcBef>
                <a:spcPct val="0"/>
              </a:spcBef>
              <a:spcAft>
                <a:spcPct val="0"/>
              </a:spcAft>
              <a:buFont typeface="Segoe UI" panose="020B0502040204020203" pitchFamily="34" charset="0"/>
              <a:buNone/>
            </a:pPr>
            <a:r>
              <a:rPr lang="zh-CN" altLang="en-US"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粗放管理，不断扩容高性能服务器</a:t>
            </a:r>
            <a:endParaRPr lang="en-US" altLang="zh-CN"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endParaRPr>
          </a:p>
        </p:txBody>
      </p:sp>
      <p:sp>
        <p:nvSpPr>
          <p:cNvPr id="170" name="Text Placeholder 2">
            <a:extLst>
              <a:ext uri="{FF2B5EF4-FFF2-40B4-BE49-F238E27FC236}">
                <a16:creationId xmlns:a16="http://schemas.microsoft.com/office/drawing/2014/main" id="{9DB4DA1F-74AF-0049-844B-6F73FFC387E2}"/>
              </a:ext>
            </a:extLst>
          </p:cNvPr>
          <p:cNvSpPr>
            <a:spLocks noGrp="1"/>
          </p:cNvSpPr>
          <p:nvPr>
            <p:custDataLst>
              <p:tags r:id="rId17"/>
            </p:custDataLst>
          </p:nvPr>
        </p:nvSpPr>
        <p:spPr bwMode="auto">
          <a:xfrm>
            <a:off x="6932610" y="3211103"/>
            <a:ext cx="3614699" cy="718482"/>
          </a:xfrm>
          <a:prstGeom prst="rect">
            <a:avLst/>
          </a:prstGeom>
          <a:noFill/>
          <a:ln>
            <a:noFill/>
          </a:ln>
          <a:effectLst/>
        </p:spPr>
        <p:txBody>
          <a:bodyPr vert="horz" wrap="none" lIns="80963" tIns="80963" rIns="0" bIns="80963"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nSpc>
                <a:spcPct val="150000"/>
              </a:lnSpc>
              <a:spcBef>
                <a:spcPct val="0"/>
              </a:spcBef>
              <a:spcAft>
                <a:spcPct val="0"/>
              </a:spcAft>
              <a:buFont typeface="Segoe UI" panose="020B0502040204020203" pitchFamily="34" charset="0"/>
              <a:buNone/>
            </a:pPr>
            <a:r>
              <a:rPr lang="zh-CN" altLang="en-US"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高价雇佣资深</a:t>
            </a:r>
            <a:r>
              <a:rPr lang="en-US" altLang="zh-CN"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DBA</a:t>
            </a:r>
            <a:r>
              <a:rPr lang="zh-CN" altLang="en-US"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，利用经验手动控制</a:t>
            </a:r>
            <a:endParaRPr lang="en-US" altLang="zh-CN"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endParaRPr>
          </a:p>
        </p:txBody>
      </p:sp>
      <p:sp>
        <p:nvSpPr>
          <p:cNvPr id="171" name="Text Placeholder 2">
            <a:extLst>
              <a:ext uri="{FF2B5EF4-FFF2-40B4-BE49-F238E27FC236}">
                <a16:creationId xmlns:a16="http://schemas.microsoft.com/office/drawing/2014/main" id="{29212C5B-FC95-CB47-82D2-DFC253F70913}"/>
              </a:ext>
            </a:extLst>
          </p:cNvPr>
          <p:cNvSpPr>
            <a:spLocks noGrp="1"/>
          </p:cNvSpPr>
          <p:nvPr>
            <p:custDataLst>
              <p:tags r:id="rId18"/>
            </p:custDataLst>
          </p:nvPr>
        </p:nvSpPr>
        <p:spPr bwMode="auto">
          <a:xfrm>
            <a:off x="6932610" y="4338354"/>
            <a:ext cx="3614699" cy="718482"/>
          </a:xfrm>
          <a:prstGeom prst="rect">
            <a:avLst/>
          </a:prstGeom>
          <a:noFill/>
          <a:ln>
            <a:noFill/>
          </a:ln>
          <a:effectLst/>
        </p:spPr>
        <p:txBody>
          <a:bodyPr vert="horz" wrap="none" lIns="80963" tIns="80963" rIns="0" bIns="80963"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nSpc>
                <a:spcPct val="150000"/>
              </a:lnSpc>
              <a:spcBef>
                <a:spcPct val="0"/>
              </a:spcBef>
              <a:spcAft>
                <a:spcPct val="0"/>
              </a:spcAft>
              <a:buFont typeface="Segoe UI" panose="020B0502040204020203" pitchFamily="34" charset="0"/>
              <a:buNone/>
            </a:pPr>
            <a:r>
              <a:rPr lang="zh-CN" altLang="en-US"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rPr>
              <a:t>特定场景的启发式算法优化</a:t>
            </a:r>
            <a:endParaRPr lang="en-US" altLang="zh-CN" sz="2000" b="1" dirty="0">
              <a:solidFill>
                <a:srgbClr val="000000"/>
              </a:solidFill>
              <a:latin typeface="微软雅黑" panose="020B0503020204020204" pitchFamily="34" charset="-122"/>
              <a:ea typeface="微软雅黑" panose="020B0503020204020204" pitchFamily="34" charset="-122"/>
              <a:sym typeface="楷体" panose="02010609060101010101" pitchFamily="49" charset="-122"/>
            </a:endParaRPr>
          </a:p>
        </p:txBody>
      </p:sp>
      <p:sp>
        <p:nvSpPr>
          <p:cNvPr id="172" name="Text Placeholder 2">
            <a:extLst>
              <a:ext uri="{FF2B5EF4-FFF2-40B4-BE49-F238E27FC236}">
                <a16:creationId xmlns:a16="http://schemas.microsoft.com/office/drawing/2014/main" id="{F12A9804-55E7-A748-8198-544C74E35695}"/>
              </a:ext>
            </a:extLst>
          </p:cNvPr>
          <p:cNvSpPr>
            <a:spLocks noGrp="1"/>
          </p:cNvSpPr>
          <p:nvPr>
            <p:custDataLst>
              <p:tags r:id="rId19"/>
            </p:custDataLst>
          </p:nvPr>
        </p:nvSpPr>
        <p:spPr bwMode="auto">
          <a:xfrm>
            <a:off x="6926315" y="5466433"/>
            <a:ext cx="3614699" cy="718482"/>
          </a:xfrm>
          <a:prstGeom prst="rect">
            <a:avLst/>
          </a:prstGeom>
          <a:noFill/>
          <a:ln>
            <a:noFill/>
          </a:ln>
          <a:effectLst/>
        </p:spPr>
        <p:txBody>
          <a:bodyPr vert="horz" wrap="none" lIns="80963" tIns="80963" rIns="0" bIns="80963"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nSpc>
                <a:spcPct val="150000"/>
              </a:lnSpc>
              <a:spcBef>
                <a:spcPct val="0"/>
              </a:spcBef>
              <a:spcAft>
                <a:spcPct val="0"/>
              </a:spcAft>
              <a:buFont typeface="Segoe UI" panose="020B0502040204020203" pitchFamily="34" charset="0"/>
              <a:buNone/>
            </a:pPr>
            <a:r>
              <a:rPr lang="zh-CN" altLang="en-US" sz="2000" b="1" dirty="0">
                <a:solidFill>
                  <a:srgbClr val="C00000"/>
                </a:solidFill>
                <a:latin typeface="微软雅黑" panose="020B0503020204020204" pitchFamily="34" charset="-122"/>
                <a:ea typeface="微软雅黑" panose="020B0503020204020204" pitchFamily="34" charset="-122"/>
                <a:sym typeface="楷体" panose="02010609060101010101" pitchFamily="49" charset="-122"/>
              </a:rPr>
              <a:t>基于机器学习和专家经验的数据库自治服务</a:t>
            </a:r>
            <a:endParaRPr lang="en-US" altLang="zh-CN" sz="2000" b="1" dirty="0">
              <a:solidFill>
                <a:srgbClr val="C00000"/>
              </a:solidFill>
              <a:latin typeface="微软雅黑" panose="020B0503020204020204" pitchFamily="34" charset="-122"/>
              <a:ea typeface="微软雅黑" panose="020B0503020204020204" pitchFamily="34" charset="-122"/>
              <a:sym typeface="楷体" panose="02010609060101010101" pitchFamily="49" charset="-122"/>
            </a:endParaRPr>
          </a:p>
        </p:txBody>
      </p:sp>
      <p:cxnSp>
        <p:nvCxnSpPr>
          <p:cNvPr id="173" name="直接连接符 2">
            <a:extLst>
              <a:ext uri="{FF2B5EF4-FFF2-40B4-BE49-F238E27FC236}">
                <a16:creationId xmlns:a16="http://schemas.microsoft.com/office/drawing/2014/main" id="{97B0B655-3275-CA48-B5C6-DF364B84706A}"/>
              </a:ext>
            </a:extLst>
          </p:cNvPr>
          <p:cNvCxnSpPr/>
          <p:nvPr/>
        </p:nvCxnSpPr>
        <p:spPr>
          <a:xfrm>
            <a:off x="6926315" y="3151639"/>
            <a:ext cx="4695838" cy="0"/>
          </a:xfrm>
          <a:prstGeom prst="line">
            <a:avLst/>
          </a:prstGeom>
          <a:noFill/>
          <a:ln w="6350" cap="flat" cmpd="sng" algn="ctr">
            <a:solidFill>
              <a:srgbClr val="9397BB"/>
            </a:solidFill>
            <a:prstDash val="dash"/>
            <a:miter lim="800000"/>
            <a:tailEnd type="none"/>
          </a:ln>
          <a:effectLst/>
        </p:spPr>
      </p:cxnSp>
      <p:cxnSp>
        <p:nvCxnSpPr>
          <p:cNvPr id="174" name="直接连接符 26">
            <a:extLst>
              <a:ext uri="{FF2B5EF4-FFF2-40B4-BE49-F238E27FC236}">
                <a16:creationId xmlns:a16="http://schemas.microsoft.com/office/drawing/2014/main" id="{357D0B71-496C-564A-AFD5-A1B97A92021A}"/>
              </a:ext>
            </a:extLst>
          </p:cNvPr>
          <p:cNvCxnSpPr/>
          <p:nvPr/>
        </p:nvCxnSpPr>
        <p:spPr>
          <a:xfrm>
            <a:off x="6932610" y="4172599"/>
            <a:ext cx="4695838" cy="0"/>
          </a:xfrm>
          <a:prstGeom prst="line">
            <a:avLst/>
          </a:prstGeom>
          <a:noFill/>
          <a:ln w="6350" cap="flat" cmpd="sng" algn="ctr">
            <a:solidFill>
              <a:srgbClr val="9397BB"/>
            </a:solidFill>
            <a:prstDash val="dash"/>
            <a:miter lim="800000"/>
            <a:tailEnd type="none"/>
          </a:ln>
          <a:effectLst/>
        </p:spPr>
      </p:cxnSp>
      <p:cxnSp>
        <p:nvCxnSpPr>
          <p:cNvPr id="175" name="直接连接符 27">
            <a:extLst>
              <a:ext uri="{FF2B5EF4-FFF2-40B4-BE49-F238E27FC236}">
                <a16:creationId xmlns:a16="http://schemas.microsoft.com/office/drawing/2014/main" id="{851AD3D6-DA0E-394E-8A36-53E5214B5EF2}"/>
              </a:ext>
            </a:extLst>
          </p:cNvPr>
          <p:cNvCxnSpPr/>
          <p:nvPr/>
        </p:nvCxnSpPr>
        <p:spPr>
          <a:xfrm>
            <a:off x="6932610" y="5254897"/>
            <a:ext cx="4695838" cy="0"/>
          </a:xfrm>
          <a:prstGeom prst="line">
            <a:avLst/>
          </a:prstGeom>
          <a:noFill/>
          <a:ln w="6350" cap="flat" cmpd="sng" algn="ctr">
            <a:solidFill>
              <a:srgbClr val="9397BB"/>
            </a:solidFill>
            <a:prstDash val="dash"/>
            <a:miter lim="800000"/>
            <a:tailEnd type="none"/>
          </a:ln>
          <a:effectLst/>
        </p:spPr>
      </p:cxnSp>
      <p:sp>
        <p:nvSpPr>
          <p:cNvPr id="2" name="文本框 1">
            <a:extLst>
              <a:ext uri="{FF2B5EF4-FFF2-40B4-BE49-F238E27FC236}">
                <a16:creationId xmlns:a16="http://schemas.microsoft.com/office/drawing/2014/main" id="{B64B0029-5097-064E-A645-D4B7A42BE1B6}"/>
              </a:ext>
            </a:extLst>
          </p:cNvPr>
          <p:cNvSpPr txBox="1"/>
          <p:nvPr/>
        </p:nvSpPr>
        <p:spPr>
          <a:xfrm>
            <a:off x="3475608" y="5186218"/>
            <a:ext cx="583814" cy="369332"/>
          </a:xfrm>
          <a:prstGeom prst="rect">
            <a:avLst/>
          </a:prstGeom>
          <a:noFill/>
        </p:spPr>
        <p:txBody>
          <a:bodyPr wrap="none" rtlCol="0">
            <a:spAutoFit/>
          </a:bodyPr>
          <a:lstStyle/>
          <a:p>
            <a:r>
              <a:rPr kumimoji="1" lang="en-US" altLang="zh-CN" dirty="0">
                <a:solidFill>
                  <a:schemeClr val="bg1"/>
                </a:solidFill>
              </a:rPr>
              <a:t>11%</a:t>
            </a:r>
            <a:endParaRPr kumimoji="1" lang="zh-CN" altLang="en-US" dirty="0">
              <a:solidFill>
                <a:schemeClr val="bg1"/>
              </a:solidFill>
            </a:endParaRPr>
          </a:p>
        </p:txBody>
      </p:sp>
      <p:sp>
        <p:nvSpPr>
          <p:cNvPr id="35" name="Text Placeholder 2">
            <a:extLst>
              <a:ext uri="{FF2B5EF4-FFF2-40B4-BE49-F238E27FC236}">
                <a16:creationId xmlns:a16="http://schemas.microsoft.com/office/drawing/2014/main" id="{8E51703B-F604-E140-B72D-214D2204DB4D}"/>
              </a:ext>
            </a:extLst>
          </p:cNvPr>
          <p:cNvSpPr>
            <a:spLocks noGrp="1"/>
          </p:cNvSpPr>
          <p:nvPr>
            <p:custDataLst>
              <p:tags r:id="rId20"/>
            </p:custDataLst>
          </p:nvPr>
        </p:nvSpPr>
        <p:spPr bwMode="auto">
          <a:xfrm>
            <a:off x="3829980" y="5740110"/>
            <a:ext cx="914400" cy="2746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KaiTi" panose="02010609060101010101" pitchFamily="49" charset="-122"/>
                <a:ea typeface="KaiTi" panose="02010609060101010101" pitchFamily="49" charset="-122"/>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zh-CN" altLang="en-US" sz="1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数据访问量过大</a:t>
            </a:r>
          </a:p>
        </p:txBody>
      </p:sp>
    </p:spTree>
    <p:extLst>
      <p:ext uri="{BB962C8B-B14F-4D97-AF65-F5344CB8AC3E}">
        <p14:creationId xmlns:p14="http://schemas.microsoft.com/office/powerpoint/2010/main" val="75606218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56B0FAB-5FF6-8442-B8F5-B2983B7ECC2D}"/>
              </a:ext>
            </a:extLst>
          </p:cNvPr>
          <p:cNvSpPr/>
          <p:nvPr/>
        </p:nvSpPr>
        <p:spPr>
          <a:xfrm>
            <a:off x="3443443" y="136800"/>
            <a:ext cx="5636164" cy="677108"/>
          </a:xfrm>
          <a:prstGeom prst="rect">
            <a:avLst/>
          </a:prstGeom>
        </p:spPr>
        <p:txBody>
          <a:bodyPr wrap="square">
            <a:spAutoFit/>
          </a:bodyPr>
          <a:lstStyle/>
          <a:p>
            <a:pPr defTabSz="457200">
              <a:defRPr/>
            </a:pPr>
            <a:r>
              <a:rPr kumimoji="1" lang="zh-CN" altLang="en-US" sz="3800" b="1" kern="0" dirty="0">
                <a:solidFill>
                  <a:srgbClr val="000000"/>
                </a:solidFill>
                <a:latin typeface="Arial" panose="020B0604020202020204" pitchFamily="34" charset="0"/>
                <a:ea typeface="黑体" panose="02010609060101010101" pitchFamily="49" charset="-122"/>
                <a:cs typeface="Arial" panose="020B0604020202020204" pitchFamily="34" charset="0"/>
              </a:rPr>
              <a:t>智能数据库系统 </a:t>
            </a:r>
            <a:r>
              <a:rPr kumimoji="1" lang="en-US" altLang="zh-CN" sz="3800" b="1" kern="0" dirty="0">
                <a:solidFill>
                  <a:srgbClr val="000000"/>
                </a:solidFill>
                <a:latin typeface="Arial" panose="020B0604020202020204" pitchFamily="34" charset="0"/>
                <a:ea typeface="黑体" panose="02010609060101010101" pitchFamily="49" charset="-122"/>
                <a:cs typeface="Arial" panose="020B0604020202020204" pitchFamily="34" charset="0"/>
              </a:rPr>
              <a:t>(AI4DB)</a:t>
            </a:r>
            <a:endParaRPr lang="zh-CN" altLang="en-US" sz="3800" dirty="0">
              <a:solidFill>
                <a:prstClr val="black"/>
              </a:solidFill>
              <a:latin typeface="Arial" panose="020B0604020202020204" pitchFamily="34" charset="0"/>
              <a:ea typeface="等线" panose="02010600030101010101" pitchFamily="2" charset="-122"/>
              <a:cs typeface="Arial" panose="020B0604020202020204" pitchFamily="34" charset="0"/>
            </a:endParaRPr>
          </a:p>
        </p:txBody>
      </p:sp>
      <p:sp>
        <p:nvSpPr>
          <p:cNvPr id="6" name="灯片编号占位符 1">
            <a:extLst>
              <a:ext uri="{FF2B5EF4-FFF2-40B4-BE49-F238E27FC236}">
                <a16:creationId xmlns:a16="http://schemas.microsoft.com/office/drawing/2014/main" id="{2F5A7494-8B7B-8045-8DCA-3A8DA4BDE19B}"/>
              </a:ext>
            </a:extLst>
          </p:cNvPr>
          <p:cNvSpPr txBox="1">
            <a:spLocks/>
          </p:cNvSpPr>
          <p:nvPr/>
        </p:nvSpPr>
        <p:spPr>
          <a:xfrm>
            <a:off x="11571088" y="6532912"/>
            <a:ext cx="765605" cy="476250"/>
          </a:xfrm>
          <a:prstGeom prst="rect">
            <a:avLst/>
          </a:prstGeom>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87BBDC00-B9E2-4EFD-9306-2934E87247C6}" type="slidenum">
              <a:rPr kumimoji="0" lang="zh-CN" altLang="en-US" sz="1800" b="0" i="0" u="none" strike="noStrike" kern="1200" cap="none" spc="0" normalizeH="0" baseline="0" noProof="0" smtClean="0">
                <a:ln>
                  <a:noFill/>
                </a:ln>
                <a:solidFill>
                  <a:prstClr val="black"/>
                </a:solidFill>
                <a:effectLst/>
                <a:uLnTx/>
                <a:uFillTx/>
                <a:latin typeface="Calibri"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104</a:t>
            </a:fld>
            <a:endParaRPr kumimoji="0" lang="zh-CN" altLang="en-US" sz="1800" b="0" i="0" u="none" strike="noStrike" kern="1200" cap="none" spc="0" normalizeH="0" baseline="0" noProof="0" dirty="0">
              <a:ln>
                <a:noFill/>
              </a:ln>
              <a:solidFill>
                <a:srgbClr val="000000"/>
              </a:solidFill>
              <a:effectLst/>
              <a:uLnTx/>
              <a:uFillTx/>
              <a:latin typeface="Times New Roman"/>
              <a:ea typeface="华文楷体"/>
              <a:cs typeface="+mn-cs"/>
            </a:endParaRPr>
          </a:p>
        </p:txBody>
      </p:sp>
      <p:sp>
        <p:nvSpPr>
          <p:cNvPr id="33" name="Content Placeholder 2">
            <a:extLst>
              <a:ext uri="{FF2B5EF4-FFF2-40B4-BE49-F238E27FC236}">
                <a16:creationId xmlns:a16="http://schemas.microsoft.com/office/drawing/2014/main" id="{E9DCC9A7-950E-0E43-8A4D-F42E4033B297}"/>
              </a:ext>
            </a:extLst>
          </p:cNvPr>
          <p:cNvSpPr txBox="1">
            <a:spLocks/>
          </p:cNvSpPr>
          <p:nvPr/>
        </p:nvSpPr>
        <p:spPr>
          <a:xfrm>
            <a:off x="763116" y="1101998"/>
            <a:ext cx="8313312" cy="65392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itchFamily="2" charset="2"/>
              <a:buChar char="p"/>
              <a:defRPr/>
            </a:pPr>
            <a:r>
              <a:rPr lang="zh-CN" altLang="en-US" dirty="0">
                <a:latin typeface="SimHei" panose="02010609060101010101" pitchFamily="49" charset="-122"/>
                <a:ea typeface="SimHei" panose="02010609060101010101" pitchFamily="49" charset="-122"/>
                <a:cs typeface="Arial" panose="020B0604020202020204" pitchFamily="34" charset="0"/>
              </a:rPr>
              <a:t> 智能数据库内部优化</a:t>
            </a:r>
            <a:endParaRPr lang="en-US" altLang="zh-CN" dirty="0">
              <a:latin typeface="SimHei" panose="02010609060101010101" pitchFamily="49" charset="-122"/>
              <a:ea typeface="SimHei" panose="02010609060101010101" pitchFamily="49" charset="-122"/>
              <a:cs typeface="Arial" panose="020B0604020202020204" pitchFamily="34" charset="0"/>
            </a:endParaRPr>
          </a:p>
          <a:p>
            <a:pPr lvl="1">
              <a:lnSpc>
                <a:spcPct val="80000"/>
              </a:lnSpc>
              <a:spcBef>
                <a:spcPts val="1000"/>
              </a:spcBef>
              <a:defRPr/>
            </a:pPr>
            <a:r>
              <a:rPr lang="en-US" altLang="zh-CN" dirty="0">
                <a:latin typeface="SimHei" panose="02010609060101010101" pitchFamily="49" charset="-122"/>
                <a:ea typeface="SimHei" panose="02010609060101010101" pitchFamily="49" charset="-122"/>
                <a:cs typeface="Arial" panose="020B0604020202020204" pitchFamily="34" charset="0"/>
              </a:rPr>
              <a:t> </a:t>
            </a:r>
            <a:r>
              <a:rPr lang="zh-CN" altLang="en-US" dirty="0">
                <a:latin typeface="SimHei" panose="02010609060101010101" pitchFamily="49" charset="-122"/>
                <a:ea typeface="SimHei" panose="02010609060101010101" pitchFamily="49" charset="-122"/>
                <a:cs typeface="Arial" panose="020B0604020202020204" pitchFamily="34" charset="0"/>
              </a:rPr>
              <a:t>逻辑查询重写</a:t>
            </a:r>
            <a:endParaRPr lang="en-US" altLang="zh-CN" dirty="0">
              <a:latin typeface="SimHei" panose="02010609060101010101" pitchFamily="49" charset="-122"/>
              <a:ea typeface="SimHei" panose="02010609060101010101" pitchFamily="49" charset="-122"/>
              <a:cs typeface="Arial" panose="020B0604020202020204" pitchFamily="34" charset="0"/>
            </a:endParaRPr>
          </a:p>
          <a:p>
            <a:pPr lvl="1">
              <a:lnSpc>
                <a:spcPct val="80000"/>
              </a:lnSpc>
              <a:spcBef>
                <a:spcPts val="1000"/>
              </a:spcBef>
              <a:defRPr/>
            </a:pPr>
            <a:r>
              <a:rPr lang="zh-CN" altLang="en-US" dirty="0">
                <a:latin typeface="SimHei" panose="02010609060101010101" pitchFamily="49" charset="-122"/>
                <a:ea typeface="SimHei" panose="02010609060101010101" pitchFamily="49" charset="-122"/>
                <a:cs typeface="Arial" panose="020B0604020202020204" pitchFamily="34" charset="0"/>
              </a:rPr>
              <a:t> 执行代价估计</a:t>
            </a:r>
            <a:endParaRPr lang="en-US" altLang="zh-CN" dirty="0">
              <a:latin typeface="SimHei" panose="02010609060101010101" pitchFamily="49" charset="-122"/>
              <a:ea typeface="SimHei" panose="02010609060101010101" pitchFamily="49" charset="-122"/>
              <a:cs typeface="Arial" panose="020B0604020202020204" pitchFamily="34" charset="0"/>
            </a:endParaRPr>
          </a:p>
          <a:p>
            <a:pPr lvl="1">
              <a:lnSpc>
                <a:spcPct val="80000"/>
              </a:lnSpc>
              <a:spcBef>
                <a:spcPts val="1000"/>
              </a:spcBef>
              <a:defRPr/>
            </a:pPr>
            <a:r>
              <a:rPr lang="en-US" altLang="zh-CN" dirty="0">
                <a:latin typeface="SimHei" panose="02010609060101010101" pitchFamily="49" charset="-122"/>
                <a:ea typeface="SimHei" panose="02010609060101010101" pitchFamily="49" charset="-122"/>
                <a:cs typeface="Arial" panose="020B0604020202020204" pitchFamily="34" charset="0"/>
              </a:rPr>
              <a:t> </a:t>
            </a:r>
            <a:r>
              <a:rPr lang="zh-CN" altLang="en-US" dirty="0">
                <a:latin typeface="SimHei" panose="02010609060101010101" pitchFamily="49" charset="-122"/>
                <a:ea typeface="SimHei" panose="02010609060101010101" pitchFamily="49" charset="-122"/>
                <a:cs typeface="Arial" panose="020B0604020202020204" pitchFamily="34" charset="0"/>
              </a:rPr>
              <a:t>物理计划选择</a:t>
            </a:r>
            <a:endParaRPr lang="en-US" altLang="zh-CN" dirty="0">
              <a:latin typeface="SimHei" panose="02010609060101010101" pitchFamily="49" charset="-122"/>
              <a:ea typeface="SimHei" panose="02010609060101010101" pitchFamily="49" charset="-122"/>
              <a:cs typeface="Arial" panose="020B0604020202020204" pitchFamily="34" charset="0"/>
            </a:endParaRPr>
          </a:p>
          <a:p>
            <a:pPr>
              <a:lnSpc>
                <a:spcPct val="80000"/>
              </a:lnSpc>
              <a:buFont typeface="Wingdings" pitchFamily="2" charset="2"/>
              <a:buChar char="p"/>
              <a:defRPr/>
            </a:pPr>
            <a:r>
              <a:rPr lang="zh-CN" altLang="en-US" dirty="0">
                <a:latin typeface="SimHei" panose="02010609060101010101" pitchFamily="49" charset="-122"/>
                <a:ea typeface="SimHei" panose="02010609060101010101" pitchFamily="49" charset="-122"/>
                <a:cs typeface="Arial" panose="020B0604020202020204" pitchFamily="34" charset="0"/>
              </a:rPr>
              <a:t> 智能数据库执行器</a:t>
            </a:r>
            <a:endParaRPr lang="en-US" altLang="zh-CN" dirty="0">
              <a:latin typeface="SimHei" panose="02010609060101010101" pitchFamily="49" charset="-122"/>
              <a:ea typeface="SimHei" panose="02010609060101010101" pitchFamily="49" charset="-122"/>
              <a:cs typeface="Arial" panose="020B0604020202020204" pitchFamily="34" charset="0"/>
            </a:endParaRPr>
          </a:p>
          <a:p>
            <a:pPr lvl="1">
              <a:lnSpc>
                <a:spcPct val="80000"/>
              </a:lnSpc>
              <a:spcBef>
                <a:spcPts val="1000"/>
              </a:spcBef>
              <a:defRPr/>
            </a:pPr>
            <a:r>
              <a:rPr lang="zh-CN" altLang="en-US" dirty="0">
                <a:latin typeface="SimHei" panose="02010609060101010101" pitchFamily="49" charset="-122"/>
                <a:ea typeface="SimHei" panose="02010609060101010101" pitchFamily="49" charset="-122"/>
                <a:cs typeface="Arial" panose="020B0604020202020204" pitchFamily="34" charset="0"/>
              </a:rPr>
              <a:t>并行性能预测</a:t>
            </a:r>
            <a:endParaRPr lang="en-US" altLang="zh-CN" dirty="0">
              <a:latin typeface="SimHei" panose="02010609060101010101" pitchFamily="49" charset="-122"/>
              <a:ea typeface="SimHei" panose="02010609060101010101" pitchFamily="49" charset="-122"/>
              <a:cs typeface="Arial" panose="020B0604020202020204" pitchFamily="34" charset="0"/>
            </a:endParaRPr>
          </a:p>
          <a:p>
            <a:pPr>
              <a:lnSpc>
                <a:spcPct val="80000"/>
              </a:lnSpc>
              <a:buFont typeface="Wingdings" pitchFamily="2" charset="2"/>
              <a:buChar char="p"/>
              <a:defRPr/>
            </a:pPr>
            <a:r>
              <a:rPr lang="zh-CN" altLang="en-US" dirty="0">
                <a:latin typeface="SimHei" panose="02010609060101010101" pitchFamily="49" charset="-122"/>
                <a:ea typeface="SimHei" panose="02010609060101010101" pitchFamily="49" charset="-122"/>
                <a:cs typeface="Arial" panose="020B0604020202020204" pitchFamily="34" charset="0"/>
              </a:rPr>
              <a:t> 智能数据存储引擎</a:t>
            </a:r>
            <a:endParaRPr lang="en-US" altLang="zh-CN" dirty="0">
              <a:latin typeface="SimHei" panose="02010609060101010101" pitchFamily="49" charset="-122"/>
              <a:ea typeface="SimHei" panose="02010609060101010101" pitchFamily="49" charset="-122"/>
              <a:cs typeface="Arial" panose="020B0604020202020204" pitchFamily="34" charset="0"/>
            </a:endParaRPr>
          </a:p>
          <a:p>
            <a:pPr lvl="1">
              <a:lnSpc>
                <a:spcPct val="80000"/>
              </a:lnSpc>
              <a:spcBef>
                <a:spcPts val="1000"/>
              </a:spcBef>
              <a:defRPr/>
            </a:pPr>
            <a:r>
              <a:rPr lang="zh-CN" altLang="en-US" dirty="0">
                <a:latin typeface="SimHei" panose="02010609060101010101" pitchFamily="49" charset="-122"/>
                <a:ea typeface="SimHei" panose="02010609060101010101" pitchFamily="49" charset="-122"/>
                <a:cs typeface="Arial" panose="020B0604020202020204" pitchFamily="34" charset="0"/>
              </a:rPr>
              <a:t>学习型索引</a:t>
            </a:r>
            <a:endParaRPr lang="en-US" altLang="zh-CN" dirty="0">
              <a:latin typeface="SimHei" panose="02010609060101010101" pitchFamily="49" charset="-122"/>
              <a:ea typeface="SimHei" panose="02010609060101010101" pitchFamily="49" charset="-122"/>
              <a:cs typeface="Arial" panose="020B0604020202020204" pitchFamily="34" charset="0"/>
            </a:endParaRPr>
          </a:p>
          <a:p>
            <a:pPr>
              <a:lnSpc>
                <a:spcPct val="80000"/>
              </a:lnSpc>
              <a:buFont typeface="Wingdings" pitchFamily="2" charset="2"/>
              <a:buChar char="p"/>
              <a:defRPr/>
            </a:pPr>
            <a:r>
              <a:rPr lang="zh-CN" altLang="en-US" dirty="0">
                <a:latin typeface="SimHei" panose="02010609060101010101" pitchFamily="49" charset="-122"/>
                <a:ea typeface="SimHei" panose="02010609060101010101" pitchFamily="49" charset="-122"/>
                <a:cs typeface="Arial" panose="020B0604020202020204" pitchFamily="34" charset="0"/>
              </a:rPr>
              <a:t> 智能数据库外部优化</a:t>
            </a:r>
            <a:endParaRPr lang="en-US" altLang="zh-CN" dirty="0">
              <a:latin typeface="SimHei" panose="02010609060101010101" pitchFamily="49" charset="-122"/>
              <a:ea typeface="SimHei" panose="02010609060101010101" pitchFamily="49" charset="-122"/>
              <a:cs typeface="Arial" panose="020B0604020202020204" pitchFamily="34" charset="0"/>
            </a:endParaRPr>
          </a:p>
          <a:p>
            <a:pPr lvl="1">
              <a:lnSpc>
                <a:spcPct val="80000"/>
              </a:lnSpc>
              <a:spcBef>
                <a:spcPts val="1000"/>
              </a:spcBef>
              <a:defRPr/>
            </a:pPr>
            <a:r>
              <a:rPr lang="en-US" altLang="zh-CN" dirty="0">
                <a:latin typeface="SimHei" panose="02010609060101010101" pitchFamily="49" charset="-122"/>
                <a:ea typeface="SimHei" panose="02010609060101010101" pitchFamily="49" charset="-122"/>
                <a:cs typeface="Arial" panose="020B0604020202020204" pitchFamily="34" charset="0"/>
              </a:rPr>
              <a:t> </a:t>
            </a:r>
            <a:r>
              <a:rPr lang="zh-CN" altLang="en-US" dirty="0">
                <a:latin typeface="SimHei" panose="02010609060101010101" pitchFamily="49" charset="-122"/>
                <a:ea typeface="SimHei" panose="02010609060101010101" pitchFamily="49" charset="-122"/>
                <a:cs typeface="Arial" panose="020B0604020202020204" pitchFamily="34" charset="0"/>
              </a:rPr>
              <a:t>智能索引推荐</a:t>
            </a:r>
            <a:endParaRPr lang="en-US" altLang="zh-CN" dirty="0">
              <a:latin typeface="SimHei" panose="02010609060101010101" pitchFamily="49" charset="-122"/>
              <a:ea typeface="SimHei" panose="02010609060101010101" pitchFamily="49" charset="-122"/>
              <a:cs typeface="Arial" panose="020B0604020202020204" pitchFamily="34" charset="0"/>
            </a:endParaRPr>
          </a:p>
          <a:p>
            <a:pPr lvl="1">
              <a:lnSpc>
                <a:spcPct val="80000"/>
              </a:lnSpc>
              <a:spcBef>
                <a:spcPts val="1000"/>
              </a:spcBef>
              <a:defRPr/>
            </a:pPr>
            <a:r>
              <a:rPr lang="en-US" altLang="zh-CN" dirty="0">
                <a:latin typeface="SimHei" panose="02010609060101010101" pitchFamily="49" charset="-122"/>
                <a:ea typeface="SimHei" panose="02010609060101010101" pitchFamily="49" charset="-122"/>
                <a:cs typeface="Arial" panose="020B0604020202020204" pitchFamily="34" charset="0"/>
              </a:rPr>
              <a:t> </a:t>
            </a:r>
            <a:r>
              <a:rPr lang="zh-CN" altLang="en-US" dirty="0">
                <a:latin typeface="SimHei" panose="02010609060101010101" pitchFamily="49" charset="-122"/>
                <a:ea typeface="SimHei" panose="02010609060101010101" pitchFamily="49" charset="-122"/>
                <a:cs typeface="Arial" panose="020B0604020202020204" pitchFamily="34" charset="0"/>
              </a:rPr>
              <a:t>智能视图推荐</a:t>
            </a:r>
            <a:endParaRPr lang="en-US" altLang="zh-CN" dirty="0">
              <a:latin typeface="SimHei" panose="02010609060101010101" pitchFamily="49" charset="-122"/>
              <a:ea typeface="SimHei" panose="02010609060101010101" pitchFamily="49" charset="-122"/>
              <a:cs typeface="Arial" panose="020B0604020202020204" pitchFamily="34" charset="0"/>
            </a:endParaRPr>
          </a:p>
          <a:p>
            <a:pPr lvl="1">
              <a:lnSpc>
                <a:spcPct val="80000"/>
              </a:lnSpc>
              <a:spcBef>
                <a:spcPts val="1000"/>
              </a:spcBef>
              <a:defRPr/>
            </a:pPr>
            <a:r>
              <a:rPr lang="zh-CN" altLang="en-US" dirty="0">
                <a:latin typeface="SimHei" panose="02010609060101010101" pitchFamily="49" charset="-122"/>
                <a:ea typeface="SimHei" panose="02010609060101010101" pitchFamily="49" charset="-122"/>
                <a:cs typeface="Arial" panose="020B0604020202020204" pitchFamily="34" charset="0"/>
              </a:rPr>
              <a:t> 智能数据划分</a:t>
            </a:r>
            <a:endParaRPr lang="en-US" altLang="zh-CN" dirty="0">
              <a:latin typeface="SimHei" panose="02010609060101010101" pitchFamily="49" charset="-122"/>
              <a:ea typeface="SimHei" panose="02010609060101010101" pitchFamily="49" charset="-122"/>
              <a:cs typeface="Arial" panose="020B0604020202020204" pitchFamily="34" charset="0"/>
            </a:endParaRPr>
          </a:p>
          <a:p>
            <a:pPr>
              <a:lnSpc>
                <a:spcPct val="80000"/>
              </a:lnSpc>
              <a:buFont typeface="Wingdings" pitchFamily="2" charset="2"/>
              <a:buChar char="p"/>
              <a:defRPr/>
            </a:pPr>
            <a:r>
              <a:rPr lang="zh-CN" altLang="en-US" dirty="0">
                <a:latin typeface="SimHei" panose="02010609060101010101" pitchFamily="49" charset="-122"/>
                <a:ea typeface="SimHei" panose="02010609060101010101" pitchFamily="49" charset="-122"/>
                <a:cs typeface="Arial" panose="020B0604020202020204" pitchFamily="34" charset="0"/>
              </a:rPr>
              <a:t> 自治数据库系统</a:t>
            </a:r>
            <a:endParaRPr lang="en-US" altLang="zh-CN" dirty="0">
              <a:latin typeface="SimHei" panose="02010609060101010101" pitchFamily="49" charset="-122"/>
              <a:ea typeface="SimHei" panose="02010609060101010101" pitchFamily="49" charset="-122"/>
              <a:cs typeface="Arial" panose="020B0604020202020204" pitchFamily="34" charset="0"/>
            </a:endParaRPr>
          </a:p>
        </p:txBody>
      </p:sp>
      <p:pic>
        <p:nvPicPr>
          <p:cNvPr id="2" name="图片 1">
            <a:extLst>
              <a:ext uri="{FF2B5EF4-FFF2-40B4-BE49-F238E27FC236}">
                <a16:creationId xmlns:a16="http://schemas.microsoft.com/office/drawing/2014/main" id="{B1F83B39-C56C-5746-97E3-2BC83B4F3100}"/>
              </a:ext>
            </a:extLst>
          </p:cNvPr>
          <p:cNvPicPr>
            <a:picLocks noChangeAspect="1"/>
          </p:cNvPicPr>
          <p:nvPr/>
        </p:nvPicPr>
        <p:blipFill>
          <a:blip r:embed="rId3"/>
          <a:stretch>
            <a:fillRect/>
          </a:stretch>
        </p:blipFill>
        <p:spPr>
          <a:xfrm>
            <a:off x="5078939" y="1611085"/>
            <a:ext cx="6725337" cy="4713514"/>
          </a:xfrm>
          <a:prstGeom prst="rect">
            <a:avLst/>
          </a:prstGeom>
        </p:spPr>
      </p:pic>
    </p:spTree>
    <p:extLst>
      <p:ext uri="{BB962C8B-B14F-4D97-AF65-F5344CB8AC3E}">
        <p14:creationId xmlns:p14="http://schemas.microsoft.com/office/powerpoint/2010/main" val="205977536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硬件</a:t>
            </a:r>
            <a:r>
              <a:rPr lang="en-US" altLang="zh-CN" dirty="0"/>
              <a:t>—</a:t>
            </a:r>
            <a:r>
              <a:rPr lang="zh-CN" altLang="en-US" dirty="0"/>
              <a:t>数据库技术发展的动力之一</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p:txBody>
          <a:bodyPr/>
          <a:lstStyle/>
          <a:p>
            <a:pPr>
              <a:buFont typeface="Wingdings" pitchFamily="2" charset="2"/>
              <a:buChar char="p"/>
            </a:pPr>
            <a:r>
              <a:rPr lang="zh-CN" altLang="zh-CN" dirty="0">
                <a:latin typeface="Times" pitchFamily="2" charset="0"/>
              </a:rPr>
              <a:t>硬件</a:t>
            </a:r>
            <a:r>
              <a:rPr lang="zh-CN" altLang="en-US" dirty="0">
                <a:latin typeface="Times" pitchFamily="2" charset="0"/>
              </a:rPr>
              <a:t>技术的发展</a:t>
            </a:r>
            <a:endParaRPr lang="en-US" altLang="zh-CN" dirty="0">
              <a:latin typeface="Times" pitchFamily="2" charset="0"/>
            </a:endParaRPr>
          </a:p>
          <a:p>
            <a:pPr lvl="1">
              <a:buFont typeface="Wingdings" pitchFamily="2" charset="2"/>
              <a:buChar char="l"/>
            </a:pPr>
            <a:r>
              <a:rPr lang="zh-CN" altLang="zh-CN" dirty="0">
                <a:latin typeface="Times" pitchFamily="2" charset="0"/>
              </a:rPr>
              <a:t>硬件技术决定了数据存取、查询处理等性能的上限</a:t>
            </a:r>
            <a:endParaRPr lang="en-US" altLang="zh-CN" dirty="0">
              <a:latin typeface="Times" pitchFamily="2" charset="0"/>
            </a:endParaRPr>
          </a:p>
          <a:p>
            <a:pPr lvl="1">
              <a:buFont typeface="Wingdings" pitchFamily="2" charset="2"/>
              <a:buChar char="l"/>
            </a:pPr>
            <a:r>
              <a:rPr lang="zh-CN" altLang="en-US" dirty="0">
                <a:latin typeface="Times" pitchFamily="2" charset="0"/>
              </a:rPr>
              <a:t>新硬件产品的出现提高数据库的性能上限</a:t>
            </a:r>
            <a:endParaRPr lang="en-US" altLang="zh-CN" dirty="0">
              <a:latin typeface="Times" pitchFamily="2" charset="0"/>
            </a:endParaRPr>
          </a:p>
          <a:p>
            <a:pPr lvl="2">
              <a:buFont typeface="Wingdings" pitchFamily="2" charset="2"/>
              <a:buChar char="l"/>
            </a:pPr>
            <a:r>
              <a:rPr lang="zh-CN" altLang="en-US" dirty="0">
                <a:latin typeface="Times" pitchFamily="2" charset="0"/>
              </a:rPr>
              <a:t>多核处理器（</a:t>
            </a:r>
            <a:r>
              <a:rPr lang="en-US" altLang="zh-CN" dirty="0">
                <a:latin typeface="Times" pitchFamily="2" charset="0"/>
              </a:rPr>
              <a:t>CPU</a:t>
            </a:r>
            <a:r>
              <a:rPr lang="zh-CN" altLang="en-US" dirty="0">
                <a:latin typeface="Times" pitchFamily="2" charset="0"/>
              </a:rPr>
              <a:t>）</a:t>
            </a:r>
            <a:endParaRPr lang="en-US" altLang="zh-CN" dirty="0">
              <a:latin typeface="Times" pitchFamily="2" charset="0"/>
            </a:endParaRPr>
          </a:p>
          <a:p>
            <a:pPr lvl="2">
              <a:buFont typeface="Wingdings" pitchFamily="2" charset="2"/>
              <a:buChar char="l"/>
            </a:pPr>
            <a:r>
              <a:rPr lang="zh-CN" altLang="en-US" dirty="0">
                <a:latin typeface="Times" pitchFamily="2" charset="0"/>
              </a:rPr>
              <a:t>协处理器（</a:t>
            </a:r>
            <a:r>
              <a:rPr lang="en-US" altLang="zh-CN" dirty="0">
                <a:latin typeface="Times" pitchFamily="2" charset="0"/>
              </a:rPr>
              <a:t>GPU</a:t>
            </a:r>
            <a:r>
              <a:rPr lang="zh-CN" altLang="en-US" dirty="0">
                <a:latin typeface="Times" pitchFamily="2" charset="0"/>
              </a:rPr>
              <a:t>、</a:t>
            </a:r>
            <a:r>
              <a:rPr lang="en-US" altLang="zh-CN" dirty="0">
                <a:latin typeface="Times" pitchFamily="2" charset="0"/>
              </a:rPr>
              <a:t>FPGA</a:t>
            </a:r>
            <a:r>
              <a:rPr lang="zh-CN" altLang="en-US" dirty="0">
                <a:latin typeface="Times" pitchFamily="2" charset="0"/>
              </a:rPr>
              <a:t>）</a:t>
            </a:r>
            <a:endParaRPr lang="en-US" altLang="zh-CN" dirty="0">
              <a:latin typeface="Times" pitchFamily="2" charset="0"/>
            </a:endParaRPr>
          </a:p>
          <a:p>
            <a:pPr lvl="2">
              <a:buFont typeface="Wingdings" pitchFamily="2" charset="2"/>
              <a:buChar char="l"/>
            </a:pPr>
            <a:r>
              <a:rPr lang="zh-CN" altLang="en-US" dirty="0">
                <a:latin typeface="Times" pitchFamily="2" charset="0"/>
              </a:rPr>
              <a:t>非易失性存储（</a:t>
            </a:r>
            <a:r>
              <a:rPr lang="en-US" altLang="zh-CN" dirty="0">
                <a:latin typeface="Times" pitchFamily="2" charset="0"/>
              </a:rPr>
              <a:t>NVM</a:t>
            </a:r>
            <a:r>
              <a:rPr lang="zh-CN" altLang="en-US" dirty="0">
                <a:latin typeface="Times" pitchFamily="2" charset="0"/>
              </a:rPr>
              <a:t>）</a:t>
            </a:r>
            <a:endParaRPr lang="en-US" altLang="zh-CN" dirty="0">
              <a:latin typeface="Times" pitchFamily="2" charset="0"/>
            </a:endParaRPr>
          </a:p>
          <a:p>
            <a:pPr lvl="2">
              <a:buFont typeface="Wingdings" pitchFamily="2" charset="2"/>
              <a:buChar char="l"/>
            </a:pPr>
            <a:r>
              <a:rPr lang="zh-CN" altLang="zh-CN" dirty="0">
                <a:latin typeface="Times" pitchFamily="2" charset="0"/>
              </a:rPr>
              <a:t>高速网络</a:t>
            </a:r>
            <a:r>
              <a:rPr lang="zh-CN" altLang="en-US" dirty="0">
                <a:latin typeface="Times" pitchFamily="2" charset="0"/>
              </a:rPr>
              <a:t>（</a:t>
            </a:r>
            <a:r>
              <a:rPr lang="en-US" altLang="zh-CN" dirty="0">
                <a:latin typeface="Times" pitchFamily="2" charset="0"/>
              </a:rPr>
              <a:t>RDMA</a:t>
            </a:r>
            <a:r>
              <a:rPr lang="zh-CN" altLang="en-US" dirty="0">
                <a:latin typeface="Times" pitchFamily="2" charset="0"/>
              </a:rPr>
              <a:t>）</a:t>
            </a:r>
            <a:endParaRPr lang="en-US" altLang="zh-CN" dirty="0">
              <a:latin typeface="Times" pitchFamily="2" charset="0"/>
            </a:endParaRPr>
          </a:p>
          <a:p>
            <a:pPr lvl="1">
              <a:buFont typeface="Wingdings" pitchFamily="2" charset="2"/>
              <a:buChar char="l"/>
            </a:pPr>
            <a:r>
              <a:rPr lang="zh-CN" altLang="en-US" dirty="0">
                <a:latin typeface="Times" pitchFamily="2" charset="0"/>
              </a:rPr>
              <a:t>数据库软件需要针对新硬件的特点设计架构和算法</a:t>
            </a:r>
            <a:endParaRPr lang="en-US" altLang="zh-CN" dirty="0">
              <a:latin typeface="Times" pitchFamily="2" charset="0"/>
            </a:endParaRPr>
          </a:p>
          <a:p>
            <a:pPr lvl="2">
              <a:buFont typeface="Wingdings" pitchFamily="2" charset="2"/>
              <a:buChar char="l"/>
            </a:pPr>
            <a:r>
              <a:rPr lang="zh-CN" altLang="en-US" dirty="0">
                <a:latin typeface="Times" pitchFamily="2" charset="0"/>
              </a:rPr>
              <a:t>提高软件硬件契合度，尽可能“压榨”硬件的性能</a:t>
            </a:r>
            <a:endParaRPr lang="en-US" altLang="zh-CN" dirty="0">
              <a:latin typeface="Times" pitchFamily="2" charset="0"/>
            </a:endParaRPr>
          </a:p>
        </p:txBody>
      </p:sp>
      <p:sp>
        <p:nvSpPr>
          <p:cNvPr id="4" name="灯片编号占位符 1">
            <a:extLst>
              <a:ext uri="{FF2B5EF4-FFF2-40B4-BE49-F238E27FC236}">
                <a16:creationId xmlns:a16="http://schemas.microsoft.com/office/drawing/2014/main" id="{C6AD10E5-0974-7395-8373-999B263755F8}"/>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105</a:t>
            </a:fld>
            <a:endParaRPr lang="zh-CN" altLang="en-US" dirty="0"/>
          </a:p>
        </p:txBody>
      </p:sp>
    </p:spTree>
    <p:extLst>
      <p:ext uri="{BB962C8B-B14F-4D97-AF65-F5344CB8AC3E}">
        <p14:creationId xmlns:p14="http://schemas.microsoft.com/office/powerpoint/2010/main" val="250179077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区块链与数据库</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p:txBody>
          <a:bodyPr/>
          <a:lstStyle/>
          <a:p>
            <a:r>
              <a:rPr lang="zh-CN" altLang="zh-CN" dirty="0"/>
              <a:t>区块链是一种安全共享的去中心化的数据账本</a:t>
            </a:r>
            <a:endParaRPr lang="en-US" altLang="zh-CN" dirty="0"/>
          </a:p>
          <a:p>
            <a:pPr lvl="1"/>
            <a:r>
              <a:rPr lang="zh-CN" altLang="zh-CN" dirty="0"/>
              <a:t>因其分布式、去中心和信息不可篡改等特性越来越受到关注。</a:t>
            </a:r>
            <a:endParaRPr lang="en-US" altLang="zh-CN" dirty="0"/>
          </a:p>
          <a:p>
            <a:pPr lvl="1"/>
            <a:r>
              <a:rPr lang="zh-CN" altLang="zh-CN" dirty="0"/>
              <a:t>从某种角度来说，区块链是一个去中心化的数据库，但是其对数据的查找和数据格式化处理方面有天生的不足。</a:t>
            </a:r>
            <a:endParaRPr lang="en-US" altLang="zh-CN" dirty="0"/>
          </a:p>
          <a:p>
            <a:r>
              <a:rPr lang="zh-CN" altLang="en-US" dirty="0"/>
              <a:t>数据库技术提高区块链的性能</a:t>
            </a:r>
            <a:endParaRPr lang="en-US" altLang="zh-CN" dirty="0"/>
          </a:p>
          <a:p>
            <a:pPr lvl="1"/>
            <a:r>
              <a:rPr lang="zh-CN" altLang="zh-CN" dirty="0"/>
              <a:t>在以区块链作为数据存储层的基础上，研究如何将数据库技术与区块链结合起来，为区块链提供一个数据库层以加速数据的查询效率、提高区块链作为数据库的可用性也可能是未来的发展趋势。</a:t>
            </a:r>
            <a:endParaRPr lang="en-US" altLang="zh-CN" dirty="0"/>
          </a:p>
          <a:p>
            <a:r>
              <a:rPr lang="zh-CN" altLang="en-US" dirty="0"/>
              <a:t>基于区块链技术的数据库</a:t>
            </a:r>
            <a:endParaRPr lang="en-US" altLang="zh-CN" dirty="0"/>
          </a:p>
          <a:p>
            <a:pPr lvl="1"/>
            <a:r>
              <a:rPr lang="zh-CN" altLang="zh-CN" dirty="0"/>
              <a:t>基于区块链的不可变特性来研发数据不可改变的数据库用于特定的用途也是一个可以探索的方向。</a:t>
            </a:r>
          </a:p>
        </p:txBody>
      </p:sp>
      <p:sp>
        <p:nvSpPr>
          <p:cNvPr id="4" name="灯片编号占位符 1">
            <a:extLst>
              <a:ext uri="{FF2B5EF4-FFF2-40B4-BE49-F238E27FC236}">
                <a16:creationId xmlns:a16="http://schemas.microsoft.com/office/drawing/2014/main" id="{B4A2F2CA-E523-65A0-D34A-8B10BD87C81E}"/>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106</a:t>
            </a:fld>
            <a:endParaRPr lang="zh-CN" altLang="en-US" dirty="0"/>
          </a:p>
        </p:txBody>
      </p:sp>
    </p:spTree>
    <p:extLst>
      <p:ext uri="{BB962C8B-B14F-4D97-AF65-F5344CB8AC3E}">
        <p14:creationId xmlns:p14="http://schemas.microsoft.com/office/powerpoint/2010/main" val="189725591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区块链与数据库（续）</a:t>
            </a:r>
            <a:endParaRPr kumimoji="1" lang="zh-CN" altLang="en-US" dirty="0"/>
          </a:p>
        </p:txBody>
      </p:sp>
      <p:graphicFrame>
        <p:nvGraphicFramePr>
          <p:cNvPr id="7" name="表格 6">
            <a:extLst>
              <a:ext uri="{FF2B5EF4-FFF2-40B4-BE49-F238E27FC236}">
                <a16:creationId xmlns:a16="http://schemas.microsoft.com/office/drawing/2014/main" id="{919875DA-4828-C981-767A-F16CA105B148}"/>
              </a:ext>
            </a:extLst>
          </p:cNvPr>
          <p:cNvGraphicFramePr>
            <a:graphicFrameLocks noGrp="1"/>
          </p:cNvGraphicFramePr>
          <p:nvPr>
            <p:extLst>
              <p:ext uri="{D42A27DB-BD31-4B8C-83A1-F6EECF244321}">
                <p14:modId xmlns:p14="http://schemas.microsoft.com/office/powerpoint/2010/main" val="2830446730"/>
              </p:ext>
            </p:extLst>
          </p:nvPr>
        </p:nvGraphicFramePr>
        <p:xfrm>
          <a:off x="1156702" y="861059"/>
          <a:ext cx="9928605" cy="5874609"/>
        </p:xfrm>
        <a:graphic>
          <a:graphicData uri="http://schemas.openxmlformats.org/drawingml/2006/table">
            <a:tbl>
              <a:tblPr>
                <a:tableStyleId>{125E5076-3810-47DD-B79F-674D7AD40C01}</a:tableStyleId>
              </a:tblPr>
              <a:tblGrid>
                <a:gridCol w="1769490">
                  <a:extLst>
                    <a:ext uri="{9D8B030D-6E8A-4147-A177-3AD203B41FA5}">
                      <a16:colId xmlns:a16="http://schemas.microsoft.com/office/drawing/2014/main" val="3940774371"/>
                    </a:ext>
                  </a:extLst>
                </a:gridCol>
                <a:gridCol w="1319030">
                  <a:extLst>
                    <a:ext uri="{9D8B030D-6E8A-4147-A177-3AD203B41FA5}">
                      <a16:colId xmlns:a16="http://schemas.microsoft.com/office/drawing/2014/main" val="1303742560"/>
                    </a:ext>
                  </a:extLst>
                </a:gridCol>
                <a:gridCol w="2948417">
                  <a:extLst>
                    <a:ext uri="{9D8B030D-6E8A-4147-A177-3AD203B41FA5}">
                      <a16:colId xmlns:a16="http://schemas.microsoft.com/office/drawing/2014/main" val="1837275255"/>
                    </a:ext>
                  </a:extLst>
                </a:gridCol>
                <a:gridCol w="3891668">
                  <a:extLst>
                    <a:ext uri="{9D8B030D-6E8A-4147-A177-3AD203B41FA5}">
                      <a16:colId xmlns:a16="http://schemas.microsoft.com/office/drawing/2014/main" val="26426302"/>
                    </a:ext>
                  </a:extLst>
                </a:gridCol>
              </a:tblGrid>
              <a:tr h="103672">
                <a:tc>
                  <a:txBody>
                    <a:bodyPr/>
                    <a:lstStyle/>
                    <a:p>
                      <a:pPr algn="ctr">
                        <a:lnSpc>
                          <a:spcPct val="100000"/>
                        </a:lnSpc>
                      </a:pPr>
                      <a:r>
                        <a:rPr lang="zh-CN" altLang="en-US" sz="2400" b="1" dirty="0">
                          <a:effectLst/>
                          <a:latin typeface="SimHei" panose="02010609060101010101" pitchFamily="49" charset="-122"/>
                          <a:ea typeface="SimHei" panose="02010609060101010101" pitchFamily="49" charset="-122"/>
                        </a:rPr>
                        <a:t>对比点</a:t>
                      </a:r>
                      <a:endParaRPr lang="zh-CN" altLang="en-US" sz="2400" b="1" dirty="0">
                        <a:solidFill>
                          <a:srgbClr val="252B3A"/>
                        </a:solidFill>
                        <a:effectLst/>
                        <a:latin typeface="SimHei" panose="02010609060101010101" pitchFamily="49" charset="-122"/>
                        <a:ea typeface="SimHei" panose="02010609060101010101" pitchFamily="49" charset="-122"/>
                      </a:endParaRP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CN" altLang="en-US" sz="2400" b="1" dirty="0">
                        <a:solidFill>
                          <a:srgbClr val="333333"/>
                        </a:solidFill>
                        <a:effectLst/>
                        <a:latin typeface="SimHei" panose="02010609060101010101" pitchFamily="49" charset="-122"/>
                        <a:ea typeface="SimHei" panose="02010609060101010101" pitchFamily="49" charset="-122"/>
                      </a:endParaRP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2400" b="1" dirty="0">
                          <a:effectLst/>
                          <a:latin typeface="SimHei" panose="02010609060101010101" pitchFamily="49" charset="-122"/>
                          <a:ea typeface="SimHei" panose="02010609060101010101" pitchFamily="49" charset="-122"/>
                        </a:rPr>
                        <a:t>设计选择</a:t>
                      </a:r>
                      <a:endParaRPr lang="zh-CN" altLang="en-US" sz="2400" b="1" dirty="0">
                        <a:solidFill>
                          <a:srgbClr val="252B3A"/>
                        </a:solidFill>
                        <a:effectLst/>
                        <a:latin typeface="SimHei" panose="02010609060101010101" pitchFamily="49" charset="-122"/>
                        <a:ea typeface="SimHei" panose="02010609060101010101" pitchFamily="49" charset="-122"/>
                      </a:endParaRP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2400" b="1" dirty="0">
                          <a:effectLst/>
                          <a:latin typeface="SimHei" panose="02010609060101010101" pitchFamily="49" charset="-122"/>
                          <a:ea typeface="SimHei" panose="02010609060101010101" pitchFamily="49" charset="-122"/>
                        </a:rPr>
                        <a:t>原因</a:t>
                      </a:r>
                      <a:endParaRPr lang="zh-CN" altLang="en-US" sz="2400" b="1" dirty="0">
                        <a:solidFill>
                          <a:srgbClr val="252B3A"/>
                        </a:solidFill>
                        <a:effectLst/>
                        <a:latin typeface="SimHei" panose="02010609060101010101" pitchFamily="49" charset="-122"/>
                        <a:ea typeface="SimHei" panose="02010609060101010101" pitchFamily="49" charset="-122"/>
                      </a:endParaRP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6780230"/>
                  </a:ext>
                </a:extLst>
              </a:tr>
              <a:tr h="274031">
                <a:tc rowSpan="2">
                  <a:txBody>
                    <a:bodyPr/>
                    <a:lstStyle/>
                    <a:p>
                      <a:pPr algn="ctr">
                        <a:lnSpc>
                          <a:spcPct val="200000"/>
                        </a:lnSpc>
                      </a:pPr>
                      <a:r>
                        <a:rPr lang="zh-CN" altLang="en-US" sz="2400" b="1" dirty="0">
                          <a:effectLst/>
                          <a:latin typeface="SimHei" panose="02010609060101010101" pitchFamily="49" charset="-122"/>
                          <a:ea typeface="SimHei" panose="02010609060101010101" pitchFamily="49" charset="-122"/>
                        </a:rPr>
                        <a:t>共识协议</a:t>
                      </a:r>
                      <a:endParaRPr lang="zh-CN" altLang="en-US" sz="2400" b="1" dirty="0">
                        <a:solidFill>
                          <a:srgbClr val="252B3A"/>
                        </a:solidFill>
                        <a:effectLst/>
                        <a:latin typeface="SimHei" panose="02010609060101010101" pitchFamily="49" charset="-122"/>
                        <a:ea typeface="SimHei" panose="02010609060101010101" pitchFamily="49" charset="-122"/>
                      </a:endParaRP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b="1" dirty="0">
                          <a:solidFill>
                            <a:schemeClr val="tx1"/>
                          </a:solidFill>
                          <a:effectLst/>
                          <a:latin typeface="SimHei" panose="02010609060101010101" pitchFamily="49" charset="-122"/>
                          <a:ea typeface="SimHei" panose="02010609060101010101" pitchFamily="49" charset="-122"/>
                        </a:rPr>
                        <a:t>区块链</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dirty="0">
                          <a:solidFill>
                            <a:schemeClr val="tx1"/>
                          </a:solidFill>
                          <a:effectLst/>
                          <a:latin typeface="SimHei" panose="02010609060101010101" pitchFamily="49" charset="-122"/>
                          <a:ea typeface="SimHei" panose="02010609060101010101" pitchFamily="49" charset="-122"/>
                        </a:rPr>
                        <a:t>拜占庭故障容忍</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a:solidFill>
                            <a:schemeClr val="tx1"/>
                          </a:solidFill>
                          <a:effectLst/>
                          <a:latin typeface="SimHei" panose="02010609060101010101" pitchFamily="49" charset="-122"/>
                          <a:ea typeface="SimHei" panose="02010609060101010101" pitchFamily="49" charset="-122"/>
                        </a:rPr>
                        <a:t>互不信任的运行环境</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839119721"/>
                  </a:ext>
                </a:extLst>
              </a:tr>
              <a:tr h="0">
                <a:tc vMerge="1">
                  <a:txBody>
                    <a:bodyPr/>
                    <a:lstStyle/>
                    <a:p>
                      <a:endParaRPr lang="zh-CN" altLang="en-US" sz="2000" b="1" dirty="0">
                        <a:solidFill>
                          <a:srgbClr val="333333"/>
                        </a:solidFill>
                        <a:effectLst/>
                        <a:latin typeface="SimHei" panose="02010609060101010101" pitchFamily="49" charset="-122"/>
                        <a:ea typeface="SimHei" panose="02010609060101010101" pitchFamily="49" charset="-122"/>
                      </a:endParaRP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ts val="2400"/>
                        </a:lnSpc>
                      </a:pPr>
                      <a:r>
                        <a:rPr lang="zh-CN" altLang="en-US" sz="2400" b="1" dirty="0">
                          <a:solidFill>
                            <a:schemeClr val="tx1"/>
                          </a:solidFill>
                          <a:effectLst/>
                          <a:latin typeface="SimHei" panose="02010609060101010101" pitchFamily="49" charset="-122"/>
                          <a:ea typeface="SimHei" panose="02010609060101010101" pitchFamily="49" charset="-122"/>
                        </a:rPr>
                        <a:t>数据库</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nSpc>
                          <a:spcPts val="2400"/>
                        </a:lnSpc>
                      </a:pPr>
                      <a:r>
                        <a:rPr lang="zh-CN" altLang="en-US" sz="2400" b="0" dirty="0">
                          <a:solidFill>
                            <a:schemeClr val="tx1"/>
                          </a:solidFill>
                          <a:effectLst/>
                          <a:latin typeface="SimHei" panose="02010609060101010101" pitchFamily="49" charset="-122"/>
                          <a:ea typeface="SimHei" panose="02010609060101010101" pitchFamily="49" charset="-122"/>
                        </a:rPr>
                        <a:t>宕机故障容忍</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nSpc>
                          <a:spcPts val="2400"/>
                        </a:lnSpc>
                      </a:pPr>
                      <a:r>
                        <a:rPr lang="zh-CN" altLang="en-US" sz="2400" b="0" dirty="0">
                          <a:solidFill>
                            <a:schemeClr val="tx1"/>
                          </a:solidFill>
                          <a:effectLst/>
                          <a:latin typeface="SimHei" panose="02010609060101010101" pitchFamily="49" charset="-122"/>
                          <a:ea typeface="SimHei" panose="02010609060101010101" pitchFamily="49" charset="-122"/>
                        </a:rPr>
                        <a:t>高可用的运行要求</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123982806"/>
                  </a:ext>
                </a:extLst>
              </a:tr>
              <a:tr h="421436">
                <a:tc rowSpan="2">
                  <a:txBody>
                    <a:bodyPr/>
                    <a:lstStyle/>
                    <a:p>
                      <a:pPr algn="ctr">
                        <a:lnSpc>
                          <a:spcPct val="200000"/>
                        </a:lnSpc>
                      </a:pPr>
                      <a:r>
                        <a:rPr lang="zh-CN" altLang="en-US" sz="2400" b="1" dirty="0">
                          <a:effectLst/>
                          <a:latin typeface="SimHei" panose="02010609060101010101" pitchFamily="49" charset="-122"/>
                          <a:ea typeface="SimHei" panose="02010609060101010101" pitchFamily="49" charset="-122"/>
                        </a:rPr>
                        <a:t>共识层位置</a:t>
                      </a:r>
                      <a:endParaRPr lang="zh-CN" altLang="en-US" sz="2400" b="1" dirty="0">
                        <a:solidFill>
                          <a:srgbClr val="252B3A"/>
                        </a:solidFill>
                        <a:effectLst/>
                        <a:latin typeface="SimHei" panose="02010609060101010101" pitchFamily="49" charset="-122"/>
                        <a:ea typeface="SimHei" panose="02010609060101010101" pitchFamily="49" charset="-122"/>
                      </a:endParaRP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b="1" dirty="0">
                          <a:solidFill>
                            <a:schemeClr val="tx1"/>
                          </a:solidFill>
                          <a:effectLst/>
                          <a:latin typeface="SimHei" panose="02010609060101010101" pitchFamily="49" charset="-122"/>
                          <a:ea typeface="SimHei" panose="02010609060101010101" pitchFamily="49" charset="-122"/>
                        </a:rPr>
                        <a:t>区块链</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dirty="0">
                          <a:solidFill>
                            <a:schemeClr val="tx1"/>
                          </a:solidFill>
                          <a:effectLst/>
                          <a:latin typeface="SimHei" panose="02010609060101010101" pitchFamily="49" charset="-122"/>
                          <a:ea typeface="SimHei" panose="02010609060101010101" pitchFamily="49" charset="-122"/>
                        </a:rPr>
                        <a:t>顶层</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dirty="0">
                          <a:solidFill>
                            <a:schemeClr val="tx1"/>
                          </a:solidFill>
                          <a:effectLst/>
                          <a:latin typeface="SimHei" panose="02010609060101010101" pitchFamily="49" charset="-122"/>
                          <a:ea typeface="SimHei" panose="02010609060101010101" pitchFamily="49" charset="-122"/>
                        </a:rPr>
                        <a:t>去中心化，防单点</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647335223"/>
                  </a:ext>
                </a:extLst>
              </a:tr>
              <a:tr h="493981">
                <a:tc vMerge="1">
                  <a:txBody>
                    <a:bodyPr/>
                    <a:lstStyle/>
                    <a:p>
                      <a:endParaRPr lang="zh-CN" altLang="en-US" sz="2000" b="1" dirty="0">
                        <a:solidFill>
                          <a:srgbClr val="333333"/>
                        </a:solidFill>
                        <a:effectLst/>
                        <a:latin typeface="SimHei" panose="02010609060101010101" pitchFamily="49" charset="-122"/>
                        <a:ea typeface="SimHei" panose="02010609060101010101" pitchFamily="49" charset="-122"/>
                      </a:endParaRP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b="1">
                          <a:solidFill>
                            <a:schemeClr val="tx1"/>
                          </a:solidFill>
                          <a:effectLst/>
                          <a:latin typeface="SimHei" panose="02010609060101010101" pitchFamily="49" charset="-122"/>
                          <a:ea typeface="SimHei" panose="02010609060101010101" pitchFamily="49" charset="-122"/>
                        </a:rPr>
                        <a:t>数据库</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dirty="0">
                          <a:solidFill>
                            <a:schemeClr val="tx1"/>
                          </a:solidFill>
                          <a:effectLst/>
                          <a:latin typeface="SimHei" panose="02010609060101010101" pitchFamily="49" charset="-122"/>
                          <a:ea typeface="SimHei" panose="02010609060101010101" pitchFamily="49" charset="-122"/>
                        </a:rPr>
                        <a:t>存储层之上</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dirty="0">
                          <a:solidFill>
                            <a:schemeClr val="tx1"/>
                          </a:solidFill>
                          <a:effectLst/>
                          <a:latin typeface="SimHei" panose="02010609060101010101" pitchFamily="49" charset="-122"/>
                          <a:ea typeface="SimHei" panose="02010609060101010101" pitchFamily="49" charset="-122"/>
                        </a:rPr>
                        <a:t>数据完备性</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626840189"/>
                  </a:ext>
                </a:extLst>
              </a:tr>
              <a:tr h="274031">
                <a:tc rowSpan="2">
                  <a:txBody>
                    <a:bodyPr/>
                    <a:lstStyle/>
                    <a:p>
                      <a:pPr algn="ctr">
                        <a:lnSpc>
                          <a:spcPct val="200000"/>
                        </a:lnSpc>
                      </a:pPr>
                      <a:r>
                        <a:rPr lang="zh-CN" altLang="en-US" sz="2400" b="1" dirty="0">
                          <a:effectLst/>
                          <a:latin typeface="SimHei" panose="02010609060101010101" pitchFamily="49" charset="-122"/>
                          <a:ea typeface="SimHei" panose="02010609060101010101" pitchFamily="49" charset="-122"/>
                        </a:rPr>
                        <a:t>事务层</a:t>
                      </a:r>
                      <a:endParaRPr lang="zh-CN" altLang="en-US" sz="2400" b="1" dirty="0">
                        <a:solidFill>
                          <a:srgbClr val="252B3A"/>
                        </a:solidFill>
                        <a:effectLst/>
                        <a:latin typeface="SimHei" panose="02010609060101010101" pitchFamily="49" charset="-122"/>
                        <a:ea typeface="SimHei" panose="02010609060101010101" pitchFamily="49" charset="-122"/>
                      </a:endParaRP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b="1">
                          <a:solidFill>
                            <a:schemeClr val="tx1"/>
                          </a:solidFill>
                          <a:effectLst/>
                          <a:latin typeface="SimHei" panose="02010609060101010101" pitchFamily="49" charset="-122"/>
                          <a:ea typeface="SimHei" panose="02010609060101010101" pitchFamily="49" charset="-122"/>
                        </a:rPr>
                        <a:t>区块链</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dirty="0">
                          <a:solidFill>
                            <a:schemeClr val="tx1"/>
                          </a:solidFill>
                          <a:effectLst/>
                          <a:latin typeface="SimHei" panose="02010609060101010101" pitchFamily="49" charset="-122"/>
                          <a:ea typeface="SimHei" panose="02010609060101010101" pitchFamily="49" charset="-122"/>
                        </a:rPr>
                        <a:t>顺序执行</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dirty="0">
                          <a:solidFill>
                            <a:schemeClr val="tx1"/>
                          </a:solidFill>
                          <a:effectLst/>
                          <a:latin typeface="SimHei" panose="02010609060101010101" pitchFamily="49" charset="-122"/>
                          <a:ea typeface="SimHei" panose="02010609060101010101" pitchFamily="49" charset="-122"/>
                        </a:rPr>
                        <a:t>易于理解、易用</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853534492"/>
                  </a:ext>
                </a:extLst>
              </a:tr>
              <a:tr h="493981">
                <a:tc vMerge="1">
                  <a:txBody>
                    <a:bodyPr/>
                    <a:lstStyle/>
                    <a:p>
                      <a:endParaRPr lang="zh-CN" altLang="en-US" sz="2000" b="1" dirty="0">
                        <a:solidFill>
                          <a:srgbClr val="333333"/>
                        </a:solidFill>
                        <a:effectLst/>
                        <a:latin typeface="SimHei" panose="02010609060101010101" pitchFamily="49" charset="-122"/>
                        <a:ea typeface="SimHei" panose="02010609060101010101" pitchFamily="49" charset="-122"/>
                      </a:endParaRP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b="1" dirty="0">
                          <a:solidFill>
                            <a:schemeClr val="tx1"/>
                          </a:solidFill>
                          <a:effectLst/>
                          <a:latin typeface="SimHei" panose="02010609060101010101" pitchFamily="49" charset="-122"/>
                          <a:ea typeface="SimHei" panose="02010609060101010101" pitchFamily="49" charset="-122"/>
                        </a:rPr>
                        <a:t>数据库</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dirty="0">
                          <a:solidFill>
                            <a:schemeClr val="tx1"/>
                          </a:solidFill>
                          <a:effectLst/>
                          <a:latin typeface="SimHei" panose="02010609060101010101" pitchFamily="49" charset="-122"/>
                          <a:ea typeface="SimHei" panose="02010609060101010101" pitchFamily="49" charset="-122"/>
                        </a:rPr>
                        <a:t>并发执行</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dirty="0">
                          <a:solidFill>
                            <a:schemeClr val="tx1"/>
                          </a:solidFill>
                          <a:effectLst/>
                          <a:latin typeface="SimHei" panose="02010609060101010101" pitchFamily="49" charset="-122"/>
                          <a:ea typeface="SimHei" panose="02010609060101010101" pitchFamily="49" charset="-122"/>
                        </a:rPr>
                        <a:t>高吞吐</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878467470"/>
                  </a:ext>
                </a:extLst>
              </a:tr>
              <a:tr h="274031">
                <a:tc rowSpan="2">
                  <a:txBody>
                    <a:bodyPr/>
                    <a:lstStyle/>
                    <a:p>
                      <a:pPr algn="ctr">
                        <a:lnSpc>
                          <a:spcPct val="200000"/>
                        </a:lnSpc>
                      </a:pPr>
                      <a:r>
                        <a:rPr lang="zh-CN" altLang="en-US" sz="2400" b="1" dirty="0">
                          <a:effectLst/>
                          <a:latin typeface="SimHei" panose="02010609060101010101" pitchFamily="49" charset="-122"/>
                          <a:ea typeface="SimHei" panose="02010609060101010101" pitchFamily="49" charset="-122"/>
                        </a:rPr>
                        <a:t>存储</a:t>
                      </a:r>
                      <a:endParaRPr lang="zh-CN" altLang="en-US" sz="2400" b="1" dirty="0">
                        <a:solidFill>
                          <a:srgbClr val="252B3A"/>
                        </a:solidFill>
                        <a:effectLst/>
                        <a:latin typeface="SimHei" panose="02010609060101010101" pitchFamily="49" charset="-122"/>
                        <a:ea typeface="SimHei" panose="02010609060101010101" pitchFamily="49" charset="-122"/>
                      </a:endParaRP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b="1" dirty="0">
                          <a:solidFill>
                            <a:schemeClr val="tx1"/>
                          </a:solidFill>
                          <a:effectLst/>
                          <a:latin typeface="SimHei" panose="02010609060101010101" pitchFamily="49" charset="-122"/>
                          <a:ea typeface="SimHei" panose="02010609060101010101" pitchFamily="49" charset="-122"/>
                        </a:rPr>
                        <a:t>区块链</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dirty="0">
                          <a:solidFill>
                            <a:schemeClr val="tx1"/>
                          </a:solidFill>
                          <a:effectLst/>
                          <a:latin typeface="SimHei" panose="02010609060101010101" pitchFamily="49" charset="-122"/>
                          <a:ea typeface="SimHei" panose="02010609060101010101" pitchFamily="49" charset="-122"/>
                        </a:rPr>
                        <a:t>历史（账本）</a:t>
                      </a:r>
                      <a:r>
                        <a:rPr lang="en-US" altLang="zh-CN" sz="2400" b="0" dirty="0">
                          <a:solidFill>
                            <a:schemeClr val="tx1"/>
                          </a:solidFill>
                          <a:effectLst/>
                          <a:latin typeface="SimHei" panose="02010609060101010101" pitchFamily="49" charset="-122"/>
                          <a:ea typeface="SimHei" panose="02010609060101010101" pitchFamily="49" charset="-122"/>
                        </a:rPr>
                        <a:t>+</a:t>
                      </a:r>
                      <a:r>
                        <a:rPr lang="zh-CN" altLang="en-US" sz="2400" b="0" dirty="0">
                          <a:solidFill>
                            <a:schemeClr val="tx1"/>
                          </a:solidFill>
                          <a:effectLst/>
                          <a:latin typeface="SimHei" panose="02010609060101010101" pitchFamily="49" charset="-122"/>
                          <a:ea typeface="SimHei" panose="02010609060101010101" pitchFamily="49" charset="-122"/>
                        </a:rPr>
                        <a:t>状态</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dirty="0">
                          <a:solidFill>
                            <a:schemeClr val="tx1"/>
                          </a:solidFill>
                          <a:effectLst/>
                          <a:latin typeface="SimHei" panose="02010609060101010101" pitchFamily="49" charset="-122"/>
                          <a:ea typeface="SimHei" panose="02010609060101010101" pitchFamily="49" charset="-122"/>
                        </a:rPr>
                        <a:t>溯源，解决争议</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652462514"/>
                  </a:ext>
                </a:extLst>
              </a:tr>
              <a:tr h="493981">
                <a:tc vMerge="1">
                  <a:txBody>
                    <a:bodyPr/>
                    <a:lstStyle/>
                    <a:p>
                      <a:endParaRPr lang="zh-CN" altLang="en-US" sz="2000" b="1" dirty="0">
                        <a:solidFill>
                          <a:srgbClr val="333333"/>
                        </a:solidFill>
                        <a:effectLst/>
                        <a:latin typeface="SimHei" panose="02010609060101010101" pitchFamily="49" charset="-122"/>
                        <a:ea typeface="SimHei" panose="02010609060101010101" pitchFamily="49" charset="-122"/>
                      </a:endParaRP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b="1">
                          <a:solidFill>
                            <a:schemeClr val="tx1"/>
                          </a:solidFill>
                          <a:effectLst/>
                          <a:latin typeface="SimHei" panose="02010609060101010101" pitchFamily="49" charset="-122"/>
                          <a:ea typeface="SimHei" panose="02010609060101010101" pitchFamily="49" charset="-122"/>
                        </a:rPr>
                        <a:t>数据库</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dirty="0">
                          <a:solidFill>
                            <a:schemeClr val="tx1"/>
                          </a:solidFill>
                          <a:effectLst/>
                          <a:latin typeface="SimHei" panose="02010609060101010101" pitchFamily="49" charset="-122"/>
                          <a:ea typeface="SimHei" panose="02010609060101010101" pitchFamily="49" charset="-122"/>
                        </a:rPr>
                        <a:t>状态</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dirty="0">
                          <a:solidFill>
                            <a:schemeClr val="tx1"/>
                          </a:solidFill>
                          <a:effectLst/>
                          <a:latin typeface="SimHei" panose="02010609060101010101" pitchFamily="49" charset="-122"/>
                          <a:ea typeface="SimHei" panose="02010609060101010101" pitchFamily="49" charset="-122"/>
                        </a:rPr>
                        <a:t>节约存储</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936135110"/>
                  </a:ext>
                </a:extLst>
              </a:tr>
              <a:tr h="274031">
                <a:tc rowSpan="2">
                  <a:txBody>
                    <a:bodyPr/>
                    <a:lstStyle/>
                    <a:p>
                      <a:pPr algn="ctr">
                        <a:lnSpc>
                          <a:spcPct val="200000"/>
                        </a:lnSpc>
                      </a:pPr>
                      <a:r>
                        <a:rPr lang="zh-CN" altLang="en-US" sz="2400" b="1" dirty="0">
                          <a:effectLst/>
                          <a:latin typeface="SimHei" panose="02010609060101010101" pitchFamily="49" charset="-122"/>
                          <a:ea typeface="SimHei" panose="02010609060101010101" pitchFamily="49" charset="-122"/>
                        </a:rPr>
                        <a:t>索引</a:t>
                      </a:r>
                      <a:endParaRPr lang="zh-CN" altLang="en-US" sz="2400" b="1" dirty="0">
                        <a:solidFill>
                          <a:srgbClr val="252B3A"/>
                        </a:solidFill>
                        <a:effectLst/>
                        <a:latin typeface="SimHei" panose="02010609060101010101" pitchFamily="49" charset="-122"/>
                        <a:ea typeface="SimHei" panose="02010609060101010101" pitchFamily="49" charset="-122"/>
                      </a:endParaRP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b="1">
                          <a:solidFill>
                            <a:schemeClr val="tx1"/>
                          </a:solidFill>
                          <a:effectLst/>
                          <a:latin typeface="SimHei" panose="02010609060101010101" pitchFamily="49" charset="-122"/>
                          <a:ea typeface="SimHei" panose="02010609060101010101" pitchFamily="49" charset="-122"/>
                        </a:rPr>
                        <a:t>区块链</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en" sz="2400" b="0" dirty="0">
                          <a:solidFill>
                            <a:schemeClr val="tx1"/>
                          </a:solidFill>
                          <a:effectLst/>
                          <a:latin typeface="SimHei" panose="02010609060101010101" pitchFamily="49" charset="-122"/>
                          <a:ea typeface="SimHei" panose="02010609060101010101" pitchFamily="49" charset="-122"/>
                        </a:rPr>
                        <a:t>Merkle Tree</a:t>
                      </a:r>
                      <a:r>
                        <a:rPr lang="zh-CN" altLang="en-US" sz="2400" b="0" dirty="0">
                          <a:solidFill>
                            <a:schemeClr val="tx1"/>
                          </a:solidFill>
                          <a:effectLst/>
                          <a:latin typeface="SimHei" panose="02010609060101010101" pitchFamily="49" charset="-122"/>
                          <a:ea typeface="SimHei" panose="02010609060101010101" pitchFamily="49" charset="-122"/>
                        </a:rPr>
                        <a:t>等</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dirty="0">
                          <a:solidFill>
                            <a:schemeClr val="tx1"/>
                          </a:solidFill>
                          <a:effectLst/>
                          <a:latin typeface="SimHei" panose="02010609060101010101" pitchFamily="49" charset="-122"/>
                          <a:ea typeface="SimHei" panose="02010609060101010101" pitchFamily="49" charset="-122"/>
                        </a:rPr>
                        <a:t>篡改可见性</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88195455"/>
                  </a:ext>
                </a:extLst>
              </a:tr>
              <a:tr h="493981">
                <a:tc vMerge="1">
                  <a:txBody>
                    <a:bodyPr/>
                    <a:lstStyle/>
                    <a:p>
                      <a:endParaRPr lang="zh-CN" altLang="en-US" sz="2000" b="1" dirty="0">
                        <a:solidFill>
                          <a:srgbClr val="333333"/>
                        </a:solidFill>
                        <a:effectLst/>
                        <a:latin typeface="SimHei" panose="02010609060101010101" pitchFamily="49" charset="-122"/>
                        <a:ea typeface="SimHei" panose="02010609060101010101" pitchFamily="49" charset="-122"/>
                      </a:endParaRP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b="1">
                          <a:solidFill>
                            <a:schemeClr val="tx1"/>
                          </a:solidFill>
                          <a:effectLst/>
                          <a:latin typeface="SimHei" panose="02010609060101010101" pitchFamily="49" charset="-122"/>
                          <a:ea typeface="SimHei" panose="02010609060101010101" pitchFamily="49" charset="-122"/>
                        </a:rPr>
                        <a:t>数据库</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en" sz="2400" b="0">
                          <a:solidFill>
                            <a:schemeClr val="tx1"/>
                          </a:solidFill>
                          <a:effectLst/>
                          <a:latin typeface="SimHei" panose="02010609060101010101" pitchFamily="49" charset="-122"/>
                          <a:ea typeface="SimHei" panose="02010609060101010101" pitchFamily="49" charset="-122"/>
                        </a:rPr>
                        <a:t>B</a:t>
                      </a:r>
                      <a:r>
                        <a:rPr lang="zh-CN" altLang="en-US" sz="2400" b="0">
                          <a:solidFill>
                            <a:schemeClr val="tx1"/>
                          </a:solidFill>
                          <a:effectLst/>
                          <a:latin typeface="SimHei" panose="02010609060101010101" pitchFamily="49" charset="-122"/>
                          <a:ea typeface="SimHei" panose="02010609060101010101" pitchFamily="49" charset="-122"/>
                        </a:rPr>
                        <a:t>树</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dirty="0">
                          <a:solidFill>
                            <a:schemeClr val="tx1"/>
                          </a:solidFill>
                          <a:effectLst/>
                          <a:latin typeface="SimHei" panose="02010609060101010101" pitchFamily="49" charset="-122"/>
                          <a:ea typeface="SimHei" panose="02010609060101010101" pitchFamily="49" charset="-122"/>
                        </a:rPr>
                        <a:t>硬件友好</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664250446"/>
                  </a:ext>
                </a:extLst>
              </a:tr>
              <a:tr h="0">
                <a:tc rowSpan="2">
                  <a:txBody>
                    <a:bodyPr/>
                    <a:lstStyle/>
                    <a:p>
                      <a:pPr algn="ctr">
                        <a:lnSpc>
                          <a:spcPct val="200000"/>
                        </a:lnSpc>
                      </a:pPr>
                      <a:r>
                        <a:rPr lang="en" sz="2400" b="1" dirty="0" err="1">
                          <a:effectLst/>
                          <a:latin typeface="SimHei" panose="02010609060101010101" pitchFamily="49" charset="-122"/>
                          <a:ea typeface="SimHei" panose="02010609060101010101" pitchFamily="49" charset="-122"/>
                        </a:rPr>
                        <a:t>Sharding</a:t>
                      </a:r>
                      <a:endParaRPr lang="en" sz="2400" b="1" dirty="0">
                        <a:solidFill>
                          <a:srgbClr val="252B3A"/>
                        </a:solidFill>
                        <a:effectLst/>
                        <a:latin typeface="SimHei" panose="02010609060101010101" pitchFamily="49" charset="-122"/>
                        <a:ea typeface="SimHei" panose="02010609060101010101" pitchFamily="49" charset="-122"/>
                      </a:endParaRP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b="1">
                          <a:solidFill>
                            <a:schemeClr val="tx1"/>
                          </a:solidFill>
                          <a:effectLst/>
                          <a:latin typeface="SimHei" panose="02010609060101010101" pitchFamily="49" charset="-122"/>
                          <a:ea typeface="SimHei" panose="02010609060101010101" pitchFamily="49" charset="-122"/>
                        </a:rPr>
                        <a:t>区块链</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a:solidFill>
                            <a:schemeClr val="tx1"/>
                          </a:solidFill>
                          <a:effectLst/>
                          <a:latin typeface="SimHei" panose="02010609060101010101" pitchFamily="49" charset="-122"/>
                          <a:ea typeface="SimHei" panose="02010609060101010101" pitchFamily="49" charset="-122"/>
                        </a:rPr>
                        <a:t>基于节点的分片</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dirty="0">
                          <a:solidFill>
                            <a:schemeClr val="tx1"/>
                          </a:solidFill>
                          <a:effectLst/>
                          <a:latin typeface="SimHei" panose="02010609060101010101" pitchFamily="49" charset="-122"/>
                          <a:ea typeface="SimHei" panose="02010609060101010101" pitchFamily="49" charset="-122"/>
                        </a:rPr>
                        <a:t>防止恶意分区</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551057895"/>
                  </a:ext>
                </a:extLst>
              </a:tr>
              <a:tr h="493981">
                <a:tc vMerge="1">
                  <a:txBody>
                    <a:bodyPr/>
                    <a:lstStyle/>
                    <a:p>
                      <a:endParaRPr lang="zh-CN" altLang="en-US" sz="2000" b="1" dirty="0">
                        <a:solidFill>
                          <a:srgbClr val="333333"/>
                        </a:solidFill>
                        <a:effectLst/>
                        <a:latin typeface="SimHei" panose="02010609060101010101" pitchFamily="49" charset="-122"/>
                        <a:ea typeface="SimHei" panose="02010609060101010101" pitchFamily="49" charset="-122"/>
                      </a:endParaRP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b="1" dirty="0">
                          <a:solidFill>
                            <a:schemeClr val="tx1"/>
                          </a:solidFill>
                          <a:effectLst/>
                          <a:latin typeface="SimHei" panose="02010609060101010101" pitchFamily="49" charset="-122"/>
                          <a:ea typeface="SimHei" panose="02010609060101010101" pitchFamily="49" charset="-122"/>
                        </a:rPr>
                        <a:t>数据库</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a:solidFill>
                            <a:schemeClr val="tx1"/>
                          </a:solidFill>
                          <a:effectLst/>
                          <a:latin typeface="SimHei" panose="02010609060101010101" pitchFamily="49" charset="-122"/>
                          <a:ea typeface="SimHei" panose="02010609060101010101" pitchFamily="49" charset="-122"/>
                        </a:rPr>
                        <a:t>基于服务的分片</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zh-CN" altLang="en-US" sz="2400" b="0" dirty="0">
                          <a:solidFill>
                            <a:schemeClr val="tx1"/>
                          </a:solidFill>
                          <a:effectLst/>
                          <a:latin typeface="SimHei" panose="02010609060101010101" pitchFamily="49" charset="-122"/>
                          <a:ea typeface="SimHei" panose="02010609060101010101" pitchFamily="49" charset="-122"/>
                        </a:rPr>
                        <a:t>负载均衡</a:t>
                      </a:r>
                    </a:p>
                  </a:txBody>
                  <a:tcPr marL="67448" marR="67448" marT="33724" marB="33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450051147"/>
                  </a:ext>
                </a:extLst>
              </a:tr>
            </a:tbl>
          </a:graphicData>
        </a:graphic>
      </p:graphicFrame>
      <p:sp>
        <p:nvSpPr>
          <p:cNvPr id="4" name="灯片编号占位符 1">
            <a:extLst>
              <a:ext uri="{FF2B5EF4-FFF2-40B4-BE49-F238E27FC236}">
                <a16:creationId xmlns:a16="http://schemas.microsoft.com/office/drawing/2014/main" id="{9F1FCD36-6CE1-43EE-4885-0BDC1D4D4C60}"/>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107</a:t>
            </a:fld>
            <a:endParaRPr lang="zh-CN" altLang="en-US" dirty="0"/>
          </a:p>
        </p:txBody>
      </p:sp>
    </p:spTree>
    <p:extLst>
      <p:ext uri="{BB962C8B-B14F-4D97-AF65-F5344CB8AC3E}">
        <p14:creationId xmlns:p14="http://schemas.microsoft.com/office/powerpoint/2010/main" val="383832500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p:txBody>
          <a:bodyPr/>
          <a:lstStyle/>
          <a:p>
            <a:pPr>
              <a:buFont typeface="Wingdings" pitchFamily="2" charset="2"/>
              <a:buChar char="l"/>
            </a:pPr>
            <a:r>
              <a:rPr lang="zh-CN" altLang="en-US" dirty="0">
                <a:solidFill>
                  <a:schemeClr val="tx1">
                    <a:lumMod val="50000"/>
                    <a:lumOff val="50000"/>
                  </a:schemeClr>
                </a:solidFill>
              </a:rPr>
              <a:t>数据库系统概述</a:t>
            </a:r>
            <a:endParaRPr lang="en-US" altLang="zh-CN" dirty="0">
              <a:solidFill>
                <a:schemeClr val="tx1">
                  <a:lumMod val="50000"/>
                  <a:lumOff val="50000"/>
                </a:schemeClr>
              </a:solidFill>
            </a:endParaRPr>
          </a:p>
          <a:p>
            <a:pPr>
              <a:buFont typeface="Wingdings" pitchFamily="2" charset="2"/>
              <a:buChar char="l"/>
            </a:pPr>
            <a:r>
              <a:rPr lang="zh-CN" altLang="en-US" dirty="0">
                <a:solidFill>
                  <a:schemeClr val="tx1">
                    <a:lumMod val="50000"/>
                    <a:lumOff val="50000"/>
                  </a:schemeClr>
                </a:solidFill>
              </a:rPr>
              <a:t>数据库发展简史</a:t>
            </a:r>
            <a:endParaRPr lang="en-US" altLang="zh-CN" dirty="0">
              <a:solidFill>
                <a:schemeClr val="tx1">
                  <a:lumMod val="50000"/>
                  <a:lumOff val="50000"/>
                </a:schemeClr>
              </a:solidFill>
            </a:endParaRPr>
          </a:p>
          <a:p>
            <a:pPr>
              <a:buFont typeface="Wingdings" pitchFamily="2" charset="2"/>
              <a:buChar char="l"/>
            </a:pPr>
            <a:r>
              <a:rPr lang="zh-CN" altLang="en-US" dirty="0">
                <a:solidFill>
                  <a:schemeClr val="tx1">
                    <a:lumMod val="50000"/>
                    <a:lumOff val="50000"/>
                  </a:schemeClr>
                </a:solidFill>
              </a:rPr>
              <a:t>数据库系统的应用和展望</a:t>
            </a:r>
            <a:endParaRPr lang="en-US" altLang="zh-CN" dirty="0">
              <a:solidFill>
                <a:schemeClr val="tx1">
                  <a:lumMod val="50000"/>
                  <a:lumOff val="50000"/>
                </a:schemeClr>
              </a:solidFill>
            </a:endParaRPr>
          </a:p>
          <a:p>
            <a:pPr>
              <a:buFont typeface="Wingdings" pitchFamily="2" charset="2"/>
              <a:buChar char="l"/>
            </a:pPr>
            <a:r>
              <a:rPr lang="zh-CN" altLang="en-US" dirty="0"/>
              <a:t>本章小结</a:t>
            </a: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Tree>
    <p:extLst>
      <p:ext uri="{BB962C8B-B14F-4D97-AF65-F5344CB8AC3E}">
        <p14:creationId xmlns:p14="http://schemas.microsoft.com/office/powerpoint/2010/main" val="263496744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本章小结</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47370" y="1189381"/>
            <a:ext cx="12318883" cy="4876801"/>
          </a:xfrm>
        </p:spPr>
        <p:txBody>
          <a:bodyPr/>
          <a:lstStyle/>
          <a:p>
            <a:pPr>
              <a:spcAft>
                <a:spcPts val="500"/>
              </a:spcAft>
            </a:pPr>
            <a:r>
              <a:rPr lang="zh-CN" altLang="zh-CN" sz="2800" dirty="0"/>
              <a:t>数据库技术是信息技术领域的核心技术之一，几乎所有的信息系统都需要使用数据库来组织、存储、操纵和管理业务数据。数据库是数据管理的有效手段之一，对数据库的研究也是现代计算机学科的重要分支和方向。</a:t>
            </a:r>
          </a:p>
          <a:p>
            <a:pPr>
              <a:spcAft>
                <a:spcPts val="500"/>
              </a:spcAft>
            </a:pPr>
            <a:r>
              <a:rPr lang="zh-CN" altLang="zh-CN" sz="2800" dirty="0"/>
              <a:t>本章通过阐述数据、数据库、数据库管理系统和数据库系统的概念，抽丝剥茧地进行数据库系统的概述。本章介绍了数据库管理系统的查询接口层、查询处理层、查询执行层、存储管理层和管理组件五个模块组成，并在相应的模块介绍了一些数据库的重要概念，如事务管理和索引管理等。</a:t>
            </a:r>
            <a:endParaRPr lang="en-US" altLang="zh-CN" sz="2800" dirty="0"/>
          </a:p>
          <a:p>
            <a:pPr>
              <a:spcAft>
                <a:spcPts val="500"/>
              </a:spcAft>
            </a:pPr>
            <a:r>
              <a:rPr lang="zh-CN" altLang="zh-CN" sz="2800" dirty="0"/>
              <a:t>本章介绍了数据库的发展简史，阐述了新技术和新需求对数据库演化的影响。</a:t>
            </a:r>
            <a:endParaRPr lang="en-US" altLang="zh-CN" sz="2800" dirty="0"/>
          </a:p>
          <a:p>
            <a:pPr>
              <a:spcAft>
                <a:spcPts val="500"/>
              </a:spcAft>
            </a:pPr>
            <a:r>
              <a:rPr lang="zh-CN" altLang="zh-CN" sz="2800" dirty="0"/>
              <a:t>本章的最后还总结了基于数据库的典型应用系统，并展望了人工智能、区块链和新硬件等技术对数据库发展的影响。</a:t>
            </a:r>
          </a:p>
        </p:txBody>
      </p:sp>
      <p:sp>
        <p:nvSpPr>
          <p:cNvPr id="4" name="灯片编号占位符 1">
            <a:extLst>
              <a:ext uri="{FF2B5EF4-FFF2-40B4-BE49-F238E27FC236}">
                <a16:creationId xmlns:a16="http://schemas.microsoft.com/office/drawing/2014/main" id="{9051252E-9D55-78EF-058F-37138FEB0A64}"/>
              </a:ext>
            </a:extLst>
          </p:cNvPr>
          <p:cNvSpPr txBox="1">
            <a:spLocks/>
          </p:cNvSpPr>
          <p:nvPr/>
        </p:nvSpPr>
        <p:spPr>
          <a:xfrm>
            <a:off x="11571088" y="6517146"/>
            <a:ext cx="765605" cy="4762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BDC00-B9E2-4EFD-9306-2934E87247C6}" type="slidenum">
              <a:rPr lang="zh-CN" altLang="en-US" smtClean="0"/>
              <a:pPr/>
              <a:t>109</a:t>
            </a:fld>
            <a:endParaRPr lang="zh-CN" altLang="en-US" dirty="0"/>
          </a:p>
        </p:txBody>
      </p:sp>
    </p:spTree>
    <p:extLst>
      <p:ext uri="{BB962C8B-B14F-4D97-AF65-F5344CB8AC3E}">
        <p14:creationId xmlns:p14="http://schemas.microsoft.com/office/powerpoint/2010/main" val="2634820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996.8488188976376,&quot;width&quot;:13302.135433070865}"/>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FitLSVBMhJP4aKW8YI2HwQ"/>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Zdo4lQddwbY1x3llkqDof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vwSlpF9j4osJG9foHQsC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j.Q_4HqmA6x0wMLftvDy5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tMcb7eLtfWegeEo3MItfV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wNE2ZITtpwgRp1cBWnSt3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DbrYe3OHspuE7BJGdnXZ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oIYh_fvYKsqvuipA0Wd3s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QFegtKlG58JaZOb82.UsN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png7O5tgtCMo0QYUvP2W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OULqAVA.cEZ9PiRX_dVHj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xShuyX4poboz0zXGOcc0O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dOF0hq.zQMmkEMap.ZXQh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gseu9ehoRe8UniMFMXUGQ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FitLSVBMhJP4aKW8YI2Hw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FitLSVBMhJP4aKW8YI2Hw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FitLSVBMhJP4aKW8YI2Hw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FitLSVBMhJP4aKW8YI2Hw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FitLSVBMhJP4aKW8YI2Hw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FitLSVBMhJP4aKW8YI2Hw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Zdo4lQddwbY1x3llkqDof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vwSlpF9j4osJG9foHQsC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j.Q_4HqmA6x0wMLftvDy5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tMcb7eLtfWegeEo3MItfV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wNE2ZITtpwgRp1cBWnSt3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DbrYe3OHspuE7BJGdnXZ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oIYh_fvYKsqvuipA0Wd3s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QFegtKlG58JaZOb82.UsN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png7O5tgtCMo0QYUvP2W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OULqAVA.cEZ9PiRX_dVHj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xShuyX4poboz0zXGOcc0O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dOF0hq.zQMmkEMap.ZXQh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gseu9ehoRe8UniMFMXUGQ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FitLSVBMhJP4aKW8YI2Hw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FitLSVBMhJP4aKW8YI2Hw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FitLSVBMhJP4aKW8YI2Hw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FitLSVBMhJP4aKW8YI2Hw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FitLSVBMhJP4aKW8YI2HwQ"/>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wNE2ZITtpwgRp1cBWnSt3Q"/>
</p:tagLst>
</file>

<file path=ppt/theme/theme1.xml><?xml version="1.0" encoding="utf-8"?>
<a:theme xmlns:a="http://schemas.openxmlformats.org/drawingml/2006/main" name="2_973青年-李国良v0.1">
  <a:themeElements>
    <a:clrScheme name="Introductioin to Trec2007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Introductioin to Trec2007">
      <a:majorFont>
        <a:latin typeface="华文楷体"/>
        <a:ea typeface="华文楷体"/>
        <a:cs typeface=""/>
      </a:majorFont>
      <a:minorFont>
        <a:latin typeface="Times New Roman"/>
        <a:ea typeface="华文楷体"/>
        <a:cs typeface=""/>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accent2"/>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1" lang="zh-CN" altLang="en-US" sz="3200" b="0" i="0" u="none" strike="noStrike" cap="none" normalizeH="0" baseline="0" smtClean="0">
            <a:ln>
              <a:noFill/>
            </a:ln>
            <a:solidFill>
              <a:schemeClr val="tx1"/>
            </a:solidFill>
            <a:effectLst/>
            <a:latin typeface="Times New Roman" pitchFamily="18" charset="0"/>
            <a:ea typeface="华文楷体" pitchFamily="2" charset="-122"/>
          </a:defRPr>
        </a:defPPr>
      </a:lstStyle>
    </a:spDef>
    <a:lnDef>
      <a:spPr bwMode="auto">
        <a:xfrm>
          <a:off x="0" y="0"/>
          <a:ext cx="1" cy="1"/>
        </a:xfrm>
        <a:custGeom>
          <a:avLst/>
          <a:gdLst/>
          <a:ahLst/>
          <a:cxnLst/>
          <a:rect l="0" t="0" r="0" b="0"/>
          <a:pathLst/>
        </a:custGeom>
        <a:noFill/>
        <a:ln w="38100" cap="flat" cmpd="sng" algn="ctr">
          <a:solidFill>
            <a:schemeClr val="accent2"/>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1" lang="zh-CN" altLang="en-US" sz="3200" b="0" i="0" u="none" strike="noStrike" cap="none" normalizeH="0" baseline="0" smtClean="0">
            <a:ln>
              <a:noFill/>
            </a:ln>
            <a:solidFill>
              <a:schemeClr val="tx1"/>
            </a:solidFill>
            <a:effectLst/>
            <a:latin typeface="Times New Roman" pitchFamily="18" charset="0"/>
            <a:ea typeface="华文楷体" pitchFamily="2" charset="-122"/>
          </a:defRPr>
        </a:defPPr>
      </a:lstStyle>
    </a:lnDef>
  </a:objectDefaults>
  <a:extraClrSchemeLst>
    <a:extraClrScheme>
      <a:clrScheme name="Introductioin to Trec2007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ntroductioin to Trec2007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ntroductioin to Trec2007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ntroductioin to Trec2007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ntroductioin to Trec20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ntroductioin to Trec20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ntroductioin to Trec20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10">
    <a:dk1>
      <a:srgbClr val="000000"/>
    </a:dk1>
    <a:lt1>
      <a:srgbClr val="FFFFFF"/>
    </a:lt1>
    <a:dk2>
      <a:srgbClr val="FFFFFF"/>
    </a:dk2>
    <a:lt2>
      <a:srgbClr val="FFFFFF"/>
    </a:lt2>
    <a:accent1>
      <a:srgbClr val="051C2C"/>
    </a:accent1>
    <a:accent2>
      <a:srgbClr val="00A9F4"/>
    </a:accent2>
    <a:accent3>
      <a:srgbClr val="2251FF"/>
    </a:accent3>
    <a:accent4>
      <a:srgbClr val="AAE6F0"/>
    </a:accent4>
    <a:accent5>
      <a:srgbClr val="3C96B4"/>
    </a:accent5>
    <a:accent6>
      <a:srgbClr val="AFC3FF"/>
    </a:accent6>
    <a:hlink>
      <a:srgbClr val="1F40E6"/>
    </a:hlink>
    <a:folHlink>
      <a:srgbClr val="8C5AC8"/>
    </a:folHlink>
  </a:clrScheme>
  <a:fontScheme name="Whit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Custom 10">
    <a:dk1>
      <a:srgbClr val="000000"/>
    </a:dk1>
    <a:lt1>
      <a:srgbClr val="FFFFFF"/>
    </a:lt1>
    <a:dk2>
      <a:srgbClr val="FFFFFF"/>
    </a:dk2>
    <a:lt2>
      <a:srgbClr val="FFFFFF"/>
    </a:lt2>
    <a:accent1>
      <a:srgbClr val="051C2C"/>
    </a:accent1>
    <a:accent2>
      <a:srgbClr val="00A9F4"/>
    </a:accent2>
    <a:accent3>
      <a:srgbClr val="2251FF"/>
    </a:accent3>
    <a:accent4>
      <a:srgbClr val="AAE6F0"/>
    </a:accent4>
    <a:accent5>
      <a:srgbClr val="3C96B4"/>
    </a:accent5>
    <a:accent6>
      <a:srgbClr val="AFC3FF"/>
    </a:accent6>
    <a:hlink>
      <a:srgbClr val="1F40E6"/>
    </a:hlink>
    <a:folHlink>
      <a:srgbClr val="8C5AC8"/>
    </a:folHlink>
  </a:clrScheme>
  <a:fontScheme name="Whit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26807</TotalTime>
  <Words>8383</Words>
  <Application>Microsoft Macintosh PowerPoint</Application>
  <PresentationFormat>Widescreen</PresentationFormat>
  <Paragraphs>1334</Paragraphs>
  <Slides>109</Slides>
  <Notes>74</Notes>
  <HiddenSlides>2</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109</vt:i4>
      </vt:variant>
    </vt:vector>
  </HeadingPairs>
  <TitlesOfParts>
    <vt:vector size="126" baseType="lpstr">
      <vt:lpstr>等线</vt:lpstr>
      <vt:lpstr>仿宋</vt:lpstr>
      <vt:lpstr>微软雅黑</vt:lpstr>
      <vt:lpstr>微软雅黑</vt:lpstr>
      <vt:lpstr>Microsoft YaHei UI</vt:lpstr>
      <vt:lpstr>OPPOSans M</vt:lpstr>
      <vt:lpstr>黑体</vt:lpstr>
      <vt:lpstr>黑体</vt:lpstr>
      <vt:lpstr>宋体</vt:lpstr>
      <vt:lpstr>华文楷体</vt:lpstr>
      <vt:lpstr>Times</vt:lpstr>
      <vt:lpstr>Arial</vt:lpstr>
      <vt:lpstr>Calibri</vt:lpstr>
      <vt:lpstr>Segoe UI</vt:lpstr>
      <vt:lpstr>Times New Roman</vt:lpstr>
      <vt:lpstr>Wingdings</vt:lpstr>
      <vt:lpstr>2_973青年-李国良v0.1</vt:lpstr>
      <vt:lpstr>PowerPoint Presentation</vt:lpstr>
      <vt:lpstr>PowerPoint Presentation</vt:lpstr>
      <vt:lpstr>目录</vt:lpstr>
      <vt:lpstr>目录</vt:lpstr>
      <vt:lpstr>PowerPoint Presentation</vt:lpstr>
      <vt:lpstr>PowerPoint Presentation</vt:lpstr>
      <vt:lpstr>PowerPoint Presentation</vt:lpstr>
      <vt:lpstr>数据库发展史概览</vt:lpstr>
      <vt:lpstr>目录</vt:lpstr>
      <vt:lpstr>数据库的基本概念</vt:lpstr>
      <vt:lpstr>数据库的基本概念</vt:lpstr>
      <vt:lpstr>数据</vt:lpstr>
      <vt:lpstr>数据库的基本概念</vt:lpstr>
      <vt:lpstr>数据库</vt:lpstr>
      <vt:lpstr>数据库在计算机系统中的位置</vt:lpstr>
      <vt:lpstr>数据库的基本概念</vt:lpstr>
      <vt:lpstr>数据库管理系统</vt:lpstr>
      <vt:lpstr>数据库管理系统的主要功能</vt:lpstr>
      <vt:lpstr>数据库管理系统的主要功能（续）</vt:lpstr>
      <vt:lpstr>数据库管理系统的主要功能（续）</vt:lpstr>
      <vt:lpstr>数据库管理系统概述</vt:lpstr>
      <vt:lpstr>数据库管理系统概述</vt:lpstr>
      <vt:lpstr>数据库管理系统</vt:lpstr>
      <vt:lpstr>查询接口层</vt:lpstr>
      <vt:lpstr>查询处理层</vt:lpstr>
      <vt:lpstr>查询处理层（续）</vt:lpstr>
      <vt:lpstr>查询处理层（续）</vt:lpstr>
      <vt:lpstr>查询处理层（续）</vt:lpstr>
      <vt:lpstr>查询处理层（续）</vt:lpstr>
      <vt:lpstr>存储管理层</vt:lpstr>
      <vt:lpstr>安全管理层</vt:lpstr>
      <vt:lpstr>数据库安全简介</vt:lpstr>
      <vt:lpstr>数据库的基本概念</vt:lpstr>
      <vt:lpstr>数据库系统</vt:lpstr>
      <vt:lpstr>目录</vt:lpstr>
      <vt:lpstr>数据管理的三个阶段</vt:lpstr>
      <vt:lpstr>数据库发展史概览</vt:lpstr>
      <vt:lpstr>数据库发展史概览</vt:lpstr>
      <vt:lpstr>数据库发展史概览</vt:lpstr>
      <vt:lpstr>层次数据库和网状数据库</vt:lpstr>
      <vt:lpstr>层次模型与层次数据库</vt:lpstr>
      <vt:lpstr>网状模型和网状数据库</vt:lpstr>
      <vt:lpstr>数据库发展史概览</vt:lpstr>
      <vt:lpstr>关系数据库</vt:lpstr>
      <vt:lpstr>关系模型和关系数据库</vt:lpstr>
      <vt:lpstr>数据库发展史概览</vt:lpstr>
      <vt:lpstr>OLTP、OLAP与HTAP数据库</vt:lpstr>
      <vt:lpstr>OLTP、OLAP与HTAP数据库</vt:lpstr>
      <vt:lpstr>OLTP、OLAP与HTAP数据库</vt:lpstr>
      <vt:lpstr>OLTP、OLAP与HTAP数据库主要特征</vt:lpstr>
      <vt:lpstr>OLTP数据库</vt:lpstr>
      <vt:lpstr>OLTP数据库（续）</vt:lpstr>
      <vt:lpstr>ACID特性</vt:lpstr>
      <vt:lpstr>OLAP数据库</vt:lpstr>
      <vt:lpstr>OLTP数据库 和 OLAP数据库</vt:lpstr>
      <vt:lpstr>PowerPoint Presentation</vt:lpstr>
      <vt:lpstr>数据仓库 和 数据库</vt:lpstr>
      <vt:lpstr>数据仓库 和 数据湖</vt:lpstr>
      <vt:lpstr>HTAP的产生背景</vt:lpstr>
      <vt:lpstr>HTAP的相关应用</vt:lpstr>
      <vt:lpstr>HTAP数据库的发展历程</vt:lpstr>
      <vt:lpstr>数据库发展史概览</vt:lpstr>
      <vt:lpstr>NoSQL数据库的产生背景</vt:lpstr>
      <vt:lpstr>NoSQL数据库主要特点</vt:lpstr>
      <vt:lpstr>NoSQL数据库类型</vt:lpstr>
      <vt:lpstr>NoSQL数据库类型（续）</vt:lpstr>
      <vt:lpstr>键值数据库——定义</vt:lpstr>
      <vt:lpstr>键值数据库——应用场景</vt:lpstr>
      <vt:lpstr>列族数据库——定义</vt:lpstr>
      <vt:lpstr>列族数据库——应用场景</vt:lpstr>
      <vt:lpstr>文档数据库——定义</vt:lpstr>
      <vt:lpstr>文档数据库——对比关系数据库</vt:lpstr>
      <vt:lpstr>文档数据库——应用场景</vt:lpstr>
      <vt:lpstr>图数据库——定义</vt:lpstr>
      <vt:lpstr>图数据库——应用场景</vt:lpstr>
      <vt:lpstr>时序数据库——定义</vt:lpstr>
      <vt:lpstr>时序数据库——应用场景</vt:lpstr>
      <vt:lpstr>多模数据库——定义</vt:lpstr>
      <vt:lpstr>多模数据库——应用场景</vt:lpstr>
      <vt:lpstr>常见的NoSQL数据库</vt:lpstr>
      <vt:lpstr>数据库发展史概览</vt:lpstr>
      <vt:lpstr>分布式数据库</vt:lpstr>
      <vt:lpstr>分布式数据库—常见架构</vt:lpstr>
      <vt:lpstr>数据库发展史概览</vt:lpstr>
      <vt:lpstr>内存数据库</vt:lpstr>
      <vt:lpstr>内存数据库（续）</vt:lpstr>
      <vt:lpstr>数据库发展史概览</vt:lpstr>
      <vt:lpstr>云数据库</vt:lpstr>
      <vt:lpstr>云服务简介</vt:lpstr>
      <vt:lpstr>云托管数据库</vt:lpstr>
      <vt:lpstr>云原生数据库</vt:lpstr>
      <vt:lpstr>数据库发展史概览</vt:lpstr>
      <vt:lpstr>实时数据库</vt:lpstr>
      <vt:lpstr>实时数据库（续）</vt:lpstr>
      <vt:lpstr>并行数据库</vt:lpstr>
      <vt:lpstr>并行数据库（续）</vt:lpstr>
      <vt:lpstr>终端数据库</vt:lpstr>
      <vt:lpstr>目录</vt:lpstr>
      <vt:lpstr>数据库系统的应用</vt:lpstr>
      <vt:lpstr>数据库新发展机遇</vt:lpstr>
      <vt:lpstr>PowerPoint Presentation</vt:lpstr>
      <vt:lpstr>PowerPoint Presentation</vt:lpstr>
      <vt:lpstr>PowerPoint Presentation</vt:lpstr>
      <vt:lpstr>PowerPoint Presentation</vt:lpstr>
      <vt:lpstr>硬件—数据库技术发展的动力之一</vt:lpstr>
      <vt:lpstr>区块链与数据库</vt:lpstr>
      <vt:lpstr>区块链与数据库（续）</vt:lpstr>
      <vt:lpstr>目录</vt:lpstr>
      <vt:lpstr>本章小结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zhouxuan19@mails.tsinghua.edu.cn</dc:creator>
  <cp:lastModifiedBy>4 paradigm</cp:lastModifiedBy>
  <cp:revision>1795</cp:revision>
  <dcterms:created xsi:type="dcterms:W3CDTF">2022-04-14T04:30:04Z</dcterms:created>
  <dcterms:modified xsi:type="dcterms:W3CDTF">2026-03-04T05:52:22Z</dcterms:modified>
</cp:coreProperties>
</file>